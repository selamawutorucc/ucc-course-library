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A101C-3A17-47DA-8CB2-9242722025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92DA29-E4FC-45E2-8F3B-AB34D583C0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7C785B-5A10-4C4E-84F4-C58C8C82C508}"/>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4809CE74-ED2A-45DE-964E-FB77AE1AF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B9C48-26BE-4036-9B4B-192BF1C1F8B0}"/>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718864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4D75-E40E-4AA2-A6D8-D56E983DD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4E7FB-0AE8-4682-A378-23A020811B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D5C6A-BEE8-4B55-94B3-FF7168A008FC}"/>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0ACB3FD1-7092-4620-B579-54111A306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C3343-67F6-49A2-98B9-769D478621CE}"/>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54342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ADCA-68EA-4D93-90FD-3F9007367F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2A3D7F-6059-485D-9895-842123C027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7F373B-54AD-44B1-ACD1-39D5AA6DD397}"/>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64C3DF7B-C673-4431-9AB4-2B60DAC62D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7D82F8-868D-4892-AAA2-58C3832C1B98}"/>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3472633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F8C4-E1DD-479D-9981-E94AEE771B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F75FEC-C7FE-4B53-A808-2DDEE60E6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E809DD-8437-4690-91D8-1084A3D483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75D452-E90A-46F4-902A-43F34B2FB487}"/>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6" name="Footer Placeholder 5">
            <a:extLst>
              <a:ext uri="{FF2B5EF4-FFF2-40B4-BE49-F238E27FC236}">
                <a16:creationId xmlns:a16="http://schemas.microsoft.com/office/drawing/2014/main" id="{ECD999E2-6D11-4F30-8947-86339364F1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78913-EE78-4DD0-A89C-C0CD74AFDD57}"/>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2848787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EA188-058F-449A-AF93-0BB6D9F18A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281B3E-86A9-4653-A3BE-1E22E31EF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2D6730-129B-4D24-9C4E-6B4A315778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C6A5CD-CD67-419A-AF6C-FA8EB03C3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AE55A3-33A9-445B-8A95-BB2DF6E125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38A9FE-33EA-4433-86B1-F1886B9015E4}"/>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8" name="Footer Placeholder 7">
            <a:extLst>
              <a:ext uri="{FF2B5EF4-FFF2-40B4-BE49-F238E27FC236}">
                <a16:creationId xmlns:a16="http://schemas.microsoft.com/office/drawing/2014/main" id="{22C4AF9C-BE9C-401D-8AA6-C695AD840F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D5E583-EA10-4C0A-8125-45270A1EA4A6}"/>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207868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BAF6-460B-4FC4-A279-265821BA1C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AE5E41-0F02-4266-B646-0422DB8FA82D}"/>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4" name="Footer Placeholder 3">
            <a:extLst>
              <a:ext uri="{FF2B5EF4-FFF2-40B4-BE49-F238E27FC236}">
                <a16:creationId xmlns:a16="http://schemas.microsoft.com/office/drawing/2014/main" id="{3B0F5CCE-A53E-4114-AAE3-0E24B842D3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C44228-84DA-4150-BEBF-4E31DAB8CBFA}"/>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3046272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54C160-B788-494C-9CFD-0D659EB5DBFD}"/>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3" name="Footer Placeholder 2">
            <a:extLst>
              <a:ext uri="{FF2B5EF4-FFF2-40B4-BE49-F238E27FC236}">
                <a16:creationId xmlns:a16="http://schemas.microsoft.com/office/drawing/2014/main" id="{3BA2E264-FD4B-4C7F-8773-1CE5CE1E37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E4512A-3A1C-4150-A09D-BD6143DF1A84}"/>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8703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699B-0BB6-467F-9448-09487B175A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EFDE79-FC7D-4FFD-8C6F-C0ED7C808A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2D8368-77A5-4BB2-BF49-1D91328E7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251EFC-589B-4198-A98A-D6E016F0E4C7}"/>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6" name="Footer Placeholder 5">
            <a:extLst>
              <a:ext uri="{FF2B5EF4-FFF2-40B4-BE49-F238E27FC236}">
                <a16:creationId xmlns:a16="http://schemas.microsoft.com/office/drawing/2014/main" id="{45E2DA32-A252-44CE-90B9-2070FC39B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0B7B2F-A442-4C9F-8648-BB0310207ADB}"/>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3036614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70E59-5931-4158-BB11-80E0A2B2F0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C146DA-9EAC-4C15-A773-76FB950C29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DF1BEE-0975-466B-B350-56265D6F79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0D108-4AF3-495D-BAB4-3D95D50E4D76}"/>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6" name="Footer Placeholder 5">
            <a:extLst>
              <a:ext uri="{FF2B5EF4-FFF2-40B4-BE49-F238E27FC236}">
                <a16:creationId xmlns:a16="http://schemas.microsoft.com/office/drawing/2014/main" id="{5C3DD908-2A58-4367-9544-31DE88CBFD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BE8BD8-2386-4AD3-9937-06902CA51743}"/>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1256139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56204-C71E-42C0-A22E-3768B7CA6A3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1B7857-D22F-4187-B359-1377C797D7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12DA4D-B299-45F7-9585-067AE7163487}"/>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1C4DC7A4-023B-49DA-9B87-0AA3CEF99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D52846-29AF-4F2A-9BF1-66C88EA6FF77}"/>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314199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1FB18-018D-40E4-9923-2AEE604857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D4C1F1-9395-4F11-85FC-9044F5A612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F9C816-EFE0-42F0-A13F-5D36E0ED6898}"/>
              </a:ext>
            </a:extLst>
          </p:cNvPr>
          <p:cNvSpPr>
            <a:spLocks noGrp="1"/>
          </p:cNvSpPr>
          <p:nvPr>
            <p:ph type="dt" sz="half" idx="10"/>
          </p:nvPr>
        </p:nvSpPr>
        <p:spPr/>
        <p:txBody>
          <a:body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4843FB45-7457-4274-8CAC-8B86F0034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D8B36-5C21-4A4F-8290-6CD58FEEF810}"/>
              </a:ext>
            </a:extLst>
          </p:cNvPr>
          <p:cNvSpPr>
            <a:spLocks noGrp="1"/>
          </p:cNvSpPr>
          <p:nvPr>
            <p:ph type="sldNum" sz="quarter" idx="12"/>
          </p:nvPr>
        </p:nvSpPr>
        <p:spPr/>
        <p:txBody>
          <a:bodyPr/>
          <a:lstStyle/>
          <a:p>
            <a:fld id="{D25CFF6D-A630-471A-BDF1-83D46279269E}" type="slidenum">
              <a:rPr lang="en-US" smtClean="0"/>
              <a:t>‹#›</a:t>
            </a:fld>
            <a:endParaRPr lang="en-US"/>
          </a:p>
        </p:txBody>
      </p:sp>
    </p:spTree>
    <p:extLst>
      <p:ext uri="{BB962C8B-B14F-4D97-AF65-F5344CB8AC3E}">
        <p14:creationId xmlns:p14="http://schemas.microsoft.com/office/powerpoint/2010/main" val="374902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B37356-C776-436E-97D9-F4FAFC7A13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420A03-7AF3-4DB9-A527-CDB24587D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5B9BF-5B7A-4DA3-94D8-8CECD6FB5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879E4D-2CA5-45F7-9BE8-669B50909DE3}" type="datetimeFigureOut">
              <a:rPr lang="en-US" smtClean="0"/>
              <a:t>4/12/2022</a:t>
            </a:fld>
            <a:endParaRPr lang="en-US"/>
          </a:p>
        </p:txBody>
      </p:sp>
      <p:sp>
        <p:nvSpPr>
          <p:cNvPr id="5" name="Footer Placeholder 4">
            <a:extLst>
              <a:ext uri="{FF2B5EF4-FFF2-40B4-BE49-F238E27FC236}">
                <a16:creationId xmlns:a16="http://schemas.microsoft.com/office/drawing/2014/main" id="{FF0F6708-77D1-45C0-A98C-E226248D5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8B9A84-7EE3-45A7-AED0-3C3A400B16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5CFF6D-A630-471A-BDF1-83D46279269E}" type="slidenum">
              <a:rPr lang="en-US" smtClean="0"/>
              <a:t>‹#›</a:t>
            </a:fld>
            <a:endParaRPr lang="en-US"/>
          </a:p>
        </p:txBody>
      </p:sp>
    </p:spTree>
    <p:extLst>
      <p:ext uri="{BB962C8B-B14F-4D97-AF65-F5344CB8AC3E}">
        <p14:creationId xmlns:p14="http://schemas.microsoft.com/office/powerpoint/2010/main" val="284120818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DFC4F8D-1077-4AB4-B08E-0B335E07CCE9}"/>
              </a:ext>
            </a:extLst>
          </p:cNvPr>
          <p:cNvSpPr>
            <a:spLocks noGrp="1"/>
          </p:cNvSpPr>
          <p:nvPr>
            <p:ph type="subTitle" idx="1"/>
          </p:nvPr>
        </p:nvSpPr>
        <p:spPr>
          <a:xfrm>
            <a:off x="1163782" y="5837553"/>
            <a:ext cx="9144000" cy="1655762"/>
          </a:xfrm>
        </p:spPr>
        <p:txBody>
          <a:bodyPr>
            <a:normAutofit/>
          </a:bodyPr>
          <a:lstStyle/>
          <a:p>
            <a:r>
              <a:rPr lang="en-US" sz="7200" dirty="0"/>
              <a:t>TEAM DYNAMICS</a:t>
            </a:r>
          </a:p>
        </p:txBody>
      </p:sp>
      <p:pic>
        <p:nvPicPr>
          <p:cNvPr id="4" name="Picture 3">
            <a:extLst>
              <a:ext uri="{FF2B5EF4-FFF2-40B4-BE49-F238E27FC236}">
                <a16:creationId xmlns:a16="http://schemas.microsoft.com/office/drawing/2014/main" id="{896C0910-B85B-4BFD-98F5-FB91F6650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8292" y="190322"/>
            <a:ext cx="6303818" cy="5647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400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19A6-97FE-412E-BCBE-7A2455D7A262}"/>
              </a:ext>
            </a:extLst>
          </p:cNvPr>
          <p:cNvSpPr>
            <a:spLocks noGrp="1"/>
          </p:cNvSpPr>
          <p:nvPr>
            <p:ph type="title"/>
          </p:nvPr>
        </p:nvSpPr>
        <p:spPr/>
        <p:txBody>
          <a:bodyPr/>
          <a:lstStyle/>
          <a:p>
            <a:r>
              <a:rPr lang="en-US" dirty="0"/>
              <a:t>OBJECTICVES</a:t>
            </a:r>
          </a:p>
        </p:txBody>
      </p:sp>
      <p:sp>
        <p:nvSpPr>
          <p:cNvPr id="3" name="Content Placeholder 2">
            <a:extLst>
              <a:ext uri="{FF2B5EF4-FFF2-40B4-BE49-F238E27FC236}">
                <a16:creationId xmlns:a16="http://schemas.microsoft.com/office/drawing/2014/main" id="{634CE806-AE32-41EF-AF1C-CE7B9DA38B96}"/>
              </a:ext>
            </a:extLst>
          </p:cNvPr>
          <p:cNvSpPr>
            <a:spLocks noGrp="1"/>
          </p:cNvSpPr>
          <p:nvPr>
            <p:ph idx="1"/>
          </p:nvPr>
        </p:nvSpPr>
        <p:spPr/>
        <p:txBody>
          <a:bodyPr/>
          <a:lstStyle/>
          <a:p>
            <a:r>
              <a:rPr lang="en-US" altLang="en-US" dirty="0"/>
              <a:t>What is a team?</a:t>
            </a:r>
          </a:p>
          <a:p>
            <a:r>
              <a:rPr lang="en-US" altLang="en-US" dirty="0"/>
              <a:t>What makes a team effective?</a:t>
            </a:r>
          </a:p>
          <a:p>
            <a:r>
              <a:rPr lang="en-US" altLang="en-US" dirty="0"/>
              <a:t>What makes a team defective?</a:t>
            </a:r>
          </a:p>
          <a:p>
            <a:r>
              <a:rPr lang="en-US" altLang="en-US" dirty="0"/>
              <a:t>Why teams?</a:t>
            </a:r>
          </a:p>
          <a:p>
            <a:r>
              <a:rPr lang="en-US" altLang="en-US" dirty="0"/>
              <a:t>Stages of team/group development</a:t>
            </a:r>
          </a:p>
          <a:p>
            <a:endParaRPr lang="en-US" dirty="0"/>
          </a:p>
        </p:txBody>
      </p:sp>
    </p:spTree>
    <p:extLst>
      <p:ext uri="{BB962C8B-B14F-4D97-AF65-F5344CB8AC3E}">
        <p14:creationId xmlns:p14="http://schemas.microsoft.com/office/powerpoint/2010/main" val="238974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2634C-F7CC-47BC-923A-3A4E135E34FD}"/>
              </a:ext>
            </a:extLst>
          </p:cNvPr>
          <p:cNvSpPr>
            <a:spLocks noGrp="1"/>
          </p:cNvSpPr>
          <p:nvPr>
            <p:ph type="title"/>
          </p:nvPr>
        </p:nvSpPr>
        <p:spPr/>
        <p:txBody>
          <a:bodyPr/>
          <a:lstStyle/>
          <a:p>
            <a:r>
              <a:rPr lang="en-US" dirty="0"/>
              <a:t>WHAT ARE TEAMS</a:t>
            </a:r>
          </a:p>
        </p:txBody>
      </p:sp>
      <p:sp>
        <p:nvSpPr>
          <p:cNvPr id="3" name="Content Placeholder 2">
            <a:extLst>
              <a:ext uri="{FF2B5EF4-FFF2-40B4-BE49-F238E27FC236}">
                <a16:creationId xmlns:a16="http://schemas.microsoft.com/office/drawing/2014/main" id="{B5FAE454-6762-4C45-AF23-12F2D67B0F34}"/>
              </a:ext>
            </a:extLst>
          </p:cNvPr>
          <p:cNvSpPr>
            <a:spLocks noGrp="1"/>
          </p:cNvSpPr>
          <p:nvPr>
            <p:ph idx="1"/>
          </p:nvPr>
        </p:nvSpPr>
        <p:spPr/>
        <p:txBody>
          <a:bodyPr/>
          <a:lstStyle/>
          <a:p>
            <a:pPr marL="185738" indent="-185738">
              <a:spcAft>
                <a:spcPct val="30000"/>
              </a:spcAft>
            </a:pPr>
            <a:r>
              <a:rPr lang="en-US" altLang="en-US" sz="2800" dirty="0">
                <a:cs typeface="Times" panose="02020603050405020304" pitchFamily="18" charset="0"/>
              </a:rPr>
              <a:t>Groups of two or more people </a:t>
            </a:r>
          </a:p>
          <a:p>
            <a:pPr marL="185738" indent="-185738">
              <a:spcAft>
                <a:spcPct val="30000"/>
              </a:spcAft>
            </a:pPr>
            <a:r>
              <a:rPr lang="en-US" altLang="en-US" sz="2800" dirty="0">
                <a:cs typeface="Times" panose="02020603050405020304" pitchFamily="18" charset="0"/>
              </a:rPr>
              <a:t>Exist to fulfill a purpose</a:t>
            </a:r>
          </a:p>
          <a:p>
            <a:pPr marL="185738" indent="-185738">
              <a:spcAft>
                <a:spcPct val="30000"/>
              </a:spcAft>
            </a:pPr>
            <a:r>
              <a:rPr lang="en-US" altLang="en-US" sz="2800" dirty="0">
                <a:cs typeface="Times" panose="02020603050405020304" pitchFamily="18" charset="0"/>
              </a:rPr>
              <a:t>Interdependent -- interact and influence each other</a:t>
            </a:r>
          </a:p>
          <a:p>
            <a:pPr marL="185738" indent="-185738">
              <a:spcAft>
                <a:spcPct val="30000"/>
              </a:spcAft>
            </a:pPr>
            <a:r>
              <a:rPr lang="en-US" altLang="en-US" sz="2800" dirty="0">
                <a:cs typeface="Times" panose="02020603050405020304" pitchFamily="18" charset="0"/>
              </a:rPr>
              <a:t>Mutually accountable for achieving common goals</a:t>
            </a:r>
          </a:p>
          <a:p>
            <a:pPr marL="185738" indent="-185738">
              <a:spcAft>
                <a:spcPct val="30000"/>
              </a:spcAft>
            </a:pPr>
            <a:r>
              <a:rPr lang="en-US" altLang="en-US" sz="2800" dirty="0">
                <a:cs typeface="Times" panose="02020603050405020304" pitchFamily="18" charset="0"/>
              </a:rPr>
              <a:t>Perceive themselves as a social entity</a:t>
            </a:r>
          </a:p>
          <a:p>
            <a:endParaRPr lang="en-US" dirty="0"/>
          </a:p>
        </p:txBody>
      </p:sp>
    </p:spTree>
    <p:extLst>
      <p:ext uri="{BB962C8B-B14F-4D97-AF65-F5344CB8AC3E}">
        <p14:creationId xmlns:p14="http://schemas.microsoft.com/office/powerpoint/2010/main" val="3258836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3A899-3A4A-4649-9CAD-E0007D0047AC}"/>
              </a:ext>
            </a:extLst>
          </p:cNvPr>
          <p:cNvSpPr>
            <a:spLocks noGrp="1"/>
          </p:cNvSpPr>
          <p:nvPr>
            <p:ph type="title"/>
          </p:nvPr>
        </p:nvSpPr>
        <p:spPr/>
        <p:txBody>
          <a:bodyPr/>
          <a:lstStyle/>
          <a:p>
            <a:r>
              <a:rPr lang="en-US" dirty="0"/>
              <a:t>GROUPS VRS TEAMS</a:t>
            </a:r>
          </a:p>
        </p:txBody>
      </p:sp>
      <p:sp>
        <p:nvSpPr>
          <p:cNvPr id="3" name="Content Placeholder 2">
            <a:extLst>
              <a:ext uri="{FF2B5EF4-FFF2-40B4-BE49-F238E27FC236}">
                <a16:creationId xmlns:a16="http://schemas.microsoft.com/office/drawing/2014/main" id="{BB8CBAA9-4916-4663-BA33-AAC096D65784}"/>
              </a:ext>
            </a:extLst>
          </p:cNvPr>
          <p:cNvSpPr>
            <a:spLocks noGrp="1"/>
          </p:cNvSpPr>
          <p:nvPr>
            <p:ph idx="1"/>
          </p:nvPr>
        </p:nvSpPr>
        <p:spPr/>
        <p:txBody>
          <a:bodyPr/>
          <a:lstStyle/>
          <a:p>
            <a:pPr>
              <a:spcAft>
                <a:spcPct val="35000"/>
              </a:spcAft>
            </a:pPr>
            <a:r>
              <a:rPr lang="en-US" altLang="en-US" sz="2800" dirty="0">
                <a:cs typeface="Times" panose="02020603050405020304" pitchFamily="18" charset="0"/>
              </a:rPr>
              <a:t>All teams are groups </a:t>
            </a:r>
          </a:p>
          <a:p>
            <a:pPr>
              <a:spcAft>
                <a:spcPct val="35000"/>
              </a:spcAft>
            </a:pPr>
            <a:r>
              <a:rPr lang="en-US" altLang="en-US" sz="2800" dirty="0">
                <a:cs typeface="Times" panose="02020603050405020304" pitchFamily="18" charset="0"/>
              </a:rPr>
              <a:t>Some groups are just people assembled together</a:t>
            </a:r>
          </a:p>
          <a:p>
            <a:pPr>
              <a:spcAft>
                <a:spcPct val="35000"/>
              </a:spcAft>
            </a:pPr>
            <a:r>
              <a:rPr lang="en-US" altLang="en-US" sz="2800" dirty="0">
                <a:cs typeface="Times" panose="02020603050405020304" pitchFamily="18" charset="0"/>
              </a:rPr>
              <a:t>Teams have task interdependence whereas some groups do not (e.g., group of employees enjoying lunch together)</a:t>
            </a:r>
          </a:p>
          <a:p>
            <a:endParaRPr lang="en-US" dirty="0"/>
          </a:p>
        </p:txBody>
      </p:sp>
    </p:spTree>
    <p:extLst>
      <p:ext uri="{BB962C8B-B14F-4D97-AF65-F5344CB8AC3E}">
        <p14:creationId xmlns:p14="http://schemas.microsoft.com/office/powerpoint/2010/main" val="3668314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E022-FBFA-4AEF-8F37-6385151DB0E3}"/>
              </a:ext>
            </a:extLst>
          </p:cNvPr>
          <p:cNvSpPr>
            <a:spLocks noGrp="1"/>
          </p:cNvSpPr>
          <p:nvPr>
            <p:ph type="title"/>
          </p:nvPr>
        </p:nvSpPr>
        <p:spPr/>
        <p:txBody>
          <a:bodyPr/>
          <a:lstStyle/>
          <a:p>
            <a:r>
              <a:rPr lang="en-US" dirty="0"/>
              <a:t>TYPES OF TEAMS</a:t>
            </a:r>
          </a:p>
        </p:txBody>
      </p:sp>
      <p:sp>
        <p:nvSpPr>
          <p:cNvPr id="3" name="Content Placeholder 2">
            <a:extLst>
              <a:ext uri="{FF2B5EF4-FFF2-40B4-BE49-F238E27FC236}">
                <a16:creationId xmlns:a16="http://schemas.microsoft.com/office/drawing/2014/main" id="{8321AA8D-912C-425E-9D5C-6D7CE0EE04BB}"/>
              </a:ext>
            </a:extLst>
          </p:cNvPr>
          <p:cNvSpPr>
            <a:spLocks noGrp="1"/>
          </p:cNvSpPr>
          <p:nvPr>
            <p:ph idx="1"/>
          </p:nvPr>
        </p:nvSpPr>
        <p:spPr/>
        <p:txBody>
          <a:bodyPr/>
          <a:lstStyle/>
          <a:p>
            <a:pPr marL="0" indent="0">
              <a:lnSpc>
                <a:spcPct val="120000"/>
              </a:lnSpc>
              <a:buFontTx/>
              <a:buNone/>
            </a:pPr>
            <a:r>
              <a:rPr lang="en-AU" altLang="en-US" sz="2400" dirty="0">
                <a:cs typeface="Times" panose="02020603050405020304" pitchFamily="18" charset="0"/>
              </a:rPr>
              <a:t>Permanent teams </a:t>
            </a:r>
          </a:p>
          <a:p>
            <a:pPr marL="476250" lvl="1">
              <a:spcBef>
                <a:spcPct val="0"/>
              </a:spcBef>
            </a:pPr>
            <a:r>
              <a:rPr lang="en-AU" altLang="en-US" sz="2000" dirty="0">
                <a:cs typeface="Times" panose="02020603050405020304" pitchFamily="18" charset="0"/>
              </a:rPr>
              <a:t>Team-based departments</a:t>
            </a:r>
          </a:p>
          <a:p>
            <a:pPr marL="476250" lvl="1">
              <a:spcBef>
                <a:spcPct val="0"/>
              </a:spcBef>
            </a:pPr>
            <a:r>
              <a:rPr lang="en-AU" altLang="en-US" sz="2000" dirty="0">
                <a:cs typeface="Times" panose="02020603050405020304" pitchFamily="18" charset="0"/>
              </a:rPr>
              <a:t>Self-directed teams</a:t>
            </a:r>
          </a:p>
          <a:p>
            <a:pPr marL="0" indent="0">
              <a:lnSpc>
                <a:spcPct val="120000"/>
              </a:lnSpc>
              <a:buFontTx/>
              <a:buNone/>
            </a:pPr>
            <a:r>
              <a:rPr lang="en-AU" altLang="en-US" sz="2400" dirty="0">
                <a:cs typeface="Times" panose="02020603050405020304" pitchFamily="18" charset="0"/>
              </a:rPr>
              <a:t>Task forces</a:t>
            </a:r>
          </a:p>
          <a:p>
            <a:pPr marL="476250" lvl="1">
              <a:spcBef>
                <a:spcPct val="0"/>
              </a:spcBef>
            </a:pPr>
            <a:r>
              <a:rPr lang="en-AU" altLang="en-US" sz="2000" dirty="0">
                <a:cs typeface="Times" panose="02020603050405020304" pitchFamily="18" charset="0"/>
              </a:rPr>
              <a:t>Temporary teams that investigate a problem</a:t>
            </a:r>
          </a:p>
          <a:p>
            <a:pPr marL="0" indent="0">
              <a:lnSpc>
                <a:spcPct val="120000"/>
              </a:lnSpc>
              <a:buFontTx/>
              <a:buNone/>
            </a:pPr>
            <a:r>
              <a:rPr lang="en-AU" altLang="en-US" sz="2400" dirty="0">
                <a:cs typeface="Times" panose="02020603050405020304" pitchFamily="18" charset="0"/>
              </a:rPr>
              <a:t>Skunkworks</a:t>
            </a:r>
          </a:p>
          <a:p>
            <a:pPr marL="476250" lvl="1">
              <a:spcBef>
                <a:spcPct val="0"/>
              </a:spcBef>
            </a:pPr>
            <a:r>
              <a:rPr lang="en-AU" altLang="en-US" sz="2000" dirty="0">
                <a:cs typeface="Times" panose="02020603050405020304" pitchFamily="18" charset="0"/>
              </a:rPr>
              <a:t>Temporary teams</a:t>
            </a:r>
          </a:p>
          <a:p>
            <a:pPr marL="476250" lvl="1">
              <a:spcBef>
                <a:spcPct val="0"/>
              </a:spcBef>
            </a:pPr>
            <a:r>
              <a:rPr lang="en-AU" altLang="en-US" sz="2000" dirty="0">
                <a:cs typeface="Times" panose="02020603050405020304" pitchFamily="18" charset="0"/>
              </a:rPr>
              <a:t>Formed spontaneously, using borrowed resources, to develop products or solve problems</a:t>
            </a:r>
          </a:p>
          <a:p>
            <a:pPr marL="0" indent="0">
              <a:buNone/>
            </a:pPr>
            <a:r>
              <a:rPr lang="en-US" sz="2400" dirty="0"/>
              <a:t>Advisory teams</a:t>
            </a:r>
          </a:p>
          <a:p>
            <a:pPr marL="0" indent="0">
              <a:buNone/>
            </a:pPr>
            <a:r>
              <a:rPr lang="en-US" sz="2400" dirty="0"/>
              <a:t>Virtual teams</a:t>
            </a:r>
          </a:p>
        </p:txBody>
      </p:sp>
    </p:spTree>
    <p:extLst>
      <p:ext uri="{BB962C8B-B14F-4D97-AF65-F5344CB8AC3E}">
        <p14:creationId xmlns:p14="http://schemas.microsoft.com/office/powerpoint/2010/main" val="2330239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0F311-396D-46C5-9BA2-0A9CCA4156FD}"/>
              </a:ext>
            </a:extLst>
          </p:cNvPr>
          <p:cNvSpPr>
            <a:spLocks noGrp="1"/>
          </p:cNvSpPr>
          <p:nvPr>
            <p:ph type="title"/>
          </p:nvPr>
        </p:nvSpPr>
        <p:spPr/>
        <p:txBody>
          <a:bodyPr/>
          <a:lstStyle/>
          <a:p>
            <a:r>
              <a:rPr lang="en-US" dirty="0"/>
              <a:t>Virtual teams</a:t>
            </a:r>
          </a:p>
        </p:txBody>
      </p:sp>
      <p:sp>
        <p:nvSpPr>
          <p:cNvPr id="3" name="Content Placeholder 2">
            <a:extLst>
              <a:ext uri="{FF2B5EF4-FFF2-40B4-BE49-F238E27FC236}">
                <a16:creationId xmlns:a16="http://schemas.microsoft.com/office/drawing/2014/main" id="{CE542663-5527-47E2-B8A8-5032B4A44B05}"/>
              </a:ext>
            </a:extLst>
          </p:cNvPr>
          <p:cNvSpPr>
            <a:spLocks noGrp="1"/>
          </p:cNvSpPr>
          <p:nvPr>
            <p:ph idx="1"/>
          </p:nvPr>
        </p:nvSpPr>
        <p:spPr/>
        <p:txBody>
          <a:bodyPr/>
          <a:lstStyle/>
          <a:p>
            <a:pPr>
              <a:lnSpc>
                <a:spcPct val="90000"/>
              </a:lnSpc>
              <a:spcBef>
                <a:spcPct val="80000"/>
              </a:spcBef>
            </a:pPr>
            <a:r>
              <a:rPr lang="en-AU" altLang="en-US" sz="2800" dirty="0"/>
              <a:t>Cross-functional teams that operate across space, time and organizational boundaries using electronic technology</a:t>
            </a:r>
          </a:p>
          <a:p>
            <a:pPr>
              <a:lnSpc>
                <a:spcPct val="90000"/>
              </a:lnSpc>
              <a:spcBef>
                <a:spcPct val="80000"/>
              </a:spcBef>
            </a:pPr>
            <a:r>
              <a:rPr lang="en-AU" altLang="en-US" sz="2800" dirty="0"/>
              <a:t>Increasingly possible because of:</a:t>
            </a:r>
          </a:p>
          <a:p>
            <a:pPr lvl="1">
              <a:lnSpc>
                <a:spcPct val="90000"/>
              </a:lnSpc>
              <a:spcBef>
                <a:spcPct val="0"/>
              </a:spcBef>
            </a:pPr>
            <a:r>
              <a:rPr lang="en-AU" altLang="en-US" sz="2400" dirty="0"/>
              <a:t>Technology</a:t>
            </a:r>
          </a:p>
          <a:p>
            <a:pPr lvl="1">
              <a:lnSpc>
                <a:spcPct val="90000"/>
              </a:lnSpc>
              <a:spcBef>
                <a:spcPct val="0"/>
              </a:spcBef>
            </a:pPr>
            <a:r>
              <a:rPr lang="en-AU" altLang="en-US" sz="2400" dirty="0"/>
              <a:t>Knowledge-based work</a:t>
            </a:r>
          </a:p>
          <a:p>
            <a:pPr>
              <a:lnSpc>
                <a:spcPct val="90000"/>
              </a:lnSpc>
              <a:spcBef>
                <a:spcPct val="80000"/>
              </a:spcBef>
            </a:pPr>
            <a:r>
              <a:rPr lang="en-AU" altLang="en-US" sz="2800" dirty="0"/>
              <a:t>Increasingly necessary because of:</a:t>
            </a:r>
          </a:p>
          <a:p>
            <a:pPr lvl="1">
              <a:lnSpc>
                <a:spcPct val="90000"/>
              </a:lnSpc>
              <a:spcBef>
                <a:spcPct val="0"/>
              </a:spcBef>
            </a:pPr>
            <a:r>
              <a:rPr lang="en-AU" altLang="en-US" sz="2400" dirty="0"/>
              <a:t>Globalization</a:t>
            </a:r>
          </a:p>
          <a:p>
            <a:pPr lvl="1">
              <a:lnSpc>
                <a:spcPct val="90000"/>
              </a:lnSpc>
              <a:spcBef>
                <a:spcPct val="0"/>
              </a:spcBef>
            </a:pPr>
            <a:r>
              <a:rPr lang="en-AU" altLang="en-US" sz="2400" dirty="0"/>
              <a:t>Knowledge management</a:t>
            </a:r>
          </a:p>
          <a:p>
            <a:pPr lvl="1">
              <a:lnSpc>
                <a:spcPct val="90000"/>
              </a:lnSpc>
              <a:spcBef>
                <a:spcPct val="0"/>
              </a:spcBef>
            </a:pPr>
            <a:r>
              <a:rPr lang="en-AU" altLang="en-US" sz="2400" dirty="0"/>
              <a:t>Need for team work</a:t>
            </a:r>
          </a:p>
          <a:p>
            <a:endParaRPr lang="en-US" dirty="0"/>
          </a:p>
        </p:txBody>
      </p:sp>
    </p:spTree>
    <p:extLst>
      <p:ext uri="{BB962C8B-B14F-4D97-AF65-F5344CB8AC3E}">
        <p14:creationId xmlns:p14="http://schemas.microsoft.com/office/powerpoint/2010/main" val="3283697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59E35-1ED6-412F-B13E-8729B0CB01CA}"/>
              </a:ext>
            </a:extLst>
          </p:cNvPr>
          <p:cNvSpPr>
            <a:spLocks noGrp="1"/>
          </p:cNvSpPr>
          <p:nvPr>
            <p:ph type="title"/>
          </p:nvPr>
        </p:nvSpPr>
        <p:spPr/>
        <p:txBody>
          <a:bodyPr/>
          <a:lstStyle/>
          <a:p>
            <a:r>
              <a:rPr lang="en-US" dirty="0"/>
              <a:t>Informal groups</a:t>
            </a:r>
          </a:p>
        </p:txBody>
      </p:sp>
      <p:sp>
        <p:nvSpPr>
          <p:cNvPr id="3" name="Content Placeholder 2">
            <a:extLst>
              <a:ext uri="{FF2B5EF4-FFF2-40B4-BE49-F238E27FC236}">
                <a16:creationId xmlns:a16="http://schemas.microsoft.com/office/drawing/2014/main" id="{7F8DEFD4-16C1-42B2-B5BB-DC8F1CDDCF75}"/>
              </a:ext>
            </a:extLst>
          </p:cNvPr>
          <p:cNvSpPr>
            <a:spLocks noGrp="1"/>
          </p:cNvSpPr>
          <p:nvPr>
            <p:ph idx="1"/>
          </p:nvPr>
        </p:nvSpPr>
        <p:spPr/>
        <p:txBody>
          <a:bodyPr/>
          <a:lstStyle/>
          <a:p>
            <a:pPr>
              <a:spcAft>
                <a:spcPts val="1200"/>
              </a:spcAft>
            </a:pPr>
            <a:r>
              <a:rPr lang="en-US" altLang="en-US" dirty="0">
                <a:cs typeface="Calibri" panose="020F0502020204030204" pitchFamily="34" charset="0"/>
              </a:rPr>
              <a:t>Groups that exist primarily for the benefit of their members</a:t>
            </a:r>
          </a:p>
          <a:p>
            <a:pPr>
              <a:spcAft>
                <a:spcPts val="1200"/>
              </a:spcAft>
            </a:pPr>
            <a:r>
              <a:rPr lang="en-US" altLang="en-US" dirty="0">
                <a:cs typeface="Calibri" panose="020F0502020204030204" pitchFamily="34" charset="0"/>
              </a:rPr>
              <a:t>Reasons why informal groups exist:</a:t>
            </a:r>
          </a:p>
          <a:p>
            <a:pPr marL="717550" lvl="1" indent="-361950">
              <a:spcAft>
                <a:spcPts val="1200"/>
              </a:spcAft>
              <a:buFont typeface="Franklin Gothic Book" panose="020B0503020102020204" pitchFamily="34" charset="0"/>
              <a:buAutoNum type="arabicPeriod"/>
            </a:pPr>
            <a:r>
              <a:rPr lang="en-US" altLang="en-US" dirty="0">
                <a:ea typeface="MS PGothic" panose="020B0600070205080204" pitchFamily="34" charset="-128"/>
                <a:cs typeface="Tahoma" panose="020B0604030504040204" pitchFamily="34" charset="0"/>
              </a:rPr>
              <a:t>Innate drive to bond</a:t>
            </a:r>
          </a:p>
          <a:p>
            <a:pPr marL="717550" lvl="1" indent="-361950">
              <a:buFont typeface="Franklin Gothic Book" panose="020B0503020102020204" pitchFamily="34" charset="0"/>
              <a:buAutoNum type="arabicPeriod"/>
            </a:pPr>
            <a:r>
              <a:rPr lang="en-US" altLang="en-US" dirty="0">
                <a:ea typeface="MS PGothic" panose="020B0600070205080204" pitchFamily="34" charset="-128"/>
                <a:cs typeface="Tahoma" panose="020B0604030504040204" pitchFamily="34" charset="0"/>
              </a:rPr>
              <a:t>Social identity -- </a:t>
            </a:r>
            <a:r>
              <a:rPr lang="en-US" altLang="en-US" dirty="0">
                <a:ea typeface="Tahoma" panose="020B0604030504040204" pitchFamily="34" charset="0"/>
                <a:cs typeface="Tahoma" panose="020B0604030504040204" pitchFamily="34" charset="0"/>
              </a:rPr>
              <a:t>we define ourselves by group memberships</a:t>
            </a:r>
          </a:p>
          <a:p>
            <a:pPr marL="717550" lvl="1" indent="-361950">
              <a:spcAft>
                <a:spcPts val="1200"/>
              </a:spcAft>
              <a:buFont typeface="Franklin Gothic Book" panose="020B0503020102020204" pitchFamily="34" charset="0"/>
              <a:buAutoNum type="arabicPeriod"/>
            </a:pPr>
            <a:r>
              <a:rPr lang="en-US" altLang="en-US" dirty="0">
                <a:ea typeface="MS PGothic" panose="020B0600070205080204" pitchFamily="34" charset="-128"/>
                <a:cs typeface="Tahoma" panose="020B0604030504040204" pitchFamily="34" charset="0"/>
              </a:rPr>
              <a:t>Goal accomplishment</a:t>
            </a:r>
          </a:p>
          <a:p>
            <a:pPr marL="717550" lvl="1" indent="-361950">
              <a:spcAft>
                <a:spcPts val="1200"/>
              </a:spcAft>
              <a:buFont typeface="Franklin Gothic Book" panose="020B0503020102020204" pitchFamily="34" charset="0"/>
              <a:buAutoNum type="arabicPeriod"/>
            </a:pPr>
            <a:r>
              <a:rPr lang="en-US" altLang="en-US" dirty="0">
                <a:ea typeface="MS PGothic" panose="020B0600070205080204" pitchFamily="34" charset="-128"/>
                <a:cs typeface="Tahoma" panose="020B0604030504040204" pitchFamily="34" charset="0"/>
              </a:rPr>
              <a:t>Emotional support</a:t>
            </a:r>
          </a:p>
          <a:p>
            <a:endParaRPr lang="en-US" dirty="0"/>
          </a:p>
        </p:txBody>
      </p:sp>
    </p:spTree>
    <p:extLst>
      <p:ext uri="{BB962C8B-B14F-4D97-AF65-F5344CB8AC3E}">
        <p14:creationId xmlns:p14="http://schemas.microsoft.com/office/powerpoint/2010/main" val="1280181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D9AAC-BD5A-4B53-87D0-AAA02D07D9C5}"/>
              </a:ext>
            </a:extLst>
          </p:cNvPr>
          <p:cNvSpPr>
            <a:spLocks noGrp="1"/>
          </p:cNvSpPr>
          <p:nvPr>
            <p:ph type="title"/>
          </p:nvPr>
        </p:nvSpPr>
        <p:spPr/>
        <p:txBody>
          <a:bodyPr/>
          <a:lstStyle/>
          <a:p>
            <a:r>
              <a:rPr lang="en-US" dirty="0"/>
              <a:t>Importance of teams</a:t>
            </a:r>
          </a:p>
        </p:txBody>
      </p:sp>
      <p:sp>
        <p:nvSpPr>
          <p:cNvPr id="3" name="Content Placeholder 2">
            <a:extLst>
              <a:ext uri="{FF2B5EF4-FFF2-40B4-BE49-F238E27FC236}">
                <a16:creationId xmlns:a16="http://schemas.microsoft.com/office/drawing/2014/main" id="{AA096190-EC78-47A1-889D-0F327D1BB3FC}"/>
              </a:ext>
            </a:extLst>
          </p:cNvPr>
          <p:cNvSpPr>
            <a:spLocks noGrp="1"/>
          </p:cNvSpPr>
          <p:nvPr>
            <p:ph idx="1"/>
          </p:nvPr>
        </p:nvSpPr>
        <p:spPr/>
        <p:txBody>
          <a:bodyPr>
            <a:normAutofit lnSpcReduction="10000"/>
          </a:bodyPr>
          <a:lstStyle/>
          <a:p>
            <a:pPr>
              <a:buFont typeface="Wingdings" pitchFamily="-111" charset="2"/>
              <a:buNone/>
              <a:defRPr/>
            </a:pPr>
            <a:r>
              <a:rPr lang="en-US" dirty="0">
                <a:ea typeface="ＭＳ Ｐゴシック" pitchFamily="-111" charset="-128"/>
              </a:rPr>
              <a:t>Advantages</a:t>
            </a:r>
          </a:p>
          <a:p>
            <a:pPr lvl="1">
              <a:buFont typeface="Arial" pitchFamily="-65" charset="0"/>
              <a:buChar char="•"/>
              <a:defRPr/>
            </a:pPr>
            <a:r>
              <a:rPr lang="en-US" dirty="0">
                <a:cs typeface="Tahoma" pitchFamily="-111" charset="0"/>
              </a:rPr>
              <a:t>Make better decisions, products/services</a:t>
            </a:r>
          </a:p>
          <a:p>
            <a:pPr lvl="1">
              <a:spcAft>
                <a:spcPts val="0"/>
              </a:spcAft>
              <a:buFont typeface="Arial" pitchFamily="-65" charset="0"/>
              <a:buChar char="•"/>
              <a:defRPr/>
            </a:pPr>
            <a:r>
              <a:rPr lang="en-US" dirty="0">
                <a:cs typeface="Tahoma" pitchFamily="-111" charset="0"/>
              </a:rPr>
              <a:t>Better information sharing</a:t>
            </a:r>
          </a:p>
          <a:p>
            <a:pPr lvl="1">
              <a:buFont typeface="Arial" pitchFamily="-65" charset="0"/>
              <a:buChar char="•"/>
              <a:defRPr/>
            </a:pPr>
            <a:r>
              <a:rPr lang="en-US" dirty="0">
                <a:cs typeface="Tahoma" pitchFamily="-111" charset="0"/>
              </a:rPr>
              <a:t>Higher employee motivation/engagement</a:t>
            </a:r>
          </a:p>
          <a:p>
            <a:pPr lvl="2">
              <a:buFont typeface="Lucida Grande" pitchFamily="-65" charset="0"/>
              <a:buChar char="-"/>
              <a:defRPr/>
            </a:pPr>
            <a:r>
              <a:rPr lang="en-US" dirty="0">
                <a:cs typeface="Tahoma" pitchFamily="-111" charset="0"/>
              </a:rPr>
              <a:t>Fulfills drive to bond</a:t>
            </a:r>
          </a:p>
          <a:p>
            <a:pPr lvl="2">
              <a:buFont typeface="Lucida Grande" pitchFamily="-65" charset="0"/>
              <a:buChar char="-"/>
              <a:defRPr/>
            </a:pPr>
            <a:r>
              <a:rPr lang="en-US" dirty="0">
                <a:cs typeface="Tahoma" pitchFamily="-111" charset="0"/>
              </a:rPr>
              <a:t>Closer scrutiny by team members</a:t>
            </a:r>
          </a:p>
          <a:p>
            <a:pPr lvl="2">
              <a:spcAft>
                <a:spcPts val="600"/>
              </a:spcAft>
              <a:buFont typeface="Lucida Grande" pitchFamily="-65" charset="0"/>
              <a:buChar char="-"/>
              <a:defRPr/>
            </a:pPr>
            <a:r>
              <a:rPr lang="en-US" dirty="0">
                <a:cs typeface="Tahoma" pitchFamily="-111" charset="0"/>
              </a:rPr>
              <a:t>Team members are benchmarks of comparison</a:t>
            </a:r>
          </a:p>
          <a:p>
            <a:pPr>
              <a:buFont typeface="Wingdings" pitchFamily="-111" charset="2"/>
              <a:buNone/>
              <a:defRPr/>
            </a:pPr>
            <a:r>
              <a:rPr lang="en-US" dirty="0">
                <a:ea typeface="ＭＳ Ｐゴシック" pitchFamily="-111" charset="-128"/>
              </a:rPr>
              <a:t>Disadvantages</a:t>
            </a:r>
          </a:p>
          <a:p>
            <a:pPr lvl="1">
              <a:buFont typeface="Arial" pitchFamily="-65" charset="0"/>
              <a:buChar char="•"/>
              <a:defRPr/>
            </a:pPr>
            <a:r>
              <a:rPr lang="en-US" dirty="0">
                <a:cs typeface="Tahoma" pitchFamily="-111" charset="0"/>
              </a:rPr>
              <a:t>Individuals better/faster on some tasks</a:t>
            </a:r>
          </a:p>
          <a:p>
            <a:pPr lvl="1">
              <a:buFont typeface="Arial" pitchFamily="-65" charset="0"/>
              <a:buChar char="•"/>
              <a:defRPr/>
            </a:pPr>
            <a:r>
              <a:rPr lang="en-US" dirty="0">
                <a:cs typeface="Tahoma" pitchFamily="-111" charset="0"/>
              </a:rPr>
              <a:t>Process losses - cost of developing and maintaining teams</a:t>
            </a:r>
          </a:p>
          <a:p>
            <a:pPr lvl="1">
              <a:buFont typeface="Arial" pitchFamily="-65" charset="0"/>
              <a:buChar char="•"/>
              <a:defRPr/>
            </a:pPr>
            <a:r>
              <a:rPr lang="en-US" dirty="0">
                <a:cs typeface="Tahoma" pitchFamily="-111" charset="0"/>
              </a:rPr>
              <a:t>Social loafing</a:t>
            </a:r>
          </a:p>
          <a:p>
            <a:pPr lvl="1">
              <a:buFont typeface="Arial" pitchFamily="-65" charset="0"/>
              <a:buChar char="•"/>
              <a:defRPr/>
            </a:pPr>
            <a:endParaRPr lang="en-US" dirty="0">
              <a:cs typeface="Tahoma" pitchFamily="-111" charset="0"/>
            </a:endParaRPr>
          </a:p>
          <a:p>
            <a:endParaRPr lang="en-US" dirty="0"/>
          </a:p>
        </p:txBody>
      </p:sp>
    </p:spTree>
    <p:extLst>
      <p:ext uri="{BB962C8B-B14F-4D97-AF65-F5344CB8AC3E}">
        <p14:creationId xmlns:p14="http://schemas.microsoft.com/office/powerpoint/2010/main" val="2476797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utoShape 23">
            <a:extLst>
              <a:ext uri="{FF2B5EF4-FFF2-40B4-BE49-F238E27FC236}">
                <a16:creationId xmlns:a16="http://schemas.microsoft.com/office/drawing/2014/main" id="{65AC53A9-6C5A-4F49-A2EF-53633426C4A7}"/>
              </a:ext>
            </a:extLst>
          </p:cNvPr>
          <p:cNvSpPr>
            <a:spLocks/>
          </p:cNvSpPr>
          <p:nvPr/>
        </p:nvSpPr>
        <p:spPr bwMode="auto">
          <a:xfrm rot="5406548">
            <a:off x="5169615" y="3179985"/>
            <a:ext cx="363538" cy="533400"/>
          </a:xfrm>
          <a:prstGeom prst="rightArrow">
            <a:avLst>
              <a:gd name="adj1" fmla="val 39824"/>
              <a:gd name="adj2" fmla="val 67301"/>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eaLnBrk="1" hangingPunct="1"/>
            <a:endParaRPr lang="en-US" altLang="en-US"/>
          </a:p>
        </p:txBody>
      </p:sp>
      <p:sp>
        <p:nvSpPr>
          <p:cNvPr id="26" name="Rectangle 2">
            <a:extLst>
              <a:ext uri="{FF2B5EF4-FFF2-40B4-BE49-F238E27FC236}">
                <a16:creationId xmlns:a16="http://schemas.microsoft.com/office/drawing/2014/main" id="{8B667D32-0926-4BC9-B8D2-3F3DC5B6EA6C}"/>
              </a:ext>
            </a:extLst>
          </p:cNvPr>
          <p:cNvSpPr txBox="1">
            <a:spLocks noChangeArrowheads="1"/>
          </p:cNvSpPr>
          <p:nvPr/>
        </p:nvSpPr>
        <p:spPr>
          <a:xfrm>
            <a:off x="2208213" y="165608"/>
            <a:ext cx="7391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Team Effectiveness Model</a:t>
            </a:r>
          </a:p>
        </p:txBody>
      </p:sp>
      <p:sp>
        <p:nvSpPr>
          <p:cNvPr id="27" name="Date Placeholder 17">
            <a:extLst>
              <a:ext uri="{FF2B5EF4-FFF2-40B4-BE49-F238E27FC236}">
                <a16:creationId xmlns:a16="http://schemas.microsoft.com/office/drawing/2014/main" id="{21C592D3-8483-4B38-8952-CCB78E09D012}"/>
              </a:ext>
            </a:extLst>
          </p:cNvPr>
          <p:cNvSpPr>
            <a:spLocks noGrp="1"/>
          </p:cNvSpPr>
          <p:nvPr>
            <p:ph type="dt" sz="quarter" idx="10"/>
          </p:nvPr>
        </p:nvSpPr>
        <p:spPr bwMode="auto">
          <a:xfrm>
            <a:off x="122238" y="6564313"/>
            <a:ext cx="3078162" cy="2936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eaLnBrk="1" hangingPunct="1"/>
            <a:r>
              <a:rPr lang="en-AU" altLang="en-US" sz="1000">
                <a:solidFill>
                  <a:srgbClr val="7C7C7C"/>
                </a:solidFill>
                <a:latin typeface="Franklin Gothic Book" panose="020B0503020102020204" pitchFamily="34" charset="0"/>
              </a:rPr>
              <a:t>McShane-Olekalns-Travaglione   OB Pacific Rim 3e</a:t>
            </a:r>
            <a:endParaRPr lang="en-US" altLang="en-US" sz="1000">
              <a:solidFill>
                <a:srgbClr val="7C7C7C"/>
              </a:solidFill>
              <a:latin typeface="Franklin Gothic Book" panose="020B0503020102020204" pitchFamily="34" charset="0"/>
            </a:endParaRPr>
          </a:p>
        </p:txBody>
      </p:sp>
      <p:sp>
        <p:nvSpPr>
          <p:cNvPr id="28" name="Footer Placeholder 19">
            <a:extLst>
              <a:ext uri="{FF2B5EF4-FFF2-40B4-BE49-F238E27FC236}">
                <a16:creationId xmlns:a16="http://schemas.microsoft.com/office/drawing/2014/main" id="{370481BF-C46A-4FF4-B39D-B6C51D4849ED}"/>
              </a:ext>
            </a:extLst>
          </p:cNvPr>
          <p:cNvSpPr>
            <a:spLocks noGrp="1"/>
          </p:cNvSpPr>
          <p:nvPr>
            <p:ph type="ftr" sz="quarter" idx="11"/>
          </p:nvPr>
        </p:nvSpPr>
        <p:spPr>
          <a:xfrm>
            <a:off x="5257800" y="6492875"/>
            <a:ext cx="3657600" cy="365125"/>
          </a:xfrm>
        </p:spPr>
        <p:txBody>
          <a:bodyPr/>
          <a:lstStyle/>
          <a:p>
            <a:pPr>
              <a:defRPr/>
            </a:pPr>
            <a:r>
              <a:rPr lang="en-US"/>
              <a:t>© 2010 The McGraw-Hill Companies, Inc. All rights reserved</a:t>
            </a:r>
          </a:p>
        </p:txBody>
      </p:sp>
      <p:sp>
        <p:nvSpPr>
          <p:cNvPr id="29" name="Slide Number Placeholder 18">
            <a:extLst>
              <a:ext uri="{FF2B5EF4-FFF2-40B4-BE49-F238E27FC236}">
                <a16:creationId xmlns:a16="http://schemas.microsoft.com/office/drawing/2014/main" id="{108AD437-ABBE-4BA4-859B-DBBEACD6482D}"/>
              </a:ext>
            </a:extLst>
          </p:cNvPr>
          <p:cNvSpPr>
            <a:spLocks noGrp="1"/>
          </p:cNvSpPr>
          <p:nvPr>
            <p:ph type="sldNum" sz="quarter" idx="12"/>
          </p:nvPr>
        </p:nvSpPr>
        <p:spPr bwMode="auto">
          <a:xfrm>
            <a:off x="3962400" y="6492875"/>
            <a:ext cx="457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eaLnBrk="1" hangingPunct="1"/>
            <a:fld id="{E6FA52B7-B55C-4754-BCA2-6536EB8C8678}" type="slidenum">
              <a:rPr lang="en-US" altLang="en-US" sz="1000">
                <a:solidFill>
                  <a:srgbClr val="7C7C7C"/>
                </a:solidFill>
                <a:latin typeface="Franklin Gothic Book" panose="020B0503020102020204" pitchFamily="34" charset="0"/>
              </a:rPr>
              <a:pPr eaLnBrk="1" hangingPunct="1"/>
              <a:t>9</a:t>
            </a:fld>
            <a:endParaRPr lang="en-US" altLang="en-US" sz="1000">
              <a:solidFill>
                <a:srgbClr val="7C7C7C"/>
              </a:solidFill>
              <a:latin typeface="Franklin Gothic Book" panose="020B0503020102020204" pitchFamily="34" charset="0"/>
            </a:endParaRPr>
          </a:p>
        </p:txBody>
      </p:sp>
      <p:grpSp>
        <p:nvGrpSpPr>
          <p:cNvPr id="30" name="Group 29">
            <a:extLst>
              <a:ext uri="{FF2B5EF4-FFF2-40B4-BE49-F238E27FC236}">
                <a16:creationId xmlns:a16="http://schemas.microsoft.com/office/drawing/2014/main" id="{1D29BCB6-927F-4FFB-9D78-8CA52BEC8947}"/>
              </a:ext>
            </a:extLst>
          </p:cNvPr>
          <p:cNvGrpSpPr>
            <a:grpSpLocks/>
          </p:cNvGrpSpPr>
          <p:nvPr/>
        </p:nvGrpSpPr>
        <p:grpSpPr bwMode="auto">
          <a:xfrm>
            <a:off x="4267708" y="1204012"/>
            <a:ext cx="2286000" cy="1981200"/>
            <a:chOff x="2256" y="1056"/>
            <a:chExt cx="1440" cy="1248"/>
          </a:xfrm>
        </p:grpSpPr>
        <p:sp>
          <p:nvSpPr>
            <p:cNvPr id="31" name="Rectangle 4">
              <a:extLst>
                <a:ext uri="{FF2B5EF4-FFF2-40B4-BE49-F238E27FC236}">
                  <a16:creationId xmlns:a16="http://schemas.microsoft.com/office/drawing/2014/main" id="{937BB21D-8F4C-4220-81CB-85D40FE49439}"/>
                </a:ext>
              </a:extLst>
            </p:cNvPr>
            <p:cNvSpPr>
              <a:spLocks noChangeArrowheads="1"/>
            </p:cNvSpPr>
            <p:nvPr/>
          </p:nvSpPr>
          <p:spPr bwMode="auto">
            <a:xfrm>
              <a:off x="2256" y="1488"/>
              <a:ext cx="1440" cy="816"/>
            </a:xfrm>
            <a:prstGeom prst="rect">
              <a:avLst/>
            </a:prstGeom>
            <a:solidFill>
              <a:srgbClr val="FFF1AD"/>
            </a:solidFill>
            <a:ln w="9525">
              <a:solidFill>
                <a:schemeClr val="tx1"/>
              </a:solidFill>
              <a:miter lim="800000"/>
              <a:headEnd/>
              <a:tailEnd/>
            </a:ln>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spcBef>
                  <a:spcPct val="40000"/>
                </a:spcBef>
                <a:buFontTx/>
                <a:buChar char="•"/>
              </a:pPr>
              <a:r>
                <a:rPr lang="en-US" altLang="en-US" sz="1600">
                  <a:solidFill>
                    <a:schemeClr val="tx1"/>
                  </a:solidFill>
                  <a:latin typeface="Arial" panose="020B0604020202020204" pitchFamily="34" charset="0"/>
                </a:rPr>
                <a:t>Task characteristics</a:t>
              </a:r>
            </a:p>
            <a:p>
              <a:pPr>
                <a:spcBef>
                  <a:spcPct val="40000"/>
                </a:spcBef>
                <a:buFontTx/>
                <a:buChar char="•"/>
              </a:pPr>
              <a:r>
                <a:rPr lang="en-US" altLang="en-US" sz="1600">
                  <a:solidFill>
                    <a:schemeClr val="tx1"/>
                  </a:solidFill>
                  <a:latin typeface="Arial" panose="020B0604020202020204" pitchFamily="34" charset="0"/>
                </a:rPr>
                <a:t>Team size</a:t>
              </a:r>
            </a:p>
            <a:p>
              <a:pPr>
                <a:spcBef>
                  <a:spcPct val="40000"/>
                </a:spcBef>
                <a:buFontTx/>
                <a:buChar char="•"/>
              </a:pPr>
              <a:r>
                <a:rPr lang="en-US" altLang="en-US" sz="1600">
                  <a:solidFill>
                    <a:schemeClr val="tx1"/>
                  </a:solidFill>
                  <a:latin typeface="Arial" panose="020B0604020202020204" pitchFamily="34" charset="0"/>
                </a:rPr>
                <a:t>Team composition</a:t>
              </a:r>
            </a:p>
          </p:txBody>
        </p:sp>
        <p:sp>
          <p:nvSpPr>
            <p:cNvPr id="32" name="Rectangle 5">
              <a:extLst>
                <a:ext uri="{FF2B5EF4-FFF2-40B4-BE49-F238E27FC236}">
                  <a16:creationId xmlns:a16="http://schemas.microsoft.com/office/drawing/2014/main" id="{71C47E1C-EC1B-4F95-888F-E58DC3EC3A0C}"/>
                </a:ext>
              </a:extLst>
            </p:cNvPr>
            <p:cNvSpPr>
              <a:spLocks noChangeArrowheads="1"/>
            </p:cNvSpPr>
            <p:nvPr/>
          </p:nvSpPr>
          <p:spPr bwMode="auto">
            <a:xfrm>
              <a:off x="2256" y="1056"/>
              <a:ext cx="1440" cy="432"/>
            </a:xfrm>
            <a:prstGeom prst="rect">
              <a:avLst/>
            </a:prstGeom>
            <a:solidFill>
              <a:srgbClr val="3C330B"/>
            </a:solidFill>
            <a:ln w="9525">
              <a:solidFill>
                <a:schemeClr val="tx1"/>
              </a:solidFill>
              <a:miter lim="800000"/>
              <a:headEnd/>
              <a:tailEnd/>
            </a:ln>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a:r>
                <a:rPr lang="en-US" altLang="en-US" sz="1600">
                  <a:solidFill>
                    <a:srgbClr val="FAFFC8"/>
                  </a:solidFill>
                  <a:latin typeface="Arial" panose="020B0604020202020204" pitchFamily="34" charset="0"/>
                </a:rPr>
                <a:t>Team Design</a:t>
              </a:r>
            </a:p>
          </p:txBody>
        </p:sp>
      </p:grpSp>
      <p:grpSp>
        <p:nvGrpSpPr>
          <p:cNvPr id="33" name="Group 31">
            <a:extLst>
              <a:ext uri="{FF2B5EF4-FFF2-40B4-BE49-F238E27FC236}">
                <a16:creationId xmlns:a16="http://schemas.microsoft.com/office/drawing/2014/main" id="{26D3C550-CD0F-4C8B-87F6-70DBE9299BD7}"/>
              </a:ext>
            </a:extLst>
          </p:cNvPr>
          <p:cNvGrpSpPr>
            <a:grpSpLocks/>
          </p:cNvGrpSpPr>
          <p:nvPr/>
        </p:nvGrpSpPr>
        <p:grpSpPr bwMode="auto">
          <a:xfrm>
            <a:off x="7311232" y="2402682"/>
            <a:ext cx="2133600" cy="3124200"/>
            <a:chOff x="4032" y="1440"/>
            <a:chExt cx="1344" cy="1968"/>
          </a:xfrm>
        </p:grpSpPr>
        <p:sp>
          <p:nvSpPr>
            <p:cNvPr id="34" name="Rectangle 9">
              <a:extLst>
                <a:ext uri="{FF2B5EF4-FFF2-40B4-BE49-F238E27FC236}">
                  <a16:creationId xmlns:a16="http://schemas.microsoft.com/office/drawing/2014/main" id="{8D2BCF71-44C1-4533-8EED-82F71B8E4D4B}"/>
                </a:ext>
              </a:extLst>
            </p:cNvPr>
            <p:cNvSpPr>
              <a:spLocks noChangeArrowheads="1"/>
            </p:cNvSpPr>
            <p:nvPr/>
          </p:nvSpPr>
          <p:spPr bwMode="auto">
            <a:xfrm>
              <a:off x="4032" y="1872"/>
              <a:ext cx="1344" cy="1536"/>
            </a:xfrm>
            <a:prstGeom prst="rect">
              <a:avLst/>
            </a:prstGeom>
            <a:solidFill>
              <a:srgbClr val="EDCEC2"/>
            </a:solidFill>
            <a:ln w="9525">
              <a:solidFill>
                <a:schemeClr val="tx1"/>
              </a:solidFill>
              <a:miter lim="800000"/>
              <a:headEnd/>
              <a:tailEnd/>
            </a:ln>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spcBef>
                  <a:spcPct val="75000"/>
                </a:spcBef>
                <a:buFontTx/>
                <a:buChar char="•"/>
              </a:pPr>
              <a:r>
                <a:rPr lang="en-US" altLang="en-US" sz="1600">
                  <a:solidFill>
                    <a:schemeClr val="tx1"/>
                  </a:solidFill>
                  <a:latin typeface="Arial" panose="020B0604020202020204" pitchFamily="34" charset="0"/>
                </a:rPr>
                <a:t> Accomplish tasks</a:t>
              </a:r>
            </a:p>
            <a:p>
              <a:pPr>
                <a:spcBef>
                  <a:spcPct val="75000"/>
                </a:spcBef>
                <a:buFontTx/>
                <a:buChar char="•"/>
              </a:pPr>
              <a:r>
                <a:rPr lang="en-US" altLang="en-US" sz="1600">
                  <a:solidFill>
                    <a:schemeClr val="tx1"/>
                  </a:solidFill>
                  <a:latin typeface="Arial" panose="020B0604020202020204" pitchFamily="34" charset="0"/>
                </a:rPr>
                <a:t> Satisfy member</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  needs</a:t>
              </a:r>
            </a:p>
            <a:p>
              <a:pPr>
                <a:spcBef>
                  <a:spcPct val="75000"/>
                </a:spcBef>
                <a:buFontTx/>
                <a:buChar char="•"/>
              </a:pPr>
              <a:r>
                <a:rPr lang="en-US" altLang="en-US" sz="1600">
                  <a:solidFill>
                    <a:schemeClr val="tx1"/>
                  </a:solidFill>
                  <a:latin typeface="Arial" panose="020B0604020202020204" pitchFamily="34" charset="0"/>
                </a:rPr>
                <a:t> Maintain team</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  survival</a:t>
              </a:r>
              <a:br>
                <a:rPr lang="en-US" altLang="en-US" sz="1600">
                  <a:solidFill>
                    <a:schemeClr val="tx1"/>
                  </a:solidFill>
                  <a:latin typeface="Arial" panose="020B0604020202020204" pitchFamily="34" charset="0"/>
                </a:rPr>
              </a:br>
              <a:br>
                <a:rPr lang="en-US" altLang="en-US" sz="1600">
                  <a:solidFill>
                    <a:schemeClr val="tx1"/>
                  </a:solidFill>
                  <a:latin typeface="Arial" panose="020B0604020202020204" pitchFamily="34" charset="0"/>
                </a:rPr>
              </a:br>
              <a:endParaRPr lang="en-US" altLang="en-US" sz="1600">
                <a:solidFill>
                  <a:schemeClr val="tx1"/>
                </a:solidFill>
                <a:latin typeface="Arial" panose="020B0604020202020204" pitchFamily="34" charset="0"/>
              </a:endParaRPr>
            </a:p>
          </p:txBody>
        </p:sp>
        <p:sp>
          <p:nvSpPr>
            <p:cNvPr id="35" name="Rectangle 10">
              <a:extLst>
                <a:ext uri="{FF2B5EF4-FFF2-40B4-BE49-F238E27FC236}">
                  <a16:creationId xmlns:a16="http://schemas.microsoft.com/office/drawing/2014/main" id="{27FF3A0F-A835-4AC6-924F-8183D66151DF}"/>
                </a:ext>
              </a:extLst>
            </p:cNvPr>
            <p:cNvSpPr>
              <a:spLocks noChangeArrowheads="1"/>
            </p:cNvSpPr>
            <p:nvPr/>
          </p:nvSpPr>
          <p:spPr bwMode="auto">
            <a:xfrm>
              <a:off x="4032" y="1440"/>
              <a:ext cx="1344" cy="432"/>
            </a:xfrm>
            <a:prstGeom prst="rect">
              <a:avLst/>
            </a:prstGeom>
            <a:solidFill>
              <a:srgbClr val="4A0000"/>
            </a:solidFill>
            <a:ln w="9525">
              <a:solidFill>
                <a:schemeClr val="tx1"/>
              </a:solidFill>
              <a:miter lim="800000"/>
              <a:headEnd/>
              <a:tailEnd/>
            </a:ln>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a:r>
                <a:rPr lang="en-US" altLang="en-US" sz="1600">
                  <a:solidFill>
                    <a:srgbClr val="FAFFC8"/>
                  </a:solidFill>
                  <a:latin typeface="Arial" panose="020B0604020202020204" pitchFamily="34" charset="0"/>
                </a:rPr>
                <a:t>Team</a:t>
              </a:r>
            </a:p>
            <a:p>
              <a:pPr algn="ctr"/>
              <a:r>
                <a:rPr lang="en-US" altLang="en-US" sz="1600">
                  <a:solidFill>
                    <a:srgbClr val="FAFFC8"/>
                  </a:solidFill>
                  <a:latin typeface="Arial" panose="020B0604020202020204" pitchFamily="34" charset="0"/>
                </a:rPr>
                <a:t>Effectiveness</a:t>
              </a:r>
            </a:p>
          </p:txBody>
        </p:sp>
      </p:grpSp>
      <p:grpSp>
        <p:nvGrpSpPr>
          <p:cNvPr id="36" name="Group 30">
            <a:extLst>
              <a:ext uri="{FF2B5EF4-FFF2-40B4-BE49-F238E27FC236}">
                <a16:creationId xmlns:a16="http://schemas.microsoft.com/office/drawing/2014/main" id="{9EF0EE97-88D3-4EAD-9076-834EECC0C5F4}"/>
              </a:ext>
            </a:extLst>
          </p:cNvPr>
          <p:cNvGrpSpPr>
            <a:grpSpLocks/>
          </p:cNvGrpSpPr>
          <p:nvPr/>
        </p:nvGrpSpPr>
        <p:grpSpPr bwMode="auto">
          <a:xfrm>
            <a:off x="4257445" y="3875088"/>
            <a:ext cx="2286000" cy="2133600"/>
            <a:chOff x="2256" y="2496"/>
            <a:chExt cx="1440" cy="1344"/>
          </a:xfrm>
        </p:grpSpPr>
        <p:sp>
          <p:nvSpPr>
            <p:cNvPr id="37" name="Rectangle 14">
              <a:extLst>
                <a:ext uri="{FF2B5EF4-FFF2-40B4-BE49-F238E27FC236}">
                  <a16:creationId xmlns:a16="http://schemas.microsoft.com/office/drawing/2014/main" id="{8DD096A9-7C96-4D17-9DB1-683A829A57EB}"/>
                </a:ext>
              </a:extLst>
            </p:cNvPr>
            <p:cNvSpPr>
              <a:spLocks noChangeArrowheads="1"/>
            </p:cNvSpPr>
            <p:nvPr/>
          </p:nvSpPr>
          <p:spPr bwMode="auto">
            <a:xfrm>
              <a:off x="2256" y="2928"/>
              <a:ext cx="1440" cy="912"/>
            </a:xfrm>
            <a:prstGeom prst="rect">
              <a:avLst/>
            </a:prstGeom>
            <a:solidFill>
              <a:srgbClr val="97BA8B"/>
            </a:solidFill>
            <a:ln w="9525">
              <a:solidFill>
                <a:schemeClr val="tx1"/>
              </a:solidFill>
              <a:miter lim="800000"/>
              <a:headEnd/>
              <a:tailEnd/>
            </a:ln>
          </p:spPr>
          <p:txBody>
            <a:bodyPr wrap="none" anchor="ctr"/>
            <a:lstStyle>
              <a:lvl1pPr marL="176213" indent="-176213"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spcBef>
                  <a:spcPct val="10000"/>
                </a:spcBef>
                <a:spcAft>
                  <a:spcPts val="600"/>
                </a:spcAft>
                <a:buFontTx/>
                <a:buChar char="•"/>
              </a:pPr>
              <a:r>
                <a:rPr lang="en-US" altLang="en-US" sz="1600">
                  <a:solidFill>
                    <a:schemeClr val="tx1"/>
                  </a:solidFill>
                  <a:latin typeface="Arial" panose="020B0604020202020204" pitchFamily="34" charset="0"/>
                </a:rPr>
                <a:t>Team development</a:t>
              </a:r>
            </a:p>
            <a:p>
              <a:pPr>
                <a:spcBef>
                  <a:spcPct val="10000"/>
                </a:spcBef>
                <a:spcAft>
                  <a:spcPts val="600"/>
                </a:spcAft>
                <a:buFontTx/>
                <a:buChar char="•"/>
              </a:pPr>
              <a:r>
                <a:rPr lang="en-US" altLang="en-US" sz="1600">
                  <a:solidFill>
                    <a:schemeClr val="tx1"/>
                  </a:solidFill>
                  <a:latin typeface="Arial" panose="020B0604020202020204" pitchFamily="34" charset="0"/>
                </a:rPr>
                <a:t>Team norms</a:t>
              </a:r>
            </a:p>
            <a:p>
              <a:pPr>
                <a:spcBef>
                  <a:spcPct val="10000"/>
                </a:spcBef>
                <a:spcAft>
                  <a:spcPts val="600"/>
                </a:spcAft>
                <a:buFontTx/>
                <a:buChar char="•"/>
              </a:pPr>
              <a:r>
                <a:rPr lang="en-US" altLang="en-US" sz="1600">
                  <a:solidFill>
                    <a:schemeClr val="tx1"/>
                  </a:solidFill>
                  <a:latin typeface="Arial" panose="020B0604020202020204" pitchFamily="34" charset="0"/>
                </a:rPr>
                <a:t>Team cohesiveness</a:t>
              </a:r>
            </a:p>
            <a:p>
              <a:pPr>
                <a:spcBef>
                  <a:spcPct val="10000"/>
                </a:spcBef>
                <a:spcAft>
                  <a:spcPts val="600"/>
                </a:spcAft>
                <a:buFontTx/>
                <a:buChar char="•"/>
              </a:pPr>
              <a:r>
                <a:rPr lang="en-US" altLang="en-US" sz="1600">
                  <a:solidFill>
                    <a:schemeClr val="tx1"/>
                  </a:solidFill>
                  <a:latin typeface="Arial" panose="020B0604020202020204" pitchFamily="34" charset="0"/>
                </a:rPr>
                <a:t>Team trust</a:t>
              </a:r>
            </a:p>
          </p:txBody>
        </p:sp>
        <p:sp>
          <p:nvSpPr>
            <p:cNvPr id="38" name="Rectangle 15">
              <a:extLst>
                <a:ext uri="{FF2B5EF4-FFF2-40B4-BE49-F238E27FC236}">
                  <a16:creationId xmlns:a16="http://schemas.microsoft.com/office/drawing/2014/main" id="{2051B17D-0BE7-4DA2-AD40-289629613F5B}"/>
                </a:ext>
              </a:extLst>
            </p:cNvPr>
            <p:cNvSpPr>
              <a:spLocks noChangeArrowheads="1"/>
            </p:cNvSpPr>
            <p:nvPr/>
          </p:nvSpPr>
          <p:spPr bwMode="auto">
            <a:xfrm>
              <a:off x="2256" y="2496"/>
              <a:ext cx="1440" cy="432"/>
            </a:xfrm>
            <a:prstGeom prst="rect">
              <a:avLst/>
            </a:prstGeom>
            <a:solidFill>
              <a:srgbClr val="303B2C"/>
            </a:solidFill>
            <a:ln w="9525">
              <a:solidFill>
                <a:schemeClr val="tx1"/>
              </a:solidFill>
              <a:miter lim="800000"/>
              <a:headEnd/>
              <a:tailEnd/>
            </a:ln>
            <a:effectLst/>
          </p:spPr>
          <p:txBody>
            <a:bodyPr wrap="none" anchor="ctr"/>
            <a:lstStyle/>
            <a:p>
              <a:pPr algn="ctr" eaLnBrk="0" hangingPunct="0">
                <a:defRPr/>
              </a:pPr>
              <a:r>
                <a:rPr lang="en-US" sz="1600">
                  <a:solidFill>
                    <a:srgbClr val="FFF1AD"/>
                  </a:solidFill>
                  <a:latin typeface="Arial" pitchFamily="34" charset="0"/>
                </a:rPr>
                <a:t>Team Processes</a:t>
              </a:r>
              <a:endParaRPr lang="en-US" sz="1600">
                <a:solidFill>
                  <a:srgbClr val="FFF1AD"/>
                </a:solidFill>
                <a:effectLst>
                  <a:outerShdw blurRad="38100" dist="38100" dir="2700000" algn="tl">
                    <a:srgbClr val="000000"/>
                  </a:outerShdw>
                </a:effectLst>
                <a:latin typeface="Arial" pitchFamily="34" charset="0"/>
              </a:endParaRPr>
            </a:p>
          </p:txBody>
        </p:sp>
      </p:grpSp>
      <p:sp>
        <p:nvSpPr>
          <p:cNvPr id="39" name="AutoShape 25">
            <a:extLst>
              <a:ext uri="{FF2B5EF4-FFF2-40B4-BE49-F238E27FC236}">
                <a16:creationId xmlns:a16="http://schemas.microsoft.com/office/drawing/2014/main" id="{584D9396-EA39-4101-8751-237F80E87D28}"/>
              </a:ext>
            </a:extLst>
          </p:cNvPr>
          <p:cNvSpPr>
            <a:spLocks/>
          </p:cNvSpPr>
          <p:nvPr/>
        </p:nvSpPr>
        <p:spPr bwMode="auto">
          <a:xfrm rot="6548">
            <a:off x="6708350" y="2819401"/>
            <a:ext cx="533400" cy="533400"/>
          </a:xfrm>
          <a:prstGeom prst="rightArrow">
            <a:avLst>
              <a:gd name="adj1" fmla="val 36907"/>
              <a:gd name="adj2" fmla="val 50037"/>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eaLnBrk="1" hangingPunct="1"/>
            <a:endParaRPr lang="en-US" altLang="en-US"/>
          </a:p>
        </p:txBody>
      </p:sp>
      <p:sp>
        <p:nvSpPr>
          <p:cNvPr id="40" name="AutoShape 26">
            <a:extLst>
              <a:ext uri="{FF2B5EF4-FFF2-40B4-BE49-F238E27FC236}">
                <a16:creationId xmlns:a16="http://schemas.microsoft.com/office/drawing/2014/main" id="{B0A8D739-1739-4B1D-8E80-1E210F41F3EB}"/>
              </a:ext>
            </a:extLst>
          </p:cNvPr>
          <p:cNvSpPr>
            <a:spLocks/>
          </p:cNvSpPr>
          <p:nvPr/>
        </p:nvSpPr>
        <p:spPr bwMode="auto">
          <a:xfrm rot="6548">
            <a:off x="3695699" y="2819401"/>
            <a:ext cx="533400" cy="533400"/>
          </a:xfrm>
          <a:prstGeom prst="rightArrow">
            <a:avLst>
              <a:gd name="adj1" fmla="val 36907"/>
              <a:gd name="adj2" fmla="val 50037"/>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eaLnBrk="1" hangingPunct="1"/>
            <a:endParaRPr lang="en-US" altLang="en-US"/>
          </a:p>
        </p:txBody>
      </p:sp>
      <p:sp>
        <p:nvSpPr>
          <p:cNvPr id="41" name="AutoShape 27">
            <a:extLst>
              <a:ext uri="{FF2B5EF4-FFF2-40B4-BE49-F238E27FC236}">
                <a16:creationId xmlns:a16="http://schemas.microsoft.com/office/drawing/2014/main" id="{99B6C31A-4D22-4278-B469-0F75669EBDAC}"/>
              </a:ext>
            </a:extLst>
          </p:cNvPr>
          <p:cNvSpPr>
            <a:spLocks/>
          </p:cNvSpPr>
          <p:nvPr/>
        </p:nvSpPr>
        <p:spPr bwMode="auto">
          <a:xfrm rot="6548">
            <a:off x="3733801" y="4329687"/>
            <a:ext cx="533400" cy="533400"/>
          </a:xfrm>
          <a:prstGeom prst="rightArrow">
            <a:avLst>
              <a:gd name="adj1" fmla="val 36907"/>
              <a:gd name="adj2" fmla="val 50037"/>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eaLnBrk="1" hangingPunct="1"/>
            <a:endParaRPr lang="en-US" altLang="en-US"/>
          </a:p>
        </p:txBody>
      </p:sp>
      <p:sp>
        <p:nvSpPr>
          <p:cNvPr id="42" name="AutoShape 28">
            <a:extLst>
              <a:ext uri="{FF2B5EF4-FFF2-40B4-BE49-F238E27FC236}">
                <a16:creationId xmlns:a16="http://schemas.microsoft.com/office/drawing/2014/main" id="{244ADEE9-06AC-4A3F-BFF9-62C6B05ED07C}"/>
              </a:ext>
            </a:extLst>
          </p:cNvPr>
          <p:cNvSpPr>
            <a:spLocks/>
          </p:cNvSpPr>
          <p:nvPr/>
        </p:nvSpPr>
        <p:spPr bwMode="auto">
          <a:xfrm rot="6548">
            <a:off x="6660638" y="4294188"/>
            <a:ext cx="533400" cy="533400"/>
          </a:xfrm>
          <a:prstGeom prst="rightArrow">
            <a:avLst>
              <a:gd name="adj1" fmla="val 36907"/>
              <a:gd name="adj2" fmla="val 50037"/>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lgn="ctr" eaLnBrk="1" hangingPunct="1"/>
            <a:endParaRPr lang="en-US" altLang="en-US"/>
          </a:p>
        </p:txBody>
      </p:sp>
      <p:grpSp>
        <p:nvGrpSpPr>
          <p:cNvPr id="43" name="Group 21">
            <a:extLst>
              <a:ext uri="{FF2B5EF4-FFF2-40B4-BE49-F238E27FC236}">
                <a16:creationId xmlns:a16="http://schemas.microsoft.com/office/drawing/2014/main" id="{4ADB48BC-1DFC-425F-A924-F2E38AFFDE94}"/>
              </a:ext>
            </a:extLst>
          </p:cNvPr>
          <p:cNvGrpSpPr>
            <a:grpSpLocks/>
          </p:cNvGrpSpPr>
          <p:nvPr/>
        </p:nvGrpSpPr>
        <p:grpSpPr bwMode="auto">
          <a:xfrm>
            <a:off x="1661319" y="2403550"/>
            <a:ext cx="1905000" cy="3276600"/>
            <a:chOff x="914400" y="1905000"/>
            <a:chExt cx="1905000" cy="3276600"/>
          </a:xfrm>
        </p:grpSpPr>
        <p:sp>
          <p:nvSpPr>
            <p:cNvPr id="44" name="Rectangle 19">
              <a:extLst>
                <a:ext uri="{FF2B5EF4-FFF2-40B4-BE49-F238E27FC236}">
                  <a16:creationId xmlns:a16="http://schemas.microsoft.com/office/drawing/2014/main" id="{B67DE4FB-EF0D-4CD6-90A6-653AAFEB3925}"/>
                </a:ext>
              </a:extLst>
            </p:cNvPr>
            <p:cNvSpPr>
              <a:spLocks noChangeArrowheads="1"/>
            </p:cNvSpPr>
            <p:nvPr/>
          </p:nvSpPr>
          <p:spPr bwMode="auto">
            <a:xfrm>
              <a:off x="914400" y="2819400"/>
              <a:ext cx="1905000" cy="2362200"/>
            </a:xfrm>
            <a:prstGeom prst="rect">
              <a:avLst/>
            </a:prstGeom>
            <a:solidFill>
              <a:srgbClr val="95B1E7"/>
            </a:solidFill>
            <a:ln w="9525">
              <a:solidFill>
                <a:schemeClr val="tx1"/>
              </a:solidFill>
              <a:miter lim="800000"/>
              <a:headEnd/>
              <a:tailEnd/>
            </a:ln>
          </p:spPr>
          <p:txBody>
            <a:bodyPr wrap="none" tIns="0" anchor="ctr"/>
            <a:lstStyle>
              <a:lvl1pPr marL="93663" indent="-93663"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pPr>
                <a:buFont typeface="Arial" panose="020B0604020202020204" pitchFamily="34" charset="0"/>
                <a:buChar char="•"/>
              </a:pPr>
              <a:r>
                <a:rPr lang="en-US" altLang="en-US" sz="1600">
                  <a:solidFill>
                    <a:schemeClr val="tx1"/>
                  </a:solidFill>
                  <a:latin typeface="Arial" panose="020B0604020202020204" pitchFamily="34" charset="0"/>
                </a:rPr>
                <a:t>Rewards</a:t>
              </a:r>
            </a:p>
            <a:p>
              <a:pPr>
                <a:lnSpc>
                  <a:spcPct val="150000"/>
                </a:lnSpc>
                <a:buFont typeface="Arial" panose="020B0604020202020204" pitchFamily="34" charset="0"/>
                <a:buChar char="•"/>
              </a:pPr>
              <a:r>
                <a:rPr lang="en-US" altLang="en-US" sz="1600">
                  <a:solidFill>
                    <a:schemeClr val="tx1"/>
                  </a:solidFill>
                  <a:latin typeface="Arial" panose="020B0604020202020204" pitchFamily="34" charset="0"/>
                </a:rPr>
                <a:t>Communication</a:t>
              </a:r>
            </a:p>
            <a:p>
              <a:pPr>
                <a:lnSpc>
                  <a:spcPct val="150000"/>
                </a:lnSpc>
                <a:buFont typeface="Arial" panose="020B0604020202020204" pitchFamily="34" charset="0"/>
                <a:buChar char="•"/>
              </a:pPr>
              <a:r>
                <a:rPr lang="en-US" altLang="en-US" sz="1600">
                  <a:solidFill>
                    <a:schemeClr val="tx1"/>
                  </a:solidFill>
                  <a:latin typeface="Arial" panose="020B0604020202020204" pitchFamily="34" charset="0"/>
                </a:rPr>
                <a:t>Org structure</a:t>
              </a:r>
            </a:p>
            <a:p>
              <a:pPr>
                <a:lnSpc>
                  <a:spcPct val="150000"/>
                </a:lnSpc>
                <a:buFont typeface="Arial" panose="020B0604020202020204" pitchFamily="34" charset="0"/>
                <a:buChar char="•"/>
              </a:pPr>
              <a:r>
                <a:rPr lang="en-US" altLang="en-US" sz="1600">
                  <a:solidFill>
                    <a:schemeClr val="tx1"/>
                  </a:solidFill>
                  <a:latin typeface="Arial" panose="020B0604020202020204" pitchFamily="34" charset="0"/>
                </a:rPr>
                <a:t>Org leadership</a:t>
              </a:r>
            </a:p>
            <a:p>
              <a:pPr>
                <a:lnSpc>
                  <a:spcPct val="150000"/>
                </a:lnSpc>
                <a:buFont typeface="Arial" panose="020B0604020202020204" pitchFamily="34" charset="0"/>
                <a:buChar char="•"/>
              </a:pPr>
              <a:r>
                <a:rPr lang="en-US" altLang="en-US" sz="1600">
                  <a:solidFill>
                    <a:schemeClr val="tx1"/>
                  </a:solidFill>
                  <a:latin typeface="Arial" panose="020B0604020202020204" pitchFamily="34" charset="0"/>
                </a:rPr>
                <a:t>Physical space</a:t>
              </a:r>
            </a:p>
          </p:txBody>
        </p:sp>
        <p:sp>
          <p:nvSpPr>
            <p:cNvPr id="45" name="Rectangle 19">
              <a:extLst>
                <a:ext uri="{FF2B5EF4-FFF2-40B4-BE49-F238E27FC236}">
                  <a16:creationId xmlns:a16="http://schemas.microsoft.com/office/drawing/2014/main" id="{D7F17BCE-70B1-44CF-B936-87AF8415C7FF}"/>
                </a:ext>
              </a:extLst>
            </p:cNvPr>
            <p:cNvSpPr>
              <a:spLocks noChangeArrowheads="1"/>
            </p:cNvSpPr>
            <p:nvPr/>
          </p:nvSpPr>
          <p:spPr bwMode="auto">
            <a:xfrm>
              <a:off x="914400" y="1905000"/>
              <a:ext cx="1905000" cy="914400"/>
            </a:xfrm>
            <a:prstGeom prst="rect">
              <a:avLst/>
            </a:prstGeom>
            <a:solidFill>
              <a:srgbClr val="293353"/>
            </a:solidFill>
            <a:ln w="9525">
              <a:solidFill>
                <a:schemeClr val="tx1"/>
              </a:solidFill>
              <a:miter lim="800000"/>
              <a:headEnd/>
              <a:tailEnd/>
            </a:ln>
          </p:spPr>
          <p:txBody>
            <a:bodyPr lIns="72000" rIns="72000" anchor="ctr"/>
            <a:lstStyle>
              <a:lvl1pPr eaLnBrk="0" hangingPunct="0">
                <a:defRPr sz="4000">
                  <a:solidFill>
                    <a:srgbClr val="AE2B21"/>
                  </a:solidFill>
                  <a:latin typeface="Tahoma" panose="020B0604030504040204" pitchFamily="34" charset="0"/>
                  <a:ea typeface="ヒラギノ角ゴ Pro W3"/>
                  <a:cs typeface="ヒラギノ角ゴ Pro W3"/>
                </a:defRPr>
              </a:lvl1pPr>
              <a:lvl2pPr marL="742950" indent="-285750" eaLnBrk="0" hangingPunct="0">
                <a:defRPr sz="4000">
                  <a:solidFill>
                    <a:srgbClr val="AE2B21"/>
                  </a:solidFill>
                  <a:latin typeface="Tahoma" panose="020B0604030504040204" pitchFamily="34" charset="0"/>
                  <a:ea typeface="ヒラギノ角ゴ Pro W3"/>
                  <a:cs typeface="ヒラギノ角ゴ Pro W3"/>
                </a:defRPr>
              </a:lvl2pPr>
              <a:lvl3pPr marL="1143000" indent="-228600" eaLnBrk="0" hangingPunct="0">
                <a:defRPr sz="4000">
                  <a:solidFill>
                    <a:srgbClr val="AE2B21"/>
                  </a:solidFill>
                  <a:latin typeface="Tahoma" panose="020B0604030504040204" pitchFamily="34" charset="0"/>
                  <a:ea typeface="ヒラギノ角ゴ Pro W3"/>
                  <a:cs typeface="ヒラギノ角ゴ Pro W3"/>
                </a:defRPr>
              </a:lvl3pPr>
              <a:lvl4pPr marL="1600200" indent="-228600" eaLnBrk="0" hangingPunct="0">
                <a:defRPr sz="4000">
                  <a:solidFill>
                    <a:srgbClr val="AE2B21"/>
                  </a:solidFill>
                  <a:latin typeface="Tahoma" panose="020B0604030504040204" pitchFamily="34" charset="0"/>
                  <a:ea typeface="ヒラギノ角ゴ Pro W3"/>
                  <a:cs typeface="ヒラギノ角ゴ Pro W3"/>
                </a:defRPr>
              </a:lvl4pPr>
              <a:lvl5pPr marL="2057400" indent="-228600" eaLnBrk="0" hangingPunct="0">
                <a:defRPr sz="4000">
                  <a:solidFill>
                    <a:srgbClr val="AE2B21"/>
                  </a:solidFill>
                  <a:latin typeface="Tahoma" panose="020B0604030504040204" pitchFamily="34" charset="0"/>
                  <a:ea typeface="ヒラギノ角ゴ Pro W3"/>
                  <a:cs typeface="ヒラギノ角ゴ Pro W3"/>
                </a:defRPr>
              </a:lvl5pPr>
              <a:lvl6pPr marL="25146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6pPr>
              <a:lvl7pPr marL="29718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7pPr>
              <a:lvl8pPr marL="34290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8pPr>
              <a:lvl9pPr marL="3886200" indent="-228600" eaLnBrk="0" fontAlgn="base" hangingPunct="0">
                <a:spcBef>
                  <a:spcPct val="0"/>
                </a:spcBef>
                <a:spcAft>
                  <a:spcPct val="0"/>
                </a:spcAft>
                <a:defRPr sz="4000">
                  <a:solidFill>
                    <a:srgbClr val="AE2B21"/>
                  </a:solidFill>
                  <a:latin typeface="Tahoma" panose="020B0604030504040204" pitchFamily="34" charset="0"/>
                  <a:ea typeface="ヒラギノ角ゴ Pro W3"/>
                  <a:cs typeface="ヒラギノ角ゴ Pro W3"/>
                </a:defRPr>
              </a:lvl9pPr>
            </a:lstStyle>
            <a:p>
              <a:r>
                <a:rPr lang="en-US" altLang="en-US" sz="1600">
                  <a:solidFill>
                    <a:srgbClr val="FAFFC8"/>
                  </a:solidFill>
                  <a:latin typeface="Arial" panose="020B0604020202020204" pitchFamily="34" charset="0"/>
                </a:rPr>
                <a:t>Organisational and Team Environment</a:t>
              </a:r>
            </a:p>
          </p:txBody>
        </p:sp>
      </p:grpSp>
    </p:spTree>
    <p:extLst>
      <p:ext uri="{BB962C8B-B14F-4D97-AF65-F5344CB8AC3E}">
        <p14:creationId xmlns:p14="http://schemas.microsoft.com/office/powerpoint/2010/main" val="167205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4FC46-6001-4F38-91AD-DCB50613DD25}"/>
              </a:ext>
            </a:extLst>
          </p:cNvPr>
          <p:cNvSpPr>
            <a:spLocks noGrp="1"/>
          </p:cNvSpPr>
          <p:nvPr>
            <p:ph type="title"/>
          </p:nvPr>
        </p:nvSpPr>
        <p:spPr/>
        <p:txBody>
          <a:bodyPr/>
          <a:lstStyle/>
          <a:p>
            <a:r>
              <a:rPr lang="en-US" dirty="0"/>
              <a:t>Characteristics of effective teams</a:t>
            </a:r>
          </a:p>
        </p:txBody>
      </p:sp>
      <p:sp>
        <p:nvSpPr>
          <p:cNvPr id="3" name="Content Placeholder 2">
            <a:extLst>
              <a:ext uri="{FF2B5EF4-FFF2-40B4-BE49-F238E27FC236}">
                <a16:creationId xmlns:a16="http://schemas.microsoft.com/office/drawing/2014/main" id="{DE24C908-22F9-4D5F-9078-3896CE1FB141}"/>
              </a:ext>
            </a:extLst>
          </p:cNvPr>
          <p:cNvSpPr>
            <a:spLocks noGrp="1"/>
          </p:cNvSpPr>
          <p:nvPr>
            <p:ph idx="1"/>
          </p:nvPr>
        </p:nvSpPr>
        <p:spPr/>
        <p:txBody>
          <a:bodyPr/>
          <a:lstStyle/>
          <a:p>
            <a:r>
              <a:rPr lang="en-US" dirty="0"/>
              <a:t>Clear direction</a:t>
            </a:r>
          </a:p>
          <a:p>
            <a:r>
              <a:rPr lang="en-US" dirty="0"/>
              <a:t>Effective communication</a:t>
            </a:r>
          </a:p>
          <a:p>
            <a:r>
              <a:rPr lang="en-US" dirty="0"/>
              <a:t>Risk taking</a:t>
            </a:r>
          </a:p>
          <a:p>
            <a:r>
              <a:rPr lang="en-US" dirty="0"/>
              <a:t>Defined roles</a:t>
            </a:r>
          </a:p>
          <a:p>
            <a:r>
              <a:rPr lang="en-US" dirty="0"/>
              <a:t>Mutually accountable</a:t>
            </a:r>
          </a:p>
          <a:p>
            <a:r>
              <a:rPr lang="en-US" dirty="0"/>
              <a:t>Common goals</a:t>
            </a:r>
          </a:p>
          <a:p>
            <a:r>
              <a:rPr lang="en-US" dirty="0"/>
              <a:t>Encourage differences in opinions</a:t>
            </a:r>
          </a:p>
          <a:p>
            <a:r>
              <a:rPr lang="en-US" dirty="0"/>
              <a:t>collaboration</a:t>
            </a:r>
          </a:p>
        </p:txBody>
      </p:sp>
    </p:spTree>
    <p:extLst>
      <p:ext uri="{BB962C8B-B14F-4D97-AF65-F5344CB8AC3E}">
        <p14:creationId xmlns:p14="http://schemas.microsoft.com/office/powerpoint/2010/main" val="195880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0724F-77B6-48B0-BBEC-3F75B0B90747}"/>
              </a:ext>
            </a:extLst>
          </p:cNvPr>
          <p:cNvSpPr>
            <a:spLocks noGrp="1"/>
          </p:cNvSpPr>
          <p:nvPr>
            <p:ph type="title"/>
          </p:nvPr>
        </p:nvSpPr>
        <p:spPr/>
        <p:txBody>
          <a:bodyPr/>
          <a:lstStyle/>
          <a:p>
            <a:r>
              <a:rPr lang="en-US" dirty="0"/>
              <a:t>Team Processes: Design Element</a:t>
            </a:r>
          </a:p>
        </p:txBody>
      </p:sp>
      <p:sp>
        <p:nvSpPr>
          <p:cNvPr id="3" name="Content Placeholder 2">
            <a:extLst>
              <a:ext uri="{FF2B5EF4-FFF2-40B4-BE49-F238E27FC236}">
                <a16:creationId xmlns:a16="http://schemas.microsoft.com/office/drawing/2014/main" id="{AAF47A72-1773-471E-AD7E-4893559045F5}"/>
              </a:ext>
            </a:extLst>
          </p:cNvPr>
          <p:cNvSpPr>
            <a:spLocks noGrp="1"/>
          </p:cNvSpPr>
          <p:nvPr>
            <p:ph idx="1"/>
          </p:nvPr>
        </p:nvSpPr>
        <p:spPr/>
        <p:txBody>
          <a:bodyPr/>
          <a:lstStyle/>
          <a:p>
            <a:pPr>
              <a:lnSpc>
                <a:spcPct val="90000"/>
              </a:lnSpc>
            </a:pPr>
            <a:r>
              <a:rPr lang="en-AU" altLang="en-US" sz="2800" dirty="0"/>
              <a:t>Team size</a:t>
            </a:r>
          </a:p>
          <a:p>
            <a:pPr lvl="1">
              <a:lnSpc>
                <a:spcPct val="90000"/>
              </a:lnSpc>
            </a:pPr>
            <a:r>
              <a:rPr lang="en-AU" altLang="en-US" sz="2400" dirty="0"/>
              <a:t>Smaller teams are better</a:t>
            </a:r>
          </a:p>
          <a:p>
            <a:pPr lvl="1">
              <a:lnSpc>
                <a:spcPct val="90000"/>
              </a:lnSpc>
            </a:pPr>
            <a:r>
              <a:rPr lang="en-AU" altLang="en-US" sz="2400" dirty="0"/>
              <a:t>But large enough to accomplish task</a:t>
            </a:r>
          </a:p>
          <a:p>
            <a:pPr>
              <a:lnSpc>
                <a:spcPct val="90000"/>
              </a:lnSpc>
            </a:pPr>
            <a:r>
              <a:rPr lang="en-AU" altLang="en-US" sz="2800" dirty="0"/>
              <a:t>Team composition</a:t>
            </a:r>
          </a:p>
          <a:p>
            <a:pPr lvl="1">
              <a:lnSpc>
                <a:spcPct val="90000"/>
              </a:lnSpc>
            </a:pPr>
            <a:r>
              <a:rPr lang="en-AU" altLang="en-US" sz="2400" dirty="0"/>
              <a:t>Members motivated/competent to perform task in a team environment</a:t>
            </a:r>
          </a:p>
          <a:p>
            <a:pPr lvl="1">
              <a:lnSpc>
                <a:spcPct val="90000"/>
              </a:lnSpc>
            </a:pPr>
            <a:r>
              <a:rPr lang="en-AU" altLang="en-US" sz="2400" dirty="0"/>
              <a:t>Team diversity</a:t>
            </a:r>
          </a:p>
          <a:p>
            <a:endParaRPr lang="en-US" dirty="0"/>
          </a:p>
        </p:txBody>
      </p:sp>
    </p:spTree>
    <p:extLst>
      <p:ext uri="{BB962C8B-B14F-4D97-AF65-F5344CB8AC3E}">
        <p14:creationId xmlns:p14="http://schemas.microsoft.com/office/powerpoint/2010/main" val="349610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
            <a:extLst>
              <a:ext uri="{FF2B5EF4-FFF2-40B4-BE49-F238E27FC236}">
                <a16:creationId xmlns:a16="http://schemas.microsoft.com/office/drawing/2014/main" id="{5D2C11CC-9B4A-43F6-A80A-61B1D5C97570}"/>
              </a:ext>
            </a:extLst>
          </p:cNvPr>
          <p:cNvGrpSpPr>
            <a:grpSpLocks/>
          </p:cNvGrpSpPr>
          <p:nvPr/>
        </p:nvGrpSpPr>
        <p:grpSpPr bwMode="auto">
          <a:xfrm>
            <a:off x="2266950" y="2376488"/>
            <a:ext cx="4362450" cy="3959225"/>
            <a:chOff x="1428" y="1497"/>
            <a:chExt cx="2748" cy="2494"/>
          </a:xfrm>
        </p:grpSpPr>
        <p:sp>
          <p:nvSpPr>
            <p:cNvPr id="26" name="Arc 3">
              <a:extLst>
                <a:ext uri="{FF2B5EF4-FFF2-40B4-BE49-F238E27FC236}">
                  <a16:creationId xmlns:a16="http://schemas.microsoft.com/office/drawing/2014/main" id="{16C4534E-66BD-44A2-BA05-2996361EB809}"/>
                </a:ext>
              </a:extLst>
            </p:cNvPr>
            <p:cNvSpPr>
              <a:spLocks/>
            </p:cNvSpPr>
            <p:nvPr/>
          </p:nvSpPr>
          <p:spPr bwMode="auto">
            <a:xfrm rot="5400000">
              <a:off x="1506" y="2835"/>
              <a:ext cx="388" cy="5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Arc 4">
              <a:extLst>
                <a:ext uri="{FF2B5EF4-FFF2-40B4-BE49-F238E27FC236}">
                  <a16:creationId xmlns:a16="http://schemas.microsoft.com/office/drawing/2014/main" id="{FE2F75DD-F121-4582-94CA-F4BC1A291A52}"/>
                </a:ext>
              </a:extLst>
            </p:cNvPr>
            <p:cNvSpPr>
              <a:spLocks/>
            </p:cNvSpPr>
            <p:nvPr/>
          </p:nvSpPr>
          <p:spPr bwMode="auto">
            <a:xfrm rot="5400000">
              <a:off x="2442" y="2115"/>
              <a:ext cx="388" cy="5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Arc 5">
              <a:extLst>
                <a:ext uri="{FF2B5EF4-FFF2-40B4-BE49-F238E27FC236}">
                  <a16:creationId xmlns:a16="http://schemas.microsoft.com/office/drawing/2014/main" id="{821A44FC-BE6C-4609-9C2C-496CAA26D37F}"/>
                </a:ext>
              </a:extLst>
            </p:cNvPr>
            <p:cNvSpPr>
              <a:spLocks/>
            </p:cNvSpPr>
            <p:nvPr/>
          </p:nvSpPr>
          <p:spPr bwMode="auto">
            <a:xfrm rot="5400000">
              <a:off x="3426" y="1431"/>
              <a:ext cx="388" cy="5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Arc 6">
              <a:extLst>
                <a:ext uri="{FF2B5EF4-FFF2-40B4-BE49-F238E27FC236}">
                  <a16:creationId xmlns:a16="http://schemas.microsoft.com/office/drawing/2014/main" id="{9A52ECB8-A564-44E9-B625-067611033BE3}"/>
                </a:ext>
              </a:extLst>
            </p:cNvPr>
            <p:cNvSpPr>
              <a:spLocks/>
            </p:cNvSpPr>
            <p:nvPr/>
          </p:nvSpPr>
          <p:spPr bwMode="auto">
            <a:xfrm rot="5400000">
              <a:off x="1692" y="1941"/>
              <a:ext cx="1204" cy="16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Arc 7">
              <a:extLst>
                <a:ext uri="{FF2B5EF4-FFF2-40B4-BE49-F238E27FC236}">
                  <a16:creationId xmlns:a16="http://schemas.microsoft.com/office/drawing/2014/main" id="{78B48D81-ED09-4BC1-8DE3-47F420C3DE3F}"/>
                </a:ext>
              </a:extLst>
            </p:cNvPr>
            <p:cNvSpPr>
              <a:spLocks/>
            </p:cNvSpPr>
            <p:nvPr/>
          </p:nvSpPr>
          <p:spPr bwMode="auto">
            <a:xfrm rot="5400000">
              <a:off x="2604" y="1257"/>
              <a:ext cx="1204" cy="16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Rectangle 8">
              <a:extLst>
                <a:ext uri="{FF2B5EF4-FFF2-40B4-BE49-F238E27FC236}">
                  <a16:creationId xmlns:a16="http://schemas.microsoft.com/office/drawing/2014/main" id="{61E942B1-D464-4355-993C-3866400A1CA7}"/>
                </a:ext>
              </a:extLst>
            </p:cNvPr>
            <p:cNvSpPr>
              <a:spLocks noChangeArrowheads="1"/>
            </p:cNvSpPr>
            <p:nvPr/>
          </p:nvSpPr>
          <p:spPr bwMode="auto">
            <a:xfrm>
              <a:off x="2784" y="2880"/>
              <a:ext cx="1392" cy="1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p>
              <a:pPr eaLnBrk="0" hangingPunct="0"/>
              <a:r>
                <a:rPr lang="en-US" altLang="en-US" sz="2200">
                  <a:latin typeface="Arial" panose="020B0604020202020204" pitchFamily="34" charset="0"/>
                </a:rPr>
                <a:t>Existing teams might regress back to an earlier stage of development</a:t>
              </a:r>
            </a:p>
          </p:txBody>
        </p:sp>
      </p:grpSp>
      <p:sp>
        <p:nvSpPr>
          <p:cNvPr id="32" name="Rectangle 9">
            <a:extLst>
              <a:ext uri="{FF2B5EF4-FFF2-40B4-BE49-F238E27FC236}">
                <a16:creationId xmlns:a16="http://schemas.microsoft.com/office/drawing/2014/main" id="{A02C375C-40CF-46B7-BF60-86408D2A5141}"/>
              </a:ext>
            </a:extLst>
          </p:cNvPr>
          <p:cNvSpPr>
            <a:spLocks noChangeArrowheads="1"/>
          </p:cNvSpPr>
          <p:nvPr/>
        </p:nvSpPr>
        <p:spPr bwMode="auto">
          <a:xfrm>
            <a:off x="457200" y="4800600"/>
            <a:ext cx="1828800" cy="685800"/>
          </a:xfrm>
          <a:prstGeom prst="rect">
            <a:avLst/>
          </a:prstGeom>
          <a:solidFill>
            <a:srgbClr val="0000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75000"/>
              </a:spcBef>
            </a:pPr>
            <a:r>
              <a:rPr lang="en-US" altLang="en-US" b="1">
                <a:solidFill>
                  <a:srgbClr val="F3EE85"/>
                </a:solidFill>
                <a:effectLst>
                  <a:outerShdw blurRad="38100" dist="38100" dir="2700000" algn="tl">
                    <a:srgbClr val="000000"/>
                  </a:outerShdw>
                </a:effectLst>
                <a:latin typeface="Arial" panose="020B0604020202020204" pitchFamily="34" charset="0"/>
              </a:rPr>
              <a:t>Forming</a:t>
            </a:r>
            <a:endParaRPr lang="en-US" altLang="en-US" sz="2800" b="1">
              <a:solidFill>
                <a:srgbClr val="F3EE85"/>
              </a:solidFill>
              <a:effectLst>
                <a:outerShdw blurRad="38100" dist="38100" dir="2700000" algn="tl">
                  <a:srgbClr val="000000"/>
                </a:outerShdw>
              </a:effectLst>
              <a:latin typeface="Arial" panose="020B0604020202020204" pitchFamily="34" charset="0"/>
            </a:endParaRPr>
          </a:p>
        </p:txBody>
      </p:sp>
      <p:grpSp>
        <p:nvGrpSpPr>
          <p:cNvPr id="33" name="Group 10">
            <a:extLst>
              <a:ext uri="{FF2B5EF4-FFF2-40B4-BE49-F238E27FC236}">
                <a16:creationId xmlns:a16="http://schemas.microsoft.com/office/drawing/2014/main" id="{146A2289-F0D4-434E-983F-6D8F125E6732}"/>
              </a:ext>
            </a:extLst>
          </p:cNvPr>
          <p:cNvGrpSpPr>
            <a:grpSpLocks/>
          </p:cNvGrpSpPr>
          <p:nvPr/>
        </p:nvGrpSpPr>
        <p:grpSpPr bwMode="auto">
          <a:xfrm>
            <a:off x="1238250" y="3810000"/>
            <a:ext cx="2495550" cy="1011238"/>
            <a:chOff x="780" y="2400"/>
            <a:chExt cx="1572" cy="637"/>
          </a:xfrm>
        </p:grpSpPr>
        <p:sp>
          <p:nvSpPr>
            <p:cNvPr id="34" name="Arc 11">
              <a:extLst>
                <a:ext uri="{FF2B5EF4-FFF2-40B4-BE49-F238E27FC236}">
                  <a16:creationId xmlns:a16="http://schemas.microsoft.com/office/drawing/2014/main" id="{63FC8024-B3A0-4A11-A3BA-6CE2C48228FB}"/>
                </a:ext>
              </a:extLst>
            </p:cNvPr>
            <p:cNvSpPr>
              <a:spLocks/>
            </p:cNvSpPr>
            <p:nvPr/>
          </p:nvSpPr>
          <p:spPr bwMode="auto">
            <a:xfrm rot="16200000">
              <a:off x="762" y="2619"/>
              <a:ext cx="436" cy="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Rectangle 12">
              <a:extLst>
                <a:ext uri="{FF2B5EF4-FFF2-40B4-BE49-F238E27FC236}">
                  <a16:creationId xmlns:a16="http://schemas.microsoft.com/office/drawing/2014/main" id="{917D8400-8A83-4207-8FBD-1AB136B29EDB}"/>
                </a:ext>
              </a:extLst>
            </p:cNvPr>
            <p:cNvSpPr>
              <a:spLocks noChangeArrowheads="1"/>
            </p:cNvSpPr>
            <p:nvPr/>
          </p:nvSpPr>
          <p:spPr bwMode="auto">
            <a:xfrm>
              <a:off x="1200" y="2400"/>
              <a:ext cx="1152" cy="432"/>
            </a:xfrm>
            <a:prstGeom prst="rect">
              <a:avLst/>
            </a:prstGeom>
            <a:solidFill>
              <a:srgbClr val="660066"/>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75000"/>
                </a:spcBef>
              </a:pPr>
              <a:r>
                <a:rPr lang="en-US" altLang="en-US" b="1">
                  <a:solidFill>
                    <a:srgbClr val="F3EE85"/>
                  </a:solidFill>
                  <a:effectLst>
                    <a:outerShdw blurRad="38100" dist="38100" dir="2700000" algn="tl">
                      <a:srgbClr val="000000"/>
                    </a:outerShdw>
                  </a:effectLst>
                  <a:latin typeface="Arial" panose="020B0604020202020204" pitchFamily="34" charset="0"/>
                </a:rPr>
                <a:t>Storming</a:t>
              </a:r>
              <a:endParaRPr lang="en-US" altLang="en-US" sz="2800" b="1">
                <a:solidFill>
                  <a:srgbClr val="F3EE85"/>
                </a:solidFill>
                <a:effectLst>
                  <a:outerShdw blurRad="38100" dist="38100" dir="2700000" algn="tl">
                    <a:srgbClr val="000000"/>
                  </a:outerShdw>
                </a:effectLst>
                <a:latin typeface="Arial" panose="020B0604020202020204" pitchFamily="34" charset="0"/>
              </a:endParaRPr>
            </a:p>
          </p:txBody>
        </p:sp>
      </p:grpSp>
      <p:grpSp>
        <p:nvGrpSpPr>
          <p:cNvPr id="36" name="Group 13">
            <a:extLst>
              <a:ext uri="{FF2B5EF4-FFF2-40B4-BE49-F238E27FC236}">
                <a16:creationId xmlns:a16="http://schemas.microsoft.com/office/drawing/2014/main" id="{8D18160D-9FD3-4BD7-8E35-353CDAE18E11}"/>
              </a:ext>
            </a:extLst>
          </p:cNvPr>
          <p:cNvGrpSpPr>
            <a:grpSpLocks/>
          </p:cNvGrpSpPr>
          <p:nvPr/>
        </p:nvGrpSpPr>
        <p:grpSpPr bwMode="auto">
          <a:xfrm>
            <a:off x="2762250" y="2667000"/>
            <a:ext cx="2495550" cy="1103313"/>
            <a:chOff x="1740" y="1680"/>
            <a:chExt cx="1572" cy="695"/>
          </a:xfrm>
        </p:grpSpPr>
        <p:sp>
          <p:nvSpPr>
            <p:cNvPr id="37" name="Arc 14">
              <a:extLst>
                <a:ext uri="{FF2B5EF4-FFF2-40B4-BE49-F238E27FC236}">
                  <a16:creationId xmlns:a16="http://schemas.microsoft.com/office/drawing/2014/main" id="{F79221B1-10DD-4F41-BB30-E7ABE1A2A9F2}"/>
                </a:ext>
              </a:extLst>
            </p:cNvPr>
            <p:cNvSpPr>
              <a:spLocks/>
            </p:cNvSpPr>
            <p:nvPr/>
          </p:nvSpPr>
          <p:spPr bwMode="auto">
            <a:xfrm rot="16200000">
              <a:off x="1717" y="1952"/>
              <a:ext cx="446" cy="400"/>
            </a:xfrm>
            <a:custGeom>
              <a:avLst/>
              <a:gdLst>
                <a:gd name="G0" fmla="+- 516 0 0"/>
                <a:gd name="G1" fmla="+- 21600 0 0"/>
                <a:gd name="G2" fmla="+- 21600 0 0"/>
                <a:gd name="T0" fmla="*/ 0 w 22116"/>
                <a:gd name="T1" fmla="*/ 7 h 21600"/>
                <a:gd name="T2" fmla="*/ 22116 w 22116"/>
                <a:gd name="T3" fmla="*/ 21600 h 21600"/>
                <a:gd name="T4" fmla="*/ 516 w 22116"/>
                <a:gd name="T5" fmla="*/ 21600 h 21600"/>
              </a:gdLst>
              <a:ahLst/>
              <a:cxnLst>
                <a:cxn ang="0">
                  <a:pos x="T0" y="T1"/>
                </a:cxn>
                <a:cxn ang="0">
                  <a:pos x="T2" y="T3"/>
                </a:cxn>
                <a:cxn ang="0">
                  <a:pos x="T4" y="T5"/>
                </a:cxn>
              </a:cxnLst>
              <a:rect l="0" t="0" r="r" b="b"/>
              <a:pathLst>
                <a:path w="22116" h="21600" fill="none" extrusionOk="0">
                  <a:moveTo>
                    <a:pt x="-1" y="6"/>
                  </a:moveTo>
                  <a:cubicBezTo>
                    <a:pt x="171" y="2"/>
                    <a:pt x="343" y="0"/>
                    <a:pt x="516" y="0"/>
                  </a:cubicBezTo>
                  <a:cubicBezTo>
                    <a:pt x="12445" y="0"/>
                    <a:pt x="22116" y="9670"/>
                    <a:pt x="22116" y="21600"/>
                  </a:cubicBezTo>
                </a:path>
                <a:path w="22116" h="21600" stroke="0" extrusionOk="0">
                  <a:moveTo>
                    <a:pt x="-1" y="6"/>
                  </a:moveTo>
                  <a:cubicBezTo>
                    <a:pt x="171" y="2"/>
                    <a:pt x="343" y="0"/>
                    <a:pt x="516" y="0"/>
                  </a:cubicBezTo>
                  <a:cubicBezTo>
                    <a:pt x="12445" y="0"/>
                    <a:pt x="22116" y="9670"/>
                    <a:pt x="22116" y="21600"/>
                  </a:cubicBezTo>
                  <a:lnTo>
                    <a:pt x="516" y="21600"/>
                  </a:lnTo>
                  <a:close/>
                </a:path>
              </a:pathLst>
            </a:custGeom>
            <a:noFill/>
            <a:ln w="254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Rectangle 15">
              <a:extLst>
                <a:ext uri="{FF2B5EF4-FFF2-40B4-BE49-F238E27FC236}">
                  <a16:creationId xmlns:a16="http://schemas.microsoft.com/office/drawing/2014/main" id="{D2E65166-0988-4D80-A116-80F36E06A089}"/>
                </a:ext>
              </a:extLst>
            </p:cNvPr>
            <p:cNvSpPr>
              <a:spLocks noChangeArrowheads="1"/>
            </p:cNvSpPr>
            <p:nvPr/>
          </p:nvSpPr>
          <p:spPr bwMode="auto">
            <a:xfrm>
              <a:off x="2160" y="1680"/>
              <a:ext cx="1152" cy="432"/>
            </a:xfrm>
            <a:prstGeom prst="rect">
              <a:avLst/>
            </a:prstGeom>
            <a:solidFill>
              <a:srgbClr val="0033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75000"/>
                </a:spcBef>
              </a:pPr>
              <a:r>
                <a:rPr lang="en-US" altLang="en-US" b="1">
                  <a:solidFill>
                    <a:srgbClr val="F3EE85"/>
                  </a:solidFill>
                  <a:effectLst>
                    <a:outerShdw blurRad="38100" dist="38100" dir="2700000" algn="tl">
                      <a:srgbClr val="000000"/>
                    </a:outerShdw>
                  </a:effectLst>
                  <a:latin typeface="Arial" panose="020B0604020202020204" pitchFamily="34" charset="0"/>
                </a:rPr>
                <a:t>Norming</a:t>
              </a:r>
              <a:endParaRPr lang="en-US" altLang="en-US" sz="2800" b="1">
                <a:solidFill>
                  <a:srgbClr val="F3EE85"/>
                </a:solidFill>
                <a:effectLst>
                  <a:outerShdw blurRad="38100" dist="38100" dir="2700000" algn="tl">
                    <a:srgbClr val="000000"/>
                  </a:outerShdw>
                </a:effectLst>
                <a:latin typeface="Arial" panose="020B0604020202020204" pitchFamily="34" charset="0"/>
              </a:endParaRPr>
            </a:p>
          </p:txBody>
        </p:sp>
      </p:grpSp>
      <p:grpSp>
        <p:nvGrpSpPr>
          <p:cNvPr id="39" name="Group 16">
            <a:extLst>
              <a:ext uri="{FF2B5EF4-FFF2-40B4-BE49-F238E27FC236}">
                <a16:creationId xmlns:a16="http://schemas.microsoft.com/office/drawing/2014/main" id="{E21E3981-8E23-4C82-AD3E-FF0D81C510B7}"/>
              </a:ext>
            </a:extLst>
          </p:cNvPr>
          <p:cNvGrpSpPr>
            <a:grpSpLocks/>
          </p:cNvGrpSpPr>
          <p:nvPr/>
        </p:nvGrpSpPr>
        <p:grpSpPr bwMode="auto">
          <a:xfrm>
            <a:off x="4286250" y="1600200"/>
            <a:ext cx="2495550" cy="1049338"/>
            <a:chOff x="2700" y="1008"/>
            <a:chExt cx="1572" cy="661"/>
          </a:xfrm>
        </p:grpSpPr>
        <p:sp>
          <p:nvSpPr>
            <p:cNvPr id="40" name="Arc 17">
              <a:extLst>
                <a:ext uri="{FF2B5EF4-FFF2-40B4-BE49-F238E27FC236}">
                  <a16:creationId xmlns:a16="http://schemas.microsoft.com/office/drawing/2014/main" id="{C4928AB8-32E0-484E-902D-222E551AA5DE}"/>
                </a:ext>
              </a:extLst>
            </p:cNvPr>
            <p:cNvSpPr>
              <a:spLocks/>
            </p:cNvSpPr>
            <p:nvPr/>
          </p:nvSpPr>
          <p:spPr bwMode="auto">
            <a:xfrm rot="16200000">
              <a:off x="2682" y="1251"/>
              <a:ext cx="436" cy="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Rectangle 18">
              <a:extLst>
                <a:ext uri="{FF2B5EF4-FFF2-40B4-BE49-F238E27FC236}">
                  <a16:creationId xmlns:a16="http://schemas.microsoft.com/office/drawing/2014/main" id="{E2FEE141-9CA2-4A7B-87EE-B040EB8C3DA8}"/>
                </a:ext>
              </a:extLst>
            </p:cNvPr>
            <p:cNvSpPr>
              <a:spLocks noChangeArrowheads="1"/>
            </p:cNvSpPr>
            <p:nvPr/>
          </p:nvSpPr>
          <p:spPr bwMode="auto">
            <a:xfrm>
              <a:off x="3120" y="1008"/>
              <a:ext cx="1152" cy="432"/>
            </a:xfrm>
            <a:prstGeom prst="rect">
              <a:avLst/>
            </a:prstGeom>
            <a:solidFill>
              <a:srgbClr val="FF99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75000"/>
                </a:spcBef>
              </a:pPr>
              <a:r>
                <a:rPr lang="en-US" altLang="en-US" b="1">
                  <a:solidFill>
                    <a:schemeClr val="tx2"/>
                  </a:solidFill>
                  <a:latin typeface="Arial" panose="020B0604020202020204" pitchFamily="34" charset="0"/>
                </a:rPr>
                <a:t>Performing</a:t>
              </a:r>
              <a:endParaRPr lang="en-US" altLang="en-US" sz="2800" b="1">
                <a:solidFill>
                  <a:schemeClr val="tx2"/>
                </a:solidFill>
                <a:latin typeface="Arial" panose="020B0604020202020204" pitchFamily="34" charset="0"/>
              </a:endParaRPr>
            </a:p>
          </p:txBody>
        </p:sp>
      </p:grpSp>
      <p:grpSp>
        <p:nvGrpSpPr>
          <p:cNvPr id="42" name="Group 19">
            <a:extLst>
              <a:ext uri="{FF2B5EF4-FFF2-40B4-BE49-F238E27FC236}">
                <a16:creationId xmlns:a16="http://schemas.microsoft.com/office/drawing/2014/main" id="{38030C83-2E73-4F4E-A5DA-7AB89EE0BB10}"/>
              </a:ext>
            </a:extLst>
          </p:cNvPr>
          <p:cNvGrpSpPr>
            <a:grpSpLocks/>
          </p:cNvGrpSpPr>
          <p:nvPr/>
        </p:nvGrpSpPr>
        <p:grpSpPr bwMode="auto">
          <a:xfrm>
            <a:off x="6794500" y="1882775"/>
            <a:ext cx="1892300" cy="3527425"/>
            <a:chOff x="4280" y="1186"/>
            <a:chExt cx="1192" cy="2222"/>
          </a:xfrm>
        </p:grpSpPr>
        <p:sp>
          <p:nvSpPr>
            <p:cNvPr id="43" name="Arc 20">
              <a:extLst>
                <a:ext uri="{FF2B5EF4-FFF2-40B4-BE49-F238E27FC236}">
                  <a16:creationId xmlns:a16="http://schemas.microsoft.com/office/drawing/2014/main" id="{6A33BE5F-0A69-4B3B-9E00-721D203CD44A}"/>
                </a:ext>
              </a:extLst>
            </p:cNvPr>
            <p:cNvSpPr>
              <a:spLocks/>
            </p:cNvSpPr>
            <p:nvPr/>
          </p:nvSpPr>
          <p:spPr bwMode="auto">
            <a:xfrm>
              <a:off x="4280" y="1186"/>
              <a:ext cx="777" cy="1816"/>
            </a:xfrm>
            <a:custGeom>
              <a:avLst/>
              <a:gdLst>
                <a:gd name="G0" fmla="+- 1201 0 0"/>
                <a:gd name="G1" fmla="+- 21600 0 0"/>
                <a:gd name="G2" fmla="+- 21600 0 0"/>
                <a:gd name="T0" fmla="*/ 0 w 22801"/>
                <a:gd name="T1" fmla="*/ 34 h 21600"/>
                <a:gd name="T2" fmla="*/ 22801 w 22801"/>
                <a:gd name="T3" fmla="*/ 21600 h 21600"/>
                <a:gd name="T4" fmla="*/ 1201 w 22801"/>
                <a:gd name="T5" fmla="*/ 21600 h 21600"/>
              </a:gdLst>
              <a:ahLst/>
              <a:cxnLst>
                <a:cxn ang="0">
                  <a:pos x="T0" y="T1"/>
                </a:cxn>
                <a:cxn ang="0">
                  <a:pos x="T2" y="T3"/>
                </a:cxn>
                <a:cxn ang="0">
                  <a:pos x="T4" y="T5"/>
                </a:cxn>
              </a:cxnLst>
              <a:rect l="0" t="0" r="r" b="b"/>
              <a:pathLst>
                <a:path w="22801" h="21600" fill="none" extrusionOk="0">
                  <a:moveTo>
                    <a:pt x="-1" y="33"/>
                  </a:moveTo>
                  <a:cubicBezTo>
                    <a:pt x="399" y="11"/>
                    <a:pt x="800" y="0"/>
                    <a:pt x="1201" y="0"/>
                  </a:cubicBezTo>
                  <a:cubicBezTo>
                    <a:pt x="13130" y="0"/>
                    <a:pt x="22801" y="9670"/>
                    <a:pt x="22801" y="21600"/>
                  </a:cubicBezTo>
                </a:path>
                <a:path w="22801" h="21600" stroke="0" extrusionOk="0">
                  <a:moveTo>
                    <a:pt x="-1" y="33"/>
                  </a:moveTo>
                  <a:cubicBezTo>
                    <a:pt x="399" y="11"/>
                    <a:pt x="800" y="0"/>
                    <a:pt x="1201" y="0"/>
                  </a:cubicBezTo>
                  <a:cubicBezTo>
                    <a:pt x="13130" y="0"/>
                    <a:pt x="22801" y="9670"/>
                    <a:pt x="22801" y="21600"/>
                  </a:cubicBezTo>
                  <a:lnTo>
                    <a:pt x="1201" y="21600"/>
                  </a:lnTo>
                  <a:close/>
                </a:path>
              </a:pathLst>
            </a:custGeom>
            <a:noFill/>
            <a:ln w="254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Rectangle 21">
              <a:extLst>
                <a:ext uri="{FF2B5EF4-FFF2-40B4-BE49-F238E27FC236}">
                  <a16:creationId xmlns:a16="http://schemas.microsoft.com/office/drawing/2014/main" id="{39DCF5DD-9A76-4446-BAD3-C350D2FDF20B}"/>
                </a:ext>
              </a:extLst>
            </p:cNvPr>
            <p:cNvSpPr>
              <a:spLocks noChangeArrowheads="1"/>
            </p:cNvSpPr>
            <p:nvPr/>
          </p:nvSpPr>
          <p:spPr bwMode="auto">
            <a:xfrm>
              <a:off x="4320" y="2976"/>
              <a:ext cx="1152" cy="432"/>
            </a:xfrm>
            <a:prstGeom prst="rect">
              <a:avLst/>
            </a:prstGeom>
            <a:solidFill>
              <a:srgbClr val="8000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75000"/>
                </a:spcBef>
              </a:pPr>
              <a:r>
                <a:rPr lang="en-US" altLang="en-US" b="1">
                  <a:solidFill>
                    <a:srgbClr val="F3EE85"/>
                  </a:solidFill>
                  <a:effectLst>
                    <a:outerShdw blurRad="38100" dist="38100" dir="2700000" algn="tl">
                      <a:srgbClr val="000000"/>
                    </a:outerShdw>
                  </a:effectLst>
                  <a:latin typeface="Arial" panose="020B0604020202020204" pitchFamily="34" charset="0"/>
                </a:rPr>
                <a:t>Adjourning</a:t>
              </a:r>
              <a:endParaRPr lang="en-US" altLang="en-US" sz="2800" b="1">
                <a:solidFill>
                  <a:srgbClr val="F3EE85"/>
                </a:solidFill>
                <a:effectLst>
                  <a:outerShdw blurRad="38100" dist="38100" dir="2700000" algn="tl">
                    <a:srgbClr val="000000"/>
                  </a:outerShdw>
                </a:effectLst>
                <a:latin typeface="Arial" panose="020B0604020202020204" pitchFamily="34" charset="0"/>
              </a:endParaRPr>
            </a:p>
          </p:txBody>
        </p:sp>
      </p:grpSp>
      <p:sp>
        <p:nvSpPr>
          <p:cNvPr id="45" name="Rectangle 22">
            <a:extLst>
              <a:ext uri="{FF2B5EF4-FFF2-40B4-BE49-F238E27FC236}">
                <a16:creationId xmlns:a16="http://schemas.microsoft.com/office/drawing/2014/main" id="{D52063F8-0D6D-4AFB-9FA1-47FE0EB3ADD6}"/>
              </a:ext>
            </a:extLst>
          </p:cNvPr>
          <p:cNvSpPr txBox="1">
            <a:spLocks noChangeArrowheads="1"/>
          </p:cNvSpPr>
          <p:nvPr/>
        </p:nvSpPr>
        <p:spPr>
          <a:xfrm>
            <a:off x="2209800" y="328900"/>
            <a:ext cx="7772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Stages of Team Development</a:t>
            </a:r>
          </a:p>
        </p:txBody>
      </p:sp>
    </p:spTree>
    <p:extLst>
      <p:ext uri="{BB962C8B-B14F-4D97-AF65-F5344CB8AC3E}">
        <p14:creationId xmlns:p14="http://schemas.microsoft.com/office/powerpoint/2010/main" val="159723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par>
                          <p:cTn id="8" fill="hold">
                            <p:stCondLst>
                              <p:cond delay="500"/>
                            </p:stCondLst>
                            <p:childTnLst>
                              <p:par>
                                <p:cTn id="9" presetID="22" presetClass="entr" presetSubtype="8" fill="hold" nodeType="afterEffect">
                                  <p:stCondLst>
                                    <p:cond delay="100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p:stCondLst>
                              <p:cond delay="2000"/>
                            </p:stCondLst>
                            <p:childTnLst>
                              <p:par>
                                <p:cTn id="13" presetID="22" presetClass="entr" presetSubtype="8" fill="hold" nodeType="afterEffect">
                                  <p:stCondLst>
                                    <p:cond delay="100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3500"/>
                            </p:stCondLst>
                            <p:childTnLst>
                              <p:par>
                                <p:cTn id="17" presetID="22" presetClass="entr" presetSubtype="8" fill="hold" nodeType="afterEffect">
                                  <p:stCondLst>
                                    <p:cond delay="100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500"/>
                                        <p:tgtEl>
                                          <p:spTgt spid="39"/>
                                        </p:tgtEl>
                                      </p:cBhvr>
                                    </p:animEffect>
                                  </p:childTnLst>
                                </p:cTn>
                              </p:par>
                            </p:childTnLst>
                          </p:cTn>
                        </p:par>
                        <p:par>
                          <p:cTn id="20" fill="hold">
                            <p:stCondLst>
                              <p:cond delay="5000"/>
                            </p:stCondLst>
                            <p:childTnLst>
                              <p:par>
                                <p:cTn id="21" presetID="22" presetClass="entr" presetSubtype="1" fill="hold" nodeType="afterEffect">
                                  <p:stCondLst>
                                    <p:cond delay="1000"/>
                                  </p:stCondLst>
                                  <p:childTnLst>
                                    <p:set>
                                      <p:cBhvr>
                                        <p:cTn id="22" dur="1" fill="hold">
                                          <p:stCondLst>
                                            <p:cond delay="0"/>
                                          </p:stCondLst>
                                        </p:cTn>
                                        <p:tgtEl>
                                          <p:spTgt spid="42"/>
                                        </p:tgtEl>
                                        <p:attrNameLst>
                                          <p:attrName>style.visibility</p:attrName>
                                        </p:attrNameLst>
                                      </p:cBhvr>
                                      <p:to>
                                        <p:strVal val="visible"/>
                                      </p:to>
                                    </p:set>
                                    <p:animEffect transition="in" filter="wipe(up)">
                                      <p:cBhvr>
                                        <p:cTn id="23" dur="500"/>
                                        <p:tgtEl>
                                          <p:spTgt spid="42"/>
                                        </p:tgtEl>
                                      </p:cBhvr>
                                    </p:animEffect>
                                  </p:childTnLst>
                                </p:cTn>
                              </p:par>
                            </p:childTnLst>
                          </p:cTn>
                        </p:par>
                        <p:par>
                          <p:cTn id="24" fill="hold">
                            <p:stCondLst>
                              <p:cond delay="6500"/>
                            </p:stCondLst>
                            <p:childTnLst>
                              <p:par>
                                <p:cTn id="25" presetID="22" presetClass="entr" presetSubtype="1" fill="hold" nodeType="afterEffect">
                                  <p:stCondLst>
                                    <p:cond delay="100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C20C-3A3D-4FC2-A9FE-722DB64FC44D}"/>
              </a:ext>
            </a:extLst>
          </p:cNvPr>
          <p:cNvSpPr>
            <a:spLocks noGrp="1"/>
          </p:cNvSpPr>
          <p:nvPr>
            <p:ph type="title"/>
          </p:nvPr>
        </p:nvSpPr>
        <p:spPr/>
        <p:txBody>
          <a:bodyPr/>
          <a:lstStyle/>
          <a:p>
            <a:r>
              <a:rPr lang="en-US" dirty="0"/>
              <a:t>Stages</a:t>
            </a:r>
          </a:p>
        </p:txBody>
      </p:sp>
      <p:sp>
        <p:nvSpPr>
          <p:cNvPr id="3" name="Content Placeholder 2">
            <a:extLst>
              <a:ext uri="{FF2B5EF4-FFF2-40B4-BE49-F238E27FC236}">
                <a16:creationId xmlns:a16="http://schemas.microsoft.com/office/drawing/2014/main" id="{21AA2479-D702-43CE-BDCC-04AFEF4C171E}"/>
              </a:ext>
            </a:extLst>
          </p:cNvPr>
          <p:cNvSpPr>
            <a:spLocks noGrp="1"/>
          </p:cNvSpPr>
          <p:nvPr>
            <p:ph idx="1"/>
          </p:nvPr>
        </p:nvSpPr>
        <p:spPr/>
        <p:txBody>
          <a:bodyPr>
            <a:normAutofit fontScale="77500" lnSpcReduction="20000"/>
          </a:bodyPr>
          <a:lstStyle/>
          <a:p>
            <a:pPr algn="l" fontAlgn="base"/>
            <a:r>
              <a:rPr lang="en-US" b="1" i="0" dirty="0">
                <a:solidFill>
                  <a:srgbClr val="6C64AD"/>
                </a:solidFill>
                <a:effectLst/>
                <a:latin typeface="proxima-nova"/>
              </a:rPr>
              <a:t>Forming stage</a:t>
            </a:r>
          </a:p>
          <a:p>
            <a:pPr algn="l" fontAlgn="base"/>
            <a:r>
              <a:rPr lang="en-US" b="0" i="0" dirty="0">
                <a:solidFill>
                  <a:srgbClr val="373D3F"/>
                </a:solidFill>
                <a:effectLst/>
                <a:latin typeface="proxima-nova"/>
              </a:rPr>
              <a:t>The forming stage involves a period of orientation and getting acquainted. Uncertainty is high during this stage, and people are looking for leadership and authority. A member who asserts authority or is knowledgeable may be looked to take control. Team members are asking such questions as “What does the team offer me?” “What is expected of me?” “Will I fit in?” Most interactions are social as members get to know each other.</a:t>
            </a:r>
          </a:p>
          <a:p>
            <a:pPr algn="l" fontAlgn="base"/>
            <a:r>
              <a:rPr lang="en-US" b="1" i="0" dirty="0">
                <a:solidFill>
                  <a:srgbClr val="6C64AD"/>
                </a:solidFill>
                <a:effectLst/>
                <a:latin typeface="proxima-nova"/>
              </a:rPr>
              <a:t>Storming stage</a:t>
            </a:r>
          </a:p>
          <a:p>
            <a:pPr algn="l" fontAlgn="base"/>
            <a:r>
              <a:rPr lang="en-US" b="0" i="0" dirty="0">
                <a:solidFill>
                  <a:srgbClr val="373D3F"/>
                </a:solidFill>
                <a:effectLst/>
                <a:latin typeface="proxima-nova"/>
              </a:rPr>
              <a:t>The storming stage is the most difficult and critical stage to pass through. It is a period marked by conflict and competition as individual personalities emerge. Team performance may actually decrease in this stage because energy is put into unproductive activities. Members may disagree on team goals, and subgroups and cliques may form around strong personalities or areas of agreement. To get through this stage, members must work to overcome obstacles, to accept individual differences, and to work through conflicting ideas on team tasks and goals. Teams can get bogged down in this stage. Failure to address conflicts may result in long-term problems.</a:t>
            </a:r>
          </a:p>
          <a:p>
            <a:endParaRPr lang="en-US" dirty="0"/>
          </a:p>
        </p:txBody>
      </p:sp>
    </p:spTree>
    <p:extLst>
      <p:ext uri="{BB962C8B-B14F-4D97-AF65-F5344CB8AC3E}">
        <p14:creationId xmlns:p14="http://schemas.microsoft.com/office/powerpoint/2010/main" val="2046526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64EFB-AEDD-43B8-98A7-D8C9E3421875}"/>
              </a:ext>
            </a:extLst>
          </p:cNvPr>
          <p:cNvSpPr>
            <a:spLocks noGrp="1"/>
          </p:cNvSpPr>
          <p:nvPr>
            <p:ph type="title"/>
          </p:nvPr>
        </p:nvSpPr>
        <p:spPr/>
        <p:txBody>
          <a:bodyPr/>
          <a:lstStyle/>
          <a:p>
            <a:r>
              <a:rPr lang="en-US" dirty="0"/>
              <a:t>Stages</a:t>
            </a:r>
          </a:p>
        </p:txBody>
      </p:sp>
      <p:sp>
        <p:nvSpPr>
          <p:cNvPr id="3" name="Content Placeholder 2">
            <a:extLst>
              <a:ext uri="{FF2B5EF4-FFF2-40B4-BE49-F238E27FC236}">
                <a16:creationId xmlns:a16="http://schemas.microsoft.com/office/drawing/2014/main" id="{CD42AD7F-0A40-4310-8155-A7BCF636C0BD}"/>
              </a:ext>
            </a:extLst>
          </p:cNvPr>
          <p:cNvSpPr>
            <a:spLocks noGrp="1"/>
          </p:cNvSpPr>
          <p:nvPr>
            <p:ph idx="1"/>
          </p:nvPr>
        </p:nvSpPr>
        <p:spPr/>
        <p:txBody>
          <a:bodyPr>
            <a:normAutofit fontScale="85000" lnSpcReduction="20000"/>
          </a:bodyPr>
          <a:lstStyle/>
          <a:p>
            <a:pPr algn="l" fontAlgn="base"/>
            <a:r>
              <a:rPr lang="en-US" b="1" i="0" dirty="0">
                <a:solidFill>
                  <a:srgbClr val="6C64AD"/>
                </a:solidFill>
                <a:effectLst/>
                <a:latin typeface="proxima-nova"/>
              </a:rPr>
              <a:t>Norming stage</a:t>
            </a:r>
          </a:p>
          <a:p>
            <a:pPr algn="l" fontAlgn="base"/>
            <a:r>
              <a:rPr lang="en-US" b="0" i="0" dirty="0">
                <a:solidFill>
                  <a:srgbClr val="373D3F"/>
                </a:solidFill>
                <a:effectLst/>
                <a:latin typeface="proxima-nova"/>
              </a:rPr>
              <a:t>If teams get through the storming stage, conflict is resolved and some degree of unity emerges. In the norming stage, consensus develops around who the leader or leaders are, and individual member’s roles. Interpersonal differences begin to be resolved, and a sense of cohesion and unity emerges. Team performance increases during this stage as members learn to cooperate and begin to focus on team goals. However, the harmony is precarious, and if disagreements re-emerge the team can slide back into storming.</a:t>
            </a:r>
          </a:p>
          <a:p>
            <a:pPr algn="l" fontAlgn="base"/>
            <a:r>
              <a:rPr lang="en-US" b="1" i="0" dirty="0">
                <a:solidFill>
                  <a:srgbClr val="6C64AD"/>
                </a:solidFill>
                <a:effectLst/>
                <a:latin typeface="proxima-nova"/>
              </a:rPr>
              <a:t>Performing stage</a:t>
            </a:r>
          </a:p>
          <a:p>
            <a:pPr algn="l" fontAlgn="base"/>
            <a:r>
              <a:rPr lang="en-US" b="0" i="0" dirty="0">
                <a:solidFill>
                  <a:srgbClr val="373D3F"/>
                </a:solidFill>
                <a:effectLst/>
                <a:latin typeface="proxima-nova"/>
              </a:rPr>
              <a:t>In the performing stage, consensus and cooperation have been well-established and the team is mature, organized, and well-functioning. There is a clear and stable structure, and members are committed to the team’s mission. Problems and conflicts still emerge, but they are dealt with constructively. (We will discuss the role of conflict and conflict resolution in the next section). The team is focused on problem solving and meeting team goals.</a:t>
            </a:r>
          </a:p>
          <a:p>
            <a:endParaRPr lang="en-US" dirty="0"/>
          </a:p>
        </p:txBody>
      </p:sp>
    </p:spTree>
    <p:extLst>
      <p:ext uri="{BB962C8B-B14F-4D97-AF65-F5344CB8AC3E}">
        <p14:creationId xmlns:p14="http://schemas.microsoft.com/office/powerpoint/2010/main" val="3963434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E506-3015-45C4-9DDF-3A53CA7B8F1B}"/>
              </a:ext>
            </a:extLst>
          </p:cNvPr>
          <p:cNvSpPr>
            <a:spLocks noGrp="1"/>
          </p:cNvSpPr>
          <p:nvPr>
            <p:ph type="title"/>
          </p:nvPr>
        </p:nvSpPr>
        <p:spPr/>
        <p:txBody>
          <a:bodyPr/>
          <a:lstStyle/>
          <a:p>
            <a:r>
              <a:rPr lang="en-US" dirty="0"/>
              <a:t>Stages</a:t>
            </a:r>
          </a:p>
        </p:txBody>
      </p:sp>
      <p:sp>
        <p:nvSpPr>
          <p:cNvPr id="3" name="Content Placeholder 2">
            <a:extLst>
              <a:ext uri="{FF2B5EF4-FFF2-40B4-BE49-F238E27FC236}">
                <a16:creationId xmlns:a16="http://schemas.microsoft.com/office/drawing/2014/main" id="{7EFDFE98-0DD1-4204-8FE5-5A0B7FA554C5}"/>
              </a:ext>
            </a:extLst>
          </p:cNvPr>
          <p:cNvSpPr>
            <a:spLocks noGrp="1"/>
          </p:cNvSpPr>
          <p:nvPr>
            <p:ph idx="1"/>
          </p:nvPr>
        </p:nvSpPr>
        <p:spPr/>
        <p:txBody>
          <a:bodyPr>
            <a:normAutofit lnSpcReduction="10000"/>
          </a:bodyPr>
          <a:lstStyle/>
          <a:p>
            <a:pPr algn="l" fontAlgn="base"/>
            <a:r>
              <a:rPr lang="en-US" b="1" i="0" dirty="0">
                <a:solidFill>
                  <a:srgbClr val="6C64AD"/>
                </a:solidFill>
                <a:effectLst/>
                <a:latin typeface="proxima-nova"/>
              </a:rPr>
              <a:t>Adjourning stage</a:t>
            </a:r>
          </a:p>
          <a:p>
            <a:pPr algn="l" fontAlgn="base"/>
            <a:r>
              <a:rPr lang="en-US" b="0" i="0" dirty="0">
                <a:solidFill>
                  <a:srgbClr val="373D3F"/>
                </a:solidFill>
                <a:effectLst/>
                <a:latin typeface="proxima-nova"/>
              </a:rPr>
              <a:t>In the adjourning stage, most of the team’s goals have been accomplished. The emphasis is on wrapping up final tasks and documenting the effort and results. As the work load is diminished, individual members may be reassigned to other teams, and the team disbands. There may be regret as the team ends, so a ceremonial acknowledgement of the work and success of the team can be helpful. If the team is a standing committee with ongoing responsibility, members may be replaced by new people and the team can go back to a forming or storming stage and repeat the development process.</a:t>
            </a:r>
          </a:p>
          <a:p>
            <a:endParaRPr lang="en-US" dirty="0"/>
          </a:p>
        </p:txBody>
      </p:sp>
    </p:spTree>
    <p:extLst>
      <p:ext uri="{BB962C8B-B14F-4D97-AF65-F5344CB8AC3E}">
        <p14:creationId xmlns:p14="http://schemas.microsoft.com/office/powerpoint/2010/main" val="2076949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2A514-A4BD-49A2-8985-AF1E39F612F4}"/>
              </a:ext>
            </a:extLst>
          </p:cNvPr>
          <p:cNvSpPr>
            <a:spLocks noGrp="1"/>
          </p:cNvSpPr>
          <p:nvPr>
            <p:ph type="title"/>
          </p:nvPr>
        </p:nvSpPr>
        <p:spPr/>
        <p:txBody>
          <a:bodyPr/>
          <a:lstStyle/>
          <a:p>
            <a:r>
              <a:rPr lang="en-US" dirty="0"/>
              <a:t>Social loafing</a:t>
            </a:r>
          </a:p>
        </p:txBody>
      </p:sp>
      <p:sp>
        <p:nvSpPr>
          <p:cNvPr id="3" name="Content Placeholder 2">
            <a:extLst>
              <a:ext uri="{FF2B5EF4-FFF2-40B4-BE49-F238E27FC236}">
                <a16:creationId xmlns:a16="http://schemas.microsoft.com/office/drawing/2014/main" id="{5F6BB9B7-3FD2-45CC-B579-19EBF75A7BC8}"/>
              </a:ext>
            </a:extLst>
          </p:cNvPr>
          <p:cNvSpPr>
            <a:spLocks noGrp="1"/>
          </p:cNvSpPr>
          <p:nvPr>
            <p:ph idx="1"/>
          </p:nvPr>
        </p:nvSpPr>
        <p:spPr/>
        <p:txBody>
          <a:bodyPr/>
          <a:lstStyle/>
          <a:p>
            <a:r>
              <a:rPr lang="en-US" b="0" i="0" dirty="0">
                <a:solidFill>
                  <a:srgbClr val="202124"/>
                </a:solidFill>
                <a:effectLst/>
                <a:latin typeface="arial" panose="020B0604020202020204" pitchFamily="34" charset="0"/>
              </a:rPr>
              <a:t>Social loafing describes </a:t>
            </a:r>
            <a:r>
              <a:rPr lang="en-US" b="1" i="0" dirty="0">
                <a:solidFill>
                  <a:srgbClr val="202124"/>
                </a:solidFill>
                <a:effectLst/>
                <a:latin typeface="arial" panose="020B0604020202020204" pitchFamily="34" charset="0"/>
              </a:rPr>
              <a:t>the tendency of individuals to put forth less effort when they are part of a group</a:t>
            </a:r>
            <a:r>
              <a:rPr lang="en-US" b="0" i="0" dirty="0">
                <a:solidFill>
                  <a:srgbClr val="202124"/>
                </a:solidFill>
                <a:effectLst/>
                <a:latin typeface="arial" panose="020B0604020202020204" pitchFamily="34" charset="0"/>
              </a:rPr>
              <a:t>. Because all members of the group are pooling their effort to achieve a common goal, each member of the group contributes less than they would if they were individually responsible</a:t>
            </a:r>
            <a:endParaRPr lang="en-US" dirty="0"/>
          </a:p>
        </p:txBody>
      </p:sp>
    </p:spTree>
    <p:extLst>
      <p:ext uri="{BB962C8B-B14F-4D97-AF65-F5344CB8AC3E}">
        <p14:creationId xmlns:p14="http://schemas.microsoft.com/office/powerpoint/2010/main" val="1653416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8B91A-9C24-4373-A723-05EE566DF6B4}"/>
              </a:ext>
            </a:extLst>
          </p:cNvPr>
          <p:cNvSpPr>
            <a:spLocks noGrp="1"/>
          </p:cNvSpPr>
          <p:nvPr>
            <p:ph type="title"/>
          </p:nvPr>
        </p:nvSpPr>
        <p:spPr/>
        <p:txBody>
          <a:bodyPr/>
          <a:lstStyle/>
          <a:p>
            <a:r>
              <a:rPr lang="en-US" dirty="0"/>
              <a:t>How to minimize social loafing</a:t>
            </a:r>
          </a:p>
        </p:txBody>
      </p:sp>
      <p:sp>
        <p:nvSpPr>
          <p:cNvPr id="3" name="Content Placeholder 2">
            <a:extLst>
              <a:ext uri="{FF2B5EF4-FFF2-40B4-BE49-F238E27FC236}">
                <a16:creationId xmlns:a16="http://schemas.microsoft.com/office/drawing/2014/main" id="{A53F5EBF-2EF9-46BF-9997-9E7A11843655}"/>
              </a:ext>
            </a:extLst>
          </p:cNvPr>
          <p:cNvSpPr>
            <a:spLocks noGrp="1"/>
          </p:cNvSpPr>
          <p:nvPr>
            <p:ph idx="1"/>
          </p:nvPr>
        </p:nvSpPr>
        <p:spPr/>
        <p:txBody>
          <a:bodyPr/>
          <a:lstStyle/>
          <a:p>
            <a:r>
              <a:rPr lang="en-US" altLang="en-US" dirty="0"/>
              <a:t>Make individual performance more visible</a:t>
            </a:r>
          </a:p>
          <a:p>
            <a:pPr lvl="1"/>
            <a:r>
              <a:rPr lang="en-US" altLang="en-US" dirty="0"/>
              <a:t>Form smaller teams</a:t>
            </a:r>
          </a:p>
          <a:p>
            <a:pPr lvl="1"/>
            <a:r>
              <a:rPr lang="en-US" altLang="en-US" dirty="0"/>
              <a:t>Specialize tasks</a:t>
            </a:r>
          </a:p>
          <a:p>
            <a:pPr lvl="1"/>
            <a:r>
              <a:rPr lang="en-US" altLang="en-US" dirty="0"/>
              <a:t>Measure individual performance</a:t>
            </a:r>
          </a:p>
          <a:p>
            <a:pPr>
              <a:spcBef>
                <a:spcPct val="100000"/>
              </a:spcBef>
            </a:pPr>
            <a:r>
              <a:rPr lang="en-US" altLang="en-US" dirty="0"/>
              <a:t>Increase employee motivation</a:t>
            </a:r>
          </a:p>
          <a:p>
            <a:pPr lvl="1"/>
            <a:r>
              <a:rPr lang="en-US" altLang="en-US" dirty="0"/>
              <a:t>Increase job enrichment</a:t>
            </a:r>
          </a:p>
          <a:p>
            <a:pPr lvl="1"/>
            <a:r>
              <a:rPr lang="en-US" altLang="en-US" dirty="0"/>
              <a:t>Select motivated employees</a:t>
            </a:r>
          </a:p>
          <a:p>
            <a:endParaRPr lang="en-US" dirty="0"/>
          </a:p>
        </p:txBody>
      </p:sp>
    </p:spTree>
    <p:extLst>
      <p:ext uri="{BB962C8B-B14F-4D97-AF65-F5344CB8AC3E}">
        <p14:creationId xmlns:p14="http://schemas.microsoft.com/office/powerpoint/2010/main" val="4112182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0DDB92-7E30-42DA-B3E8-5B04F34FD717}"/>
              </a:ext>
            </a:extLst>
          </p:cNvPr>
          <p:cNvSpPr>
            <a:spLocks noGrp="1"/>
          </p:cNvSpPr>
          <p:nvPr>
            <p:ph type="title"/>
          </p:nvPr>
        </p:nvSpPr>
        <p:spPr/>
        <p:txBody>
          <a:bodyPr/>
          <a:lstStyle/>
          <a:p>
            <a:r>
              <a:rPr lang="en-US" dirty="0"/>
              <a:t>What makes teams defective</a:t>
            </a:r>
          </a:p>
        </p:txBody>
      </p:sp>
      <p:sp>
        <p:nvSpPr>
          <p:cNvPr id="6" name="Content Placeholder 5">
            <a:extLst>
              <a:ext uri="{FF2B5EF4-FFF2-40B4-BE49-F238E27FC236}">
                <a16:creationId xmlns:a16="http://schemas.microsoft.com/office/drawing/2014/main" id="{AAF895AD-7EBF-47EC-82DC-03422489BBA5}"/>
              </a:ext>
            </a:extLst>
          </p:cNvPr>
          <p:cNvSpPr>
            <a:spLocks noGrp="1"/>
          </p:cNvSpPr>
          <p:nvPr>
            <p:ph idx="1"/>
          </p:nvPr>
        </p:nvSpPr>
        <p:spPr/>
        <p:txBody>
          <a:bodyPr>
            <a:normAutofit/>
          </a:bodyPr>
          <a:lstStyle/>
          <a:p>
            <a:pPr algn="l">
              <a:buFont typeface="+mj-lt"/>
              <a:buAutoNum type="arabicPeriod"/>
            </a:pPr>
            <a:r>
              <a:rPr lang="en-US" b="1" i="0" dirty="0">
                <a:solidFill>
                  <a:srgbClr val="3F3F3F"/>
                </a:solidFill>
                <a:effectLst/>
                <a:latin typeface="Open Sans" panose="020B0606030504020204" pitchFamily="34" charset="0"/>
              </a:rPr>
              <a:t>Lack Of Clear Purpose &amp; Goals</a:t>
            </a:r>
            <a:r>
              <a:rPr lang="en-US" b="0" i="0" dirty="0">
                <a:solidFill>
                  <a:srgbClr val="3F3F3F"/>
                </a:solidFill>
                <a:effectLst/>
                <a:latin typeface="Open Sans" panose="020B0606030504020204" pitchFamily="34" charset="0"/>
              </a:rPr>
              <a:t> - </a:t>
            </a:r>
          </a:p>
          <a:p>
            <a:pPr algn="l">
              <a:buFont typeface="+mj-lt"/>
              <a:buAutoNum type="arabicPeriod"/>
            </a:pPr>
            <a:r>
              <a:rPr lang="en-US" b="1" i="0" dirty="0">
                <a:solidFill>
                  <a:srgbClr val="3F3F3F"/>
                </a:solidFill>
                <a:effectLst/>
                <a:latin typeface="Open Sans" panose="020B0606030504020204" pitchFamily="34" charset="0"/>
              </a:rPr>
              <a:t>Unsure Of What Requires A Team Effort</a:t>
            </a:r>
            <a:r>
              <a:rPr lang="en-US" b="0" i="0" dirty="0">
                <a:solidFill>
                  <a:srgbClr val="3F3F3F"/>
                </a:solidFill>
                <a:effectLst/>
                <a:latin typeface="Open Sans" panose="020B0606030504020204" pitchFamily="34" charset="0"/>
              </a:rPr>
              <a:t> - </a:t>
            </a:r>
            <a:endParaRPr lang="en-US" dirty="0">
              <a:solidFill>
                <a:srgbClr val="3F3F3F"/>
              </a:solidFill>
              <a:latin typeface="Open Sans" panose="020B0606030504020204" pitchFamily="34" charset="0"/>
            </a:endParaRPr>
          </a:p>
          <a:p>
            <a:pPr algn="l">
              <a:buFont typeface="+mj-lt"/>
              <a:buAutoNum type="arabicPeriod"/>
            </a:pPr>
            <a:r>
              <a:rPr lang="en-US" b="1" i="0" dirty="0">
                <a:solidFill>
                  <a:srgbClr val="3F3F3F"/>
                </a:solidFill>
                <a:effectLst/>
                <a:latin typeface="Open Sans" panose="020B0606030504020204" pitchFamily="34" charset="0"/>
              </a:rPr>
              <a:t>Lack Of Accountability</a:t>
            </a:r>
            <a:r>
              <a:rPr lang="en-US" b="0" i="0" dirty="0">
                <a:solidFill>
                  <a:srgbClr val="3F3F3F"/>
                </a:solidFill>
                <a:effectLst/>
                <a:latin typeface="Open Sans" panose="020B0606030504020204" pitchFamily="34" charset="0"/>
              </a:rPr>
              <a:t> - </a:t>
            </a:r>
          </a:p>
          <a:p>
            <a:pPr algn="l">
              <a:buFont typeface="+mj-lt"/>
              <a:buAutoNum type="arabicPeriod"/>
            </a:pPr>
            <a:r>
              <a:rPr lang="en-US" b="1" i="0" dirty="0">
                <a:solidFill>
                  <a:srgbClr val="3F3F3F"/>
                </a:solidFill>
                <a:effectLst/>
                <a:latin typeface="Open Sans" panose="020B0606030504020204" pitchFamily="34" charset="0"/>
              </a:rPr>
              <a:t>Lack Of Effective Or Shared Leadership</a:t>
            </a:r>
            <a:r>
              <a:rPr lang="en-US" b="0" i="0" dirty="0">
                <a:solidFill>
                  <a:srgbClr val="3F3F3F"/>
                </a:solidFill>
                <a:effectLst/>
                <a:latin typeface="Open Sans" panose="020B0606030504020204" pitchFamily="34" charset="0"/>
              </a:rPr>
              <a:t> -.</a:t>
            </a:r>
          </a:p>
          <a:p>
            <a:pPr algn="l">
              <a:buFont typeface="+mj-lt"/>
              <a:buAutoNum type="arabicPeriod"/>
            </a:pPr>
            <a:r>
              <a:rPr lang="en-US" b="1" i="0" dirty="0">
                <a:solidFill>
                  <a:srgbClr val="3F3F3F"/>
                </a:solidFill>
                <a:effectLst/>
                <a:latin typeface="Open Sans" panose="020B0606030504020204" pitchFamily="34" charset="0"/>
              </a:rPr>
              <a:t>Lack Of Trust Among Team Members</a:t>
            </a:r>
            <a:r>
              <a:rPr lang="en-US" b="0" i="0" dirty="0">
                <a:solidFill>
                  <a:srgbClr val="3F3F3F"/>
                </a:solidFill>
                <a:effectLst/>
                <a:latin typeface="Open Sans" panose="020B0606030504020204" pitchFamily="34" charset="0"/>
              </a:rPr>
              <a:t> -</a:t>
            </a:r>
          </a:p>
          <a:p>
            <a:pPr algn="l">
              <a:buFont typeface="+mj-lt"/>
              <a:buAutoNum type="arabicPeriod"/>
            </a:pPr>
            <a:r>
              <a:rPr lang="en-US" b="1" i="0" dirty="0">
                <a:solidFill>
                  <a:srgbClr val="3F3F3F"/>
                </a:solidFill>
                <a:effectLst/>
                <a:latin typeface="Open Sans" panose="020B0606030504020204" pitchFamily="34" charset="0"/>
              </a:rPr>
              <a:t>Inability To Deal With Conflict</a:t>
            </a:r>
            <a:r>
              <a:rPr lang="en-US" b="0" i="0" dirty="0">
                <a:solidFill>
                  <a:srgbClr val="3F3F3F"/>
                </a:solidFill>
                <a:effectLst/>
                <a:latin typeface="Open Sans" panose="020B0606030504020204" pitchFamily="34" charset="0"/>
              </a:rPr>
              <a:t> - </a:t>
            </a:r>
          </a:p>
          <a:p>
            <a:pPr algn="l">
              <a:buFont typeface="+mj-lt"/>
              <a:buAutoNum type="arabicPeriod"/>
            </a:pPr>
            <a:r>
              <a:rPr lang="en-US" b="1" i="0" dirty="0">
                <a:solidFill>
                  <a:srgbClr val="3F3F3F"/>
                </a:solidFill>
                <a:effectLst/>
                <a:latin typeface="Open Sans" panose="020B0606030504020204" pitchFamily="34" charset="0"/>
              </a:rPr>
              <a:t>Ineffective Problem-Solving Skills</a:t>
            </a:r>
            <a:r>
              <a:rPr lang="en-US" b="0" i="0" dirty="0">
                <a:solidFill>
                  <a:srgbClr val="3F3F3F"/>
                </a:solidFill>
                <a:effectLst/>
                <a:latin typeface="Open Sans" panose="020B0606030504020204" pitchFamily="34" charset="0"/>
              </a:rPr>
              <a:t> </a:t>
            </a:r>
          </a:p>
          <a:p>
            <a:pPr algn="l">
              <a:buFont typeface="+mj-lt"/>
              <a:buAutoNum type="arabicPeriod"/>
            </a:pPr>
            <a:r>
              <a:rPr lang="en-US" b="1" i="0" dirty="0">
                <a:solidFill>
                  <a:srgbClr val="3F3F3F"/>
                </a:solidFill>
                <a:effectLst/>
                <a:latin typeface="Open Sans" panose="020B0606030504020204" pitchFamily="34" charset="0"/>
              </a:rPr>
              <a:t>Lack Of Focus On Creativity &amp; Excellence</a:t>
            </a:r>
            <a:r>
              <a:rPr lang="en-US" b="0" i="0" dirty="0">
                <a:solidFill>
                  <a:srgbClr val="3F3F3F"/>
                </a:solidFill>
                <a:effectLst/>
                <a:latin typeface="Open Sans" panose="020B0606030504020204" pitchFamily="34" charset="0"/>
              </a:rPr>
              <a:t> -</a:t>
            </a:r>
            <a:endParaRPr lang="en-US" dirty="0"/>
          </a:p>
          <a:p>
            <a:pPr algn="l">
              <a:buFont typeface="+mj-lt"/>
              <a:buAutoNum type="arabicPeriod"/>
            </a:pPr>
            <a:endParaRPr lang="en-US" dirty="0"/>
          </a:p>
        </p:txBody>
      </p:sp>
    </p:spTree>
    <p:extLst>
      <p:ext uri="{BB962C8B-B14F-4D97-AF65-F5344CB8AC3E}">
        <p14:creationId xmlns:p14="http://schemas.microsoft.com/office/powerpoint/2010/main" val="3322941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TotalTime>
  <Words>1027</Words>
  <Application>Microsoft Office PowerPoint</Application>
  <PresentationFormat>Widescreen</PresentationFormat>
  <Paragraphs>135</Paragraphs>
  <Slides>18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arial</vt:lpstr>
      <vt:lpstr>Calibri</vt:lpstr>
      <vt:lpstr>Calibri Light</vt:lpstr>
      <vt:lpstr>Franklin Gothic Book</vt:lpstr>
      <vt:lpstr>Lucida Grande</vt:lpstr>
      <vt:lpstr>Open Sans</vt:lpstr>
      <vt:lpstr>proxima-nova</vt:lpstr>
      <vt:lpstr>Tahoma</vt:lpstr>
      <vt:lpstr>Wingdings</vt:lpstr>
      <vt:lpstr>Office Theme</vt:lpstr>
      <vt:lpstr>PowerPoint Presentation</vt:lpstr>
      <vt:lpstr>OBJECTICVES</vt:lpstr>
      <vt:lpstr>WHAT ARE TEAMS</vt:lpstr>
      <vt:lpstr>GROUPS VRS TEAMS</vt:lpstr>
      <vt:lpstr>TYPES OF TEAMS</vt:lpstr>
      <vt:lpstr>Virtual teams</vt:lpstr>
      <vt:lpstr>Informal groups</vt:lpstr>
      <vt:lpstr>Importance of teams</vt:lpstr>
      <vt:lpstr>PowerPoint Presentation</vt:lpstr>
      <vt:lpstr>Characteristics of effective teams</vt:lpstr>
      <vt:lpstr>Team Processes: Design Element</vt:lpstr>
      <vt:lpstr>PowerPoint Presentation</vt:lpstr>
      <vt:lpstr>Stages</vt:lpstr>
      <vt:lpstr>Stages</vt:lpstr>
      <vt:lpstr>Stages</vt:lpstr>
      <vt:lpstr>Social loafing</vt:lpstr>
      <vt:lpstr>How to minimize social loafing</vt:lpstr>
      <vt:lpstr>What makes teams defective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Fudzi</dc:creator>
  <cp:lastModifiedBy>Cornelia Annan-Prah</cp:lastModifiedBy>
  <cp:revision>2</cp:revision>
  <dcterms:created xsi:type="dcterms:W3CDTF">2021-09-07T10:56:24Z</dcterms:created>
  <dcterms:modified xsi:type="dcterms:W3CDTF">2022-04-12T14:27:46Z</dcterms:modified>
</cp:coreProperties>
</file>
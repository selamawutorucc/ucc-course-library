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9" r:id="rId10"/>
    <p:sldId id="270" r:id="rId11"/>
    <p:sldId id="271" r:id="rId12"/>
    <p:sldId id="264" r:id="rId13"/>
    <p:sldId id="265" r:id="rId14"/>
    <p:sldId id="280" r:id="rId15"/>
    <p:sldId id="266" r:id="rId16"/>
    <p:sldId id="267" r:id="rId17"/>
    <p:sldId id="268" r:id="rId18"/>
    <p:sldId id="272" r:id="rId19"/>
    <p:sldId id="273" r:id="rId20"/>
    <p:sldId id="274" r:id="rId21"/>
    <p:sldId id="275" r:id="rId22"/>
    <p:sldId id="277" r:id="rId23"/>
    <p:sldId id="276" r:id="rId24"/>
    <p:sldId id="278" r:id="rId25"/>
    <p:sldId id="279"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17AE-0DB6-4339-BDE1-B3EB7F7C0F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348067-01E7-4F66-9D59-2BFF0B314B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B4B44B-50BE-4248-9666-975D7B46185D}"/>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5" name="Footer Placeholder 4">
            <a:extLst>
              <a:ext uri="{FF2B5EF4-FFF2-40B4-BE49-F238E27FC236}">
                <a16:creationId xmlns:a16="http://schemas.microsoft.com/office/drawing/2014/main" id="{101F3C6A-9537-4F5E-89F0-3EF802919A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5C410C-6513-4ECF-854F-5C999F7DE9F0}"/>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1476380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8B82-10EE-4740-9DDA-31514C841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8F681-0CA9-4CCF-831E-84B7B7E1CD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F51817-D14D-4F38-BF90-5AB03597EEA6}"/>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5" name="Footer Placeholder 4">
            <a:extLst>
              <a:ext uri="{FF2B5EF4-FFF2-40B4-BE49-F238E27FC236}">
                <a16:creationId xmlns:a16="http://schemas.microsoft.com/office/drawing/2014/main" id="{7F75ED80-2E94-48A4-BB91-758FDDA88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007EB-7052-4126-BF8B-4F7687C0FF29}"/>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932317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687E0-AE91-4579-9C8D-CA56A59B6A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43699E-6FE8-4182-A38B-360E87321A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FC33C5-CCD3-4C9D-AB95-29681BE2A07C}"/>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5" name="Footer Placeholder 4">
            <a:extLst>
              <a:ext uri="{FF2B5EF4-FFF2-40B4-BE49-F238E27FC236}">
                <a16:creationId xmlns:a16="http://schemas.microsoft.com/office/drawing/2014/main" id="{CA6B9875-6DAB-4DC8-80BA-98F8C6DA0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5C4F13-0F5C-4EBD-BFCE-44A20098698E}"/>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3784907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441AC-127B-46D1-A9CD-6B069CDD06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8C577B-863C-48A7-964F-2905106DF1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8B89B4-063D-4F3A-96F3-F7D56F29AE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C0F83C-3844-48EE-9908-EE0C5A8CD9EE}"/>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6" name="Footer Placeholder 5">
            <a:extLst>
              <a:ext uri="{FF2B5EF4-FFF2-40B4-BE49-F238E27FC236}">
                <a16:creationId xmlns:a16="http://schemas.microsoft.com/office/drawing/2014/main" id="{CCBCB999-5AEA-4E0E-8859-D533E6EF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4D5C7C-101E-4E56-BB3B-EA96165AFA87}"/>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79486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E196-48BF-42D5-B38E-4CF2E394C7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1EB763-0C1D-4EE0-97B6-886D622C5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86F3F9-9445-4D7E-98E7-CE9AFAAD91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DA2127-CBF3-492A-B780-3767FC7FE9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FE0E92-B31C-4DD0-AAE4-83506D17DC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399F1F-9D59-4260-8E02-C4BD7230A344}"/>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8" name="Footer Placeholder 7">
            <a:extLst>
              <a:ext uri="{FF2B5EF4-FFF2-40B4-BE49-F238E27FC236}">
                <a16:creationId xmlns:a16="http://schemas.microsoft.com/office/drawing/2014/main" id="{C177546F-AC5B-42DE-ADBB-ED4855F99B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707191-2534-4A41-BA01-659682DEF098}"/>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427069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706E2-D2F8-4876-AFAE-7EDDBE68FD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E04722-8A9A-42B1-9A48-96108B894029}"/>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4" name="Footer Placeholder 3">
            <a:extLst>
              <a:ext uri="{FF2B5EF4-FFF2-40B4-BE49-F238E27FC236}">
                <a16:creationId xmlns:a16="http://schemas.microsoft.com/office/drawing/2014/main" id="{1EE94301-30D4-4A30-B081-002EA5C14D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AAC164-2668-4C34-AB6F-57EFA5E41121}"/>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4122367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475CDB-EB5D-482E-9841-4D8C0C78888A}"/>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3" name="Footer Placeholder 2">
            <a:extLst>
              <a:ext uri="{FF2B5EF4-FFF2-40B4-BE49-F238E27FC236}">
                <a16:creationId xmlns:a16="http://schemas.microsoft.com/office/drawing/2014/main" id="{4166BA99-1133-45B7-826B-479EAB80F0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75B162-25AB-4131-A4B8-6F936A552173}"/>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2985527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C78FE-41BB-46DD-BB87-334D64F6E3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0DF3D2-8FCD-4C28-B207-7FF9A874E4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A1371C-0EFA-4B81-AE5D-18468AC96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A522FB-15E9-4A88-8A7A-7777260A67E1}"/>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6" name="Footer Placeholder 5">
            <a:extLst>
              <a:ext uri="{FF2B5EF4-FFF2-40B4-BE49-F238E27FC236}">
                <a16:creationId xmlns:a16="http://schemas.microsoft.com/office/drawing/2014/main" id="{479D2269-3845-4A2A-B032-C86EA81825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FBA719-C56F-44AA-A5DB-0D305218EF26}"/>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1958172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1F983-A401-4866-95B3-B1334967D1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19E995-E84F-40EA-90CF-75B0441630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6E044E-2236-4281-BED6-05A3E9E8D5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05DED-DF80-43DF-B0EF-059ACEDB1157}"/>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6" name="Footer Placeholder 5">
            <a:extLst>
              <a:ext uri="{FF2B5EF4-FFF2-40B4-BE49-F238E27FC236}">
                <a16:creationId xmlns:a16="http://schemas.microsoft.com/office/drawing/2014/main" id="{195EC4D0-A78D-4A2E-A38C-DC40D0DAC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F161A5-BFB8-42FF-BD68-BCBB96C3D70C}"/>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3959559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D52E4-6784-4BB2-83DB-AA98E55D0C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91D100-11AF-4F38-970D-2DA3E1F882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C1335B-85B2-4D73-B3FB-39DDCC196129}"/>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5" name="Footer Placeholder 4">
            <a:extLst>
              <a:ext uri="{FF2B5EF4-FFF2-40B4-BE49-F238E27FC236}">
                <a16:creationId xmlns:a16="http://schemas.microsoft.com/office/drawing/2014/main" id="{9D97F4F8-16D3-467D-975A-4EA6DCF52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06C20-9B57-4FFB-8D59-C900A726EE88}"/>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3461051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70906A-5926-4345-B869-D3CE7F68B3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0ED86F-2BB9-4BF8-92BA-08A9A1C9DE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B52427-7C2E-431D-B1BF-7DD2C7DF36EE}"/>
              </a:ext>
            </a:extLst>
          </p:cNvPr>
          <p:cNvSpPr>
            <a:spLocks noGrp="1"/>
          </p:cNvSpPr>
          <p:nvPr>
            <p:ph type="dt" sz="half" idx="10"/>
          </p:nvPr>
        </p:nvSpPr>
        <p:spPr/>
        <p:txBody>
          <a:bodyPr/>
          <a:lstStyle/>
          <a:p>
            <a:fld id="{0EDC6F73-A7DC-4D3F-B844-496E00DFD5EC}" type="datetimeFigureOut">
              <a:rPr lang="en-US" smtClean="0"/>
              <a:t>2/28/2023</a:t>
            </a:fld>
            <a:endParaRPr lang="en-US"/>
          </a:p>
        </p:txBody>
      </p:sp>
      <p:sp>
        <p:nvSpPr>
          <p:cNvPr id="5" name="Footer Placeholder 4">
            <a:extLst>
              <a:ext uri="{FF2B5EF4-FFF2-40B4-BE49-F238E27FC236}">
                <a16:creationId xmlns:a16="http://schemas.microsoft.com/office/drawing/2014/main" id="{2FF3B12A-4AD5-4208-958F-F235E73F36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4DC89D-16BF-49A7-BE9C-C63D9696340D}"/>
              </a:ext>
            </a:extLst>
          </p:cNvPr>
          <p:cNvSpPr>
            <a:spLocks noGrp="1"/>
          </p:cNvSpPr>
          <p:nvPr>
            <p:ph type="sldNum" sz="quarter" idx="12"/>
          </p:nvPr>
        </p:nvSpPr>
        <p:spPr/>
        <p:txBody>
          <a:bodyPr/>
          <a:lstStyle/>
          <a:p>
            <a:fld id="{B9866441-D69F-41E6-A567-7FBEF6256172}" type="slidenum">
              <a:rPr lang="en-US" smtClean="0"/>
              <a:t>‹#›</a:t>
            </a:fld>
            <a:endParaRPr lang="en-US"/>
          </a:p>
        </p:txBody>
      </p:sp>
    </p:spTree>
    <p:extLst>
      <p:ext uri="{BB962C8B-B14F-4D97-AF65-F5344CB8AC3E}">
        <p14:creationId xmlns:p14="http://schemas.microsoft.com/office/powerpoint/2010/main" val="1488710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F0ACD3-3BB4-4148-8BE8-439CF2E688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B7C5EA-AD9B-42BC-BADF-887FA5C8D9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DC83CF-85B6-4BE2-AD54-AF44C68017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DC6F73-A7DC-4D3F-B844-496E00DFD5EC}" type="datetimeFigureOut">
              <a:rPr lang="en-US" smtClean="0"/>
              <a:t>2/28/2023</a:t>
            </a:fld>
            <a:endParaRPr lang="en-US"/>
          </a:p>
        </p:txBody>
      </p:sp>
      <p:sp>
        <p:nvSpPr>
          <p:cNvPr id="5" name="Footer Placeholder 4">
            <a:extLst>
              <a:ext uri="{FF2B5EF4-FFF2-40B4-BE49-F238E27FC236}">
                <a16:creationId xmlns:a16="http://schemas.microsoft.com/office/drawing/2014/main" id="{C32E7006-08D6-49FF-9AA3-715141752F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63AB95-FC90-431B-9EA0-24B04245A0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866441-D69F-41E6-A567-7FBEF6256172}" type="slidenum">
              <a:rPr lang="en-US" smtClean="0"/>
              <a:t>‹#›</a:t>
            </a:fld>
            <a:endParaRPr lang="en-US"/>
          </a:p>
        </p:txBody>
      </p:sp>
    </p:spTree>
    <p:extLst>
      <p:ext uri="{BB962C8B-B14F-4D97-AF65-F5344CB8AC3E}">
        <p14:creationId xmlns:p14="http://schemas.microsoft.com/office/powerpoint/2010/main" val="3043156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webmd.com/balance/stress-management/effects-of-stress-on-your-body" TargetMode="External"/><Relationship Id="rId2" Type="http://schemas.openxmlformats.org/officeDocument/2006/relationships/hyperlink" Target="https://www.ncbi.nlm.nih.gov/pmc/articles/PMC5579396/"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3C82F-3728-457E-B78D-AB716D77D602}"/>
              </a:ext>
            </a:extLst>
          </p:cNvPr>
          <p:cNvSpPr>
            <a:spLocks noGrp="1"/>
          </p:cNvSpPr>
          <p:nvPr>
            <p:ph type="ctrTitle"/>
          </p:nvPr>
        </p:nvSpPr>
        <p:spPr/>
        <p:txBody>
          <a:bodyPr>
            <a:normAutofit/>
          </a:bodyPr>
          <a:lstStyle/>
          <a:p>
            <a:r>
              <a:rPr lang="en-US" b="1" dirty="0"/>
              <a:t>STRESS AND CONFLICT</a:t>
            </a:r>
          </a:p>
        </p:txBody>
      </p:sp>
      <p:pic>
        <p:nvPicPr>
          <p:cNvPr id="4" name="Picture 3" descr="pe07182_">
            <a:extLst>
              <a:ext uri="{FF2B5EF4-FFF2-40B4-BE49-F238E27FC236}">
                <a16:creationId xmlns:a16="http://schemas.microsoft.com/office/drawing/2014/main" id="{2D2ABA47-31CB-4777-BA9B-A05F4F0ED2DB}"/>
              </a:ext>
            </a:extLst>
          </p:cNvPr>
          <p:cNvPicPr>
            <a:picLocks noChangeAspect="1" noChangeArrowheads="1"/>
          </p:cNvPicPr>
          <p:nvPr/>
        </p:nvPicPr>
        <p:blipFill>
          <a:blip r:embed="rId2"/>
          <a:srcRect/>
          <a:stretch>
            <a:fillRect/>
          </a:stretch>
        </p:blipFill>
        <p:spPr bwMode="auto">
          <a:xfrm>
            <a:off x="1808018" y="3283527"/>
            <a:ext cx="3675063" cy="3260725"/>
          </a:xfrm>
          <a:prstGeom prst="rect">
            <a:avLst/>
          </a:prstGeom>
          <a:noFill/>
        </p:spPr>
      </p:pic>
      <p:pic>
        <p:nvPicPr>
          <p:cNvPr id="6" name="Picture 5">
            <a:extLst>
              <a:ext uri="{FF2B5EF4-FFF2-40B4-BE49-F238E27FC236}">
                <a16:creationId xmlns:a16="http://schemas.microsoft.com/office/drawing/2014/main" id="{F98660B2-57F0-438B-9FA7-F2CA65A6A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702866"/>
            <a:ext cx="4627055" cy="2648483"/>
          </a:xfrm>
          <a:prstGeom prst="rect">
            <a:avLst/>
          </a:prstGeom>
        </p:spPr>
      </p:pic>
    </p:spTree>
    <p:extLst>
      <p:ext uri="{BB962C8B-B14F-4D97-AF65-F5344CB8AC3E}">
        <p14:creationId xmlns:p14="http://schemas.microsoft.com/office/powerpoint/2010/main" val="1396365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D44F0-496C-4D39-BDEF-1B91139E41E9}"/>
              </a:ext>
            </a:extLst>
          </p:cNvPr>
          <p:cNvSpPr>
            <a:spLocks noGrp="1"/>
          </p:cNvSpPr>
          <p:nvPr>
            <p:ph type="title"/>
          </p:nvPr>
        </p:nvSpPr>
        <p:spPr/>
        <p:txBody>
          <a:bodyPr/>
          <a:lstStyle/>
          <a:p>
            <a:r>
              <a:rPr lang="en-US" dirty="0"/>
              <a:t>Stress and its managements</a:t>
            </a:r>
          </a:p>
        </p:txBody>
      </p:sp>
      <p:sp>
        <p:nvSpPr>
          <p:cNvPr id="3" name="Content Placeholder 2">
            <a:extLst>
              <a:ext uri="{FF2B5EF4-FFF2-40B4-BE49-F238E27FC236}">
                <a16:creationId xmlns:a16="http://schemas.microsoft.com/office/drawing/2014/main" id="{7E88FA1F-8F78-48E0-BD2A-792DA39516A6}"/>
              </a:ext>
            </a:extLst>
          </p:cNvPr>
          <p:cNvSpPr>
            <a:spLocks noGrp="1"/>
          </p:cNvSpPr>
          <p:nvPr>
            <p:ph idx="1"/>
          </p:nvPr>
        </p:nvSpPr>
        <p:spPr/>
        <p:txBody>
          <a:bodyPr/>
          <a:lstStyle/>
          <a:p>
            <a:pPr>
              <a:spcBef>
                <a:spcPct val="50000"/>
              </a:spcBef>
            </a:pPr>
            <a:r>
              <a:rPr lang="en-US" sz="2800" dirty="0"/>
              <a:t>Stress</a:t>
            </a:r>
          </a:p>
          <a:p>
            <a:pPr>
              <a:spcBef>
                <a:spcPct val="50000"/>
              </a:spcBef>
            </a:pPr>
            <a:r>
              <a:rPr lang="en-US" dirty="0">
                <a:latin typeface="Tahoma" pitchFamily="34" charset="0"/>
              </a:rPr>
              <a:t>Stress is a physiological and psychological response to a perceived threat or challenge. It is the body's natural response to demands or pressures from the environment, which can be either positive or negative.</a:t>
            </a:r>
            <a:endParaRPr lang="en-US" dirty="0"/>
          </a:p>
        </p:txBody>
      </p:sp>
    </p:spTree>
    <p:extLst>
      <p:ext uri="{BB962C8B-B14F-4D97-AF65-F5344CB8AC3E}">
        <p14:creationId xmlns:p14="http://schemas.microsoft.com/office/powerpoint/2010/main" val="42013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ACEE7-330D-4BEA-9139-4FFFDE8F2CF6}"/>
              </a:ext>
            </a:extLst>
          </p:cNvPr>
          <p:cNvSpPr>
            <a:spLocks noGrp="1"/>
          </p:cNvSpPr>
          <p:nvPr>
            <p:ph type="title"/>
          </p:nvPr>
        </p:nvSpPr>
        <p:spPr/>
        <p:txBody>
          <a:bodyPr/>
          <a:lstStyle/>
          <a:p>
            <a:r>
              <a:rPr lang="en-US" dirty="0"/>
              <a:t>Sources of stress</a:t>
            </a:r>
          </a:p>
        </p:txBody>
      </p:sp>
      <p:sp>
        <p:nvSpPr>
          <p:cNvPr id="3" name="Content Placeholder 2">
            <a:extLst>
              <a:ext uri="{FF2B5EF4-FFF2-40B4-BE49-F238E27FC236}">
                <a16:creationId xmlns:a16="http://schemas.microsoft.com/office/drawing/2014/main" id="{A8512137-A531-48B7-BF0A-E77C24508517}"/>
              </a:ext>
            </a:extLst>
          </p:cNvPr>
          <p:cNvSpPr>
            <a:spLocks noGrp="1"/>
          </p:cNvSpPr>
          <p:nvPr>
            <p:ph idx="1"/>
          </p:nvPr>
        </p:nvSpPr>
        <p:spPr/>
        <p:txBody>
          <a:bodyPr/>
          <a:lstStyle/>
          <a:p>
            <a:pPr>
              <a:spcBef>
                <a:spcPct val="40000"/>
              </a:spcBef>
            </a:pPr>
            <a:r>
              <a:rPr lang="en-US" dirty="0"/>
              <a:t>Environmental Factors</a:t>
            </a:r>
          </a:p>
          <a:p>
            <a:pPr lvl="1">
              <a:spcBef>
                <a:spcPct val="40000"/>
              </a:spcBef>
            </a:pPr>
            <a:r>
              <a:rPr lang="en-US" dirty="0"/>
              <a:t>Economic uncertainties of the business cycle</a:t>
            </a:r>
          </a:p>
          <a:p>
            <a:pPr lvl="1">
              <a:spcBef>
                <a:spcPct val="40000"/>
              </a:spcBef>
            </a:pPr>
            <a:r>
              <a:rPr lang="en-US" dirty="0"/>
              <a:t>Political uncertainties of political systems</a:t>
            </a:r>
          </a:p>
          <a:p>
            <a:pPr lvl="1">
              <a:spcBef>
                <a:spcPct val="40000"/>
              </a:spcBef>
            </a:pPr>
            <a:r>
              <a:rPr lang="en-US" dirty="0"/>
              <a:t>Technological uncertainties of technical innovations</a:t>
            </a:r>
          </a:p>
          <a:p>
            <a:pPr lvl="1">
              <a:spcBef>
                <a:spcPct val="40000"/>
              </a:spcBef>
            </a:pPr>
            <a:r>
              <a:rPr lang="en-US" dirty="0"/>
              <a:t>Terrorism </a:t>
            </a:r>
            <a:r>
              <a:rPr lang="en-US" dirty="0" smtClean="0"/>
              <a:t>is a </a:t>
            </a:r>
            <a:r>
              <a:rPr lang="en-US" dirty="0"/>
              <a:t>threats to physical safety and security</a:t>
            </a:r>
          </a:p>
          <a:p>
            <a:endParaRPr lang="en-US" dirty="0"/>
          </a:p>
        </p:txBody>
      </p:sp>
    </p:spTree>
    <p:extLst>
      <p:ext uri="{BB962C8B-B14F-4D97-AF65-F5344CB8AC3E}">
        <p14:creationId xmlns:p14="http://schemas.microsoft.com/office/powerpoint/2010/main" val="1380916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B96A3-FE84-441E-9245-DB87B3ABD79B}"/>
              </a:ext>
            </a:extLst>
          </p:cNvPr>
          <p:cNvSpPr>
            <a:spLocks noGrp="1"/>
          </p:cNvSpPr>
          <p:nvPr>
            <p:ph type="title"/>
          </p:nvPr>
        </p:nvSpPr>
        <p:spPr/>
        <p:txBody>
          <a:bodyPr/>
          <a:lstStyle/>
          <a:p>
            <a:r>
              <a:rPr lang="en-US" dirty="0"/>
              <a:t>Sources of stress</a:t>
            </a:r>
          </a:p>
        </p:txBody>
      </p:sp>
      <p:sp>
        <p:nvSpPr>
          <p:cNvPr id="3" name="Content Placeholder 2">
            <a:extLst>
              <a:ext uri="{FF2B5EF4-FFF2-40B4-BE49-F238E27FC236}">
                <a16:creationId xmlns:a16="http://schemas.microsoft.com/office/drawing/2014/main" id="{BD7185E5-BA4B-428C-A785-74C7F3F0DAC9}"/>
              </a:ext>
            </a:extLst>
          </p:cNvPr>
          <p:cNvSpPr>
            <a:spLocks noGrp="1"/>
          </p:cNvSpPr>
          <p:nvPr>
            <p:ph idx="1"/>
          </p:nvPr>
        </p:nvSpPr>
        <p:spPr/>
        <p:txBody>
          <a:bodyPr/>
          <a:lstStyle/>
          <a:p>
            <a:pPr>
              <a:spcBef>
                <a:spcPct val="50000"/>
              </a:spcBef>
            </a:pPr>
            <a:r>
              <a:rPr lang="en-US" dirty="0"/>
              <a:t>Organizational Factors</a:t>
            </a:r>
          </a:p>
          <a:p>
            <a:pPr lvl="1">
              <a:spcBef>
                <a:spcPct val="50000"/>
              </a:spcBef>
            </a:pPr>
            <a:r>
              <a:rPr lang="en-US" dirty="0"/>
              <a:t>Task demands related to the job</a:t>
            </a:r>
          </a:p>
          <a:p>
            <a:pPr lvl="1">
              <a:spcBef>
                <a:spcPct val="50000"/>
              </a:spcBef>
            </a:pPr>
            <a:r>
              <a:rPr lang="en-US" dirty="0"/>
              <a:t>Role demands of functioning in an organization</a:t>
            </a:r>
          </a:p>
          <a:p>
            <a:pPr lvl="1">
              <a:spcBef>
                <a:spcPct val="50000"/>
              </a:spcBef>
            </a:pPr>
            <a:r>
              <a:rPr lang="en-US" dirty="0"/>
              <a:t>Interpersonal demands created by other employees</a:t>
            </a:r>
          </a:p>
          <a:p>
            <a:pPr lvl="1">
              <a:spcBef>
                <a:spcPct val="50000"/>
              </a:spcBef>
            </a:pPr>
            <a:r>
              <a:rPr lang="en-US" dirty="0"/>
              <a:t>Organizational structure (rules and regulations)</a:t>
            </a:r>
          </a:p>
          <a:p>
            <a:pPr lvl="1">
              <a:spcBef>
                <a:spcPct val="50000"/>
              </a:spcBef>
            </a:pPr>
            <a:r>
              <a:rPr lang="en-US" dirty="0"/>
              <a:t>Organizational leadership (managerial style)</a:t>
            </a:r>
          </a:p>
          <a:p>
            <a:pPr lvl="1">
              <a:spcBef>
                <a:spcPct val="50000"/>
              </a:spcBef>
            </a:pPr>
            <a:r>
              <a:rPr lang="en-US" dirty="0"/>
              <a:t>Organization’s life stage (growth, stability, or decline)</a:t>
            </a:r>
          </a:p>
          <a:p>
            <a:endParaRPr lang="en-US" dirty="0"/>
          </a:p>
        </p:txBody>
      </p:sp>
    </p:spTree>
    <p:extLst>
      <p:ext uri="{BB962C8B-B14F-4D97-AF65-F5344CB8AC3E}">
        <p14:creationId xmlns:p14="http://schemas.microsoft.com/office/powerpoint/2010/main" val="389133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ED682-5E90-4DFF-AE47-E7F5EF32B036}"/>
              </a:ext>
            </a:extLst>
          </p:cNvPr>
          <p:cNvSpPr>
            <a:spLocks noGrp="1"/>
          </p:cNvSpPr>
          <p:nvPr>
            <p:ph type="title"/>
          </p:nvPr>
        </p:nvSpPr>
        <p:spPr/>
        <p:txBody>
          <a:bodyPr/>
          <a:lstStyle/>
          <a:p>
            <a:r>
              <a:rPr lang="en-US" dirty="0"/>
              <a:t>Sources of stress</a:t>
            </a:r>
          </a:p>
        </p:txBody>
      </p:sp>
      <p:sp>
        <p:nvSpPr>
          <p:cNvPr id="3" name="Content Placeholder 2">
            <a:extLst>
              <a:ext uri="{FF2B5EF4-FFF2-40B4-BE49-F238E27FC236}">
                <a16:creationId xmlns:a16="http://schemas.microsoft.com/office/drawing/2014/main" id="{83D6EB5E-1DA2-4B52-BA95-151918C67629}"/>
              </a:ext>
            </a:extLst>
          </p:cNvPr>
          <p:cNvSpPr>
            <a:spLocks noGrp="1"/>
          </p:cNvSpPr>
          <p:nvPr>
            <p:ph idx="1"/>
          </p:nvPr>
        </p:nvSpPr>
        <p:spPr/>
        <p:txBody>
          <a:bodyPr>
            <a:normAutofit lnSpcReduction="10000"/>
          </a:bodyPr>
          <a:lstStyle/>
          <a:p>
            <a:pPr>
              <a:spcBef>
                <a:spcPct val="30000"/>
              </a:spcBef>
            </a:pPr>
            <a:r>
              <a:rPr lang="en-US" dirty="0"/>
              <a:t>Individual Factors</a:t>
            </a:r>
          </a:p>
          <a:p>
            <a:pPr lvl="1">
              <a:spcBef>
                <a:spcPct val="30000"/>
              </a:spcBef>
            </a:pPr>
            <a:r>
              <a:rPr lang="en-US" dirty="0"/>
              <a:t>Family and personal relationships</a:t>
            </a:r>
          </a:p>
          <a:p>
            <a:pPr lvl="1">
              <a:spcBef>
                <a:spcPct val="30000"/>
              </a:spcBef>
            </a:pPr>
            <a:r>
              <a:rPr lang="en-US" dirty="0"/>
              <a:t>Economic problems from exceeding earning capacity</a:t>
            </a:r>
          </a:p>
          <a:p>
            <a:pPr lvl="1">
              <a:spcBef>
                <a:spcPct val="30000"/>
              </a:spcBef>
            </a:pPr>
            <a:r>
              <a:rPr lang="en-US" dirty="0"/>
              <a:t>Personality problems arising for basic disposition</a:t>
            </a:r>
          </a:p>
          <a:p>
            <a:pPr>
              <a:spcBef>
                <a:spcPct val="30000"/>
              </a:spcBef>
            </a:pPr>
            <a:r>
              <a:rPr lang="en-US" dirty="0"/>
              <a:t>Individual Differences</a:t>
            </a:r>
          </a:p>
          <a:p>
            <a:pPr lvl="1">
              <a:spcBef>
                <a:spcPct val="30000"/>
              </a:spcBef>
            </a:pPr>
            <a:r>
              <a:rPr lang="en-US" dirty="0"/>
              <a:t>Perceptual variations of how reality will affect the individual’s future.</a:t>
            </a:r>
          </a:p>
          <a:p>
            <a:pPr lvl="1">
              <a:spcBef>
                <a:spcPct val="30000"/>
              </a:spcBef>
            </a:pPr>
            <a:r>
              <a:rPr lang="en-US" dirty="0"/>
              <a:t>Greater job experience moderates stress effects.</a:t>
            </a:r>
          </a:p>
          <a:p>
            <a:pPr lvl="1">
              <a:spcBef>
                <a:spcPct val="30000"/>
              </a:spcBef>
            </a:pPr>
            <a:r>
              <a:rPr lang="en-US" dirty="0"/>
              <a:t>Social support buffers job stress.</a:t>
            </a:r>
          </a:p>
          <a:p>
            <a:pPr lvl="1">
              <a:spcBef>
                <a:spcPct val="30000"/>
              </a:spcBef>
            </a:pPr>
            <a:r>
              <a:rPr lang="en-US" dirty="0"/>
              <a:t>Internal locus of control lowers perceived job stress.</a:t>
            </a:r>
          </a:p>
          <a:p>
            <a:pPr lvl="1">
              <a:spcBef>
                <a:spcPct val="30000"/>
              </a:spcBef>
            </a:pPr>
            <a:r>
              <a:rPr lang="en-US" dirty="0"/>
              <a:t>Strong feelings of self-efficacy reduce reactions to job stress.</a:t>
            </a:r>
          </a:p>
          <a:p>
            <a:endParaRPr lang="en-US" dirty="0"/>
          </a:p>
        </p:txBody>
      </p:sp>
    </p:spTree>
    <p:extLst>
      <p:ext uri="{BB962C8B-B14F-4D97-AF65-F5344CB8AC3E}">
        <p14:creationId xmlns:p14="http://schemas.microsoft.com/office/powerpoint/2010/main" val="3356419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D8CCC-5E7C-43D5-AEBB-244FE8C14E09}"/>
              </a:ext>
            </a:extLst>
          </p:cNvPr>
          <p:cNvSpPr>
            <a:spLocks noGrp="1"/>
          </p:cNvSpPr>
          <p:nvPr>
            <p:ph type="title"/>
          </p:nvPr>
        </p:nvSpPr>
        <p:spPr/>
        <p:txBody>
          <a:bodyPr/>
          <a:lstStyle/>
          <a:p>
            <a:r>
              <a:rPr lang="en-US" dirty="0"/>
              <a:t>Consequences of Stress</a:t>
            </a:r>
          </a:p>
        </p:txBody>
      </p:sp>
      <p:sp>
        <p:nvSpPr>
          <p:cNvPr id="29" name="Line 3">
            <a:extLst>
              <a:ext uri="{FF2B5EF4-FFF2-40B4-BE49-F238E27FC236}">
                <a16:creationId xmlns:a16="http://schemas.microsoft.com/office/drawing/2014/main" id="{A81E8B01-E25E-411D-A1D7-6BA58B71CD6F}"/>
              </a:ext>
            </a:extLst>
          </p:cNvPr>
          <p:cNvSpPr>
            <a:spLocks noChangeShapeType="1"/>
          </p:cNvSpPr>
          <p:nvPr/>
        </p:nvSpPr>
        <p:spPr bwMode="blackWhite">
          <a:xfrm rot="5400000">
            <a:off x="5596729" y="3344863"/>
            <a:ext cx="838200" cy="0"/>
          </a:xfrm>
          <a:prstGeom prst="line">
            <a:avLst/>
          </a:prstGeom>
          <a:noFill/>
          <a:ln w="82550">
            <a:solidFill>
              <a:schemeClr val="tx1"/>
            </a:solidFill>
            <a:round/>
            <a:headEnd/>
            <a:tailEnd type="none" w="sm" len="med"/>
          </a:ln>
          <a:effectLst>
            <a:outerShdw dist="35921" dir="2700000" algn="ctr" rotWithShape="0">
              <a:schemeClr val="bg2">
                <a:alpha val="50000"/>
              </a:schemeClr>
            </a:outerShdw>
          </a:effectLst>
        </p:spPr>
        <p:txBody>
          <a:bodyPr wrap="none" anchor="ctr"/>
          <a:lstStyle/>
          <a:p>
            <a:endParaRPr lang="en-US"/>
          </a:p>
        </p:txBody>
      </p:sp>
      <p:sp>
        <p:nvSpPr>
          <p:cNvPr id="30" name="Text Box 4">
            <a:extLst>
              <a:ext uri="{FF2B5EF4-FFF2-40B4-BE49-F238E27FC236}">
                <a16:creationId xmlns:a16="http://schemas.microsoft.com/office/drawing/2014/main" id="{23B29C8C-160C-4EE1-9B39-DCA7A4C36C5C}"/>
              </a:ext>
            </a:extLst>
          </p:cNvPr>
          <p:cNvSpPr txBox="1">
            <a:spLocks noChangeArrowheads="1"/>
          </p:cNvSpPr>
          <p:nvPr/>
        </p:nvSpPr>
        <p:spPr bwMode="blackWhite">
          <a:xfrm>
            <a:off x="4571999" y="1949450"/>
            <a:ext cx="2895600" cy="831850"/>
          </a:xfrm>
          <a:prstGeom prst="rect">
            <a:avLst/>
          </a:prstGeom>
          <a:solidFill>
            <a:srgbClr val="CC6600"/>
          </a:solidFill>
          <a:ln w="9525">
            <a:solidFill>
              <a:schemeClr val="tx1"/>
            </a:solidFill>
            <a:miter lim="800000"/>
            <a:headEnd/>
            <a:tailEnd/>
          </a:ln>
          <a:effectLst>
            <a:outerShdw dist="107763" dir="2700000" algn="ctr" rotWithShape="0">
              <a:schemeClr val="bg2">
                <a:alpha val="50000"/>
              </a:schemeClr>
            </a:outerShdw>
          </a:effectLst>
        </p:spPr>
        <p:txBody>
          <a:bodyPr anchor="ctr" anchorCtr="1">
            <a:spAutoFit/>
          </a:bodyPr>
          <a:lstStyle/>
          <a:p>
            <a:pPr algn="ctr" eaLnBrk="0" hangingPunct="0">
              <a:spcBef>
                <a:spcPct val="50000"/>
              </a:spcBef>
            </a:pPr>
            <a:r>
              <a:rPr lang="en-US" sz="2400">
                <a:solidFill>
                  <a:srgbClr val="FFFFCC"/>
                </a:solidFill>
                <a:effectLst>
                  <a:outerShdw blurRad="38100" dist="38100" dir="2700000" algn="tl">
                    <a:srgbClr val="000000"/>
                  </a:outerShdw>
                </a:effectLst>
              </a:rPr>
              <a:t>High Levels</a:t>
            </a:r>
            <a:br>
              <a:rPr lang="en-US" sz="2400">
                <a:solidFill>
                  <a:srgbClr val="FFFFCC"/>
                </a:solidFill>
                <a:effectLst>
                  <a:outerShdw blurRad="38100" dist="38100" dir="2700000" algn="tl">
                    <a:srgbClr val="000000"/>
                  </a:outerShdw>
                </a:effectLst>
              </a:rPr>
            </a:br>
            <a:r>
              <a:rPr lang="en-US" sz="2400">
                <a:solidFill>
                  <a:srgbClr val="FFFFCC"/>
                </a:solidFill>
                <a:effectLst>
                  <a:outerShdw blurRad="38100" dist="38100" dir="2700000" algn="tl">
                    <a:srgbClr val="000000"/>
                  </a:outerShdw>
                </a:effectLst>
              </a:rPr>
              <a:t>of Stress</a:t>
            </a:r>
          </a:p>
        </p:txBody>
      </p:sp>
      <p:grpSp>
        <p:nvGrpSpPr>
          <p:cNvPr id="31" name="Group 5">
            <a:extLst>
              <a:ext uri="{FF2B5EF4-FFF2-40B4-BE49-F238E27FC236}">
                <a16:creationId xmlns:a16="http://schemas.microsoft.com/office/drawing/2014/main" id="{BCDA55CB-4928-4CB8-85AC-4B06C65EE053}"/>
              </a:ext>
            </a:extLst>
          </p:cNvPr>
          <p:cNvGrpSpPr>
            <a:grpSpLocks/>
          </p:cNvGrpSpPr>
          <p:nvPr/>
        </p:nvGrpSpPr>
        <p:grpSpPr bwMode="auto">
          <a:xfrm>
            <a:off x="2106610" y="4461598"/>
            <a:ext cx="7826375" cy="1417637"/>
            <a:chOff x="427" y="2515"/>
            <a:chExt cx="4930" cy="893"/>
          </a:xfrm>
        </p:grpSpPr>
        <p:sp>
          <p:nvSpPr>
            <p:cNvPr id="32" name="Text Box 6">
              <a:extLst>
                <a:ext uri="{FF2B5EF4-FFF2-40B4-BE49-F238E27FC236}">
                  <a16:creationId xmlns:a16="http://schemas.microsoft.com/office/drawing/2014/main" id="{9164FC90-E96D-44DB-8316-F0F8A67F46C5}"/>
                </a:ext>
              </a:extLst>
            </p:cNvPr>
            <p:cNvSpPr txBox="1">
              <a:spLocks noChangeArrowheads="1"/>
            </p:cNvSpPr>
            <p:nvPr/>
          </p:nvSpPr>
          <p:spPr bwMode="blackWhite">
            <a:xfrm>
              <a:off x="427" y="2515"/>
              <a:ext cx="1469" cy="866"/>
            </a:xfrm>
            <a:prstGeom prst="rect">
              <a:avLst/>
            </a:prstGeom>
            <a:solidFill>
              <a:srgbClr val="CC3300"/>
            </a:solidFill>
            <a:ln w="952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spcBef>
                  <a:spcPct val="50000"/>
                </a:spcBef>
              </a:pPr>
              <a:r>
                <a:rPr lang="en-US" sz="2000">
                  <a:solidFill>
                    <a:schemeClr val="bg1"/>
                  </a:solidFill>
                  <a:effectLst>
                    <a:outerShdw blurRad="38100" dist="38100" dir="2700000" algn="tl">
                      <a:srgbClr val="000000"/>
                    </a:outerShdw>
                  </a:effectLst>
                </a:rPr>
                <a:t>Physiological</a:t>
              </a:r>
              <a:br>
                <a:rPr lang="en-US" sz="2000">
                  <a:solidFill>
                    <a:schemeClr val="bg1"/>
                  </a:solidFill>
                  <a:effectLst>
                    <a:outerShdw blurRad="38100" dist="38100" dir="2700000" algn="tl">
                      <a:srgbClr val="000000"/>
                    </a:outerShdw>
                  </a:effectLst>
                </a:rPr>
              </a:br>
              <a:r>
                <a:rPr lang="en-US" sz="2000">
                  <a:solidFill>
                    <a:schemeClr val="bg1"/>
                  </a:solidFill>
                  <a:effectLst>
                    <a:outerShdw blurRad="38100" dist="38100" dir="2700000" algn="tl">
                      <a:srgbClr val="000000"/>
                    </a:outerShdw>
                  </a:effectLst>
                </a:rPr>
                <a:t>Symptoms</a:t>
              </a:r>
            </a:p>
          </p:txBody>
        </p:sp>
        <p:sp>
          <p:nvSpPr>
            <p:cNvPr id="33" name="Text Box 7">
              <a:extLst>
                <a:ext uri="{FF2B5EF4-FFF2-40B4-BE49-F238E27FC236}">
                  <a16:creationId xmlns:a16="http://schemas.microsoft.com/office/drawing/2014/main" id="{D9D4B677-B1BB-4449-A1DD-81B72672D957}"/>
                </a:ext>
              </a:extLst>
            </p:cNvPr>
            <p:cNvSpPr txBox="1">
              <a:spLocks noChangeArrowheads="1"/>
            </p:cNvSpPr>
            <p:nvPr/>
          </p:nvSpPr>
          <p:spPr bwMode="blackWhite">
            <a:xfrm>
              <a:off x="3888" y="2542"/>
              <a:ext cx="1469" cy="866"/>
            </a:xfrm>
            <a:prstGeom prst="rect">
              <a:avLst/>
            </a:prstGeom>
            <a:solidFill>
              <a:srgbClr val="006699"/>
            </a:solidFill>
            <a:ln w="952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spcBef>
                  <a:spcPct val="50000"/>
                </a:spcBef>
              </a:pPr>
              <a:r>
                <a:rPr lang="en-US" sz="2000">
                  <a:solidFill>
                    <a:schemeClr val="bg1"/>
                  </a:solidFill>
                  <a:effectLst>
                    <a:outerShdw blurRad="38100" dist="38100" dir="2700000" algn="tl">
                      <a:srgbClr val="000000"/>
                    </a:outerShdw>
                  </a:effectLst>
                </a:rPr>
                <a:t>Behavioral</a:t>
              </a:r>
              <a:br>
                <a:rPr lang="en-US" sz="2000">
                  <a:solidFill>
                    <a:schemeClr val="bg1"/>
                  </a:solidFill>
                  <a:effectLst>
                    <a:outerShdw blurRad="38100" dist="38100" dir="2700000" algn="tl">
                      <a:srgbClr val="000000"/>
                    </a:outerShdw>
                  </a:effectLst>
                </a:rPr>
              </a:br>
              <a:r>
                <a:rPr lang="en-US" sz="2000">
                  <a:solidFill>
                    <a:schemeClr val="bg1"/>
                  </a:solidFill>
                  <a:effectLst>
                    <a:outerShdw blurRad="38100" dist="38100" dir="2700000" algn="tl">
                      <a:srgbClr val="000000"/>
                    </a:outerShdw>
                  </a:effectLst>
                </a:rPr>
                <a:t>Symptoms</a:t>
              </a:r>
            </a:p>
          </p:txBody>
        </p:sp>
        <p:sp>
          <p:nvSpPr>
            <p:cNvPr id="34" name="Text Box 8">
              <a:extLst>
                <a:ext uri="{FF2B5EF4-FFF2-40B4-BE49-F238E27FC236}">
                  <a16:creationId xmlns:a16="http://schemas.microsoft.com/office/drawing/2014/main" id="{9E02A7E2-E5F7-4275-A968-5AA7447EE71D}"/>
                </a:ext>
              </a:extLst>
            </p:cNvPr>
            <p:cNvSpPr txBox="1">
              <a:spLocks noChangeArrowheads="1"/>
            </p:cNvSpPr>
            <p:nvPr/>
          </p:nvSpPr>
          <p:spPr bwMode="blackWhite">
            <a:xfrm>
              <a:off x="2155" y="2518"/>
              <a:ext cx="1469" cy="867"/>
            </a:xfrm>
            <a:prstGeom prst="rect">
              <a:avLst/>
            </a:prstGeom>
            <a:solidFill>
              <a:srgbClr val="339966"/>
            </a:solidFill>
            <a:ln w="952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spcBef>
                  <a:spcPct val="50000"/>
                </a:spcBef>
              </a:pPr>
              <a:r>
                <a:rPr lang="en-US" sz="2000" dirty="0">
                  <a:solidFill>
                    <a:schemeClr val="bg1"/>
                  </a:solidFill>
                  <a:effectLst>
                    <a:outerShdw blurRad="38100" dist="38100" dir="2700000" algn="tl">
                      <a:srgbClr val="000000"/>
                    </a:outerShdw>
                  </a:effectLst>
                </a:rPr>
                <a:t>Psychological</a:t>
              </a:r>
              <a:br>
                <a:rPr lang="en-US" sz="2000" dirty="0">
                  <a:solidFill>
                    <a:schemeClr val="bg1"/>
                  </a:solidFill>
                  <a:effectLst>
                    <a:outerShdw blurRad="38100" dist="38100" dir="2700000" algn="tl">
                      <a:srgbClr val="000000"/>
                    </a:outerShdw>
                  </a:effectLst>
                </a:rPr>
              </a:br>
              <a:r>
                <a:rPr lang="en-US" sz="2000" dirty="0">
                  <a:solidFill>
                    <a:schemeClr val="bg1"/>
                  </a:solidFill>
                  <a:effectLst>
                    <a:outerShdw blurRad="38100" dist="38100" dir="2700000" algn="tl">
                      <a:srgbClr val="000000"/>
                    </a:outerShdw>
                  </a:effectLst>
                </a:rPr>
                <a:t>Symptoms</a:t>
              </a:r>
            </a:p>
          </p:txBody>
        </p:sp>
      </p:grpSp>
      <p:grpSp>
        <p:nvGrpSpPr>
          <p:cNvPr id="35" name="Group 9">
            <a:extLst>
              <a:ext uri="{FF2B5EF4-FFF2-40B4-BE49-F238E27FC236}">
                <a16:creationId xmlns:a16="http://schemas.microsoft.com/office/drawing/2014/main" id="{E9DAB65B-19DA-493E-8D63-973E77C5537D}"/>
              </a:ext>
            </a:extLst>
          </p:cNvPr>
          <p:cNvGrpSpPr>
            <a:grpSpLocks/>
          </p:cNvGrpSpPr>
          <p:nvPr/>
        </p:nvGrpSpPr>
        <p:grpSpPr bwMode="auto">
          <a:xfrm>
            <a:off x="3280567" y="3763963"/>
            <a:ext cx="5486400" cy="625475"/>
            <a:chOff x="1200" y="2168"/>
            <a:chExt cx="3360" cy="456"/>
          </a:xfrm>
        </p:grpSpPr>
        <p:grpSp>
          <p:nvGrpSpPr>
            <p:cNvPr id="36" name="Group 10">
              <a:extLst>
                <a:ext uri="{FF2B5EF4-FFF2-40B4-BE49-F238E27FC236}">
                  <a16:creationId xmlns:a16="http://schemas.microsoft.com/office/drawing/2014/main" id="{E0896F0D-54D0-4F7A-A56A-12A2D6741525}"/>
                </a:ext>
              </a:extLst>
            </p:cNvPr>
            <p:cNvGrpSpPr>
              <a:grpSpLocks/>
            </p:cNvGrpSpPr>
            <p:nvPr/>
          </p:nvGrpSpPr>
          <p:grpSpPr bwMode="auto">
            <a:xfrm rot="5400000">
              <a:off x="2664" y="728"/>
              <a:ext cx="432" cy="3360"/>
              <a:chOff x="4560" y="768"/>
              <a:chExt cx="384" cy="1728"/>
            </a:xfrm>
          </p:grpSpPr>
          <p:sp>
            <p:nvSpPr>
              <p:cNvPr id="38" name="Freeform 11">
                <a:extLst>
                  <a:ext uri="{FF2B5EF4-FFF2-40B4-BE49-F238E27FC236}">
                    <a16:creationId xmlns:a16="http://schemas.microsoft.com/office/drawing/2014/main" id="{27D789A6-5808-4526-A93C-3D1F85B2E12C}"/>
                  </a:ext>
                </a:extLst>
              </p:cNvPr>
              <p:cNvSpPr>
                <a:spLocks/>
              </p:cNvSpPr>
              <p:nvPr/>
            </p:nvSpPr>
            <p:spPr bwMode="blackWhite">
              <a:xfrm>
                <a:off x="4560" y="1632"/>
                <a:ext cx="384" cy="864"/>
              </a:xfrm>
              <a:custGeom>
                <a:avLst/>
                <a:gdLst/>
                <a:ahLst/>
                <a:cxnLst>
                  <a:cxn ang="0">
                    <a:pos x="0" y="0"/>
                  </a:cxn>
                  <a:cxn ang="0">
                    <a:pos x="0" y="864"/>
                  </a:cxn>
                  <a:cxn ang="0">
                    <a:pos x="384" y="864"/>
                  </a:cxn>
                </a:cxnLst>
                <a:rect l="0" t="0" r="r" b="b"/>
                <a:pathLst>
                  <a:path w="384" h="864">
                    <a:moveTo>
                      <a:pt x="0" y="0"/>
                    </a:moveTo>
                    <a:lnTo>
                      <a:pt x="0" y="864"/>
                    </a:lnTo>
                    <a:lnTo>
                      <a:pt x="384" y="864"/>
                    </a:lnTo>
                  </a:path>
                </a:pathLst>
              </a:custGeom>
              <a:noFill/>
              <a:ln w="76200">
                <a:solidFill>
                  <a:schemeClr val="tx1"/>
                </a:solidFill>
                <a:round/>
                <a:headEnd/>
                <a:tailEnd type="triangle" w="sm" len="med"/>
              </a:ln>
              <a:effectLst>
                <a:outerShdw dist="35921" dir="2700000" algn="ctr" rotWithShape="0">
                  <a:schemeClr val="bg2">
                    <a:alpha val="50000"/>
                  </a:schemeClr>
                </a:outerShdw>
              </a:effectLst>
            </p:spPr>
            <p:txBody>
              <a:bodyPr wrap="none" anchor="ctr"/>
              <a:lstStyle/>
              <a:p>
                <a:endParaRPr lang="en-US"/>
              </a:p>
            </p:txBody>
          </p:sp>
          <p:sp>
            <p:nvSpPr>
              <p:cNvPr id="39" name="Freeform 12">
                <a:extLst>
                  <a:ext uri="{FF2B5EF4-FFF2-40B4-BE49-F238E27FC236}">
                    <a16:creationId xmlns:a16="http://schemas.microsoft.com/office/drawing/2014/main" id="{F4D1CB61-07C0-4748-959D-98FECE022592}"/>
                  </a:ext>
                </a:extLst>
              </p:cNvPr>
              <p:cNvSpPr>
                <a:spLocks/>
              </p:cNvSpPr>
              <p:nvPr/>
            </p:nvSpPr>
            <p:spPr bwMode="blackWhite">
              <a:xfrm flipV="1">
                <a:off x="4560" y="768"/>
                <a:ext cx="384" cy="864"/>
              </a:xfrm>
              <a:custGeom>
                <a:avLst/>
                <a:gdLst/>
                <a:ahLst/>
                <a:cxnLst>
                  <a:cxn ang="0">
                    <a:pos x="0" y="0"/>
                  </a:cxn>
                  <a:cxn ang="0">
                    <a:pos x="0" y="864"/>
                  </a:cxn>
                  <a:cxn ang="0">
                    <a:pos x="384" y="864"/>
                  </a:cxn>
                </a:cxnLst>
                <a:rect l="0" t="0" r="r" b="b"/>
                <a:pathLst>
                  <a:path w="384" h="864">
                    <a:moveTo>
                      <a:pt x="0" y="0"/>
                    </a:moveTo>
                    <a:lnTo>
                      <a:pt x="0" y="864"/>
                    </a:lnTo>
                    <a:lnTo>
                      <a:pt x="384" y="864"/>
                    </a:lnTo>
                  </a:path>
                </a:pathLst>
              </a:custGeom>
              <a:noFill/>
              <a:ln w="76200">
                <a:solidFill>
                  <a:schemeClr val="tx1"/>
                </a:solidFill>
                <a:round/>
                <a:headEnd/>
                <a:tailEnd type="triangle" w="sm" len="med"/>
              </a:ln>
              <a:effectLst>
                <a:outerShdw dist="35921" dir="2700000" algn="ctr" rotWithShape="0">
                  <a:schemeClr val="bg2">
                    <a:alpha val="50000"/>
                  </a:schemeClr>
                </a:outerShdw>
              </a:effectLst>
            </p:spPr>
            <p:txBody>
              <a:bodyPr wrap="none" anchor="ctr"/>
              <a:lstStyle/>
              <a:p>
                <a:endParaRPr lang="en-US"/>
              </a:p>
            </p:txBody>
          </p:sp>
        </p:grpSp>
        <p:sp>
          <p:nvSpPr>
            <p:cNvPr id="37" name="Line 13">
              <a:extLst>
                <a:ext uri="{FF2B5EF4-FFF2-40B4-BE49-F238E27FC236}">
                  <a16:creationId xmlns:a16="http://schemas.microsoft.com/office/drawing/2014/main" id="{F3B2B91D-E9D9-45F1-AB7D-FC5A9517232C}"/>
                </a:ext>
              </a:extLst>
            </p:cNvPr>
            <p:cNvSpPr>
              <a:spLocks noChangeShapeType="1"/>
            </p:cNvSpPr>
            <p:nvPr/>
          </p:nvSpPr>
          <p:spPr bwMode="blackWhite">
            <a:xfrm rot="5400000">
              <a:off x="2664" y="2384"/>
              <a:ext cx="432" cy="0"/>
            </a:xfrm>
            <a:prstGeom prst="line">
              <a:avLst/>
            </a:prstGeom>
            <a:noFill/>
            <a:ln w="82550">
              <a:solidFill>
                <a:schemeClr val="tx1"/>
              </a:solidFill>
              <a:round/>
              <a:headEnd/>
              <a:tailEnd type="triangle" w="sm" len="med"/>
            </a:ln>
            <a:effectLst>
              <a:outerShdw dist="35921" dir="2700000" algn="ctr" rotWithShape="0">
                <a:schemeClr val="bg2">
                  <a:alpha val="50000"/>
                </a:schemeClr>
              </a:outerShdw>
            </a:effectLst>
          </p:spPr>
          <p:txBody>
            <a:bodyPr wrap="none" anchor="ctr"/>
            <a:lstStyle/>
            <a:p>
              <a:endParaRPr lang="en-US"/>
            </a:p>
          </p:txBody>
        </p:sp>
      </p:grpSp>
    </p:spTree>
    <p:extLst>
      <p:ext uri="{BB962C8B-B14F-4D97-AF65-F5344CB8AC3E}">
        <p14:creationId xmlns:p14="http://schemas.microsoft.com/office/powerpoint/2010/main" val="397975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up)">
                                      <p:cBhvr>
                                        <p:cTn id="11" dur="500"/>
                                        <p:tgtEl>
                                          <p:spTgt spid="29"/>
                                        </p:tgtEl>
                                      </p:cBhvr>
                                    </p:animEffect>
                                  </p:childTnLst>
                                </p:cTn>
                              </p:par>
                            </p:childTnLst>
                          </p:cTn>
                        </p:par>
                        <p:par>
                          <p:cTn id="12" fill="hold">
                            <p:stCondLst>
                              <p:cond delay="1000"/>
                            </p:stCondLst>
                            <p:childTnLst>
                              <p:par>
                                <p:cTn id="13" presetID="17" presetClass="entr" presetSubtype="1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p:cTn id="15" dur="500" fill="hold"/>
                                        <p:tgtEl>
                                          <p:spTgt spid="35"/>
                                        </p:tgtEl>
                                        <p:attrNameLst>
                                          <p:attrName>ppt_w</p:attrName>
                                        </p:attrNameLst>
                                      </p:cBhvr>
                                      <p:tavLst>
                                        <p:tav tm="0">
                                          <p:val>
                                            <p:fltVal val="0"/>
                                          </p:val>
                                        </p:tav>
                                        <p:tav tm="100000">
                                          <p:val>
                                            <p:strVal val="#ppt_w"/>
                                          </p:val>
                                        </p:tav>
                                      </p:tavLst>
                                    </p:anim>
                                    <p:anim calcmode="lin" valueType="num">
                                      <p:cBhvr>
                                        <p:cTn id="16" dur="500" fill="hold"/>
                                        <p:tgtEl>
                                          <p:spTgt spid="35"/>
                                        </p:tgtEl>
                                        <p:attrNameLst>
                                          <p:attrName>ppt_h</p:attrName>
                                        </p:attrNameLst>
                                      </p:cBhvr>
                                      <p:tavLst>
                                        <p:tav tm="0">
                                          <p:val>
                                            <p:strVal val="#ppt_h"/>
                                          </p:val>
                                        </p:tav>
                                        <p:tav tm="100000">
                                          <p:val>
                                            <p:strVal val="#ppt_h"/>
                                          </p:val>
                                        </p:tav>
                                      </p:tavLst>
                                    </p:anim>
                                  </p:childTnLst>
                                </p:cTn>
                              </p:par>
                            </p:childTnLst>
                          </p:cTn>
                        </p:par>
                        <p:par>
                          <p:cTn id="17" fill="hold">
                            <p:stCondLst>
                              <p:cond delay="1500"/>
                            </p:stCondLst>
                            <p:childTnLst>
                              <p:par>
                                <p:cTn id="18" presetID="22" presetClass="entr" presetSubtype="1" fill="hold" nodeType="after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up)">
                                      <p:cBhvr>
                                        <p:cTn id="2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AE49-E4FE-43CB-B249-6C52F45E7E66}"/>
              </a:ext>
            </a:extLst>
          </p:cNvPr>
          <p:cNvSpPr>
            <a:spLocks noGrp="1"/>
          </p:cNvSpPr>
          <p:nvPr>
            <p:ph type="title"/>
          </p:nvPr>
        </p:nvSpPr>
        <p:spPr/>
        <p:txBody>
          <a:bodyPr/>
          <a:lstStyle/>
          <a:p>
            <a:r>
              <a:rPr lang="en-US" dirty="0"/>
              <a:t>Model of stress </a:t>
            </a:r>
          </a:p>
        </p:txBody>
      </p:sp>
      <p:graphicFrame>
        <p:nvGraphicFramePr>
          <p:cNvPr id="4" name="Object 5">
            <a:extLst>
              <a:ext uri="{FF2B5EF4-FFF2-40B4-BE49-F238E27FC236}">
                <a16:creationId xmlns:a16="http://schemas.microsoft.com/office/drawing/2014/main" id="{935E35ED-83A7-4232-A7CE-C6244A710038}"/>
              </a:ext>
            </a:extLst>
          </p:cNvPr>
          <p:cNvGraphicFramePr>
            <a:graphicFrameLocks noGrp="1" noChangeAspect="1"/>
          </p:cNvGraphicFramePr>
          <p:nvPr>
            <p:ph idx="1"/>
          </p:nvPr>
        </p:nvGraphicFramePr>
        <p:xfrm>
          <a:off x="2513806" y="1991519"/>
          <a:ext cx="7164388" cy="4019550"/>
        </p:xfrm>
        <a:graphic>
          <a:graphicData uri="http://schemas.openxmlformats.org/presentationml/2006/ole">
            <mc:AlternateContent xmlns:mc="http://schemas.openxmlformats.org/markup-compatibility/2006">
              <mc:Choice xmlns:v="urn:schemas-microsoft-com:vml" Requires="v">
                <p:oleObj spid="_x0000_s1029" name="Photo Editor Photo" r:id="rId3" imgW="7163800" imgH="4019048" progId="">
                  <p:embed/>
                </p:oleObj>
              </mc:Choice>
              <mc:Fallback>
                <p:oleObj name="Photo Editor Photo" r:id="rId3" imgW="7163800" imgH="4019048" progId="">
                  <p:embed/>
                  <p:pic>
                    <p:nvPicPr>
                      <p:cNvPr id="29696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3806" y="1991519"/>
                        <a:ext cx="7164388"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05913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95B4F-6E92-4684-8765-7AEB3A662081}"/>
              </a:ext>
            </a:extLst>
          </p:cNvPr>
          <p:cNvSpPr>
            <a:spLocks noGrp="1"/>
          </p:cNvSpPr>
          <p:nvPr>
            <p:ph type="title"/>
          </p:nvPr>
        </p:nvSpPr>
        <p:spPr/>
        <p:txBody>
          <a:bodyPr/>
          <a:lstStyle/>
          <a:p>
            <a:r>
              <a:rPr lang="en-US" dirty="0"/>
              <a:t>Relationship between stress and performance</a:t>
            </a:r>
          </a:p>
        </p:txBody>
      </p:sp>
      <p:graphicFrame>
        <p:nvGraphicFramePr>
          <p:cNvPr id="4" name="Object 6">
            <a:extLst>
              <a:ext uri="{FF2B5EF4-FFF2-40B4-BE49-F238E27FC236}">
                <a16:creationId xmlns:a16="http://schemas.microsoft.com/office/drawing/2014/main" id="{F92A193D-E47E-4941-AE15-4C91E7A54296}"/>
              </a:ext>
            </a:extLst>
          </p:cNvPr>
          <p:cNvGraphicFramePr>
            <a:graphicFrameLocks noGrp="1" noChangeAspect="1"/>
          </p:cNvGraphicFramePr>
          <p:nvPr>
            <p:ph idx="1"/>
            <p:extLst>
              <p:ext uri="{D42A27DB-BD31-4B8C-83A1-F6EECF244321}">
                <p14:modId xmlns:p14="http://schemas.microsoft.com/office/powerpoint/2010/main" val="3175830217"/>
              </p:ext>
            </p:extLst>
          </p:nvPr>
        </p:nvGraphicFramePr>
        <p:xfrm>
          <a:off x="2980373" y="2141537"/>
          <a:ext cx="6231254" cy="4351338"/>
        </p:xfrm>
        <a:graphic>
          <a:graphicData uri="http://schemas.openxmlformats.org/presentationml/2006/ole">
            <mc:AlternateContent xmlns:mc="http://schemas.openxmlformats.org/markup-compatibility/2006">
              <mc:Choice xmlns:v="urn:schemas-microsoft-com:vml" Requires="v">
                <p:oleObj spid="_x0000_s2053" name="Photo Editor Photo" r:id="rId3" imgW="6287378" imgH="4390476" progId="">
                  <p:embed/>
                </p:oleObj>
              </mc:Choice>
              <mc:Fallback>
                <p:oleObj name="Photo Editor Photo" r:id="rId3" imgW="6287378" imgH="4390476" progId="">
                  <p:embed/>
                  <p:pic>
                    <p:nvPicPr>
                      <p:cNvPr id="29799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0373" y="2141537"/>
                        <a:ext cx="6231254"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3361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CFBD-362E-45A0-BA0A-6B88466F4B0A}"/>
              </a:ext>
            </a:extLst>
          </p:cNvPr>
          <p:cNvSpPr>
            <a:spLocks noGrp="1"/>
          </p:cNvSpPr>
          <p:nvPr>
            <p:ph type="title"/>
          </p:nvPr>
        </p:nvSpPr>
        <p:spPr/>
        <p:txBody>
          <a:bodyPr/>
          <a:lstStyle/>
          <a:p>
            <a:r>
              <a:rPr lang="en-US" dirty="0"/>
              <a:t>Types of stress</a:t>
            </a:r>
          </a:p>
        </p:txBody>
      </p:sp>
      <p:sp>
        <p:nvSpPr>
          <p:cNvPr id="3" name="Content Placeholder 2">
            <a:extLst>
              <a:ext uri="{FF2B5EF4-FFF2-40B4-BE49-F238E27FC236}">
                <a16:creationId xmlns:a16="http://schemas.microsoft.com/office/drawing/2014/main" id="{80677F65-E19A-457B-8AF3-2E06012EB094}"/>
              </a:ext>
            </a:extLst>
          </p:cNvPr>
          <p:cNvSpPr>
            <a:spLocks noGrp="1"/>
          </p:cNvSpPr>
          <p:nvPr>
            <p:ph idx="1"/>
          </p:nvPr>
        </p:nvSpPr>
        <p:spPr/>
        <p:txBody>
          <a:bodyPr>
            <a:normAutofit fontScale="70000" lnSpcReduction="20000"/>
          </a:bodyPr>
          <a:lstStyle/>
          <a:p>
            <a:pPr algn="l"/>
            <a:r>
              <a:rPr lang="en-US" b="0" i="0" dirty="0">
                <a:solidFill>
                  <a:srgbClr val="242E50"/>
                </a:solidFill>
                <a:effectLst/>
                <a:latin typeface="Nunito Sans"/>
              </a:rPr>
              <a:t>There are three main types of stress. These are acute, episodic acute, and chronic stress. We explore each type of stress below.</a:t>
            </a:r>
          </a:p>
          <a:p>
            <a:pPr algn="l"/>
            <a:r>
              <a:rPr lang="en-US" b="1" i="0" dirty="0">
                <a:solidFill>
                  <a:srgbClr val="242E50"/>
                </a:solidFill>
                <a:effectLst/>
                <a:latin typeface="Nunito Sans"/>
              </a:rPr>
              <a:t>Acute stress</a:t>
            </a:r>
          </a:p>
          <a:p>
            <a:pPr algn="l"/>
            <a:r>
              <a:rPr lang="en-US" b="0" i="0" dirty="0">
                <a:solidFill>
                  <a:srgbClr val="242E50"/>
                </a:solidFill>
                <a:effectLst/>
                <a:latin typeface="Nunito Sans"/>
              </a:rPr>
              <a:t>The most common type of stress, acute stress, can be helpful in short doses. It is the body’s response to a recent or anticipated challenge or unexpected event.</a:t>
            </a:r>
          </a:p>
          <a:p>
            <a:pPr algn="l"/>
            <a:r>
              <a:rPr lang="en-US" b="0" i="0" dirty="0">
                <a:solidFill>
                  <a:srgbClr val="242E50"/>
                </a:solidFill>
                <a:effectLst/>
                <a:latin typeface="Nunito Sans"/>
              </a:rPr>
              <a:t>Common symptoms of acute stress include: </a:t>
            </a:r>
          </a:p>
          <a:p>
            <a:pPr algn="l">
              <a:buFont typeface="Arial" panose="020B0604020202020204" pitchFamily="34" charset="0"/>
              <a:buChar char="•"/>
            </a:pPr>
            <a:r>
              <a:rPr lang="en-US" b="0" i="0" dirty="0">
                <a:solidFill>
                  <a:srgbClr val="242E50"/>
                </a:solidFill>
                <a:effectLst/>
                <a:latin typeface="Nunito Sans"/>
              </a:rPr>
              <a:t>emotional distress</a:t>
            </a:r>
            <a:br>
              <a:rPr lang="en-US" b="0" i="0" dirty="0">
                <a:solidFill>
                  <a:srgbClr val="242E50"/>
                </a:solidFill>
                <a:effectLst/>
                <a:latin typeface="Nunito Sans"/>
              </a:rPr>
            </a:br>
            <a:endParaRPr lang="en-US" b="0" i="0" dirty="0">
              <a:solidFill>
                <a:srgbClr val="242E50"/>
              </a:solidFill>
              <a:effectLst/>
              <a:latin typeface="Nunito Sans"/>
            </a:endParaRPr>
          </a:p>
          <a:p>
            <a:pPr algn="l">
              <a:buFont typeface="Arial" panose="020B0604020202020204" pitchFamily="34" charset="0"/>
              <a:buChar char="•"/>
            </a:pPr>
            <a:r>
              <a:rPr lang="en-US" b="0" i="0" dirty="0">
                <a:solidFill>
                  <a:srgbClr val="242E50"/>
                </a:solidFill>
                <a:effectLst/>
                <a:latin typeface="Nunito Sans"/>
              </a:rPr>
              <a:t>muscle tension</a:t>
            </a:r>
            <a:br>
              <a:rPr lang="en-US" b="0" i="0" dirty="0">
                <a:solidFill>
                  <a:srgbClr val="242E50"/>
                </a:solidFill>
                <a:effectLst/>
                <a:latin typeface="Nunito Sans"/>
              </a:rPr>
            </a:br>
            <a:endParaRPr lang="en-US" b="0" i="0" dirty="0">
              <a:solidFill>
                <a:srgbClr val="242E50"/>
              </a:solidFill>
              <a:effectLst/>
              <a:latin typeface="Nunito Sans"/>
            </a:endParaRPr>
          </a:p>
          <a:p>
            <a:pPr algn="l">
              <a:buFont typeface="Arial" panose="020B0604020202020204" pitchFamily="34" charset="0"/>
              <a:buChar char="•"/>
            </a:pPr>
            <a:r>
              <a:rPr lang="en-US" b="0" i="0" dirty="0">
                <a:solidFill>
                  <a:srgbClr val="242E50"/>
                </a:solidFill>
                <a:effectLst/>
                <a:latin typeface="Nunito Sans"/>
              </a:rPr>
              <a:t>headache, back pain, or jaw ache</a:t>
            </a:r>
            <a:br>
              <a:rPr lang="en-US" b="0" i="0" dirty="0">
                <a:solidFill>
                  <a:srgbClr val="242E50"/>
                </a:solidFill>
                <a:effectLst/>
                <a:latin typeface="Nunito Sans"/>
              </a:rPr>
            </a:br>
            <a:endParaRPr lang="en-US" b="0" i="0" dirty="0">
              <a:solidFill>
                <a:srgbClr val="242E50"/>
              </a:solidFill>
              <a:effectLst/>
              <a:latin typeface="Nunito Sans"/>
            </a:endParaRPr>
          </a:p>
          <a:p>
            <a:pPr algn="l">
              <a:buFont typeface="Arial" panose="020B0604020202020204" pitchFamily="34" charset="0"/>
              <a:buChar char="•"/>
            </a:pPr>
            <a:r>
              <a:rPr lang="en-US" b="0" i="0" dirty="0">
                <a:solidFill>
                  <a:srgbClr val="242E50"/>
                </a:solidFill>
                <a:effectLst/>
                <a:latin typeface="Nunito Sans"/>
              </a:rPr>
              <a:t>stomach upset</a:t>
            </a:r>
            <a:br>
              <a:rPr lang="en-US" b="0" i="0" dirty="0">
                <a:solidFill>
                  <a:srgbClr val="242E50"/>
                </a:solidFill>
                <a:effectLst/>
                <a:latin typeface="Nunito Sans"/>
              </a:rPr>
            </a:br>
            <a:endParaRPr lang="en-US" b="0" i="0" dirty="0">
              <a:solidFill>
                <a:srgbClr val="242E50"/>
              </a:solidFill>
              <a:effectLst/>
              <a:latin typeface="Nunito Sans"/>
            </a:endParaRPr>
          </a:p>
          <a:p>
            <a:pPr algn="l">
              <a:buFont typeface="Arial" panose="020B0604020202020204" pitchFamily="34" charset="0"/>
              <a:buChar char="•"/>
            </a:pPr>
            <a:r>
              <a:rPr lang="en-US" b="0" i="0" dirty="0">
                <a:solidFill>
                  <a:srgbClr val="242E50"/>
                </a:solidFill>
                <a:effectLst/>
                <a:latin typeface="Nunito Sans"/>
              </a:rPr>
              <a:t>rapid heartbeat</a:t>
            </a:r>
          </a:p>
          <a:p>
            <a:endParaRPr lang="en-US" dirty="0"/>
          </a:p>
        </p:txBody>
      </p:sp>
    </p:spTree>
    <p:extLst>
      <p:ext uri="{BB962C8B-B14F-4D97-AF65-F5344CB8AC3E}">
        <p14:creationId xmlns:p14="http://schemas.microsoft.com/office/powerpoint/2010/main" val="2472517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2D2B-75AC-4E30-93CF-B21DA921929C}"/>
              </a:ext>
            </a:extLst>
          </p:cNvPr>
          <p:cNvSpPr>
            <a:spLocks noGrp="1"/>
          </p:cNvSpPr>
          <p:nvPr>
            <p:ph type="title"/>
          </p:nvPr>
        </p:nvSpPr>
        <p:spPr/>
        <p:txBody>
          <a:bodyPr/>
          <a:lstStyle/>
          <a:p>
            <a:r>
              <a:rPr lang="en-US" dirty="0"/>
              <a:t>Types of stress</a:t>
            </a:r>
          </a:p>
        </p:txBody>
      </p:sp>
      <p:sp>
        <p:nvSpPr>
          <p:cNvPr id="3" name="Content Placeholder 2">
            <a:extLst>
              <a:ext uri="{FF2B5EF4-FFF2-40B4-BE49-F238E27FC236}">
                <a16:creationId xmlns:a16="http://schemas.microsoft.com/office/drawing/2014/main" id="{A2B5BFF8-8426-4B37-9859-14F073F29812}"/>
              </a:ext>
            </a:extLst>
          </p:cNvPr>
          <p:cNvSpPr>
            <a:spLocks noGrp="1"/>
          </p:cNvSpPr>
          <p:nvPr>
            <p:ph idx="1"/>
          </p:nvPr>
        </p:nvSpPr>
        <p:spPr/>
        <p:txBody>
          <a:bodyPr>
            <a:normAutofit fontScale="77500" lnSpcReduction="20000"/>
          </a:bodyPr>
          <a:lstStyle/>
          <a:p>
            <a:pPr algn="l"/>
            <a:r>
              <a:rPr lang="en-US" b="1" i="0" dirty="0">
                <a:solidFill>
                  <a:srgbClr val="242E50"/>
                </a:solidFill>
                <a:effectLst/>
                <a:latin typeface="Nunito Sans"/>
              </a:rPr>
              <a:t>Episodic acute stress</a:t>
            </a:r>
          </a:p>
          <a:p>
            <a:pPr marL="0" indent="0" algn="l">
              <a:buNone/>
            </a:pPr>
            <a:endParaRPr lang="en-US" b="1" i="0" dirty="0">
              <a:solidFill>
                <a:srgbClr val="242E50"/>
              </a:solidFill>
              <a:effectLst/>
              <a:latin typeface="Nunito Sans"/>
            </a:endParaRPr>
          </a:p>
          <a:p>
            <a:pPr algn="l"/>
            <a:r>
              <a:rPr lang="en-US" b="0" i="0" dirty="0">
                <a:solidFill>
                  <a:srgbClr val="242E50"/>
                </a:solidFill>
                <a:effectLst/>
                <a:latin typeface="Nunito Sans"/>
              </a:rPr>
              <a:t>Episodic acute stress is when a person experiences acute stress frequently.</a:t>
            </a:r>
          </a:p>
          <a:p>
            <a:pPr algn="l"/>
            <a:r>
              <a:rPr lang="en-US" b="0" i="0" dirty="0">
                <a:solidFill>
                  <a:srgbClr val="242E50"/>
                </a:solidFill>
                <a:effectLst/>
                <a:latin typeface="Nunito Sans"/>
              </a:rPr>
              <a:t>If you have episodic acute stress, you may feel like you are always under pressure or that things are always going wrong. This can be exhausting, both physically and mentally.</a:t>
            </a:r>
          </a:p>
          <a:p>
            <a:pPr algn="l"/>
            <a:r>
              <a:rPr lang="en-US" b="0" i="0" dirty="0">
                <a:solidFill>
                  <a:srgbClr val="242E50"/>
                </a:solidFill>
                <a:effectLst/>
                <a:latin typeface="Nunito Sans"/>
              </a:rPr>
              <a:t>Experiencing episodic acute stress symptoms may affect the way you behave towards others. Left untreated, episodic acute stress can lead to:</a:t>
            </a:r>
          </a:p>
          <a:p>
            <a:pPr algn="l">
              <a:buFont typeface="Arial" panose="020B0604020202020204" pitchFamily="34" charset="0"/>
              <a:buChar char="•"/>
            </a:pPr>
            <a:r>
              <a:rPr lang="en-US" b="0" i="0" dirty="0">
                <a:solidFill>
                  <a:srgbClr val="242E50"/>
                </a:solidFill>
                <a:effectLst/>
                <a:latin typeface="Nunito Sans"/>
              </a:rPr>
              <a:t>irritability</a:t>
            </a:r>
            <a:br>
              <a:rPr lang="en-US" b="0" i="0" dirty="0">
                <a:solidFill>
                  <a:srgbClr val="242E50"/>
                </a:solidFill>
                <a:effectLst/>
                <a:latin typeface="Nunito Sans"/>
              </a:rPr>
            </a:br>
            <a:endParaRPr lang="en-US" b="0" i="0" dirty="0">
              <a:solidFill>
                <a:srgbClr val="242E50"/>
              </a:solidFill>
              <a:effectLst/>
              <a:latin typeface="Nunito Sans"/>
            </a:endParaRPr>
          </a:p>
          <a:p>
            <a:pPr algn="l">
              <a:buFont typeface="Arial" panose="020B0604020202020204" pitchFamily="34" charset="0"/>
              <a:buChar char="•"/>
            </a:pPr>
            <a:r>
              <a:rPr lang="en-US" b="0" i="0" dirty="0">
                <a:solidFill>
                  <a:srgbClr val="242E50"/>
                </a:solidFill>
                <a:effectLst/>
                <a:latin typeface="Nunito Sans"/>
              </a:rPr>
              <a:t>unintended hostility</a:t>
            </a:r>
            <a:br>
              <a:rPr lang="en-US" b="0" i="0" dirty="0">
                <a:solidFill>
                  <a:srgbClr val="242E50"/>
                </a:solidFill>
                <a:effectLst/>
                <a:latin typeface="Nunito Sans"/>
              </a:rPr>
            </a:br>
            <a:endParaRPr lang="en-US" b="0" i="0" dirty="0">
              <a:solidFill>
                <a:srgbClr val="242E50"/>
              </a:solidFill>
              <a:effectLst/>
              <a:latin typeface="Nunito Sans"/>
            </a:endParaRPr>
          </a:p>
          <a:p>
            <a:pPr algn="l">
              <a:buFont typeface="Arial" panose="020B0604020202020204" pitchFamily="34" charset="0"/>
              <a:buChar char="•"/>
            </a:pPr>
            <a:r>
              <a:rPr lang="en-US" b="0" i="0" dirty="0">
                <a:solidFill>
                  <a:srgbClr val="242E50"/>
                </a:solidFill>
                <a:effectLst/>
                <a:latin typeface="Nunito Sans"/>
              </a:rPr>
              <a:t>relationship problems</a:t>
            </a:r>
          </a:p>
          <a:p>
            <a:endParaRPr lang="en-US" dirty="0"/>
          </a:p>
        </p:txBody>
      </p:sp>
    </p:spTree>
    <p:extLst>
      <p:ext uri="{BB962C8B-B14F-4D97-AF65-F5344CB8AC3E}">
        <p14:creationId xmlns:p14="http://schemas.microsoft.com/office/powerpoint/2010/main" val="4119505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764FE-740B-4800-923D-87FD7043C0CE}"/>
              </a:ext>
            </a:extLst>
          </p:cNvPr>
          <p:cNvSpPr>
            <a:spLocks noGrp="1"/>
          </p:cNvSpPr>
          <p:nvPr>
            <p:ph type="title"/>
          </p:nvPr>
        </p:nvSpPr>
        <p:spPr/>
        <p:txBody>
          <a:bodyPr/>
          <a:lstStyle/>
          <a:p>
            <a:r>
              <a:rPr lang="en-US" dirty="0"/>
              <a:t>Types of stress</a:t>
            </a:r>
          </a:p>
        </p:txBody>
      </p:sp>
      <p:sp>
        <p:nvSpPr>
          <p:cNvPr id="3" name="Content Placeholder 2">
            <a:extLst>
              <a:ext uri="{FF2B5EF4-FFF2-40B4-BE49-F238E27FC236}">
                <a16:creationId xmlns:a16="http://schemas.microsoft.com/office/drawing/2014/main" id="{D7D87ED0-A1A7-4D97-AC49-301BA4D79F79}"/>
              </a:ext>
            </a:extLst>
          </p:cNvPr>
          <p:cNvSpPr>
            <a:spLocks noGrp="1"/>
          </p:cNvSpPr>
          <p:nvPr>
            <p:ph idx="1"/>
          </p:nvPr>
        </p:nvSpPr>
        <p:spPr/>
        <p:txBody>
          <a:bodyPr>
            <a:normAutofit fontScale="92500" lnSpcReduction="10000"/>
          </a:bodyPr>
          <a:lstStyle/>
          <a:p>
            <a:pPr algn="l"/>
            <a:r>
              <a:rPr lang="en-US" b="1" i="0" dirty="0">
                <a:solidFill>
                  <a:srgbClr val="242E50"/>
                </a:solidFill>
                <a:effectLst/>
                <a:latin typeface="Nunito Sans"/>
              </a:rPr>
              <a:t>Chronic stress</a:t>
            </a:r>
          </a:p>
          <a:p>
            <a:pPr algn="l"/>
            <a:r>
              <a:rPr lang="en-US" b="0" i="0" dirty="0">
                <a:solidFill>
                  <a:srgbClr val="242E50"/>
                </a:solidFill>
                <a:effectLst/>
                <a:latin typeface="Nunito Sans"/>
              </a:rPr>
              <a:t>Chronic stress is ongoing stress resulting from long-term emotional pressure. For example, a stressful job, unhappy family situation, or money problems.</a:t>
            </a:r>
          </a:p>
          <a:p>
            <a:pPr algn="l"/>
            <a:r>
              <a:rPr lang="en-US" b="0" i="0" dirty="0">
                <a:solidFill>
                  <a:srgbClr val="242E50"/>
                </a:solidFill>
                <a:effectLst/>
                <a:latin typeface="Nunito Sans"/>
              </a:rPr>
              <a:t>If you have chronic stress, your body experiences the fight or flight response too frequently to recover between episodes. This means your nervous system is constantly aroused, which is not good for your health.</a:t>
            </a:r>
          </a:p>
          <a:p>
            <a:pPr algn="l"/>
            <a:r>
              <a:rPr lang="en-US" b="0" i="0" dirty="0">
                <a:solidFill>
                  <a:srgbClr val="242E50"/>
                </a:solidFill>
                <a:effectLst/>
                <a:latin typeface="Nunito Sans"/>
              </a:rPr>
              <a:t>Left untreated, chronic stress can cause physical health problems. </a:t>
            </a:r>
            <a:r>
              <a:rPr lang="en-US" b="1" i="0" u="none" strike="noStrike" dirty="0">
                <a:solidFill>
                  <a:srgbClr val="347E96"/>
                </a:solidFill>
                <a:effectLst/>
                <a:latin typeface="Nunito Sans"/>
                <a:hlinkClick r:id="rId2"/>
              </a:rPr>
              <a:t>Research</a:t>
            </a:r>
            <a:r>
              <a:rPr lang="en-US" b="0" i="0" dirty="0">
                <a:solidFill>
                  <a:srgbClr val="242E50"/>
                </a:solidFill>
                <a:effectLst/>
                <a:latin typeface="Nunito Sans"/>
              </a:rPr>
              <a:t> links chronic stress to heart disease and problems with the immune system. Up to </a:t>
            </a:r>
            <a:r>
              <a:rPr lang="en-US" b="1" i="0" u="sng" dirty="0">
                <a:solidFill>
                  <a:srgbClr val="347E96"/>
                </a:solidFill>
                <a:effectLst/>
                <a:latin typeface="Nunito Sans"/>
                <a:hlinkClick r:id="rId3"/>
              </a:rPr>
              <a:t>43 percent</a:t>
            </a:r>
            <a:r>
              <a:rPr lang="en-US" b="0" i="0" dirty="0">
                <a:solidFill>
                  <a:srgbClr val="242E50"/>
                </a:solidFill>
                <a:effectLst/>
                <a:latin typeface="Nunito Sans"/>
              </a:rPr>
              <a:t> of adults experience adverse health effects from stress.</a:t>
            </a:r>
          </a:p>
          <a:p>
            <a:pPr marL="0" indent="0">
              <a:buNone/>
            </a:pPr>
            <a:endParaRPr lang="en-US" dirty="0"/>
          </a:p>
        </p:txBody>
      </p:sp>
    </p:spTree>
    <p:extLst>
      <p:ext uri="{BB962C8B-B14F-4D97-AF65-F5344CB8AC3E}">
        <p14:creationId xmlns:p14="http://schemas.microsoft.com/office/powerpoint/2010/main" val="2078180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5E87-8803-43BB-A887-A4E83BF9E17C}"/>
              </a:ext>
            </a:extLst>
          </p:cNvPr>
          <p:cNvSpPr>
            <a:spLocks noGrp="1"/>
          </p:cNvSpPr>
          <p:nvPr>
            <p:ph type="title"/>
          </p:nvPr>
        </p:nvSpPr>
        <p:spPr/>
        <p:txBody>
          <a:bodyPr/>
          <a:lstStyle/>
          <a:p>
            <a:r>
              <a:rPr lang="en-US" dirty="0"/>
              <a:t>MANAGING STRESS</a:t>
            </a:r>
          </a:p>
        </p:txBody>
      </p:sp>
      <p:sp>
        <p:nvSpPr>
          <p:cNvPr id="3" name="Content Placeholder 2">
            <a:extLst>
              <a:ext uri="{FF2B5EF4-FFF2-40B4-BE49-F238E27FC236}">
                <a16:creationId xmlns:a16="http://schemas.microsoft.com/office/drawing/2014/main" id="{4BEB62BF-9674-4722-ACAF-1F86D2289DB0}"/>
              </a:ext>
            </a:extLst>
          </p:cNvPr>
          <p:cNvSpPr>
            <a:spLocks noGrp="1"/>
          </p:cNvSpPr>
          <p:nvPr>
            <p:ph idx="1"/>
          </p:nvPr>
        </p:nvSpPr>
        <p:spPr/>
        <p:txBody>
          <a:bodyPr/>
          <a:lstStyle/>
          <a:p>
            <a:r>
              <a:rPr lang="en-US" b="1" dirty="0"/>
              <a:t>Individual Approaches</a:t>
            </a:r>
          </a:p>
          <a:p>
            <a:pPr lvl="1"/>
            <a:r>
              <a:rPr lang="en-US" dirty="0"/>
              <a:t>Implementing time management</a:t>
            </a:r>
          </a:p>
          <a:p>
            <a:pPr lvl="1"/>
            <a:r>
              <a:rPr lang="en-US" dirty="0"/>
              <a:t>Increasing physical exercise</a:t>
            </a:r>
          </a:p>
          <a:p>
            <a:pPr lvl="1"/>
            <a:r>
              <a:rPr lang="en-US" dirty="0"/>
              <a:t>Relaxation training</a:t>
            </a:r>
          </a:p>
          <a:p>
            <a:pPr lvl="1"/>
            <a:r>
              <a:rPr lang="en-US" dirty="0"/>
              <a:t>Expanding social support network</a:t>
            </a:r>
          </a:p>
          <a:p>
            <a:endParaRPr lang="en-US" dirty="0"/>
          </a:p>
        </p:txBody>
      </p:sp>
    </p:spTree>
    <p:extLst>
      <p:ext uri="{BB962C8B-B14F-4D97-AF65-F5344CB8AC3E}">
        <p14:creationId xmlns:p14="http://schemas.microsoft.com/office/powerpoint/2010/main" val="858422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76C9-74C0-4BEF-A90A-5AD7075A49FC}"/>
              </a:ext>
            </a:extLst>
          </p:cNvPr>
          <p:cNvSpPr>
            <a:spLocks noGrp="1"/>
          </p:cNvSpPr>
          <p:nvPr>
            <p:ph type="title"/>
          </p:nvPr>
        </p:nvSpPr>
        <p:spPr/>
        <p:txBody>
          <a:bodyPr/>
          <a:lstStyle/>
          <a:p>
            <a:r>
              <a:rPr lang="en-US" dirty="0"/>
              <a:t>MANAGING STRESS</a:t>
            </a:r>
          </a:p>
        </p:txBody>
      </p:sp>
      <p:sp>
        <p:nvSpPr>
          <p:cNvPr id="3" name="Content Placeholder 2">
            <a:extLst>
              <a:ext uri="{FF2B5EF4-FFF2-40B4-BE49-F238E27FC236}">
                <a16:creationId xmlns:a16="http://schemas.microsoft.com/office/drawing/2014/main" id="{3248813C-A0E2-47C6-B940-677A1801A786}"/>
              </a:ext>
            </a:extLst>
          </p:cNvPr>
          <p:cNvSpPr>
            <a:spLocks noGrp="1"/>
          </p:cNvSpPr>
          <p:nvPr>
            <p:ph idx="1"/>
          </p:nvPr>
        </p:nvSpPr>
        <p:spPr/>
        <p:txBody>
          <a:bodyPr/>
          <a:lstStyle/>
          <a:p>
            <a:r>
              <a:rPr lang="en-US" b="1" dirty="0"/>
              <a:t>Organizational Approaches</a:t>
            </a:r>
          </a:p>
          <a:p>
            <a:pPr lvl="1"/>
            <a:r>
              <a:rPr lang="en-US" dirty="0"/>
              <a:t>Improved personnel selection and job placement</a:t>
            </a:r>
          </a:p>
          <a:p>
            <a:pPr lvl="1"/>
            <a:r>
              <a:rPr lang="en-US" dirty="0"/>
              <a:t>Training</a:t>
            </a:r>
          </a:p>
          <a:p>
            <a:pPr lvl="1"/>
            <a:r>
              <a:rPr lang="en-US" dirty="0"/>
              <a:t>Use of realistic goal setting</a:t>
            </a:r>
          </a:p>
          <a:p>
            <a:pPr lvl="1"/>
            <a:r>
              <a:rPr lang="en-US" dirty="0"/>
              <a:t>Redesigning of jobs</a:t>
            </a:r>
          </a:p>
          <a:p>
            <a:pPr lvl="1"/>
            <a:r>
              <a:rPr lang="en-US" dirty="0"/>
              <a:t>Increased employee involvement</a:t>
            </a:r>
          </a:p>
          <a:p>
            <a:pPr lvl="1"/>
            <a:r>
              <a:rPr lang="en-US" dirty="0"/>
              <a:t>Improved organizational communication</a:t>
            </a:r>
          </a:p>
          <a:p>
            <a:pPr lvl="1"/>
            <a:r>
              <a:rPr lang="en-US" dirty="0"/>
              <a:t>Offering employee sabbaticals</a:t>
            </a:r>
          </a:p>
          <a:p>
            <a:pPr lvl="1"/>
            <a:r>
              <a:rPr lang="en-US" dirty="0"/>
              <a:t>Establishment of corporate wellness programs</a:t>
            </a:r>
          </a:p>
          <a:p>
            <a:endParaRPr lang="en-US" dirty="0"/>
          </a:p>
        </p:txBody>
      </p:sp>
    </p:spTree>
    <p:extLst>
      <p:ext uri="{BB962C8B-B14F-4D97-AF65-F5344CB8AC3E}">
        <p14:creationId xmlns:p14="http://schemas.microsoft.com/office/powerpoint/2010/main" val="2819300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084A33CE-988C-4206-8EBA-FA1FC93135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3203" y="1913587"/>
            <a:ext cx="4489306" cy="3362646"/>
          </a:xfrm>
        </p:spPr>
      </p:pic>
    </p:spTree>
    <p:extLst>
      <p:ext uri="{BB962C8B-B14F-4D97-AF65-F5344CB8AC3E}">
        <p14:creationId xmlns:p14="http://schemas.microsoft.com/office/powerpoint/2010/main" val="1083937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8F58-A2D9-4812-AB75-0D0607A2D3A1}"/>
              </a:ext>
            </a:extLst>
          </p:cNvPr>
          <p:cNvSpPr>
            <a:spLocks noGrp="1"/>
          </p:cNvSpPr>
          <p:nvPr>
            <p:ph type="title"/>
          </p:nvPr>
        </p:nvSpPr>
        <p:spPr/>
        <p:txBody>
          <a:bodyPr/>
          <a:lstStyle/>
          <a:p>
            <a:r>
              <a:rPr lang="en-US" dirty="0"/>
              <a:t>CONFLICT </a:t>
            </a:r>
          </a:p>
        </p:txBody>
      </p:sp>
      <p:sp>
        <p:nvSpPr>
          <p:cNvPr id="3" name="Content Placeholder 2">
            <a:extLst>
              <a:ext uri="{FF2B5EF4-FFF2-40B4-BE49-F238E27FC236}">
                <a16:creationId xmlns:a16="http://schemas.microsoft.com/office/drawing/2014/main" id="{11B0C343-67BB-408F-81F3-A6ECC93DB8F1}"/>
              </a:ext>
            </a:extLst>
          </p:cNvPr>
          <p:cNvSpPr>
            <a:spLocks noGrp="1"/>
          </p:cNvSpPr>
          <p:nvPr>
            <p:ph idx="1"/>
          </p:nvPr>
        </p:nvSpPr>
        <p:spPr/>
        <p:txBody>
          <a:bodyPr/>
          <a:lstStyle/>
          <a:p>
            <a:pPr marL="457200" lvl="1" indent="0">
              <a:buNone/>
            </a:pPr>
            <a:r>
              <a:rPr lang="en-US" dirty="0"/>
              <a:t>Is a process that begins when one party perceives that another party has negatively affected, or is about to negatively affect, something that the first party cares about.</a:t>
            </a:r>
          </a:p>
          <a:p>
            <a:pPr lvl="2"/>
            <a:r>
              <a:rPr lang="en-US" dirty="0"/>
              <a:t>Is that point in an ongoing activity when an interaction “crosses over” to become an interparty conflict.</a:t>
            </a:r>
          </a:p>
          <a:p>
            <a:pPr lvl="1"/>
            <a:r>
              <a:rPr lang="en-US" dirty="0"/>
              <a:t>Encompasses a wide range of conflicts that people experience in organizations</a:t>
            </a:r>
          </a:p>
          <a:p>
            <a:pPr lvl="2"/>
            <a:r>
              <a:rPr lang="en-US" dirty="0"/>
              <a:t>Incompatibility of goals</a:t>
            </a:r>
          </a:p>
          <a:p>
            <a:pPr lvl="2"/>
            <a:r>
              <a:rPr lang="en-US" dirty="0"/>
              <a:t>Differences over interpretations of facts</a:t>
            </a:r>
          </a:p>
          <a:p>
            <a:pPr marL="0" indent="0">
              <a:buNone/>
            </a:pPr>
            <a:endParaRPr lang="en-US" dirty="0"/>
          </a:p>
        </p:txBody>
      </p:sp>
    </p:spTree>
    <p:extLst>
      <p:ext uri="{BB962C8B-B14F-4D97-AF65-F5344CB8AC3E}">
        <p14:creationId xmlns:p14="http://schemas.microsoft.com/office/powerpoint/2010/main" val="3922480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2005-0CD1-4BF9-B229-693338A80AE0}"/>
              </a:ext>
            </a:extLst>
          </p:cNvPr>
          <p:cNvSpPr>
            <a:spLocks noGrp="1"/>
          </p:cNvSpPr>
          <p:nvPr>
            <p:ph type="title"/>
          </p:nvPr>
        </p:nvSpPr>
        <p:spPr/>
        <p:txBody>
          <a:bodyPr/>
          <a:lstStyle/>
          <a:p>
            <a:r>
              <a:rPr lang="en-US" dirty="0"/>
              <a:t>Transitions in Conflict Thought</a:t>
            </a:r>
          </a:p>
        </p:txBody>
      </p:sp>
      <p:sp>
        <p:nvSpPr>
          <p:cNvPr id="3" name="Content Placeholder 2">
            <a:extLst>
              <a:ext uri="{FF2B5EF4-FFF2-40B4-BE49-F238E27FC236}">
                <a16:creationId xmlns:a16="http://schemas.microsoft.com/office/drawing/2014/main" id="{8661C8EF-63A1-4D9C-99F2-0858661E767B}"/>
              </a:ext>
            </a:extLst>
          </p:cNvPr>
          <p:cNvSpPr>
            <a:spLocks noGrp="1"/>
          </p:cNvSpPr>
          <p:nvPr>
            <p:ph idx="1"/>
          </p:nvPr>
        </p:nvSpPr>
        <p:spPr/>
        <p:txBody>
          <a:bodyPr>
            <a:normAutofit lnSpcReduction="10000"/>
          </a:bodyPr>
          <a:lstStyle/>
          <a:p>
            <a:r>
              <a:rPr lang="en-US" dirty="0"/>
              <a:t>Traditional View </a:t>
            </a:r>
          </a:p>
          <a:p>
            <a:r>
              <a:rPr lang="en-US" dirty="0"/>
              <a:t>The traditional view of conflicts has been around since late nineteenth century. According to this view, the conflicts are always bad for an organization. It always leads to failure and always has a negative impact on the performance of an organization. According to this view, a conflict is synonymous to violence, destruction and irrationality. According to the traditional view, a conflict must always be avoided at all costs. The manager should try to reduce, suppress or eliminate it. The manager is allowed to take authoritative approach to rid the organization of conflicts. The problem with this view is that the root cause of the conflict is left undetermined.</a:t>
            </a:r>
          </a:p>
        </p:txBody>
      </p:sp>
    </p:spTree>
    <p:extLst>
      <p:ext uri="{BB962C8B-B14F-4D97-AF65-F5344CB8AC3E}">
        <p14:creationId xmlns:p14="http://schemas.microsoft.com/office/powerpoint/2010/main" val="3397653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BB1B2-3288-4A2C-837B-D539E48C8E4F}"/>
              </a:ext>
            </a:extLst>
          </p:cNvPr>
          <p:cNvSpPr>
            <a:spLocks noGrp="1"/>
          </p:cNvSpPr>
          <p:nvPr>
            <p:ph type="title"/>
          </p:nvPr>
        </p:nvSpPr>
        <p:spPr/>
        <p:txBody>
          <a:bodyPr/>
          <a:lstStyle/>
          <a:p>
            <a:r>
              <a:rPr lang="en-US" dirty="0"/>
              <a:t>Transitions of conflict thought</a:t>
            </a:r>
          </a:p>
        </p:txBody>
      </p:sp>
      <p:sp>
        <p:nvSpPr>
          <p:cNvPr id="3" name="Content Placeholder 2">
            <a:extLst>
              <a:ext uri="{FF2B5EF4-FFF2-40B4-BE49-F238E27FC236}">
                <a16:creationId xmlns:a16="http://schemas.microsoft.com/office/drawing/2014/main" id="{9A38A839-C09F-42AE-B231-A891410B4552}"/>
              </a:ext>
            </a:extLst>
          </p:cNvPr>
          <p:cNvSpPr>
            <a:spLocks noGrp="1"/>
          </p:cNvSpPr>
          <p:nvPr>
            <p:ph idx="1"/>
          </p:nvPr>
        </p:nvSpPr>
        <p:spPr/>
        <p:txBody>
          <a:bodyPr>
            <a:normAutofit fontScale="92500" lnSpcReduction="10000"/>
          </a:bodyPr>
          <a:lstStyle/>
          <a:p>
            <a:r>
              <a:rPr lang="en-US" dirty="0"/>
              <a:t>Human Relations View</a:t>
            </a:r>
          </a:p>
          <a:p>
            <a:r>
              <a:rPr lang="en-US" dirty="0"/>
              <a:t> Human Relations view is also referred to as managed view. While the traditional view relates the conflicts with destruction and a negative impact and tries to ensure the removal of conflict, the human relations view acknowledges the existence of conflict in an organization. According to this view, in an organization, conflict is inevitable and natural. A conflict has the potential to have a positive impact on the performance of an organization. A conflict cannot be totally eradicated and there are times when this conflict may even benefit an organization. The managers should accept the conflict and should try to manage it effectively instead of suppressing or totally eliminating it . They should not allow the conflict to increase more than a certain level and they should also not leave the conflict unresolved. This may lead toward the decrease in performance.</a:t>
            </a:r>
          </a:p>
        </p:txBody>
      </p:sp>
    </p:spTree>
    <p:extLst>
      <p:ext uri="{BB962C8B-B14F-4D97-AF65-F5344CB8AC3E}">
        <p14:creationId xmlns:p14="http://schemas.microsoft.com/office/powerpoint/2010/main" val="1149720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EBE5B-8040-4817-BD68-FD98B5C5E709}"/>
              </a:ext>
            </a:extLst>
          </p:cNvPr>
          <p:cNvSpPr>
            <a:spLocks noGrp="1"/>
          </p:cNvSpPr>
          <p:nvPr>
            <p:ph type="title"/>
          </p:nvPr>
        </p:nvSpPr>
        <p:spPr/>
        <p:txBody>
          <a:bodyPr/>
          <a:lstStyle/>
          <a:p>
            <a:r>
              <a:rPr lang="en-US" dirty="0"/>
              <a:t>Transitions of conflict thought</a:t>
            </a:r>
          </a:p>
        </p:txBody>
      </p:sp>
      <p:sp>
        <p:nvSpPr>
          <p:cNvPr id="3" name="Content Placeholder 2">
            <a:extLst>
              <a:ext uri="{FF2B5EF4-FFF2-40B4-BE49-F238E27FC236}">
                <a16:creationId xmlns:a16="http://schemas.microsoft.com/office/drawing/2014/main" id="{00EC2A52-BF41-4303-9513-98E9B227A5C6}"/>
              </a:ext>
            </a:extLst>
          </p:cNvPr>
          <p:cNvSpPr>
            <a:spLocks noGrp="1"/>
          </p:cNvSpPr>
          <p:nvPr>
            <p:ph idx="1"/>
          </p:nvPr>
        </p:nvSpPr>
        <p:spPr/>
        <p:txBody>
          <a:bodyPr/>
          <a:lstStyle/>
          <a:p>
            <a:r>
              <a:rPr lang="en-US" dirty="0"/>
              <a:t>interactionist view</a:t>
            </a:r>
          </a:p>
          <a:p>
            <a:pPr marL="0" indent="0">
              <a:buNone/>
            </a:pPr>
            <a:r>
              <a:rPr lang="en-US" dirty="0"/>
              <a:t> According to this view, a conflict is mandatory for an organization’s better performance. According to Andersen (2009), a conflict helps an organization to cope with changes in a better way. This view encourages the conflicts based on the rationale that if there is no conflict in an organization, it may become stagnant, lethargic and non-responsive to needs for change and improvement.</a:t>
            </a:r>
          </a:p>
        </p:txBody>
      </p:sp>
    </p:spTree>
    <p:extLst>
      <p:ext uri="{BB962C8B-B14F-4D97-AF65-F5344CB8AC3E}">
        <p14:creationId xmlns:p14="http://schemas.microsoft.com/office/powerpoint/2010/main" val="1753423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B65B3-1F8D-4F0D-9BCD-534464D45F3A}"/>
              </a:ext>
            </a:extLst>
          </p:cNvPr>
          <p:cNvSpPr>
            <a:spLocks noGrp="1"/>
          </p:cNvSpPr>
          <p:nvPr>
            <p:ph type="title"/>
          </p:nvPr>
        </p:nvSpPr>
        <p:spPr/>
        <p:txBody>
          <a:bodyPr/>
          <a:lstStyle/>
          <a:p>
            <a:r>
              <a:rPr lang="en-US" dirty="0"/>
              <a:t>Functional versus Dysfunctional Conflict</a:t>
            </a:r>
          </a:p>
        </p:txBody>
      </p:sp>
      <p:sp>
        <p:nvSpPr>
          <p:cNvPr id="3" name="Content Placeholder 2">
            <a:extLst>
              <a:ext uri="{FF2B5EF4-FFF2-40B4-BE49-F238E27FC236}">
                <a16:creationId xmlns:a16="http://schemas.microsoft.com/office/drawing/2014/main" id="{F0BC81D7-BE6F-4D25-ABF1-64E4837BC23B}"/>
              </a:ext>
            </a:extLst>
          </p:cNvPr>
          <p:cNvSpPr>
            <a:spLocks noGrp="1"/>
          </p:cNvSpPr>
          <p:nvPr>
            <p:ph idx="1"/>
          </p:nvPr>
        </p:nvSpPr>
        <p:spPr/>
        <p:txBody>
          <a:bodyPr/>
          <a:lstStyle/>
          <a:p>
            <a:pPr marL="0" indent="0">
              <a:spcBef>
                <a:spcPct val="50000"/>
              </a:spcBef>
              <a:buNone/>
            </a:pPr>
            <a:r>
              <a:rPr lang="en-US" sz="2800" dirty="0"/>
              <a:t>Functional Conflict</a:t>
            </a:r>
          </a:p>
          <a:p>
            <a:pPr>
              <a:spcBef>
                <a:spcPct val="50000"/>
              </a:spcBef>
            </a:pPr>
            <a:r>
              <a:rPr lang="en-US" sz="2800" b="0" dirty="0">
                <a:latin typeface="Tahoma" pitchFamily="34" charset="0"/>
              </a:rPr>
              <a:t>Conflict that supports the goals of the group and improves its performance.</a:t>
            </a:r>
          </a:p>
          <a:p>
            <a:pPr marL="0" indent="0">
              <a:spcBef>
                <a:spcPct val="50000"/>
              </a:spcBef>
              <a:buNone/>
            </a:pPr>
            <a:r>
              <a:rPr lang="en-US" sz="2800" dirty="0"/>
              <a:t>Dysfunctional Conflict</a:t>
            </a:r>
          </a:p>
          <a:p>
            <a:pPr>
              <a:spcBef>
                <a:spcPct val="50000"/>
              </a:spcBef>
            </a:pPr>
            <a:r>
              <a:rPr lang="en-US" sz="2800" b="0" dirty="0">
                <a:latin typeface="Tahoma" pitchFamily="34" charset="0"/>
              </a:rPr>
              <a:t>Conflict that hinders group performance</a:t>
            </a:r>
            <a:endParaRPr lang="en-US" dirty="0"/>
          </a:p>
        </p:txBody>
      </p:sp>
    </p:spTree>
    <p:extLst>
      <p:ext uri="{BB962C8B-B14F-4D97-AF65-F5344CB8AC3E}">
        <p14:creationId xmlns:p14="http://schemas.microsoft.com/office/powerpoint/2010/main" val="3753967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63EEE-7368-49CE-82FF-C7A5ED9C5D94}"/>
              </a:ext>
            </a:extLst>
          </p:cNvPr>
          <p:cNvSpPr>
            <a:spLocks noGrp="1"/>
          </p:cNvSpPr>
          <p:nvPr>
            <p:ph type="title"/>
          </p:nvPr>
        </p:nvSpPr>
        <p:spPr/>
        <p:txBody>
          <a:bodyPr/>
          <a:lstStyle/>
          <a:p>
            <a:r>
              <a:rPr lang="en-US" dirty="0"/>
              <a:t>Types of conflict</a:t>
            </a:r>
          </a:p>
        </p:txBody>
      </p:sp>
      <p:sp>
        <p:nvSpPr>
          <p:cNvPr id="3" name="Content Placeholder 2">
            <a:extLst>
              <a:ext uri="{FF2B5EF4-FFF2-40B4-BE49-F238E27FC236}">
                <a16:creationId xmlns:a16="http://schemas.microsoft.com/office/drawing/2014/main" id="{27A887E3-E2EE-4063-BAFA-16CD5FC7B333}"/>
              </a:ext>
            </a:extLst>
          </p:cNvPr>
          <p:cNvSpPr>
            <a:spLocks noGrp="1"/>
          </p:cNvSpPr>
          <p:nvPr>
            <p:ph idx="1"/>
          </p:nvPr>
        </p:nvSpPr>
        <p:spPr/>
        <p:txBody>
          <a:bodyPr/>
          <a:lstStyle/>
          <a:p>
            <a:pPr>
              <a:spcBef>
                <a:spcPct val="50000"/>
              </a:spcBef>
            </a:pPr>
            <a:r>
              <a:rPr lang="en-US" sz="2800" b="1" dirty="0"/>
              <a:t>Task Conflict</a:t>
            </a:r>
          </a:p>
          <a:p>
            <a:pPr>
              <a:spcBef>
                <a:spcPct val="50000"/>
              </a:spcBef>
            </a:pPr>
            <a:r>
              <a:rPr lang="en-US" sz="2800" b="0" dirty="0">
                <a:latin typeface="Tahoma" pitchFamily="34" charset="0"/>
              </a:rPr>
              <a:t>Conflicts over content and goals of the work.</a:t>
            </a:r>
            <a:endParaRPr lang="en-US" dirty="0"/>
          </a:p>
          <a:p>
            <a:pPr>
              <a:spcBef>
                <a:spcPct val="50000"/>
              </a:spcBef>
            </a:pPr>
            <a:r>
              <a:rPr lang="en-US" sz="2800" b="1" dirty="0"/>
              <a:t>Relationship Conflict</a:t>
            </a:r>
          </a:p>
          <a:p>
            <a:pPr>
              <a:spcBef>
                <a:spcPct val="50000"/>
              </a:spcBef>
            </a:pPr>
            <a:r>
              <a:rPr lang="en-US" sz="2800" b="0" dirty="0">
                <a:latin typeface="Tahoma" pitchFamily="34" charset="0"/>
              </a:rPr>
              <a:t>Conflict based on interpersonal relationships.</a:t>
            </a:r>
          </a:p>
          <a:p>
            <a:pPr>
              <a:spcBef>
                <a:spcPct val="50000"/>
              </a:spcBef>
            </a:pPr>
            <a:r>
              <a:rPr lang="en-US" sz="2800" b="1" dirty="0"/>
              <a:t>Process Conflict</a:t>
            </a:r>
          </a:p>
          <a:p>
            <a:pPr>
              <a:spcBef>
                <a:spcPct val="50000"/>
              </a:spcBef>
            </a:pPr>
            <a:r>
              <a:rPr lang="en-US" sz="2800" b="0" dirty="0">
                <a:latin typeface="Tahoma" pitchFamily="34" charset="0"/>
              </a:rPr>
              <a:t>Conflict over how work gets done.</a:t>
            </a:r>
          </a:p>
          <a:p>
            <a:endParaRPr lang="en-US" dirty="0"/>
          </a:p>
          <a:p>
            <a:endParaRPr lang="en-US" dirty="0"/>
          </a:p>
        </p:txBody>
      </p:sp>
    </p:spTree>
    <p:extLst>
      <p:ext uri="{BB962C8B-B14F-4D97-AF65-F5344CB8AC3E}">
        <p14:creationId xmlns:p14="http://schemas.microsoft.com/office/powerpoint/2010/main" val="1274769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C03F-2889-44DB-968E-98251AA19421}"/>
              </a:ext>
            </a:extLst>
          </p:cNvPr>
          <p:cNvSpPr>
            <a:spLocks noGrp="1"/>
          </p:cNvSpPr>
          <p:nvPr>
            <p:ph type="title"/>
          </p:nvPr>
        </p:nvSpPr>
        <p:spPr/>
        <p:txBody>
          <a:bodyPr/>
          <a:lstStyle/>
          <a:p>
            <a:r>
              <a:rPr lang="en-US" dirty="0"/>
              <a:t>Stages in conflict</a:t>
            </a:r>
          </a:p>
        </p:txBody>
      </p:sp>
      <p:sp>
        <p:nvSpPr>
          <p:cNvPr id="3" name="Content Placeholder 2">
            <a:extLst>
              <a:ext uri="{FF2B5EF4-FFF2-40B4-BE49-F238E27FC236}">
                <a16:creationId xmlns:a16="http://schemas.microsoft.com/office/drawing/2014/main" id="{53509555-A36F-44F5-B6C9-ABDC34E7933D}"/>
              </a:ext>
            </a:extLst>
          </p:cNvPr>
          <p:cNvSpPr>
            <a:spLocks noGrp="1"/>
          </p:cNvSpPr>
          <p:nvPr>
            <p:ph idx="1"/>
          </p:nvPr>
        </p:nvSpPr>
        <p:spPr/>
        <p:txBody>
          <a:bodyPr/>
          <a:lstStyle/>
          <a:p>
            <a:pPr algn="l">
              <a:spcBef>
                <a:spcPts val="0"/>
              </a:spcBef>
              <a:spcAft>
                <a:spcPts val="0"/>
              </a:spcAft>
              <a:buFont typeface="Arial" panose="020B0604020202020204" pitchFamily="34" charset="0"/>
              <a:buChar char="•"/>
            </a:pPr>
            <a:r>
              <a:rPr lang="en-US" b="0" i="0" dirty="0">
                <a:solidFill>
                  <a:srgbClr val="000000"/>
                </a:solidFill>
                <a:effectLst/>
                <a:latin typeface="verdana, sans-serif"/>
              </a:rPr>
              <a:t>Latent Stage: Participants not yet aware of conflict</a:t>
            </a:r>
          </a:p>
          <a:p>
            <a:pPr algn="l">
              <a:spcBef>
                <a:spcPts val="0"/>
              </a:spcBef>
              <a:spcAft>
                <a:spcPts val="0"/>
              </a:spcAft>
              <a:buFont typeface="Arial" panose="020B0604020202020204" pitchFamily="34" charset="0"/>
              <a:buChar char="•"/>
            </a:pPr>
            <a:endParaRPr lang="en-US" b="0" i="0" dirty="0">
              <a:solidFill>
                <a:srgbClr val="333333"/>
              </a:solidFill>
              <a:effectLst/>
              <a:latin typeface="Lucida Grande"/>
            </a:endParaRPr>
          </a:p>
          <a:p>
            <a:pPr algn="l">
              <a:spcBef>
                <a:spcPts val="0"/>
              </a:spcBef>
              <a:spcAft>
                <a:spcPts val="0"/>
              </a:spcAft>
              <a:buFont typeface="Arial" panose="020B0604020202020204" pitchFamily="34" charset="0"/>
              <a:buChar char="•"/>
            </a:pPr>
            <a:r>
              <a:rPr lang="en-US" b="0" i="0" dirty="0">
                <a:solidFill>
                  <a:srgbClr val="000000"/>
                </a:solidFill>
                <a:effectLst/>
                <a:latin typeface="verdana, sans-serif"/>
              </a:rPr>
              <a:t>Perceived Stage: Participants aware a conflict exists</a:t>
            </a:r>
          </a:p>
          <a:p>
            <a:pPr algn="l">
              <a:spcBef>
                <a:spcPts val="0"/>
              </a:spcBef>
              <a:spcAft>
                <a:spcPts val="0"/>
              </a:spcAft>
              <a:buFont typeface="Arial" panose="020B0604020202020204" pitchFamily="34" charset="0"/>
              <a:buChar char="•"/>
            </a:pPr>
            <a:endParaRPr lang="en-US" b="0" i="0" dirty="0">
              <a:solidFill>
                <a:srgbClr val="333333"/>
              </a:solidFill>
              <a:effectLst/>
              <a:latin typeface="Lucida Grande"/>
            </a:endParaRPr>
          </a:p>
          <a:p>
            <a:pPr algn="l">
              <a:spcBef>
                <a:spcPts val="0"/>
              </a:spcBef>
              <a:spcAft>
                <a:spcPts val="0"/>
              </a:spcAft>
              <a:buFont typeface="Arial" panose="020B0604020202020204" pitchFamily="34" charset="0"/>
              <a:buChar char="•"/>
            </a:pPr>
            <a:r>
              <a:rPr lang="en-US" b="0" i="0" dirty="0">
                <a:solidFill>
                  <a:srgbClr val="000000"/>
                </a:solidFill>
                <a:effectLst/>
                <a:latin typeface="verdana, sans-serif"/>
              </a:rPr>
              <a:t>Felt Stage: Stress and anxiety</a:t>
            </a:r>
          </a:p>
          <a:p>
            <a:pPr algn="l">
              <a:spcBef>
                <a:spcPts val="0"/>
              </a:spcBef>
              <a:spcAft>
                <a:spcPts val="0"/>
              </a:spcAft>
              <a:buFont typeface="Arial" panose="020B0604020202020204" pitchFamily="34" charset="0"/>
              <a:buChar char="•"/>
            </a:pPr>
            <a:endParaRPr lang="en-US" b="0" i="0" dirty="0">
              <a:solidFill>
                <a:srgbClr val="333333"/>
              </a:solidFill>
              <a:effectLst/>
              <a:latin typeface="Lucida Grande"/>
            </a:endParaRPr>
          </a:p>
          <a:p>
            <a:pPr algn="l">
              <a:spcBef>
                <a:spcPts val="0"/>
              </a:spcBef>
              <a:spcAft>
                <a:spcPts val="0"/>
              </a:spcAft>
              <a:buFont typeface="Arial" panose="020B0604020202020204" pitchFamily="34" charset="0"/>
              <a:buChar char="•"/>
            </a:pPr>
            <a:r>
              <a:rPr lang="en-US" b="0" i="0" dirty="0">
                <a:solidFill>
                  <a:srgbClr val="000000"/>
                </a:solidFill>
                <a:effectLst/>
                <a:latin typeface="verdana, sans-serif"/>
              </a:rPr>
              <a:t>Manifest: Conflict is open and can be observed</a:t>
            </a:r>
          </a:p>
          <a:p>
            <a:pPr marL="0" indent="0" algn="l">
              <a:spcBef>
                <a:spcPts val="0"/>
              </a:spcBef>
              <a:spcAft>
                <a:spcPts val="0"/>
              </a:spcAft>
              <a:buNone/>
            </a:pPr>
            <a:endParaRPr lang="en-US" b="0" i="0" dirty="0">
              <a:solidFill>
                <a:srgbClr val="333333"/>
              </a:solidFill>
              <a:effectLst/>
              <a:latin typeface="Lucida Grande"/>
            </a:endParaRPr>
          </a:p>
          <a:p>
            <a:pPr algn="l">
              <a:spcBef>
                <a:spcPts val="0"/>
              </a:spcBef>
              <a:spcAft>
                <a:spcPts val="0"/>
              </a:spcAft>
              <a:buFont typeface="Arial" panose="020B0604020202020204" pitchFamily="34" charset="0"/>
              <a:buChar char="•"/>
            </a:pPr>
            <a:r>
              <a:rPr lang="en-US" b="0" i="0" dirty="0">
                <a:solidFill>
                  <a:srgbClr val="000000"/>
                </a:solidFill>
                <a:effectLst/>
                <a:latin typeface="verdana, sans-serif"/>
              </a:rPr>
              <a:t>Aftermath: Outcome of conflict, resolution or dissolution</a:t>
            </a:r>
            <a:endParaRPr lang="en-US" b="0" i="0" dirty="0">
              <a:solidFill>
                <a:srgbClr val="333333"/>
              </a:solidFill>
              <a:effectLst/>
              <a:latin typeface="Lucida Grande"/>
            </a:endParaRPr>
          </a:p>
          <a:p>
            <a:pPr marL="0" indent="0">
              <a:buNone/>
            </a:pPr>
            <a:endParaRPr lang="en-US" dirty="0"/>
          </a:p>
        </p:txBody>
      </p:sp>
    </p:spTree>
    <p:extLst>
      <p:ext uri="{BB962C8B-B14F-4D97-AF65-F5344CB8AC3E}">
        <p14:creationId xmlns:p14="http://schemas.microsoft.com/office/powerpoint/2010/main" val="4084972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3F5D-CBF5-4D87-A7A5-D26C849738F4}"/>
              </a:ext>
            </a:extLst>
          </p:cNvPr>
          <p:cNvSpPr>
            <a:spLocks noGrp="1"/>
          </p:cNvSpPr>
          <p:nvPr>
            <p:ph type="title"/>
          </p:nvPr>
        </p:nvSpPr>
        <p:spPr/>
        <p:txBody>
          <a:bodyPr/>
          <a:lstStyle/>
          <a:p>
            <a:r>
              <a:rPr lang="en-US" sz="4400" dirty="0"/>
              <a:t>Conflict Management</a:t>
            </a:r>
            <a:br>
              <a:rPr lang="en-US" sz="4400" dirty="0"/>
            </a:br>
            <a:endParaRPr lang="en-US" dirty="0"/>
          </a:p>
        </p:txBody>
      </p:sp>
      <p:sp>
        <p:nvSpPr>
          <p:cNvPr id="3" name="Content Placeholder 2">
            <a:extLst>
              <a:ext uri="{FF2B5EF4-FFF2-40B4-BE49-F238E27FC236}">
                <a16:creationId xmlns:a16="http://schemas.microsoft.com/office/drawing/2014/main" id="{8BFB8195-CECE-4948-9EE2-C485187C2CDA}"/>
              </a:ext>
            </a:extLst>
          </p:cNvPr>
          <p:cNvSpPr>
            <a:spLocks noGrp="1"/>
          </p:cNvSpPr>
          <p:nvPr>
            <p:ph idx="1"/>
          </p:nvPr>
        </p:nvSpPr>
        <p:spPr/>
        <p:txBody>
          <a:bodyPr/>
          <a:lstStyle/>
          <a:p>
            <a:pPr>
              <a:spcBef>
                <a:spcPct val="50000"/>
              </a:spcBef>
            </a:pPr>
            <a:r>
              <a:rPr lang="en-US" sz="2800" b="0" dirty="0">
                <a:latin typeface="Tahoma" pitchFamily="34" charset="0"/>
              </a:rPr>
              <a:t>The use of resolution and stimulation techniques to achieve the desired level of conflict.</a:t>
            </a:r>
          </a:p>
          <a:p>
            <a:endParaRPr lang="en-US" dirty="0"/>
          </a:p>
        </p:txBody>
      </p:sp>
    </p:spTree>
    <p:extLst>
      <p:ext uri="{BB962C8B-B14F-4D97-AF65-F5344CB8AC3E}">
        <p14:creationId xmlns:p14="http://schemas.microsoft.com/office/powerpoint/2010/main" val="912657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53576-5FB1-4884-993F-34E8133F61A6}"/>
              </a:ext>
            </a:extLst>
          </p:cNvPr>
          <p:cNvSpPr>
            <a:spLocks noGrp="1"/>
          </p:cNvSpPr>
          <p:nvPr>
            <p:ph type="title"/>
          </p:nvPr>
        </p:nvSpPr>
        <p:spPr/>
        <p:txBody>
          <a:bodyPr/>
          <a:lstStyle/>
          <a:p>
            <a:r>
              <a:rPr lang="en-US" dirty="0"/>
              <a:t>Conflict Management Techniques</a:t>
            </a:r>
          </a:p>
        </p:txBody>
      </p:sp>
      <p:sp>
        <p:nvSpPr>
          <p:cNvPr id="3" name="Content Placeholder 2">
            <a:extLst>
              <a:ext uri="{FF2B5EF4-FFF2-40B4-BE49-F238E27FC236}">
                <a16:creationId xmlns:a16="http://schemas.microsoft.com/office/drawing/2014/main" id="{0BABF044-860B-4CC6-8260-CF625AE10969}"/>
              </a:ext>
            </a:extLst>
          </p:cNvPr>
          <p:cNvSpPr>
            <a:spLocks noGrp="1"/>
          </p:cNvSpPr>
          <p:nvPr>
            <p:ph idx="1"/>
          </p:nvPr>
        </p:nvSpPr>
        <p:spPr/>
        <p:txBody>
          <a:bodyPr>
            <a:normAutofit fontScale="92500" lnSpcReduction="10000"/>
          </a:bodyPr>
          <a:lstStyle/>
          <a:p>
            <a:pPr marL="222250" indent="-222250">
              <a:lnSpc>
                <a:spcPct val="80000"/>
              </a:lnSpc>
              <a:spcBef>
                <a:spcPct val="50000"/>
              </a:spcBef>
              <a:buFontTx/>
              <a:buChar char="•"/>
            </a:pPr>
            <a:r>
              <a:rPr lang="en-US" sz="2800" dirty="0"/>
              <a:t>Problem solving</a:t>
            </a:r>
          </a:p>
          <a:p>
            <a:pPr marL="222250" indent="-222250">
              <a:lnSpc>
                <a:spcPct val="80000"/>
              </a:lnSpc>
              <a:spcBef>
                <a:spcPct val="50000"/>
              </a:spcBef>
              <a:buFontTx/>
              <a:buChar char="•"/>
            </a:pPr>
            <a:r>
              <a:rPr lang="en-US" sz="2800" dirty="0"/>
              <a:t>Superordinate goals</a:t>
            </a:r>
          </a:p>
          <a:p>
            <a:pPr marL="222250" indent="-222250">
              <a:lnSpc>
                <a:spcPct val="80000"/>
              </a:lnSpc>
              <a:spcBef>
                <a:spcPct val="50000"/>
              </a:spcBef>
              <a:buFontTx/>
              <a:buChar char="•"/>
            </a:pPr>
            <a:r>
              <a:rPr lang="en-US" sz="2800" dirty="0"/>
              <a:t>Expansion of resources</a:t>
            </a:r>
          </a:p>
          <a:p>
            <a:pPr marL="222250" indent="-222250">
              <a:lnSpc>
                <a:spcPct val="80000"/>
              </a:lnSpc>
              <a:spcBef>
                <a:spcPct val="50000"/>
              </a:spcBef>
              <a:buFontTx/>
              <a:buChar char="•"/>
            </a:pPr>
            <a:r>
              <a:rPr lang="en-US" sz="2800" dirty="0"/>
              <a:t>Avoidance</a:t>
            </a:r>
          </a:p>
          <a:p>
            <a:pPr marL="222250" indent="-222250">
              <a:lnSpc>
                <a:spcPct val="80000"/>
              </a:lnSpc>
              <a:spcBef>
                <a:spcPct val="50000"/>
              </a:spcBef>
              <a:buFontTx/>
              <a:buChar char="•"/>
            </a:pPr>
            <a:r>
              <a:rPr lang="en-US" sz="2800" dirty="0"/>
              <a:t>Smoothing</a:t>
            </a:r>
          </a:p>
          <a:p>
            <a:pPr marL="222250" indent="-222250">
              <a:lnSpc>
                <a:spcPct val="80000"/>
              </a:lnSpc>
              <a:spcBef>
                <a:spcPct val="50000"/>
              </a:spcBef>
              <a:buFontTx/>
              <a:buChar char="•"/>
            </a:pPr>
            <a:r>
              <a:rPr lang="en-US" sz="2800" dirty="0"/>
              <a:t>Compromise</a:t>
            </a:r>
          </a:p>
          <a:p>
            <a:pPr marL="222250" indent="-222250">
              <a:lnSpc>
                <a:spcPct val="80000"/>
              </a:lnSpc>
              <a:spcBef>
                <a:spcPct val="50000"/>
              </a:spcBef>
              <a:buFontTx/>
              <a:buChar char="•"/>
            </a:pPr>
            <a:r>
              <a:rPr lang="en-US" sz="2800" dirty="0"/>
              <a:t>Authoritative command</a:t>
            </a:r>
          </a:p>
          <a:p>
            <a:pPr marL="222250" indent="-222250">
              <a:lnSpc>
                <a:spcPct val="80000"/>
              </a:lnSpc>
              <a:spcBef>
                <a:spcPct val="50000"/>
              </a:spcBef>
              <a:buFontTx/>
              <a:buChar char="•"/>
            </a:pPr>
            <a:r>
              <a:rPr lang="en-US" sz="2800" dirty="0"/>
              <a:t>Altering the human variable</a:t>
            </a:r>
          </a:p>
          <a:p>
            <a:pPr marL="222250" indent="-222250">
              <a:lnSpc>
                <a:spcPct val="80000"/>
              </a:lnSpc>
              <a:spcBef>
                <a:spcPct val="50000"/>
              </a:spcBef>
              <a:buFontTx/>
              <a:buChar char="•"/>
            </a:pPr>
            <a:r>
              <a:rPr lang="en-US" sz="2800" dirty="0"/>
              <a:t>Altering </a:t>
            </a:r>
            <a:r>
              <a:rPr lang="en-US" sz="2800" dirty="0">
                <a:solidFill>
                  <a:schemeClr val="bg1"/>
                </a:solidFill>
              </a:rPr>
              <a:t>the structural variables</a:t>
            </a:r>
          </a:p>
          <a:p>
            <a:endParaRPr lang="en-US" dirty="0"/>
          </a:p>
        </p:txBody>
      </p:sp>
    </p:spTree>
    <p:extLst>
      <p:ext uri="{BB962C8B-B14F-4D97-AF65-F5344CB8AC3E}">
        <p14:creationId xmlns:p14="http://schemas.microsoft.com/office/powerpoint/2010/main" val="1589235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B70AB-D73A-47EE-8CB3-8F493E5E8AEA}"/>
              </a:ext>
            </a:extLst>
          </p:cNvPr>
          <p:cNvSpPr>
            <a:spLocks noGrp="1"/>
          </p:cNvSpPr>
          <p:nvPr>
            <p:ph type="title"/>
          </p:nvPr>
        </p:nvSpPr>
        <p:spPr/>
        <p:txBody>
          <a:bodyPr/>
          <a:lstStyle/>
          <a:p>
            <a:r>
              <a:rPr lang="en-US" dirty="0"/>
              <a:t>Conflict resolution strategies</a:t>
            </a:r>
          </a:p>
        </p:txBody>
      </p:sp>
      <p:sp>
        <p:nvSpPr>
          <p:cNvPr id="3" name="Content Placeholder 2">
            <a:extLst>
              <a:ext uri="{FF2B5EF4-FFF2-40B4-BE49-F238E27FC236}">
                <a16:creationId xmlns:a16="http://schemas.microsoft.com/office/drawing/2014/main" id="{B9F68A56-0A11-406C-9D43-79DEAF6D0243}"/>
              </a:ext>
            </a:extLst>
          </p:cNvPr>
          <p:cNvSpPr>
            <a:spLocks noGrp="1"/>
          </p:cNvSpPr>
          <p:nvPr>
            <p:ph idx="1"/>
          </p:nvPr>
        </p:nvSpPr>
        <p:spPr/>
        <p:txBody>
          <a:bodyPr/>
          <a:lstStyle/>
          <a:p>
            <a:pPr>
              <a:spcBef>
                <a:spcPct val="50000"/>
              </a:spcBef>
            </a:pPr>
            <a:r>
              <a:rPr lang="en-US" sz="2800" dirty="0"/>
              <a:t>Competing</a:t>
            </a:r>
          </a:p>
          <a:p>
            <a:pPr>
              <a:spcBef>
                <a:spcPct val="50000"/>
              </a:spcBef>
            </a:pPr>
            <a:r>
              <a:rPr lang="en-US" sz="2800" b="0" dirty="0">
                <a:latin typeface="Tahoma" pitchFamily="34" charset="0"/>
              </a:rPr>
              <a:t>A desire to satisfy one’s interests, regardless of the impact on the other party to the conflict.</a:t>
            </a:r>
          </a:p>
          <a:p>
            <a:pPr>
              <a:spcBef>
                <a:spcPct val="50000"/>
              </a:spcBef>
            </a:pPr>
            <a:r>
              <a:rPr lang="en-US" sz="2800" dirty="0"/>
              <a:t>Collaborating</a:t>
            </a:r>
          </a:p>
          <a:p>
            <a:pPr>
              <a:spcBef>
                <a:spcPct val="50000"/>
              </a:spcBef>
            </a:pPr>
            <a:r>
              <a:rPr lang="en-US" sz="2800" b="0" dirty="0">
                <a:latin typeface="Tahoma" pitchFamily="34" charset="0"/>
              </a:rPr>
              <a:t>A situation in which the parties to a conflict each desire to satisfy fully the concerns of all parties.</a:t>
            </a:r>
          </a:p>
          <a:p>
            <a:pPr>
              <a:spcBef>
                <a:spcPct val="50000"/>
              </a:spcBef>
            </a:pPr>
            <a:r>
              <a:rPr lang="en-US" sz="2800" dirty="0"/>
              <a:t>Avoiding</a:t>
            </a:r>
          </a:p>
          <a:p>
            <a:pPr>
              <a:spcBef>
                <a:spcPct val="50000"/>
              </a:spcBef>
            </a:pPr>
            <a:r>
              <a:rPr lang="en-US" sz="2800" b="0" dirty="0">
                <a:latin typeface="Tahoma" pitchFamily="34" charset="0"/>
              </a:rPr>
              <a:t>The desire to withdraw from or suppress a conflict.</a:t>
            </a:r>
          </a:p>
          <a:p>
            <a:endParaRPr lang="en-US" dirty="0"/>
          </a:p>
        </p:txBody>
      </p:sp>
    </p:spTree>
    <p:extLst>
      <p:ext uri="{BB962C8B-B14F-4D97-AF65-F5344CB8AC3E}">
        <p14:creationId xmlns:p14="http://schemas.microsoft.com/office/powerpoint/2010/main" val="3447831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AD83D-60FF-4B53-8792-30AA84CC7AB2}"/>
              </a:ext>
            </a:extLst>
          </p:cNvPr>
          <p:cNvSpPr>
            <a:spLocks noGrp="1"/>
          </p:cNvSpPr>
          <p:nvPr>
            <p:ph type="title"/>
          </p:nvPr>
        </p:nvSpPr>
        <p:spPr/>
        <p:txBody>
          <a:bodyPr/>
          <a:lstStyle/>
          <a:p>
            <a:r>
              <a:rPr lang="en-US" dirty="0"/>
              <a:t>Conflict resolution strategies</a:t>
            </a:r>
          </a:p>
        </p:txBody>
      </p:sp>
      <p:sp>
        <p:nvSpPr>
          <p:cNvPr id="3" name="Content Placeholder 2">
            <a:extLst>
              <a:ext uri="{FF2B5EF4-FFF2-40B4-BE49-F238E27FC236}">
                <a16:creationId xmlns:a16="http://schemas.microsoft.com/office/drawing/2014/main" id="{5ECD2197-25EA-4FCC-9AED-68691039BA38}"/>
              </a:ext>
            </a:extLst>
          </p:cNvPr>
          <p:cNvSpPr>
            <a:spLocks noGrp="1"/>
          </p:cNvSpPr>
          <p:nvPr>
            <p:ph idx="1"/>
          </p:nvPr>
        </p:nvSpPr>
        <p:spPr/>
        <p:txBody>
          <a:bodyPr/>
          <a:lstStyle/>
          <a:p>
            <a:pPr>
              <a:spcBef>
                <a:spcPct val="50000"/>
              </a:spcBef>
            </a:pPr>
            <a:r>
              <a:rPr lang="en-US" sz="2800" dirty="0"/>
              <a:t>Accommodating</a:t>
            </a:r>
          </a:p>
          <a:p>
            <a:pPr>
              <a:spcBef>
                <a:spcPct val="50000"/>
              </a:spcBef>
            </a:pPr>
            <a:r>
              <a:rPr lang="en-US" sz="2800" b="0" dirty="0">
                <a:latin typeface="Tahoma" pitchFamily="34" charset="0"/>
              </a:rPr>
              <a:t>The willingness of one party in a conflict to place the opponent’s interests above his or her own.</a:t>
            </a:r>
            <a:endParaRPr lang="en-US" dirty="0"/>
          </a:p>
          <a:p>
            <a:pPr>
              <a:spcBef>
                <a:spcPct val="50000"/>
              </a:spcBef>
            </a:pPr>
            <a:r>
              <a:rPr lang="en-US" sz="2800" dirty="0"/>
              <a:t>Compromising</a:t>
            </a:r>
          </a:p>
          <a:p>
            <a:pPr>
              <a:spcBef>
                <a:spcPct val="50000"/>
              </a:spcBef>
            </a:pPr>
            <a:r>
              <a:rPr lang="en-US" sz="2800" b="0" dirty="0">
                <a:latin typeface="Tahoma" pitchFamily="34" charset="0"/>
              </a:rPr>
              <a:t>A situation in which each party to a conflict is willing to give up something.</a:t>
            </a:r>
          </a:p>
          <a:p>
            <a:endParaRPr lang="en-US" dirty="0"/>
          </a:p>
        </p:txBody>
      </p:sp>
    </p:spTree>
    <p:extLst>
      <p:ext uri="{BB962C8B-B14F-4D97-AF65-F5344CB8AC3E}">
        <p14:creationId xmlns:p14="http://schemas.microsoft.com/office/powerpoint/2010/main" val="1594231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44340-1265-4DCD-9E0A-8CA9FCC0DCC6}"/>
              </a:ext>
            </a:extLst>
          </p:cNvPr>
          <p:cNvSpPr>
            <a:spLocks noGrp="1"/>
          </p:cNvSpPr>
          <p:nvPr>
            <p:ph type="title"/>
          </p:nvPr>
        </p:nvSpPr>
        <p:spPr/>
        <p:txBody>
          <a:bodyPr/>
          <a:lstStyle/>
          <a:p>
            <a:r>
              <a:rPr lang="en-US" dirty="0"/>
              <a:t>Advantages of conflict</a:t>
            </a:r>
          </a:p>
        </p:txBody>
      </p:sp>
      <p:sp>
        <p:nvSpPr>
          <p:cNvPr id="3" name="Content Placeholder 2">
            <a:extLst>
              <a:ext uri="{FF2B5EF4-FFF2-40B4-BE49-F238E27FC236}">
                <a16:creationId xmlns:a16="http://schemas.microsoft.com/office/drawing/2014/main" id="{F357E53C-D17F-4972-BCDC-627EBA4B9927}"/>
              </a:ext>
            </a:extLst>
          </p:cNvPr>
          <p:cNvSpPr>
            <a:spLocks noGrp="1"/>
          </p:cNvSpPr>
          <p:nvPr>
            <p:ph idx="1"/>
          </p:nvPr>
        </p:nvSpPr>
        <p:spPr/>
        <p:txBody>
          <a:bodyPr/>
          <a:lstStyle/>
          <a:p>
            <a:r>
              <a:rPr lang="en-US" b="0" i="0" dirty="0">
                <a:effectLst/>
                <a:latin typeface="Trebuchet"/>
              </a:rPr>
              <a:t>It encourages healthy debate and argument:</a:t>
            </a:r>
          </a:p>
          <a:p>
            <a:r>
              <a:rPr lang="en-US" b="0" i="0" dirty="0">
                <a:effectLst/>
                <a:latin typeface="Trebuchet"/>
              </a:rPr>
              <a:t>Allows your team to work towards their goals</a:t>
            </a:r>
          </a:p>
          <a:p>
            <a:r>
              <a:rPr lang="en-US" b="0" i="0" dirty="0">
                <a:effectLst/>
                <a:latin typeface="Trebuchet"/>
              </a:rPr>
              <a:t>Brings inside the working environment a sense of commitment:</a:t>
            </a:r>
          </a:p>
          <a:p>
            <a:r>
              <a:rPr lang="en-US" b="0" i="0" dirty="0">
                <a:effectLst/>
                <a:latin typeface="Trebuchet"/>
              </a:rPr>
              <a:t>Clarifies all doubts and queries:</a:t>
            </a:r>
          </a:p>
          <a:p>
            <a:r>
              <a:rPr lang="en-US" b="0" i="0" dirty="0">
                <a:effectLst/>
                <a:latin typeface="Trebuchet"/>
              </a:rPr>
              <a:t>Removes all stress and anxiety</a:t>
            </a:r>
          </a:p>
          <a:p>
            <a:r>
              <a:rPr lang="en-US" b="0" i="0" dirty="0">
                <a:effectLst/>
                <a:latin typeface="Trebuchet"/>
              </a:rPr>
              <a:t>Increases Productivity Immensely:</a:t>
            </a:r>
          </a:p>
          <a:p>
            <a:r>
              <a:rPr lang="en-US" b="0" i="0" dirty="0">
                <a:effectLst/>
                <a:latin typeface="Trebuchet"/>
              </a:rPr>
              <a:t>New ideas are created in the process:</a:t>
            </a:r>
          </a:p>
          <a:p>
            <a:r>
              <a:rPr lang="en-US" b="0" i="0" dirty="0">
                <a:effectLst/>
                <a:latin typeface="Trebuchet"/>
              </a:rPr>
              <a:t>Improves relationships among people:</a:t>
            </a:r>
          </a:p>
          <a:p>
            <a:endParaRPr lang="en-US" b="0" i="0" dirty="0">
              <a:solidFill>
                <a:srgbClr val="111111"/>
              </a:solidFill>
              <a:effectLst/>
              <a:latin typeface="Trebuchet"/>
            </a:endParaRPr>
          </a:p>
          <a:p>
            <a:endParaRPr lang="en-US" dirty="0"/>
          </a:p>
        </p:txBody>
      </p:sp>
    </p:spTree>
    <p:extLst>
      <p:ext uri="{BB962C8B-B14F-4D97-AF65-F5344CB8AC3E}">
        <p14:creationId xmlns:p14="http://schemas.microsoft.com/office/powerpoint/2010/main" val="1509858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670C-7486-4309-B42F-4D45262D70C9}"/>
              </a:ext>
            </a:extLst>
          </p:cNvPr>
          <p:cNvSpPr>
            <a:spLocks noGrp="1"/>
          </p:cNvSpPr>
          <p:nvPr>
            <p:ph type="title"/>
          </p:nvPr>
        </p:nvSpPr>
        <p:spPr/>
        <p:txBody>
          <a:bodyPr/>
          <a:lstStyle/>
          <a:p>
            <a:r>
              <a:rPr lang="en-US" dirty="0"/>
              <a:t>Disadvantages of Conflicts</a:t>
            </a:r>
          </a:p>
        </p:txBody>
      </p:sp>
      <p:sp>
        <p:nvSpPr>
          <p:cNvPr id="3" name="Content Placeholder 2">
            <a:extLst>
              <a:ext uri="{FF2B5EF4-FFF2-40B4-BE49-F238E27FC236}">
                <a16:creationId xmlns:a16="http://schemas.microsoft.com/office/drawing/2014/main" id="{4FACD0E1-0D5B-43B2-AFA2-9555FE262AE0}"/>
              </a:ext>
            </a:extLst>
          </p:cNvPr>
          <p:cNvSpPr>
            <a:spLocks noGrp="1"/>
          </p:cNvSpPr>
          <p:nvPr>
            <p:ph idx="1"/>
          </p:nvPr>
        </p:nvSpPr>
        <p:spPr/>
        <p:txBody>
          <a:bodyPr/>
          <a:lstStyle/>
          <a:p>
            <a:pPr algn="l" rtl="0">
              <a:buFont typeface="Arial" panose="020B0604020202020204" pitchFamily="34" charset="0"/>
              <a:buChar char="•"/>
            </a:pPr>
            <a:r>
              <a:rPr lang="en-US" i="0" dirty="0">
                <a:solidFill>
                  <a:srgbClr val="282829"/>
                </a:solidFill>
                <a:effectLst/>
                <a:latin typeface="Trebuchet"/>
              </a:rPr>
              <a:t>Increased stress and anxiety among individuals, which decreases productivity and satisfaction</a:t>
            </a:r>
          </a:p>
          <a:p>
            <a:pPr algn="l" rtl="0">
              <a:buFont typeface="Arial" panose="020B0604020202020204" pitchFamily="34" charset="0"/>
              <a:buChar char="•"/>
            </a:pPr>
            <a:r>
              <a:rPr lang="en-US" i="0" dirty="0">
                <a:solidFill>
                  <a:srgbClr val="282829"/>
                </a:solidFill>
                <a:effectLst/>
                <a:latin typeface="Trebuchet"/>
              </a:rPr>
              <a:t>Feelings of being defeated and demeaned, which lowers individuals’ morale and may effect turnover</a:t>
            </a:r>
          </a:p>
          <a:p>
            <a:pPr algn="l" rtl="0">
              <a:buFont typeface="Arial" panose="020B0604020202020204" pitchFamily="34" charset="0"/>
              <a:buChar char="•"/>
            </a:pPr>
            <a:r>
              <a:rPr lang="en-US" i="0" dirty="0">
                <a:solidFill>
                  <a:srgbClr val="282829"/>
                </a:solidFill>
                <a:effectLst/>
                <a:latin typeface="Trebuchet"/>
              </a:rPr>
              <a:t>A climate of mistrust, which hinders the teamwork and cooperation necessary to get work done</a:t>
            </a:r>
          </a:p>
          <a:p>
            <a:r>
              <a:rPr lang="en-US" dirty="0">
                <a:latin typeface="Trebuchet"/>
              </a:rPr>
              <a:t>Destruction  of properties</a:t>
            </a:r>
          </a:p>
          <a:p>
            <a:endParaRPr lang="en-US" dirty="0"/>
          </a:p>
        </p:txBody>
      </p:sp>
    </p:spTree>
    <p:extLst>
      <p:ext uri="{BB962C8B-B14F-4D97-AF65-F5344CB8AC3E}">
        <p14:creationId xmlns:p14="http://schemas.microsoft.com/office/powerpoint/2010/main" val="3804892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1326</Words>
  <Application>Microsoft Office PowerPoint</Application>
  <PresentationFormat>Widescreen</PresentationFormat>
  <Paragraphs>151</Paragraphs>
  <Slides>27</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7" baseType="lpstr">
      <vt:lpstr>Arial</vt:lpstr>
      <vt:lpstr>Calibri</vt:lpstr>
      <vt:lpstr>Calibri Light</vt:lpstr>
      <vt:lpstr>Lucida Grande</vt:lpstr>
      <vt:lpstr>Nunito Sans</vt:lpstr>
      <vt:lpstr>Tahoma</vt:lpstr>
      <vt:lpstr>Trebuchet</vt:lpstr>
      <vt:lpstr>verdana, sans-serif</vt:lpstr>
      <vt:lpstr>Office Theme</vt:lpstr>
      <vt:lpstr>Photo Editor Photo</vt:lpstr>
      <vt:lpstr>STRESS AND CONFLICT</vt:lpstr>
      <vt:lpstr>Stress and its managements</vt:lpstr>
      <vt:lpstr>Sources of stress</vt:lpstr>
      <vt:lpstr>Sources of stress</vt:lpstr>
      <vt:lpstr>Sources of stress</vt:lpstr>
      <vt:lpstr>Consequences of Stress</vt:lpstr>
      <vt:lpstr>Model of stress </vt:lpstr>
      <vt:lpstr>Relationship between stress and performance</vt:lpstr>
      <vt:lpstr>Types of stress</vt:lpstr>
      <vt:lpstr>Types of stress</vt:lpstr>
      <vt:lpstr>Types of stress</vt:lpstr>
      <vt:lpstr>MANAGING STRESS</vt:lpstr>
      <vt:lpstr>MANAGING STRESS</vt:lpstr>
      <vt:lpstr>PowerPoint Presentation</vt:lpstr>
      <vt:lpstr>CONFLICT </vt:lpstr>
      <vt:lpstr>Transitions in Conflict Thought</vt:lpstr>
      <vt:lpstr>Transitions of conflict thought</vt:lpstr>
      <vt:lpstr>Transitions of conflict thought</vt:lpstr>
      <vt:lpstr>Functional versus Dysfunctional Conflict</vt:lpstr>
      <vt:lpstr>Types of conflict</vt:lpstr>
      <vt:lpstr>Stages in conflict</vt:lpstr>
      <vt:lpstr>Conflict Management </vt:lpstr>
      <vt:lpstr>Conflict Management Techniques</vt:lpstr>
      <vt:lpstr>Conflict resolution strategies</vt:lpstr>
      <vt:lpstr>Conflict resolution strategies</vt:lpstr>
      <vt:lpstr>Advantages of conflict</vt:lpstr>
      <vt:lpstr>Disadvantages of Conflicts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STRESS AND CONFLICT</dc:title>
  <dc:creator>Michael Fudzi</dc:creator>
  <cp:lastModifiedBy>HP</cp:lastModifiedBy>
  <cp:revision>3</cp:revision>
  <dcterms:created xsi:type="dcterms:W3CDTF">2021-09-07T12:25:56Z</dcterms:created>
  <dcterms:modified xsi:type="dcterms:W3CDTF">2023-02-28T12:53:46Z</dcterms:modified>
</cp:coreProperties>
</file>
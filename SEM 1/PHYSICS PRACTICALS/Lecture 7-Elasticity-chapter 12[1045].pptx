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8" r:id="rId3"/>
    <p:sldId id="259" r:id="rId4"/>
    <p:sldId id="266" r:id="rId5"/>
    <p:sldId id="267" r:id="rId6"/>
    <p:sldId id="268" r:id="rId7"/>
    <p:sldId id="279" r:id="rId8"/>
    <p:sldId id="278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3" r:id="rId22"/>
    <p:sldId id="29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 varScale="1">
        <p:scale>
          <a:sx n="70" d="100"/>
          <a:sy n="70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55051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51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0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2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34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9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2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16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2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91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45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70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28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67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8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909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992894-78B7-4CCD-89D5-7A46F64D3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3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076055-E945-4989-A6D8-F0D52911C31F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07E6A8-8D36-4937-9DC5-59FEE6254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2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jpeg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jpeg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jpeg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Equilibrium and Elasticity</a:t>
            </a:r>
            <a:b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3" y="457201"/>
            <a:ext cx="7704667" cy="1295399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Equilibrium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982133" y="1524000"/>
            <a:ext cx="8009467" cy="50292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Equilibrium implies that the object moves with both constant velocity and constant angular velocity relative to an observer in an inertial reference frame.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Will deal now with the special case in which both of these velocities are equal to zero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This is called </a:t>
            </a:r>
            <a:r>
              <a:rPr lang="en-US" i="1" dirty="0"/>
              <a:t>static equilibrium.</a:t>
            </a:r>
            <a:endParaRPr lang="en-US" dirty="0"/>
          </a:p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Static equilibrium is a common situation in engineering.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The principles involved are of particular interest to civil engineers, architects, and mechanical engineers.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982133" y="76200"/>
            <a:ext cx="7704667" cy="1143000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Elasticity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982133" y="2082223"/>
            <a:ext cx="7704667" cy="3917593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We will disuses how objects deform under load conditions.</a:t>
            </a:r>
          </a:p>
          <a:p>
            <a:pPr marL="0" indent="0" eaLnBrk="1" hangingPunct="1"/>
            <a:r>
              <a:rPr lang="en-US" b="1" dirty="0"/>
              <a:t>An elastic object returns to its original shape when the deforming forces are removed.</a:t>
            </a:r>
          </a:p>
          <a:p>
            <a:pPr marL="0" indent="0" eaLnBrk="1" hangingPunct="1"/>
            <a:r>
              <a:rPr lang="en-US" b="1" dirty="0"/>
              <a:t>Various elastic constants will be defined, each corresponding to a different type of deformation.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67845" y="1358324"/>
            <a:ext cx="708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LECTURE GOALS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Grp="1" noChangeArrowheads="1"/>
          </p:cNvSpPr>
          <p:nvPr>
            <p:ph type="title"/>
          </p:nvPr>
        </p:nvSpPr>
        <p:spPr>
          <a:xfrm>
            <a:off x="465944" y="211826"/>
            <a:ext cx="4258456" cy="1143000"/>
          </a:xfrm>
        </p:spPr>
        <p:txBody>
          <a:bodyPr/>
          <a:lstStyle/>
          <a:p>
            <a:pPr algn="l" eaLnBrk="1" hangingPunct="1"/>
            <a:r>
              <a:rPr lang="en-US" b="1" dirty="0"/>
              <a:t>     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Center of Mass</a:t>
            </a:r>
          </a:p>
        </p:txBody>
      </p:sp>
      <p:sp>
        <p:nvSpPr>
          <p:cNvPr id="3076" name="Rectangle 5"/>
          <p:cNvSpPr>
            <a:spLocks noGrp="1" noChangeArrowheads="1"/>
          </p:cNvSpPr>
          <p:nvPr>
            <p:ph sz="half" idx="1"/>
          </p:nvPr>
        </p:nvSpPr>
        <p:spPr>
          <a:xfrm>
            <a:off x="762000" y="1364351"/>
            <a:ext cx="4827701" cy="5861154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sz="2000" dirty="0"/>
              <a:t>An object can be divided into many small particles.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Each particle will have a specific mass and specific coordinates.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sz="2000" dirty="0"/>
              <a:t>The x coordinate of the center of mass will be</a:t>
            </a:r>
          </a:p>
          <a:p>
            <a:pPr marL="0" indent="0" eaLnBrk="1" hangingPunct="1">
              <a:lnSpc>
                <a:spcPct val="90000"/>
              </a:lnSpc>
            </a:pPr>
            <a:endParaRPr lang="en-US" sz="2000" dirty="0"/>
          </a:p>
          <a:p>
            <a:pPr marL="0" indent="0" eaLnBrk="1" hangingPunct="1">
              <a:lnSpc>
                <a:spcPct val="90000"/>
              </a:lnSpc>
            </a:pPr>
            <a:endParaRPr lang="en-US" sz="2000" dirty="0"/>
          </a:p>
          <a:p>
            <a:pPr marL="0" indent="0" eaLnBrk="1" hangingPunct="1">
              <a:lnSpc>
                <a:spcPct val="90000"/>
              </a:lnSpc>
            </a:pPr>
            <a:endParaRPr lang="en-US" sz="2000" dirty="0"/>
          </a:p>
          <a:p>
            <a:pPr marL="0" indent="0" eaLnBrk="1" hangingPunct="1">
              <a:lnSpc>
                <a:spcPct val="90000"/>
              </a:lnSpc>
            </a:pPr>
            <a:r>
              <a:rPr lang="en-US" sz="2000" dirty="0"/>
              <a:t>Similar expressions can be found for the y and z coordinates.</a:t>
            </a:r>
          </a:p>
        </p:txBody>
      </p:sp>
      <p:graphicFrame>
        <p:nvGraphicFramePr>
          <p:cNvPr id="307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476096"/>
              </p:ext>
            </p:extLst>
          </p:nvPr>
        </p:nvGraphicFramePr>
        <p:xfrm>
          <a:off x="1795072" y="4261590"/>
          <a:ext cx="1600200" cy="1084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3" imgW="1180800" imgH="799920" progId="Equation.DSMT4">
                  <p:embed/>
                </p:oleObj>
              </mc:Choice>
              <mc:Fallback>
                <p:oleObj name="Equation" r:id="rId3" imgW="1180800" imgH="7999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072" y="4261590"/>
                        <a:ext cx="1600200" cy="10843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9" name="Picture 7" descr="120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89701" y="216588"/>
            <a:ext cx="3573349" cy="39706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543800" cy="579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Center of Gravity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227138"/>
            <a:ext cx="4038600" cy="4411662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All the various gravitational forces acting on all the various mass elements are equivalent to a single gravitational force acting through a single point called the center of gravity (CG).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Each particle contributes a torque about an axis through the origin equal in magnitude to the particle’s weight multiplied by its moment arm.</a:t>
            </a:r>
          </a:p>
          <a:p>
            <a:pPr marL="0" indent="0" eaLnBrk="1" hangingPunct="1">
              <a:lnSpc>
                <a:spcPct val="90000"/>
              </a:lnSpc>
            </a:pPr>
            <a:endParaRPr lang="en-US" dirty="0"/>
          </a:p>
        </p:txBody>
      </p:sp>
      <p:graphicFrame>
        <p:nvGraphicFramePr>
          <p:cNvPr id="409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507893"/>
              </p:ext>
            </p:extLst>
          </p:nvPr>
        </p:nvGraphicFramePr>
        <p:xfrm>
          <a:off x="1456472" y="5554662"/>
          <a:ext cx="4487128" cy="97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Equation" r:id="rId3" imgW="2463480" imgH="533160" progId="Equation.DSMT4">
                  <p:embed/>
                </p:oleObj>
              </mc:Choice>
              <mc:Fallback>
                <p:oleObj name="Equation" r:id="rId3" imgW="2463480" imgH="5331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6472" y="5554662"/>
                        <a:ext cx="4487128" cy="971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3" name="Picture 7" descr="120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0" y="1330325"/>
            <a:ext cx="3886200" cy="4197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3" y="228600"/>
            <a:ext cx="7704667" cy="1143000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Center of Gravity, cont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982133" y="1371600"/>
            <a:ext cx="7704667" cy="4628216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sz="2800" dirty="0"/>
              <a:t>The torque due to the gravitational force on an object of mass M is the force Mg acting at the center of gravity of the object.</a:t>
            </a:r>
          </a:p>
          <a:p>
            <a:pPr marL="0" indent="0" eaLnBrk="1" hangingPunct="1"/>
            <a:r>
              <a:rPr lang="en-US" sz="2800" dirty="0"/>
              <a:t>If g is uniform over the object, then the center of gravity of the object coincides with its center of mass.</a:t>
            </a:r>
          </a:p>
          <a:p>
            <a:pPr marL="0" indent="0" eaLnBrk="1" hangingPunct="1"/>
            <a:r>
              <a:rPr lang="en-US" sz="2800" dirty="0"/>
              <a:t>If the object is homogeneous and symmetrical, the center of gravity coincides with its geometric center.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Definitions Associated With Deformation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dirty="0"/>
              <a:t>Stress</a:t>
            </a:r>
          </a:p>
          <a:p>
            <a:pPr lvl="1" eaLnBrk="1" hangingPunct="1"/>
            <a:r>
              <a:rPr lang="en-US" dirty="0"/>
              <a:t>Is proportional to the force causing the deformation</a:t>
            </a:r>
          </a:p>
          <a:p>
            <a:pPr lvl="1" eaLnBrk="1" hangingPunct="1"/>
            <a:r>
              <a:rPr lang="en-US" dirty="0"/>
              <a:t>It is the external force acting on the object per unit cross-sectional area.</a:t>
            </a:r>
          </a:p>
          <a:p>
            <a:pPr marL="0" indent="0" eaLnBrk="1" hangingPunct="1"/>
            <a:r>
              <a:rPr lang="en-US" dirty="0"/>
              <a:t>Strain</a:t>
            </a:r>
          </a:p>
          <a:p>
            <a:pPr lvl="1" eaLnBrk="1" hangingPunct="1"/>
            <a:r>
              <a:rPr lang="en-US" dirty="0"/>
              <a:t>Is the result of a stress</a:t>
            </a:r>
          </a:p>
          <a:p>
            <a:pPr lvl="1" eaLnBrk="1" hangingPunct="1"/>
            <a:r>
              <a:rPr lang="en-US" dirty="0"/>
              <a:t>Is a measure of the degree of deformation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b="1" dirty="0"/>
              <a:t>Elasticity</a:t>
            </a:r>
          </a:p>
        </p:txBody>
      </p:sp>
      <p:sp>
        <p:nvSpPr>
          <p:cNvPr id="32771" name="Rectangle 5"/>
          <p:cNvSpPr>
            <a:spLocks noGrp="1" noChangeArrowheads="1"/>
          </p:cNvSpPr>
          <p:nvPr>
            <p:ph idx="1"/>
          </p:nvPr>
        </p:nvSpPr>
        <p:spPr>
          <a:xfrm>
            <a:off x="1143000" y="1143000"/>
            <a:ext cx="8001000" cy="5364163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sz="3200" dirty="0"/>
              <a:t>So far we have assumed that objects remain rigid when external forces act on them.</a:t>
            </a:r>
          </a:p>
          <a:p>
            <a:pPr lvl="1" eaLnBrk="1" hangingPunct="1"/>
            <a:r>
              <a:rPr lang="en-US" sz="3200" dirty="0"/>
              <a:t>Except springs</a:t>
            </a:r>
          </a:p>
          <a:p>
            <a:pPr marL="0" indent="0" eaLnBrk="1" hangingPunct="1"/>
            <a:r>
              <a:rPr lang="en-US" sz="3200" dirty="0"/>
              <a:t>Actually, all objects are deformable to some extent.</a:t>
            </a:r>
          </a:p>
          <a:p>
            <a:pPr lvl="1" eaLnBrk="1" hangingPunct="1"/>
            <a:r>
              <a:rPr lang="en-US" sz="3200" dirty="0"/>
              <a:t>It is possible to change the size and/or shape of the object by applying external forces.</a:t>
            </a:r>
          </a:p>
          <a:p>
            <a:pPr marL="0" indent="0" eaLnBrk="1" hangingPunct="1"/>
            <a:r>
              <a:rPr lang="en-US" sz="3200" dirty="0"/>
              <a:t>Internal forces resist the deformation.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229600" cy="868362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Elastic Modulus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533993"/>
            <a:ext cx="8153400" cy="4257207"/>
          </a:xfrm>
        </p:spPr>
        <p:txBody>
          <a:bodyPr>
            <a:normAutofit fontScale="85000" lnSpcReduction="10000"/>
          </a:bodyPr>
          <a:lstStyle/>
          <a:p>
            <a:pPr marL="0" indent="0" eaLnBrk="1" hangingPunct="1"/>
            <a:r>
              <a:rPr lang="en-US" dirty="0"/>
              <a:t>The elastic modulus is the constant of proportionality between the stress and the strain.</a:t>
            </a:r>
          </a:p>
          <a:p>
            <a:pPr lvl="1" eaLnBrk="1" hangingPunct="1"/>
            <a:r>
              <a:rPr lang="en-US" dirty="0"/>
              <a:t>For sufficiently small stresses, the stress is directly proportional to the strain.</a:t>
            </a:r>
          </a:p>
          <a:p>
            <a:pPr lvl="1" eaLnBrk="1" hangingPunct="1"/>
            <a:r>
              <a:rPr lang="en-US" dirty="0"/>
              <a:t>It depends on the material being deformed.</a:t>
            </a:r>
          </a:p>
          <a:p>
            <a:pPr lvl="1" eaLnBrk="1" hangingPunct="1"/>
            <a:r>
              <a:rPr lang="en-US" dirty="0"/>
              <a:t>It also depends on the nature of the deformation.</a:t>
            </a:r>
          </a:p>
          <a:p>
            <a:pPr marL="0" indent="0" eaLnBrk="1" hangingPunct="1"/>
            <a:r>
              <a:rPr lang="en-US" dirty="0"/>
              <a:t>The elastic modulus, in general, relates what is done to a solid object to how that object responds.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r>
              <a:rPr lang="en-US" dirty="0"/>
              <a:t>Various types of deformation have unique elastic moduli.</a:t>
            </a:r>
          </a:p>
          <a:p>
            <a:pPr lvl="1" eaLnBrk="1" hangingPunct="1"/>
            <a:endParaRPr lang="en-US" dirty="0"/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623803"/>
              </p:ext>
            </p:extLst>
          </p:nvPr>
        </p:nvGraphicFramePr>
        <p:xfrm>
          <a:off x="2930978" y="4038600"/>
          <a:ext cx="369842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name="Equation" r:id="rId3" imgW="2527200" imgH="571320" progId="Equation.DSMT4">
                  <p:embed/>
                </p:oleObj>
              </mc:Choice>
              <mc:Fallback>
                <p:oleObj name="Equation" r:id="rId3" imgW="2527200" imgH="5713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978" y="4038600"/>
                        <a:ext cx="3698422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Grp="1" noChangeArrowheads="1"/>
          </p:cNvSpPr>
          <p:nvPr>
            <p:ph type="title"/>
          </p:nvPr>
        </p:nvSpPr>
        <p:spPr>
          <a:xfrm>
            <a:off x="982133" y="0"/>
            <a:ext cx="7704667" cy="1142999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Types of </a:t>
            </a: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Moduli</a:t>
            </a:r>
            <a:endParaRPr lang="en-U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819" name="Rectangle 5"/>
          <p:cNvSpPr>
            <a:spLocks noGrp="1" noChangeArrowheads="1"/>
          </p:cNvSpPr>
          <p:nvPr>
            <p:ph idx="1"/>
          </p:nvPr>
        </p:nvSpPr>
        <p:spPr>
          <a:xfrm>
            <a:off x="982133" y="1447800"/>
            <a:ext cx="7704667" cy="4552016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dirty="0"/>
              <a:t>Young’s Modulus</a:t>
            </a:r>
          </a:p>
          <a:p>
            <a:pPr lvl="1" eaLnBrk="1" hangingPunct="1"/>
            <a:r>
              <a:rPr lang="en-US" dirty="0"/>
              <a:t>Measures the resistance of a solid to a change in its length</a:t>
            </a:r>
          </a:p>
          <a:p>
            <a:pPr marL="0" indent="0" eaLnBrk="1" hangingPunct="1"/>
            <a:r>
              <a:rPr lang="en-US" dirty="0"/>
              <a:t>Shear Modulus</a:t>
            </a:r>
          </a:p>
          <a:p>
            <a:pPr lvl="1" eaLnBrk="1" hangingPunct="1"/>
            <a:r>
              <a:rPr lang="en-US" dirty="0"/>
              <a:t>Measures the resistance of motion of the planes within a solid parallel to each other</a:t>
            </a:r>
          </a:p>
          <a:p>
            <a:pPr marL="0" indent="0" eaLnBrk="1" hangingPunct="1"/>
            <a:r>
              <a:rPr lang="en-US" dirty="0"/>
              <a:t>Bulk Modulus</a:t>
            </a:r>
          </a:p>
          <a:p>
            <a:pPr lvl="1" eaLnBrk="1" hangingPunct="1"/>
            <a:r>
              <a:rPr lang="en-US" dirty="0"/>
              <a:t>Measures the resistance of solids or liquids to changes in their volume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Young’s Modulus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863808" y="1973759"/>
            <a:ext cx="5003592" cy="4960441"/>
          </a:xfrm>
        </p:spPr>
        <p:txBody>
          <a:bodyPr>
            <a:normAutofit lnSpcReduction="10000"/>
          </a:bodyPr>
          <a:lstStyle/>
          <a:p>
            <a:pPr marL="0" indent="0" eaLnBrk="1" hangingPunct="1"/>
            <a:r>
              <a:rPr lang="en-US" sz="2400" dirty="0"/>
              <a:t>The bar is stretched by an amount </a:t>
            </a:r>
            <a:r>
              <a:rPr lang="en-US" sz="2400" dirty="0">
                <a:latin typeface="Symbol" pitchFamily="80" charset="2"/>
              </a:rPr>
              <a:t>D</a:t>
            </a:r>
            <a:r>
              <a:rPr lang="en-US" sz="2400" dirty="0"/>
              <a:t>L under the action of the force F.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b="1" dirty="0"/>
              <a:t>tensile stress</a:t>
            </a:r>
            <a:r>
              <a:rPr lang="en-US" sz="2400" dirty="0"/>
              <a:t> is the ratio of the magnitude of the external force to the cross-sectional area A.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b="1" dirty="0"/>
              <a:t>tension strain</a:t>
            </a:r>
            <a:r>
              <a:rPr lang="en-US" sz="2400" dirty="0"/>
              <a:t> is the ratio of the change in length to the original length.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sz="2400" dirty="0"/>
              <a:t>Young’s modulus, Y, is the ratio of those two ratios:</a:t>
            </a:r>
          </a:p>
          <a:p>
            <a:pPr marL="0" indent="0" eaLnBrk="1" hangingPunct="1">
              <a:lnSpc>
                <a:spcPct val="90000"/>
              </a:lnSpc>
            </a:pPr>
            <a:endParaRPr lang="en-US" sz="2400" dirty="0"/>
          </a:p>
          <a:p>
            <a:pPr marL="0" indent="0" eaLnBrk="1" hangingPunct="1">
              <a:lnSpc>
                <a:spcPct val="90000"/>
              </a:lnSpc>
            </a:pPr>
            <a:endParaRPr lang="en-US" sz="2400" dirty="0"/>
          </a:p>
          <a:p>
            <a:pPr marL="0" indent="0" eaLnBrk="1" hangingPunct="1">
              <a:lnSpc>
                <a:spcPct val="90000"/>
              </a:lnSpc>
            </a:pPr>
            <a:r>
              <a:rPr lang="en-US" sz="2400" dirty="0"/>
              <a:t>         Units are N / m</a:t>
            </a:r>
            <a:r>
              <a:rPr lang="en-US" sz="2400" baseline="30000" dirty="0"/>
              <a:t>2</a:t>
            </a:r>
            <a:endParaRPr lang="en-US" sz="2400" dirty="0"/>
          </a:p>
          <a:p>
            <a:pPr marL="0" indent="0" eaLnBrk="1" hangingPunct="1">
              <a:lnSpc>
                <a:spcPct val="90000"/>
              </a:lnSpc>
            </a:pPr>
            <a:endParaRPr lang="en-US" sz="1800" dirty="0"/>
          </a:p>
          <a:p>
            <a:pPr marL="0" indent="0" eaLnBrk="1" hangingPunct="1">
              <a:lnSpc>
                <a:spcPct val="90000"/>
              </a:lnSpc>
            </a:pPr>
            <a:endParaRPr lang="en-US" sz="1800" dirty="0"/>
          </a:p>
          <a:p>
            <a:pPr marL="0" indent="0" eaLnBrk="1" hangingPunct="1"/>
            <a:endParaRPr lang="en-US" sz="1800" dirty="0"/>
          </a:p>
        </p:txBody>
      </p:sp>
      <p:graphicFrame>
        <p:nvGraphicFramePr>
          <p:cNvPr id="614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144816"/>
              </p:ext>
            </p:extLst>
          </p:nvPr>
        </p:nvGraphicFramePr>
        <p:xfrm>
          <a:off x="1841604" y="5068887"/>
          <a:ext cx="22860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3" imgW="3340080" imgH="1168200" progId="Equation.DSMT4">
                  <p:embed/>
                </p:oleObj>
              </mc:Choice>
              <mc:Fallback>
                <p:oleObj name="Equation" r:id="rId3" imgW="3340080" imgH="1168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604" y="5068887"/>
                        <a:ext cx="2286000" cy="798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1" name="Picture 7" descr="12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72604" y="2895600"/>
            <a:ext cx="2995196" cy="33279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Stress vs. Strain Curve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815715" y="647701"/>
            <a:ext cx="8305800" cy="3467100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dirty="0"/>
              <a:t>Experiments show that for certain stresses, the stress is directly proportional to the strain.</a:t>
            </a:r>
          </a:p>
          <a:p>
            <a:pPr marL="0" indent="0" eaLnBrk="1" hangingPunct="1"/>
            <a:r>
              <a:rPr lang="en-US" dirty="0"/>
              <a:t>This is the elastic behavior part of the curve.</a:t>
            </a:r>
          </a:p>
          <a:p>
            <a:pPr marL="0" indent="0" eaLnBrk="1" hangingPunct="1"/>
            <a:r>
              <a:rPr lang="en-US" dirty="0"/>
              <a:t>The </a:t>
            </a:r>
            <a:r>
              <a:rPr lang="en-US" b="1" dirty="0"/>
              <a:t>elastic limit</a:t>
            </a:r>
            <a:r>
              <a:rPr lang="en-US" dirty="0"/>
              <a:t> is the maximum stress that can be applied to the substance before it becomes permanently deformed.</a:t>
            </a:r>
          </a:p>
          <a:p>
            <a:pPr lvl="1" eaLnBrk="1" hangingPunct="1"/>
            <a:endParaRPr lang="en-US" sz="1800" dirty="0"/>
          </a:p>
        </p:txBody>
      </p:sp>
      <p:pic>
        <p:nvPicPr>
          <p:cNvPr id="35846" name="Picture 6" descr="12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5015" y="3124200"/>
            <a:ext cx="4267200" cy="33035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Grp="1" noChangeArrowheads="1"/>
          </p:cNvSpPr>
          <p:nvPr>
            <p:ph type="title"/>
          </p:nvPr>
        </p:nvSpPr>
        <p:spPr>
          <a:xfrm>
            <a:off x="982133" y="152400"/>
            <a:ext cx="7704667" cy="838199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Stress vs. Strain Curve, cont’d.</a:t>
            </a:r>
          </a:p>
        </p:txBody>
      </p:sp>
      <p:sp>
        <p:nvSpPr>
          <p:cNvPr id="36867" name="Rectangle 5"/>
          <p:cNvSpPr>
            <a:spLocks noGrp="1" noChangeArrowheads="1"/>
          </p:cNvSpPr>
          <p:nvPr>
            <p:ph idx="1"/>
          </p:nvPr>
        </p:nvSpPr>
        <p:spPr>
          <a:xfrm>
            <a:off x="982132" y="990599"/>
            <a:ext cx="7704667" cy="4399617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sz="3200" dirty="0"/>
              <a:t>When the stress exceeds the elastic limit, the substance will be permanently deformed.</a:t>
            </a:r>
          </a:p>
          <a:p>
            <a:pPr lvl="1" eaLnBrk="1" hangingPunct="1"/>
            <a:r>
              <a:rPr lang="en-US" sz="3200" dirty="0"/>
              <a:t>The curve is no longer a straight line.</a:t>
            </a:r>
          </a:p>
          <a:p>
            <a:pPr marL="0" indent="0" eaLnBrk="1" hangingPunct="1"/>
            <a:r>
              <a:rPr lang="en-US" sz="3200" dirty="0"/>
              <a:t>With additional stress, the material ultimately breaks.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Shear Modulus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85800" y="1524000"/>
            <a:ext cx="4495800" cy="459105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sz="2400" dirty="0"/>
              <a:t>Another type of deformation occurs when a force acts parallel to one of its faces while the opposite face is held fixed by another force.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sz="2400" dirty="0"/>
              <a:t>This is called a </a:t>
            </a:r>
            <a:r>
              <a:rPr lang="en-US" sz="2400" b="1" i="1" dirty="0"/>
              <a:t>shear stress.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sz="2400" dirty="0"/>
              <a:t>For small deformations, no change in volume occurs with this deformation.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marL="0" indent="0" eaLnBrk="1" hangingPunct="1"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37894" name="Picture 6" descr="1213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2182812"/>
            <a:ext cx="3962400" cy="3273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5867400" cy="1143000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Shear Modulus, cont.</a:t>
            </a:r>
          </a:p>
        </p:txBody>
      </p:sp>
      <p:sp>
        <p:nvSpPr>
          <p:cNvPr id="7172" name="Content Placeholder 5"/>
          <p:cNvSpPr>
            <a:spLocks noGrp="1" noChangeArrowheads="1"/>
          </p:cNvSpPr>
          <p:nvPr>
            <p:ph idx="1"/>
          </p:nvPr>
        </p:nvSpPr>
        <p:spPr>
          <a:xfrm>
            <a:off x="914400" y="912760"/>
            <a:ext cx="8077200" cy="5019836"/>
          </a:xfr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The shear strain is </a:t>
            </a:r>
            <a:r>
              <a:rPr lang="en-US" dirty="0" err="1">
                <a:latin typeface="Symbol" pitchFamily="80" charset="2"/>
              </a:rPr>
              <a:t>D</a:t>
            </a:r>
            <a:r>
              <a:rPr lang="en-US" dirty="0" err="1"/>
              <a:t>x</a:t>
            </a:r>
            <a:r>
              <a:rPr lang="en-US" dirty="0"/>
              <a:t> / h.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err="1">
                <a:latin typeface="Symbol" pitchFamily="80" charset="2"/>
              </a:rPr>
              <a:t>D</a:t>
            </a:r>
            <a:r>
              <a:rPr lang="en-US" dirty="0" err="1"/>
              <a:t>x</a:t>
            </a:r>
            <a:r>
              <a:rPr lang="en-US" dirty="0"/>
              <a:t> is the horizontal distance the sheared face moves.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h is the height of the object.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The shear stress is F / A.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F is the tangential force.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A is the area of the face being sheared.</a:t>
            </a:r>
          </a:p>
          <a:p>
            <a:pPr marL="0" indent="0" eaLnBrk="1" hangingPunct="1"/>
            <a:r>
              <a:rPr lang="en-US" dirty="0"/>
              <a:t>The shear modulus is the ratio of the shear stress to the shear strain.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r>
              <a:rPr lang="en-US" dirty="0"/>
              <a:t>Units are N / m</a:t>
            </a:r>
            <a:r>
              <a:rPr lang="en-US" baseline="30000" dirty="0"/>
              <a:t>2</a:t>
            </a:r>
            <a:endParaRPr lang="en-US" dirty="0"/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745339"/>
              </p:ext>
            </p:extLst>
          </p:nvPr>
        </p:nvGraphicFramePr>
        <p:xfrm>
          <a:off x="2087562" y="4648200"/>
          <a:ext cx="21796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Equation" r:id="rId3" imgW="3124080" imgH="1091880" progId="Equation.3">
                  <p:embed/>
                </p:oleObj>
              </mc:Choice>
              <mc:Fallback>
                <p:oleObj name="Equation" r:id="rId3" imgW="3124080" imgH="1091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2" y="4648200"/>
                        <a:ext cx="2179638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362" y="4156852"/>
            <a:ext cx="3429000" cy="28328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Bulk Modulus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838200" y="1219200"/>
            <a:ext cx="4419600" cy="5181600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/>
            <a:r>
              <a:rPr lang="en-US" sz="2400" dirty="0"/>
              <a:t>Another type of deformation occurs when a force of uniform magnitude is applied perpendicularly over the entire surface of the object.</a:t>
            </a:r>
          </a:p>
          <a:p>
            <a:pPr marL="0" indent="0" eaLnBrk="1" hangingPunct="1"/>
            <a:r>
              <a:rPr lang="en-US" sz="2400" dirty="0"/>
              <a:t>The object will undergo a change in volume, but not in shape.</a:t>
            </a:r>
          </a:p>
          <a:p>
            <a:pPr marL="0" indent="0" eaLnBrk="1" hangingPunct="1"/>
            <a:r>
              <a:rPr lang="en-US" sz="2400" dirty="0"/>
              <a:t>The volume stress is defined as the ratio of the magnitude of the total force, F, exerted on the surface to the area, A, of the surface.</a:t>
            </a:r>
          </a:p>
          <a:p>
            <a:pPr lvl="1" eaLnBrk="1" hangingPunct="1"/>
            <a:r>
              <a:rPr lang="en-US" dirty="0"/>
              <a:t>This is also called the </a:t>
            </a:r>
            <a:r>
              <a:rPr lang="en-US" b="1" i="1" dirty="0"/>
              <a:t>pressure.</a:t>
            </a:r>
            <a:endParaRPr lang="en-US" dirty="0"/>
          </a:p>
          <a:p>
            <a:pPr marL="0" indent="0" eaLnBrk="1" hangingPunct="1"/>
            <a:r>
              <a:rPr lang="en-US" sz="2400" dirty="0"/>
              <a:t>The volume strain is the ratio of the change in volume to the original volume.</a:t>
            </a:r>
          </a:p>
          <a:p>
            <a:pPr marL="0" indent="0" eaLnBrk="1" hangingPunct="1"/>
            <a:endParaRPr lang="en-US" sz="1800" dirty="0"/>
          </a:p>
        </p:txBody>
      </p:sp>
      <p:pic>
        <p:nvPicPr>
          <p:cNvPr id="38918" name="Picture 6" descr="12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26087" y="1371600"/>
            <a:ext cx="3541713" cy="44275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3" y="0"/>
            <a:ext cx="7704667" cy="1143000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Bulk Modulus, cont.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982133" y="1066800"/>
            <a:ext cx="7704667" cy="4933016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The bulk modulus is the ratio of the volume stress to the volume strain.</a:t>
            </a:r>
          </a:p>
          <a:p>
            <a:pPr marL="0" indent="0" eaLnBrk="1" hangingPunct="1">
              <a:lnSpc>
                <a:spcPct val="90000"/>
              </a:lnSpc>
            </a:pPr>
            <a:endParaRPr lang="en-US" dirty="0"/>
          </a:p>
          <a:p>
            <a:pPr marL="0" indent="0" eaLnBrk="1" hangingPunct="1">
              <a:lnSpc>
                <a:spcPct val="90000"/>
              </a:lnSpc>
            </a:pPr>
            <a:endParaRPr lang="en-US" dirty="0"/>
          </a:p>
          <a:p>
            <a:pPr marL="0" indent="0" eaLnBrk="1" hangingPunct="1">
              <a:lnSpc>
                <a:spcPct val="90000"/>
              </a:lnSpc>
            </a:pPr>
            <a:endParaRPr lang="en-US" dirty="0"/>
          </a:p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The negative indicates that an increase in pressure will result in a decrease in volume.</a:t>
            </a:r>
          </a:p>
          <a:p>
            <a:pPr marL="0" indent="0" eaLnBrk="1" hangingPunct="1">
              <a:lnSpc>
                <a:spcPct val="90000"/>
              </a:lnSpc>
            </a:pPr>
            <a:endParaRPr lang="en-US" dirty="0"/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394054"/>
              </p:ext>
            </p:extLst>
          </p:nvPr>
        </p:nvGraphicFramePr>
        <p:xfrm>
          <a:off x="2889286" y="2657008"/>
          <a:ext cx="389036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Equation" r:id="rId3" imgW="3771720" imgH="888840" progId="Equation.DSMT4">
                  <p:embed/>
                </p:oleObj>
              </mc:Choice>
              <mc:Fallback>
                <p:oleObj name="Equation" r:id="rId3" imgW="3771720" imgH="8888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86" y="2657008"/>
                        <a:ext cx="389036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0233" y="76200"/>
            <a:ext cx="7704667" cy="1066799"/>
          </a:xfrm>
        </p:spPr>
        <p:txBody>
          <a:bodyPr/>
          <a:lstStyle/>
          <a:p>
            <a:pPr eaLnBrk="1" hangingPunct="1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Compressibility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020232" y="1295400"/>
            <a:ext cx="7704667" cy="3332816"/>
          </a:xfrm>
        </p:spPr>
        <p:txBody>
          <a:bodyPr/>
          <a:lstStyle/>
          <a:p>
            <a:pPr marL="0" indent="0" eaLnBrk="1" hangingPunct="1"/>
            <a:r>
              <a:rPr lang="en-US" sz="2800" dirty="0"/>
              <a:t>The compressibility is the inverse of the bulk modulus.</a:t>
            </a:r>
          </a:p>
          <a:p>
            <a:pPr marL="0" indent="0" eaLnBrk="1" hangingPunct="1"/>
            <a:r>
              <a:rPr lang="en-US" sz="2800" dirty="0"/>
              <a:t>It may be used instead of the bulk modulus.</a:t>
            </a:r>
          </a:p>
          <a:p>
            <a:pPr marL="0" indent="0" eaLnBrk="1" hangingPunct="1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3" y="76200"/>
            <a:ext cx="7704667" cy="12954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Moduli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Types of Materials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982132" y="1371600"/>
            <a:ext cx="7704667" cy="4094816"/>
          </a:xfrm>
        </p:spPr>
        <p:txBody>
          <a:bodyPr>
            <a:noAutofit/>
          </a:bodyPr>
          <a:lstStyle/>
          <a:p>
            <a:pPr marL="0" indent="0" eaLnBrk="1" hangingPunct="1"/>
            <a:r>
              <a:rPr lang="en-US" sz="2800" dirty="0"/>
              <a:t>Both solids and liquids have a bulk modulus.</a:t>
            </a:r>
          </a:p>
          <a:p>
            <a:pPr marL="0" indent="0" eaLnBrk="1" hangingPunct="1"/>
            <a:r>
              <a:rPr lang="en-US" sz="2800" dirty="0"/>
              <a:t>Liquids cannot sustain a shearing stress or a tensile stress.</a:t>
            </a:r>
          </a:p>
          <a:p>
            <a:pPr lvl="1" eaLnBrk="1" hangingPunct="1"/>
            <a:r>
              <a:rPr lang="en-US" sz="2800" dirty="0"/>
              <a:t>If a shearing force or a tensile force is applied to a liquid, the liquid will flow in response.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/>
              <a:t>Moduli</a:t>
            </a:r>
            <a:r>
              <a:rPr lang="en-US" b="1" dirty="0"/>
              <a:t> Values</a:t>
            </a:r>
          </a:p>
        </p:txBody>
      </p:sp>
      <p:pic>
        <p:nvPicPr>
          <p:cNvPr id="41989" name="Picture 5" descr="12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6861" y="1828800"/>
            <a:ext cx="7948539" cy="3890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362200"/>
          </a:xfrm>
        </p:spPr>
        <p:txBody>
          <a:bodyPr/>
          <a:lstStyle/>
          <a:p>
            <a:pPr>
              <a:buNone/>
            </a:pPr>
            <a:r>
              <a:rPr lang="en-US" dirty="0"/>
              <a:t>	A 20-m long steel wire (cross-section 1.0 cm</a:t>
            </a:r>
            <a:r>
              <a:rPr lang="en-US" baseline="30000" dirty="0"/>
              <a:t>2</a:t>
            </a:r>
            <a:r>
              <a:rPr lang="en-US" dirty="0"/>
              <a:t>, Young's modulus 2.0 x 10</a:t>
            </a:r>
            <a:r>
              <a:rPr lang="en-US" baseline="30000" dirty="0"/>
              <a:t>11</a:t>
            </a:r>
            <a:r>
              <a:rPr lang="en-US" dirty="0"/>
              <a:t> N/m</a:t>
            </a:r>
            <a:r>
              <a:rPr lang="en-US" baseline="30000" dirty="0"/>
              <a:t>2</a:t>
            </a:r>
            <a:r>
              <a:rPr lang="en-US" dirty="0"/>
              <a:t>), is subjected to a load of 25 000 N. How much will the wire stretch under the load?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4038600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Ans</a:t>
            </a:r>
            <a:r>
              <a:rPr lang="en-US" sz="2400" dirty="0"/>
              <a:t>: 2.5 cm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/>
          <a:lstStyle/>
          <a:p>
            <a:pPr>
              <a:buNone/>
            </a:pPr>
            <a:r>
              <a:rPr lang="en-US" dirty="0"/>
              <a:t>	How large a force is necessary to stretch a 2.0-mm diameter copper wire (</a:t>
            </a:r>
            <a:r>
              <a:rPr lang="en-US" i="1" dirty="0"/>
              <a:t>Y</a:t>
            </a:r>
            <a:r>
              <a:rPr lang="en-US" dirty="0"/>
              <a:t> = 11 x 10</a:t>
            </a:r>
            <a:r>
              <a:rPr lang="en-US" baseline="30000" dirty="0"/>
              <a:t>10</a:t>
            </a:r>
            <a:r>
              <a:rPr lang="en-US" dirty="0"/>
              <a:t> N/m</a:t>
            </a:r>
            <a:r>
              <a:rPr lang="en-US" baseline="30000" dirty="0"/>
              <a:t>2</a:t>
            </a:r>
            <a:r>
              <a:rPr lang="en-US" dirty="0"/>
              <a:t>) by 1.0%?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3886200"/>
            <a:ext cx="1590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Ans</a:t>
            </a:r>
            <a:r>
              <a:rPr lang="en-US" sz="2400" dirty="0"/>
              <a:t>: 3.5 </a:t>
            </a:r>
            <a:r>
              <a:rPr lang="en-US" sz="2400" dirty="0" err="1"/>
              <a:t>kN</a:t>
            </a:r>
            <a:endParaRPr 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1191</TotalTime>
  <Words>1021</Words>
  <Application>Microsoft Office PowerPoint</Application>
  <PresentationFormat>On-screen Show (4:3)</PresentationFormat>
  <Paragraphs>115</Paragraphs>
  <Slides>22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Corbel</vt:lpstr>
      <vt:lpstr>Symbol</vt:lpstr>
      <vt:lpstr>Parallax</vt:lpstr>
      <vt:lpstr>Equation</vt:lpstr>
      <vt:lpstr>Static Equilibrium and Elasticity </vt:lpstr>
      <vt:lpstr>Static Equilibrium</vt:lpstr>
      <vt:lpstr>Elasticity</vt:lpstr>
      <vt:lpstr>     Center of Mass</vt:lpstr>
      <vt:lpstr>Center of Gravity</vt:lpstr>
      <vt:lpstr>Center of Gravity, cont</vt:lpstr>
      <vt:lpstr>Definitions Associated With Deformation</vt:lpstr>
      <vt:lpstr>Elasticity</vt:lpstr>
      <vt:lpstr>Elastic Modulus</vt:lpstr>
      <vt:lpstr>Three Types of Moduli</vt:lpstr>
      <vt:lpstr>Young’s Modulus</vt:lpstr>
      <vt:lpstr>Stress vs. Strain Curve</vt:lpstr>
      <vt:lpstr>Stress vs. Strain Curve, cont’d.</vt:lpstr>
      <vt:lpstr>Shear Modulus</vt:lpstr>
      <vt:lpstr>Shear Modulus, cont.</vt:lpstr>
      <vt:lpstr>Bulk Modulus</vt:lpstr>
      <vt:lpstr>Bulk Modulus, cont.</vt:lpstr>
      <vt:lpstr>Compressibility</vt:lpstr>
      <vt:lpstr>Moduli and Types of Materials</vt:lpstr>
      <vt:lpstr>Moduli Values</vt:lpstr>
      <vt:lpstr>Problem</vt:lpstr>
      <vt:lpstr>Problem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Equilibrium and Elasticity</dc:title>
  <dc:creator>Raymond Edziah</dc:creator>
  <cp:lastModifiedBy>Bright Abbiw</cp:lastModifiedBy>
  <cp:revision>33</cp:revision>
  <dcterms:created xsi:type="dcterms:W3CDTF">2014-11-10T16:44:45Z</dcterms:created>
  <dcterms:modified xsi:type="dcterms:W3CDTF">2019-10-09T14:13:02Z</dcterms:modified>
</cp:coreProperties>
</file>
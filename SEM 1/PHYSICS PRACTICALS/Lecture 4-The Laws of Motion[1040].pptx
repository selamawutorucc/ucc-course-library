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3" r:id="rId18"/>
    <p:sldId id="275" r:id="rId19"/>
    <p:sldId id="276" r:id="rId20"/>
    <p:sldId id="277" r:id="rId21"/>
    <p:sldId id="278" r:id="rId22"/>
    <p:sldId id="279" r:id="rId23"/>
    <p:sldId id="281" r:id="rId24"/>
    <p:sldId id="280" r:id="rId25"/>
    <p:sldId id="282" r:id="rId26"/>
    <p:sldId id="28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4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78492-985C-4237-BE38-504D67732332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7D67-653F-43EC-8647-41BB04CF75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25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27D67-653F-43EC-8647-41BB04CF759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00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FC7A8-19A2-42EA-BDD5-07EC10D537BB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B3C4E-F2D8-4CCF-88DD-8E05197136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8.jpeg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11" Type="http://schemas.openxmlformats.org/officeDocument/2006/relationships/image" Target="../media/image13.jpe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3.jpeg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Laws of Motion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/>
              <a:t>The Laws of Motion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/>
              <a:t>The description of an object in motion included its position, velocity, and acceleration.</a:t>
            </a:r>
          </a:p>
          <a:p>
            <a:pPr marL="0" indent="0"/>
            <a:r>
              <a:rPr lang="en-US" sz="2400" b="1" dirty="0"/>
              <a:t>There was no consideration of what might influence that motion.</a:t>
            </a:r>
          </a:p>
          <a:p>
            <a:pPr marL="0" indent="0"/>
            <a:r>
              <a:rPr lang="en-US" sz="2400" b="1" dirty="0"/>
              <a:t>Two main factors need to be addressed to answer questions about why the motion of an object will change.</a:t>
            </a:r>
          </a:p>
          <a:p>
            <a:pPr lvl="1"/>
            <a:r>
              <a:rPr lang="en-US" sz="2400" b="1" dirty="0"/>
              <a:t>Forces acting on the object</a:t>
            </a:r>
          </a:p>
          <a:p>
            <a:pPr lvl="1"/>
            <a:r>
              <a:rPr lang="en-US" sz="2400" b="1" dirty="0"/>
              <a:t>The mass of the object</a:t>
            </a:r>
          </a:p>
          <a:p>
            <a:pPr marL="0" indent="0"/>
            <a:r>
              <a:rPr lang="en-US" sz="2400" b="1" dirty="0"/>
              <a:t>Dynamics studies the causes of motion.</a:t>
            </a:r>
          </a:p>
          <a:p>
            <a:pPr marL="0" indent="0"/>
            <a:r>
              <a:rPr lang="en-US" sz="2400" b="1" dirty="0"/>
              <a:t>Will start with three basic laws of motion</a:t>
            </a:r>
          </a:p>
          <a:p>
            <a:pPr lvl="1"/>
            <a:r>
              <a:rPr lang="en-US" sz="2400" b="1" dirty="0"/>
              <a:t>Formulated by Sir Isaac Newton</a:t>
            </a:r>
            <a:r>
              <a:rPr lang="en-US" sz="2400" dirty="0"/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Sir Isaac Newton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533400" y="1447800"/>
            <a:ext cx="39624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1642 – 1727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Formulated basic laws of mechanics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 Law of Universal Gravitation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Invented form of calculus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Many observations dealing with light and optics</a:t>
            </a:r>
          </a:p>
        </p:txBody>
      </p:sp>
      <p:pic>
        <p:nvPicPr>
          <p:cNvPr id="5" name="Picture 7" descr="05P1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600200"/>
            <a:ext cx="3756025" cy="487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/>
              <a:t>Force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43450"/>
          </a:xfrm>
        </p:spPr>
        <p:txBody>
          <a:bodyPr>
            <a:normAutofit/>
          </a:bodyPr>
          <a:lstStyle/>
          <a:p>
            <a:pPr marL="0" indent="0"/>
            <a:r>
              <a:rPr lang="en-US" b="1" dirty="0"/>
              <a:t>Forces in everyday experience</a:t>
            </a:r>
          </a:p>
          <a:p>
            <a:pPr lvl="1"/>
            <a:r>
              <a:rPr lang="en-US" b="1" dirty="0"/>
              <a:t>Push on an object to move it</a:t>
            </a:r>
          </a:p>
          <a:p>
            <a:pPr lvl="1"/>
            <a:r>
              <a:rPr lang="en-US" b="1" dirty="0"/>
              <a:t>Throw or kick a ball</a:t>
            </a:r>
          </a:p>
          <a:p>
            <a:pPr marL="457200" lvl="1" indent="0">
              <a:buNone/>
            </a:pPr>
            <a:r>
              <a:rPr lang="en-US" b="1" dirty="0"/>
              <a:t>Note: You may push on an object and not be able to move it</a:t>
            </a:r>
          </a:p>
          <a:p>
            <a:pPr marL="0" indent="0"/>
            <a:r>
              <a:rPr lang="en-US" b="1" dirty="0"/>
              <a:t>Forces are what cause any change in the velocity of an object.</a:t>
            </a:r>
          </a:p>
          <a:p>
            <a:pPr lvl="1"/>
            <a:r>
              <a:rPr lang="en-US" b="1" dirty="0"/>
              <a:t>Newton’s definition</a:t>
            </a:r>
          </a:p>
          <a:p>
            <a:pPr lvl="1"/>
            <a:r>
              <a:rPr lang="en-US" b="1" dirty="0"/>
              <a:t>A force is that which causes an acceleration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868362"/>
          </a:xfrm>
        </p:spPr>
        <p:txBody>
          <a:bodyPr/>
          <a:lstStyle/>
          <a:p>
            <a:r>
              <a:rPr lang="en-US" b="1" dirty="0"/>
              <a:t>Classes of Forces</a:t>
            </a:r>
          </a:p>
        </p:txBody>
      </p:sp>
      <p:pic>
        <p:nvPicPr>
          <p:cNvPr id="4" name="Picture 7" descr="05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567454"/>
            <a:ext cx="7086600" cy="3317082"/>
          </a:xfrm>
          <a:prstGeom prst="rect">
            <a:avLst/>
          </a:prstGeom>
          <a:noFill/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3810000"/>
            <a:ext cx="8686800" cy="3048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Contact forces involve physical contact between two objects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Examples a, b,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Field forces act through empty space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physical contact is required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Examples d, e, 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/>
              <a:t>Fundamental Forces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89585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b="1" dirty="0"/>
              <a:t>Gravitational force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Between objects</a:t>
            </a:r>
          </a:p>
          <a:p>
            <a:pPr marL="0" indent="0">
              <a:lnSpc>
                <a:spcPct val="90000"/>
              </a:lnSpc>
            </a:pPr>
            <a:r>
              <a:rPr lang="en-US" b="1" dirty="0"/>
              <a:t>Electromagnetic forces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Between electric charges</a:t>
            </a:r>
          </a:p>
          <a:p>
            <a:pPr marL="0" indent="0">
              <a:lnSpc>
                <a:spcPct val="90000"/>
              </a:lnSpc>
            </a:pPr>
            <a:r>
              <a:rPr lang="en-US" b="1" dirty="0"/>
              <a:t>Nuclear force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Between subatomic particles</a:t>
            </a:r>
          </a:p>
          <a:p>
            <a:pPr marL="0" indent="0">
              <a:lnSpc>
                <a:spcPct val="90000"/>
              </a:lnSpc>
            </a:pPr>
            <a:r>
              <a:rPr lang="en-US" b="1" dirty="0"/>
              <a:t>Weak forces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Arise in certain radioactive decay processes</a:t>
            </a:r>
          </a:p>
          <a:p>
            <a:pPr marL="0" indent="0">
              <a:lnSpc>
                <a:spcPct val="90000"/>
              </a:lnSpc>
            </a:pPr>
            <a:r>
              <a:rPr lang="en-US" b="1" dirty="0"/>
              <a:t>Note: These are all field forces.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868362"/>
          </a:xfrm>
        </p:spPr>
        <p:txBody>
          <a:bodyPr/>
          <a:lstStyle/>
          <a:p>
            <a:r>
              <a:rPr lang="en-US" b="1" dirty="0"/>
              <a:t>Newton’s First Law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00150"/>
            <a:ext cx="8305800" cy="52006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If an object does not interact with other objects, it is possible to identify a reference frame in which the object has zero acceleration.</a:t>
            </a:r>
          </a:p>
          <a:p>
            <a:pPr lvl="1"/>
            <a:r>
              <a:rPr lang="en-US" sz="3600" dirty="0"/>
              <a:t>This is also called the </a:t>
            </a:r>
            <a:r>
              <a:rPr lang="en-US" sz="3600" i="1" u="sng" dirty="0"/>
              <a:t>law of inertia</a:t>
            </a:r>
            <a:r>
              <a:rPr lang="en-US" sz="3600" i="1" dirty="0"/>
              <a:t>.</a:t>
            </a:r>
            <a:endParaRPr lang="en-US" sz="3600" dirty="0"/>
          </a:p>
          <a:p>
            <a:pPr lvl="1"/>
            <a:r>
              <a:rPr lang="en-US" sz="3600" dirty="0"/>
              <a:t>It defines a special set of reference frames called </a:t>
            </a:r>
            <a:r>
              <a:rPr lang="en-US" sz="3600" i="1" u="sng" dirty="0"/>
              <a:t>inertial frames</a:t>
            </a:r>
            <a:r>
              <a:rPr lang="en-US" sz="3600" i="1" dirty="0"/>
              <a:t>.</a:t>
            </a:r>
            <a:endParaRPr lang="en-US" sz="3600" dirty="0"/>
          </a:p>
          <a:p>
            <a:pPr lvl="2"/>
            <a:r>
              <a:rPr lang="en-US" sz="3600" dirty="0"/>
              <a:t>We call this an </a:t>
            </a:r>
            <a:r>
              <a:rPr lang="en-US" sz="3600" b="1" i="1" dirty="0"/>
              <a:t>inertial frame of reference.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/>
          <a:lstStyle/>
          <a:p>
            <a:r>
              <a:rPr lang="en-US" dirty="0"/>
              <a:t>Inertial Frames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b="1" dirty="0"/>
              <a:t>Any </a:t>
            </a:r>
            <a:r>
              <a:rPr lang="en-US" b="1" u="sng" dirty="0"/>
              <a:t>reference frame that moves with constant velocity relative to an inertial frame </a:t>
            </a:r>
            <a:r>
              <a:rPr lang="en-US" b="1" dirty="0"/>
              <a:t>is itself an inertial frame.</a:t>
            </a:r>
          </a:p>
          <a:p>
            <a:pPr marL="0" indent="0"/>
            <a:r>
              <a:rPr lang="en-US" b="1" dirty="0"/>
              <a:t>If you accelerate relative to an object in an inertial frame, you are observing the object from a </a:t>
            </a:r>
            <a:r>
              <a:rPr lang="en-US" b="1" u="sng" dirty="0"/>
              <a:t>non-inertial reference frame.</a:t>
            </a:r>
          </a:p>
          <a:p>
            <a:pPr marL="0" indent="0"/>
            <a:r>
              <a:rPr lang="en-US" b="1" dirty="0"/>
              <a:t>A reference frame that moves with constant velocity relative to the distant stars is the best approximation of an inertial frame.</a:t>
            </a:r>
          </a:p>
          <a:p>
            <a:pPr lvl="1"/>
            <a:r>
              <a:rPr lang="en-US" b="1" dirty="0"/>
              <a:t>We can consider the Earth to be such an inertial frame, although it has a small centripetal acceleration associated with its motion.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Newton’s First Law – Alternative Statement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229600" cy="5638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 the absence of external forces, when viewed from an </a:t>
            </a:r>
            <a:r>
              <a:rPr lang="en-US" b="1" u="sng" dirty="0"/>
              <a:t>inertial reference frame</a:t>
            </a:r>
            <a:r>
              <a:rPr lang="en-US" b="1" dirty="0"/>
              <a:t>, an object at rest remains at rest and an object in motion continues in motion with a constant velocity.</a:t>
            </a:r>
          </a:p>
          <a:p>
            <a:pPr lvl="1"/>
            <a:r>
              <a:rPr lang="en-US" b="1" dirty="0"/>
              <a:t>Newton’s First Law describes what happens in the absence of a force.</a:t>
            </a:r>
          </a:p>
          <a:p>
            <a:pPr lvl="2"/>
            <a:r>
              <a:rPr lang="en-US" b="1" dirty="0"/>
              <a:t>Does not describe zero net force</a:t>
            </a:r>
          </a:p>
          <a:p>
            <a:pPr lvl="1"/>
            <a:r>
              <a:rPr lang="en-US" b="1" dirty="0"/>
              <a:t>Also tells us that when no force acts on an object, the acceleration of the object is zero</a:t>
            </a:r>
          </a:p>
          <a:p>
            <a:pPr lvl="1"/>
            <a:r>
              <a:rPr lang="en-US" b="1" dirty="0"/>
              <a:t>Can conclude that any isolated object is either at rest or moving at a constant velocity</a:t>
            </a:r>
          </a:p>
          <a:p>
            <a:pPr lvl="1"/>
            <a:endParaRPr lang="en-US" b="1" dirty="0"/>
          </a:p>
          <a:p>
            <a:pPr marL="0" indent="0"/>
            <a:r>
              <a:rPr lang="en-US" b="1" dirty="0"/>
              <a:t>The First Law also allows the definition of </a:t>
            </a:r>
            <a:r>
              <a:rPr lang="en-US" b="1" i="1" u="sng" dirty="0"/>
              <a:t>force</a:t>
            </a:r>
            <a:r>
              <a:rPr lang="en-US" b="1" dirty="0"/>
              <a:t> as </a:t>
            </a:r>
            <a:r>
              <a:rPr lang="en-US" b="1" i="1" u="sng" dirty="0"/>
              <a:t>that which causes a change in the motion of an object.</a:t>
            </a:r>
            <a:endParaRPr lang="en-US" b="1" u="sng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b="1" dirty="0"/>
              <a:t>Inertia and Mass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838200"/>
            <a:ext cx="7772400" cy="601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tendency of an object to resist any attempt to change its velocity is called </a:t>
            </a:r>
            <a:r>
              <a:rPr kumimoji="0" lang="en-US" sz="3200" b="1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inertia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Mass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that property of an object that specifies how much resistance an object exhibits to changes in its velocity. Appropriately, it is referred to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as </a:t>
            </a:r>
            <a:r>
              <a:rPr kumimoji="0" lang="en-US" sz="3200" b="1" i="0" u="sng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inertial mass</a:t>
            </a: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Masses can be defined in terms of the accelerations produced by a given force acting on them: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magnitude of the acceleration experienced by an object is inversely proportional to its mass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191449"/>
              </p:ext>
            </p:extLst>
          </p:nvPr>
        </p:nvGraphicFramePr>
        <p:xfrm>
          <a:off x="3124200" y="4478482"/>
          <a:ext cx="1676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3" imgW="558720" imgH="431640" progId="Equation.3">
                  <p:embed/>
                </p:oleObj>
              </mc:Choice>
              <mc:Fallback>
                <p:oleObj name="Equation" r:id="rId3" imgW="55872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4478482"/>
                        <a:ext cx="1676400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792162"/>
          </a:xfrm>
        </p:spPr>
        <p:txBody>
          <a:bodyPr/>
          <a:lstStyle/>
          <a:p>
            <a:r>
              <a:rPr lang="en-US" b="1" dirty="0"/>
              <a:t>More About Mass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sz="3600" b="1" dirty="0"/>
              <a:t>Mass is an inherent property of an object.</a:t>
            </a:r>
          </a:p>
          <a:p>
            <a:pPr marL="0" indent="0">
              <a:lnSpc>
                <a:spcPct val="90000"/>
              </a:lnSpc>
            </a:pPr>
            <a:r>
              <a:rPr lang="en-US" sz="3600" b="1" dirty="0"/>
              <a:t>Mass is independent of the object’s surroundings.</a:t>
            </a:r>
          </a:p>
          <a:p>
            <a:pPr marL="0" indent="0">
              <a:lnSpc>
                <a:spcPct val="90000"/>
              </a:lnSpc>
            </a:pPr>
            <a:r>
              <a:rPr lang="en-US" sz="3600" b="1" dirty="0"/>
              <a:t>Mass is independent of the method used to measure it.</a:t>
            </a:r>
          </a:p>
          <a:p>
            <a:pPr marL="0" indent="0">
              <a:lnSpc>
                <a:spcPct val="90000"/>
              </a:lnSpc>
            </a:pPr>
            <a:r>
              <a:rPr lang="en-US" sz="3600" b="1" dirty="0"/>
              <a:t>Mass is a scalar quantity.</a:t>
            </a:r>
          </a:p>
          <a:p>
            <a:pPr lvl="1"/>
            <a:r>
              <a:rPr lang="en-US" sz="3600" b="1" dirty="0"/>
              <a:t>Obeys the rules of ordinary arithmetic</a:t>
            </a:r>
          </a:p>
          <a:p>
            <a:pPr marL="0" indent="0">
              <a:lnSpc>
                <a:spcPct val="90000"/>
              </a:lnSpc>
            </a:pPr>
            <a:r>
              <a:rPr lang="en-US" sz="3600" b="1" dirty="0"/>
              <a:t>The SI unit of mass is kg.</a:t>
            </a:r>
          </a:p>
          <a:p>
            <a:pPr marL="0" indent="0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/>
              <a:t>Mass vs. Weight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52550"/>
            <a:ext cx="8229600" cy="4972050"/>
          </a:xfrm>
        </p:spPr>
        <p:txBody>
          <a:bodyPr/>
          <a:lstStyle/>
          <a:p>
            <a:pPr marL="0" indent="0"/>
            <a:r>
              <a:rPr lang="en-US" sz="4400" b="1" dirty="0"/>
              <a:t>Mass and weight are two different quantities.</a:t>
            </a:r>
          </a:p>
          <a:p>
            <a:pPr marL="0" indent="0"/>
            <a:r>
              <a:rPr lang="en-US" sz="4400" b="1" dirty="0"/>
              <a:t>Weight is equal to the magnitude of the gravitational force exerted on the object, i.e. W=mg.</a:t>
            </a:r>
          </a:p>
          <a:p>
            <a:pPr lvl="1"/>
            <a:r>
              <a:rPr lang="en-US" sz="4400" b="1" dirty="0"/>
              <a:t>Weight will vary with location.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/>
          <a:lstStyle/>
          <a:p>
            <a:r>
              <a:rPr lang="en-US" b="1" dirty="0"/>
              <a:t>Newton’s Second Law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990600"/>
            <a:ext cx="8229600" cy="586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viewed from an </a:t>
            </a:r>
            <a:r>
              <a:rPr kumimoji="0" lang="en-US" sz="25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inertial reference frame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 </a:t>
            </a:r>
            <a:r>
              <a:rPr kumimoji="0" lang="en-US" sz="25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acceleration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 an object is </a:t>
            </a:r>
            <a:r>
              <a:rPr kumimoji="0" lang="en-US" sz="25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directly proportional to the net force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acting on it and </a:t>
            </a:r>
            <a:r>
              <a:rPr kumimoji="0" lang="en-US" sz="25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inversely proportional to its mass.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Force is the cause of </a:t>
            </a:r>
            <a:r>
              <a:rPr kumimoji="0" lang="en-US" sz="2500" b="1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changes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motion, as measured by the acceleration.</a:t>
            </a:r>
          </a:p>
          <a:p>
            <a:pPr marL="1143000" marR="0" lvl="2" indent="-228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Remember, an </a:t>
            </a:r>
            <a:r>
              <a:rPr kumimoji="0" lang="en-US" sz="25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object can have motion in the absence of forces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Algebraically, 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With a proportionality constant of 1 and speeds much lower than the speed of light.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2667000" y="4114800"/>
          <a:ext cx="3255416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3" imgW="1459866" imgH="444307" progId="Equation.DSMT4">
                  <p:embed/>
                </p:oleObj>
              </mc:Choice>
              <mc:Fallback>
                <p:oleObj name="Equation" r:id="rId3" imgW="1459866" imgH="444307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114800"/>
                        <a:ext cx="3255416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More About Newton’s Second Law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371600"/>
            <a:ext cx="82296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80" charset="2"/>
                <a:ea typeface="+mn-ea"/>
                <a:cs typeface="+mn-cs"/>
              </a:rPr>
              <a:t> 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is the net force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This is the vector sum of all the forces acting on the object.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May also be called the total force, </a:t>
            </a:r>
            <a:r>
              <a:rPr kumimoji="0" lang="en-US" sz="3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resultant force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, or the unbalanced force.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Newton’s Second Law can be expressed in terms of components: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80" charset="2"/>
                <a:ea typeface="+mn-ea"/>
                <a:cs typeface="+mn-cs"/>
              </a:rPr>
              <a:t>S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F</a:t>
            </a:r>
            <a:r>
              <a:rPr kumimoji="0" lang="en-US" sz="3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=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 m a</a:t>
            </a:r>
            <a:r>
              <a:rPr kumimoji="0" lang="en-US" sz="3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80" charset="2"/>
                <a:ea typeface="+mn-ea"/>
                <a:cs typeface="+mn-cs"/>
              </a:rPr>
              <a:t>S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F</a:t>
            </a:r>
            <a:r>
              <a:rPr kumimoji="0" lang="en-US" sz="3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 = 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m a</a:t>
            </a:r>
            <a:r>
              <a:rPr kumimoji="0" lang="en-US" sz="3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y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pitchFamily="80" charset="2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80" charset="2"/>
                <a:ea typeface="+mn-ea"/>
                <a:cs typeface="+mn-cs"/>
              </a:rPr>
              <a:t>S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F</a:t>
            </a:r>
            <a:r>
              <a:rPr kumimoji="0" lang="en-US" sz="3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 = 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m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  <a:r>
              <a:rPr kumimoji="0" lang="en-US" sz="30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z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80" charset="2"/>
                <a:ea typeface="+mn-ea"/>
                <a:cs typeface="+mn-cs"/>
              </a:rPr>
              <a:t> </a:t>
            </a:r>
            <a:endParaRPr kumimoji="0" lang="en-US" sz="3000" b="1" i="1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Remember that ma is not a force.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The sum of the forces is equated to this product of the mass of the object and its acceleration.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914400" y="1241425"/>
          <a:ext cx="6096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Equation" r:id="rId3" imgW="317087" imgH="266353" progId="Equation.DSMT4">
                  <p:embed/>
                </p:oleObj>
              </mc:Choice>
              <mc:Fallback>
                <p:oleObj name="Equation" r:id="rId3" imgW="317087" imgH="266353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241425"/>
                        <a:ext cx="609600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Units of Force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>
            <a:normAutofit/>
          </a:bodyPr>
          <a:lstStyle/>
          <a:p>
            <a:pPr marL="0" indent="0"/>
            <a:r>
              <a:rPr lang="en-US" b="1" dirty="0"/>
              <a:t>The SI unit of force is the </a:t>
            </a:r>
            <a:r>
              <a:rPr lang="en-US" b="1" dirty="0" err="1"/>
              <a:t>newton</a:t>
            </a:r>
            <a:r>
              <a:rPr lang="en-US" b="1" dirty="0"/>
              <a:t> (N).</a:t>
            </a:r>
          </a:p>
          <a:p>
            <a:pPr lvl="1"/>
            <a:r>
              <a:rPr lang="en-US" b="1" dirty="0"/>
              <a:t>1 N = 1 </a:t>
            </a:r>
            <a:r>
              <a:rPr lang="en-US" b="1" dirty="0" err="1"/>
              <a:t>kg</a:t>
            </a:r>
            <a:r>
              <a:rPr lang="en-US" b="1" dirty="0" err="1">
                <a:latin typeface="Lucida Grande" pitchFamily="80" charset="0"/>
                <a:cs typeface="Arial" charset="0"/>
              </a:rPr>
              <a:t>·</a:t>
            </a:r>
            <a:r>
              <a:rPr lang="en-US" b="1" dirty="0" err="1"/>
              <a:t>m</a:t>
            </a:r>
            <a:r>
              <a:rPr lang="en-US" b="1" dirty="0"/>
              <a:t> / s</a:t>
            </a:r>
            <a:r>
              <a:rPr lang="en-US" b="1" baseline="30000" dirty="0"/>
              <a:t>2</a:t>
            </a:r>
          </a:p>
          <a:p>
            <a:pPr marL="0" indent="0"/>
            <a:endParaRPr lang="en-US" b="1" dirty="0"/>
          </a:p>
          <a:p>
            <a:pPr marL="0" indent="0"/>
            <a:r>
              <a:rPr lang="en-US" b="1" dirty="0"/>
              <a:t>That is, one </a:t>
            </a:r>
            <a:r>
              <a:rPr lang="en-US" b="1" u="sng" dirty="0"/>
              <a:t>newton</a:t>
            </a:r>
            <a:r>
              <a:rPr lang="en-US" b="1" dirty="0"/>
              <a:t> is the force that which causes 1 kg mass to accelerate at 1 m/ s</a:t>
            </a:r>
            <a:r>
              <a:rPr lang="en-US" b="1" baseline="30000" dirty="0"/>
              <a:t>2</a:t>
            </a:r>
            <a:r>
              <a:rPr lang="en-US" b="1" dirty="0"/>
              <a:t> </a:t>
            </a:r>
          </a:p>
          <a:p>
            <a:pPr marL="0" indent="0"/>
            <a:endParaRPr lang="en-US" dirty="0"/>
          </a:p>
          <a:p>
            <a:pPr marL="0" indent="0">
              <a:buNone/>
            </a:pPr>
            <a:endParaRPr lang="en-US" dirty="0">
              <a:cs typeface="Arial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/>
          <a:lstStyle/>
          <a:p>
            <a:r>
              <a:rPr lang="en-US" b="1" dirty="0"/>
              <a:t>Force of Friction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/>
              <a:t>Forces of Friction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92500" lnSpcReduction="20000"/>
          </a:bodyPr>
          <a:lstStyle/>
          <a:p>
            <a:pPr marL="0" indent="0"/>
            <a:r>
              <a:rPr lang="en-US" sz="3600" b="1" dirty="0"/>
              <a:t>When an object is in motion on a surface or through a viscous medium, there will be a resistance to the motion.</a:t>
            </a:r>
          </a:p>
          <a:p>
            <a:pPr lvl="1"/>
            <a:r>
              <a:rPr lang="en-US" sz="3600" b="1" dirty="0"/>
              <a:t>This is due to the interactions between the object and its environment.</a:t>
            </a:r>
          </a:p>
          <a:p>
            <a:pPr marL="0" indent="0"/>
            <a:endParaRPr lang="en-US" sz="3600" b="1" dirty="0"/>
          </a:p>
          <a:p>
            <a:pPr marL="0" indent="0"/>
            <a:r>
              <a:rPr lang="en-US" sz="3600" b="1" dirty="0"/>
              <a:t>This resistance is called the </a:t>
            </a:r>
            <a:r>
              <a:rPr lang="en-US" sz="3600" b="1" i="1" u="sng" dirty="0"/>
              <a:t>force of friction</a:t>
            </a:r>
            <a:r>
              <a:rPr lang="en-US" i="1" u="sng" dirty="0"/>
              <a:t>.</a:t>
            </a:r>
          </a:p>
          <a:p>
            <a:pPr marL="0" indent="0"/>
            <a:endParaRPr lang="en-US" b="1" dirty="0"/>
          </a:p>
          <a:p>
            <a:pPr marL="0" indent="0"/>
            <a:r>
              <a:rPr lang="en-US" b="1" dirty="0"/>
              <a:t>There are two types of friction: </a:t>
            </a:r>
          </a:p>
          <a:p>
            <a:pPr marL="0" indent="0">
              <a:buNone/>
            </a:pPr>
            <a:r>
              <a:rPr lang="en-US" b="1" dirty="0"/>
              <a:t>-static friction  </a:t>
            </a:r>
          </a:p>
          <a:p>
            <a:pPr marL="0" indent="0">
              <a:buNone/>
            </a:pPr>
            <a:r>
              <a:rPr lang="en-US" b="1" dirty="0"/>
              <a:t>-kinetic friction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/>
          <a:lstStyle/>
          <a:p>
            <a:r>
              <a:rPr lang="en-US" b="1" dirty="0"/>
              <a:t>Forces of Friction, cont’d.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/>
          </a:bodyPr>
          <a:lstStyle/>
          <a:p>
            <a:pPr marL="0" indent="0"/>
            <a:r>
              <a:rPr lang="en-US" b="1" dirty="0">
                <a:latin typeface="+mj-lt"/>
              </a:rPr>
              <a:t>Friction is proportional to the normal force.</a:t>
            </a:r>
          </a:p>
          <a:p>
            <a:pPr lvl="1"/>
            <a:r>
              <a:rPr lang="en-US" sz="3200" b="1" i="1" dirty="0">
                <a:latin typeface="+mj-lt"/>
              </a:rPr>
              <a:t>f</a:t>
            </a:r>
            <a:r>
              <a:rPr lang="en-US" sz="3200" b="1" i="1" baseline="-25000" dirty="0">
                <a:latin typeface="+mj-lt"/>
              </a:rPr>
              <a:t>s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i="1" dirty="0">
                <a:latin typeface="+mj-lt"/>
              </a:rPr>
              <a:t>µ</a:t>
            </a:r>
            <a:r>
              <a:rPr lang="en-US" sz="3200" b="1" baseline="-25000" dirty="0">
                <a:latin typeface="+mj-lt"/>
              </a:rPr>
              <a:t>s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i="1" dirty="0">
                <a:latin typeface="+mj-lt"/>
              </a:rPr>
              <a:t>n</a:t>
            </a:r>
            <a:r>
              <a:rPr lang="en-US" sz="3200" b="1" dirty="0">
                <a:latin typeface="+mj-lt"/>
              </a:rPr>
              <a:t> and </a:t>
            </a:r>
            <a:r>
              <a:rPr lang="en-US" sz="3200" b="1" i="1" dirty="0" err="1">
                <a:latin typeface="+mj-lt"/>
              </a:rPr>
              <a:t>f</a:t>
            </a:r>
            <a:r>
              <a:rPr lang="en-US" sz="3200" b="1" i="1" baseline="-25000" dirty="0" err="1">
                <a:latin typeface="+mj-lt"/>
              </a:rPr>
              <a:t>k</a:t>
            </a:r>
            <a:r>
              <a:rPr lang="en-US" sz="3200" b="1" dirty="0">
                <a:latin typeface="+mj-lt"/>
              </a:rPr>
              <a:t>= </a:t>
            </a:r>
            <a:r>
              <a:rPr lang="en-US" sz="3200" b="1" i="1" dirty="0">
                <a:latin typeface="+mj-lt"/>
              </a:rPr>
              <a:t>µ</a:t>
            </a:r>
            <a:r>
              <a:rPr lang="en-US" sz="3200" b="1" i="1" baseline="-25000" dirty="0">
                <a:latin typeface="+mj-lt"/>
              </a:rPr>
              <a:t>k</a:t>
            </a:r>
            <a:r>
              <a:rPr lang="en-US" sz="3200" b="1" i="1" dirty="0">
                <a:latin typeface="+mj-lt"/>
              </a:rPr>
              <a:t> n</a:t>
            </a:r>
          </a:p>
          <a:p>
            <a:pPr lvl="2"/>
            <a:r>
              <a:rPr lang="el-GR" sz="3200" b="1" dirty="0">
                <a:latin typeface="+mj-lt"/>
                <a:cs typeface="Arial" charset="0"/>
              </a:rPr>
              <a:t>μ</a:t>
            </a:r>
            <a:r>
              <a:rPr lang="en-US" sz="3200" b="1" dirty="0">
                <a:latin typeface="+mj-lt"/>
                <a:cs typeface="Arial" charset="0"/>
              </a:rPr>
              <a:t> is the coefficient of friction</a:t>
            </a:r>
            <a:endParaRPr lang="el-GR" sz="3200" b="1" dirty="0">
              <a:latin typeface="+mj-lt"/>
              <a:cs typeface="Arial" charset="0"/>
            </a:endParaRPr>
          </a:p>
          <a:p>
            <a:pPr lvl="1"/>
            <a:r>
              <a:rPr lang="en-US" sz="3200" b="1" dirty="0">
                <a:latin typeface="+mj-lt"/>
              </a:rPr>
              <a:t>These equations relate the magnitudes of the forces; they are not vector equations.</a:t>
            </a:r>
          </a:p>
          <a:p>
            <a:pPr lvl="1"/>
            <a:r>
              <a:rPr lang="en-US" sz="3200" b="1" dirty="0">
                <a:latin typeface="+mj-lt"/>
              </a:rPr>
              <a:t>For static friction, the equals sign is valid only at </a:t>
            </a:r>
            <a:r>
              <a:rPr lang="en-US" sz="3200" b="1" i="1" dirty="0">
                <a:latin typeface="+mj-lt"/>
              </a:rPr>
              <a:t>impeding</a:t>
            </a:r>
            <a:r>
              <a:rPr lang="en-US" sz="3200" b="1" dirty="0">
                <a:latin typeface="+mj-lt"/>
              </a:rPr>
              <a:t> motion, the surfaces are on the verge of slipping.</a:t>
            </a:r>
          </a:p>
          <a:p>
            <a:pPr lvl="1"/>
            <a:r>
              <a:rPr lang="en-US" sz="3200" b="1" dirty="0">
                <a:latin typeface="+mj-lt"/>
              </a:rPr>
              <a:t>Use the inequality for static friction if the surfaces are not on the verge of slipping.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Forces of Friction, final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05800" cy="54102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90000"/>
              </a:lnSpc>
            </a:pPr>
            <a:r>
              <a:rPr lang="en-US" b="1" dirty="0"/>
              <a:t>The coefficient of friction depends on the nature of surfaces in contact.</a:t>
            </a:r>
          </a:p>
          <a:p>
            <a:pPr marL="0" indent="0">
              <a:lnSpc>
                <a:spcPct val="90000"/>
              </a:lnSpc>
            </a:pPr>
            <a:endParaRPr lang="en-US" b="1" dirty="0"/>
          </a:p>
          <a:p>
            <a:pPr marL="0" indent="0">
              <a:lnSpc>
                <a:spcPct val="90000"/>
              </a:lnSpc>
            </a:pPr>
            <a:r>
              <a:rPr lang="en-US" b="1" dirty="0"/>
              <a:t>The force of static friction is generally greater than the force of kinetic friction.</a:t>
            </a:r>
          </a:p>
          <a:p>
            <a:pPr marL="0" indent="0">
              <a:lnSpc>
                <a:spcPct val="90000"/>
              </a:lnSpc>
            </a:pPr>
            <a:endParaRPr lang="en-US" b="1" dirty="0"/>
          </a:p>
          <a:p>
            <a:pPr marL="0" indent="0">
              <a:lnSpc>
                <a:spcPct val="90000"/>
              </a:lnSpc>
            </a:pPr>
            <a:r>
              <a:rPr lang="en-US" b="1" dirty="0"/>
              <a:t>The direction of the frictional force is opposite the direction of motion and parallel to the surfaces in contact.</a:t>
            </a:r>
          </a:p>
          <a:p>
            <a:pPr marL="0" indent="0">
              <a:lnSpc>
                <a:spcPct val="90000"/>
              </a:lnSpc>
            </a:pPr>
            <a:endParaRPr lang="en-US" b="1" dirty="0"/>
          </a:p>
          <a:p>
            <a:pPr marL="0" indent="0">
              <a:lnSpc>
                <a:spcPct val="90000"/>
              </a:lnSpc>
            </a:pPr>
            <a:r>
              <a:rPr lang="en-US" b="1" dirty="0"/>
              <a:t>The coefficients of friction are nearly independent of the area of contact.</a:t>
            </a:r>
          </a:p>
          <a:p>
            <a:pPr marL="0" indent="0">
              <a:lnSpc>
                <a:spcPct val="90000"/>
              </a:lnSpc>
            </a:pPr>
            <a:endParaRPr lang="en-US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Note: The above statements are usually referred to as the </a:t>
            </a:r>
            <a:r>
              <a:rPr lang="en-US" b="1" u="sng" dirty="0"/>
              <a:t>laws of friction</a:t>
            </a:r>
          </a:p>
          <a:p>
            <a:pPr marL="0" indent="0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/>
          <a:lstStyle/>
          <a:p>
            <a:r>
              <a:rPr lang="en-US" b="1" dirty="0"/>
              <a:t>Static Friction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04800" y="1066800"/>
            <a:ext cx="4953000" cy="5791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Static friction acts to keep the object from moving.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 long as the object is not moving,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ƒ</a:t>
            </a:r>
            <a:r>
              <a:rPr kumimoji="0" lang="en-US" sz="32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F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   increases, so does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   decreases, so does </a:t>
            </a:r>
            <a:endParaRPr kumimoji="0" lang="en-US" sz="3200" b="1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ƒ</a:t>
            </a:r>
            <a:r>
              <a:rPr kumimoji="0" lang="en-US" sz="32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80" charset="2"/>
              </a:rPr>
              <a:t>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80" charset="2"/>
              </a:rPr>
              <a:t>µ</a:t>
            </a:r>
            <a:r>
              <a:rPr kumimoji="0" lang="en-US" sz="32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80" charset="2"/>
              </a:rPr>
              <a:t>s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80" charset="2"/>
              </a:rPr>
              <a:t> n</a:t>
            </a:r>
            <a:r>
              <a:rPr kumimoji="0" lang="en-US" sz="3200" b="1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80" charset="2"/>
              </a:rPr>
              <a:t> </a:t>
            </a:r>
            <a:r>
              <a:rPr kumimoji="0" lang="en-US" sz="3200" b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80" charset="2"/>
              </a:rPr>
              <a:t>means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80" charset="2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Static Friction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80" charset="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80" charset="2"/>
              </a:rPr>
              <a:t>Remember, the equality holds when the surfaces are on the verge of slipping.</a:t>
            </a:r>
          </a:p>
        </p:txBody>
      </p:sp>
      <p:pic>
        <p:nvPicPr>
          <p:cNvPr id="6" name="Picture 11" descr="05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8977" y="990600"/>
            <a:ext cx="3652623" cy="5668052"/>
          </a:xfrm>
          <a:prstGeom prst="rect">
            <a:avLst/>
          </a:prstGeom>
          <a:noFill/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736377"/>
              </p:ext>
            </p:extLst>
          </p:nvPr>
        </p:nvGraphicFramePr>
        <p:xfrm>
          <a:off x="838200" y="3048000"/>
          <a:ext cx="2286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" name="Equation" r:id="rId4" imgW="126835" imgH="202936" progId="Equation.DSMT4">
                  <p:embed/>
                </p:oleObj>
              </mc:Choice>
              <mc:Fallback>
                <p:oleObj name="Equation" r:id="rId4" imgW="126835" imgH="202936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48000"/>
                        <a:ext cx="2286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116008"/>
              </p:ext>
            </p:extLst>
          </p:nvPr>
        </p:nvGraphicFramePr>
        <p:xfrm>
          <a:off x="838200" y="3581400"/>
          <a:ext cx="2286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" name="Equation" r:id="rId6" imgW="126835" imgH="202936" progId="Equation.DSMT4">
                  <p:embed/>
                </p:oleObj>
              </mc:Choice>
              <mc:Fallback>
                <p:oleObj name="Equation" r:id="rId6" imgW="126835" imgH="202936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581400"/>
                        <a:ext cx="2286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827073"/>
              </p:ext>
            </p:extLst>
          </p:nvPr>
        </p:nvGraphicFramePr>
        <p:xfrm>
          <a:off x="4267200" y="3048000"/>
          <a:ext cx="304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" name="Equation" r:id="rId7" imgW="190417" imgH="253890" progId="Equation.DSMT4">
                  <p:embed/>
                </p:oleObj>
              </mc:Choice>
              <mc:Fallback>
                <p:oleObj name="Equation" r:id="rId7" imgW="190417" imgH="25389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048000"/>
                        <a:ext cx="3048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103884"/>
              </p:ext>
            </p:extLst>
          </p:nvPr>
        </p:nvGraphicFramePr>
        <p:xfrm>
          <a:off x="4419600" y="3581400"/>
          <a:ext cx="30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" name="Equation" r:id="rId9" imgW="190417" imgH="253890" progId="Equation.DSMT4">
                  <p:embed/>
                </p:oleObj>
              </mc:Choice>
              <mc:Fallback>
                <p:oleObj name="Equation" r:id="rId9" imgW="190417" imgH="25389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581400"/>
                        <a:ext cx="304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b="1" dirty="0"/>
              <a:t>Kinetic Friction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04800" y="1524000"/>
            <a:ext cx="4267200" cy="4876800"/>
          </a:xfrm>
        </p:spPr>
        <p:txBody>
          <a:bodyPr>
            <a:normAutofit/>
          </a:bodyPr>
          <a:lstStyle/>
          <a:p>
            <a:pPr marL="0" indent="0"/>
            <a:r>
              <a:rPr lang="en-US" b="1" dirty="0"/>
              <a:t>The force of kinetic friction acts when the object is in motion.</a:t>
            </a:r>
          </a:p>
          <a:p>
            <a:pPr marL="0" indent="0"/>
            <a:r>
              <a:rPr lang="en-US" b="1" dirty="0"/>
              <a:t>Although </a:t>
            </a:r>
            <a:r>
              <a:rPr lang="en-US" b="1" i="1" dirty="0"/>
              <a:t>µ</a:t>
            </a:r>
            <a:r>
              <a:rPr lang="en-US" b="1" i="1" baseline="-25000" dirty="0"/>
              <a:t>k</a:t>
            </a:r>
            <a:r>
              <a:rPr lang="en-US" b="1" dirty="0"/>
              <a:t> can vary with speed, we shall neglect any such variations.</a:t>
            </a:r>
          </a:p>
          <a:p>
            <a:pPr marL="0" indent="0"/>
            <a:r>
              <a:rPr lang="en-US" b="1" i="1" dirty="0" err="1"/>
              <a:t>ƒ</a:t>
            </a:r>
            <a:r>
              <a:rPr lang="en-US" b="1" i="1" baseline="-25000" dirty="0" err="1"/>
              <a:t>k</a:t>
            </a:r>
            <a:r>
              <a:rPr lang="en-US" b="1" dirty="0"/>
              <a:t> =</a:t>
            </a:r>
            <a:r>
              <a:rPr lang="en-US" b="1" dirty="0">
                <a:sym typeface="Symbol" pitchFamily="80" charset="2"/>
              </a:rPr>
              <a:t> </a:t>
            </a:r>
            <a:r>
              <a:rPr lang="en-US" b="1" i="1" dirty="0">
                <a:sym typeface="Symbol" pitchFamily="80" charset="2"/>
              </a:rPr>
              <a:t>µ</a:t>
            </a:r>
            <a:r>
              <a:rPr lang="en-US" b="1" i="1" baseline="-25000" dirty="0">
                <a:sym typeface="Symbol" pitchFamily="80" charset="2"/>
              </a:rPr>
              <a:t>k</a:t>
            </a:r>
            <a:r>
              <a:rPr lang="en-US" b="1" i="1" dirty="0">
                <a:sym typeface="Symbol" pitchFamily="80" charset="2"/>
              </a:rPr>
              <a:t> n</a:t>
            </a:r>
          </a:p>
        </p:txBody>
      </p:sp>
      <p:pic>
        <p:nvPicPr>
          <p:cNvPr id="5" name="Picture 7" descr="05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029646"/>
            <a:ext cx="4191000" cy="53711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/>
          <a:lstStyle/>
          <a:p>
            <a:r>
              <a:rPr lang="en-US" b="1" dirty="0"/>
              <a:t>Explore Forces of Friction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457200" y="1066800"/>
            <a:ext cx="40386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Vary the applied force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 the value of the frictional force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the values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 what happens when the can starts to move</a:t>
            </a:r>
          </a:p>
        </p:txBody>
      </p:sp>
      <p:pic>
        <p:nvPicPr>
          <p:cNvPr id="5" name="Picture 7" descr="05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990600"/>
            <a:ext cx="3810000" cy="57617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Newton’s Third Law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6200" y="1524000"/>
            <a:ext cx="5638800" cy="44116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two objects interact, the force       exerted by object 1 on object 2 is equal in magnitude and opposite in direction to the force       exerted by object 2 on object 1.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 on notation:         is the force exerted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B.</a:t>
            </a:r>
          </a:p>
        </p:txBody>
      </p:sp>
      <p:graphicFrame>
        <p:nvGraphicFramePr>
          <p:cNvPr id="368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964950"/>
              </p:ext>
            </p:extLst>
          </p:nvPr>
        </p:nvGraphicFramePr>
        <p:xfrm>
          <a:off x="1143000" y="1981200"/>
          <a:ext cx="3651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0" name="Equation" r:id="rId3" imgW="203040" imgH="253800" progId="Equation.DSMT4">
                  <p:embed/>
                </p:oleObj>
              </mc:Choice>
              <mc:Fallback>
                <p:oleObj name="Equation" r:id="rId3" imgW="203040" imgH="253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81200"/>
                        <a:ext cx="3651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604592"/>
              </p:ext>
            </p:extLst>
          </p:nvPr>
        </p:nvGraphicFramePr>
        <p:xfrm>
          <a:off x="1143000" y="3272631"/>
          <a:ext cx="3651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1" name="Equation" r:id="rId5" imgW="203040" imgH="253800" progId="Equation.DSMT4">
                  <p:embed/>
                </p:oleObj>
              </mc:Choice>
              <mc:Fallback>
                <p:oleObj name="Equation" r:id="rId5" imgW="203040" imgH="253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72631"/>
                        <a:ext cx="3651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272882"/>
              </p:ext>
            </p:extLst>
          </p:nvPr>
        </p:nvGraphicFramePr>
        <p:xfrm>
          <a:off x="3741736" y="4712494"/>
          <a:ext cx="47148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2" name="Equation" r:id="rId7" imgW="241200" imgH="253800" progId="Equation.DSMT4">
                  <p:embed/>
                </p:oleObj>
              </mc:Choice>
              <mc:Fallback>
                <p:oleObj name="Equation" r:id="rId7" imgW="241200" imgH="253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736" y="4712494"/>
                        <a:ext cx="471488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321442"/>
              </p:ext>
            </p:extLst>
          </p:nvPr>
        </p:nvGraphicFramePr>
        <p:xfrm>
          <a:off x="1568448" y="4267200"/>
          <a:ext cx="11430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3" name="Equation" r:id="rId9" imgW="622080" imgH="253800" progId="Equation.DSMT4">
                  <p:embed/>
                </p:oleObj>
              </mc:Choice>
              <mc:Fallback>
                <p:oleObj name="Equation" r:id="rId9" imgW="62208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48" y="4267200"/>
                        <a:ext cx="1143000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0" descr="050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636041" y="1828800"/>
            <a:ext cx="3342858" cy="28836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Newton’s Third Law, Alternative Statement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b="1" dirty="0"/>
              <a:t>The action force is equal in magnitude to the reaction force and opposite in direction.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One of the forces is the action force, the other is the reaction force.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It doesn’t matter which is considered the action and which the reaction.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The action and reaction forces must act on different objects and be of the same type.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dirty="0"/>
              <a:t>Action-Reaction,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657351"/>
            <a:ext cx="4267200" cy="459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force       exerted by object 1 on object 2 is equal in magnitude and opposite in direction to        exerted by object 2 on object 1.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10" descr="050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65700" y="1752600"/>
            <a:ext cx="4025900" cy="3048000"/>
          </a:xfrm>
          <a:prstGeom prst="rect">
            <a:avLst/>
          </a:prstGeom>
          <a:noFill/>
        </p:spPr>
      </p:pic>
      <p:graphicFrame>
        <p:nvGraphicFramePr>
          <p:cNvPr id="37890" name="Object 6"/>
          <p:cNvGraphicFramePr>
            <a:graphicFrameLocks noChangeAspect="1"/>
          </p:cNvGraphicFramePr>
          <p:nvPr/>
        </p:nvGraphicFramePr>
        <p:xfrm>
          <a:off x="2362200" y="1733550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5" name="Equation" r:id="rId4" imgW="203040" imgH="253800" progId="Equation.DSMT4">
                  <p:embed/>
                </p:oleObj>
              </mc:Choice>
              <mc:Fallback>
                <p:oleObj name="Equation" r:id="rId4" imgW="20304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33550"/>
                        <a:ext cx="3810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8"/>
          <p:cNvGraphicFramePr>
            <a:graphicFrameLocks noChangeAspect="1"/>
          </p:cNvGraphicFramePr>
          <p:nvPr/>
        </p:nvGraphicFramePr>
        <p:xfrm>
          <a:off x="2667000" y="3484562"/>
          <a:ext cx="3810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6" name="Equation" r:id="rId6" imgW="203040" imgH="253800" progId="Equation.DSMT4">
                  <p:embed/>
                </p:oleObj>
              </mc:Choice>
              <mc:Fallback>
                <p:oleObj name="Equation" r:id="rId6" imgW="203040" imgH="253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84562"/>
                        <a:ext cx="381000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9"/>
          <p:cNvGraphicFramePr>
            <a:graphicFrameLocks noChangeAspect="1"/>
          </p:cNvGraphicFramePr>
          <p:nvPr/>
        </p:nvGraphicFramePr>
        <p:xfrm>
          <a:off x="1371600" y="4953000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7" name="Equation" r:id="rId8" imgW="622080" imgH="253800" progId="Equation.DSMT4">
                  <p:embed/>
                </p:oleObj>
              </mc:Choice>
              <mc:Fallback>
                <p:oleObj name="Equation" r:id="rId8" imgW="622080" imgH="253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953000"/>
                        <a:ext cx="990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2907</TotalTime>
  <Words>1382</Words>
  <Application>Microsoft Office PowerPoint</Application>
  <PresentationFormat>On-screen Show (4:3)</PresentationFormat>
  <Paragraphs>160</Paragraphs>
  <Slides>26</Slides>
  <Notes>1</Notes>
  <HiddenSlides>3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Lucida Grande</vt:lpstr>
      <vt:lpstr>Symbol</vt:lpstr>
      <vt:lpstr>Times New Roman</vt:lpstr>
      <vt:lpstr>Office Theme</vt:lpstr>
      <vt:lpstr>Equation</vt:lpstr>
      <vt:lpstr>The Laws of Motion</vt:lpstr>
      <vt:lpstr>The Laws of Motion</vt:lpstr>
      <vt:lpstr>Sir Isaac Newton</vt:lpstr>
      <vt:lpstr>Force</vt:lpstr>
      <vt:lpstr>Classes of Forces</vt:lpstr>
      <vt:lpstr>Fundamental Forces</vt:lpstr>
      <vt:lpstr>Newton’s First Law</vt:lpstr>
      <vt:lpstr>Inertial Frames</vt:lpstr>
      <vt:lpstr>Newton’s First Law – Alternative Statement</vt:lpstr>
      <vt:lpstr>Inertia and Mass</vt:lpstr>
      <vt:lpstr>More About Mass</vt:lpstr>
      <vt:lpstr>Mass vs. Weight</vt:lpstr>
      <vt:lpstr>Newton’s Second Law</vt:lpstr>
      <vt:lpstr>More About Newton’s Second Law</vt:lpstr>
      <vt:lpstr>Units of Force</vt:lpstr>
      <vt:lpstr>Force of Friction</vt:lpstr>
      <vt:lpstr>Forces of Friction</vt:lpstr>
      <vt:lpstr>Forces of Friction, cont’d.</vt:lpstr>
      <vt:lpstr>Forces of Friction, final</vt:lpstr>
      <vt:lpstr>Static Friction</vt:lpstr>
      <vt:lpstr>Kinetic Friction</vt:lpstr>
      <vt:lpstr>Explore Forces of Friction</vt:lpstr>
      <vt:lpstr>PowerPoint Presentation</vt:lpstr>
      <vt:lpstr>Newton’s Third Law</vt:lpstr>
      <vt:lpstr>Newton’s Third Law, Alternative Statement</vt:lpstr>
      <vt:lpstr>Action-Reaction, Example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Laws of Motion</dc:title>
  <dc:creator>Raymond Edziah</dc:creator>
  <cp:lastModifiedBy>Bright Abbiw</cp:lastModifiedBy>
  <cp:revision>27</cp:revision>
  <dcterms:created xsi:type="dcterms:W3CDTF">2012-02-23T16:31:29Z</dcterms:created>
  <dcterms:modified xsi:type="dcterms:W3CDTF">2019-10-09T14:11:49Z</dcterms:modified>
</cp:coreProperties>
</file>
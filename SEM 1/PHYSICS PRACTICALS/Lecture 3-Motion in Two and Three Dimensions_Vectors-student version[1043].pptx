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56" r:id="rId2"/>
    <p:sldId id="321" r:id="rId3"/>
    <p:sldId id="322" r:id="rId4"/>
    <p:sldId id="284" r:id="rId5"/>
    <p:sldId id="257" r:id="rId6"/>
    <p:sldId id="263" r:id="rId7"/>
    <p:sldId id="286" r:id="rId8"/>
    <p:sldId id="265" r:id="rId9"/>
    <p:sldId id="264" r:id="rId10"/>
    <p:sldId id="287" r:id="rId11"/>
    <p:sldId id="258" r:id="rId12"/>
    <p:sldId id="259" r:id="rId13"/>
    <p:sldId id="260" r:id="rId14"/>
    <p:sldId id="261" r:id="rId15"/>
    <p:sldId id="262" r:id="rId16"/>
    <p:sldId id="288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91" r:id="rId34"/>
    <p:sldId id="292" r:id="rId35"/>
    <p:sldId id="293" r:id="rId36"/>
    <p:sldId id="294" r:id="rId37"/>
    <p:sldId id="295" r:id="rId38"/>
    <p:sldId id="296" r:id="rId39"/>
    <p:sldId id="301" r:id="rId40"/>
    <p:sldId id="297" r:id="rId41"/>
    <p:sldId id="298" r:id="rId42"/>
    <p:sldId id="299" r:id="rId43"/>
    <p:sldId id="300" r:id="rId44"/>
    <p:sldId id="318" r:id="rId45"/>
    <p:sldId id="302" r:id="rId46"/>
    <p:sldId id="303" r:id="rId47"/>
    <p:sldId id="304" r:id="rId48"/>
    <p:sldId id="305" r:id="rId49"/>
    <p:sldId id="308" r:id="rId50"/>
    <p:sldId id="309" r:id="rId51"/>
    <p:sldId id="310" r:id="rId52"/>
    <p:sldId id="311" r:id="rId53"/>
    <p:sldId id="312" r:id="rId54"/>
    <p:sldId id="319" r:id="rId55"/>
    <p:sldId id="313" r:id="rId56"/>
    <p:sldId id="317" r:id="rId57"/>
    <p:sldId id="315" r:id="rId58"/>
    <p:sldId id="320" r:id="rId59"/>
    <p:sldId id="316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26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4077"/>
    </p:cViewPr>
  </p:sorterViewPr>
  <p:notesViewPr>
    <p:cSldViewPr>
      <p:cViewPr varScale="1">
        <p:scale>
          <a:sx n="57" d="100"/>
          <a:sy n="57" d="100"/>
        </p:scale>
        <p:origin x="283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4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2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38BEE-8247-468F-8000-DD288315598C}" type="datetimeFigureOut">
              <a:rPr lang="en-US" smtClean="0"/>
              <a:t>10/9/2019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D3523-9177-4B61-AFAD-9470AB8F0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65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D3523-9177-4B61-AFAD-9470AB8F04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2320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7D3523-9177-4B61-AFAD-9470AB8F044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436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 noProof="0"/>
              <a:t>Click icon to add clip art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9168DB-48E6-4A13-B1F3-A8D584508E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B0B42-6C8F-42CD-85E9-AEED6F8142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344FBE-B461-4D99-BC71-DEAE058C89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C9064-D41B-4FA1-AB66-3E4382BCC118}" type="datetimeFigureOut">
              <a:rPr lang="en-US" smtClean="0"/>
              <a:pPr/>
              <a:t>10/9/2019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49A44-8222-473F-83AB-9DFA432C855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jpeg"/><Relationship Id="rId4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jpeg"/><Relationship Id="rId4" Type="http://schemas.openxmlformats.org/officeDocument/2006/relationships/image" Target="../media/image11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oleObject" Target="../embeddings/oleObject9.bin"/><Relationship Id="rId4" Type="http://schemas.openxmlformats.org/officeDocument/2006/relationships/image" Target="../media/image1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6.jpeg"/><Relationship Id="rId4" Type="http://schemas.openxmlformats.org/officeDocument/2006/relationships/image" Target="../media/image1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8.jpeg"/><Relationship Id="rId4" Type="http://schemas.openxmlformats.org/officeDocument/2006/relationships/image" Target="../media/image17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9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4.wmf"/><Relationship Id="rId11" Type="http://schemas.openxmlformats.org/officeDocument/2006/relationships/image" Target="../media/image27.jpeg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1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8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0.e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34.jpe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2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5.wmf"/><Relationship Id="rId9" Type="http://schemas.openxmlformats.org/officeDocument/2006/relationships/image" Target="../media/image38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40.jpeg"/><Relationship Id="rId4" Type="http://schemas.openxmlformats.org/officeDocument/2006/relationships/image" Target="../media/image39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41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42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47.w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51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2.w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54.wmf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76400"/>
            <a:ext cx="7772400" cy="1470025"/>
          </a:xfrm>
        </p:spPr>
        <p:txBody>
          <a:bodyPr/>
          <a:lstStyle/>
          <a:p>
            <a:r>
              <a:rPr lang="en-US" b="1" dirty="0"/>
              <a:t>Motion in Two and Three Dimensions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762000"/>
          </a:xfrm>
        </p:spPr>
        <p:txBody>
          <a:bodyPr/>
          <a:lstStyle/>
          <a:p>
            <a:r>
              <a:rPr lang="en-US" b="1" dirty="0"/>
              <a:t>Vectors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Lecture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Addition of vectors</a:t>
            </a:r>
          </a:p>
          <a:p>
            <a:r>
              <a:rPr lang="en-GB" b="1" dirty="0"/>
              <a:t>Graphical </a:t>
            </a:r>
            <a:r>
              <a:rPr lang="en-GB" b="1" u="sng" dirty="0"/>
              <a:t>resultants</a:t>
            </a:r>
            <a:r>
              <a:rPr lang="en-GB" b="1" dirty="0"/>
              <a:t> of vectors</a:t>
            </a:r>
          </a:p>
          <a:p>
            <a:r>
              <a:rPr lang="en-GB" b="1" dirty="0"/>
              <a:t> Resolution of vectors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9643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Lecture Goals,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u="sng" dirty="0"/>
              <a:t>Unit </a:t>
            </a:r>
            <a:r>
              <a:rPr lang="en-GB" b="1" dirty="0"/>
              <a:t>Vectors</a:t>
            </a:r>
          </a:p>
          <a:p>
            <a:pPr marL="0" indent="0">
              <a:buNone/>
            </a:pPr>
            <a:r>
              <a:rPr lang="en-GB" b="1" dirty="0"/>
              <a:t>Vector Multiplication</a:t>
            </a:r>
          </a:p>
          <a:p>
            <a:r>
              <a:rPr lang="en-GB" b="1" dirty="0"/>
              <a:t>Scalar (or Dot) product of vectors </a:t>
            </a:r>
          </a:p>
          <a:p>
            <a:r>
              <a:rPr lang="en-GB" b="1" dirty="0"/>
              <a:t>Vector (or Cross) product of Vectors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7025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r>
              <a:rPr lang="en-US" b="1" dirty="0"/>
              <a:t>So far we have studied motion of objects/particles in one dimension</a:t>
            </a:r>
          </a:p>
          <a:p>
            <a:r>
              <a:rPr lang="en-US" b="1" dirty="0"/>
              <a:t>Let us now study motion of particles that can stop, move, … etc. and change direction i. e. motion in 2-3 dimensions</a:t>
            </a:r>
          </a:p>
          <a:p>
            <a:pPr marL="0" indent="0">
              <a:buNone/>
            </a:pPr>
            <a:r>
              <a:rPr lang="en-US" b="1" dirty="0"/>
              <a:t>	-</a:t>
            </a:r>
            <a:r>
              <a:rPr lang="en-US" b="1" dirty="0">
                <a:solidFill>
                  <a:srgbClr val="FF0000"/>
                </a:solidFill>
              </a:rPr>
              <a:t>Need to represent displacement, 	velocity, acceleration with quantities 	that 	have an orientation in space, i.e. vectors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756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Vectors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Vectors are physical quantities that have both magnitude and direction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In this lecture, mathematical operations on vectors will be studied:</a:t>
            </a:r>
          </a:p>
          <a:p>
            <a:pPr lvl="1" eaLnBrk="1" hangingPunct="1"/>
            <a:r>
              <a:rPr lang="en-US" b="1" dirty="0"/>
              <a:t>Addition</a:t>
            </a:r>
          </a:p>
          <a:p>
            <a:pPr lvl="1" eaLnBrk="1" hangingPunct="1"/>
            <a:r>
              <a:rPr lang="en-US" b="1" dirty="0"/>
              <a:t>Subtraction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Vectors and Scalars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eaLnBrk="1" hangingPunct="1"/>
            <a:r>
              <a:rPr lang="en-US" b="1" dirty="0"/>
              <a:t>A </a:t>
            </a:r>
            <a:r>
              <a:rPr lang="en-US" b="1" i="1" u="sng" dirty="0"/>
              <a:t>scalar quantity</a:t>
            </a:r>
            <a:r>
              <a:rPr lang="en-US" b="1" u="sng" dirty="0"/>
              <a:t> </a:t>
            </a:r>
            <a:r>
              <a:rPr lang="en-US" b="1" dirty="0"/>
              <a:t>is completely specified by a single value with an appropriate unit and has no direction.</a:t>
            </a:r>
          </a:p>
          <a:p>
            <a:pPr lvl="1" eaLnBrk="1" hangingPunct="1"/>
            <a:r>
              <a:rPr lang="en-US" b="1" dirty="0"/>
              <a:t>Many are always positive</a:t>
            </a:r>
          </a:p>
          <a:p>
            <a:pPr lvl="1" eaLnBrk="1" hangingPunct="1"/>
            <a:r>
              <a:rPr lang="en-US" b="1" dirty="0"/>
              <a:t>Some may be positive or negative</a:t>
            </a:r>
          </a:p>
          <a:p>
            <a:pPr lvl="1" eaLnBrk="1" hangingPunct="1"/>
            <a:r>
              <a:rPr lang="en-US" b="1" dirty="0"/>
              <a:t>Rules for ordinary arithmetic are used to manipulate scalar quantities.</a:t>
            </a:r>
          </a:p>
          <a:p>
            <a:pPr marL="0" indent="0" eaLnBrk="1" hangingPunct="1"/>
            <a:r>
              <a:rPr lang="en-US" b="1" dirty="0"/>
              <a:t>A </a:t>
            </a:r>
            <a:r>
              <a:rPr lang="en-US" b="1" i="1" u="sng" dirty="0"/>
              <a:t>vector quantity</a:t>
            </a:r>
            <a:r>
              <a:rPr lang="en-US" b="1" u="sng" dirty="0"/>
              <a:t> </a:t>
            </a:r>
            <a:r>
              <a:rPr lang="en-US" b="1" dirty="0"/>
              <a:t>is completely described by a number and appropriate units plus a direction.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do we need vectors in Physics?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Many quantities in Physics &amp; engineering are such that their specification requires both magnitude &amp; direction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Example: displacement, velocity, force, etc.</a:t>
            </a:r>
          </a:p>
        </p:txBody>
      </p:sp>
    </p:spTree>
    <p:extLst>
      <p:ext uri="{BB962C8B-B14F-4D97-AF65-F5344CB8AC3E}">
        <p14:creationId xmlns:p14="http://schemas.microsoft.com/office/powerpoint/2010/main" val="51348127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09600"/>
            <a:ext cx="7543800" cy="5032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Vector Notation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447800"/>
            <a:ext cx="8763000" cy="4683125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Text uses bold with arrow to denote a vector: 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Also used for printing is simple bold print: </a:t>
            </a:r>
            <a:r>
              <a:rPr lang="en-US" b="1" dirty="0"/>
              <a:t>A</a:t>
            </a:r>
            <a:endParaRPr lang="en-US" dirty="0"/>
          </a:p>
          <a:p>
            <a:pPr marL="0" indent="0" eaLnBrk="1" hangingPunct="1">
              <a:lnSpc>
                <a:spcPct val="100000"/>
              </a:lnSpc>
            </a:pPr>
            <a:r>
              <a:rPr lang="en-US" dirty="0"/>
              <a:t>When dealing with just the magnitude of a vector in print, an italic letter will be used:  </a:t>
            </a:r>
            <a:r>
              <a:rPr lang="en-US" i="1" dirty="0"/>
              <a:t>A</a:t>
            </a:r>
            <a:r>
              <a:rPr lang="en-US" dirty="0"/>
              <a:t>  or   |    |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The magnitude of the vector has physical units.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The magnitude of a vector is always a positive number.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When handwritten, use an arrow: </a:t>
            </a:r>
          </a:p>
          <a:p>
            <a:pPr lvl="1" eaLnBrk="1" hangingPunct="1">
              <a:lnSpc>
                <a:spcPct val="90000"/>
              </a:lnSpc>
            </a:pPr>
            <a:endParaRPr lang="en-US" sz="2800" dirty="0"/>
          </a:p>
          <a:p>
            <a:pPr marL="0" indent="0" eaLnBrk="1" hangingPunct="1">
              <a:lnSpc>
                <a:spcPct val="90000"/>
              </a:lnSpc>
            </a:pPr>
            <a:endParaRPr lang="en-US" sz="2200" dirty="0"/>
          </a:p>
        </p:txBody>
      </p:sp>
      <p:graphicFrame>
        <p:nvGraphicFramePr>
          <p:cNvPr id="3074" name="Object 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8153400" y="1524000"/>
          <a:ext cx="30480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Equation" r:id="rId3" imgW="164957" imgH="203024" progId="">
                  <p:embed/>
                </p:oleObj>
              </mc:Choice>
              <mc:Fallback>
                <p:oleObj name="Equation" r:id="rId3" imgW="164957" imgH="203024" progId="">
                  <p:embed/>
                  <p:pic>
                    <p:nvPicPr>
                      <p:cNvPr id="0" name="Picture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1524000"/>
                        <a:ext cx="304800" cy="374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696200" y="3124200"/>
          <a:ext cx="3095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6" name="Equation" r:id="rId5" imgW="164957" imgH="203024" progId="">
                  <p:embed/>
                </p:oleObj>
              </mc:Choice>
              <mc:Fallback>
                <p:oleObj name="Equation" r:id="rId5" imgW="164957" imgH="203024" progId="">
                  <p:embed/>
                  <p:pic>
                    <p:nvPicPr>
                      <p:cNvPr id="0" name="Picture 5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6200" y="3124200"/>
                        <a:ext cx="3095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1"/>
          <p:cNvGraphicFramePr>
            <a:graphicFrameLocks noChangeAspect="1"/>
          </p:cNvGraphicFramePr>
          <p:nvPr/>
        </p:nvGraphicFramePr>
        <p:xfrm>
          <a:off x="6248400" y="4953000"/>
          <a:ext cx="304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7" name="Equation" r:id="rId6" imgW="4861800" imgH="6489720" progId="">
                  <p:embed/>
                </p:oleObj>
              </mc:Choice>
              <mc:Fallback>
                <p:oleObj name="Equation" r:id="rId6" imgW="4861800" imgH="6489720" progId="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4953000"/>
                        <a:ext cx="3048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Vector Example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419600" cy="46482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sz="2400" b="1" dirty="0"/>
              <a:t>A particle travels from A to B along the path shown by the broken line.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This is the </a:t>
            </a:r>
            <a:r>
              <a:rPr lang="en-US" b="1" i="1" dirty="0"/>
              <a:t>distance </a:t>
            </a:r>
            <a:r>
              <a:rPr lang="en-US" b="1" dirty="0"/>
              <a:t>traveled and is a scalar.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sz="2400" b="1" dirty="0"/>
              <a:t>The </a:t>
            </a:r>
            <a:r>
              <a:rPr lang="en-US" sz="2400" b="1" i="1" dirty="0"/>
              <a:t>displacement</a:t>
            </a:r>
            <a:r>
              <a:rPr lang="en-US" sz="2400" b="1" dirty="0"/>
              <a:t> is the solid line from A to B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The displacement is independent of the path taken between the two points.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Displacement is a </a:t>
            </a:r>
            <a:r>
              <a:rPr lang="en-US" b="1" u="sng" dirty="0"/>
              <a:t>vector</a:t>
            </a:r>
            <a:r>
              <a:rPr lang="en-US" sz="1800" b="1" u="sng" dirty="0"/>
              <a:t>.</a:t>
            </a:r>
          </a:p>
        </p:txBody>
      </p:sp>
      <p:pic>
        <p:nvPicPr>
          <p:cNvPr id="34822" name="Picture 6" descr="030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5400" y="2303463"/>
            <a:ext cx="3721100" cy="225107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Quick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 </a:t>
            </a:r>
            <a:r>
              <a:rPr lang="en-US" b="1" dirty="0"/>
              <a:t>Which of the following are vector quantities and which are scalars?</a:t>
            </a:r>
          </a:p>
          <a:p>
            <a:pPr>
              <a:buNone/>
            </a:pPr>
            <a:r>
              <a:rPr lang="en-US" b="1" dirty="0"/>
              <a:t> (a) your age (b) acceleration (c) velocity</a:t>
            </a:r>
          </a:p>
          <a:p>
            <a:pPr>
              <a:buNone/>
            </a:pPr>
            <a:r>
              <a:rPr lang="en-US" b="1" dirty="0"/>
              <a:t> (d) speed (e) mass (f) volume (g) temperature</a:t>
            </a:r>
          </a:p>
        </p:txBody>
      </p:sp>
    </p:spTree>
    <p:extLst>
      <p:ext uri="{BB962C8B-B14F-4D97-AF65-F5344CB8AC3E}">
        <p14:creationId xmlns:p14="http://schemas.microsoft.com/office/powerpoint/2010/main" val="367377015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Coordinate Systems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Used to describe the position of a point in space</a:t>
            </a:r>
          </a:p>
          <a:p>
            <a:pPr marL="0" indent="0" eaLnBrk="1" hangingPunct="1">
              <a:buNone/>
            </a:pPr>
            <a:endParaRPr lang="en-US" b="1" dirty="0"/>
          </a:p>
          <a:p>
            <a:pPr marL="0" indent="0" eaLnBrk="1" hangingPunct="1"/>
            <a:r>
              <a:rPr lang="en-US" b="1" dirty="0"/>
              <a:t>Common coordinate systems are:</a:t>
            </a:r>
          </a:p>
          <a:p>
            <a:pPr lvl="1" eaLnBrk="1" hangingPunct="1"/>
            <a:r>
              <a:rPr lang="en-US" b="1" dirty="0"/>
              <a:t>Cartesian (x, y, z) </a:t>
            </a:r>
          </a:p>
          <a:p>
            <a:pPr lvl="1" eaLnBrk="1" hangingPunct="1"/>
            <a:r>
              <a:rPr lang="en-US" b="1" dirty="0"/>
              <a:t>Polar (r, </a:t>
            </a:r>
            <a:r>
              <a:rPr lang="en-US" b="1" dirty="0">
                <a:sym typeface="Symbol"/>
              </a:rPr>
              <a:t>)</a:t>
            </a:r>
            <a:endParaRPr lang="en-US" b="1" dirty="0"/>
          </a:p>
          <a:p>
            <a:pPr marL="0" indent="0" eaLnBrk="1" hangingPunct="1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Cartesian Coordinate System</a:t>
            </a:r>
          </a:p>
        </p:txBody>
      </p:sp>
      <p:sp>
        <p:nvSpPr>
          <p:cNvPr id="31747" name="Rectangle 4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Also called rectangular coordinate system</a:t>
            </a:r>
          </a:p>
          <a:p>
            <a:pPr marL="0" indent="0" eaLnBrk="1" hangingPunct="1"/>
            <a:r>
              <a:rPr lang="en-US" b="1" i="1" dirty="0"/>
              <a:t>x</a:t>
            </a:r>
            <a:r>
              <a:rPr lang="en-US" b="1" dirty="0"/>
              <a:t>- and </a:t>
            </a:r>
            <a:r>
              <a:rPr lang="en-US" b="1" i="1" dirty="0"/>
              <a:t>y</a:t>
            </a:r>
            <a:r>
              <a:rPr lang="en-US" b="1" dirty="0"/>
              <a:t>- axes intersect at the origin</a:t>
            </a:r>
          </a:p>
          <a:p>
            <a:pPr marL="0" indent="0" eaLnBrk="1" hangingPunct="1"/>
            <a:r>
              <a:rPr lang="en-US" b="1" dirty="0"/>
              <a:t>Points are labeled (</a:t>
            </a:r>
            <a:r>
              <a:rPr lang="en-US" b="1" i="1" dirty="0"/>
              <a:t>x</a:t>
            </a:r>
            <a:r>
              <a:rPr lang="en-US" b="1" dirty="0"/>
              <a:t>, </a:t>
            </a:r>
            <a:r>
              <a:rPr lang="en-US" b="1" i="1" dirty="0"/>
              <a:t>y</a:t>
            </a:r>
            <a:r>
              <a:rPr lang="en-US" b="1" dirty="0"/>
              <a:t>)</a:t>
            </a:r>
          </a:p>
          <a:p>
            <a:pPr marL="0" indent="0" eaLnBrk="1" hangingPunct="1"/>
            <a:endParaRPr lang="en-US" sz="2600" dirty="0"/>
          </a:p>
        </p:txBody>
      </p:sp>
      <p:pic>
        <p:nvPicPr>
          <p:cNvPr id="31750" name="Picture 6" descr="030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847850"/>
            <a:ext cx="4330700" cy="31607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Polar Coordinate System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343400" cy="4525963"/>
          </a:xfrm>
        </p:spPr>
        <p:txBody>
          <a:bodyPr>
            <a:normAutofit lnSpcReduction="10000"/>
          </a:bodyPr>
          <a:lstStyle/>
          <a:p>
            <a:pPr marL="0" indent="0" eaLnBrk="1" hangingPunct="1"/>
            <a:r>
              <a:rPr lang="en-US" b="1" dirty="0"/>
              <a:t>Origin and reference line are noted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Point is distance </a:t>
            </a:r>
            <a:r>
              <a:rPr lang="en-US" b="1" i="1" dirty="0"/>
              <a:t>r</a:t>
            </a:r>
            <a:r>
              <a:rPr lang="en-US" b="1" dirty="0"/>
              <a:t> from the origin in the direction of angle </a:t>
            </a:r>
            <a:r>
              <a:rPr lang="en-US" b="1" i="1" dirty="0">
                <a:sym typeface="Symbol" pitchFamily="80" charset="2"/>
              </a:rPr>
              <a:t></a:t>
            </a:r>
            <a:r>
              <a:rPr lang="en-US" b="1" dirty="0">
                <a:sym typeface="Symbol" pitchFamily="80" charset="2"/>
              </a:rPr>
              <a:t>,  from reference line</a:t>
            </a:r>
          </a:p>
          <a:p>
            <a:pPr lvl="1" eaLnBrk="1" hangingPunct="1"/>
            <a:r>
              <a:rPr lang="en-US" sz="2800" b="1" dirty="0">
                <a:sym typeface="Symbol" pitchFamily="80" charset="2"/>
              </a:rPr>
              <a:t>The reference line is often the x-axis.</a:t>
            </a:r>
          </a:p>
          <a:p>
            <a:pPr marL="0" indent="0" eaLnBrk="1" hangingPunct="1"/>
            <a:endParaRPr lang="en-US" b="1" dirty="0">
              <a:sym typeface="Symbol" pitchFamily="80" charset="2"/>
            </a:endParaRPr>
          </a:p>
          <a:p>
            <a:pPr marL="0" indent="0" eaLnBrk="1" hangingPunct="1"/>
            <a:r>
              <a:rPr lang="en-US" b="1" dirty="0">
                <a:sym typeface="Symbol" pitchFamily="80" charset="2"/>
              </a:rPr>
              <a:t>Points are labeled (</a:t>
            </a:r>
            <a:r>
              <a:rPr lang="en-US" b="1" i="1" dirty="0">
                <a:sym typeface="Symbol" pitchFamily="80" charset="2"/>
              </a:rPr>
              <a:t>r</a:t>
            </a:r>
            <a:r>
              <a:rPr lang="en-US" b="1" dirty="0">
                <a:sym typeface="Symbol" pitchFamily="80" charset="2"/>
              </a:rPr>
              <a:t>,</a:t>
            </a:r>
            <a:r>
              <a:rPr lang="en-US" b="1" i="1" dirty="0">
                <a:sym typeface="Symbol" pitchFamily="80" charset="2"/>
              </a:rPr>
              <a:t></a:t>
            </a:r>
            <a:r>
              <a:rPr lang="en-US" b="1" dirty="0">
                <a:sym typeface="Symbol" pitchFamily="80" charset="2"/>
              </a:rPr>
              <a:t>)</a:t>
            </a:r>
            <a:endParaRPr lang="en-US" b="1" dirty="0"/>
          </a:p>
          <a:p>
            <a:pPr marL="0" indent="0" eaLnBrk="1" hangingPunct="1"/>
            <a:endParaRPr lang="en-US" sz="2600" dirty="0"/>
          </a:p>
        </p:txBody>
      </p:sp>
      <p:pic>
        <p:nvPicPr>
          <p:cNvPr id="32774" name="Picture 6" descr="0302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752600"/>
            <a:ext cx="3949700" cy="37576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Polar to Cartesian Coordinates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eaLnBrk="1" hangingPunct="1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Based on forming a right triangle from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θ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sz="2400" b="1" i="1" dirty="0">
                <a:latin typeface="+mj-lt"/>
              </a:rPr>
              <a:t>x</a:t>
            </a:r>
            <a:r>
              <a:rPr lang="en-US" sz="2400" b="1" dirty="0">
                <a:latin typeface="+mj-lt"/>
              </a:rPr>
              <a:t> = </a:t>
            </a:r>
            <a:r>
              <a:rPr lang="en-US" sz="2400" b="1" i="1" dirty="0">
                <a:latin typeface="+mj-lt"/>
              </a:rPr>
              <a:t>r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dirty="0" err="1">
                <a:latin typeface="+mj-lt"/>
              </a:rPr>
              <a:t>cos</a:t>
            </a:r>
            <a:r>
              <a:rPr lang="en-US" sz="2400" b="1" dirty="0">
                <a:latin typeface="+mj-lt"/>
              </a:rPr>
              <a:t>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θ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/>
            <a:r>
              <a:rPr lang="en-US" sz="2400" b="1" i="1" dirty="0">
                <a:latin typeface="+mj-lt"/>
              </a:rPr>
              <a:t>y</a:t>
            </a:r>
            <a:r>
              <a:rPr lang="en-US" sz="2400" b="1" dirty="0">
                <a:latin typeface="+mj-lt"/>
              </a:rPr>
              <a:t> = </a:t>
            </a:r>
            <a:r>
              <a:rPr lang="en-US" sz="2400" b="1" i="1" dirty="0">
                <a:latin typeface="+mj-lt"/>
              </a:rPr>
              <a:t>r</a:t>
            </a:r>
            <a:r>
              <a:rPr lang="en-US" sz="2400" b="1" dirty="0">
                <a:latin typeface="+mj-lt"/>
              </a:rPr>
              <a:t> sin </a:t>
            </a:r>
            <a:r>
              <a:rPr lang="el-GR" sz="2400" b="1" dirty="0">
                <a:latin typeface="Times New Roman" pitchFamily="18" charset="0"/>
                <a:cs typeface="Times New Roman" pitchFamily="18" charset="0"/>
              </a:rPr>
              <a:t>θ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eaLnBrk="1" hangingPunct="1">
              <a:buNone/>
            </a:pPr>
            <a:endParaRPr lang="en-US" sz="2400" b="1" dirty="0">
              <a:latin typeface="+mj-lt"/>
            </a:endParaRPr>
          </a:p>
          <a:p>
            <a:pPr marL="0" indent="0" eaLnBrk="1" hangingPunct="1">
              <a:buNone/>
            </a:pPr>
            <a:r>
              <a:rPr lang="en-US" sz="2400" b="1" dirty="0">
                <a:latin typeface="+mj-lt"/>
              </a:rPr>
              <a:t>If the Cartesian coordinates are known:</a:t>
            </a:r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565889"/>
              </p:ext>
            </p:extLst>
          </p:nvPr>
        </p:nvGraphicFramePr>
        <p:xfrm>
          <a:off x="685800" y="4571047"/>
          <a:ext cx="2057400" cy="1677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Equation" r:id="rId3" imgW="863600" imgH="685800" progId="">
                  <p:embed/>
                </p:oleObj>
              </mc:Choice>
              <mc:Fallback>
                <p:oleObj name="Equation" r:id="rId3" imgW="863600" imgH="6858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571047"/>
                        <a:ext cx="2057400" cy="16773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1" name="Picture 7" descr="0302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00600" y="1371600"/>
            <a:ext cx="4025900" cy="3886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7543800" cy="579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Example</a:t>
            </a:r>
          </a:p>
        </p:txBody>
      </p:sp>
      <p:pic>
        <p:nvPicPr>
          <p:cNvPr id="2056" name="Picture 8" descr="030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1790700"/>
            <a:ext cx="4089400" cy="3275013"/>
          </a:xfrm>
          <a:prstGeom prst="rect">
            <a:avLst/>
          </a:prstGeom>
          <a:noFill/>
        </p:spPr>
      </p:pic>
      <p:sp>
        <p:nvSpPr>
          <p:cNvPr id="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219200"/>
            <a:ext cx="3886200" cy="4913313"/>
          </a:xfrm>
        </p:spPr>
        <p:txBody>
          <a:bodyPr>
            <a:normAutofit fontScale="85000" lnSpcReduction="20000"/>
          </a:bodyPr>
          <a:lstStyle/>
          <a:p>
            <a:pPr marL="0" indent="0" eaLnBrk="1" hangingPunct="1">
              <a:buNone/>
            </a:pPr>
            <a:r>
              <a:rPr lang="en-US" dirty="0"/>
              <a:t>The Cartesian coordinates of a point in the </a:t>
            </a:r>
            <a:r>
              <a:rPr lang="en-US" i="1" dirty="0" err="1"/>
              <a:t>xy</a:t>
            </a:r>
            <a:r>
              <a:rPr lang="en-US" dirty="0"/>
              <a:t> plane are (</a:t>
            </a:r>
            <a:r>
              <a:rPr lang="en-US" i="1" dirty="0" err="1"/>
              <a:t>x,y</a:t>
            </a:r>
            <a:r>
              <a:rPr lang="en-US" dirty="0"/>
              <a:t>) = (-3.50, -2.50) m, as shown in the figure. Find the polar coordinates of this point.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b="1" dirty="0"/>
              <a:t>Solution:</a:t>
            </a:r>
            <a:endParaRPr lang="en-US" dirty="0"/>
          </a:p>
          <a:p>
            <a:pPr marL="0" indent="0" eaLnBrk="1" hangingPunct="1">
              <a:buFont typeface="Wingdings" pitchFamily="2" charset="2"/>
              <a:buNone/>
            </a:pPr>
            <a:r>
              <a:rPr lang="en-US" dirty="0"/>
              <a:t>	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dirty="0"/>
          </a:p>
          <a:p>
            <a:pPr marL="0" indent="0" eaLnBrk="1" hangingPunct="1">
              <a:buFont typeface="Wingdings" pitchFamily="2" charset="2"/>
              <a:buNone/>
            </a:pPr>
            <a:r>
              <a:rPr lang="en-US" dirty="0"/>
              <a:t> 	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dirty="0"/>
              <a:t>	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dirty="0"/>
              <a:t> 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154534"/>
              </p:ext>
            </p:extLst>
          </p:nvPr>
        </p:nvGraphicFramePr>
        <p:xfrm>
          <a:off x="685800" y="3810000"/>
          <a:ext cx="28956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8" name="Equation" r:id="rId4" imgW="1892300" imgH="762000" progId="">
                  <p:embed/>
                </p:oleObj>
              </mc:Choice>
              <mc:Fallback>
                <p:oleObj name="Equation" r:id="rId4" imgW="1892300" imgH="762000" progId="">
                  <p:embed/>
                  <p:pic>
                    <p:nvPicPr>
                      <p:cNvPr id="0" name="Picture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10000"/>
                        <a:ext cx="2895600" cy="1166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2090598"/>
              </p:ext>
            </p:extLst>
          </p:nvPr>
        </p:nvGraphicFramePr>
        <p:xfrm>
          <a:off x="533400" y="5105400"/>
          <a:ext cx="31591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Equation" r:id="rId6" imgW="2197100" imgH="635000" progId="">
                  <p:embed/>
                </p:oleObj>
              </mc:Choice>
              <mc:Fallback>
                <p:oleObj name="Equation" r:id="rId6" imgW="2197100" imgH="635000" progId="">
                  <p:embed/>
                  <p:pic>
                    <p:nvPicPr>
                      <p:cNvPr id="0" name="Picture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5105400"/>
                        <a:ext cx="315912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Operations on /with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Vector quantities can be added or subtracted using Graphical Method</a:t>
            </a:r>
          </a:p>
          <a:p>
            <a:endParaRPr lang="en-US" b="1" dirty="0"/>
          </a:p>
          <a:p>
            <a:r>
              <a:rPr lang="en-US" b="1" dirty="0"/>
              <a:t>Vectors can also be added by components (a necessary requirement in this course)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96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7543800" cy="579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Equality of Two Vectors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Two vectors are </a:t>
            </a:r>
            <a:r>
              <a:rPr lang="en-US" b="1" i="1" dirty="0"/>
              <a:t>equal</a:t>
            </a:r>
            <a:r>
              <a:rPr lang="en-US" dirty="0"/>
              <a:t> if they have the same magnitude and the same direction.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         </a:t>
            </a:r>
            <a:r>
              <a:rPr lang="en-US" dirty="0"/>
              <a:t>   if </a:t>
            </a:r>
            <a:r>
              <a:rPr lang="en-US" i="1" dirty="0"/>
              <a:t>A</a:t>
            </a:r>
            <a:r>
              <a:rPr lang="en-US" dirty="0"/>
              <a:t> = </a:t>
            </a:r>
            <a:r>
              <a:rPr lang="en-US" i="1" dirty="0"/>
              <a:t>B</a:t>
            </a:r>
            <a:r>
              <a:rPr lang="en-US" dirty="0"/>
              <a:t> and they point along parallel lines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All of the vectors shown are equal.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dirty="0"/>
              <a:t>Allows a vector to be moved to a position parallel to itself</a:t>
            </a:r>
          </a:p>
          <a:p>
            <a:pPr marL="0" indent="0" eaLnBrk="1" hangingPunct="1">
              <a:lnSpc>
                <a:spcPct val="90000"/>
              </a:lnSpc>
            </a:pPr>
            <a:endParaRPr lang="en-US" sz="2600" dirty="0"/>
          </a:p>
        </p:txBody>
      </p:sp>
      <p:graphicFrame>
        <p:nvGraphicFramePr>
          <p:cNvPr id="4098" name="Object 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838200" y="3276600"/>
          <a:ext cx="68580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Equation" r:id="rId3" imgW="431613" imgH="203112" progId="">
                  <p:embed/>
                </p:oleObj>
              </mc:Choice>
              <mc:Fallback>
                <p:oleObj name="Equation" r:id="rId3" imgW="431613" imgH="203112" progId="">
                  <p:embed/>
                  <p:pic>
                    <p:nvPicPr>
                      <p:cNvPr id="0" name="Picture 2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276600"/>
                        <a:ext cx="685800" cy="322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03" name="Picture 7" descr="030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227138"/>
            <a:ext cx="4406900" cy="44021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Adding Vectors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686800" cy="4830763"/>
          </a:xfrm>
        </p:spPr>
        <p:txBody>
          <a:bodyPr>
            <a:normAutofit lnSpcReduction="10000"/>
          </a:bodyPr>
          <a:lstStyle/>
          <a:p>
            <a:pPr marL="0" indent="0" eaLnBrk="1" hangingPunct="1"/>
            <a:r>
              <a:rPr lang="en-US" b="1" dirty="0"/>
              <a:t>Vector addition is very different from adding scalar quantities.</a:t>
            </a:r>
          </a:p>
          <a:p>
            <a:pPr marL="0" indent="0" eaLnBrk="1" hangingPunct="1"/>
            <a:r>
              <a:rPr lang="en-US" b="1" dirty="0"/>
              <a:t>When adding vectors, their directions must be taken into account.</a:t>
            </a:r>
          </a:p>
          <a:p>
            <a:pPr marL="0" indent="0" eaLnBrk="1" hangingPunct="1"/>
            <a:r>
              <a:rPr lang="en-US" b="1" dirty="0"/>
              <a:t>Units must be the same </a:t>
            </a:r>
          </a:p>
          <a:p>
            <a:pPr marL="0" indent="0" eaLnBrk="1" hangingPunct="1"/>
            <a:r>
              <a:rPr lang="en-US" b="1" dirty="0"/>
              <a:t>Graphical Methods require the use of scale drawings</a:t>
            </a:r>
          </a:p>
          <a:p>
            <a:pPr marL="0" indent="0" eaLnBrk="1" hangingPunct="1"/>
            <a:r>
              <a:rPr lang="en-US" b="1" dirty="0"/>
              <a:t>Algebraic Methods are usually used</a:t>
            </a:r>
          </a:p>
          <a:p>
            <a:pPr lvl="1" eaLnBrk="1" hangingPunct="1"/>
            <a:r>
              <a:rPr lang="en-US" b="1" dirty="0"/>
              <a:t>More convenient</a:t>
            </a:r>
          </a:p>
          <a:p>
            <a:pPr marL="0" indent="0" eaLnBrk="1" hangingPunct="1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Adding Vectors Graphically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524000"/>
            <a:ext cx="8229600" cy="5029200"/>
          </a:xfrm>
        </p:spPr>
        <p:txBody>
          <a:bodyPr>
            <a:normAutofit/>
          </a:bodyPr>
          <a:lstStyle/>
          <a:p>
            <a:pPr marL="0" indent="0" eaLnBrk="1" hangingPunct="1"/>
            <a:r>
              <a:rPr lang="en-US" b="1" dirty="0"/>
              <a:t>Choose a scale. </a:t>
            </a:r>
          </a:p>
          <a:p>
            <a:pPr marL="0" indent="0" eaLnBrk="1" hangingPunct="1"/>
            <a:r>
              <a:rPr lang="en-US" b="1" dirty="0"/>
              <a:t>Draw the first vector,     , with the appropriate length and in the direction specified, with respect to a coordinate system.</a:t>
            </a:r>
          </a:p>
          <a:p>
            <a:pPr marL="0" indent="0" eaLnBrk="1" hangingPunct="1"/>
            <a:r>
              <a:rPr lang="en-US" b="1" dirty="0"/>
              <a:t>Draw the next vector with the appropriate length and in the direction specified, with respect to a coordinate system whose origin is the end of vector      and parallel to the coordinate system used for     . </a:t>
            </a:r>
          </a:p>
        </p:txBody>
      </p:sp>
      <p:graphicFrame>
        <p:nvGraphicFramePr>
          <p:cNvPr id="5122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761693767"/>
              </p:ext>
            </p:extLst>
          </p:nvPr>
        </p:nvGraphicFramePr>
        <p:xfrm>
          <a:off x="4262437" y="2209800"/>
          <a:ext cx="3095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4" name="Equation" r:id="rId3" imgW="164957" imgH="203024" progId="">
                  <p:embed/>
                </p:oleObj>
              </mc:Choice>
              <mc:Fallback>
                <p:oleObj name="Equation" r:id="rId3" imgW="164957" imgH="203024" progId="">
                  <p:embed/>
                  <p:pic>
                    <p:nvPicPr>
                      <p:cNvPr id="0" name="Picture 6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2437" y="2209800"/>
                        <a:ext cx="3095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4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9951966"/>
              </p:ext>
            </p:extLst>
          </p:nvPr>
        </p:nvGraphicFramePr>
        <p:xfrm>
          <a:off x="3500437" y="5257800"/>
          <a:ext cx="30956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5" name="Equation" r:id="rId5" imgW="164957" imgH="203024" progId="">
                  <p:embed/>
                </p:oleObj>
              </mc:Choice>
              <mc:Fallback>
                <p:oleObj name="Equation" r:id="rId5" imgW="164957" imgH="203024" progId="">
                  <p:embed/>
                  <p:pic>
                    <p:nvPicPr>
                      <p:cNvPr id="0" name="Picture 6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0437" y="5257800"/>
                        <a:ext cx="309563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377752897"/>
              </p:ext>
            </p:extLst>
          </p:nvPr>
        </p:nvGraphicFramePr>
        <p:xfrm>
          <a:off x="5100638" y="5715000"/>
          <a:ext cx="30956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6" name="Equation" r:id="rId6" imgW="164957" imgH="203024" progId="">
                  <p:embed/>
                </p:oleObj>
              </mc:Choice>
              <mc:Fallback>
                <p:oleObj name="Equation" r:id="rId6" imgW="164957" imgH="203024" progId="">
                  <p:embed/>
                  <p:pic>
                    <p:nvPicPr>
                      <p:cNvPr id="0" name="Picture 6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0638" y="5715000"/>
                        <a:ext cx="309562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Adding Vectors Graphically, cont.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295400"/>
            <a:ext cx="4419600" cy="5410200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Continue drawing the vectors “tip-to-tail” or “head-to-tail”.</a:t>
            </a:r>
          </a:p>
          <a:p>
            <a:pPr marL="0" indent="0" eaLnBrk="1" hangingPunct="1">
              <a:lnSpc>
                <a:spcPct val="90000"/>
              </a:lnSpc>
            </a:pP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The </a:t>
            </a:r>
            <a:r>
              <a:rPr lang="en-US" b="1" u="sng" dirty="0"/>
              <a:t>resultant</a:t>
            </a:r>
            <a:r>
              <a:rPr lang="en-US" b="1" dirty="0"/>
              <a:t> is drawn from the origin of the first vector to the end of the last vector.</a:t>
            </a:r>
          </a:p>
          <a:p>
            <a:pPr marL="0" indent="0" eaLnBrk="1" hangingPunct="1">
              <a:lnSpc>
                <a:spcPct val="90000"/>
              </a:lnSpc>
            </a:pPr>
            <a:endParaRPr lang="en-US" b="1" dirty="0"/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Measure the length of the resultant and its angle.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b="1" dirty="0"/>
              <a:t>Use the scale factor to convert length to actual magnitude.</a:t>
            </a:r>
            <a:endParaRPr lang="en-US" dirty="0"/>
          </a:p>
        </p:txBody>
      </p:sp>
      <p:pic>
        <p:nvPicPr>
          <p:cNvPr id="36870" name="Picture 6" descr="030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76800" y="2308225"/>
            <a:ext cx="3949700" cy="2239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Adding Vectors Graphically, final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447800"/>
            <a:ext cx="4038600" cy="4525963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sz="3600" b="1" dirty="0"/>
              <a:t>When you have many vectors, just keep repeating the process until all are included.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sz="3600" b="1" dirty="0"/>
              <a:t>The </a:t>
            </a:r>
            <a:r>
              <a:rPr lang="en-US" sz="3600" b="1" u="sng" dirty="0"/>
              <a:t>resultant</a:t>
            </a:r>
            <a:r>
              <a:rPr lang="en-US" sz="3600" b="1" dirty="0"/>
              <a:t> is still drawn from the tail of the first vector to the tip of the last vector.</a:t>
            </a:r>
          </a:p>
        </p:txBody>
      </p:sp>
      <p:pic>
        <p:nvPicPr>
          <p:cNvPr id="37894" name="Picture 6" descr="030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550988"/>
            <a:ext cx="4178300" cy="37560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Adding Vectors, Rules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04800" y="1981200"/>
            <a:ext cx="4038600" cy="4030663"/>
          </a:xfrm>
        </p:spPr>
        <p:txBody>
          <a:bodyPr>
            <a:normAutofit lnSpcReduction="10000"/>
          </a:bodyPr>
          <a:lstStyle/>
          <a:p>
            <a:pPr marL="0" indent="0" eaLnBrk="1" hangingPunct="1"/>
            <a:r>
              <a:rPr lang="en-US" sz="3200" b="1" dirty="0"/>
              <a:t>When two vectors are added, the sum is independent of the order of the addition.</a:t>
            </a:r>
          </a:p>
          <a:p>
            <a:pPr lvl="1" eaLnBrk="1" hangingPunct="1"/>
            <a:r>
              <a:rPr lang="en-US" sz="3200" b="1" dirty="0"/>
              <a:t>This is the </a:t>
            </a:r>
            <a:r>
              <a:rPr lang="en-US" sz="3200" b="1" i="1" dirty="0"/>
              <a:t>Commutative Law of Addition.</a:t>
            </a:r>
          </a:p>
          <a:p>
            <a:pPr marL="0" indent="0" eaLnBrk="1" hangingPunct="1"/>
            <a:r>
              <a:rPr lang="en-US" sz="3200" b="1" dirty="0"/>
              <a:t> </a:t>
            </a:r>
            <a:r>
              <a:rPr lang="en-US" sz="3200" dirty="0"/>
              <a:t> </a:t>
            </a:r>
          </a:p>
          <a:p>
            <a:pPr lvl="1" eaLnBrk="1" hangingPunct="1"/>
            <a:endParaRPr lang="en-US" sz="2200" b="1" i="1" dirty="0"/>
          </a:p>
        </p:txBody>
      </p:sp>
      <p:graphicFrame>
        <p:nvGraphicFramePr>
          <p:cNvPr id="6146" name="Object 11"/>
          <p:cNvGraphicFramePr>
            <a:graphicFrameLocks noChangeAspect="1"/>
          </p:cNvGraphicFramePr>
          <p:nvPr/>
        </p:nvGraphicFramePr>
        <p:xfrm>
          <a:off x="533399" y="5334000"/>
          <a:ext cx="3676161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5" name="Equation" r:id="rId3" imgW="926698" imgH="203112" progId="">
                  <p:embed/>
                </p:oleObj>
              </mc:Choice>
              <mc:Fallback>
                <p:oleObj name="Equation" r:id="rId3" imgW="926698" imgH="203112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399" y="5334000"/>
                        <a:ext cx="3676161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51" name="Picture 7" descr="030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13375" y="1501775"/>
            <a:ext cx="2816225" cy="482282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228600" y="1295400"/>
            <a:ext cx="55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/>
              <a:t>The Parallelogram Rule: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543800" cy="884238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/>
              <a:t>Adding Vectors, Rules cont.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219200"/>
            <a:ext cx="8229600" cy="2128837"/>
          </a:xfrm>
        </p:spPr>
        <p:txBody>
          <a:bodyPr>
            <a:normAutofit fontScale="92500" lnSpcReduction="20000"/>
          </a:bodyPr>
          <a:lstStyle/>
          <a:p>
            <a:pPr marL="0" indent="0" eaLnBrk="1" hangingPunct="1"/>
            <a:r>
              <a:rPr lang="en-US" b="1" dirty="0"/>
              <a:t>When adding three or more vectors, their sum is independent of the way (order) in which the individual vectors are grouped.</a:t>
            </a:r>
          </a:p>
          <a:p>
            <a:pPr lvl="1" eaLnBrk="1" hangingPunct="1"/>
            <a:r>
              <a:rPr lang="en-US" dirty="0"/>
              <a:t>This is called the </a:t>
            </a:r>
            <a:r>
              <a:rPr lang="en-US" b="1" i="1" dirty="0"/>
              <a:t>Associative Property of Addition.</a:t>
            </a:r>
          </a:p>
          <a:p>
            <a:pPr marL="0" indent="0" eaLnBrk="1" hangingPunct="1"/>
            <a:r>
              <a:rPr lang="en-US" dirty="0"/>
              <a:t> </a:t>
            </a:r>
          </a:p>
          <a:p>
            <a:pPr marL="0" indent="0" eaLnBrk="1" hangingPunct="1"/>
            <a:endParaRPr lang="en-US" sz="2200" dirty="0"/>
          </a:p>
        </p:txBody>
      </p:sp>
      <p:graphicFrame>
        <p:nvGraphicFramePr>
          <p:cNvPr id="7170" name="Object 0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990599" y="2819400"/>
          <a:ext cx="4147789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Equation" r:id="rId3" imgW="1663700" imgH="304800" progId="">
                  <p:embed/>
                </p:oleObj>
              </mc:Choice>
              <mc:Fallback>
                <p:oleObj name="Equation" r:id="rId3" imgW="1663700" imgH="304800" progId="">
                  <p:embed/>
                  <p:pic>
                    <p:nvPicPr>
                      <p:cNvPr id="0" name="Picture 19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599" y="2819400"/>
                        <a:ext cx="4147789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5" name="Picture 7" descr="030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71600" y="3792687"/>
            <a:ext cx="6019800" cy="24557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Adding Vectors, Rules final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sz="3600" b="1" dirty="0"/>
              <a:t>When </a:t>
            </a:r>
            <a:r>
              <a:rPr lang="en-US" sz="3600" b="1" u="sng" dirty="0"/>
              <a:t>adding vectors</a:t>
            </a:r>
            <a:r>
              <a:rPr lang="en-US" sz="3600" b="1" dirty="0"/>
              <a:t>, all of the vectors must have the </a:t>
            </a:r>
            <a:r>
              <a:rPr lang="en-US" sz="3600" b="1" u="sng" dirty="0"/>
              <a:t>same units</a:t>
            </a:r>
            <a:r>
              <a:rPr lang="en-US" sz="3600" b="1" dirty="0"/>
              <a:t>.</a:t>
            </a:r>
          </a:p>
          <a:p>
            <a:pPr marL="0" indent="0" eaLnBrk="1" hangingPunct="1"/>
            <a:r>
              <a:rPr lang="en-US" sz="3600" b="1" dirty="0"/>
              <a:t>All of the vectors must be of the </a:t>
            </a:r>
            <a:r>
              <a:rPr lang="en-US" sz="3600" b="1" u="sng" dirty="0"/>
              <a:t>same type of quantity</a:t>
            </a:r>
            <a:r>
              <a:rPr lang="en-US" sz="3600" b="1" dirty="0"/>
              <a:t>.</a:t>
            </a:r>
          </a:p>
          <a:p>
            <a:pPr lvl="1" eaLnBrk="1" hangingPunct="1"/>
            <a:r>
              <a:rPr lang="en-US" sz="3600" b="1" dirty="0"/>
              <a:t>For example, you cannot add a displacement to a velocity.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sz="3600" dirty="0"/>
          </a:p>
          <a:p>
            <a:pPr marL="0" indent="0" eaLnBrk="1" hangingPunct="1"/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Negative of a Vector</a:t>
            </a:r>
          </a:p>
        </p:txBody>
      </p:sp>
      <p:sp>
        <p:nvSpPr>
          <p:cNvPr id="819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7848600" cy="4411663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sz="3600" b="1" dirty="0"/>
              <a:t>The negative of a vector is defined as the vector that, when added to the original vector, gives a resultant of zero.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600" b="1" dirty="0"/>
              <a:t>Represented as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3600" b="1" dirty="0"/>
              <a:t> 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sz="3600" b="1" dirty="0"/>
              <a:t>The negative of the vector will have the </a:t>
            </a:r>
            <a:r>
              <a:rPr lang="en-US" sz="3600" b="1" u="sng" dirty="0"/>
              <a:t>same magnitude</a:t>
            </a:r>
            <a:r>
              <a:rPr lang="en-US" sz="3600" b="1" dirty="0"/>
              <a:t>, but point in the </a:t>
            </a:r>
            <a:r>
              <a:rPr lang="en-US" sz="3600" b="1" u="sng" dirty="0"/>
              <a:t>opposite direction</a:t>
            </a:r>
            <a:r>
              <a:rPr lang="en-US" sz="3600" b="1" dirty="0"/>
              <a:t>.</a:t>
            </a:r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4191000" y="3276600"/>
          <a:ext cx="4762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8" name="Equation" r:id="rId3" imgW="253780" imgH="203024" progId="">
                  <p:embed/>
                </p:oleObj>
              </mc:Choice>
              <mc:Fallback>
                <p:oleObj name="Equation" r:id="rId3" imgW="253780" imgH="203024" progId="">
                  <p:embed/>
                  <p:pic>
                    <p:nvPicPr>
                      <p:cNvPr id="0" name="Picture 3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3276600"/>
                        <a:ext cx="4762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6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447800" y="3840163"/>
          <a:ext cx="1447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9" name="Equation" r:id="rId5" imgW="875920" imgH="304668" progId="">
                  <p:embed/>
                </p:oleObj>
              </mc:Choice>
              <mc:Fallback>
                <p:oleObj name="Equation" r:id="rId5" imgW="875920" imgH="304668" progId="">
                  <p:embed/>
                  <p:pic>
                    <p:nvPicPr>
                      <p:cNvPr id="0" name="Picture 37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840163"/>
                        <a:ext cx="1447800" cy="5032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Multiplying or Dividing a Vector by a Scalar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The result of the multiplication or division of a vector by a scalar is a vector.</a:t>
            </a:r>
          </a:p>
          <a:p>
            <a:pPr marL="0" indent="0" eaLnBrk="1" hangingPunct="1"/>
            <a:r>
              <a:rPr lang="en-US" b="1" dirty="0"/>
              <a:t>The magnitude of the vector is multiplied or divided by the scalar.</a:t>
            </a:r>
          </a:p>
          <a:p>
            <a:pPr marL="0" indent="0" eaLnBrk="1" hangingPunct="1"/>
            <a:r>
              <a:rPr lang="en-US" b="1" dirty="0"/>
              <a:t>If the scalar is positive, the direction of the result is the same as of the original vector.</a:t>
            </a:r>
          </a:p>
          <a:p>
            <a:pPr marL="0" indent="0" eaLnBrk="1" hangingPunct="1"/>
            <a:r>
              <a:rPr lang="en-US" b="1" dirty="0"/>
              <a:t>If the scalar is negative, the direction of the result is opposite that of the original vector.</a:t>
            </a:r>
          </a:p>
          <a:p>
            <a:pPr marL="0" indent="0" eaLnBrk="1" hangingPunct="1"/>
            <a:endParaRPr lang="en-US" sz="2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Component Method of Adding Vectors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Graphical addition is not recommended when:</a:t>
            </a:r>
          </a:p>
          <a:p>
            <a:pPr lvl="1" eaLnBrk="1" hangingPunct="1"/>
            <a:r>
              <a:rPr lang="en-US" b="1" dirty="0"/>
              <a:t>High accuracy is required</a:t>
            </a:r>
          </a:p>
          <a:p>
            <a:pPr lvl="1" eaLnBrk="1" hangingPunct="1"/>
            <a:r>
              <a:rPr lang="en-US" b="1" dirty="0"/>
              <a:t>If you have a three-dimensional problem</a:t>
            </a:r>
          </a:p>
          <a:p>
            <a:pPr marL="0" indent="0" eaLnBrk="1" hangingPunct="1"/>
            <a:r>
              <a:rPr lang="en-US" b="1" dirty="0"/>
              <a:t>Component method is an alternative method</a:t>
            </a:r>
          </a:p>
          <a:p>
            <a:pPr lvl="1" eaLnBrk="1" hangingPunct="1"/>
            <a:r>
              <a:rPr lang="en-US" b="1" dirty="0"/>
              <a:t>It uses projections of vectors along coordinate axes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Components of a Vector, Introduction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sz="2400" b="1" dirty="0"/>
              <a:t>A component is a projection of a vector along an axis.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Any vector can be completely described by its components.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sz="2400" b="1" dirty="0"/>
              <a:t>It is useful to use rectangular components.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These are the projections of the vector along the x- and y-axes.</a:t>
            </a:r>
          </a:p>
        </p:txBody>
      </p:sp>
      <p:pic>
        <p:nvPicPr>
          <p:cNvPr id="41990" name="Picture 6" descr="0312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638300"/>
            <a:ext cx="4178300" cy="358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Vector Component Terminology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7391400" cy="4411663"/>
          </a:xfrm>
        </p:spPr>
        <p:txBody>
          <a:bodyPr/>
          <a:lstStyle/>
          <a:p>
            <a:pPr marL="0" indent="0" eaLnBrk="1" hangingPunct="1"/>
            <a:r>
              <a:rPr lang="en-US" b="1" dirty="0"/>
              <a:t>   </a:t>
            </a:r>
            <a:r>
              <a:rPr lang="en-US" i="1" dirty="0"/>
              <a:t>     </a:t>
            </a:r>
            <a:r>
              <a:rPr lang="en-US" b="1" dirty="0"/>
              <a:t>            </a:t>
            </a:r>
            <a:r>
              <a:rPr lang="en-US" dirty="0"/>
              <a:t>are the </a:t>
            </a:r>
            <a:r>
              <a:rPr lang="en-US" b="1" i="1" dirty="0"/>
              <a:t>component vectors</a:t>
            </a:r>
            <a:r>
              <a:rPr lang="en-US" dirty="0"/>
              <a:t> of    </a:t>
            </a:r>
          </a:p>
          <a:p>
            <a:pPr lvl="1" eaLnBrk="1" hangingPunct="1"/>
            <a:r>
              <a:rPr lang="en-US" dirty="0"/>
              <a:t>They are vectors and follow all the rules for vectors.</a:t>
            </a:r>
          </a:p>
          <a:p>
            <a:pPr marL="0" indent="0" eaLnBrk="1" hangingPunct="1"/>
            <a:r>
              <a:rPr lang="en-US" i="1" dirty="0"/>
              <a:t>  A</a:t>
            </a:r>
            <a:r>
              <a:rPr lang="en-US" i="1" baseline="-25000" dirty="0"/>
              <a:t>x</a:t>
            </a:r>
            <a:r>
              <a:rPr lang="en-US" dirty="0"/>
              <a:t> and </a:t>
            </a:r>
            <a:r>
              <a:rPr lang="en-US" i="1" dirty="0"/>
              <a:t>A</a:t>
            </a:r>
            <a:r>
              <a:rPr lang="en-US" i="1" baseline="-25000" dirty="0"/>
              <a:t>y</a:t>
            </a:r>
            <a:r>
              <a:rPr lang="en-US" dirty="0"/>
              <a:t> are scalars, and will be referred to as the </a:t>
            </a:r>
            <a:r>
              <a:rPr lang="en-US" b="1" i="1" dirty="0"/>
              <a:t>components</a:t>
            </a:r>
            <a:r>
              <a:rPr lang="en-US" dirty="0"/>
              <a:t> of    .</a:t>
            </a:r>
            <a:endParaRPr lang="en-US" i="1" dirty="0"/>
          </a:p>
        </p:txBody>
      </p:sp>
      <p:graphicFrame>
        <p:nvGraphicFramePr>
          <p:cNvPr id="11266" name="Object 102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648200" y="3733800"/>
          <a:ext cx="3048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7" name="Equation" r:id="rId3" imgW="164957" imgH="203024" progId="">
                  <p:embed/>
                </p:oleObj>
              </mc:Choice>
              <mc:Fallback>
                <p:oleObj name="Equation" r:id="rId3" imgW="164957" imgH="203024" progId="">
                  <p:embed/>
                  <p:pic>
                    <p:nvPicPr>
                      <p:cNvPr id="0" name="Picture 5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3733800"/>
                        <a:ext cx="304800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1026"/>
          <p:cNvGraphicFramePr>
            <a:graphicFrameLocks noChangeAspect="1"/>
          </p:cNvGraphicFramePr>
          <p:nvPr/>
        </p:nvGraphicFramePr>
        <p:xfrm>
          <a:off x="7620000" y="1676400"/>
          <a:ext cx="3048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8" name="Equation" r:id="rId5" imgW="164957" imgH="203024" progId="">
                  <p:embed/>
                </p:oleObj>
              </mc:Choice>
              <mc:Fallback>
                <p:oleObj name="Equation" r:id="rId5" imgW="164957" imgH="203024" progId="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0" y="1676400"/>
                        <a:ext cx="304800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1024"/>
          <p:cNvGraphicFramePr>
            <a:graphicFrameLocks noGrp="1" noChangeAspect="1"/>
          </p:cNvGraphicFramePr>
          <p:nvPr>
            <p:ph idx="1"/>
          </p:nvPr>
        </p:nvGraphicFramePr>
        <p:xfrm>
          <a:off x="1006475" y="1746250"/>
          <a:ext cx="12795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79" name="Equation" r:id="rId6" imgW="736280" imgH="266584" progId="">
                  <p:embed/>
                </p:oleObj>
              </mc:Choice>
              <mc:Fallback>
                <p:oleObj name="Equation" r:id="rId6" imgW="736280" imgH="266584" progId="">
                  <p:embed/>
                  <p:pic>
                    <p:nvPicPr>
                      <p:cNvPr id="0" name="Picture 5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475" y="1746250"/>
                        <a:ext cx="1279525" cy="463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Components of a Vector</a:t>
            </a:r>
          </a:p>
        </p:txBody>
      </p:sp>
      <p:sp>
        <p:nvSpPr>
          <p:cNvPr id="12296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533400" y="1524000"/>
            <a:ext cx="4038600" cy="4530725"/>
          </a:xfrm>
        </p:spPr>
        <p:txBody>
          <a:bodyPr>
            <a:normAutofit lnSpcReduction="10000"/>
          </a:bodyPr>
          <a:lstStyle/>
          <a:p>
            <a:pPr marL="0" indent="0" eaLnBrk="1" hangingPunct="1"/>
            <a:r>
              <a:rPr lang="en-US" sz="3200" dirty="0"/>
              <a:t>Assume you are given a vector </a:t>
            </a:r>
          </a:p>
          <a:p>
            <a:pPr marL="0" indent="0" eaLnBrk="1" hangingPunct="1"/>
            <a:r>
              <a:rPr lang="en-US" sz="3200" dirty="0"/>
              <a:t>It can be expressed in terms of two other vectors,      and </a:t>
            </a:r>
          </a:p>
          <a:p>
            <a:pPr marL="0" indent="0" eaLnBrk="1" hangingPunct="1"/>
            <a:endParaRPr lang="en-US" sz="3200" dirty="0"/>
          </a:p>
          <a:p>
            <a:pPr marL="0" indent="0" eaLnBrk="1" hangingPunct="1"/>
            <a:r>
              <a:rPr lang="en-US" sz="3200" dirty="0"/>
              <a:t>These three vectors form a right triangle.</a:t>
            </a:r>
          </a:p>
          <a:p>
            <a:pPr marL="0" indent="0" eaLnBrk="1" hangingPunct="1"/>
            <a:r>
              <a:rPr lang="en-US" sz="3200" dirty="0"/>
              <a:t> </a:t>
            </a:r>
          </a:p>
          <a:p>
            <a:pPr marL="0" indent="0" eaLnBrk="1" hangingPunct="1"/>
            <a:endParaRPr lang="en-US" sz="2600" dirty="0"/>
          </a:p>
        </p:txBody>
      </p:sp>
      <p:graphicFrame>
        <p:nvGraphicFramePr>
          <p:cNvPr id="12290" name="Object 12"/>
          <p:cNvGraphicFramePr>
            <a:graphicFrameLocks noChangeAspect="1"/>
          </p:cNvGraphicFramePr>
          <p:nvPr/>
        </p:nvGraphicFramePr>
        <p:xfrm>
          <a:off x="762000" y="3962400"/>
          <a:ext cx="15240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8" name="Equation" r:id="rId3" imgW="837836" imgH="266584" progId="">
                  <p:embed/>
                </p:oleObj>
              </mc:Choice>
              <mc:Fallback>
                <p:oleObj name="Equation" r:id="rId3" imgW="837836" imgH="266584" progId="">
                  <p:embed/>
                  <p:pic>
                    <p:nvPicPr>
                      <p:cNvPr id="0" name="Picture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962400"/>
                        <a:ext cx="152400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5"/>
          <p:cNvGraphicFramePr>
            <a:graphicFrameLocks noChangeAspect="1"/>
          </p:cNvGraphicFramePr>
          <p:nvPr/>
        </p:nvGraphicFramePr>
        <p:xfrm>
          <a:off x="2133600" y="1981200"/>
          <a:ext cx="314325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39" name="Equation" r:id="rId5" imgW="164957" imgH="203024" progId="">
                  <p:embed/>
                </p:oleObj>
              </mc:Choice>
              <mc:Fallback>
                <p:oleObj name="Equation" r:id="rId5" imgW="164957" imgH="203024" progId="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981200"/>
                        <a:ext cx="314325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11"/>
          <p:cNvGraphicFramePr>
            <a:graphicFrameLocks noChangeAspect="1"/>
          </p:cNvGraphicFramePr>
          <p:nvPr/>
        </p:nvGraphicFramePr>
        <p:xfrm>
          <a:off x="2057400" y="3429000"/>
          <a:ext cx="38258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0" name="Equation" r:id="rId7" imgW="228501" imgH="253890" progId="">
                  <p:embed/>
                </p:oleObj>
              </mc:Choice>
              <mc:Fallback>
                <p:oleObj name="Equation" r:id="rId7" imgW="228501" imgH="253890" progId="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429000"/>
                        <a:ext cx="382588" cy="423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0"/>
          <p:cNvGraphicFramePr>
            <a:graphicFrameLocks noChangeAspect="1"/>
          </p:cNvGraphicFramePr>
          <p:nvPr/>
        </p:nvGraphicFramePr>
        <p:xfrm>
          <a:off x="3200400" y="3441700"/>
          <a:ext cx="38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41" name="Equation" r:id="rId9" imgW="228501" imgH="266584" progId="">
                  <p:embed/>
                </p:oleObj>
              </mc:Choice>
              <mc:Fallback>
                <p:oleObj name="Equation" r:id="rId9" imgW="228501" imgH="266584" progId="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3441700"/>
                        <a:ext cx="381000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8" name="Picture 10" descr="0312b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572000" y="1447800"/>
            <a:ext cx="4178300" cy="3962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Components of a Vector, 2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The </a:t>
            </a:r>
            <a:r>
              <a:rPr lang="en-US" b="1" i="1" dirty="0"/>
              <a:t>y</a:t>
            </a:r>
            <a:r>
              <a:rPr lang="en-US" b="1" dirty="0"/>
              <a:t>-component is moved to the end of the </a:t>
            </a:r>
            <a:r>
              <a:rPr lang="en-US" b="1" i="1" dirty="0"/>
              <a:t>x</a:t>
            </a:r>
            <a:r>
              <a:rPr lang="en-US" b="1" dirty="0"/>
              <a:t>-component.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This is due to the fact that any vector can be moved parallel to itself without being affected.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800" b="1" dirty="0"/>
              <a:t>This completes the triangle.</a:t>
            </a:r>
          </a:p>
          <a:p>
            <a:pPr marL="0" indent="0" eaLnBrk="1" hangingPunct="1">
              <a:lnSpc>
                <a:spcPct val="90000"/>
              </a:lnSpc>
            </a:pPr>
            <a:endParaRPr lang="en-US" dirty="0"/>
          </a:p>
        </p:txBody>
      </p:sp>
      <p:pic>
        <p:nvPicPr>
          <p:cNvPr id="43014" name="Picture 6" descr="0312b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447800"/>
            <a:ext cx="4178300" cy="4419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Components of a Vector, 3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eaLnBrk="1" hangingPunct="1"/>
            <a:r>
              <a:rPr lang="en-US" b="1" dirty="0"/>
              <a:t>The x-component of a vector is the projection along the x-axis.</a:t>
            </a:r>
          </a:p>
          <a:p>
            <a:pPr lvl="1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The y-component of a vector is the projection along the y-axis.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This assumes the angle </a:t>
            </a:r>
            <a:r>
              <a:rPr lang="el-GR" b="1" dirty="0">
                <a:latin typeface="Lucida Grande" pitchFamily="80" charset="0"/>
                <a:cs typeface="Arial" charset="0"/>
              </a:rPr>
              <a:t>θ</a:t>
            </a:r>
            <a:r>
              <a:rPr lang="en-US" b="1" dirty="0">
                <a:cs typeface="Arial" charset="0"/>
              </a:rPr>
              <a:t> is measured with respect to the +x-axis.</a:t>
            </a:r>
          </a:p>
          <a:p>
            <a:pPr lvl="1" eaLnBrk="1" hangingPunct="1"/>
            <a:r>
              <a:rPr lang="en-US" b="1" dirty="0">
                <a:cs typeface="Arial" charset="0"/>
              </a:rPr>
              <a:t>If not, do not use these equations, use the sides of the triangle directly.</a:t>
            </a:r>
            <a:endParaRPr lang="el-GR" b="1" dirty="0">
              <a:cs typeface="Arial" charset="0"/>
            </a:endParaRPr>
          </a:p>
          <a:p>
            <a:pPr marL="0" indent="0" eaLnBrk="1" hangingPunct="1"/>
            <a:endParaRPr lang="en-US" sz="2600" dirty="0"/>
          </a:p>
        </p:txBody>
      </p:sp>
      <p:graphicFrame>
        <p:nvGraphicFramePr>
          <p:cNvPr id="13314" name="Object 6"/>
          <p:cNvGraphicFramePr>
            <a:graphicFrameLocks noChangeAspect="1"/>
          </p:cNvGraphicFramePr>
          <p:nvPr/>
        </p:nvGraphicFramePr>
        <p:xfrm>
          <a:off x="685800" y="3886200"/>
          <a:ext cx="16240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0" name="Equation" r:id="rId3" imgW="25578000" imgH="7709040" progId="">
                  <p:embed/>
                </p:oleObj>
              </mc:Choice>
              <mc:Fallback>
                <p:oleObj name="Equation" r:id="rId3" imgW="25578000" imgH="7709040" progId="">
                  <p:embed/>
                  <p:pic>
                    <p:nvPicPr>
                      <p:cNvPr id="0" name="Picture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886200"/>
                        <a:ext cx="1624013" cy="488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"/>
          <p:cNvGraphicFramePr>
            <a:graphicFrameLocks noChangeAspect="1"/>
          </p:cNvGraphicFramePr>
          <p:nvPr/>
        </p:nvGraphicFramePr>
        <p:xfrm>
          <a:off x="1295400" y="2438400"/>
          <a:ext cx="160020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1" name="Equation" r:id="rId5" imgW="26796600" imgH="7302600" progId="">
                  <p:embed/>
                </p:oleObj>
              </mc:Choice>
              <mc:Fallback>
                <p:oleObj name="Equation" r:id="rId5" imgW="26796600" imgH="7302600" progId="">
                  <p:embed/>
                  <p:pic>
                    <p:nvPicPr>
                      <p:cNvPr id="0" name="Picture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438400"/>
                        <a:ext cx="1600200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Components of a Vector, 4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>
                <a:cs typeface="Times New Roman" pitchFamily="18" charset="0"/>
              </a:rPr>
              <a:t>The components are the legs of the right triangle whose hypotenuse is the length of </a:t>
            </a:r>
            <a:r>
              <a:rPr lang="en-US" b="1" i="1" dirty="0">
                <a:cs typeface="Times New Roman" pitchFamily="18" charset="0"/>
              </a:rPr>
              <a:t>A.</a:t>
            </a:r>
          </a:p>
          <a:p>
            <a:pPr lvl="1" eaLnBrk="1" hangingPunct="1"/>
            <a:r>
              <a:rPr lang="en-US" b="1" i="1" dirty="0">
                <a:cs typeface="Times New Roman" pitchFamily="18" charset="0"/>
              </a:rPr>
              <a:t> </a:t>
            </a:r>
          </a:p>
          <a:p>
            <a:pPr lvl="1" eaLnBrk="1" hangingPunct="1"/>
            <a:r>
              <a:rPr lang="en-US" b="1" dirty="0">
                <a:cs typeface="Times New Roman" pitchFamily="18" charset="0"/>
              </a:rPr>
              <a:t>May still have to find </a:t>
            </a:r>
            <a:r>
              <a:rPr lang="en-US" b="1" i="1" dirty="0">
                <a:latin typeface="Lucida Grande" pitchFamily="80" charset="0"/>
                <a:cs typeface="Times New Roman" pitchFamily="18" charset="0"/>
              </a:rPr>
              <a:t>θ</a:t>
            </a:r>
            <a:r>
              <a:rPr lang="en-US" b="1" dirty="0">
                <a:cs typeface="Times New Roman" pitchFamily="18" charset="0"/>
              </a:rPr>
              <a:t> with respect to the positive </a:t>
            </a:r>
            <a:r>
              <a:rPr lang="en-US" b="1" i="1" dirty="0">
                <a:cs typeface="Times New Roman" pitchFamily="18" charset="0"/>
              </a:rPr>
              <a:t>x</a:t>
            </a:r>
            <a:r>
              <a:rPr lang="en-US" b="1" dirty="0">
                <a:cs typeface="Times New Roman" pitchFamily="18" charset="0"/>
              </a:rPr>
              <a:t>-axis</a:t>
            </a:r>
          </a:p>
          <a:p>
            <a:pPr marL="0" indent="0" eaLnBrk="1" hangingPunct="1"/>
            <a:r>
              <a:rPr lang="en-US" b="1" dirty="0">
                <a:cs typeface="Times New Roman" pitchFamily="18" charset="0"/>
              </a:rPr>
              <a:t>In a problem, a vector may be specified by its components or its magnitude and direction.</a:t>
            </a:r>
          </a:p>
          <a:p>
            <a:pPr lvl="2" eaLnBrk="1" hangingPunct="1"/>
            <a:endParaRPr lang="en-US" sz="2100" b="1" dirty="0">
              <a:cs typeface="Times New Roman" pitchFamily="18" charset="0"/>
            </a:endParaRPr>
          </a:p>
          <a:p>
            <a:pPr marL="0" indent="0" eaLnBrk="1" hangingPunct="1"/>
            <a:endParaRPr lang="en-US" sz="2600" b="1" dirty="0">
              <a:cs typeface="Times New Roman" pitchFamily="18" charset="0"/>
            </a:endParaRPr>
          </a:p>
          <a:p>
            <a:pPr marL="0" indent="0" eaLnBrk="1" hangingPunct="1"/>
            <a:endParaRPr lang="en-US" sz="2600" b="1" dirty="0">
              <a:cs typeface="Times New Roman" pitchFamily="18" charset="0"/>
            </a:endParaRPr>
          </a:p>
          <a:p>
            <a:pPr lvl="1" eaLnBrk="1" hangingPunct="1"/>
            <a:endParaRPr lang="en-US" sz="2200" dirty="0"/>
          </a:p>
          <a:p>
            <a:pPr marL="0" indent="0" eaLnBrk="1" hangingPunct="1"/>
            <a:endParaRPr lang="en-US" sz="2600" dirty="0"/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235795"/>
              </p:ext>
            </p:extLst>
          </p:nvPr>
        </p:nvGraphicFramePr>
        <p:xfrm>
          <a:off x="1447800" y="2622550"/>
          <a:ext cx="3657600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name="Equation" r:id="rId3" imgW="3033720" imgH="596880" progId="">
                  <p:embed/>
                </p:oleObj>
              </mc:Choice>
              <mc:Fallback>
                <p:oleObj name="Equation" r:id="rId3" imgW="3033720" imgH="596880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622550"/>
                        <a:ext cx="3657600" cy="730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99619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Components of a Vector, final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eaLnBrk="1" hangingPunct="1"/>
            <a:r>
              <a:rPr lang="en-US" sz="3200" b="1" dirty="0">
                <a:cs typeface="Times New Roman" pitchFamily="18" charset="0"/>
              </a:rPr>
              <a:t>The components can be positive or negative and will have the same units as the original vector.</a:t>
            </a:r>
          </a:p>
          <a:p>
            <a:pPr marL="0" indent="0" eaLnBrk="1" hangingPunct="1"/>
            <a:r>
              <a:rPr lang="en-US" sz="3200" b="1" dirty="0">
                <a:cs typeface="Times New Roman" pitchFamily="18" charset="0"/>
              </a:rPr>
              <a:t>The signs of the components will depend on the angle</a:t>
            </a:r>
            <a:r>
              <a:rPr lang="en-US" sz="3200" dirty="0">
                <a:cs typeface="Times New Roman" pitchFamily="18" charset="0"/>
              </a:rPr>
              <a:t>.</a:t>
            </a:r>
          </a:p>
        </p:txBody>
      </p:sp>
      <p:pic>
        <p:nvPicPr>
          <p:cNvPr id="44038" name="Picture 6" descr="031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295400"/>
            <a:ext cx="38100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7245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Unit Vectors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/>
            <a:r>
              <a:rPr lang="en-US" sz="4000" dirty="0"/>
              <a:t>A </a:t>
            </a:r>
            <a:r>
              <a:rPr lang="en-US" sz="4000" b="1" i="1" dirty="0"/>
              <a:t>unit vector</a:t>
            </a:r>
            <a:r>
              <a:rPr lang="en-US" sz="4000" dirty="0"/>
              <a:t> is a dimensionless vector with a magnitude of exactly 1.</a:t>
            </a:r>
          </a:p>
          <a:p>
            <a:pPr marL="0" indent="0" eaLnBrk="1" hangingPunct="1"/>
            <a:r>
              <a:rPr lang="en-US" sz="4000" dirty="0"/>
              <a:t>Unit vectors are used to specify a direction and have no other physical significance.</a:t>
            </a:r>
          </a:p>
          <a:p>
            <a:pPr marL="0" indent="0" eaLnBrk="1" hangingPunct="1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787067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38200"/>
            <a:ext cx="7543800" cy="579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Unit Vectors, cont.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19263"/>
            <a:ext cx="4495800" cy="4411662"/>
          </a:xfrm>
        </p:spPr>
        <p:txBody>
          <a:bodyPr/>
          <a:lstStyle/>
          <a:p>
            <a:pPr marL="0" indent="0" eaLnBrk="1" hangingPunct="1"/>
            <a:r>
              <a:rPr lang="en-US" dirty="0"/>
              <a:t>The symbols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US" dirty="0"/>
              <a:t>    represent unit vectors</a:t>
            </a:r>
          </a:p>
          <a:p>
            <a:pPr marL="0" indent="0" eaLnBrk="1" hangingPunct="1"/>
            <a:r>
              <a:rPr lang="en-US" dirty="0"/>
              <a:t>They form a set of mutually perpendicular vectors in a right-handed coordinate system   </a:t>
            </a:r>
          </a:p>
          <a:p>
            <a:pPr marL="0" indent="0" eaLnBrk="1" hangingPunct="1"/>
            <a:r>
              <a:rPr lang="en-US" dirty="0"/>
              <a:t>The magnitude of each unit vector is 1 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sz="2600" dirty="0"/>
          </a:p>
          <a:p>
            <a:pPr marL="0" indent="0" eaLnBrk="1" hangingPunct="1">
              <a:buFont typeface="Wingdings" pitchFamily="2" charset="2"/>
              <a:buNone/>
            </a:pPr>
            <a:endParaRPr lang="en-US" sz="2600" dirty="0"/>
          </a:p>
        </p:txBody>
      </p:sp>
      <p:graphicFrame>
        <p:nvGraphicFramePr>
          <p:cNvPr id="15362" name="Object 6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832182138"/>
              </p:ext>
            </p:extLst>
          </p:nvPr>
        </p:nvGraphicFramePr>
        <p:xfrm>
          <a:off x="1066800" y="5979319"/>
          <a:ext cx="1447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2" name="Equation" r:id="rId3" imgW="914400" imgH="304800" progId="">
                  <p:embed/>
                </p:oleObj>
              </mc:Choice>
              <mc:Fallback>
                <p:oleObj name="Equation" r:id="rId3" imgW="914400" imgH="304800" progId="">
                  <p:embed/>
                  <p:pic>
                    <p:nvPicPr>
                      <p:cNvPr id="0" name="Picture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5979319"/>
                        <a:ext cx="14478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037248"/>
              </p:ext>
            </p:extLst>
          </p:nvPr>
        </p:nvGraphicFramePr>
        <p:xfrm>
          <a:off x="2921000" y="1862138"/>
          <a:ext cx="1042989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" name="Equation" r:id="rId5" imgW="812520" imgH="241200" progId="Equation.3">
                  <p:embed/>
                </p:oleObj>
              </mc:Choice>
              <mc:Fallback>
                <p:oleObj name="Equation" r:id="rId5" imgW="812520" imgH="2412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1000" y="1862138"/>
                        <a:ext cx="1042989" cy="347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8" name="Picture 8" descr="0314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752600"/>
            <a:ext cx="3662363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35079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Unit Vectors in Vector Notation</a:t>
            </a:r>
          </a:p>
        </p:txBody>
      </p:sp>
      <p:sp>
        <p:nvSpPr>
          <p:cNvPr id="16390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81000" y="1524000"/>
            <a:ext cx="4038600" cy="4438650"/>
          </a:xfrm>
        </p:spPr>
        <p:txBody>
          <a:bodyPr/>
          <a:lstStyle/>
          <a:p>
            <a:pPr marL="0" indent="0" eaLnBrk="1" hangingPunct="1"/>
            <a:r>
              <a:rPr lang="en-US" sz="1800" b="1" dirty="0"/>
              <a:t>A</a:t>
            </a:r>
            <a:r>
              <a:rPr lang="en-US" sz="1800" b="1" baseline="-25000" dirty="0"/>
              <a:t>x</a:t>
            </a:r>
            <a:r>
              <a:rPr lang="en-US" sz="1800" dirty="0"/>
              <a:t> is the same as </a:t>
            </a:r>
            <a:r>
              <a:rPr lang="en-US" sz="1800" i="1" dirty="0"/>
              <a:t>A</a:t>
            </a:r>
            <a:r>
              <a:rPr lang="en-US" sz="1800" i="1" baseline="-25000" dirty="0"/>
              <a:t>x</a:t>
            </a:r>
            <a:r>
              <a:rPr lang="en-US" sz="1800" baseline="-25000" dirty="0"/>
              <a:t>     </a:t>
            </a:r>
            <a:r>
              <a:rPr lang="en-US" sz="1800" dirty="0"/>
              <a:t>and</a:t>
            </a:r>
            <a:r>
              <a:rPr lang="en-US" sz="1800" baseline="-25000" dirty="0"/>
              <a:t> </a:t>
            </a:r>
            <a:r>
              <a:rPr lang="en-US" sz="1800" b="1" dirty="0"/>
              <a:t>A</a:t>
            </a:r>
            <a:r>
              <a:rPr lang="en-US" sz="1800" b="1" baseline="-25000" dirty="0"/>
              <a:t>y</a:t>
            </a:r>
            <a:r>
              <a:rPr lang="en-US" sz="1800" dirty="0"/>
              <a:t> is the same as </a:t>
            </a:r>
            <a:r>
              <a:rPr lang="en-US" sz="1800" i="1" dirty="0"/>
              <a:t>A</a:t>
            </a:r>
            <a:r>
              <a:rPr lang="en-US" sz="1800" i="1" baseline="-25000" dirty="0"/>
              <a:t>y</a:t>
            </a:r>
            <a:r>
              <a:rPr lang="en-US" sz="1800" baseline="-25000" dirty="0"/>
              <a:t>      </a:t>
            </a:r>
            <a:r>
              <a:rPr lang="en-US" sz="1800" dirty="0"/>
              <a:t>etc.</a:t>
            </a:r>
            <a:endParaRPr lang="en-US" sz="1800" baseline="-25000" dirty="0"/>
          </a:p>
          <a:p>
            <a:pPr marL="0" indent="0" eaLnBrk="1" hangingPunct="1"/>
            <a:r>
              <a:rPr lang="en-US" sz="1800" dirty="0"/>
              <a:t>The complete vector can be expressed as: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US" sz="2600" dirty="0"/>
          </a:p>
        </p:txBody>
      </p:sp>
      <p:graphicFrame>
        <p:nvGraphicFramePr>
          <p:cNvPr id="163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0070895"/>
              </p:ext>
            </p:extLst>
          </p:nvPr>
        </p:nvGraphicFramePr>
        <p:xfrm>
          <a:off x="914400" y="1828800"/>
          <a:ext cx="115888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8" name="Equation" r:id="rId3" imgW="165028" imgH="431613" progId="Equation.3">
                  <p:embed/>
                </p:oleObj>
              </mc:Choice>
              <mc:Fallback>
                <p:oleObj name="Equation" r:id="rId3" imgW="165028" imgH="431613" progId="Equation.3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828800"/>
                        <a:ext cx="115888" cy="304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6017467"/>
              </p:ext>
            </p:extLst>
          </p:nvPr>
        </p:nvGraphicFramePr>
        <p:xfrm>
          <a:off x="2362200" y="1524000"/>
          <a:ext cx="12065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9" name="Equation" r:id="rId5" imgW="152334" imgH="368140" progId="Equation.3">
                  <p:embed/>
                </p:oleObj>
              </mc:Choice>
              <mc:Fallback>
                <p:oleObj name="Equation" r:id="rId5" imgW="152334" imgH="368140" progId="Equation.3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524000"/>
                        <a:ext cx="12065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951112"/>
              </p:ext>
            </p:extLst>
          </p:nvPr>
        </p:nvGraphicFramePr>
        <p:xfrm>
          <a:off x="609600" y="2819400"/>
          <a:ext cx="3101848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0" name="Equation" r:id="rId7" imgW="901309" imgH="266584" progId="">
                  <p:embed/>
                </p:oleObj>
              </mc:Choice>
              <mc:Fallback>
                <p:oleObj name="Equation" r:id="rId7" imgW="901309" imgH="266584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819400"/>
                        <a:ext cx="3101848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93" name="Picture 9" descr="0314b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485900"/>
            <a:ext cx="40894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771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Position Vector, Example</a:t>
            </a:r>
          </a:p>
        </p:txBody>
      </p:sp>
      <p:sp>
        <p:nvSpPr>
          <p:cNvPr id="17412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 eaLnBrk="1" hangingPunct="1"/>
            <a:r>
              <a:rPr lang="en-US" dirty="0"/>
              <a:t>A point lies in the </a:t>
            </a:r>
            <a:r>
              <a:rPr lang="en-US" i="1" dirty="0" err="1"/>
              <a:t>xy</a:t>
            </a:r>
            <a:r>
              <a:rPr lang="en-US" dirty="0"/>
              <a:t> plane and has Cartesian coordinates of (x, y).</a:t>
            </a:r>
          </a:p>
          <a:p>
            <a:pPr marL="0" indent="0" eaLnBrk="1" hangingPunct="1"/>
            <a:r>
              <a:rPr lang="en-US" dirty="0"/>
              <a:t>The point can be specified by the position vector.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r>
              <a:rPr lang="en-US" dirty="0"/>
              <a:t>This gives the components of the vector and its coordinates.</a:t>
            </a:r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1036209"/>
              </p:ext>
            </p:extLst>
          </p:nvPr>
        </p:nvGraphicFramePr>
        <p:xfrm>
          <a:off x="1143000" y="4343399"/>
          <a:ext cx="1600200" cy="574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Equation" r:id="rId3" imgW="672808" imgH="241195" progId="">
                  <p:embed/>
                </p:oleObj>
              </mc:Choice>
              <mc:Fallback>
                <p:oleObj name="Equation" r:id="rId3" imgW="672808" imgH="241195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4343399"/>
                        <a:ext cx="1600200" cy="5744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5" name="Picture 7" descr="031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95400"/>
            <a:ext cx="4113213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07904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481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sum of two displacement vectors </a:t>
            </a:r>
            <a:r>
              <a:rPr lang="en-US" b="1" dirty="0"/>
              <a:t>A</a:t>
            </a:r>
            <a:r>
              <a:rPr lang="en-US" dirty="0"/>
              <a:t> and </a:t>
            </a:r>
            <a:r>
              <a:rPr lang="en-US" b="1" dirty="0"/>
              <a:t>B </a:t>
            </a:r>
            <a:r>
              <a:rPr lang="en-US" dirty="0"/>
              <a:t>lying in the </a:t>
            </a:r>
            <a:r>
              <a:rPr lang="en-US" dirty="0" err="1"/>
              <a:t>xy</a:t>
            </a:r>
            <a:r>
              <a:rPr lang="en-US" dirty="0"/>
              <a:t> plane and given by:</a:t>
            </a:r>
          </a:p>
          <a:p>
            <a:pPr marL="0" indent="0">
              <a:buNone/>
            </a:pPr>
            <a:r>
              <a:rPr lang="en-US" b="1" dirty="0"/>
              <a:t>A = </a:t>
            </a:r>
            <a:r>
              <a:rPr lang="en-US" dirty="0"/>
              <a:t>(2.0 i + 2.0 j)m</a:t>
            </a:r>
          </a:p>
          <a:p>
            <a:pPr marL="0" indent="0">
              <a:buNone/>
            </a:pPr>
            <a:r>
              <a:rPr lang="en-US" b="1" dirty="0"/>
              <a:t>B = </a:t>
            </a:r>
            <a:r>
              <a:rPr lang="en-US" dirty="0"/>
              <a:t>(2.0 i - 4.0 j)m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319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Adding Vectors Using Unit Vectors</a:t>
            </a: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600200"/>
            <a:ext cx="6781800" cy="4411663"/>
          </a:xfrm>
        </p:spPr>
        <p:txBody>
          <a:bodyPr/>
          <a:lstStyle/>
          <a:p>
            <a:pPr marL="0" indent="0" eaLnBrk="1" hangingPunct="1"/>
            <a:r>
              <a:rPr lang="en-US" dirty="0"/>
              <a:t>Using </a:t>
            </a:r>
          </a:p>
          <a:p>
            <a:pPr marL="0" indent="0" eaLnBrk="1" hangingPunct="1"/>
            <a:r>
              <a:rPr lang="en-US" dirty="0"/>
              <a:t>Then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r>
              <a:rPr lang="en-US" dirty="0"/>
              <a:t>So </a:t>
            </a:r>
            <a:r>
              <a:rPr lang="en-US" i="1" dirty="0"/>
              <a:t>R</a:t>
            </a:r>
            <a:r>
              <a:rPr lang="en-US" i="1" baseline="-25000" dirty="0"/>
              <a:t>x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i="1" baseline="-25000" dirty="0"/>
              <a:t>x</a:t>
            </a:r>
            <a:r>
              <a:rPr lang="en-US" dirty="0"/>
              <a:t> + </a:t>
            </a:r>
            <a:r>
              <a:rPr lang="en-US" i="1" dirty="0" err="1"/>
              <a:t>B</a:t>
            </a:r>
            <a:r>
              <a:rPr lang="en-US" i="1" baseline="-25000" dirty="0" err="1"/>
              <a:t>x</a:t>
            </a:r>
            <a:r>
              <a:rPr lang="en-US" dirty="0"/>
              <a:t> and </a:t>
            </a:r>
            <a:r>
              <a:rPr lang="en-US" i="1" dirty="0" err="1"/>
              <a:t>R</a:t>
            </a:r>
            <a:r>
              <a:rPr lang="en-US" i="1" baseline="-25000" dirty="0" err="1"/>
              <a:t>y</a:t>
            </a:r>
            <a:r>
              <a:rPr lang="en-US" dirty="0"/>
              <a:t> = </a:t>
            </a:r>
            <a:r>
              <a:rPr lang="en-US" i="1" dirty="0"/>
              <a:t>A</a:t>
            </a:r>
            <a:r>
              <a:rPr lang="en-US" i="1" baseline="-25000" dirty="0"/>
              <a:t>y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i="1" baseline="-25000" dirty="0"/>
              <a:t>y</a:t>
            </a:r>
            <a:endParaRPr lang="en-US" i="1" dirty="0"/>
          </a:p>
          <a:p>
            <a:pPr marL="0" indent="0" eaLnBrk="1" hangingPunct="1"/>
            <a:endParaRPr lang="en-US" dirty="0"/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9345871"/>
              </p:ext>
            </p:extLst>
          </p:nvPr>
        </p:nvGraphicFramePr>
        <p:xfrm>
          <a:off x="1219200" y="2803525"/>
          <a:ext cx="2971800" cy="146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6" name="Equation" r:id="rId3" imgW="1828800" imgH="901700" progId="">
                  <p:embed/>
                </p:oleObj>
              </mc:Choice>
              <mc:Fallback>
                <p:oleObj name="Equation" r:id="rId3" imgW="1828800" imgH="901700" progId="">
                  <p:embed/>
                  <p:pic>
                    <p:nvPicPr>
                      <p:cNvPr id="0" name="Picture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03525"/>
                        <a:ext cx="2971800" cy="1463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8112598"/>
              </p:ext>
            </p:extLst>
          </p:nvPr>
        </p:nvGraphicFramePr>
        <p:xfrm>
          <a:off x="2133600" y="1752600"/>
          <a:ext cx="1219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7" name="Equation" r:id="rId5" imgW="672808" imgH="203112" progId="">
                  <p:embed/>
                </p:oleObj>
              </mc:Choice>
              <mc:Fallback>
                <p:oleObj name="Equation" r:id="rId5" imgW="672808" imgH="203112" progId="">
                  <p:embed/>
                  <p:pic>
                    <p:nvPicPr>
                      <p:cNvPr id="0" name="Picture 1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1752600"/>
                        <a:ext cx="12192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769090"/>
              </p:ext>
            </p:extLst>
          </p:nvPr>
        </p:nvGraphicFramePr>
        <p:xfrm>
          <a:off x="879475" y="4419600"/>
          <a:ext cx="2854325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8" name="Equation" r:id="rId7" imgW="1905000" imgH="457200" progId="">
                  <p:embed/>
                </p:oleObj>
              </mc:Choice>
              <mc:Fallback>
                <p:oleObj name="Equation" r:id="rId7" imgW="1905000" imgH="4572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4419600"/>
                        <a:ext cx="2854325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65721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Adding Vectors with Unit Vectors</a:t>
            </a:r>
          </a:p>
        </p:txBody>
      </p:sp>
      <p:sp>
        <p:nvSpPr>
          <p:cNvPr id="46083" name="Rectangle 5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marL="0" indent="0" eaLnBrk="1" hangingPunct="1"/>
            <a:r>
              <a:rPr lang="en-US" sz="3200" dirty="0"/>
              <a:t>Note the relationships among the components of the resultant and the components of the original vectors.</a:t>
            </a:r>
          </a:p>
          <a:p>
            <a:pPr marL="0" indent="0" eaLnBrk="1" hangingPunct="1"/>
            <a:r>
              <a:rPr lang="en-US" sz="3200" i="1" dirty="0"/>
              <a:t>R</a:t>
            </a:r>
            <a:r>
              <a:rPr lang="en-US" sz="3200" i="1" baseline="-25000" dirty="0"/>
              <a:t>x</a:t>
            </a:r>
            <a:r>
              <a:rPr lang="en-US" sz="3200" i="1" dirty="0"/>
              <a:t> = A</a:t>
            </a:r>
            <a:r>
              <a:rPr lang="en-US" sz="3200" i="1" baseline="-25000" dirty="0"/>
              <a:t>x</a:t>
            </a:r>
            <a:r>
              <a:rPr lang="en-US" sz="3200" i="1" dirty="0"/>
              <a:t> + </a:t>
            </a:r>
            <a:r>
              <a:rPr lang="en-US" sz="3200" i="1" dirty="0" err="1"/>
              <a:t>B</a:t>
            </a:r>
            <a:r>
              <a:rPr lang="en-US" sz="3200" i="1" baseline="-25000" dirty="0" err="1"/>
              <a:t>x</a:t>
            </a:r>
            <a:endParaRPr lang="en-US" sz="3200" i="1" dirty="0"/>
          </a:p>
          <a:p>
            <a:pPr marL="0" indent="0" eaLnBrk="1" hangingPunct="1"/>
            <a:r>
              <a:rPr lang="en-US" sz="3200" i="1" dirty="0" err="1"/>
              <a:t>R</a:t>
            </a:r>
            <a:r>
              <a:rPr lang="en-US" sz="3200" i="1" baseline="-25000" dirty="0" err="1"/>
              <a:t>y</a:t>
            </a:r>
            <a:r>
              <a:rPr lang="en-US" sz="3200" i="1" dirty="0"/>
              <a:t> = A</a:t>
            </a:r>
            <a:r>
              <a:rPr lang="en-US" sz="3200" i="1" baseline="-25000" dirty="0"/>
              <a:t>y</a:t>
            </a:r>
            <a:r>
              <a:rPr lang="en-US" sz="3200" i="1" dirty="0"/>
              <a:t> + B</a:t>
            </a:r>
            <a:r>
              <a:rPr lang="en-US" sz="3200" i="1" baseline="-25000" dirty="0"/>
              <a:t>y</a:t>
            </a:r>
            <a:endParaRPr lang="en-US" sz="3200" i="1" dirty="0"/>
          </a:p>
          <a:p>
            <a:pPr marL="0" indent="0" eaLnBrk="1" hangingPunct="1"/>
            <a:endParaRPr lang="en-US" sz="2600" i="1" dirty="0"/>
          </a:p>
        </p:txBody>
      </p:sp>
      <p:pic>
        <p:nvPicPr>
          <p:cNvPr id="46086" name="Picture 6" descr="031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81125"/>
            <a:ext cx="41783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704865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Three-Dimensional Extension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81000" y="1524000"/>
            <a:ext cx="7543800" cy="4572000"/>
          </a:xfrm>
        </p:spPr>
        <p:txBody>
          <a:bodyPr/>
          <a:lstStyle/>
          <a:p>
            <a:pPr marL="0" indent="0" eaLnBrk="1" hangingPunct="1"/>
            <a:r>
              <a:rPr lang="en-US" dirty="0"/>
              <a:t>Using </a:t>
            </a:r>
          </a:p>
          <a:p>
            <a:pPr marL="0" indent="0" eaLnBrk="1" hangingPunct="1"/>
            <a:r>
              <a:rPr lang="en-US" dirty="0"/>
              <a:t>Then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r>
              <a:rPr lang="en-US" dirty="0"/>
              <a:t>So </a:t>
            </a:r>
            <a:r>
              <a:rPr lang="en-US" i="1" dirty="0"/>
              <a:t>R</a:t>
            </a:r>
            <a:r>
              <a:rPr lang="en-US" i="1" baseline="-25000" dirty="0"/>
              <a:t>x</a:t>
            </a:r>
            <a:r>
              <a:rPr lang="en-US" dirty="0"/>
              <a:t>= </a:t>
            </a:r>
            <a:r>
              <a:rPr lang="en-US" i="1" dirty="0" err="1"/>
              <a:t>A</a:t>
            </a:r>
            <a:r>
              <a:rPr lang="en-US" i="1" baseline="-25000" dirty="0" err="1"/>
              <a:t>x</a:t>
            </a:r>
            <a:r>
              <a:rPr lang="en-US" dirty="0" err="1"/>
              <a:t>+</a:t>
            </a:r>
            <a:r>
              <a:rPr lang="en-US" i="1" dirty="0" err="1"/>
              <a:t>B</a:t>
            </a:r>
            <a:r>
              <a:rPr lang="en-US" i="1" baseline="-25000" dirty="0" err="1"/>
              <a:t>x</a:t>
            </a:r>
            <a:r>
              <a:rPr lang="en-US" i="1" dirty="0"/>
              <a:t>, </a:t>
            </a:r>
            <a:r>
              <a:rPr lang="en-US" i="1" dirty="0" err="1"/>
              <a:t>R</a:t>
            </a:r>
            <a:r>
              <a:rPr lang="en-US" i="1" baseline="-25000" dirty="0" err="1"/>
              <a:t>y</a:t>
            </a:r>
            <a:r>
              <a:rPr lang="en-US" dirty="0"/>
              <a:t>= </a:t>
            </a:r>
            <a:r>
              <a:rPr lang="en-US" i="1" dirty="0" err="1"/>
              <a:t>A</a:t>
            </a:r>
            <a:r>
              <a:rPr lang="en-US" i="1" baseline="-25000" dirty="0" err="1"/>
              <a:t>y</a:t>
            </a:r>
            <a:r>
              <a:rPr lang="en-US" dirty="0" err="1"/>
              <a:t>+</a:t>
            </a:r>
            <a:r>
              <a:rPr lang="en-US" i="1" dirty="0" err="1"/>
              <a:t>B</a:t>
            </a:r>
            <a:r>
              <a:rPr lang="en-US" i="1" baseline="-25000" dirty="0" err="1"/>
              <a:t>y</a:t>
            </a:r>
            <a:r>
              <a:rPr lang="en-US" i="1" dirty="0"/>
              <a:t>, </a:t>
            </a:r>
            <a:r>
              <a:rPr lang="en-US" dirty="0"/>
              <a:t>and </a:t>
            </a:r>
            <a:r>
              <a:rPr lang="en-US" i="1" dirty="0" err="1"/>
              <a:t>R</a:t>
            </a:r>
            <a:r>
              <a:rPr lang="en-US" i="1" baseline="-25000" dirty="0" err="1"/>
              <a:t>z</a:t>
            </a:r>
            <a:r>
              <a:rPr lang="en-US" i="1" baseline="-25000" dirty="0"/>
              <a:t> </a:t>
            </a:r>
            <a:r>
              <a:rPr lang="en-US" i="1" dirty="0"/>
              <a:t>= </a:t>
            </a:r>
            <a:r>
              <a:rPr lang="en-US" i="1" dirty="0" err="1"/>
              <a:t>A</a:t>
            </a:r>
            <a:r>
              <a:rPr lang="en-US" i="1" baseline="-25000" dirty="0" err="1"/>
              <a:t>z</a:t>
            </a:r>
            <a:r>
              <a:rPr lang="en-US" i="1" dirty="0" err="1"/>
              <a:t>+B</a:t>
            </a:r>
            <a:r>
              <a:rPr lang="en-US" i="1" baseline="-25000" dirty="0" err="1"/>
              <a:t>z</a:t>
            </a:r>
            <a:endParaRPr lang="en-US" i="1" dirty="0"/>
          </a:p>
          <a:p>
            <a:pPr marL="0" indent="0" eaLnBrk="1" hangingPunct="1"/>
            <a:endParaRPr lang="en-US" dirty="0"/>
          </a:p>
        </p:txBody>
      </p:sp>
      <p:graphicFrame>
        <p:nvGraphicFramePr>
          <p:cNvPr id="19458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0614924"/>
              </p:ext>
            </p:extLst>
          </p:nvPr>
        </p:nvGraphicFramePr>
        <p:xfrm>
          <a:off x="1752600" y="1752600"/>
          <a:ext cx="1219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0" name="Equation" r:id="rId3" imgW="672808" imgH="203112" progId="">
                  <p:embed/>
                </p:oleObj>
              </mc:Choice>
              <mc:Fallback>
                <p:oleObj name="Equation" r:id="rId3" imgW="672808" imgH="203112" progId="">
                  <p:embed/>
                  <p:pic>
                    <p:nvPicPr>
                      <p:cNvPr id="0" name="Picture 1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752600"/>
                        <a:ext cx="12192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211379"/>
              </p:ext>
            </p:extLst>
          </p:nvPr>
        </p:nvGraphicFramePr>
        <p:xfrm>
          <a:off x="685800" y="2722562"/>
          <a:ext cx="4953000" cy="16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1" name="Equation" r:id="rId5" imgW="2628900" imgH="901700" progId="">
                  <p:embed/>
                </p:oleObj>
              </mc:Choice>
              <mc:Fallback>
                <p:oleObj name="Equation" r:id="rId5" imgW="2628900" imgH="9017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722562"/>
                        <a:ext cx="4953000" cy="16970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5"/>
          <p:cNvGraphicFramePr>
            <a:graphicFrameLocks noChangeAspect="1"/>
          </p:cNvGraphicFramePr>
          <p:nvPr/>
        </p:nvGraphicFramePr>
        <p:xfrm>
          <a:off x="685800" y="4495800"/>
          <a:ext cx="4267200" cy="66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32" name="Equation" r:id="rId7" imgW="2616200" imgH="406400" progId="">
                  <p:embed/>
                </p:oleObj>
              </mc:Choice>
              <mc:Fallback>
                <p:oleObj name="Equation" r:id="rId7" imgW="2616200" imgH="4064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495800"/>
                        <a:ext cx="4267200" cy="66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383089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Adding Three or More Vectors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7543800" cy="4411663"/>
          </a:xfrm>
        </p:spPr>
        <p:txBody>
          <a:bodyPr/>
          <a:lstStyle/>
          <a:p>
            <a:pPr marL="0" indent="0" eaLnBrk="1" hangingPunct="1"/>
            <a:r>
              <a:rPr lang="en-US" dirty="0"/>
              <a:t>The same method can be extended to adding three or more vectors.</a:t>
            </a:r>
          </a:p>
          <a:p>
            <a:pPr marL="0" indent="0" eaLnBrk="1" hangingPunct="1"/>
            <a:r>
              <a:rPr lang="en-US" dirty="0"/>
              <a:t>Assume 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r>
              <a:rPr lang="en-US" dirty="0"/>
              <a:t>And</a:t>
            </a:r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  <a:p>
            <a:pPr marL="0" indent="0" eaLnBrk="1" hangingPunct="1"/>
            <a:endParaRPr lang="en-US" dirty="0"/>
          </a:p>
        </p:txBody>
      </p:sp>
      <p:graphicFrame>
        <p:nvGraphicFramePr>
          <p:cNvPr id="20482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4269162"/>
              </p:ext>
            </p:extLst>
          </p:nvPr>
        </p:nvGraphicFramePr>
        <p:xfrm>
          <a:off x="1676400" y="3429000"/>
          <a:ext cx="18288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0" name="Equation" r:id="rId3" imgW="926698" imgH="203112" progId="">
                  <p:embed/>
                </p:oleObj>
              </mc:Choice>
              <mc:Fallback>
                <p:oleObj name="Equation" r:id="rId3" imgW="926698" imgH="203112" progId="">
                  <p:embed/>
                  <p:pic>
                    <p:nvPicPr>
                      <p:cNvPr id="0" name="Picture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3429000"/>
                        <a:ext cx="1828800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931951"/>
              </p:ext>
            </p:extLst>
          </p:nvPr>
        </p:nvGraphicFramePr>
        <p:xfrm>
          <a:off x="914400" y="4668837"/>
          <a:ext cx="4876800" cy="1122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1" name="Equation" r:id="rId5" imgW="2425700" imgH="558800" progId="">
                  <p:embed/>
                </p:oleObj>
              </mc:Choice>
              <mc:Fallback>
                <p:oleObj name="Equation" r:id="rId5" imgW="2425700" imgH="5588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4668837"/>
                        <a:ext cx="4876800" cy="1122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20158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0838"/>
            <a:ext cx="8229600" cy="1020762"/>
          </a:xfrm>
        </p:spPr>
        <p:txBody>
          <a:bodyPr/>
          <a:lstStyle/>
          <a:p>
            <a:r>
              <a:rPr lang="en-US" b="1" dirty="0"/>
              <a:t>Multiplication of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Scalar or Dot Product</a:t>
            </a:r>
          </a:p>
          <a:p>
            <a:r>
              <a:rPr lang="en-US" b="1" dirty="0"/>
              <a:t>Vector or Cross Product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Projectile Motion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An object may move in both the </a:t>
            </a:r>
            <a:r>
              <a:rPr lang="en-US" b="1" i="1" dirty="0"/>
              <a:t>x</a:t>
            </a:r>
            <a:r>
              <a:rPr lang="en-US" b="1" dirty="0"/>
              <a:t> and </a:t>
            </a:r>
            <a:r>
              <a:rPr lang="en-US" b="1" i="1" dirty="0"/>
              <a:t>y</a:t>
            </a:r>
            <a:r>
              <a:rPr lang="en-US" b="1" dirty="0"/>
              <a:t> directions simultaneously.</a:t>
            </a:r>
          </a:p>
          <a:p>
            <a:pPr marL="0" indent="0" eaLnBrk="1" hangingPunct="1"/>
            <a:r>
              <a:rPr lang="en-US" b="1" dirty="0"/>
              <a:t>The form of two-dimensional motion we will deal with is called projectile motion.</a:t>
            </a:r>
          </a:p>
          <a:p>
            <a:pPr lvl="1" eaLnBrk="1" hangingPunct="1"/>
            <a:endParaRPr lang="en-US" dirty="0"/>
          </a:p>
          <a:p>
            <a:pPr marL="0" indent="0" eaLnBrk="1" hangingPunct="1"/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Assumptions of Projectile Motion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The free-fall acceleration is constant over the range of motion.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It is directed downward.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The effect of air friction is negligible.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dirty="0"/>
              <a:t>With these assumptions, an object in projectile motion will follow a parabolic path.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This path is called the </a:t>
            </a:r>
            <a:r>
              <a:rPr lang="en-US" b="1" i="1" u="sng" dirty="0"/>
              <a:t>trajectory</a:t>
            </a:r>
            <a:r>
              <a:rPr lang="en-US" b="1" i="1" dirty="0"/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Projectile Motion Diagram</a:t>
            </a:r>
          </a:p>
        </p:txBody>
      </p:sp>
      <p:pic>
        <p:nvPicPr>
          <p:cNvPr id="34821" name="Picture 5" descr="040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9975" y="1752600"/>
            <a:ext cx="7004050" cy="43084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Acceleration at the Highest Point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The vertical velocity is zero at the top.</a:t>
            </a:r>
          </a:p>
          <a:p>
            <a:pPr marL="0" indent="0" eaLnBrk="1" hangingPunct="1"/>
            <a:r>
              <a:rPr lang="en-US" b="1" dirty="0"/>
              <a:t>The acceleration is not zero anywhere along the trajectory.</a:t>
            </a:r>
          </a:p>
          <a:p>
            <a:pPr lvl="1" eaLnBrk="1" hangingPunct="1"/>
            <a:r>
              <a:rPr lang="en-US" b="1" dirty="0"/>
              <a:t>If the projectile experienced zero acceleration at the highest point, its velocity at the point would not change.</a:t>
            </a:r>
          </a:p>
          <a:p>
            <a:pPr lvl="2" eaLnBrk="1" hangingPunct="1"/>
            <a:r>
              <a:rPr lang="en-US" b="1" dirty="0"/>
              <a:t>The projectile would move with a constant horizontal velocity from that point on. 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Range and Maximum Height of a Projectile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038600" cy="4953000"/>
          </a:xfrm>
        </p:spPr>
        <p:txBody>
          <a:bodyPr>
            <a:noAutofit/>
          </a:bodyPr>
          <a:lstStyle/>
          <a:p>
            <a:pPr marL="0" indent="0" eaLnBrk="1" hangingPunct="1"/>
            <a:r>
              <a:rPr lang="en-US" sz="3000" b="1" dirty="0"/>
              <a:t>When analyzing projectile motion, two characteristics are of special interest</a:t>
            </a:r>
          </a:p>
          <a:p>
            <a:pPr marL="0" indent="0" eaLnBrk="1" hangingPunct="1"/>
            <a:r>
              <a:rPr lang="en-US" sz="3000" b="1" dirty="0"/>
              <a:t>The range, </a:t>
            </a:r>
            <a:r>
              <a:rPr lang="en-US" sz="3000" b="1" i="1" dirty="0"/>
              <a:t>R</a:t>
            </a:r>
            <a:r>
              <a:rPr lang="en-US" sz="3000" b="1" dirty="0"/>
              <a:t>, is the </a:t>
            </a:r>
            <a:r>
              <a:rPr lang="en-US" sz="3000" b="1" u="sng" dirty="0"/>
              <a:t>horizontal distance of the projectile.</a:t>
            </a:r>
          </a:p>
          <a:p>
            <a:pPr marL="0" indent="0" eaLnBrk="1" hangingPunct="1"/>
            <a:r>
              <a:rPr lang="en-US" sz="3000" b="1" dirty="0"/>
              <a:t>The maximum height the projectile reaches is </a:t>
            </a:r>
            <a:r>
              <a:rPr lang="en-US" sz="3000" b="1" i="1" dirty="0"/>
              <a:t>h.</a:t>
            </a:r>
          </a:p>
        </p:txBody>
      </p:sp>
      <p:pic>
        <p:nvPicPr>
          <p:cNvPr id="36870" name="Picture 6" descr="0409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1828800"/>
            <a:ext cx="4102100" cy="35036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Height of a Projectile, equation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The maximum height of the projectile can be found in terms of the initial velocity vector: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This equation is valid only for symmetric motion.</a:t>
            </a:r>
          </a:p>
          <a:p>
            <a:pPr marL="0" indent="0" eaLnBrk="1" hangingPunct="1"/>
            <a:endParaRPr lang="en-US" dirty="0"/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/>
        </p:nvGraphicFramePr>
        <p:xfrm>
          <a:off x="3048000" y="2781300"/>
          <a:ext cx="1905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6" name="Equation" r:id="rId3" imgW="888840" imgH="444240" progId="">
                  <p:embed/>
                </p:oleObj>
              </mc:Choice>
              <mc:Fallback>
                <p:oleObj name="Equation" r:id="rId3" imgW="888840" imgH="44424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781300"/>
                        <a:ext cx="1905000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Range of a Projectile, equation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The range of a projectile can be expressed in terms of the initial velocity vector:</a:t>
            </a:r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endParaRPr lang="en-US" b="1" dirty="0"/>
          </a:p>
          <a:p>
            <a:pPr marL="0" indent="0" eaLnBrk="1" hangingPunct="1"/>
            <a:r>
              <a:rPr lang="en-US" b="1" dirty="0"/>
              <a:t>This is valid only for symmetric trajectory</a:t>
            </a:r>
            <a:r>
              <a:rPr lang="en-US" dirty="0"/>
              <a:t>.</a:t>
            </a: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/>
        </p:nvGraphicFramePr>
        <p:xfrm>
          <a:off x="2905541" y="2819400"/>
          <a:ext cx="2047459" cy="981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0" name="Equation" r:id="rId3" imgW="927000" imgH="444240" progId="">
                  <p:embed/>
                </p:oleObj>
              </mc:Choice>
              <mc:Fallback>
                <p:oleObj name="Equation" r:id="rId3" imgW="927000" imgH="44424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541" y="2819400"/>
                        <a:ext cx="2047459" cy="9810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More About the Range of a Projectile</a:t>
            </a:r>
          </a:p>
        </p:txBody>
      </p:sp>
      <p:pic>
        <p:nvPicPr>
          <p:cNvPr id="37893" name="Picture 5" descr="04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8850" y="1905000"/>
            <a:ext cx="7226300" cy="3946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Range of a Projectile, final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/>
            <a:r>
              <a:rPr lang="en-US" b="1" dirty="0"/>
              <a:t>The maximum range occurs at </a:t>
            </a:r>
            <a:r>
              <a:rPr lang="en-US" b="1" i="1" dirty="0" err="1">
                <a:latin typeface="Symbol" pitchFamily="80" charset="2"/>
              </a:rPr>
              <a:t>q</a:t>
            </a:r>
            <a:r>
              <a:rPr lang="en-US" b="1" i="1" baseline="-25000" dirty="0" err="1"/>
              <a:t>i</a:t>
            </a:r>
            <a:r>
              <a:rPr lang="en-US" b="1" dirty="0"/>
              <a:t> = 45</a:t>
            </a:r>
            <a:r>
              <a:rPr lang="en-US" b="1" baseline="30000" dirty="0"/>
              <a:t>o </a:t>
            </a:r>
            <a:r>
              <a:rPr lang="en-US" b="1" dirty="0"/>
              <a:t>.</a:t>
            </a:r>
          </a:p>
          <a:p>
            <a:pPr marL="0" indent="0" eaLnBrk="1" hangingPunct="1"/>
            <a:r>
              <a:rPr lang="en-US" b="1" dirty="0"/>
              <a:t>Complementary angles will produce the same range.</a:t>
            </a:r>
          </a:p>
          <a:p>
            <a:pPr lvl="1" eaLnBrk="1" hangingPunct="1"/>
            <a:r>
              <a:rPr lang="en-US" b="1" dirty="0"/>
              <a:t>The maximum height will be different for the two angles.</a:t>
            </a:r>
          </a:p>
          <a:p>
            <a:pPr lvl="1" eaLnBrk="1" hangingPunct="1"/>
            <a:r>
              <a:rPr lang="en-US" b="1" dirty="0"/>
              <a:t>The times of the flight will be different for the two angles.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 of Flight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The time taken to reach the maximum height is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Total time of travel (for symmetric paths) </a:t>
            </a:r>
          </a:p>
          <a:p>
            <a:pPr>
              <a:buNone/>
            </a:pPr>
            <a:r>
              <a:rPr lang="en-US" dirty="0"/>
              <a:t>                       </a:t>
            </a:r>
          </a:p>
        </p:txBody>
      </p:sp>
      <p:graphicFrame>
        <p:nvGraphicFramePr>
          <p:cNvPr id="70658" name="Object 4"/>
          <p:cNvGraphicFramePr>
            <a:graphicFrameLocks noChangeAspect="1"/>
          </p:cNvGraphicFramePr>
          <p:nvPr/>
        </p:nvGraphicFramePr>
        <p:xfrm>
          <a:off x="3124200" y="2286000"/>
          <a:ext cx="171132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9" name="Equation" r:id="rId3" imgW="774360" imgH="444240" progId="">
                  <p:embed/>
                </p:oleObj>
              </mc:Choice>
              <mc:Fallback>
                <p:oleObj name="Equation" r:id="rId3" imgW="774360" imgH="44424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286000"/>
                        <a:ext cx="1711325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2647950" y="4038600"/>
          <a:ext cx="2665413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00" name="Equation" r:id="rId5" imgW="1206360" imgH="444240" progId="">
                  <p:embed/>
                </p:oleObj>
              </mc:Choice>
              <mc:Fallback>
                <p:oleObj name="Equation" r:id="rId5" imgW="1206360" imgH="4442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4038600"/>
                        <a:ext cx="2665413" cy="981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8200" y="5867400"/>
            <a:ext cx="6554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Note: The Range R can also be determined using the time of travel 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b="1" dirty="0"/>
              <a:t>Projectile Motion – Problem Solving Hints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eaLnBrk="1" hangingPunct="1">
              <a:lnSpc>
                <a:spcPct val="90000"/>
              </a:lnSpc>
            </a:pPr>
            <a:r>
              <a:rPr lang="en-US" b="1" i="1" dirty="0"/>
              <a:t>Conceptualize</a:t>
            </a:r>
            <a:endParaRPr lang="en-US" b="1" dirty="0"/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Establish the mental representation of the projectile moving along its trajectory.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i="1" dirty="0"/>
              <a:t>Categorize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Confirm air resistance is neglected.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Select a coordinate system with </a:t>
            </a:r>
            <a:r>
              <a:rPr lang="en-US" b="1" i="1" dirty="0"/>
              <a:t>x</a:t>
            </a:r>
            <a:r>
              <a:rPr lang="en-US" b="1" dirty="0"/>
              <a:t> in the horizontal and </a:t>
            </a:r>
            <a:r>
              <a:rPr lang="en-US" b="1" i="1" dirty="0"/>
              <a:t>y</a:t>
            </a:r>
            <a:r>
              <a:rPr lang="en-US" b="1" dirty="0"/>
              <a:t> in the vertical direction.</a:t>
            </a:r>
          </a:p>
          <a:p>
            <a:pPr marL="0" indent="0" eaLnBrk="1" hangingPunct="1">
              <a:lnSpc>
                <a:spcPct val="90000"/>
              </a:lnSpc>
            </a:pPr>
            <a:r>
              <a:rPr lang="en-US" b="1" i="1" dirty="0"/>
              <a:t>Analyze</a:t>
            </a:r>
            <a:endParaRPr lang="en-US" b="1" dirty="0"/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If the initial velocity is given, resolve it into </a:t>
            </a:r>
            <a:r>
              <a:rPr lang="en-US" b="1" i="1" dirty="0"/>
              <a:t>x</a:t>
            </a:r>
            <a:r>
              <a:rPr lang="en-US" b="1" dirty="0"/>
              <a:t> and </a:t>
            </a:r>
            <a:r>
              <a:rPr lang="en-US" b="1" i="1" dirty="0"/>
              <a:t>y</a:t>
            </a:r>
            <a:r>
              <a:rPr lang="en-US" b="1" dirty="0"/>
              <a:t> components.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/>
              <a:t>Treat the horizontal and vertical motions independently.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en-US" b="1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80010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	A long jumper leaves the ground at an angle of 20.0° above the horizontal and at a speed of 11.0 m/s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How far does he jump in the horizontal direction?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What is the maximum height reached?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How long does it take to reach the maximum height?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What is the time taken for the entire jump?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/>
              <a:t>Non-Symmetric Projectile Motion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81000" y="1295400"/>
            <a:ext cx="4114800" cy="4830763"/>
          </a:xfrm>
        </p:spPr>
        <p:txBody>
          <a:bodyPr>
            <a:noAutofit/>
          </a:bodyPr>
          <a:lstStyle/>
          <a:p>
            <a:pPr marL="0" indent="0" eaLnBrk="1" hangingPunct="1">
              <a:lnSpc>
                <a:spcPct val="80000"/>
              </a:lnSpc>
            </a:pPr>
            <a:r>
              <a:rPr lang="en-US" sz="2300" b="1" dirty="0"/>
              <a:t>Follow the general rules for projectile motion.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sz="2300" b="1" dirty="0"/>
              <a:t>Break the </a:t>
            </a:r>
            <a:r>
              <a:rPr lang="en-US" sz="2300" b="1" i="1" dirty="0"/>
              <a:t>y</a:t>
            </a:r>
            <a:r>
              <a:rPr lang="en-US" sz="2300" b="1" dirty="0"/>
              <a:t>-direction into parts.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300" b="1" dirty="0"/>
              <a:t>up and down </a:t>
            </a:r>
            <a:r>
              <a:rPr lang="en-US" sz="2300" b="1" i="1" dirty="0"/>
              <a:t>or</a:t>
            </a:r>
            <a:r>
              <a:rPr lang="en-US" sz="2300" b="1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300" b="1" dirty="0"/>
              <a:t>symmetrical back to initial height and then the rest of the height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sz="2300" b="1" dirty="0"/>
              <a:t>Apply the problem solving process to determine and solve the necessary equations.</a:t>
            </a:r>
          </a:p>
          <a:p>
            <a:pPr marL="0" indent="0" eaLnBrk="1" hangingPunct="1">
              <a:lnSpc>
                <a:spcPct val="80000"/>
              </a:lnSpc>
            </a:pPr>
            <a:r>
              <a:rPr lang="en-US" sz="2300" b="1" dirty="0"/>
              <a:t>May be non-symmetric in other ways</a:t>
            </a:r>
          </a:p>
          <a:p>
            <a:pPr marL="0" indent="0"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300" dirty="0"/>
          </a:p>
        </p:txBody>
      </p:sp>
      <p:pic>
        <p:nvPicPr>
          <p:cNvPr id="41990" name="Picture 6" descr="04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00600" y="1371600"/>
            <a:ext cx="3944938" cy="47450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r>
              <a:rPr lang="en-US" b="1" dirty="0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" y="1219200"/>
            <a:ext cx="58674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/>
              <a:t>	A stone is thrown from the top of a building upward at an angle of 30.0° to the horizontal with an initial speed of</a:t>
            </a:r>
          </a:p>
          <a:p>
            <a:pPr>
              <a:buNone/>
            </a:pPr>
            <a:r>
              <a:rPr lang="en-US" dirty="0"/>
              <a:t>	20.0 m/s. The height from which the stone is thrown is 45.0 m above the ground.</a:t>
            </a:r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How long does it take the stone to reach the ground? </a:t>
            </a:r>
            <a:endParaRPr lang="en-US" i="1" dirty="0"/>
          </a:p>
          <a:p>
            <a:pPr marL="514350" indent="-514350">
              <a:buFont typeface="+mj-lt"/>
              <a:buAutoNum type="alphaLcParenR"/>
            </a:pPr>
            <a:r>
              <a:rPr lang="en-US" dirty="0"/>
              <a:t>What is the speed of the stone just before it strikes the ground?</a:t>
            </a:r>
          </a:p>
        </p:txBody>
      </p:sp>
      <p:pic>
        <p:nvPicPr>
          <p:cNvPr id="5" name="Picture 6" descr="04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0738" y="1447800"/>
            <a:ext cx="3040862" cy="3657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b="1" dirty="0"/>
              <a:t>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03860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1. A stone is thrown from the top of a building with an initial velocity of 20 m/s downward. The top of the building is 60 m above the ground. How much time elapses between the instant of release and the instant of impact with the ground?</a:t>
            </a:r>
          </a:p>
          <a:p>
            <a:pPr>
              <a:buNone/>
            </a:pPr>
            <a:r>
              <a:rPr lang="en-US" dirty="0"/>
              <a:t>   </a:t>
            </a:r>
            <a:r>
              <a:rPr lang="en-US" dirty="0" err="1"/>
              <a:t>Ans</a:t>
            </a:r>
            <a:r>
              <a:rPr lang="en-US" dirty="0"/>
              <a:t>: 6s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2. A ball thrown vertically from ground level is caught 3.0 s later when it is at its highest point by a person on a balcony which is 14 m above the ground. Determine the initial speed of the ball.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Ans</a:t>
            </a:r>
            <a:r>
              <a:rPr lang="en-US" dirty="0"/>
              <a:t>: 19.7 m/s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2160</TotalTime>
  <Words>2264</Words>
  <Application>Microsoft Office PowerPoint</Application>
  <PresentationFormat>On-screen Show (4:3)</PresentationFormat>
  <Paragraphs>302</Paragraphs>
  <Slides>59</Slides>
  <Notes>2</Notes>
  <HiddenSlides>8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Arial</vt:lpstr>
      <vt:lpstr>Calibri</vt:lpstr>
      <vt:lpstr>Lucida Grande</vt:lpstr>
      <vt:lpstr>Symbol</vt:lpstr>
      <vt:lpstr>Times New Roman</vt:lpstr>
      <vt:lpstr>Wingdings</vt:lpstr>
      <vt:lpstr>Office Theme</vt:lpstr>
      <vt:lpstr>Equation</vt:lpstr>
      <vt:lpstr>Motion in Two and Three Dimensions</vt:lpstr>
      <vt:lpstr>Lecture Goals</vt:lpstr>
      <vt:lpstr>Lecture Goals, cont’d</vt:lpstr>
      <vt:lpstr>Introduction</vt:lpstr>
      <vt:lpstr>Vectors</vt:lpstr>
      <vt:lpstr>Vectors and Scalars</vt:lpstr>
      <vt:lpstr>Why do we need vectors in Physics?</vt:lpstr>
      <vt:lpstr>Vector Notation</vt:lpstr>
      <vt:lpstr>Vector Example</vt:lpstr>
      <vt:lpstr>Quick Quiz</vt:lpstr>
      <vt:lpstr>Coordinate Systems</vt:lpstr>
      <vt:lpstr>Cartesian Coordinate System</vt:lpstr>
      <vt:lpstr>Polar Coordinate System</vt:lpstr>
      <vt:lpstr>Polar to Cartesian Coordinates</vt:lpstr>
      <vt:lpstr>Example</vt:lpstr>
      <vt:lpstr>Operations on /with vectors</vt:lpstr>
      <vt:lpstr>Equality of Two Vectors</vt:lpstr>
      <vt:lpstr>Adding Vectors</vt:lpstr>
      <vt:lpstr>Adding Vectors Graphically</vt:lpstr>
      <vt:lpstr>Adding Vectors Graphically, cont.</vt:lpstr>
      <vt:lpstr>Adding Vectors Graphically, final</vt:lpstr>
      <vt:lpstr>Adding Vectors, Rules</vt:lpstr>
      <vt:lpstr>Adding Vectors, Rules cont.</vt:lpstr>
      <vt:lpstr>Adding Vectors, Rules final</vt:lpstr>
      <vt:lpstr>Negative of a Vector</vt:lpstr>
      <vt:lpstr>Multiplying or Dividing a Vector by a Scalar</vt:lpstr>
      <vt:lpstr>Component Method of Adding Vectors</vt:lpstr>
      <vt:lpstr>Components of a Vector, Introduction</vt:lpstr>
      <vt:lpstr>Vector Component Terminology</vt:lpstr>
      <vt:lpstr>Components of a Vector</vt:lpstr>
      <vt:lpstr>Components of a Vector, 2</vt:lpstr>
      <vt:lpstr>Components of a Vector, 3</vt:lpstr>
      <vt:lpstr>Components of a Vector, 4</vt:lpstr>
      <vt:lpstr>Components of a Vector, final</vt:lpstr>
      <vt:lpstr>Unit Vectors</vt:lpstr>
      <vt:lpstr>Unit Vectors, cont.</vt:lpstr>
      <vt:lpstr>Unit Vectors in Vector Notation</vt:lpstr>
      <vt:lpstr>Position Vector, Example</vt:lpstr>
      <vt:lpstr>Problem</vt:lpstr>
      <vt:lpstr>Adding Vectors Using Unit Vectors</vt:lpstr>
      <vt:lpstr>Adding Vectors with Unit Vectors</vt:lpstr>
      <vt:lpstr>Three-Dimensional Extension</vt:lpstr>
      <vt:lpstr>Adding Three or More Vectors</vt:lpstr>
      <vt:lpstr>Multiplication of Vectors</vt:lpstr>
      <vt:lpstr>Projectile Motion</vt:lpstr>
      <vt:lpstr>Assumptions of Projectile Motion</vt:lpstr>
      <vt:lpstr>Projectile Motion Diagram</vt:lpstr>
      <vt:lpstr>Acceleration at the Highest Point</vt:lpstr>
      <vt:lpstr>Range and Maximum Height of a Projectile</vt:lpstr>
      <vt:lpstr>Height of a Projectile, equation</vt:lpstr>
      <vt:lpstr>Range of a Projectile, equation</vt:lpstr>
      <vt:lpstr>More About the Range of a Projectile</vt:lpstr>
      <vt:lpstr>Range of a Projectile, final</vt:lpstr>
      <vt:lpstr>Time of Flight</vt:lpstr>
      <vt:lpstr>Projectile Motion – Problem Solving Hints</vt:lpstr>
      <vt:lpstr>Problem</vt:lpstr>
      <vt:lpstr>Non-Symmetric Projectile Motion</vt:lpstr>
      <vt:lpstr>Problem</vt:lpstr>
      <vt:lpstr>Problems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Vectors</dc:title>
  <dc:creator>Raymond Edziah</dc:creator>
  <cp:lastModifiedBy>Bright Abbiw</cp:lastModifiedBy>
  <cp:revision>58</cp:revision>
  <dcterms:created xsi:type="dcterms:W3CDTF">2012-01-30T03:58:36Z</dcterms:created>
  <dcterms:modified xsi:type="dcterms:W3CDTF">2019-10-09T14:11:30Z</dcterms:modified>
</cp:coreProperties>
</file>
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9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2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5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3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3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1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8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0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6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1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0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044FE-46F0-4A9C-AE46-EF7454D1C490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78BD-8EC3-48A6-964A-AB4B48E2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1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jpeg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jpeg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CENTER OF MASS</a:t>
            </a:r>
          </a:p>
        </p:txBody>
      </p:sp>
    </p:spTree>
    <p:extLst>
      <p:ext uri="{BB962C8B-B14F-4D97-AF65-F5344CB8AC3E}">
        <p14:creationId xmlns:p14="http://schemas.microsoft.com/office/powerpoint/2010/main" val="11026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Center of Mass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/>
              <a:t>There is a special point in a system or object, called the </a:t>
            </a:r>
            <a:r>
              <a:rPr lang="en-US" b="1" i="1" dirty="0"/>
              <a:t>center of mass</a:t>
            </a:r>
            <a:r>
              <a:rPr lang="en-US" dirty="0"/>
              <a:t>, that moves as if all of the mass of the system is concentrated at that point.</a:t>
            </a:r>
          </a:p>
          <a:p>
            <a:pPr marL="0" indent="0"/>
            <a:r>
              <a:rPr lang="en-US" dirty="0"/>
              <a:t>The system will move as if an external force were applied to a single particle of mass </a:t>
            </a:r>
            <a:r>
              <a:rPr lang="en-US" i="1" dirty="0"/>
              <a:t>M</a:t>
            </a:r>
            <a:r>
              <a:rPr lang="en-US" dirty="0"/>
              <a:t> located at the center of mass.</a:t>
            </a:r>
          </a:p>
          <a:p>
            <a:pPr lvl="1"/>
            <a:r>
              <a:rPr lang="en-US" i="1" dirty="0"/>
              <a:t>M</a:t>
            </a:r>
            <a:r>
              <a:rPr lang="en-US" dirty="0"/>
              <a:t> is the total mass of the system.</a:t>
            </a:r>
          </a:p>
          <a:p>
            <a:pPr marL="0" indent="0"/>
            <a:r>
              <a:rPr lang="en-US" dirty="0"/>
              <a:t>This behavior is independent of other motion, such as rotation or vibration, or deformation of the system.</a:t>
            </a:r>
          </a:p>
          <a:p>
            <a:pPr lvl="1"/>
            <a:r>
              <a:rPr lang="en-US" dirty="0"/>
              <a:t>This is the particle model.</a:t>
            </a:r>
          </a:p>
        </p:txBody>
      </p:sp>
    </p:spTree>
    <p:extLst>
      <p:ext uri="{BB962C8B-B14F-4D97-AF65-F5344CB8AC3E}">
        <p14:creationId xmlns:p14="http://schemas.microsoft.com/office/powerpoint/2010/main" val="140990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715962"/>
          </a:xfrm>
        </p:spPr>
        <p:txBody>
          <a:bodyPr>
            <a:normAutofit/>
          </a:bodyPr>
          <a:lstStyle/>
          <a:p>
            <a:r>
              <a:rPr lang="en-US" b="1" dirty="0"/>
              <a:t>Center of Mass, Coordinates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sz="half" idx="1"/>
          </p:nvPr>
        </p:nvSpPr>
        <p:spPr>
          <a:xfrm>
            <a:off x="1524000" y="762000"/>
            <a:ext cx="4953000" cy="6096000"/>
          </a:xfrm>
        </p:spPr>
        <p:txBody>
          <a:bodyPr>
            <a:noAutofit/>
          </a:bodyPr>
          <a:lstStyle/>
          <a:p>
            <a:pPr marL="0" indent="0"/>
            <a:r>
              <a:rPr lang="en-US" dirty="0"/>
              <a:t>The coordinates of the center of mass  are</a:t>
            </a:r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M the active figure to obis the total mass of the system.</a:t>
            </a:r>
          </a:p>
          <a:p>
            <a:pPr lvl="2"/>
            <a:r>
              <a:rPr lang="en-US" sz="2800" dirty="0"/>
              <a:t>Observe the effect of different masses and positions.</a:t>
            </a:r>
          </a:p>
        </p:txBody>
      </p:sp>
      <p:graphicFrame>
        <p:nvGraphicFramePr>
          <p:cNvPr id="12290" name="Object 1028"/>
          <p:cNvGraphicFramePr>
            <a:graphicFrameLocks noChangeAspect="1"/>
          </p:cNvGraphicFramePr>
          <p:nvPr/>
        </p:nvGraphicFramePr>
        <p:xfrm>
          <a:off x="2819400" y="2057400"/>
          <a:ext cx="29225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3" imgW="2349360" imgH="1041120" progId="Equation.DSMT4">
                  <p:embed/>
                </p:oleObj>
              </mc:Choice>
              <mc:Fallback>
                <p:oleObj name="Equation" r:id="rId3" imgW="234936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57400"/>
                        <a:ext cx="292258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5" name="Picture 7" descr="091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65900" y="2117726"/>
            <a:ext cx="4102100" cy="262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967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Center of Mass, Symmetric Object</a:t>
            </a:r>
          </a:p>
        </p:txBody>
      </p:sp>
      <p:sp>
        <p:nvSpPr>
          <p:cNvPr id="6349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The center of mass of any symmetric object of uniform density lies on an axis of symmetry and on any plane of symmetry.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761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-1"/>
            <a:ext cx="8229600" cy="1066801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Center of Gravity</a:t>
            </a:r>
          </a:p>
        </p:txBody>
      </p:sp>
      <p:sp>
        <p:nvSpPr>
          <p:cNvPr id="14341" name="Rectangle 1027"/>
          <p:cNvSpPr>
            <a:spLocks noGrp="1" noChangeArrowheads="1"/>
          </p:cNvSpPr>
          <p:nvPr>
            <p:ph idx="1"/>
          </p:nvPr>
        </p:nvSpPr>
        <p:spPr>
          <a:xfrm>
            <a:off x="1981200" y="1066801"/>
            <a:ext cx="8229600" cy="50593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Each small mass element of an extended object is acted upon by the gravitational force.</a:t>
            </a:r>
          </a:p>
          <a:p>
            <a:pPr marL="0" indent="0"/>
            <a:r>
              <a:rPr lang="en-US" dirty="0"/>
              <a:t>The net effect of all these forces is equivalent to the effect of a single force       acting through a point called the </a:t>
            </a:r>
            <a:r>
              <a:rPr lang="en-US" b="1" dirty="0"/>
              <a:t>center of gravity.</a:t>
            </a:r>
            <a:endParaRPr lang="en-US" dirty="0"/>
          </a:p>
          <a:p>
            <a:pPr lvl="1"/>
            <a:r>
              <a:rPr lang="en-US" sz="3200" dirty="0"/>
              <a:t>If    is constant over the mass distribution, the center of gravity coincides with the center of mass.</a:t>
            </a:r>
          </a:p>
        </p:txBody>
      </p:sp>
      <p:graphicFrame>
        <p:nvGraphicFramePr>
          <p:cNvPr id="14339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432217"/>
              </p:ext>
            </p:extLst>
          </p:nvPr>
        </p:nvGraphicFramePr>
        <p:xfrm>
          <a:off x="3109453" y="3291682"/>
          <a:ext cx="1825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152280" imgH="253800" progId="Equation.DSMT4">
                  <p:embed/>
                </p:oleObj>
              </mc:Choice>
              <mc:Fallback>
                <p:oleObj name="Equation" r:id="rId3" imgW="152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453" y="3291682"/>
                        <a:ext cx="18256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576174"/>
              </p:ext>
            </p:extLst>
          </p:nvPr>
        </p:nvGraphicFramePr>
        <p:xfrm>
          <a:off x="5279922" y="2406445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5" imgW="304560" imgH="253800" progId="Equation.DSMT4">
                  <p:embed/>
                </p:oleObj>
              </mc:Choice>
              <mc:Fallback>
                <p:oleObj name="Equation" r:id="rId5" imgW="304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922" y="2406445"/>
                        <a:ext cx="457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15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Newton’s Second Law for a System of Particles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/>
              <a:t>Since the only forces are external, the net external force equals the total mass of the system multiplied by the acceleration of the center of mass:</a:t>
            </a:r>
          </a:p>
          <a:p>
            <a:pPr marL="0" indent="0">
              <a:buNone/>
            </a:pPr>
            <a:r>
              <a:rPr lang="en-US" dirty="0">
                <a:latin typeface="Symbol" pitchFamily="80" charset="2"/>
              </a:rPr>
              <a:t>	</a:t>
            </a:r>
          </a:p>
          <a:p>
            <a:pPr marL="0" indent="0"/>
            <a:endParaRPr lang="en-US" dirty="0">
              <a:latin typeface="Symbol" pitchFamily="80" charset="2"/>
            </a:endParaRPr>
          </a:p>
          <a:p>
            <a:pPr marL="0" indent="0"/>
            <a:r>
              <a:rPr lang="en-US" dirty="0"/>
              <a:t>The center of mass of a system of particles of combined mass </a:t>
            </a:r>
            <a:r>
              <a:rPr lang="en-US" i="1" dirty="0"/>
              <a:t>M</a:t>
            </a:r>
            <a:r>
              <a:rPr lang="en-US" dirty="0"/>
              <a:t> moves like an equivalent particle of mass </a:t>
            </a:r>
            <a:r>
              <a:rPr lang="en-US" i="1" dirty="0"/>
              <a:t>M</a:t>
            </a:r>
            <a:r>
              <a:rPr lang="en-US" dirty="0"/>
              <a:t> would move under the influence of the net external force on the system.</a:t>
            </a:r>
            <a:endParaRPr lang="en-US" dirty="0">
              <a:latin typeface="Symbol" pitchFamily="80" charset="2"/>
            </a:endParaRPr>
          </a:p>
        </p:txBody>
      </p:sp>
      <p:graphicFrame>
        <p:nvGraphicFramePr>
          <p:cNvPr id="17410" name="Object 1024"/>
          <p:cNvGraphicFramePr>
            <a:graphicFrameLocks noChangeAspect="1"/>
          </p:cNvGraphicFramePr>
          <p:nvPr/>
        </p:nvGraphicFramePr>
        <p:xfrm>
          <a:off x="2971800" y="3276600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3" imgW="1206360" imgH="317160" progId="Equation.DSMT4">
                  <p:embed/>
                </p:oleObj>
              </mc:Choice>
              <mc:Fallback>
                <p:oleObj name="Equation" r:id="rId3" imgW="12063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276600"/>
                        <a:ext cx="1447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859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Rocket Propulsion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66800"/>
            <a:ext cx="8229600" cy="5562600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n-US" dirty="0"/>
              <a:t>When ordinary vehicles are propelled, the driving force for the motion is friction.</a:t>
            </a:r>
          </a:p>
          <a:p>
            <a:pPr lvl="1"/>
            <a:r>
              <a:rPr lang="en-US" dirty="0"/>
              <a:t>The car is modeled as an non-isolated system in terms of momentum.</a:t>
            </a:r>
          </a:p>
          <a:p>
            <a:pPr lvl="1"/>
            <a:r>
              <a:rPr lang="en-US" dirty="0"/>
              <a:t>An impulse is applied to the car from the roadway, and the result is a change in the momentum of the car.</a:t>
            </a:r>
          </a:p>
          <a:p>
            <a:pPr marL="0" indent="0"/>
            <a:r>
              <a:rPr lang="en-US" dirty="0"/>
              <a:t>The operation of a rocket depends upon the law of conservation of linear momentum as applied to an isolated system, where the system is the rocket plus its ejected fuel.</a:t>
            </a:r>
          </a:p>
          <a:p>
            <a:pPr marL="0" indent="0"/>
            <a:r>
              <a:rPr lang="en-US" dirty="0"/>
              <a:t>As the rocket moves in free space, its linear momentum changes when some of its mass is ejected in the form of exhaust gases.</a:t>
            </a:r>
          </a:p>
          <a:p>
            <a:pPr lvl="1"/>
            <a:r>
              <a:rPr lang="en-US" dirty="0"/>
              <a:t>Because the gases are given momentum when they are ejected out of the engine, the rocket receives a compensating momentum in the opposite direction.</a:t>
            </a:r>
          </a:p>
          <a:p>
            <a:pPr lvl="1"/>
            <a:r>
              <a:rPr lang="en-US" dirty="0"/>
              <a:t>In free space, the center of mass of the system moves uniformly.</a:t>
            </a:r>
          </a:p>
        </p:txBody>
      </p:sp>
    </p:spTree>
    <p:extLst>
      <p:ext uri="{BB962C8B-B14F-4D97-AF65-F5344CB8AC3E}">
        <p14:creationId xmlns:p14="http://schemas.microsoft.com/office/powerpoint/2010/main" val="24033316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Rocket Propulsion, 2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24000" y="838200"/>
            <a:ext cx="5181600" cy="6019800"/>
          </a:xfrm>
        </p:spPr>
        <p:txBody>
          <a:bodyPr>
            <a:noAutofit/>
          </a:bodyPr>
          <a:lstStyle/>
          <a:p>
            <a:pPr marL="0" indent="0"/>
            <a:r>
              <a:rPr lang="en-US" dirty="0"/>
              <a:t>The initial mass of the rocket plus all its fuel is </a:t>
            </a:r>
            <a:r>
              <a:rPr lang="en-US" i="1" dirty="0"/>
              <a:t>M</a:t>
            </a:r>
            <a:r>
              <a:rPr lang="en-US" dirty="0"/>
              <a:t> + </a:t>
            </a:r>
            <a:r>
              <a:rPr lang="en-US" dirty="0">
                <a:latin typeface="Symbol" pitchFamily="80" charset="2"/>
              </a:rPr>
              <a:t>D</a:t>
            </a:r>
            <a:r>
              <a:rPr lang="en-US" i="1" dirty="0"/>
              <a:t>m</a:t>
            </a:r>
            <a:r>
              <a:rPr lang="en-US" dirty="0"/>
              <a:t> at time </a:t>
            </a:r>
            <a:r>
              <a:rPr lang="en-US" i="1" dirty="0" err="1"/>
              <a:t>t</a:t>
            </a:r>
            <a:r>
              <a:rPr lang="en-US" i="1" baseline="-25000" dirty="0" err="1"/>
              <a:t>i</a:t>
            </a:r>
            <a:r>
              <a:rPr lang="en-US" dirty="0"/>
              <a:t> and speed </a:t>
            </a:r>
            <a:r>
              <a:rPr lang="en-US" i="1" dirty="0"/>
              <a:t>v.</a:t>
            </a:r>
            <a:endParaRPr lang="en-US" dirty="0"/>
          </a:p>
          <a:p>
            <a:pPr marL="0" indent="0"/>
            <a:r>
              <a:rPr lang="en-US" dirty="0"/>
              <a:t>The initial momentum of the system is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At some time </a:t>
            </a:r>
            <a:r>
              <a:rPr lang="en-US" i="1" dirty="0"/>
              <a:t>t</a:t>
            </a:r>
            <a:r>
              <a:rPr lang="en-US" dirty="0"/>
              <a:t> + </a:t>
            </a:r>
            <a:r>
              <a:rPr lang="en-US" dirty="0" err="1">
                <a:latin typeface="Symbol" pitchFamily="80" charset="2"/>
              </a:rPr>
              <a:t>D</a:t>
            </a:r>
            <a:r>
              <a:rPr lang="en-US" i="1" dirty="0" err="1"/>
              <a:t>t</a:t>
            </a:r>
            <a:r>
              <a:rPr lang="en-US" dirty="0"/>
              <a:t>, the rocket’s mass has been reduced to </a:t>
            </a:r>
            <a:r>
              <a:rPr lang="en-US" i="1" dirty="0"/>
              <a:t>M</a:t>
            </a:r>
            <a:r>
              <a:rPr lang="en-US" dirty="0"/>
              <a:t> and an amount of fuel, </a:t>
            </a:r>
            <a:r>
              <a:rPr lang="en-US" dirty="0">
                <a:latin typeface="Symbol" pitchFamily="80" charset="2"/>
              </a:rPr>
              <a:t>D</a:t>
            </a:r>
            <a:r>
              <a:rPr lang="en-US" i="1" dirty="0"/>
              <a:t>m</a:t>
            </a:r>
            <a:r>
              <a:rPr lang="en-US" dirty="0"/>
              <a:t> has been ejected.</a:t>
            </a:r>
          </a:p>
          <a:p>
            <a:pPr marL="0" indent="0"/>
            <a:r>
              <a:rPr lang="en-US" dirty="0"/>
              <a:t>The rocket’s speed has increased by </a:t>
            </a:r>
            <a:r>
              <a:rPr lang="en-US" dirty="0" err="1">
                <a:latin typeface="Symbol" pitchFamily="80" charset="2"/>
              </a:rPr>
              <a:t>D</a:t>
            </a:r>
            <a:r>
              <a:rPr lang="en-US" i="1" dirty="0" err="1"/>
              <a:t>v</a:t>
            </a:r>
            <a:r>
              <a:rPr lang="en-US" i="1" dirty="0"/>
              <a:t>.</a:t>
            </a:r>
          </a:p>
          <a:p>
            <a:pPr marL="0" indent="0"/>
            <a:endParaRPr lang="en-US" sz="2000" dirty="0"/>
          </a:p>
        </p:txBody>
      </p:sp>
      <p:graphicFrame>
        <p:nvGraphicFramePr>
          <p:cNvPr id="20482" name="Object 1024"/>
          <p:cNvGraphicFramePr>
            <a:graphicFrameLocks noChangeAspect="1"/>
          </p:cNvGraphicFramePr>
          <p:nvPr/>
        </p:nvGraphicFramePr>
        <p:xfrm>
          <a:off x="2971800" y="3048001"/>
          <a:ext cx="2057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3" imgW="1396800" imgH="266400" progId="Equation.DSMT4">
                  <p:embed/>
                </p:oleObj>
              </mc:Choice>
              <mc:Fallback>
                <p:oleObj name="Equation" r:id="rId3" imgW="13968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048001"/>
                        <a:ext cx="20574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6" name="Picture 6" descr="09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800" y="1371600"/>
            <a:ext cx="3810000" cy="43005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558176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Rocket Propulsion, 3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4323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dirty="0"/>
              <a:t>The basic equation for rocket propulsion is </a:t>
            </a:r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The increase in rocket speed is proportional to the speed of the escape gases (</a:t>
            </a:r>
            <a:r>
              <a:rPr lang="en-US" i="1" dirty="0" err="1"/>
              <a:t>v</a:t>
            </a:r>
            <a:r>
              <a:rPr lang="en-US" i="1" baseline="-25000" dirty="0" err="1"/>
              <a:t>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So, the exhaust speed should be very high.</a:t>
            </a:r>
          </a:p>
          <a:p>
            <a:pPr marL="0" indent="0"/>
            <a:r>
              <a:rPr lang="en-US" dirty="0"/>
              <a:t>The increase in rocket speed is also proportional to the natural log of the ratio 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dirty="0"/>
              <a:t>/</a:t>
            </a:r>
            <a:r>
              <a:rPr lang="en-US" i="1" dirty="0"/>
              <a:t>M</a:t>
            </a:r>
            <a:r>
              <a:rPr lang="en-US" i="1" baseline="-25000" dirty="0"/>
              <a:t>f.</a:t>
            </a:r>
            <a:endParaRPr lang="en-US" i="1" dirty="0"/>
          </a:p>
          <a:p>
            <a:pPr lvl="1"/>
            <a:r>
              <a:rPr lang="en-US" dirty="0"/>
              <a:t>So, the ratio should be as high as possible, meaning the mass of the rocket should be as small as possible and it should carry as much fuel as possible.</a:t>
            </a:r>
          </a:p>
        </p:txBody>
      </p:sp>
      <p:graphicFrame>
        <p:nvGraphicFramePr>
          <p:cNvPr id="21506" name="Object 0"/>
          <p:cNvGraphicFramePr>
            <a:graphicFrameLocks noChangeAspect="1"/>
          </p:cNvGraphicFramePr>
          <p:nvPr/>
        </p:nvGraphicFramePr>
        <p:xfrm>
          <a:off x="2514600" y="1981200"/>
          <a:ext cx="1993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3" imgW="1257120" imgH="482400" progId="Equation.DSMT4">
                  <p:embed/>
                </p:oleObj>
              </mc:Choice>
              <mc:Fallback>
                <p:oleObj name="Equation" r:id="rId3" imgW="1257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19939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82513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90600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Thrust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990601"/>
            <a:ext cx="8229600" cy="51355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The thrust on the rocket is the force exerted on it by the ejected exhaust gases.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The thrust increases as the exhaust speed increases.</a:t>
            </a:r>
          </a:p>
          <a:p>
            <a:pPr marL="0" indent="0"/>
            <a:r>
              <a:rPr lang="en-US" dirty="0"/>
              <a:t>The thrust increases as the rate of change of mass increases.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rate of change of the mass is called the </a:t>
            </a:r>
            <a:r>
              <a:rPr lang="en-US" b="1" dirty="0"/>
              <a:t>burn rate.</a:t>
            </a:r>
            <a:endParaRPr lang="en-US" dirty="0"/>
          </a:p>
          <a:p>
            <a:pPr marL="0" indent="0"/>
            <a:endParaRPr lang="en-US" dirty="0"/>
          </a:p>
        </p:txBody>
      </p:sp>
      <p:graphicFrame>
        <p:nvGraphicFramePr>
          <p:cNvPr id="22530" name="Object 0"/>
          <p:cNvGraphicFramePr>
            <a:graphicFrameLocks noChangeAspect="1"/>
          </p:cNvGraphicFramePr>
          <p:nvPr/>
        </p:nvGraphicFramePr>
        <p:xfrm>
          <a:off x="3886200" y="2209800"/>
          <a:ext cx="23622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3" imgW="1574640" imgH="431640" progId="Equation.DSMT4">
                  <p:embed/>
                </p:oleObj>
              </mc:Choice>
              <mc:Fallback>
                <p:oleObj name="Equation" r:id="rId3" imgW="1574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209800"/>
                        <a:ext cx="2362200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546556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592</Words>
  <Application>Microsoft Office PowerPoint</Application>
  <PresentationFormat>Widescreen</PresentationFormat>
  <Paragraphs>56</Paragraphs>
  <Slides>10</Slides>
  <Notes>0</Notes>
  <HiddenSlides>6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Office Theme</vt:lpstr>
      <vt:lpstr>Equation</vt:lpstr>
      <vt:lpstr>CENTER OF MASS</vt:lpstr>
      <vt:lpstr>The Center of Mass</vt:lpstr>
      <vt:lpstr>Center of Mass, Coordinates</vt:lpstr>
      <vt:lpstr>Center of Mass, Symmetric Object</vt:lpstr>
      <vt:lpstr>Center of Gravity</vt:lpstr>
      <vt:lpstr>Newton’s Second Law for a System of Particles</vt:lpstr>
      <vt:lpstr>Rocket Propulsion</vt:lpstr>
      <vt:lpstr>Rocket Propulsion, 2</vt:lpstr>
      <vt:lpstr>Rocket Propulsion, 3</vt:lpstr>
      <vt:lpstr>Thrust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Center of Mass</dc:title>
  <dc:creator>Raymond</dc:creator>
  <cp:lastModifiedBy>Bright Abbiw</cp:lastModifiedBy>
  <cp:revision>5</cp:revision>
  <dcterms:created xsi:type="dcterms:W3CDTF">2015-10-12T19:14:12Z</dcterms:created>
  <dcterms:modified xsi:type="dcterms:W3CDTF">2019-10-09T14:12:40Z</dcterms:modified>
</cp:coreProperties>
</file>
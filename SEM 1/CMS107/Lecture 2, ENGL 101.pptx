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69" r:id="rId15"/>
    <p:sldId id="270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AE82A-4194-0845-A853-E8BC517947C8}" type="datetimeFigureOut">
              <a:rPr lang="en-US" smtClean="0"/>
              <a:pPr/>
              <a:t>10/1/2016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1A200A-3529-8D45-BFFA-AEEBAA5C00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73071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1A200A-3529-8D45-BFFA-AEEBAA5C00C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5905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GB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10/1/2016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10/1/2016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10/1/2016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10/1/2016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10/1/2016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10/1/2016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10/1/2016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10/1/2016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GB" smtClean="0"/>
              <a:t>Drag picture to placeholder or click icon to add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D7C3A134-F1C3-464B-BF47-54DC2DE08F52}" type="datetimeFigureOut">
              <a:rPr lang="en-US" smtClean="0"/>
              <a:pPr/>
              <a:t>10/1/2016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10/1/2016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10/1/2016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GB" smtClean="0"/>
              <a:t>Click to edit Master text styles</a:t>
            </a:r>
          </a:p>
          <a:p>
            <a:pPr lvl="1" eaLnBrk="1" latinLnBrk="0" hangingPunct="1"/>
            <a:r>
              <a:rPr kumimoji="0" lang="en-GB" smtClean="0"/>
              <a:t>Second level</a:t>
            </a:r>
          </a:p>
          <a:p>
            <a:pPr lvl="2" eaLnBrk="1" latinLnBrk="0" hangingPunct="1"/>
            <a:r>
              <a:rPr kumimoji="0" lang="en-GB" smtClean="0"/>
              <a:t>Third level</a:t>
            </a:r>
          </a:p>
          <a:p>
            <a:pPr lvl="3" eaLnBrk="1" latinLnBrk="0" hangingPunct="1"/>
            <a:r>
              <a:rPr kumimoji="0" lang="en-GB" smtClean="0"/>
              <a:t>Fourth level</a:t>
            </a:r>
          </a:p>
          <a:p>
            <a:pPr lvl="4" eaLnBrk="1" latinLnBrk="0" hangingPunct="1"/>
            <a:r>
              <a:rPr kumimoji="0" lang="en-GB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D7C3A134-F1C3-464B-BF47-54DC2DE08F52}" type="datetimeFigureOut">
              <a:rPr lang="en-US" smtClean="0"/>
              <a:pPr/>
              <a:t>10/1/2016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900" dirty="0" smtClean="0">
                <a:solidFill>
                  <a:srgbClr val="FF0000"/>
                </a:solidFill>
              </a:rPr>
              <a:t>ENGL 101</a:t>
            </a:r>
            <a:br>
              <a:rPr lang="en-US" sz="4900" dirty="0" smtClean="0">
                <a:solidFill>
                  <a:srgbClr val="FF0000"/>
                </a:solidFill>
              </a:rPr>
            </a:br>
            <a:r>
              <a:rPr lang="en-US" sz="8000" dirty="0" smtClean="0"/>
              <a:t/>
            </a:r>
            <a:br>
              <a:rPr lang="en-US" sz="8000" dirty="0" smtClean="0"/>
            </a:br>
            <a:r>
              <a:rPr lang="en-US" sz="4800" dirty="0">
                <a:solidFill>
                  <a:srgbClr val="800000"/>
                </a:solidFill>
              </a:rPr>
              <a:t/>
            </a:r>
            <a:br>
              <a:rPr lang="en-US" sz="4800" dirty="0">
                <a:solidFill>
                  <a:srgbClr val="800000"/>
                </a:solidFill>
              </a:rPr>
            </a:br>
            <a:r>
              <a:rPr lang="en-US" sz="5400" dirty="0"/>
              <a:t/>
            </a:r>
            <a:br>
              <a:rPr lang="en-US" sz="5400" dirty="0"/>
            </a:br>
            <a:r>
              <a:rPr lang="en-US" sz="8000" dirty="0"/>
              <a:t/>
            </a:r>
            <a:br>
              <a:rPr lang="en-US" sz="8000" dirty="0"/>
            </a:br>
            <a:r>
              <a:rPr lang="en-US" dirty="0">
                <a:solidFill>
                  <a:srgbClr val="953735"/>
                </a:solidFill>
              </a:rPr>
              <a:t/>
            </a:r>
            <a:br>
              <a:rPr lang="en-US" dirty="0">
                <a:solidFill>
                  <a:srgbClr val="953735"/>
                </a:solidFill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809801"/>
            <a:ext cx="8077200" cy="251861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ACCRA INSTITUTE OF </a:t>
            </a:r>
            <a:r>
              <a:rPr lang="en-US" dirty="0">
                <a:solidFill>
                  <a:srgbClr val="FF0000"/>
                </a:solidFill>
              </a:rPr>
              <a:t>TECHNOLOGY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8381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Revision of the last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pPr marL="633222" indent="-514350">
              <a:buFont typeface="+mj-lt"/>
              <a:buAutoNum type="arabicPeriod"/>
            </a:pPr>
            <a:r>
              <a:rPr lang="en-US" dirty="0" smtClean="0"/>
              <a:t>Explain why the underlined nouns perform logical functions.</a:t>
            </a:r>
          </a:p>
          <a:p>
            <a:pPr marL="118872" indent="0">
              <a:buNone/>
            </a:pPr>
            <a:r>
              <a:rPr lang="en-US" dirty="0" smtClean="0"/>
              <a:t>a. The </a:t>
            </a:r>
            <a:r>
              <a:rPr lang="en-US" u="sng" dirty="0" smtClean="0"/>
              <a:t>banana</a:t>
            </a:r>
            <a:r>
              <a:rPr lang="en-US" dirty="0" smtClean="0"/>
              <a:t> was thrown by the monkey.</a:t>
            </a:r>
          </a:p>
          <a:p>
            <a:pPr marL="118872" indent="0">
              <a:buNone/>
            </a:pPr>
            <a:r>
              <a:rPr lang="en-US" dirty="0" smtClean="0"/>
              <a:t>b. </a:t>
            </a:r>
            <a:r>
              <a:rPr lang="en-US" u="sng" dirty="0" smtClean="0"/>
              <a:t>She</a:t>
            </a:r>
            <a:r>
              <a:rPr lang="en-US" dirty="0" smtClean="0"/>
              <a:t> was the one who milked the cow.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dirty="0" smtClean="0"/>
              <a:t>2. Explain the kinds of subjects underlined </a:t>
            </a:r>
            <a:r>
              <a:rPr lang="en-US" dirty="0"/>
              <a:t> </a:t>
            </a:r>
            <a:r>
              <a:rPr lang="en-US" dirty="0" smtClean="0"/>
              <a:t>in the sentences below:</a:t>
            </a:r>
          </a:p>
          <a:p>
            <a:pPr marL="633222" indent="-514350">
              <a:buAutoNum type="alphaLcPeriod"/>
            </a:pPr>
            <a:r>
              <a:rPr lang="en-US" u="sng" dirty="0" smtClean="0"/>
              <a:t>The old drum </a:t>
            </a:r>
            <a:r>
              <a:rPr lang="en-US" dirty="0" smtClean="0"/>
              <a:t>sounded well.</a:t>
            </a:r>
          </a:p>
          <a:p>
            <a:pPr marL="633222" indent="-514350">
              <a:buAutoNum type="alphaLcPeriod"/>
            </a:pPr>
            <a:r>
              <a:rPr lang="en-US" u="sng" dirty="0" smtClean="0"/>
              <a:t>Dunkwa-on-</a:t>
            </a:r>
            <a:r>
              <a:rPr lang="en-US" u="sng" dirty="0" smtClean="0"/>
              <a:t>Ofin</a:t>
            </a:r>
            <a:r>
              <a:rPr lang="en-US" u="sng" dirty="0" smtClean="0"/>
              <a:t> </a:t>
            </a:r>
            <a:r>
              <a:rPr lang="en-US" dirty="0" smtClean="0"/>
              <a:t>is far from Accra.</a:t>
            </a:r>
          </a:p>
          <a:p>
            <a:pPr marL="633222" indent="-514350">
              <a:buAutoNum type="alphaLcPeriod"/>
            </a:pPr>
            <a:endParaRPr lang="en-US" dirty="0"/>
          </a:p>
          <a:p>
            <a:pPr marL="118872" indent="0">
              <a:buNone/>
            </a:pPr>
            <a:r>
              <a:rPr lang="en-US" dirty="0" smtClean="0"/>
              <a:t>3. Underline and label the functions of all the nouns in the sentences below:</a:t>
            </a:r>
          </a:p>
          <a:p>
            <a:pPr marL="633222" indent="-514350">
              <a:buAutoNum type="alphaLcPeriod"/>
            </a:pPr>
            <a:r>
              <a:rPr lang="en-US" dirty="0" smtClean="0"/>
              <a:t>The play was written for the School of Performing Arts.</a:t>
            </a:r>
          </a:p>
          <a:p>
            <a:pPr marL="633222" indent="-514350">
              <a:buAutoNum type="alphaLcPeriod"/>
            </a:pPr>
            <a:r>
              <a:rPr lang="en-US" dirty="0" smtClean="0"/>
              <a:t>We gave the flowers some water.</a:t>
            </a:r>
          </a:p>
        </p:txBody>
      </p:sp>
    </p:spTree>
    <p:extLst>
      <p:ext uri="{BB962C8B-B14F-4D97-AF65-F5344CB8AC3E}">
        <p14:creationId xmlns="" xmlns:p14="http://schemas.microsoft.com/office/powerpoint/2010/main" val="203822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PRONOUNS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  <a:cs typeface="Corbel (body)"/>
              </a:rPr>
              <a:t>Pronouns: </a:t>
            </a:r>
            <a:r>
              <a:rPr lang="en-US" dirty="0">
                <a:solidFill>
                  <a:srgbClr val="000000"/>
                </a:solidFill>
                <a:cs typeface="Corbel (body)"/>
              </a:rPr>
              <a:t>words </a:t>
            </a:r>
            <a:r>
              <a:rPr lang="en-US" dirty="0" smtClean="0">
                <a:solidFill>
                  <a:srgbClr val="000000"/>
                </a:solidFill>
                <a:cs typeface="Corbel (body)"/>
              </a:rPr>
              <a:t>that replace </a:t>
            </a:r>
            <a:r>
              <a:rPr lang="en-US" dirty="0">
                <a:solidFill>
                  <a:srgbClr val="000000"/>
                </a:solidFill>
                <a:cs typeface="Corbel (body)"/>
              </a:rPr>
              <a:t>a noun in a sentence to avoid repetition. </a:t>
            </a:r>
            <a:endParaRPr lang="en-US" dirty="0" smtClean="0">
              <a:solidFill>
                <a:srgbClr val="000000"/>
              </a:solidFill>
              <a:cs typeface="Corbel (body)"/>
            </a:endParaRPr>
          </a:p>
          <a:p>
            <a:endParaRPr lang="en-US" dirty="0">
              <a:solidFill>
                <a:srgbClr val="000000"/>
              </a:solidFill>
              <a:cs typeface="Corbel (body)"/>
            </a:endParaRPr>
          </a:p>
          <a:p>
            <a:r>
              <a:rPr lang="en-US" dirty="0" smtClean="0">
                <a:solidFill>
                  <a:srgbClr val="000000"/>
                </a:solidFill>
                <a:cs typeface="Corbel (body)"/>
              </a:rPr>
              <a:t>They allow </a:t>
            </a:r>
            <a:r>
              <a:rPr lang="en-US" dirty="0">
                <a:solidFill>
                  <a:srgbClr val="000000"/>
                </a:solidFill>
                <a:cs typeface="Corbel (body)"/>
              </a:rPr>
              <a:t>language to flow without interruptions and ensure </a:t>
            </a:r>
            <a:r>
              <a:rPr lang="en-US" dirty="0" smtClean="0">
                <a:solidFill>
                  <a:srgbClr val="000000"/>
                </a:solidFill>
                <a:cs typeface="Corbel (body)"/>
              </a:rPr>
              <a:t>smooth </a:t>
            </a:r>
            <a:r>
              <a:rPr lang="en-US" dirty="0">
                <a:solidFill>
                  <a:srgbClr val="000000"/>
                </a:solidFill>
                <a:cs typeface="Corbel (body)"/>
              </a:rPr>
              <a:t>information is well </a:t>
            </a:r>
            <a:r>
              <a:rPr lang="en-US" dirty="0" smtClean="0">
                <a:solidFill>
                  <a:srgbClr val="000000"/>
                </a:solidFill>
                <a:cs typeface="Corbel (body)"/>
              </a:rPr>
              <a:t>transmitted.</a:t>
            </a:r>
          </a:p>
          <a:p>
            <a:endParaRPr lang="en-US" baseline="30000" dirty="0">
              <a:solidFill>
                <a:srgbClr val="000000"/>
              </a:solidFill>
              <a:latin typeface="Corbel body"/>
              <a:cs typeface="Corbel body"/>
            </a:endParaRPr>
          </a:p>
          <a:p>
            <a:pPr marL="118872" indent="0">
              <a:buNone/>
            </a:pPr>
            <a:r>
              <a:rPr lang="en-US" dirty="0" smtClean="0"/>
              <a:t>E.g.. </a:t>
            </a:r>
            <a:r>
              <a:rPr lang="en-US" dirty="0" smtClean="0"/>
              <a:t>He, she, it etc.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6592805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435051679"/>
              </p:ext>
            </p:extLst>
          </p:nvPr>
        </p:nvGraphicFramePr>
        <p:xfrm>
          <a:off x="457200" y="1471377"/>
          <a:ext cx="8229600" cy="4992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608714"/>
                <a:gridCol w="2506086"/>
                <a:gridCol w="2057400"/>
              </a:tblGrid>
              <a:tr h="54229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PERSONAL</a:t>
                      </a:r>
                      <a:r>
                        <a:rPr lang="en-US" sz="2800" baseline="0" dirty="0" smtClean="0"/>
                        <a:t> 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POSSESSIVE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REFLEXIVE</a:t>
                      </a:r>
                      <a:endParaRPr lang="en-US" sz="2800" dirty="0"/>
                    </a:p>
                  </a:txBody>
                  <a:tcPr/>
                </a:tc>
              </a:tr>
              <a:tr h="54229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SUBJECT FORM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OBJECT FORM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</a:tr>
              <a:tr h="334292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I</a:t>
                      </a:r>
                    </a:p>
                    <a:p>
                      <a:r>
                        <a:rPr lang="en-US" sz="2800" dirty="0" smtClean="0"/>
                        <a:t>You</a:t>
                      </a:r>
                    </a:p>
                    <a:p>
                      <a:r>
                        <a:rPr lang="en-US" sz="2800" dirty="0" smtClean="0"/>
                        <a:t>He</a:t>
                      </a:r>
                    </a:p>
                    <a:p>
                      <a:r>
                        <a:rPr lang="en-US" sz="2800" dirty="0" smtClean="0"/>
                        <a:t>She</a:t>
                      </a:r>
                    </a:p>
                    <a:p>
                      <a:r>
                        <a:rPr lang="en-US" sz="2800" dirty="0" smtClean="0"/>
                        <a:t>It</a:t>
                      </a:r>
                    </a:p>
                    <a:p>
                      <a:r>
                        <a:rPr lang="en-US" sz="2800" dirty="0" smtClean="0"/>
                        <a:t>We</a:t>
                      </a:r>
                    </a:p>
                    <a:p>
                      <a:r>
                        <a:rPr lang="en-US" sz="2800" dirty="0" smtClean="0"/>
                        <a:t>You</a:t>
                      </a:r>
                    </a:p>
                    <a:p>
                      <a:r>
                        <a:rPr lang="en-US" sz="2800" dirty="0" smtClean="0"/>
                        <a:t>They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Me </a:t>
                      </a:r>
                    </a:p>
                    <a:p>
                      <a:r>
                        <a:rPr lang="en-US" sz="2800" dirty="0" smtClean="0"/>
                        <a:t>You</a:t>
                      </a:r>
                    </a:p>
                    <a:p>
                      <a:r>
                        <a:rPr lang="en-US" sz="2800" dirty="0" smtClean="0"/>
                        <a:t>Him</a:t>
                      </a:r>
                    </a:p>
                    <a:p>
                      <a:r>
                        <a:rPr lang="en-US" sz="2800" dirty="0" smtClean="0"/>
                        <a:t>Her</a:t>
                      </a:r>
                    </a:p>
                    <a:p>
                      <a:r>
                        <a:rPr lang="en-US" sz="2800" dirty="0" smtClean="0"/>
                        <a:t>It</a:t>
                      </a:r>
                    </a:p>
                    <a:p>
                      <a:r>
                        <a:rPr lang="en-US" sz="2800" dirty="0" smtClean="0"/>
                        <a:t>Us</a:t>
                      </a:r>
                    </a:p>
                    <a:p>
                      <a:r>
                        <a:rPr lang="en-US" sz="2800" dirty="0" smtClean="0"/>
                        <a:t>You</a:t>
                      </a:r>
                    </a:p>
                    <a:p>
                      <a:r>
                        <a:rPr lang="en-US" sz="2800" dirty="0" smtClean="0"/>
                        <a:t>Them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Mine</a:t>
                      </a:r>
                    </a:p>
                    <a:p>
                      <a:r>
                        <a:rPr lang="en-US" sz="2800" dirty="0" smtClean="0"/>
                        <a:t>Yours</a:t>
                      </a:r>
                    </a:p>
                    <a:p>
                      <a:r>
                        <a:rPr lang="en-US" sz="2800" dirty="0" smtClean="0"/>
                        <a:t>His</a:t>
                      </a:r>
                    </a:p>
                    <a:p>
                      <a:r>
                        <a:rPr lang="en-US" sz="2800" dirty="0" smtClean="0"/>
                        <a:t>Hers</a:t>
                      </a:r>
                    </a:p>
                    <a:p>
                      <a:r>
                        <a:rPr lang="en-US" sz="2800" dirty="0" smtClean="0"/>
                        <a:t>Its</a:t>
                      </a:r>
                    </a:p>
                    <a:p>
                      <a:r>
                        <a:rPr lang="en-US" sz="2800" dirty="0" smtClean="0"/>
                        <a:t>Ours</a:t>
                      </a:r>
                    </a:p>
                    <a:p>
                      <a:r>
                        <a:rPr lang="en-US" sz="2800" dirty="0" smtClean="0"/>
                        <a:t>Yours</a:t>
                      </a:r>
                    </a:p>
                    <a:p>
                      <a:r>
                        <a:rPr lang="en-US" sz="2800" dirty="0" smtClean="0"/>
                        <a:t>Theirs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Myself</a:t>
                      </a:r>
                    </a:p>
                    <a:p>
                      <a:r>
                        <a:rPr lang="en-US" sz="2800" dirty="0" smtClean="0"/>
                        <a:t>Yourself</a:t>
                      </a:r>
                    </a:p>
                    <a:p>
                      <a:r>
                        <a:rPr lang="en-US" sz="2800" dirty="0" smtClean="0"/>
                        <a:t>Himself</a:t>
                      </a:r>
                    </a:p>
                    <a:p>
                      <a:r>
                        <a:rPr lang="en-US" sz="2800" dirty="0" smtClean="0"/>
                        <a:t>Herself</a:t>
                      </a:r>
                    </a:p>
                    <a:p>
                      <a:r>
                        <a:rPr lang="en-US" sz="2800" dirty="0" smtClean="0"/>
                        <a:t>Itself</a:t>
                      </a:r>
                    </a:p>
                    <a:p>
                      <a:r>
                        <a:rPr lang="en-US" sz="2800" dirty="0" smtClean="0"/>
                        <a:t>Ourselves</a:t>
                      </a:r>
                    </a:p>
                    <a:p>
                      <a:r>
                        <a:rPr lang="en-US" sz="2800" dirty="0" smtClean="0"/>
                        <a:t>Yourselves</a:t>
                      </a:r>
                    </a:p>
                    <a:p>
                      <a:r>
                        <a:rPr lang="en-US" sz="2800" dirty="0" smtClean="0"/>
                        <a:t>Themselves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19376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Personal pronouns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They replace subjects (action performers)</a:t>
            </a:r>
          </a:p>
          <a:p>
            <a:pPr marL="118872" indent="0">
              <a:buNone/>
            </a:pPr>
            <a:r>
              <a:rPr lang="en-US" dirty="0" smtClean="0"/>
              <a:t>Example: </a:t>
            </a:r>
            <a:r>
              <a:rPr lang="en-US" u="sng" dirty="0" err="1" smtClean="0"/>
              <a:t>Olumide</a:t>
            </a:r>
            <a:r>
              <a:rPr lang="en-US" dirty="0" smtClean="0"/>
              <a:t> bought some books.</a:t>
            </a:r>
          </a:p>
          <a:p>
            <a:pPr marL="118872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</a:t>
            </a:r>
            <a:r>
              <a:rPr lang="en-US" u="sng" dirty="0" smtClean="0"/>
              <a:t>He</a:t>
            </a:r>
            <a:r>
              <a:rPr lang="en-US" dirty="0" smtClean="0"/>
              <a:t> bought some books.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 smtClean="0"/>
          </a:p>
          <a:p>
            <a:pPr>
              <a:buFont typeface="Wingdings" charset="2"/>
              <a:buChar char="§"/>
            </a:pPr>
            <a:r>
              <a:rPr lang="en-US" dirty="0" smtClean="0"/>
              <a:t>They also replace object.</a:t>
            </a:r>
          </a:p>
          <a:p>
            <a:pPr marL="118872" indent="0">
              <a:buNone/>
            </a:pPr>
            <a:r>
              <a:rPr lang="en-US" dirty="0"/>
              <a:t> </a:t>
            </a:r>
            <a:r>
              <a:rPr lang="en-US" dirty="0" err="1" smtClean="0"/>
              <a:t>Eg</a:t>
            </a:r>
            <a:r>
              <a:rPr lang="en-US" dirty="0" smtClean="0"/>
              <a:t>. </a:t>
            </a:r>
            <a:r>
              <a:rPr lang="en-US" dirty="0" err="1" smtClean="0"/>
              <a:t>Olumide</a:t>
            </a:r>
            <a:r>
              <a:rPr lang="en-US" dirty="0" smtClean="0"/>
              <a:t> bought </a:t>
            </a:r>
            <a:r>
              <a:rPr lang="en-US" u="sng" dirty="0" smtClean="0"/>
              <a:t>some books</a:t>
            </a:r>
            <a:r>
              <a:rPr lang="en-US" dirty="0" smtClean="0"/>
              <a:t>.</a:t>
            </a:r>
          </a:p>
          <a:p>
            <a:pPr marL="118872" indent="0">
              <a:buNone/>
            </a:pPr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dirty="0" err="1" smtClean="0"/>
              <a:t>Olumide</a:t>
            </a:r>
            <a:r>
              <a:rPr lang="en-US" dirty="0" smtClean="0"/>
              <a:t> bought </a:t>
            </a:r>
            <a:r>
              <a:rPr lang="en-US" u="sng" dirty="0" smtClean="0"/>
              <a:t>them</a:t>
            </a:r>
            <a:r>
              <a:rPr lang="en-US" dirty="0" smtClean="0"/>
              <a:t>.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1074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Possessive,  Reflexives, Relatives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Possessives show ownership</a:t>
            </a:r>
          </a:p>
          <a:p>
            <a:pPr marL="118872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The books are </a:t>
            </a:r>
            <a:r>
              <a:rPr lang="en-US" u="sng" dirty="0" smtClean="0"/>
              <a:t>his</a:t>
            </a:r>
            <a:r>
              <a:rPr lang="en-US" dirty="0" smtClean="0"/>
              <a:t>.</a:t>
            </a:r>
          </a:p>
          <a:p>
            <a:pPr marL="118872" indent="0">
              <a:buNone/>
            </a:pPr>
            <a:endParaRPr lang="en-US" dirty="0" smtClean="0"/>
          </a:p>
          <a:p>
            <a:r>
              <a:rPr lang="en-US" dirty="0" smtClean="0"/>
              <a:t>Reflexives point  back to the subject </a:t>
            </a:r>
          </a:p>
          <a:p>
            <a:pPr marL="118872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</a:t>
            </a:r>
            <a:r>
              <a:rPr lang="en-US" dirty="0" err="1" smtClean="0"/>
              <a:t>Olumide</a:t>
            </a:r>
            <a:r>
              <a:rPr lang="en-US" dirty="0" smtClean="0"/>
              <a:t> bought the books </a:t>
            </a:r>
            <a:r>
              <a:rPr lang="en-US" u="sng" dirty="0" smtClean="0"/>
              <a:t>himself</a:t>
            </a:r>
            <a:r>
              <a:rPr lang="en-US" dirty="0" smtClean="0"/>
              <a:t>.</a:t>
            </a:r>
          </a:p>
          <a:p>
            <a:pPr marL="118872" indent="0">
              <a:buNone/>
            </a:pPr>
            <a:endParaRPr lang="en-US" dirty="0"/>
          </a:p>
          <a:p>
            <a:pPr>
              <a:buFont typeface="Wingdings" charset="2"/>
              <a:buChar char="§"/>
            </a:pPr>
            <a:r>
              <a:rPr lang="en-US" dirty="0" smtClean="0"/>
              <a:t>Relatives are linked in a certain way to the subject</a:t>
            </a:r>
          </a:p>
          <a:p>
            <a:pPr marL="118872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See the boy </a:t>
            </a:r>
            <a:r>
              <a:rPr lang="en-US" u="sng" dirty="0" smtClean="0"/>
              <a:t>who</a:t>
            </a:r>
            <a:r>
              <a:rPr lang="en-US" dirty="0" smtClean="0"/>
              <a:t> wrote the poem.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6335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1 sentence each containing </a:t>
            </a:r>
          </a:p>
          <a:p>
            <a:endParaRPr lang="en-US" dirty="0" smtClean="0"/>
          </a:p>
          <a:p>
            <a:pPr marL="118872" indent="0">
              <a:buNone/>
            </a:pPr>
            <a:r>
              <a:rPr lang="en-US" dirty="0" smtClean="0"/>
              <a:t>A possessive pronoun</a:t>
            </a:r>
          </a:p>
          <a:p>
            <a:pPr marL="118872" indent="0">
              <a:buNone/>
            </a:pPr>
            <a:r>
              <a:rPr lang="en-US" dirty="0" smtClean="0"/>
              <a:t>A reflexive pronoun</a:t>
            </a:r>
          </a:p>
          <a:p>
            <a:pPr marL="118872" indent="0">
              <a:buNone/>
            </a:pPr>
            <a:r>
              <a:rPr lang="en-US" dirty="0" smtClean="0"/>
              <a:t>A relative pronoun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8117295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NewRomanPSMT"/>
              </a:rPr>
              <a:t>Verbs are doing </a:t>
            </a:r>
            <a:r>
              <a:rPr lang="en-US" dirty="0" smtClean="0">
                <a:solidFill>
                  <a:srgbClr val="000000"/>
                </a:solidFill>
                <a:latin typeface="TimesNewRomanPSMT"/>
              </a:rPr>
              <a:t>words</a:t>
            </a:r>
            <a:r>
              <a:rPr lang="en-US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NewRomanPSMT"/>
              </a:rPr>
              <a:t>and </a:t>
            </a:r>
            <a:r>
              <a:rPr lang="en-US" dirty="0">
                <a:solidFill>
                  <a:srgbClr val="000000"/>
                </a:solidFill>
                <a:latin typeface="TimesNewRomanPSMT"/>
              </a:rPr>
              <a:t>can express</a:t>
            </a:r>
            <a:r>
              <a:rPr lang="en-US" dirty="0" smtClean="0">
                <a:solidFill>
                  <a:srgbClr val="000000"/>
                </a:solidFill>
                <a:latin typeface="TimesNewRomanPSMT"/>
              </a:rPr>
              <a:t>:</a:t>
            </a:r>
          </a:p>
          <a:p>
            <a:endParaRPr lang="en-US" dirty="0">
              <a:solidFill>
                <a:srgbClr val="000000"/>
              </a:solidFill>
              <a:latin typeface="TimesNewRomanPSMT"/>
            </a:endParaRPr>
          </a:p>
          <a:p>
            <a:pPr marL="118872" indent="0">
              <a:buNone/>
            </a:pPr>
            <a:r>
              <a:rPr lang="en-US" dirty="0">
                <a:solidFill>
                  <a:srgbClr val="000000"/>
                </a:solidFill>
                <a:latin typeface="Helvetica"/>
              </a:rPr>
              <a:t> </a:t>
            </a:r>
            <a:r>
              <a:rPr lang="en-US" dirty="0" smtClean="0">
                <a:solidFill>
                  <a:srgbClr val="000000"/>
                </a:solidFill>
                <a:latin typeface="TimesNewRomanPSMT"/>
              </a:rPr>
              <a:t>physical </a:t>
            </a:r>
            <a:r>
              <a:rPr lang="en-US" dirty="0">
                <a:solidFill>
                  <a:srgbClr val="000000"/>
                </a:solidFill>
                <a:latin typeface="TimesNewRomanPSMT"/>
              </a:rPr>
              <a:t>action (e.g., </a:t>
            </a:r>
            <a:r>
              <a:rPr lang="en-US" i="1" dirty="0">
                <a:solidFill>
                  <a:srgbClr val="000000"/>
                </a:solidFill>
                <a:latin typeface="Times-Roman"/>
              </a:rPr>
              <a:t>to </a:t>
            </a:r>
            <a:r>
              <a:rPr lang="en-US" i="1" dirty="0" smtClean="0">
                <a:solidFill>
                  <a:srgbClr val="000000"/>
                </a:solidFill>
                <a:latin typeface="Times-Roman"/>
              </a:rPr>
              <a:t>walk</a:t>
            </a:r>
            <a:r>
              <a:rPr lang="en-US" dirty="0" smtClean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i="1" dirty="0">
                <a:solidFill>
                  <a:srgbClr val="000000"/>
                </a:solidFill>
                <a:latin typeface="Times-Roman"/>
              </a:rPr>
              <a:t>to </a:t>
            </a:r>
            <a:r>
              <a:rPr lang="en-US" i="1" dirty="0" smtClean="0">
                <a:solidFill>
                  <a:srgbClr val="000000"/>
                </a:solidFill>
                <a:latin typeface="Times-Roman"/>
              </a:rPr>
              <a:t>eat</a:t>
            </a:r>
            <a:r>
              <a:rPr lang="en-US" dirty="0" smtClean="0">
                <a:solidFill>
                  <a:srgbClr val="000000"/>
                </a:solidFill>
                <a:latin typeface="TimesNewRomanPSMT"/>
              </a:rPr>
              <a:t>)</a:t>
            </a:r>
            <a:r>
              <a:rPr lang="en-US" dirty="0">
                <a:solidFill>
                  <a:srgbClr val="000000"/>
                </a:solidFill>
                <a:latin typeface="TimesNewRomanPSMT"/>
              </a:rPr>
              <a:t>.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0000"/>
                </a:solidFill>
                <a:latin typeface="Helvetica"/>
              </a:rPr>
              <a:t> </a:t>
            </a:r>
            <a:r>
              <a:rPr lang="en-US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NewRomanPSMT"/>
              </a:rPr>
              <a:t>mental action (e.g., </a:t>
            </a:r>
            <a:r>
              <a:rPr lang="en-US" i="1" dirty="0">
                <a:solidFill>
                  <a:srgbClr val="000000"/>
                </a:solidFill>
                <a:latin typeface="Times-Roman"/>
              </a:rPr>
              <a:t>to </a:t>
            </a:r>
            <a:r>
              <a:rPr lang="en-US" i="1" dirty="0" smtClean="0">
                <a:solidFill>
                  <a:srgbClr val="000000"/>
                </a:solidFill>
                <a:latin typeface="Times-Roman"/>
              </a:rPr>
              <a:t>meditate</a:t>
            </a:r>
            <a:r>
              <a:rPr lang="en-US" dirty="0" smtClean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i="1" dirty="0">
                <a:solidFill>
                  <a:srgbClr val="000000"/>
                </a:solidFill>
                <a:latin typeface="Times-Roman"/>
              </a:rPr>
              <a:t>to </a:t>
            </a:r>
            <a:r>
              <a:rPr lang="en-US" i="1" dirty="0" smtClean="0">
                <a:solidFill>
                  <a:srgbClr val="000000"/>
                </a:solidFill>
                <a:latin typeface="Times-Roman"/>
              </a:rPr>
              <a:t>think</a:t>
            </a:r>
            <a:r>
              <a:rPr lang="en-US" dirty="0" smtClean="0">
                <a:solidFill>
                  <a:srgbClr val="000000"/>
                </a:solidFill>
                <a:latin typeface="TimesNewRomanPSMT"/>
              </a:rPr>
              <a:t>)</a:t>
            </a:r>
            <a:r>
              <a:rPr lang="en-US" dirty="0">
                <a:solidFill>
                  <a:srgbClr val="000000"/>
                </a:solidFill>
                <a:latin typeface="TimesNewRomanPSMT"/>
              </a:rPr>
              <a:t>.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0000"/>
                </a:solidFill>
                <a:latin typeface="Helvetica"/>
              </a:rPr>
              <a:t> </a:t>
            </a:r>
            <a:r>
              <a:rPr lang="en-US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NewRomanPSMT"/>
              </a:rPr>
              <a:t>state of being (e.g.</a:t>
            </a:r>
            <a:r>
              <a:rPr lang="en-US" dirty="0" smtClean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i="1" dirty="0">
                <a:solidFill>
                  <a:srgbClr val="000000"/>
                </a:solidFill>
                <a:latin typeface="Times-Roman"/>
              </a:rPr>
              <a:t>to </a:t>
            </a:r>
            <a:r>
              <a:rPr lang="en-US" i="1" dirty="0" smtClean="0">
                <a:solidFill>
                  <a:srgbClr val="000000"/>
                </a:solidFill>
                <a:latin typeface="Times-Roman"/>
              </a:rPr>
              <a:t>live</a:t>
            </a:r>
            <a:r>
              <a:rPr lang="en-US" dirty="0" smtClean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i="1" dirty="0">
                <a:solidFill>
                  <a:srgbClr val="000000"/>
                </a:solidFill>
                <a:latin typeface="Times-Roman"/>
              </a:rPr>
              <a:t>to </a:t>
            </a:r>
            <a:r>
              <a:rPr lang="en-US" i="1" dirty="0" smtClean="0">
                <a:solidFill>
                  <a:srgbClr val="000000"/>
                </a:solidFill>
                <a:latin typeface="Times-Roman"/>
              </a:rPr>
              <a:t>be</a:t>
            </a:r>
            <a:r>
              <a:rPr lang="en-US" dirty="0" smtClean="0">
                <a:solidFill>
                  <a:srgbClr val="000000"/>
                </a:solidFill>
                <a:latin typeface="TimesNewRomanPSMT"/>
              </a:rPr>
              <a:t>).</a:t>
            </a:r>
          </a:p>
          <a:p>
            <a:pPr marL="118872" indent="0">
              <a:buNone/>
            </a:pPr>
            <a:endParaRPr lang="en-US" dirty="0">
              <a:solidFill>
                <a:srgbClr val="000000"/>
              </a:solidFill>
              <a:latin typeface="TimesNewRomanPSMT"/>
            </a:endParaRPr>
          </a:p>
          <a:p>
            <a:r>
              <a:rPr lang="en-US" dirty="0" smtClean="0"/>
              <a:t>The verbs of </a:t>
            </a:r>
            <a:r>
              <a:rPr lang="en-US" i="1" dirty="0" smtClean="0"/>
              <a:t>being</a:t>
            </a:r>
            <a:r>
              <a:rPr lang="en-US" dirty="0" smtClean="0"/>
              <a:t> need more attention. We use them but are often not conscious of them as verbs.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2757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be</a:t>
            </a:r>
            <a:endParaRPr lang="en-US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511906770"/>
              </p:ext>
            </p:extLst>
          </p:nvPr>
        </p:nvGraphicFramePr>
        <p:xfrm>
          <a:off x="398081" y="1497669"/>
          <a:ext cx="8101409" cy="5156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350"/>
                <a:gridCol w="1541259"/>
                <a:gridCol w="2057400"/>
                <a:gridCol w="2057400"/>
              </a:tblGrid>
              <a:tr h="1400941">
                <a:tc>
                  <a:txBody>
                    <a:bodyPr/>
                    <a:lstStyle/>
                    <a:p>
                      <a:r>
                        <a:rPr lang="en-US" sz="2000" b="1" baseline="0" dirty="0" smtClean="0">
                          <a:solidFill>
                            <a:srgbClr val="000000"/>
                          </a:solidFill>
                          <a:latin typeface="Times-Roman"/>
                        </a:rPr>
                        <a:t>Subject</a:t>
                      </a:r>
                      <a:endParaRPr lang="en-US" sz="20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baseline="0" dirty="0" smtClean="0">
                          <a:solidFill>
                            <a:srgbClr val="000000"/>
                          </a:solidFill>
                          <a:latin typeface="Times-Roman"/>
                        </a:rPr>
                        <a:t>Verb </a:t>
                      </a:r>
                      <a:r>
                        <a:rPr lang="en-US" sz="2000" b="1" i="1" baseline="0" dirty="0" smtClean="0">
                          <a:solidFill>
                            <a:srgbClr val="000000"/>
                          </a:solidFill>
                          <a:latin typeface="Times-Roman"/>
                        </a:rPr>
                        <a:t>to be </a:t>
                      </a:r>
                      <a:r>
                        <a:rPr lang="en-US" sz="2000" b="1" i="0" baseline="0" dirty="0" smtClean="0">
                          <a:solidFill>
                            <a:srgbClr val="000000"/>
                          </a:solidFill>
                          <a:latin typeface="Times-Roman"/>
                        </a:rPr>
                        <a:t>in the past tense</a:t>
                      </a:r>
                      <a:endParaRPr lang="en-US" sz="20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baseline="0" dirty="0" smtClean="0">
                          <a:solidFill>
                            <a:srgbClr val="000000"/>
                          </a:solidFill>
                          <a:latin typeface="Times-Roman"/>
                        </a:rPr>
                        <a:t>Verb </a:t>
                      </a:r>
                      <a:r>
                        <a:rPr lang="en-US" sz="2000" b="1" i="1" baseline="0" dirty="0" smtClean="0">
                          <a:solidFill>
                            <a:srgbClr val="000000"/>
                          </a:solidFill>
                          <a:latin typeface="Times-Roman"/>
                        </a:rPr>
                        <a:t>to be </a:t>
                      </a:r>
                      <a:r>
                        <a:rPr lang="en-US" sz="2000" b="1" i="0" baseline="0" dirty="0" smtClean="0">
                          <a:solidFill>
                            <a:srgbClr val="000000"/>
                          </a:solidFill>
                          <a:latin typeface="Times-Roman"/>
                        </a:rPr>
                        <a:t>in the present tense</a:t>
                      </a:r>
                      <a:endParaRPr lang="en-US" sz="20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baseline="0" dirty="0" smtClean="0">
                          <a:solidFill>
                            <a:srgbClr val="000000"/>
                          </a:solidFill>
                          <a:latin typeface="Times-Roman"/>
                        </a:rPr>
                        <a:t>Verb </a:t>
                      </a:r>
                      <a:r>
                        <a:rPr lang="en-US" sz="2000" b="1" i="1" baseline="0" dirty="0" smtClean="0">
                          <a:solidFill>
                            <a:srgbClr val="000000"/>
                          </a:solidFill>
                          <a:latin typeface="Times-Roman"/>
                        </a:rPr>
                        <a:t>to be </a:t>
                      </a:r>
                      <a:r>
                        <a:rPr lang="en-US" sz="2000" b="1" i="0" baseline="0" dirty="0" smtClean="0">
                          <a:solidFill>
                            <a:srgbClr val="000000"/>
                          </a:solidFill>
                          <a:latin typeface="Times-Roman"/>
                        </a:rPr>
                        <a:t>in the future</a:t>
                      </a:r>
                    </a:p>
                    <a:p>
                      <a:r>
                        <a:rPr lang="en-US" sz="2000" b="1" i="0" baseline="0" dirty="0" smtClean="0">
                          <a:solidFill>
                            <a:srgbClr val="000000"/>
                          </a:solidFill>
                          <a:latin typeface="Times-Roman"/>
                        </a:rPr>
                        <a:t>tense</a:t>
                      </a:r>
                      <a:endParaRPr lang="en-US" sz="2000" baseline="0" dirty="0"/>
                    </a:p>
                  </a:txBody>
                  <a:tcPr/>
                </a:tc>
              </a:tr>
              <a:tr h="3755592">
                <a:tc>
                  <a:txBody>
                    <a:bodyPr/>
                    <a:lstStyle/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I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You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He / She/It 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We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You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They</a:t>
                      </a:r>
                      <a:endParaRPr lang="en-US" sz="3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was 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were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was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 were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 were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 were</a:t>
                      </a:r>
                      <a:endParaRPr lang="en-US" sz="3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am 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are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 is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 are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 are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 are</a:t>
                      </a:r>
                      <a:endParaRPr lang="en-US" sz="4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will be 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will be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will be 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will be 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will be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will be</a:t>
                      </a:r>
                      <a:endParaRPr lang="en-US" sz="4800" baseline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44329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 of verbs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Infinitive form: simplest forms (preceded by </a:t>
            </a:r>
            <a:r>
              <a:rPr lang="en-US" i="1" dirty="0" smtClean="0"/>
              <a:t>to</a:t>
            </a:r>
            <a:r>
              <a:rPr lang="en-US" dirty="0" smtClean="0"/>
              <a:t>) </a:t>
            </a:r>
            <a:r>
              <a:rPr lang="en-US" dirty="0" err="1" smtClean="0"/>
              <a:t>eg</a:t>
            </a:r>
            <a:r>
              <a:rPr lang="en-US" dirty="0" smtClean="0"/>
              <a:t>. </a:t>
            </a:r>
            <a:r>
              <a:rPr lang="en-US" dirty="0"/>
              <a:t>t</a:t>
            </a:r>
            <a:r>
              <a:rPr lang="en-US" dirty="0" smtClean="0"/>
              <a:t>o come, to eat, to sleep, to jump</a:t>
            </a:r>
          </a:p>
          <a:p>
            <a:endParaRPr lang="en-US" dirty="0" smtClean="0"/>
          </a:p>
          <a:p>
            <a:pPr>
              <a:buFont typeface="Wingdings" charset="2"/>
              <a:buChar char="§"/>
            </a:pPr>
            <a:r>
              <a:rPr lang="en-US" dirty="0" smtClean="0"/>
              <a:t>Past tense: expresses past action. </a:t>
            </a:r>
            <a:r>
              <a:rPr lang="en-US" dirty="0" err="1" smtClean="0"/>
              <a:t>Eg</a:t>
            </a:r>
            <a:r>
              <a:rPr lang="en-US" dirty="0" smtClean="0"/>
              <a:t>. </a:t>
            </a:r>
            <a:r>
              <a:rPr lang="en-US" dirty="0"/>
              <a:t>c</a:t>
            </a:r>
            <a:r>
              <a:rPr lang="en-US" dirty="0" smtClean="0"/>
              <a:t>ame, ate, slept, jumped</a:t>
            </a:r>
          </a:p>
          <a:p>
            <a:pPr>
              <a:buFont typeface="Wingdings" charset="2"/>
              <a:buChar char="§"/>
            </a:pPr>
            <a:endParaRPr lang="en-US" dirty="0" smtClean="0"/>
          </a:p>
          <a:p>
            <a:pPr>
              <a:buFont typeface="Wingdings" charset="2"/>
              <a:buChar char="§"/>
            </a:pPr>
            <a:r>
              <a:rPr lang="en-US" dirty="0" smtClean="0"/>
              <a:t>Present tense: present action. </a:t>
            </a:r>
            <a:r>
              <a:rPr lang="en-US" dirty="0" err="1" smtClean="0"/>
              <a:t>Eg</a:t>
            </a:r>
            <a:r>
              <a:rPr lang="en-US" dirty="0" smtClean="0"/>
              <a:t>. </a:t>
            </a:r>
            <a:r>
              <a:rPr lang="en-US" dirty="0"/>
              <a:t>c</a:t>
            </a:r>
            <a:r>
              <a:rPr lang="en-US" dirty="0" smtClean="0"/>
              <a:t>omes, eats, sleeps, jumps</a:t>
            </a:r>
          </a:p>
          <a:p>
            <a:pPr>
              <a:buFont typeface="Wingdings" charset="2"/>
              <a:buChar char="§"/>
            </a:pPr>
            <a:endParaRPr lang="en-US" dirty="0" smtClean="0"/>
          </a:p>
          <a:p>
            <a:pPr>
              <a:buFont typeface="Wingdings" charset="2"/>
              <a:buChar char="§"/>
            </a:pPr>
            <a:r>
              <a:rPr lang="en-US" dirty="0" smtClean="0"/>
              <a:t>Future: future action. </a:t>
            </a:r>
            <a:r>
              <a:rPr lang="en-US" dirty="0" err="1" smtClean="0"/>
              <a:t>Eg</a:t>
            </a:r>
            <a:r>
              <a:rPr lang="en-US" dirty="0" smtClean="0"/>
              <a:t>. Will come, will eat, will sleep, will jump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41474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Transitive/intransitive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>
                <a:solidFill>
                  <a:srgbClr val="000000"/>
                </a:solidFill>
                <a:latin typeface="Times-Roman"/>
              </a:rPr>
              <a:t>Transitive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verbs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: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can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take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indirect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objects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 (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give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,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buy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,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sell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)</a:t>
            </a:r>
          </a:p>
          <a:p>
            <a:pPr marL="118872" indent="0">
              <a:buNone/>
            </a:pPr>
            <a:r>
              <a:rPr lang="en-US" dirty="0" smtClean="0">
                <a:solidFill>
                  <a:srgbClr val="000000"/>
                </a:solidFill>
                <a:latin typeface="Times-Roman"/>
              </a:rPr>
              <a:t>E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g.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Zinzin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bought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Dondon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 a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book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.</a:t>
            </a:r>
          </a:p>
          <a:p>
            <a:endParaRPr lang="de-DE" dirty="0">
              <a:solidFill>
                <a:srgbClr val="000000"/>
              </a:solidFill>
              <a:latin typeface="Times-Roman"/>
            </a:endParaRPr>
          </a:p>
          <a:p>
            <a:r>
              <a:rPr lang="de-DE" dirty="0" smtClean="0">
                <a:solidFill>
                  <a:srgbClr val="000000"/>
                </a:solidFill>
                <a:latin typeface="Times-Roman"/>
              </a:rPr>
              <a:t>Intransitive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verbs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: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cannot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take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indirect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objects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 (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eat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, jump,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sleep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)</a:t>
            </a:r>
          </a:p>
          <a:p>
            <a:pPr marL="118872" indent="0">
              <a:buNone/>
            </a:pPr>
            <a:r>
              <a:rPr lang="en-US" dirty="0" smtClean="0">
                <a:solidFill>
                  <a:srgbClr val="000000"/>
                </a:solidFill>
                <a:latin typeface="Times-Roman"/>
              </a:rPr>
              <a:t>E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g.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Dondon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 </a:t>
            </a:r>
            <a:r>
              <a:rPr lang="de-DE" dirty="0" err="1" smtClean="0">
                <a:solidFill>
                  <a:srgbClr val="000000"/>
                </a:solidFill>
                <a:latin typeface="Times-Roman"/>
              </a:rPr>
              <a:t>jumps</a:t>
            </a:r>
            <a:r>
              <a:rPr lang="de-DE" dirty="0" smtClean="0">
                <a:solidFill>
                  <a:srgbClr val="000000"/>
                </a:solidFill>
                <a:latin typeface="Times-Roman"/>
              </a:rPr>
              <a:t>.</a:t>
            </a:r>
          </a:p>
          <a:p>
            <a:endParaRPr lang="de-DE" dirty="0">
              <a:solidFill>
                <a:srgbClr val="000000"/>
              </a:solidFill>
              <a:latin typeface="Times-Roman"/>
            </a:endParaRPr>
          </a:p>
          <a:p>
            <a:pPr marL="118872" indent="0">
              <a:buNone/>
            </a:pPr>
            <a:endParaRPr lang="de-DE" dirty="0" smtClean="0">
              <a:solidFill>
                <a:srgbClr val="000000"/>
              </a:solidFill>
              <a:latin typeface="Times-Roman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6662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Active/Passive sentences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Active: subjects of verbs perform the actions. </a:t>
            </a:r>
          </a:p>
          <a:p>
            <a:pPr marL="118872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</a:t>
            </a:r>
            <a:r>
              <a:rPr lang="en-US" dirty="0" err="1" smtClean="0"/>
              <a:t>Zinzin</a:t>
            </a:r>
            <a:r>
              <a:rPr lang="en-US" dirty="0" smtClean="0"/>
              <a:t> eats </a:t>
            </a:r>
            <a:r>
              <a:rPr lang="en-US" dirty="0" err="1" smtClean="0"/>
              <a:t>pawpaws</a:t>
            </a:r>
            <a:r>
              <a:rPr lang="en-US" dirty="0" smtClean="0"/>
              <a:t>.</a:t>
            </a:r>
          </a:p>
          <a:p>
            <a:pPr marL="118872" indent="0">
              <a:buNone/>
            </a:pPr>
            <a:r>
              <a:rPr lang="en-US" dirty="0"/>
              <a:t> </a:t>
            </a:r>
            <a:r>
              <a:rPr lang="en-US" dirty="0" smtClean="0"/>
              <a:t>       Sophie writes the poems.</a:t>
            </a:r>
          </a:p>
          <a:p>
            <a:pPr marL="118872" indent="0">
              <a:buNone/>
            </a:pPr>
            <a:endParaRPr lang="en-US" dirty="0" smtClean="0"/>
          </a:p>
          <a:p>
            <a:pPr>
              <a:buFont typeface="Wingdings" charset="2"/>
              <a:buChar char="§"/>
            </a:pPr>
            <a:r>
              <a:rPr lang="en-US" dirty="0" smtClean="0"/>
              <a:t>Passive: subjects (grammatical) do not necessarily do the actions.</a:t>
            </a:r>
          </a:p>
          <a:p>
            <a:pPr marL="118872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</a:t>
            </a:r>
            <a:r>
              <a:rPr lang="en-US" dirty="0" err="1" smtClean="0"/>
              <a:t>Pawpaws</a:t>
            </a:r>
            <a:r>
              <a:rPr lang="en-US" dirty="0" smtClean="0"/>
              <a:t> were eaten by </a:t>
            </a:r>
            <a:r>
              <a:rPr lang="en-US" dirty="0" err="1" smtClean="0"/>
              <a:t>Zinzin</a:t>
            </a:r>
            <a:r>
              <a:rPr lang="en-US" dirty="0" smtClean="0"/>
              <a:t>.</a:t>
            </a:r>
          </a:p>
          <a:p>
            <a:pPr marL="118872" indent="0">
              <a:buNone/>
            </a:pPr>
            <a:r>
              <a:rPr lang="en-US" dirty="0"/>
              <a:t> </a:t>
            </a:r>
            <a:r>
              <a:rPr lang="en-US" dirty="0" smtClean="0"/>
              <a:t>       The poems were written by Sophie.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5236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8872" indent="0">
              <a:buNone/>
            </a:pPr>
            <a:r>
              <a:rPr lang="en-US" dirty="0" smtClean="0"/>
              <a:t>Change the following to passives:</a:t>
            </a:r>
          </a:p>
          <a:p>
            <a:pPr marL="118872" indent="0">
              <a:buNone/>
            </a:pPr>
            <a:endParaRPr lang="en-US" dirty="0"/>
          </a:p>
          <a:p>
            <a:pPr marL="633222" indent="-514350">
              <a:buAutoNum type="alphaLcPeriod"/>
            </a:pPr>
            <a:r>
              <a:rPr lang="en-US" dirty="0" smtClean="0"/>
              <a:t>Kofi says “we shall overcome”.</a:t>
            </a:r>
          </a:p>
          <a:p>
            <a:pPr marL="633222" indent="-514350">
              <a:buAutoNum type="alphaLcPeriod"/>
            </a:pPr>
            <a:r>
              <a:rPr lang="en-US" dirty="0" err="1" smtClean="0"/>
              <a:t>Zinzin</a:t>
            </a:r>
            <a:r>
              <a:rPr lang="en-US" dirty="0" smtClean="0"/>
              <a:t> ate the pawpaw.</a:t>
            </a:r>
          </a:p>
          <a:p>
            <a:pPr marL="633222" indent="-514350">
              <a:buAutoNum type="alphaLcPeriod"/>
            </a:pPr>
            <a:endParaRPr lang="en-US" dirty="0"/>
          </a:p>
          <a:p>
            <a:pPr marL="118872" indent="0">
              <a:buNone/>
            </a:pPr>
            <a:r>
              <a:rPr lang="en-US" dirty="0" smtClean="0"/>
              <a:t>Change the following to active sentences:</a:t>
            </a:r>
          </a:p>
          <a:p>
            <a:pPr marL="118872" indent="0">
              <a:buNone/>
            </a:pPr>
            <a:endParaRPr lang="en-US" dirty="0"/>
          </a:p>
          <a:p>
            <a:pPr marL="633222" indent="-514350">
              <a:buAutoNum type="alphaLcPeriod"/>
            </a:pPr>
            <a:r>
              <a:rPr lang="en-US" dirty="0" smtClean="0"/>
              <a:t>It was Circle that got flooded last year.</a:t>
            </a:r>
            <a:endParaRPr lang="en-US" dirty="0"/>
          </a:p>
          <a:p>
            <a:pPr marL="633222" indent="-514350">
              <a:buAutoNum type="alphaLcPeriod"/>
            </a:pPr>
            <a:r>
              <a:rPr lang="en-US" dirty="0" smtClean="0"/>
              <a:t>Those were the cats the three boys killed.</a:t>
            </a:r>
          </a:p>
        </p:txBody>
      </p:sp>
    </p:spTree>
    <p:extLst>
      <p:ext uri="{BB962C8B-B14F-4D97-AF65-F5344CB8AC3E}">
        <p14:creationId xmlns="" xmlns:p14="http://schemas.microsoft.com/office/powerpoint/2010/main" val="347788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Verb conjugation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 verb changes form to agree with its subject. It can either be </a:t>
            </a:r>
            <a:r>
              <a:rPr lang="en-US" i="1" dirty="0" smtClean="0"/>
              <a:t>singular</a:t>
            </a:r>
            <a:r>
              <a:rPr lang="en-US" dirty="0" smtClean="0"/>
              <a:t> or </a:t>
            </a:r>
            <a:r>
              <a:rPr lang="en-US" i="1" dirty="0" smtClean="0"/>
              <a:t>plural</a:t>
            </a:r>
            <a:r>
              <a:rPr lang="en-US" dirty="0" smtClean="0"/>
              <a:t>. There are 3 forms of singular/plural verbs: 1</a:t>
            </a:r>
            <a:r>
              <a:rPr lang="en-US" baseline="30000" dirty="0" smtClean="0"/>
              <a:t>st</a:t>
            </a:r>
            <a:r>
              <a:rPr lang="en-US" dirty="0" smtClean="0"/>
              <a:t>, 2</a:t>
            </a:r>
            <a:r>
              <a:rPr lang="en-US" baseline="30000" dirty="0" smtClean="0"/>
              <a:t>nd</a:t>
            </a:r>
            <a:r>
              <a:rPr lang="en-US" dirty="0" smtClean="0"/>
              <a:t>, 3</a:t>
            </a:r>
            <a:r>
              <a:rPr lang="en-US" baseline="30000" dirty="0" smtClean="0"/>
              <a:t>rd</a:t>
            </a:r>
            <a:r>
              <a:rPr lang="en-US" dirty="0" smtClean="0"/>
              <a:t> persons: </a:t>
            </a:r>
          </a:p>
          <a:p>
            <a:endParaRPr lang="en-US" dirty="0" smtClean="0"/>
          </a:p>
          <a:p>
            <a:pPr marL="118872" indent="0">
              <a:buNone/>
            </a:pPr>
            <a:r>
              <a:rPr lang="en-US" dirty="0" smtClean="0"/>
              <a:t>Everyday I come.                1</a:t>
            </a:r>
            <a:r>
              <a:rPr lang="en-US" baseline="30000" dirty="0" smtClean="0"/>
              <a:t>st</a:t>
            </a:r>
            <a:r>
              <a:rPr lang="en-US" dirty="0" smtClean="0"/>
              <a:t> Singular </a:t>
            </a:r>
          </a:p>
          <a:p>
            <a:pPr marL="118872" indent="0">
              <a:buNone/>
            </a:pPr>
            <a:r>
              <a:rPr lang="en-US" dirty="0" smtClean="0"/>
              <a:t>Everyday you come.         2</a:t>
            </a:r>
            <a:r>
              <a:rPr lang="en-US" baseline="30000" dirty="0" smtClean="0"/>
              <a:t>nd</a:t>
            </a:r>
            <a:r>
              <a:rPr lang="en-US" dirty="0" smtClean="0"/>
              <a:t> Singular </a:t>
            </a:r>
          </a:p>
          <a:p>
            <a:pPr marL="118872" indent="0">
              <a:buNone/>
            </a:pPr>
            <a:r>
              <a:rPr lang="en-US" dirty="0" smtClean="0"/>
              <a:t>Everyday she comes.        3</a:t>
            </a:r>
            <a:r>
              <a:rPr lang="en-US" baseline="30000" dirty="0" smtClean="0"/>
              <a:t>rd</a:t>
            </a:r>
            <a:r>
              <a:rPr lang="en-US" dirty="0"/>
              <a:t> S</a:t>
            </a:r>
            <a:r>
              <a:rPr lang="en-US" dirty="0" smtClean="0"/>
              <a:t>ingular</a:t>
            </a:r>
          </a:p>
          <a:p>
            <a:pPr marL="118872" indent="0">
              <a:buNone/>
            </a:pPr>
            <a:r>
              <a:rPr lang="en-US" dirty="0" smtClean="0"/>
              <a:t>Everyday we come .          1</a:t>
            </a:r>
            <a:r>
              <a:rPr lang="en-US" baseline="30000" dirty="0" smtClean="0"/>
              <a:t>st</a:t>
            </a:r>
            <a:r>
              <a:rPr lang="en-US" dirty="0" smtClean="0"/>
              <a:t> Plural</a:t>
            </a:r>
          </a:p>
          <a:p>
            <a:pPr marL="118872" indent="0">
              <a:buNone/>
            </a:pPr>
            <a:r>
              <a:rPr lang="en-US" dirty="0" smtClean="0"/>
              <a:t>Everyday you come.         2</a:t>
            </a:r>
            <a:r>
              <a:rPr lang="en-US" baseline="30000" dirty="0" smtClean="0"/>
              <a:t>nd</a:t>
            </a:r>
            <a:r>
              <a:rPr lang="en-US" dirty="0" smtClean="0"/>
              <a:t> Plural</a:t>
            </a:r>
          </a:p>
          <a:p>
            <a:pPr marL="118872" indent="0">
              <a:buNone/>
            </a:pPr>
            <a:r>
              <a:rPr lang="en-US" dirty="0" smtClean="0"/>
              <a:t>Everyday they come.        3</a:t>
            </a:r>
            <a:r>
              <a:rPr lang="en-US" baseline="30000" dirty="0" smtClean="0"/>
              <a:t>rd</a:t>
            </a:r>
            <a:r>
              <a:rPr lang="en-US" dirty="0" smtClean="0"/>
              <a:t> Plural</a:t>
            </a:r>
          </a:p>
          <a:p>
            <a:pPr marL="118872" indent="0">
              <a:buNone/>
            </a:pPr>
            <a:endParaRPr lang="en-US" dirty="0" smtClean="0"/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5793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Participles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Are formed from verbs and can be present (…</a:t>
            </a:r>
            <a:r>
              <a:rPr lang="en-US" dirty="0" err="1" smtClean="0"/>
              <a:t>ing</a:t>
            </a:r>
            <a:r>
              <a:rPr lang="en-US" dirty="0" smtClean="0"/>
              <a:t>) or past (…</a:t>
            </a:r>
            <a:r>
              <a:rPr lang="en-US" dirty="0" err="1" smtClean="0"/>
              <a:t>ed</a:t>
            </a:r>
            <a:r>
              <a:rPr lang="en-US" dirty="0" smtClean="0"/>
              <a:t>, en, </a:t>
            </a:r>
            <a:r>
              <a:rPr lang="en-US" dirty="0" err="1" smtClean="0"/>
              <a:t>etc</a:t>
            </a:r>
            <a:r>
              <a:rPr lang="en-US" dirty="0" smtClean="0"/>
              <a:t>).</a:t>
            </a:r>
          </a:p>
          <a:p>
            <a:pPr marL="118872" indent="0"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16508850"/>
              </p:ext>
            </p:extLst>
          </p:nvPr>
        </p:nvGraphicFramePr>
        <p:xfrm>
          <a:off x="457200" y="3088151"/>
          <a:ext cx="8281611" cy="3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3387224"/>
                <a:gridCol w="2862387"/>
              </a:tblGrid>
              <a:tr h="1082160">
                <a:tc>
                  <a:txBody>
                    <a:bodyPr/>
                    <a:lstStyle/>
                    <a:p>
                      <a:r>
                        <a:rPr lang="en-US" sz="3200" baseline="0" dirty="0" smtClean="0"/>
                        <a:t>Verb </a:t>
                      </a:r>
                      <a:endParaRPr lang="en-US" sz="3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aseline="0" dirty="0" smtClean="0"/>
                        <a:t>Present participle</a:t>
                      </a:r>
                      <a:endParaRPr lang="en-US" sz="3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aseline="0" dirty="0" smtClean="0"/>
                        <a:t>Past participle</a:t>
                      </a:r>
                      <a:endParaRPr lang="en-US" sz="3200" baseline="0" dirty="0"/>
                    </a:p>
                  </a:txBody>
                  <a:tcPr/>
                </a:tc>
              </a:tr>
              <a:tr h="2260608">
                <a:tc>
                  <a:txBody>
                    <a:bodyPr/>
                    <a:lstStyle/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T</a:t>
                      </a:r>
                      <a:r>
                        <a:rPr lang="en-GB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o jump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T</a:t>
                      </a:r>
                      <a:r>
                        <a:rPr lang="en-GB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o fly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T</a:t>
                      </a:r>
                      <a:r>
                        <a:rPr lang="en-GB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o be</a:t>
                      </a:r>
                    </a:p>
                    <a:p>
                      <a:r>
                        <a:rPr lang="en-US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T</a:t>
                      </a:r>
                      <a:r>
                        <a:rPr lang="en-GB" sz="3200" baseline="0" dirty="0" smtClean="0">
                          <a:solidFill>
                            <a:srgbClr val="000000"/>
                          </a:solidFill>
                          <a:latin typeface="TimesNewRomanPSMT"/>
                        </a:rPr>
                        <a:t>o go</a:t>
                      </a:r>
                    </a:p>
                    <a:p>
                      <a:endParaRPr lang="en-US" sz="3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aseline="0" dirty="0" smtClean="0"/>
                        <a:t>Jumping</a:t>
                      </a:r>
                    </a:p>
                    <a:p>
                      <a:r>
                        <a:rPr lang="en-US" sz="3200" baseline="0" dirty="0" smtClean="0"/>
                        <a:t>Flying</a:t>
                      </a:r>
                    </a:p>
                    <a:p>
                      <a:r>
                        <a:rPr lang="en-US" sz="3200" baseline="0" dirty="0" smtClean="0"/>
                        <a:t>Being</a:t>
                      </a:r>
                    </a:p>
                    <a:p>
                      <a:r>
                        <a:rPr lang="en-US" sz="3200" baseline="0" dirty="0" smtClean="0"/>
                        <a:t>Going </a:t>
                      </a:r>
                      <a:endParaRPr lang="en-US" sz="3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aseline="0" dirty="0" smtClean="0"/>
                        <a:t>Jumped</a:t>
                      </a:r>
                    </a:p>
                    <a:p>
                      <a:r>
                        <a:rPr lang="en-US" sz="3200" baseline="0" dirty="0" smtClean="0"/>
                        <a:t>Flew</a:t>
                      </a:r>
                    </a:p>
                    <a:p>
                      <a:r>
                        <a:rPr lang="en-US" sz="3200" baseline="0" dirty="0" smtClean="0"/>
                        <a:t>Been</a:t>
                      </a:r>
                    </a:p>
                    <a:p>
                      <a:r>
                        <a:rPr lang="en-US" sz="3200" baseline="0" dirty="0" smtClean="0"/>
                        <a:t>Gone</a:t>
                      </a:r>
                    </a:p>
                    <a:p>
                      <a:endParaRPr lang="en-US" sz="3200" baseline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66464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118872" indent="0" algn="ctr">
              <a:buNone/>
            </a:pPr>
            <a:endParaRPr lang="en-US" dirty="0" smtClean="0"/>
          </a:p>
          <a:p>
            <a:pPr marL="118872" indent="0" algn="ctr">
              <a:buNone/>
            </a:pPr>
            <a:endParaRPr lang="en-US" dirty="0"/>
          </a:p>
          <a:p>
            <a:pPr marL="118872" indent="0" algn="ctr">
              <a:buNone/>
            </a:pPr>
            <a:endParaRPr lang="en-US" dirty="0" smtClean="0"/>
          </a:p>
          <a:p>
            <a:pPr marL="118872" indent="0" algn="ctr">
              <a:buNone/>
            </a:pPr>
            <a:endParaRPr lang="en-US" dirty="0"/>
          </a:p>
          <a:p>
            <a:pPr marL="118872" indent="0" algn="ctr">
              <a:buNone/>
            </a:pPr>
            <a:r>
              <a:rPr lang="en-US" sz="178400" b="1" dirty="0" smtClean="0">
                <a:solidFill>
                  <a:srgbClr val="FF0000"/>
                </a:solidFill>
              </a:rPr>
              <a:t>?</a:t>
            </a:r>
            <a:endParaRPr lang="en-US" sz="178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8960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ＭＳ ゴシック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ＭＳ ゴシック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Module.thmx</Template>
  <TotalTime>627</TotalTime>
  <Words>747</Words>
  <Application>Microsoft Office PowerPoint</Application>
  <PresentationFormat>On-screen Show (4:3)</PresentationFormat>
  <Paragraphs>187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Module</vt:lpstr>
      <vt:lpstr>ENGL 101      </vt:lpstr>
      <vt:lpstr>Revision of the last lecture</vt:lpstr>
      <vt:lpstr>PRONOUNS</vt:lpstr>
      <vt:lpstr>Types </vt:lpstr>
      <vt:lpstr>Personal pronouns</vt:lpstr>
      <vt:lpstr>Possessive,  Reflexives, Relatives</vt:lpstr>
      <vt:lpstr>Exercise</vt:lpstr>
      <vt:lpstr>VERBS</vt:lpstr>
      <vt:lpstr>be</vt:lpstr>
      <vt:lpstr>Forms of verbs</vt:lpstr>
      <vt:lpstr>Transitive/intransitive</vt:lpstr>
      <vt:lpstr>Active/Passive sentences</vt:lpstr>
      <vt:lpstr>Exercise </vt:lpstr>
      <vt:lpstr>Verb conjugation</vt:lpstr>
      <vt:lpstr>Participles </vt:lpstr>
      <vt:lpstr>Questions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BBA015: COMMUNICATION SKILLS    LECTURER: GABRIEL EDZORDZI AGBOZO MPhil, (NTNU-Norway)    </dc:title>
  <dc:creator>POD</dc:creator>
  <cp:lastModifiedBy>ARABA</cp:lastModifiedBy>
  <cp:revision>39</cp:revision>
  <dcterms:created xsi:type="dcterms:W3CDTF">2016-02-04T21:27:33Z</dcterms:created>
  <dcterms:modified xsi:type="dcterms:W3CDTF">2016-10-01T12:08:10Z</dcterms:modified>
</cp:coreProperties>
</file>
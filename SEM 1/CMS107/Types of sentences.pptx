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351" r:id="rId2"/>
    <p:sldId id="353" r:id="rId3"/>
    <p:sldId id="264" r:id="rId4"/>
    <p:sldId id="334" r:id="rId5"/>
    <p:sldId id="315" r:id="rId6"/>
    <p:sldId id="316" r:id="rId7"/>
    <p:sldId id="321" r:id="rId8"/>
    <p:sldId id="323" r:id="rId9"/>
    <p:sldId id="319" r:id="rId10"/>
    <p:sldId id="330" r:id="rId11"/>
    <p:sldId id="341" r:id="rId12"/>
    <p:sldId id="317" r:id="rId13"/>
    <p:sldId id="342" r:id="rId14"/>
    <p:sldId id="340" r:id="rId15"/>
    <p:sldId id="328" r:id="rId16"/>
    <p:sldId id="344" r:id="rId17"/>
    <p:sldId id="331" r:id="rId18"/>
    <p:sldId id="348" r:id="rId19"/>
    <p:sldId id="35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EDD69-02A8-4B50-9B75-04E914B09E33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7D897-5C18-4DD9-A3F8-F3C339B46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3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F9BA-DE36-4F4D-9BAE-2FE6661B315B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195ACED6-102B-4F82-950E-3DB225B66D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F9BA-DE36-4F4D-9BAE-2FE6661B315B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195ACED6-102B-4F82-950E-3DB225B66D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F9BA-DE36-4F4D-9BAE-2FE6661B315B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CED6-102B-4F82-950E-3DB225B66D0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F9BA-DE36-4F4D-9BAE-2FE6661B315B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CED6-102B-4F82-950E-3DB225B66D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F9BA-DE36-4F4D-9BAE-2FE6661B315B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195ACED6-102B-4F82-950E-3DB225B66D0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F9BA-DE36-4F4D-9BAE-2FE6661B315B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CED6-102B-4F82-950E-3DB225B66D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F9BA-DE36-4F4D-9BAE-2FE6661B315B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CED6-102B-4F82-950E-3DB225B66D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F9BA-DE36-4F4D-9BAE-2FE6661B315B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CED6-102B-4F82-950E-3DB225B66D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F9BA-DE36-4F4D-9BAE-2FE6661B315B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CED6-102B-4F82-950E-3DB225B66D0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F9BA-DE36-4F4D-9BAE-2FE6661B315B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CED6-102B-4F82-950E-3DB225B66D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8F9BA-DE36-4F4D-9BAE-2FE6661B315B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ACED6-102B-4F82-950E-3DB225B66D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4478F9BA-DE36-4F4D-9BAE-2FE6661B315B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195ACED6-102B-4F82-950E-3DB225B66D0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8B50-D41E-3878-B9BB-A8D654E24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D744-43BF-38DD-C51F-F168D363E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5">
                    <a:lumMod val="50000"/>
                  </a:schemeClr>
                </a:solidFill>
                <a:latin typeface="Berlin Sans FB" pitchFamily="34" charset="0"/>
              </a:rPr>
              <a:t>COMMUNICATIVE SKILLS 			(CMS 107)</a:t>
            </a:r>
            <a:endParaRPr lang="en-GH" sz="5400" dirty="0"/>
          </a:p>
          <a:p>
            <a:pPr marL="0" indent="0">
              <a:buNone/>
            </a:pPr>
            <a:r>
              <a:rPr lang="en-US" b="1" dirty="0">
                <a:solidFill>
                  <a:srgbClr val="FE7885"/>
                </a:solidFill>
                <a:latin typeface="Berlin Sans FB" pitchFamily="34" charset="0"/>
              </a:rPr>
              <a:t>TOPIC: TYPES OF SENTENCES (STRUCTURE)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E7885"/>
                </a:solidFill>
                <a:latin typeface="Berlin Sans FB" pitchFamily="34" charset="0"/>
              </a:rPr>
              <a:t>			BY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Berlin Sans FB" pitchFamily="34" charset="0"/>
              </a:rPr>
              <a:t>		ALFRED OKRAH</a:t>
            </a:r>
            <a:endParaRPr lang="en-GH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785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0107-E87A-1B63-1863-2F188671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What is a Sentence?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80728-0108-8824-7A74-F75B589CD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</a:rPr>
              <a:t>A group of words which expresses a complete thought. </a:t>
            </a:r>
          </a:p>
          <a:p>
            <a:pPr>
              <a:buFont typeface="Wingdings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</a:rPr>
              <a:t> Completeness of a sentence means the following: 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dirty="0"/>
              <a:t>There should be subject and predicate.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dirty="0"/>
              <a:t>There should be agreement between the subject and predicate. 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dirty="0"/>
              <a:t>When written, the sentence should begin with a capital letter and end with an end mark such as the full-stop (period), question mark, or exclamation mark. 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871172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90DB-D2C4-7D9B-AD14-4C70FC33F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070C0"/>
                </a:solidFill>
              </a:rPr>
              <a:t>STRUCTURAL TYPE OF SENTENCES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83379-0134-8F8F-23F7-E7911819B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 Simple sentence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Compound sentence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Complex sentence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Compound-complex sentence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239315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types of sentences</a:t>
            </a:r>
          </a:p>
        </p:txBody>
      </p:sp>
      <p:pic>
        <p:nvPicPr>
          <p:cNvPr id="3074" name="Picture 2" descr="Lesson 4: Types of Sentences | Completing the Four Level Analysi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76400"/>
            <a:ext cx="85344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650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Simple SENTENCES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A simple sentence is the one with one independent clause.  It contains only one idea, has a single clause with no dependent clause. It requires a subject and a verb.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The players arrived.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Aba danced beautifully.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Jesus wept.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Martin is a rich man.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James </a:t>
            </a:r>
            <a:r>
              <a:rPr lang="en-US" u="sng" dirty="0"/>
              <a:t>throws</a:t>
            </a:r>
            <a:r>
              <a:rPr lang="en-US" dirty="0"/>
              <a:t> the ball.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James </a:t>
            </a:r>
            <a:r>
              <a:rPr lang="en-US" u="sng" dirty="0"/>
              <a:t>looks</a:t>
            </a:r>
            <a:r>
              <a:rPr lang="en-US" dirty="0"/>
              <a:t> well.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James </a:t>
            </a:r>
            <a:r>
              <a:rPr lang="en-US" u="sng" dirty="0"/>
              <a:t>takes</a:t>
            </a:r>
            <a:r>
              <a:rPr lang="en-US" dirty="0"/>
              <a:t> his bath.</a:t>
            </a:r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595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Compound SENTENCES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515143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COMPOUND SENTENCE</a:t>
            </a:r>
            <a:r>
              <a:rPr lang="en-US" dirty="0"/>
              <a:t>.</a:t>
            </a:r>
            <a:r>
              <a:rPr lang="en-US" b="1" dirty="0"/>
              <a:t> It </a:t>
            </a:r>
            <a:r>
              <a:rPr lang="en-US" dirty="0"/>
              <a:t>is a sentence which consists of two independent clauses connected by a coordinating conjunction or when the two independent clauses are separated by a semi-colon.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/>
              <a:t>Example</a:t>
            </a: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I apologized to her, </a:t>
            </a:r>
            <a:r>
              <a:rPr lang="en-US" b="1" dirty="0"/>
              <a:t>but</a:t>
            </a:r>
            <a:r>
              <a:rPr lang="en-US" dirty="0"/>
              <a:t> she did not forgive me.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Diana sings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dirty="0" err="1"/>
              <a:t>Esi</a:t>
            </a:r>
            <a:r>
              <a:rPr lang="en-US" dirty="0"/>
              <a:t> plays the piano.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err="1"/>
              <a:t>Adu</a:t>
            </a:r>
            <a:r>
              <a:rPr lang="en-US" dirty="0"/>
              <a:t> ran fast </a:t>
            </a:r>
            <a:r>
              <a:rPr lang="en-US" b="1" dirty="0"/>
              <a:t>but</a:t>
            </a:r>
            <a:r>
              <a:rPr lang="en-US" dirty="0"/>
              <a:t> he missed the train.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13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COORDINATION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953000"/>
          </a:xfrm>
        </p:spPr>
        <p:txBody>
          <a:bodyPr>
            <a:noAutofit/>
          </a:bodyPr>
          <a:lstStyle/>
          <a:p>
            <a:r>
              <a:rPr lang="en-US" sz="2800" dirty="0"/>
              <a:t>The process of joining two independent sentences into one sentence by using a coordinator is called </a:t>
            </a:r>
            <a:r>
              <a:rPr lang="en-US" sz="2800" b="1" dirty="0">
                <a:solidFill>
                  <a:schemeClr val="accent3"/>
                </a:solidFill>
              </a:rPr>
              <a:t>Coordination</a:t>
            </a:r>
            <a:r>
              <a:rPr lang="en-US" sz="2800" dirty="0"/>
              <a:t>. In coordination, the status of the sentences is not reduced when they are combined. In other words, when they are combined, they still remain independent clauses.</a:t>
            </a:r>
          </a:p>
          <a:p>
            <a:r>
              <a:rPr lang="en-US" sz="2800" dirty="0"/>
              <a:t>Meaning that a compound sentence is formed when two or more simple sentences are joined or coordinated together.  </a:t>
            </a:r>
          </a:p>
          <a:p>
            <a:r>
              <a:rPr lang="en-US" sz="2800" dirty="0"/>
              <a:t>Coordination, therefore, consists of constituents of equal elements</a:t>
            </a:r>
            <a:r>
              <a:rPr lang="en-US" sz="2000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650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COORDINATION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In English, we can have up to </a:t>
            </a:r>
            <a:r>
              <a:rPr lang="en-US" b="1" dirty="0"/>
              <a:t>seven </a:t>
            </a:r>
            <a:r>
              <a:rPr lang="en-US" dirty="0"/>
              <a:t>(7) coordinating conjunctions; </a:t>
            </a:r>
            <a:r>
              <a:rPr lang="en-US" b="1" i="1" dirty="0"/>
              <a:t>for, and</a:t>
            </a:r>
            <a:r>
              <a:rPr lang="en-US" dirty="0"/>
              <a:t>, </a:t>
            </a:r>
            <a:r>
              <a:rPr lang="en-US" b="1" i="1" dirty="0"/>
              <a:t>nor</a:t>
            </a:r>
            <a:r>
              <a:rPr lang="en-US" dirty="0"/>
              <a:t>, </a:t>
            </a:r>
            <a:r>
              <a:rPr lang="en-US" b="1" i="1" dirty="0"/>
              <a:t>but, or, yet, </a:t>
            </a:r>
            <a:r>
              <a:rPr lang="en-US" dirty="0"/>
              <a:t>and </a:t>
            </a:r>
            <a:r>
              <a:rPr lang="en-US" b="1" i="1" dirty="0"/>
              <a:t>so</a:t>
            </a:r>
            <a:r>
              <a:rPr lang="en-US" i="1" dirty="0"/>
              <a:t>. </a:t>
            </a:r>
            <a:r>
              <a:rPr lang="en-US" dirty="0"/>
              <a:t>These coordinators are always placed between</a:t>
            </a:r>
            <a:r>
              <a:rPr lang="en-US" b="1" dirty="0"/>
              <a:t> </a:t>
            </a:r>
            <a:r>
              <a:rPr lang="en-US" dirty="0"/>
              <a:t>the clauses they coordinate.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b="1" dirty="0">
                <a:solidFill>
                  <a:srgbClr val="FF0000"/>
                </a:solidFill>
              </a:rPr>
              <a:t>FANBOYS-For, And, Nor, But, Or, Yet and So</a:t>
            </a:r>
            <a:r>
              <a:rPr lang="en-US" dirty="0">
                <a:solidFill>
                  <a:srgbClr val="FF0000"/>
                </a:solidFill>
              </a:rPr>
              <a:t>).</a:t>
            </a:r>
          </a:p>
          <a:p>
            <a:pPr lvl="1">
              <a:buFont typeface="Wingdings" pitchFamily="2" charset="2"/>
              <a:buChar char="§"/>
            </a:pPr>
            <a:r>
              <a:rPr lang="en-US" sz="3600" dirty="0"/>
              <a:t>The player performs well, </a:t>
            </a:r>
            <a:r>
              <a:rPr lang="en-US" sz="3600" b="1" dirty="0"/>
              <a:t>for</a:t>
            </a:r>
            <a:r>
              <a:rPr lang="en-US" sz="3600" dirty="0"/>
              <a:t> he trains regularly.</a:t>
            </a:r>
          </a:p>
          <a:p>
            <a:pPr lvl="1">
              <a:buFont typeface="Wingdings" pitchFamily="2" charset="2"/>
              <a:buChar char="§"/>
            </a:pPr>
            <a:r>
              <a:rPr lang="en-US" sz="3600" dirty="0"/>
              <a:t>We went to the movies,</a:t>
            </a:r>
            <a:r>
              <a:rPr lang="en-US" sz="3600" b="1" dirty="0"/>
              <a:t> and </a:t>
            </a:r>
            <a:r>
              <a:rPr lang="en-US" sz="3600" dirty="0"/>
              <a:t>we ate potatoes.</a:t>
            </a:r>
          </a:p>
          <a:p>
            <a:pPr lvl="1">
              <a:buFont typeface="Wingdings" pitchFamily="2" charset="2"/>
              <a:buChar char="§"/>
            </a:pPr>
            <a:r>
              <a:rPr lang="en-US" sz="3600" dirty="0"/>
              <a:t>He did not study for the exam, </a:t>
            </a:r>
            <a:r>
              <a:rPr lang="en-US" sz="3600" b="1" dirty="0"/>
              <a:t>nor </a:t>
            </a:r>
            <a:r>
              <a:rPr lang="en-US" sz="3600" dirty="0"/>
              <a:t>did he pass.</a:t>
            </a:r>
          </a:p>
          <a:p>
            <a:pPr lvl="1">
              <a:buFont typeface="Wingdings" pitchFamily="2" charset="2"/>
              <a:buChar char="§"/>
            </a:pPr>
            <a:r>
              <a:rPr lang="en-US" sz="3600" dirty="0"/>
              <a:t>Visiting tourist sites can be very fulfilling, </a:t>
            </a:r>
            <a:r>
              <a:rPr lang="en-US" sz="3600" b="1" dirty="0"/>
              <a:t>but</a:t>
            </a:r>
            <a:r>
              <a:rPr lang="en-US" sz="3600" dirty="0"/>
              <a:t> it can be expensive.</a:t>
            </a:r>
          </a:p>
          <a:p>
            <a:r>
              <a:rPr lang="en-US" dirty="0">
                <a:solidFill>
                  <a:srgbClr val="FF0000"/>
                </a:solidFill>
              </a:rPr>
              <a:t>NB: Remember to bring a comma before the coordinator.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01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COORDINATION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839200" cy="49990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My </a:t>
            </a:r>
            <a:r>
              <a:rPr lang="en-US" dirty="0" err="1"/>
              <a:t>favourite</a:t>
            </a:r>
            <a:r>
              <a:rPr lang="en-US" dirty="0"/>
              <a:t> shirt is worn out, </a:t>
            </a:r>
            <a:r>
              <a:rPr lang="en-US" b="1" dirty="0">
                <a:solidFill>
                  <a:srgbClr val="FF0000"/>
                </a:solidFill>
              </a:rPr>
              <a:t>but</a:t>
            </a:r>
            <a:r>
              <a:rPr lang="en-US" dirty="0"/>
              <a:t> I don’t want to throw it away.</a:t>
            </a:r>
          </a:p>
          <a:p>
            <a:pPr lvl="0"/>
            <a:r>
              <a:rPr lang="en-US" dirty="0"/>
              <a:t>My mother enrolled in a Spanish class</a:t>
            </a:r>
            <a:r>
              <a:rPr lang="en-US" b="1" dirty="0"/>
              <a:t>,</a:t>
            </a:r>
            <a:r>
              <a:rPr lang="en-US" b="1" dirty="0">
                <a:solidFill>
                  <a:srgbClr val="FF0000"/>
                </a:solidFill>
              </a:rPr>
              <a:t> for </a:t>
            </a:r>
            <a:r>
              <a:rPr lang="en-US" dirty="0"/>
              <a:t>she wanted to visit Spain.</a:t>
            </a:r>
          </a:p>
          <a:p>
            <a:pPr lvl="0"/>
            <a:r>
              <a:rPr lang="en-US" dirty="0"/>
              <a:t>Jennifer is a good student, </a:t>
            </a:r>
            <a:r>
              <a:rPr lang="en-US" b="1" dirty="0">
                <a:solidFill>
                  <a:srgbClr val="FF0000"/>
                </a:solidFill>
              </a:rPr>
              <a:t>so</a:t>
            </a:r>
            <a:r>
              <a:rPr lang="en-US" dirty="0"/>
              <a:t> I gave her an A. </a:t>
            </a:r>
          </a:p>
          <a:p>
            <a:pPr lvl="0"/>
            <a:r>
              <a:rPr lang="en-US" dirty="0"/>
              <a:t>Are you coming with me, </a:t>
            </a:r>
            <a:r>
              <a:rPr lang="en-US" b="1" dirty="0">
                <a:solidFill>
                  <a:srgbClr val="FF0000"/>
                </a:solidFill>
              </a:rPr>
              <a:t>or</a:t>
            </a:r>
            <a:r>
              <a:rPr lang="en-US" dirty="0"/>
              <a:t> are you staying?</a:t>
            </a:r>
          </a:p>
          <a:p>
            <a:r>
              <a:rPr lang="en-US" dirty="0"/>
              <a:t>She is naturally beautiful, </a:t>
            </a:r>
            <a:r>
              <a:rPr lang="en-US" b="1" dirty="0">
                <a:solidFill>
                  <a:srgbClr val="FF0000"/>
                </a:solidFill>
              </a:rPr>
              <a:t> yet 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she always wears heavy makeup. 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/>
              <a:t>She does not love me, </a:t>
            </a:r>
            <a:r>
              <a:rPr lang="en-US" b="1" dirty="0">
                <a:solidFill>
                  <a:srgbClr val="FF0000"/>
                </a:solidFill>
              </a:rPr>
              <a:t>nor</a:t>
            </a:r>
            <a:r>
              <a:rPr lang="en-US" dirty="0"/>
              <a:t> does she want  anybody else to love me. </a:t>
            </a:r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311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Trial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839200" cy="49990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Combine the following sentences into a single sentence by the process or processes indicated in brackets.</a:t>
            </a:r>
          </a:p>
          <a:p>
            <a:pPr lvl="0"/>
            <a:r>
              <a:rPr lang="en-US" dirty="0"/>
              <a:t>He searched through her closet. He was surprised at finding no incriminating evidence. (</a:t>
            </a:r>
            <a:r>
              <a:rPr lang="en-US" dirty="0">
                <a:solidFill>
                  <a:srgbClr val="FF0000"/>
                </a:solidFill>
              </a:rPr>
              <a:t>Coordination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jury heard the case of the rapist. It ordered a new trial. The activists were greatly offended. (</a:t>
            </a:r>
            <a:r>
              <a:rPr lang="en-US" dirty="0">
                <a:solidFill>
                  <a:srgbClr val="FF0000"/>
                </a:solidFill>
              </a:rPr>
              <a:t>Coordination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I had a terrible day. My son broke out in measles at dawn. I missed my class for the second time. (</a:t>
            </a:r>
            <a:r>
              <a:rPr lang="en-US" dirty="0">
                <a:solidFill>
                  <a:srgbClr val="FF0000"/>
                </a:solidFill>
              </a:rPr>
              <a:t>Coordination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47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2DAA-BC56-C723-6818-05EBFEFE5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Subordination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BBCF-6BEF-3AE1-1934-5A1F17716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54161"/>
            <a:ext cx="8686800" cy="5156127"/>
          </a:xfrm>
        </p:spPr>
        <p:txBody>
          <a:bodyPr>
            <a:normAutofit/>
          </a:bodyPr>
          <a:lstStyle/>
          <a:p>
            <a:r>
              <a:rPr lang="en-US" sz="3200" b="1" dirty="0"/>
              <a:t>Subordination</a:t>
            </a:r>
            <a:r>
              <a:rPr lang="en-US" sz="3200" dirty="0"/>
              <a:t> is the process of joining or combining two or more dependent clauses to one or more independent clause(s) in a sentence structure. </a:t>
            </a:r>
          </a:p>
          <a:p>
            <a:pPr marL="0" indent="0">
              <a:buNone/>
            </a:pPr>
            <a:r>
              <a:rPr lang="en-US" sz="3200" dirty="0"/>
              <a:t>. Examples of subordinators include because, since, as, though, when, if, until, since, as soon as, as if, even if, unless, although, even though, hence, therefore, henceforth, because  etc.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4437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COMPLEX SENTENCE 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752600"/>
            <a:ext cx="9143999" cy="4248150"/>
          </a:xfrm>
        </p:spPr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complex sentence </a:t>
            </a:r>
            <a:r>
              <a:rPr lang="en-US" sz="2800" dirty="0"/>
              <a:t>is formed when one main (independent) clause, and at least one subordinate (dependent) clause are joined by a subordinating conjunction(Quirk, 1973). </a:t>
            </a:r>
          </a:p>
          <a:p>
            <a:r>
              <a:rPr lang="en-US" sz="2800" dirty="0"/>
              <a:t>Meaning that a complex sentence consists of one main clause, and one or more subordinate</a:t>
            </a:r>
            <a:r>
              <a:rPr lang="en-US" sz="2800" b="1" dirty="0"/>
              <a:t> </a:t>
            </a:r>
            <a:r>
              <a:rPr lang="en-US" sz="2800" dirty="0"/>
              <a:t>clauses subordinated to it. </a:t>
            </a:r>
          </a:p>
        </p:txBody>
      </p:sp>
    </p:spTree>
    <p:extLst>
      <p:ext uri="{BB962C8B-B14F-4D97-AF65-F5344CB8AC3E}">
        <p14:creationId xmlns:p14="http://schemas.microsoft.com/office/powerpoint/2010/main" val="4276235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complex SENTENCES cont’d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5303838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§"/>
            </a:pPr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If it rains</a:t>
            </a:r>
            <a:r>
              <a:rPr lang="en-US" dirty="0"/>
              <a:t>, I shall stay at home. 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>
                <a:solidFill>
                  <a:srgbClr val="0070C0"/>
                </a:solidFill>
              </a:rPr>
              <a:t>Although she is beautiful</a:t>
            </a:r>
            <a:r>
              <a:rPr lang="en-US" dirty="0"/>
              <a:t>, no one likes her.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When I came home</a:t>
            </a:r>
            <a:r>
              <a:rPr lang="en-US" dirty="0"/>
              <a:t>, Dad was fast asleep.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>
                <a:solidFill>
                  <a:srgbClr val="0070C0"/>
                </a:solidFill>
              </a:rPr>
              <a:t>Wherever she went, </a:t>
            </a:r>
            <a:r>
              <a:rPr lang="en-US" dirty="0"/>
              <a:t>he met her. 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If you go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/>
              <a:t>tell </a:t>
            </a:r>
            <a:r>
              <a:rPr lang="en-US" dirty="0" err="1"/>
              <a:t>Adjoa</a:t>
            </a:r>
            <a:r>
              <a:rPr lang="en-US" dirty="0"/>
              <a:t> to see me.			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Joseph gets a headache w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hen the humidity is high</a:t>
            </a:r>
            <a:r>
              <a:rPr lang="en-US" dirty="0"/>
              <a:t>,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solidFill>
                  <a:srgbClr val="0070C0"/>
                </a:solidFill>
              </a:rPr>
              <a:t>Because </a:t>
            </a:r>
            <a:r>
              <a:rPr lang="en-US" dirty="0" err="1">
                <a:solidFill>
                  <a:srgbClr val="0070C0"/>
                </a:solidFill>
              </a:rPr>
              <a:t>Gifty</a:t>
            </a:r>
            <a:r>
              <a:rPr lang="en-US" dirty="0">
                <a:solidFill>
                  <a:srgbClr val="0070C0"/>
                </a:solidFill>
              </a:rPr>
              <a:t> was hungry</a:t>
            </a:r>
            <a:r>
              <a:rPr lang="en-US" dirty="0"/>
              <a:t>, she  ate the food. 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>
                <a:solidFill>
                  <a:srgbClr val="0070C0"/>
                </a:solidFill>
              </a:rPr>
              <a:t>As soon as I entered the room, </a:t>
            </a:r>
            <a:r>
              <a:rPr lang="en-US" dirty="0"/>
              <a:t>she rushed out.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617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B377-2125-11FA-1614-CA3164AE2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CB252-D99B-61F4-1B06-27C28E132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>
                <a:solidFill>
                  <a:srgbClr val="0070C0"/>
                </a:solidFill>
              </a:rPr>
              <a:t>Although </a:t>
            </a:r>
            <a:r>
              <a:rPr lang="en-US" dirty="0"/>
              <a:t>I understand your point, I do not agree with it.</a:t>
            </a:r>
          </a:p>
          <a:p>
            <a:pPr lvl="0"/>
            <a:r>
              <a:rPr lang="en-US" dirty="0">
                <a:solidFill>
                  <a:srgbClr val="0070C0"/>
                </a:solidFill>
              </a:rPr>
              <a:t>Even though </a:t>
            </a:r>
            <a:r>
              <a:rPr lang="en-US" dirty="0"/>
              <a:t>the Headmaster has made many changes in the school system, more needs to be done.</a:t>
            </a:r>
          </a:p>
          <a:p>
            <a:pPr lvl="0"/>
            <a:r>
              <a:rPr lang="en-US" dirty="0">
                <a:solidFill>
                  <a:srgbClr val="0070C0"/>
                </a:solidFill>
              </a:rPr>
              <a:t>Whenever</a:t>
            </a:r>
            <a:r>
              <a:rPr lang="en-US" dirty="0"/>
              <a:t> Gloria travels, she makes friends instantly.</a:t>
            </a:r>
          </a:p>
          <a:p>
            <a:pPr lvl="0"/>
            <a:r>
              <a:rPr lang="en-US" dirty="0"/>
              <a:t>I want you to wake me up </a:t>
            </a:r>
            <a:r>
              <a:rPr lang="en-US" dirty="0">
                <a:solidFill>
                  <a:srgbClr val="0070C0"/>
                </a:solidFill>
              </a:rPr>
              <a:t>when</a:t>
            </a:r>
            <a:r>
              <a:rPr lang="en-US" dirty="0"/>
              <a:t> it is time for the class.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944686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Compound-complex SENTENCES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COMPOUND-COMPLEX</a:t>
            </a:r>
            <a:r>
              <a:rPr lang="en-US" dirty="0"/>
              <a:t> sentence  is a sentence which contains two independent clauses and one subordinate clause. </a:t>
            </a:r>
          </a:p>
          <a:p>
            <a:r>
              <a:rPr lang="en-US" dirty="0"/>
              <a:t>A compound-complex sentence has at least two independent clauses and at least one dependent clause. </a:t>
            </a:r>
          </a:p>
          <a:p>
            <a:r>
              <a:rPr lang="en-US" dirty="0"/>
              <a:t>The compound-complex sentence combines elements of compound and complex sentences. </a:t>
            </a:r>
          </a:p>
          <a:p>
            <a:pPr lvl="0"/>
            <a:r>
              <a:rPr lang="en-US" i="1" dirty="0"/>
              <a:t>Even though she was tired, Abby knew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she had to finish the race so she ran to meet her team</a:t>
            </a:r>
            <a:r>
              <a:rPr lang="en-US" i="1" dirty="0">
                <a:solidFill>
                  <a:srgbClr val="0070C0"/>
                </a:solidFill>
              </a:rPr>
              <a:t>.</a:t>
            </a:r>
          </a:p>
          <a:p>
            <a:pPr lvl="0"/>
            <a:r>
              <a:rPr lang="en-US" i="1" dirty="0">
                <a:solidFill>
                  <a:schemeClr val="tx1"/>
                </a:solidFill>
              </a:rPr>
              <a:t>Although Ransford was late for the lecture, </a:t>
            </a:r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he organised himself within a few minutes and did a fantastic presentation.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81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7AC2-91B4-7999-ED8A-D41A631E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EXAMPLES OF COMPOUND-COMPLEX SENTENCES</a:t>
            </a:r>
            <a:endParaRPr lang="en-GH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2F7FC-B217-6AB5-C5E2-1DCCEAAEE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 bought coca cola, </a:t>
            </a:r>
            <a:r>
              <a:rPr lang="en-US" b="1" dirty="0">
                <a:solidFill>
                  <a:srgbClr val="0070C0"/>
                </a:solidFill>
              </a:rPr>
              <a:t>and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I drank it at once </a:t>
            </a:r>
            <a:r>
              <a:rPr lang="en-US" dirty="0">
                <a:solidFill>
                  <a:srgbClr val="0070C0"/>
                </a:solidFill>
              </a:rPr>
              <a:t>because</a:t>
            </a:r>
            <a:r>
              <a:rPr lang="en-US" dirty="0"/>
              <a:t> I was very thirsty).</a:t>
            </a:r>
          </a:p>
          <a:p>
            <a:pPr lvl="0"/>
            <a:r>
              <a:rPr lang="en-US" dirty="0"/>
              <a:t>Mary doesn’t like cartoons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she doesn’t watch them </a:t>
            </a:r>
            <a:r>
              <a:rPr lang="en-US" dirty="0">
                <a:solidFill>
                  <a:srgbClr val="0070C0"/>
                </a:solidFill>
              </a:rPr>
              <a:t>because</a:t>
            </a:r>
            <a:r>
              <a:rPr lang="en-US" dirty="0"/>
              <a:t> she feels they are meant for children.</a:t>
            </a:r>
            <a:r>
              <a:rPr lang="en-US" b="1" dirty="0">
                <a:solidFill>
                  <a:srgbClr val="0070C0"/>
                </a:solidFill>
              </a:rPr>
              <a:t>  </a:t>
            </a:r>
          </a:p>
          <a:p>
            <a:pPr lvl="0"/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Zakiyyat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could not attend her friend’s birthday, </a:t>
            </a:r>
            <a:r>
              <a:rPr lang="en-US" b="1" dirty="0">
                <a:solidFill>
                  <a:srgbClr val="0070C0"/>
                </a:solidFill>
              </a:rPr>
              <a:t>so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she sent her a parcel </a:t>
            </a:r>
            <a:r>
              <a:rPr lang="en-US" dirty="0">
                <a:solidFill>
                  <a:srgbClr val="0070C0"/>
                </a:solidFill>
              </a:rPr>
              <a:t>when</a:t>
            </a:r>
            <a:r>
              <a:rPr lang="en-US" dirty="0"/>
              <a:t> she finally remembered.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707726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TRIAL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295400"/>
            <a:ext cx="9143999" cy="5562600"/>
          </a:xfrm>
        </p:spPr>
        <p:txBody>
          <a:bodyPr>
            <a:normAutofit fontScale="47500" lnSpcReduction="20000"/>
          </a:bodyPr>
          <a:lstStyle/>
          <a:p>
            <a:pPr lvl="0"/>
            <a:r>
              <a:rPr lang="en-US" sz="4400" dirty="0"/>
              <a:t>The University central committee reaches a decision today. The Students’ Representative Council will not support such a confrontational attitude.  (Coordination) </a:t>
            </a:r>
          </a:p>
          <a:p>
            <a:pPr lvl="0"/>
            <a:r>
              <a:rPr lang="en-US" sz="4400" dirty="0"/>
              <a:t>I just graded her latest paper. She is capable of good work. She needs to be motivated. (Coordination) </a:t>
            </a:r>
          </a:p>
          <a:p>
            <a:pPr lvl="0"/>
            <a:r>
              <a:rPr lang="en-US" sz="4400" dirty="0"/>
              <a:t>The students felt so relieved. The rains finally stopped. (Subordination)</a:t>
            </a:r>
          </a:p>
          <a:p>
            <a:pPr lvl="0"/>
            <a:r>
              <a:rPr lang="en-US" sz="4400" dirty="0"/>
              <a:t>I have visited you four times. You have visited me once. (Subordination)</a:t>
            </a:r>
          </a:p>
          <a:p>
            <a:pPr lvl="0"/>
            <a:r>
              <a:rPr lang="en-US" sz="4400" dirty="0"/>
              <a:t>Several graduates do not know what to do after graduating. The Universities need guidance experts to help them out. (Subordination).</a:t>
            </a:r>
          </a:p>
          <a:p>
            <a:pPr lvl="0"/>
            <a:r>
              <a:rPr lang="en-US" sz="4400" dirty="0"/>
              <a:t>There are too many hawkers on this campus. They leave the campus littered with garbage. They pose a health hazard. (Coordination and Subordination)</a:t>
            </a:r>
          </a:p>
          <a:p>
            <a:pPr lvl="0"/>
            <a:r>
              <a:rPr lang="en-US" sz="4400" dirty="0"/>
              <a:t>The messenger apologized for his sloppiness again. The supervisors paid no attention. They remembered the last time he rendered an apology for sloppiness. (Coordination and Subordination)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63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Kiswahili Past paper review">
            <a:extLst>
              <a:ext uri="{FF2B5EF4-FFF2-40B4-BE49-F238E27FC236}">
                <a16:creationId xmlns:a16="http://schemas.microsoft.com/office/drawing/2014/main" id="{44A3E717-D9E5-4FC9-887F-ACCB5D036988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30" y="1067415"/>
            <a:ext cx="8760541" cy="47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121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ina The End GIFs - Get the best GIF on GIPHY">
            <a:extLst>
              <a:ext uri="{FF2B5EF4-FFF2-40B4-BE49-F238E27FC236}">
                <a16:creationId xmlns:a16="http://schemas.microsoft.com/office/drawing/2014/main" id="{E35D55AF-0FB7-4247-A9DD-315E9FE4E149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15" y="1034232"/>
            <a:ext cx="8837971" cy="478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99997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2979</TotalTime>
  <Words>1196</Words>
  <Application>Microsoft Office PowerPoint</Application>
  <PresentationFormat>On-screen Show (4:3)</PresentationFormat>
  <Paragraphs>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Berlin Sans FB</vt:lpstr>
      <vt:lpstr>Calibri</vt:lpstr>
      <vt:lpstr>Franklin Gothic Book</vt:lpstr>
      <vt:lpstr>Franklin Gothic Medium</vt:lpstr>
      <vt:lpstr>Wingdings</vt:lpstr>
      <vt:lpstr>Wingdings 2</vt:lpstr>
      <vt:lpstr>Trek</vt:lpstr>
      <vt:lpstr>PowerPoint Presentation</vt:lpstr>
      <vt:lpstr>What is a Sentence?</vt:lpstr>
      <vt:lpstr>STRUCTURAL TYPE OF SENTENCES</vt:lpstr>
      <vt:lpstr>Structural types of sentences</vt:lpstr>
      <vt:lpstr>Simple SENTENCES </vt:lpstr>
      <vt:lpstr>Compound SENTENCES </vt:lpstr>
      <vt:lpstr>COORDINATION</vt:lpstr>
      <vt:lpstr>COORDINATION</vt:lpstr>
      <vt:lpstr>COORDINATION</vt:lpstr>
      <vt:lpstr>Trial questions</vt:lpstr>
      <vt:lpstr>Subordination</vt:lpstr>
      <vt:lpstr>THE COMPLEX SENTENCE  </vt:lpstr>
      <vt:lpstr>complex SENTENCES cont’d</vt:lpstr>
      <vt:lpstr>Examples</vt:lpstr>
      <vt:lpstr>Compound-complex SENTENCES </vt:lpstr>
      <vt:lpstr>EXAMPLES OF COMPOUND-COMPLEX SENTENCES</vt:lpstr>
      <vt:lpstr>TRIAL QUESTIONS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USER</cp:lastModifiedBy>
  <cp:revision>21</cp:revision>
  <dcterms:created xsi:type="dcterms:W3CDTF">2023-03-02T11:53:40Z</dcterms:created>
  <dcterms:modified xsi:type="dcterms:W3CDTF">2023-03-15T02:23:30Z</dcterms:modified>
</cp:coreProperties>
</file>
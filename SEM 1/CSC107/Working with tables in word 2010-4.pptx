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47"/>
  </p:notesMasterIdLst>
  <p:sldIdLst>
    <p:sldId id="260" r:id="rId2"/>
    <p:sldId id="385" r:id="rId3"/>
    <p:sldId id="294" r:id="rId4"/>
    <p:sldId id="264"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1" r:id="rId23"/>
    <p:sldId id="532" r:id="rId24"/>
    <p:sldId id="533" r:id="rId25"/>
    <p:sldId id="534" r:id="rId26"/>
    <p:sldId id="535" r:id="rId27"/>
    <p:sldId id="536" r:id="rId28"/>
    <p:sldId id="537" r:id="rId29"/>
    <p:sldId id="538" r:id="rId30"/>
    <p:sldId id="539" r:id="rId31"/>
    <p:sldId id="540" r:id="rId32"/>
    <p:sldId id="541" r:id="rId33"/>
    <p:sldId id="542" r:id="rId34"/>
    <p:sldId id="543" r:id="rId35"/>
    <p:sldId id="544" r:id="rId36"/>
    <p:sldId id="545" r:id="rId37"/>
    <p:sldId id="546" r:id="rId38"/>
    <p:sldId id="547" r:id="rId39"/>
    <p:sldId id="548" r:id="rId40"/>
    <p:sldId id="549" r:id="rId41"/>
    <p:sldId id="550" r:id="rId42"/>
    <p:sldId id="551" r:id="rId43"/>
    <p:sldId id="552" r:id="rId44"/>
    <p:sldId id="440" r:id="rId45"/>
    <p:sldId id="384" r:id="rId4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8" d="100"/>
          <a:sy n="68" d="100"/>
        </p:scale>
        <p:origin x="-1446" y="-10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endParaRPr lang="en-US" dirty="0" smtClean="0"/>
        </a:p>
        <a:p>
          <a:r>
            <a:rPr lang="en-US" dirty="0" smtClean="0"/>
            <a:t>Microsoft 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smtClean="0"/>
            <a:t>Working with Tables in </a:t>
          </a:r>
          <a:r>
            <a:rPr lang="en-US" dirty="0" smtClean="0"/>
            <a:t>Word 2010</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t>
        <a:bodyPr/>
        <a:lstStyle/>
        <a:p>
          <a:endParaRPr lang="en-GB"/>
        </a:p>
      </dgm:t>
    </dgm:pt>
  </dgm:ptLst>
  <dgm:cxnLst>
    <dgm:cxn modelId="{65DCDAFD-8909-4CCC-96D3-23F19B6A2257}" type="presOf" srcId="{7D821BC7-213D-4CEC-978A-9CFFE70F3D67}" destId="{9972E4C6-FDD6-4F32-8994-B9E0115268C3}" srcOrd="0" destOrd="0" presId="urn:microsoft.com/office/officeart/2005/8/layout/default#1"/>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smtClean="0"/>
            <a:t>How to </a:t>
          </a:r>
          <a:r>
            <a:rPr lang="en-US" dirty="0" smtClean="0"/>
            <a:t>create tables </a:t>
          </a:r>
          <a:r>
            <a:rPr lang="en-US" dirty="0" smtClean="0"/>
            <a:t>in  word </a:t>
          </a:r>
          <a:endParaRPr lang="en-US" dirty="0"/>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smtClean="0"/>
            <a:t>How to </a:t>
          </a:r>
          <a:r>
            <a:rPr lang="en-US" dirty="0" smtClean="0"/>
            <a:t>add rows and columns </a:t>
          </a:r>
          <a:r>
            <a:rPr lang="en-US" dirty="0" smtClean="0"/>
            <a:t>in word </a:t>
          </a:r>
          <a:endParaRPr lang="en-US" dirty="0"/>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smtClean="0"/>
            <a:t>How to </a:t>
          </a:r>
          <a:r>
            <a:rPr lang="en-US" dirty="0" smtClean="0"/>
            <a:t>move a table </a:t>
          </a:r>
          <a:r>
            <a:rPr lang="en-US" dirty="0" smtClean="0"/>
            <a:t>in word </a:t>
          </a:r>
          <a:endParaRPr lang="en-US" dirty="0"/>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23F2D5E2-61FA-40AD-9F7D-BF405C8CDFAE}">
      <dgm:prSet/>
      <dgm:spPr/>
      <dgm:t>
        <a:bodyPr/>
        <a:lstStyle/>
        <a:p>
          <a:r>
            <a:rPr lang="en-US" dirty="0" smtClean="0"/>
            <a:t>How to </a:t>
          </a:r>
          <a:r>
            <a:rPr lang="en-US" dirty="0" smtClean="0"/>
            <a:t>resize a table  </a:t>
          </a:r>
          <a:r>
            <a:rPr lang="en-US" dirty="0" smtClean="0"/>
            <a:t>in word</a:t>
          </a:r>
          <a:endParaRPr lang="en-US" dirty="0"/>
        </a:p>
      </dgm:t>
    </dgm:pt>
    <dgm:pt modelId="{AB5E8461-293C-485A-87B5-1F0B83CE1442}" type="parTrans" cxnId="{FBDBE29A-0A0F-4D97-8A3B-694C132A4FE5}">
      <dgm:prSet/>
      <dgm:spPr/>
      <dgm:t>
        <a:bodyPr/>
        <a:lstStyle/>
        <a:p>
          <a:endParaRPr lang="en-US"/>
        </a:p>
      </dgm:t>
    </dgm:pt>
    <dgm:pt modelId="{2155DDCB-A76B-4506-AD94-A2E4AE9F6F2F}" type="sibTrans" cxnId="{FBDBE29A-0A0F-4D97-8A3B-694C132A4FE5}">
      <dgm:prSet/>
      <dgm:spPr/>
      <dgm:t>
        <a:bodyPr/>
        <a:lstStyle/>
        <a:p>
          <a:endParaRPr lang="en-US"/>
        </a:p>
      </dgm:t>
    </dgm:pt>
    <dgm:pt modelId="{D032DDD3-5BE8-4773-89B2-68CD8965B3E6}">
      <dgm:prSet/>
      <dgm:spPr/>
      <dgm:t>
        <a:bodyPr/>
        <a:lstStyle/>
        <a:p>
          <a:r>
            <a:rPr lang="en-US" dirty="0" smtClean="0"/>
            <a:t>How to </a:t>
          </a:r>
          <a:r>
            <a:rPr lang="en-US" dirty="0" smtClean="0"/>
            <a:t>merge cells </a:t>
          </a:r>
          <a:r>
            <a:rPr lang="en-US" dirty="0" smtClean="0"/>
            <a:t>in word</a:t>
          </a:r>
          <a:endParaRPr lang="en-US" dirty="0"/>
        </a:p>
      </dgm:t>
    </dgm:pt>
    <dgm:pt modelId="{81D33D49-3010-4917-BC50-D44BA8B22DF2}" type="parTrans" cxnId="{864161E3-D902-466F-A23C-0B9201C3B39B}">
      <dgm:prSet/>
      <dgm:spPr/>
      <dgm:t>
        <a:bodyPr/>
        <a:lstStyle/>
        <a:p>
          <a:endParaRPr lang="en-US"/>
        </a:p>
      </dgm:t>
    </dgm:pt>
    <dgm:pt modelId="{C692D208-6BD8-417E-A3C9-418AEBD7A4B3}" type="sibTrans" cxnId="{864161E3-D902-466F-A23C-0B9201C3B39B}">
      <dgm:prSet/>
      <dgm:spPr/>
      <dgm:t>
        <a:bodyPr/>
        <a:lstStyle/>
        <a:p>
          <a:endParaRPr lang="en-US"/>
        </a:p>
      </dgm:t>
    </dgm:pt>
    <dgm:pt modelId="{0C2A3C5A-0AE4-41C1-AA5D-5BC4E760C57F}">
      <dgm:prSet/>
      <dgm:spPr/>
      <dgm:t>
        <a:bodyPr/>
        <a:lstStyle/>
        <a:p>
          <a:r>
            <a:rPr lang="en-US" dirty="0" smtClean="0"/>
            <a:t>How to </a:t>
          </a:r>
          <a:r>
            <a:rPr lang="en-US" dirty="0" smtClean="0"/>
            <a:t>split cells </a:t>
          </a:r>
          <a:r>
            <a:rPr lang="en-US" dirty="0" smtClean="0"/>
            <a:t>in word</a:t>
          </a:r>
          <a:endParaRPr lang="en-US" dirty="0"/>
        </a:p>
      </dgm:t>
    </dgm:pt>
    <dgm:pt modelId="{C63CDA1C-7537-4175-AE85-DCCC8B9595D5}" type="parTrans" cxnId="{86E31C76-0D62-4F6E-AF30-DF0CF87F6868}">
      <dgm:prSet/>
      <dgm:spPr/>
      <dgm:t>
        <a:bodyPr/>
        <a:lstStyle/>
        <a:p>
          <a:endParaRPr lang="en-US"/>
        </a:p>
      </dgm:t>
    </dgm:pt>
    <dgm:pt modelId="{C25ACD3C-6ADA-4FCF-83F9-C46AF1053BB7}" type="sibTrans" cxnId="{86E31C76-0D62-4F6E-AF30-DF0CF87F6868}">
      <dgm:prSet/>
      <dgm:spPr/>
      <dgm:t>
        <a:bodyPr/>
        <a:lstStyle/>
        <a:p>
          <a:endParaRPr lang="en-US"/>
        </a:p>
      </dgm:t>
    </dgm:pt>
    <dgm:pt modelId="{B9D2FC92-ECB4-4D54-9508-F43A91E7E65C}">
      <dgm:prSet/>
      <dgm:spPr/>
      <dgm:t>
        <a:bodyPr/>
        <a:lstStyle/>
        <a:p>
          <a:r>
            <a:rPr lang="en-GB" dirty="0"/>
            <a:t>How to </a:t>
          </a:r>
          <a:r>
            <a:rPr lang="en-GB" dirty="0" smtClean="0"/>
            <a:t>Add Formula in </a:t>
          </a:r>
          <a:r>
            <a:rPr lang="en-GB" dirty="0"/>
            <a:t>word</a:t>
          </a:r>
        </a:p>
      </dgm:t>
    </dgm:pt>
    <dgm:pt modelId="{78D7DF5E-40D2-4C2E-A6D8-113A5982009C}" type="parTrans" cxnId="{7F547AE8-3119-406B-94F9-F606AA7491D7}">
      <dgm:prSet/>
      <dgm:spPr/>
      <dgm:t>
        <a:bodyPr/>
        <a:lstStyle/>
        <a:p>
          <a:endParaRPr lang="en-GB"/>
        </a:p>
      </dgm:t>
    </dgm:pt>
    <dgm:pt modelId="{E2B3D82B-B21B-4F72-B2BC-78A1696AD170}" type="sibTrans" cxnId="{7F547AE8-3119-406B-94F9-F606AA7491D7}">
      <dgm:prSet/>
      <dgm:spPr/>
      <dgm:t>
        <a:bodyPr/>
        <a:lstStyle/>
        <a:p>
          <a:endParaRPr lang="en-GB"/>
        </a:p>
      </dgm:t>
    </dgm:pt>
    <dgm:pt modelId="{476A1A6D-9E32-412F-852C-EA036D2EA443}">
      <dgm:prSet/>
      <dgm:spPr/>
      <dgm:t>
        <a:bodyPr/>
        <a:lstStyle/>
        <a:p>
          <a:r>
            <a:rPr lang="en-GB" dirty="0"/>
            <a:t>How to </a:t>
          </a:r>
          <a:r>
            <a:rPr lang="en-GB" dirty="0" smtClean="0"/>
            <a:t>Add Borders &amp; Shades in </a:t>
          </a:r>
          <a:r>
            <a:rPr lang="en-GB" dirty="0"/>
            <a:t>word</a:t>
          </a:r>
        </a:p>
      </dgm:t>
    </dgm:pt>
    <dgm:pt modelId="{A6D156B3-65C8-4D8D-9BA4-CBE69004882B}" type="parTrans" cxnId="{9F622BE6-A9AE-4059-9547-F4054D63F899}">
      <dgm:prSet/>
      <dgm:spPr/>
      <dgm:t>
        <a:bodyPr/>
        <a:lstStyle/>
        <a:p>
          <a:endParaRPr lang="en-GB"/>
        </a:p>
      </dgm:t>
    </dgm:pt>
    <dgm:pt modelId="{3C054B08-0B7E-409B-8D87-F73633A89691}" type="sibTrans" cxnId="{9F622BE6-A9AE-4059-9547-F4054D63F899}">
      <dgm:prSet/>
      <dgm:spPr/>
      <dgm:t>
        <a:bodyPr/>
        <a:lstStyle/>
        <a:p>
          <a:endParaRPr lang="en-GB"/>
        </a:p>
      </dgm:t>
    </dgm:pt>
    <dgm:pt modelId="{46A1C575-DE29-4021-A28C-E1E7FA78085E}" type="pres">
      <dgm:prSet presAssocID="{3DE9E547-3C66-4E5D-9D07-0515EED2B913}" presName="diagram" presStyleCnt="0">
        <dgm:presLayoutVars>
          <dgm:dir/>
          <dgm:resizeHandles val="exact"/>
        </dgm:presLayoutVars>
      </dgm:prSet>
      <dgm:spPr/>
      <dgm:t>
        <a:bodyPr/>
        <a:lstStyle/>
        <a:p>
          <a:endParaRPr lang="en-GB"/>
        </a:p>
      </dgm:t>
    </dgm:pt>
    <dgm:pt modelId="{E43CDCF3-D5B2-4556-A6FF-1FBA940E878F}" type="pres">
      <dgm:prSet presAssocID="{F9022B54-68C2-4973-9A00-460029290542}" presName="node" presStyleLbl="node1" presStyleIdx="0" presStyleCnt="8">
        <dgm:presLayoutVars>
          <dgm:bulletEnabled val="1"/>
        </dgm:presLayoutVars>
      </dgm:prSet>
      <dgm:spPr/>
      <dgm:t>
        <a:bodyPr/>
        <a:lstStyle/>
        <a:p>
          <a:endParaRPr lang="en-GB"/>
        </a:p>
      </dgm:t>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8">
        <dgm:presLayoutVars>
          <dgm:bulletEnabled val="1"/>
        </dgm:presLayoutVars>
      </dgm:prSet>
      <dgm:spPr/>
      <dgm:t>
        <a:bodyPr/>
        <a:lstStyle/>
        <a:p>
          <a:endParaRPr lang="en-GB"/>
        </a:p>
      </dgm:t>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8">
        <dgm:presLayoutVars>
          <dgm:bulletEnabled val="1"/>
        </dgm:presLayoutVars>
      </dgm:prSet>
      <dgm:spPr/>
      <dgm:t>
        <a:bodyPr/>
        <a:lstStyle/>
        <a:p>
          <a:endParaRPr lang="en-GB"/>
        </a:p>
      </dgm:t>
    </dgm:pt>
    <dgm:pt modelId="{8FCDC96A-B844-4560-9827-3799EB37A607}" type="pres">
      <dgm:prSet presAssocID="{0F8F958D-95B3-4287-AB04-371DBF737C1C}" presName="sibTrans" presStyleCnt="0"/>
      <dgm:spPr/>
    </dgm:pt>
    <dgm:pt modelId="{126D987F-03E4-4E3A-BED9-08B6BA3A15AB}" type="pres">
      <dgm:prSet presAssocID="{23F2D5E2-61FA-40AD-9F7D-BF405C8CDFAE}" presName="node" presStyleLbl="node1" presStyleIdx="3" presStyleCnt="8">
        <dgm:presLayoutVars>
          <dgm:bulletEnabled val="1"/>
        </dgm:presLayoutVars>
      </dgm:prSet>
      <dgm:spPr/>
      <dgm:t>
        <a:bodyPr/>
        <a:lstStyle/>
        <a:p>
          <a:endParaRPr lang="en-GB"/>
        </a:p>
      </dgm:t>
    </dgm:pt>
    <dgm:pt modelId="{E35D6D9B-6CD2-4458-885A-62ADB7B92653}" type="pres">
      <dgm:prSet presAssocID="{2155DDCB-A76B-4506-AD94-A2E4AE9F6F2F}" presName="sibTrans" presStyleCnt="0"/>
      <dgm:spPr/>
    </dgm:pt>
    <dgm:pt modelId="{A0EFA616-1553-4077-9D32-88AE20AC0552}" type="pres">
      <dgm:prSet presAssocID="{D032DDD3-5BE8-4773-89B2-68CD8965B3E6}" presName="node" presStyleLbl="node1" presStyleIdx="4" presStyleCnt="8">
        <dgm:presLayoutVars>
          <dgm:bulletEnabled val="1"/>
        </dgm:presLayoutVars>
      </dgm:prSet>
      <dgm:spPr/>
      <dgm:t>
        <a:bodyPr/>
        <a:lstStyle/>
        <a:p>
          <a:endParaRPr lang="en-GB"/>
        </a:p>
      </dgm:t>
    </dgm:pt>
    <dgm:pt modelId="{4543EDFD-DAD7-4CC1-8700-DF379CC38E62}" type="pres">
      <dgm:prSet presAssocID="{C692D208-6BD8-417E-A3C9-418AEBD7A4B3}" presName="sibTrans" presStyleCnt="0"/>
      <dgm:spPr/>
    </dgm:pt>
    <dgm:pt modelId="{D944875E-4200-44D3-9F4D-D995865E5F68}" type="pres">
      <dgm:prSet presAssocID="{0C2A3C5A-0AE4-41C1-AA5D-5BC4E760C57F}" presName="node" presStyleLbl="node1" presStyleIdx="5" presStyleCnt="8">
        <dgm:presLayoutVars>
          <dgm:bulletEnabled val="1"/>
        </dgm:presLayoutVars>
      </dgm:prSet>
      <dgm:spPr/>
      <dgm:t>
        <a:bodyPr/>
        <a:lstStyle/>
        <a:p>
          <a:endParaRPr lang="en-GB"/>
        </a:p>
      </dgm:t>
    </dgm:pt>
    <dgm:pt modelId="{78CB8F77-3CF7-4A24-AB1C-13517BFF6342}" type="pres">
      <dgm:prSet presAssocID="{C25ACD3C-6ADA-4FCF-83F9-C46AF1053BB7}" presName="sibTrans" presStyleCnt="0"/>
      <dgm:spPr/>
    </dgm:pt>
    <dgm:pt modelId="{4F3BB94F-726F-42B1-B2C9-9077543F3D05}" type="pres">
      <dgm:prSet presAssocID="{B9D2FC92-ECB4-4D54-9508-F43A91E7E65C}" presName="node" presStyleLbl="node1" presStyleIdx="6" presStyleCnt="8">
        <dgm:presLayoutVars>
          <dgm:bulletEnabled val="1"/>
        </dgm:presLayoutVars>
      </dgm:prSet>
      <dgm:spPr/>
      <dgm:t>
        <a:bodyPr/>
        <a:lstStyle/>
        <a:p>
          <a:endParaRPr lang="en-GB"/>
        </a:p>
      </dgm:t>
    </dgm:pt>
    <dgm:pt modelId="{A5408A91-DCB4-4486-8086-1187B0570DB1}" type="pres">
      <dgm:prSet presAssocID="{E2B3D82B-B21B-4F72-B2BC-78A1696AD170}" presName="sibTrans" presStyleCnt="0"/>
      <dgm:spPr/>
    </dgm:pt>
    <dgm:pt modelId="{31EA35DB-A737-45B2-AEA8-3AC4C64F3EDA}" type="pres">
      <dgm:prSet presAssocID="{476A1A6D-9E32-412F-852C-EA036D2EA443}" presName="node" presStyleLbl="node1" presStyleIdx="7" presStyleCnt="8">
        <dgm:presLayoutVars>
          <dgm:bulletEnabled val="1"/>
        </dgm:presLayoutVars>
      </dgm:prSet>
      <dgm:spPr/>
      <dgm:t>
        <a:bodyPr/>
        <a:lstStyle/>
        <a:p>
          <a:endParaRPr lang="en-GB"/>
        </a:p>
      </dgm:t>
    </dgm:pt>
  </dgm:ptLst>
  <dgm:cxnLst>
    <dgm:cxn modelId="{83122414-9691-4F6C-BC60-0171D826C93D}" type="presOf" srcId="{476A1A6D-9E32-412F-852C-EA036D2EA443}" destId="{31EA35DB-A737-45B2-AEA8-3AC4C64F3EDA}" srcOrd="0" destOrd="0" presId="urn:microsoft.com/office/officeart/2005/8/layout/default#1"/>
    <dgm:cxn modelId="{031BCA45-34A2-4E89-93EF-0C69AA13A8F0}" type="presOf" srcId="{23F2D5E2-61FA-40AD-9F7D-BF405C8CDFAE}" destId="{126D987F-03E4-4E3A-BED9-08B6BA3A15AB}" srcOrd="0" destOrd="0" presId="urn:microsoft.com/office/officeart/2005/8/layout/default#1"/>
    <dgm:cxn modelId="{6AAA590D-29DC-4E4C-8B98-98C454876ACA}" type="presOf" srcId="{0C2A3C5A-0AE4-41C1-AA5D-5BC4E760C57F}" destId="{D944875E-4200-44D3-9F4D-D995865E5F68}" srcOrd="0" destOrd="0" presId="urn:microsoft.com/office/officeart/2005/8/layout/default#1"/>
    <dgm:cxn modelId="{8C7B99DC-F8B1-492C-AD47-8DB1AB5E9999}" type="presOf" srcId="{C11B75ED-B46B-4BF2-80F2-DA583A75044E}" destId="{D32AB574-D896-42B8-809A-74BD322B19E9}" srcOrd="0" destOrd="0" presId="urn:microsoft.com/office/officeart/2005/8/layout/default#1"/>
    <dgm:cxn modelId="{86E31C76-0D62-4F6E-AF30-DF0CF87F6868}" srcId="{3DE9E547-3C66-4E5D-9D07-0515EED2B913}" destId="{0C2A3C5A-0AE4-41C1-AA5D-5BC4E760C57F}" srcOrd="5" destOrd="0" parTransId="{C63CDA1C-7537-4175-AE85-DCCC8B9595D5}" sibTransId="{C25ACD3C-6ADA-4FCF-83F9-C46AF1053BB7}"/>
    <dgm:cxn modelId="{5975DE9F-9538-4AC2-A004-1F0309A49A9F}" type="presOf" srcId="{BBBB9B4E-DA71-45DE-92BC-1EF247E5F9B2}" destId="{08678D36-F832-48B7-8548-C43AEE1F6A43}" srcOrd="0" destOrd="0" presId="urn:microsoft.com/office/officeart/2005/8/layout/default#1"/>
    <dgm:cxn modelId="{FBDBE29A-0A0F-4D97-8A3B-694C132A4FE5}" srcId="{3DE9E547-3C66-4E5D-9D07-0515EED2B913}" destId="{23F2D5E2-61FA-40AD-9F7D-BF405C8CDFAE}" srcOrd="3" destOrd="0" parTransId="{AB5E8461-293C-485A-87B5-1F0B83CE1442}" sibTransId="{2155DDCB-A76B-4506-AD94-A2E4AE9F6F2F}"/>
    <dgm:cxn modelId="{0DB3BCB8-BFA0-457C-84E0-1D03CDEA15BA}" srcId="{3DE9E547-3C66-4E5D-9D07-0515EED2B913}" destId="{C11B75ED-B46B-4BF2-80F2-DA583A75044E}" srcOrd="2" destOrd="0" parTransId="{5645C486-8F55-4C5D-BAFE-57B0FB9C1457}" sibTransId="{0F8F958D-95B3-4287-AB04-371DBF737C1C}"/>
    <dgm:cxn modelId="{A8B40AA2-278C-4338-99E0-4615B7D73CD9}" type="presOf" srcId="{B9D2FC92-ECB4-4D54-9508-F43A91E7E65C}" destId="{4F3BB94F-726F-42B1-B2C9-9077543F3D05}" srcOrd="0" destOrd="0" presId="urn:microsoft.com/office/officeart/2005/8/layout/default#1"/>
    <dgm:cxn modelId="{8294D506-3CCF-46C3-9D45-09DDBBAFC9A2}" srcId="{3DE9E547-3C66-4E5D-9D07-0515EED2B913}" destId="{BBBB9B4E-DA71-45DE-92BC-1EF247E5F9B2}" srcOrd="1" destOrd="0" parTransId="{A9ED417C-F968-4650-A07D-E6C8B9F80C83}" sibTransId="{8B37F55B-F450-4B0B-98F7-A2B490DAC81A}"/>
    <dgm:cxn modelId="{A36A33C9-5EC3-4472-82B9-956D1373C0B4}" srcId="{3DE9E547-3C66-4E5D-9D07-0515EED2B913}" destId="{F9022B54-68C2-4973-9A00-460029290542}" srcOrd="0" destOrd="0" parTransId="{0EBC0F7C-C083-479E-822C-AA3F278D062A}" sibTransId="{AEC43A17-FDDC-4261-BB01-B6005B7A4552}"/>
    <dgm:cxn modelId="{FD5D13DE-A886-43C1-8176-BE8410373EBE}" type="presOf" srcId="{D032DDD3-5BE8-4773-89B2-68CD8965B3E6}" destId="{A0EFA616-1553-4077-9D32-88AE20AC0552}" srcOrd="0" destOrd="0" presId="urn:microsoft.com/office/officeart/2005/8/layout/default#1"/>
    <dgm:cxn modelId="{864161E3-D902-466F-A23C-0B9201C3B39B}" srcId="{3DE9E547-3C66-4E5D-9D07-0515EED2B913}" destId="{D032DDD3-5BE8-4773-89B2-68CD8965B3E6}" srcOrd="4" destOrd="0" parTransId="{81D33D49-3010-4917-BC50-D44BA8B22DF2}" sibTransId="{C692D208-6BD8-417E-A3C9-418AEBD7A4B3}"/>
    <dgm:cxn modelId="{9F622BE6-A9AE-4059-9547-F4054D63F899}" srcId="{3DE9E547-3C66-4E5D-9D07-0515EED2B913}" destId="{476A1A6D-9E32-412F-852C-EA036D2EA443}" srcOrd="7" destOrd="0" parTransId="{A6D156B3-65C8-4D8D-9BA4-CBE69004882B}" sibTransId="{3C054B08-0B7E-409B-8D87-F73633A89691}"/>
    <dgm:cxn modelId="{36C3BEF2-2DBA-42EB-9810-973BE445D0C7}" type="presOf" srcId="{3DE9E547-3C66-4E5D-9D07-0515EED2B913}" destId="{46A1C575-DE29-4021-A28C-E1E7FA78085E}" srcOrd="0" destOrd="0" presId="urn:microsoft.com/office/officeart/2005/8/layout/default#1"/>
    <dgm:cxn modelId="{DB5CF76F-016D-4F32-AE1E-423FE30EF2F6}" type="presOf" srcId="{F9022B54-68C2-4973-9A00-460029290542}" destId="{E43CDCF3-D5B2-4556-A6FF-1FBA940E878F}" srcOrd="0" destOrd="0" presId="urn:microsoft.com/office/officeart/2005/8/layout/default#1"/>
    <dgm:cxn modelId="{7F547AE8-3119-406B-94F9-F606AA7491D7}" srcId="{3DE9E547-3C66-4E5D-9D07-0515EED2B913}" destId="{B9D2FC92-ECB4-4D54-9508-F43A91E7E65C}" srcOrd="6" destOrd="0" parTransId="{78D7DF5E-40D2-4C2E-A6D8-113A5982009C}" sibTransId="{E2B3D82B-B21B-4F72-B2BC-78A1696AD170}"/>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62AA1254-BAAA-4C30-915B-8E8B8D5D39B6}" type="presParOf" srcId="{46A1C575-DE29-4021-A28C-E1E7FA78085E}" destId="{126D987F-03E4-4E3A-BED9-08B6BA3A15AB}" srcOrd="6" destOrd="0" presId="urn:microsoft.com/office/officeart/2005/8/layout/default#1"/>
    <dgm:cxn modelId="{DA7D4CFB-222D-4450-8AF0-D10DC3C95EA3}" type="presParOf" srcId="{46A1C575-DE29-4021-A28C-E1E7FA78085E}" destId="{E35D6D9B-6CD2-4458-885A-62ADB7B92653}" srcOrd="7" destOrd="0" presId="urn:microsoft.com/office/officeart/2005/8/layout/default#1"/>
    <dgm:cxn modelId="{6AE59283-A23C-4A44-A8A5-3A057903230C}" type="presParOf" srcId="{46A1C575-DE29-4021-A28C-E1E7FA78085E}" destId="{A0EFA616-1553-4077-9D32-88AE20AC0552}" srcOrd="8" destOrd="0" presId="urn:microsoft.com/office/officeart/2005/8/layout/default#1"/>
    <dgm:cxn modelId="{429B9619-7928-43DC-A3FE-1E9D2DB4D886}" type="presParOf" srcId="{46A1C575-DE29-4021-A28C-E1E7FA78085E}" destId="{4543EDFD-DAD7-4CC1-8700-DF379CC38E62}" srcOrd="9" destOrd="0" presId="urn:microsoft.com/office/officeart/2005/8/layout/default#1"/>
    <dgm:cxn modelId="{704D0315-1C8A-4D5F-A07E-7D3763651A72}" type="presParOf" srcId="{46A1C575-DE29-4021-A28C-E1E7FA78085E}" destId="{D944875E-4200-44D3-9F4D-D995865E5F68}" srcOrd="10" destOrd="0" presId="urn:microsoft.com/office/officeart/2005/8/layout/default#1"/>
    <dgm:cxn modelId="{3F5A64F1-66F4-44C1-BF95-02D94C0DFAD0}" type="presParOf" srcId="{46A1C575-DE29-4021-A28C-E1E7FA78085E}" destId="{78CB8F77-3CF7-4A24-AB1C-13517BFF6342}" srcOrd="11" destOrd="0" presId="urn:microsoft.com/office/officeart/2005/8/layout/default#1"/>
    <dgm:cxn modelId="{A0309069-2853-4FAA-AC09-2E967F751159}" type="presParOf" srcId="{46A1C575-DE29-4021-A28C-E1E7FA78085E}" destId="{4F3BB94F-726F-42B1-B2C9-9077543F3D05}" srcOrd="12" destOrd="0" presId="urn:microsoft.com/office/officeart/2005/8/layout/default#1"/>
    <dgm:cxn modelId="{B6D090FA-77F1-4532-850C-6322F5F68B9B}" type="presParOf" srcId="{46A1C575-DE29-4021-A28C-E1E7FA78085E}" destId="{A5408A91-DCB4-4486-8086-1187B0570DB1}" srcOrd="13" destOrd="0" presId="urn:microsoft.com/office/officeart/2005/8/layout/default#1"/>
    <dgm:cxn modelId="{07999851-A652-4497-BD02-78B00D8DF8BA}" type="presParOf" srcId="{46A1C575-DE29-4021-A28C-E1E7FA78085E}" destId="{31EA35DB-A737-45B2-AEA8-3AC4C64F3EDA}" srcOrd="14"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a:t>Introduction </a:t>
          </a:r>
        </a:p>
        <a:p>
          <a:pPr lvl="0" algn="ctr" defTabSz="2889250">
            <a:lnSpc>
              <a:spcPct val="90000"/>
            </a:lnSpc>
            <a:spcBef>
              <a:spcPct val="0"/>
            </a:spcBef>
            <a:spcAft>
              <a:spcPct val="35000"/>
            </a:spcAft>
          </a:pPr>
          <a:r>
            <a:rPr lang="en-US" sz="6500" kern="1200" dirty="0"/>
            <a:t>to </a:t>
          </a:r>
          <a:endParaRPr lang="en-US" sz="6500" kern="1200" dirty="0" smtClean="0"/>
        </a:p>
        <a:p>
          <a:pPr lvl="0" algn="ctr" defTabSz="2889250">
            <a:lnSpc>
              <a:spcPct val="90000"/>
            </a:lnSpc>
            <a:spcBef>
              <a:spcPct val="0"/>
            </a:spcBef>
            <a:spcAft>
              <a:spcPct val="35000"/>
            </a:spcAft>
          </a:pPr>
          <a:r>
            <a:rPr lang="en-US" sz="6500" kern="1200" dirty="0" smtClean="0"/>
            <a:t>Microsoft word 2010</a:t>
          </a:r>
          <a:endParaRPr lang="en-US" sz="6500" kern="1200" dirty="0"/>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lvl="0" algn="ctr" defTabSz="2889250">
            <a:lnSpc>
              <a:spcPct val="90000"/>
            </a:lnSpc>
            <a:spcBef>
              <a:spcPct val="0"/>
            </a:spcBef>
            <a:spcAft>
              <a:spcPct val="35000"/>
            </a:spcAft>
          </a:pPr>
          <a:r>
            <a:rPr lang="en-US" sz="6500" kern="1200" dirty="0" smtClean="0"/>
            <a:t>Working with Tables in </a:t>
          </a:r>
          <a:r>
            <a:rPr lang="en-US" sz="6500" kern="1200" dirty="0" smtClean="0"/>
            <a:t>Word 2010</a:t>
          </a:r>
          <a:endParaRPr lang="en-US" sz="65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158829" y="1314"/>
          <a:ext cx="2662981" cy="1597788"/>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t>
          </a:r>
          <a:r>
            <a:rPr lang="en-US" sz="2800" kern="1200" dirty="0" smtClean="0"/>
            <a:t>create tables </a:t>
          </a:r>
          <a:r>
            <a:rPr lang="en-US" sz="2800" kern="1200" dirty="0" smtClean="0"/>
            <a:t>in  word </a:t>
          </a:r>
          <a:endParaRPr lang="en-US" sz="2800" kern="1200" dirty="0"/>
        </a:p>
      </dsp:txBody>
      <dsp:txXfrm>
        <a:off x="158829" y="1314"/>
        <a:ext cx="2662981" cy="1597788"/>
      </dsp:txXfrm>
    </dsp:sp>
    <dsp:sp modelId="{08678D36-F832-48B7-8548-C43AEE1F6A43}">
      <dsp:nvSpPr>
        <dsp:cNvPr id="0" name=""/>
        <dsp:cNvSpPr/>
      </dsp:nvSpPr>
      <dsp:spPr>
        <a:xfrm>
          <a:off x="3088109" y="1314"/>
          <a:ext cx="2662981" cy="1597788"/>
        </a:xfrm>
        <a:prstGeom prst="rect">
          <a:avLst/>
        </a:prstGeom>
        <a:gradFill rotWithShape="0">
          <a:gsLst>
            <a:gs pos="0">
              <a:schemeClr val="accent4">
                <a:shade val="80000"/>
                <a:hueOff val="-25223"/>
                <a:satOff val="-624"/>
                <a:lumOff val="3570"/>
                <a:alphaOff val="0"/>
                <a:shade val="51000"/>
                <a:satMod val="130000"/>
              </a:schemeClr>
            </a:gs>
            <a:gs pos="80000">
              <a:schemeClr val="accent4">
                <a:shade val="80000"/>
                <a:hueOff val="-25223"/>
                <a:satOff val="-624"/>
                <a:lumOff val="3570"/>
                <a:alphaOff val="0"/>
                <a:shade val="93000"/>
                <a:satMod val="130000"/>
              </a:schemeClr>
            </a:gs>
            <a:gs pos="100000">
              <a:schemeClr val="accent4">
                <a:shade val="80000"/>
                <a:hueOff val="-25223"/>
                <a:satOff val="-624"/>
                <a:lumOff val="357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t>
          </a:r>
          <a:r>
            <a:rPr lang="en-US" sz="2800" kern="1200" dirty="0" smtClean="0"/>
            <a:t>add rows and columns </a:t>
          </a:r>
          <a:r>
            <a:rPr lang="en-US" sz="2800" kern="1200" dirty="0" smtClean="0"/>
            <a:t>in word </a:t>
          </a:r>
          <a:endParaRPr lang="en-US" sz="2800" kern="1200" dirty="0"/>
        </a:p>
      </dsp:txBody>
      <dsp:txXfrm>
        <a:off x="3088109" y="1314"/>
        <a:ext cx="2662981" cy="1597788"/>
      </dsp:txXfrm>
    </dsp:sp>
    <dsp:sp modelId="{D32AB574-D896-42B8-809A-74BD322B19E9}">
      <dsp:nvSpPr>
        <dsp:cNvPr id="0" name=""/>
        <dsp:cNvSpPr/>
      </dsp:nvSpPr>
      <dsp:spPr>
        <a:xfrm>
          <a:off x="6017388" y="1314"/>
          <a:ext cx="2662981" cy="1597788"/>
        </a:xfrm>
        <a:prstGeom prst="rect">
          <a:avLst/>
        </a:prstGeom>
        <a:gradFill rotWithShape="0">
          <a:gsLst>
            <a:gs pos="0">
              <a:schemeClr val="accent4">
                <a:shade val="80000"/>
                <a:hueOff val="-50445"/>
                <a:satOff val="-1247"/>
                <a:lumOff val="7139"/>
                <a:alphaOff val="0"/>
                <a:shade val="51000"/>
                <a:satMod val="130000"/>
              </a:schemeClr>
            </a:gs>
            <a:gs pos="80000">
              <a:schemeClr val="accent4">
                <a:shade val="80000"/>
                <a:hueOff val="-50445"/>
                <a:satOff val="-1247"/>
                <a:lumOff val="7139"/>
                <a:alphaOff val="0"/>
                <a:shade val="93000"/>
                <a:satMod val="130000"/>
              </a:schemeClr>
            </a:gs>
            <a:gs pos="100000">
              <a:schemeClr val="accent4">
                <a:shade val="80000"/>
                <a:hueOff val="-50445"/>
                <a:satOff val="-1247"/>
                <a:lumOff val="713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t>
          </a:r>
          <a:r>
            <a:rPr lang="en-US" sz="2800" kern="1200" dirty="0" smtClean="0"/>
            <a:t>move a table </a:t>
          </a:r>
          <a:r>
            <a:rPr lang="en-US" sz="2800" kern="1200" dirty="0" smtClean="0"/>
            <a:t>in word </a:t>
          </a:r>
          <a:endParaRPr lang="en-US" sz="2800" kern="1200" dirty="0"/>
        </a:p>
      </dsp:txBody>
      <dsp:txXfrm>
        <a:off x="6017388" y="1314"/>
        <a:ext cx="2662981" cy="1597788"/>
      </dsp:txXfrm>
    </dsp:sp>
    <dsp:sp modelId="{126D987F-03E4-4E3A-BED9-08B6BA3A15AB}">
      <dsp:nvSpPr>
        <dsp:cNvPr id="0" name=""/>
        <dsp:cNvSpPr/>
      </dsp:nvSpPr>
      <dsp:spPr>
        <a:xfrm>
          <a:off x="158829" y="1865401"/>
          <a:ext cx="2662981" cy="1597788"/>
        </a:xfrm>
        <a:prstGeom prst="rect">
          <a:avLst/>
        </a:prstGeom>
        <a:gradFill rotWithShape="0">
          <a:gsLst>
            <a:gs pos="0">
              <a:schemeClr val="accent4">
                <a:shade val="80000"/>
                <a:hueOff val="-75668"/>
                <a:satOff val="-1871"/>
                <a:lumOff val="10709"/>
                <a:alphaOff val="0"/>
                <a:shade val="51000"/>
                <a:satMod val="130000"/>
              </a:schemeClr>
            </a:gs>
            <a:gs pos="80000">
              <a:schemeClr val="accent4">
                <a:shade val="80000"/>
                <a:hueOff val="-75668"/>
                <a:satOff val="-1871"/>
                <a:lumOff val="10709"/>
                <a:alphaOff val="0"/>
                <a:shade val="93000"/>
                <a:satMod val="130000"/>
              </a:schemeClr>
            </a:gs>
            <a:gs pos="100000">
              <a:schemeClr val="accent4">
                <a:shade val="80000"/>
                <a:hueOff val="-75668"/>
                <a:satOff val="-1871"/>
                <a:lumOff val="1070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t>
          </a:r>
          <a:r>
            <a:rPr lang="en-US" sz="2800" kern="1200" dirty="0" smtClean="0"/>
            <a:t>resize a table  </a:t>
          </a:r>
          <a:r>
            <a:rPr lang="en-US" sz="2800" kern="1200" dirty="0" smtClean="0"/>
            <a:t>in word</a:t>
          </a:r>
          <a:endParaRPr lang="en-US" sz="2800" kern="1200" dirty="0"/>
        </a:p>
      </dsp:txBody>
      <dsp:txXfrm>
        <a:off x="158829" y="1865401"/>
        <a:ext cx="2662981" cy="1597788"/>
      </dsp:txXfrm>
    </dsp:sp>
    <dsp:sp modelId="{A0EFA616-1553-4077-9D32-88AE20AC0552}">
      <dsp:nvSpPr>
        <dsp:cNvPr id="0" name=""/>
        <dsp:cNvSpPr/>
      </dsp:nvSpPr>
      <dsp:spPr>
        <a:xfrm>
          <a:off x="3088109" y="1865401"/>
          <a:ext cx="2662981" cy="1597788"/>
        </a:xfrm>
        <a:prstGeom prst="rect">
          <a:avLst/>
        </a:prstGeom>
        <a:gradFill rotWithShape="0">
          <a:gsLst>
            <a:gs pos="0">
              <a:schemeClr val="accent4">
                <a:shade val="80000"/>
                <a:hueOff val="-100890"/>
                <a:satOff val="-2494"/>
                <a:lumOff val="14279"/>
                <a:alphaOff val="0"/>
                <a:shade val="51000"/>
                <a:satMod val="130000"/>
              </a:schemeClr>
            </a:gs>
            <a:gs pos="80000">
              <a:schemeClr val="accent4">
                <a:shade val="80000"/>
                <a:hueOff val="-100890"/>
                <a:satOff val="-2494"/>
                <a:lumOff val="14279"/>
                <a:alphaOff val="0"/>
                <a:shade val="93000"/>
                <a:satMod val="130000"/>
              </a:schemeClr>
            </a:gs>
            <a:gs pos="100000">
              <a:schemeClr val="accent4">
                <a:shade val="80000"/>
                <a:hueOff val="-100890"/>
                <a:satOff val="-2494"/>
                <a:lumOff val="1427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t>
          </a:r>
          <a:r>
            <a:rPr lang="en-US" sz="2800" kern="1200" dirty="0" smtClean="0"/>
            <a:t>merge cells </a:t>
          </a:r>
          <a:r>
            <a:rPr lang="en-US" sz="2800" kern="1200" dirty="0" smtClean="0"/>
            <a:t>in word</a:t>
          </a:r>
          <a:endParaRPr lang="en-US" sz="2800" kern="1200" dirty="0"/>
        </a:p>
      </dsp:txBody>
      <dsp:txXfrm>
        <a:off x="3088109" y="1865401"/>
        <a:ext cx="2662981" cy="1597788"/>
      </dsp:txXfrm>
    </dsp:sp>
    <dsp:sp modelId="{D944875E-4200-44D3-9F4D-D995865E5F68}">
      <dsp:nvSpPr>
        <dsp:cNvPr id="0" name=""/>
        <dsp:cNvSpPr/>
      </dsp:nvSpPr>
      <dsp:spPr>
        <a:xfrm>
          <a:off x="6017388" y="1865401"/>
          <a:ext cx="2662981" cy="1597788"/>
        </a:xfrm>
        <a:prstGeom prst="rect">
          <a:avLst/>
        </a:prstGeom>
        <a:gradFill rotWithShape="0">
          <a:gsLst>
            <a:gs pos="0">
              <a:schemeClr val="accent4">
                <a:shade val="80000"/>
                <a:hueOff val="-126113"/>
                <a:satOff val="-3118"/>
                <a:lumOff val="17849"/>
                <a:alphaOff val="0"/>
                <a:shade val="51000"/>
                <a:satMod val="130000"/>
              </a:schemeClr>
            </a:gs>
            <a:gs pos="80000">
              <a:schemeClr val="accent4">
                <a:shade val="80000"/>
                <a:hueOff val="-126113"/>
                <a:satOff val="-3118"/>
                <a:lumOff val="17849"/>
                <a:alphaOff val="0"/>
                <a:shade val="93000"/>
                <a:satMod val="130000"/>
              </a:schemeClr>
            </a:gs>
            <a:gs pos="100000">
              <a:schemeClr val="accent4">
                <a:shade val="80000"/>
                <a:hueOff val="-126113"/>
                <a:satOff val="-3118"/>
                <a:lumOff val="1784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US" sz="2800" kern="1200" dirty="0" smtClean="0"/>
            <a:t>How to </a:t>
          </a:r>
          <a:r>
            <a:rPr lang="en-US" sz="2800" kern="1200" dirty="0" smtClean="0"/>
            <a:t>split cells </a:t>
          </a:r>
          <a:r>
            <a:rPr lang="en-US" sz="2800" kern="1200" dirty="0" smtClean="0"/>
            <a:t>in word</a:t>
          </a:r>
          <a:endParaRPr lang="en-US" sz="2800" kern="1200" dirty="0"/>
        </a:p>
      </dsp:txBody>
      <dsp:txXfrm>
        <a:off x="6017388" y="1865401"/>
        <a:ext cx="2662981" cy="1597788"/>
      </dsp:txXfrm>
    </dsp:sp>
    <dsp:sp modelId="{4F3BB94F-726F-42B1-B2C9-9077543F3D05}">
      <dsp:nvSpPr>
        <dsp:cNvPr id="0" name=""/>
        <dsp:cNvSpPr/>
      </dsp:nvSpPr>
      <dsp:spPr>
        <a:xfrm>
          <a:off x="1623469" y="3729488"/>
          <a:ext cx="2662981" cy="1597788"/>
        </a:xfrm>
        <a:prstGeom prst="rect">
          <a:avLst/>
        </a:prstGeom>
        <a:gradFill rotWithShape="0">
          <a:gsLst>
            <a:gs pos="0">
              <a:schemeClr val="accent4">
                <a:shade val="80000"/>
                <a:hueOff val="-151335"/>
                <a:satOff val="-3741"/>
                <a:lumOff val="21418"/>
                <a:alphaOff val="0"/>
                <a:shade val="51000"/>
                <a:satMod val="130000"/>
              </a:schemeClr>
            </a:gs>
            <a:gs pos="80000">
              <a:schemeClr val="accent4">
                <a:shade val="80000"/>
                <a:hueOff val="-151335"/>
                <a:satOff val="-3741"/>
                <a:lumOff val="21418"/>
                <a:alphaOff val="0"/>
                <a:shade val="93000"/>
                <a:satMod val="130000"/>
              </a:schemeClr>
            </a:gs>
            <a:gs pos="100000">
              <a:schemeClr val="accent4">
                <a:shade val="80000"/>
                <a:hueOff val="-151335"/>
                <a:satOff val="-3741"/>
                <a:lumOff val="2141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GB" sz="2800" kern="1200" dirty="0"/>
            <a:t>How to </a:t>
          </a:r>
          <a:r>
            <a:rPr lang="en-GB" sz="2800" kern="1200" dirty="0" smtClean="0"/>
            <a:t>Add Formula in </a:t>
          </a:r>
          <a:r>
            <a:rPr lang="en-GB" sz="2800" kern="1200" dirty="0"/>
            <a:t>word</a:t>
          </a:r>
        </a:p>
      </dsp:txBody>
      <dsp:txXfrm>
        <a:off x="1623469" y="3729488"/>
        <a:ext cx="2662981" cy="1597788"/>
      </dsp:txXfrm>
    </dsp:sp>
    <dsp:sp modelId="{31EA35DB-A737-45B2-AEA8-3AC4C64F3EDA}">
      <dsp:nvSpPr>
        <dsp:cNvPr id="0" name=""/>
        <dsp:cNvSpPr/>
      </dsp:nvSpPr>
      <dsp:spPr>
        <a:xfrm>
          <a:off x="4552749" y="3729488"/>
          <a:ext cx="2662981" cy="1597788"/>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06680" tIns="106680" rIns="106680" bIns="106680" numCol="1" spcCol="1270" anchor="ctr" anchorCtr="0">
          <a:noAutofit/>
        </a:bodyPr>
        <a:lstStyle/>
        <a:p>
          <a:pPr lvl="0" algn="ctr" defTabSz="1244600">
            <a:lnSpc>
              <a:spcPct val="90000"/>
            </a:lnSpc>
            <a:spcBef>
              <a:spcPct val="0"/>
            </a:spcBef>
            <a:spcAft>
              <a:spcPct val="35000"/>
            </a:spcAft>
          </a:pPr>
          <a:r>
            <a:rPr lang="en-GB" sz="2800" kern="1200" dirty="0"/>
            <a:t>How to </a:t>
          </a:r>
          <a:r>
            <a:rPr lang="en-GB" sz="2800" kern="1200" dirty="0" smtClean="0"/>
            <a:t>Add Borders &amp; Shades in </a:t>
          </a:r>
          <a:r>
            <a:rPr lang="en-GB" sz="2800" kern="1200" dirty="0"/>
            <a:t>word</a:t>
          </a:r>
        </a:p>
      </dsp:txBody>
      <dsp:txXfrm>
        <a:off x="4552749" y="3729488"/>
        <a:ext cx="2662981" cy="1597788"/>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2/19/2021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a:t>
            </a:fld>
            <a:endParaRPr lang="en-US">
              <a:solidFill>
                <a:prstClr val="black"/>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a:solidFill>
                <a:prstClr val="black"/>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a:solidFill>
                <a:prstClr val="black"/>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a:t>
            </a:fld>
            <a:endParaRPr lang="en-US">
              <a:solidFill>
                <a:prstClr val="black"/>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a:solidFill>
                <a:prstClr val="black"/>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a:solidFill>
                <a:prstClr val="black"/>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a:solidFill>
                <a:prstClr val="black"/>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a:solidFill>
                <a:prstClr val="black"/>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a:solidFill>
                <a:prstClr val="black"/>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a:solidFill>
                <a:prstClr val="black"/>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a:solidFill>
                <a:prstClr val="black"/>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a:solidFill>
                <a:prstClr val="black"/>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a:solidFill>
                <a:prstClr val="black"/>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a:solidFill>
                <a:prstClr val="black"/>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a:solidFill>
                <a:prstClr val="black"/>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a:solidFill>
                <a:prstClr val="black"/>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a:solidFill>
                <a:prstClr val="black"/>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a:solidFill>
                <a:prstClr val="black"/>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a:solidFill>
                <a:prstClr val="black"/>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a:solidFill>
                <a:prstClr val="black"/>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a:solidFill>
                <a:prstClr val="black"/>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a:solidFill>
                <a:prstClr val="black"/>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a:solidFill>
                <a:prstClr val="black"/>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a:solidFill>
                <a:prstClr val="black"/>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a:solidFill>
                <a:prstClr val="black"/>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a:solidFill>
                <a:prstClr val="black"/>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a:solidFill>
                <a:prstClr val="black"/>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a:solidFill>
                <a:prstClr val="black"/>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a:solidFill>
                <a:prstClr val="black"/>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a:solidFill>
                <a:prstClr val="black"/>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a:solidFill>
                <a:prstClr val="black"/>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a:solidFill>
                <a:prstClr val="black"/>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a:solidFill>
                <a:prstClr val="black"/>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a:solidFill>
                <a:prstClr val="black"/>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a:solidFill>
                <a:prstClr val="black"/>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a:solidFill>
                <a:prstClr val="black"/>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a:solidFill>
                <a:prstClr val="black"/>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44</a:t>
            </a:fld>
            <a:endParaRPr lang="en-US" smtClean="0">
              <a:solidFill>
                <a:prstClr val="black"/>
              </a:solidFill>
              <a:latin typeface="Calibri" pitchFamily="34"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45</a:t>
            </a:fld>
            <a:endParaRPr lang="en-US" smtClean="0">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smtClean="0"/>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5.jpe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3388933177"/>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798013630"/>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977671682"/>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126D987F-03E4-4E3A-BED9-08B6BA3A15AB}"/>
                                            </p:graphicEl>
                                          </p:spTgt>
                                        </p:tgtEl>
                                        <p:attrNameLst>
                                          <p:attrName>style.visibility</p:attrName>
                                        </p:attrNameLst>
                                      </p:cBhvr>
                                      <p:to>
                                        <p:strVal val="visible"/>
                                      </p:to>
                                    </p:set>
                                    <p:animEffect transition="in" filter="dissolve">
                                      <p:cBhvr>
                                        <p:cTn id="22" dur="500"/>
                                        <p:tgtEl>
                                          <p:spTgt spid="7">
                                            <p:graphicEl>
                                              <a:dgm id="{126D987F-03E4-4E3A-BED9-08B6BA3A15AB}"/>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2000"/>
                                  </p:stCondLst>
                                  <p:childTnLst>
                                    <p:set>
                                      <p:cBhvr>
                                        <p:cTn id="26" dur="1" fill="hold">
                                          <p:stCondLst>
                                            <p:cond delay="0"/>
                                          </p:stCondLst>
                                        </p:cTn>
                                        <p:tgtEl>
                                          <p:spTgt spid="7">
                                            <p:graphicEl>
                                              <a:dgm id="{A0EFA616-1553-4077-9D32-88AE20AC0552}"/>
                                            </p:graphicEl>
                                          </p:spTgt>
                                        </p:tgtEl>
                                        <p:attrNameLst>
                                          <p:attrName>style.visibility</p:attrName>
                                        </p:attrNameLst>
                                      </p:cBhvr>
                                      <p:to>
                                        <p:strVal val="visible"/>
                                      </p:to>
                                    </p:set>
                                    <p:animEffect transition="in" filter="dissolve">
                                      <p:cBhvr>
                                        <p:cTn id="27" dur="500"/>
                                        <p:tgtEl>
                                          <p:spTgt spid="7">
                                            <p:graphicEl>
                                              <a:dgm id="{A0EFA616-1553-4077-9D32-88AE20AC0552}"/>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2000"/>
                                  </p:stCondLst>
                                  <p:childTnLst>
                                    <p:set>
                                      <p:cBhvr>
                                        <p:cTn id="31" dur="1" fill="hold">
                                          <p:stCondLst>
                                            <p:cond delay="0"/>
                                          </p:stCondLst>
                                        </p:cTn>
                                        <p:tgtEl>
                                          <p:spTgt spid="7">
                                            <p:graphicEl>
                                              <a:dgm id="{D944875E-4200-44D3-9F4D-D995865E5F68}"/>
                                            </p:graphicEl>
                                          </p:spTgt>
                                        </p:tgtEl>
                                        <p:attrNameLst>
                                          <p:attrName>style.visibility</p:attrName>
                                        </p:attrNameLst>
                                      </p:cBhvr>
                                      <p:to>
                                        <p:strVal val="visible"/>
                                      </p:to>
                                    </p:set>
                                    <p:animEffect transition="in" filter="dissolve">
                                      <p:cBhvr>
                                        <p:cTn id="32" dur="500"/>
                                        <p:tgtEl>
                                          <p:spTgt spid="7">
                                            <p:graphicEl>
                                              <a:dgm id="{D944875E-4200-44D3-9F4D-D995865E5F68}"/>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2000"/>
                                  </p:stCondLst>
                                  <p:childTnLst>
                                    <p:set>
                                      <p:cBhvr>
                                        <p:cTn id="36" dur="1" fill="hold">
                                          <p:stCondLst>
                                            <p:cond delay="0"/>
                                          </p:stCondLst>
                                        </p:cTn>
                                        <p:tgtEl>
                                          <p:spTgt spid="7">
                                            <p:graphicEl>
                                              <a:dgm id="{4F3BB94F-726F-42B1-B2C9-9077543F3D05}"/>
                                            </p:graphicEl>
                                          </p:spTgt>
                                        </p:tgtEl>
                                        <p:attrNameLst>
                                          <p:attrName>style.visibility</p:attrName>
                                        </p:attrNameLst>
                                      </p:cBhvr>
                                      <p:to>
                                        <p:strVal val="visible"/>
                                      </p:to>
                                    </p:set>
                                    <p:animEffect transition="in" filter="dissolve">
                                      <p:cBhvr>
                                        <p:cTn id="37" dur="500"/>
                                        <p:tgtEl>
                                          <p:spTgt spid="7">
                                            <p:graphicEl>
                                              <a:dgm id="{4F3BB94F-726F-42B1-B2C9-9077543F3D05}"/>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2000"/>
                                  </p:stCondLst>
                                  <p:childTnLst>
                                    <p:set>
                                      <p:cBhvr>
                                        <p:cTn id="41" dur="1" fill="hold">
                                          <p:stCondLst>
                                            <p:cond delay="0"/>
                                          </p:stCondLst>
                                        </p:cTn>
                                        <p:tgtEl>
                                          <p:spTgt spid="7">
                                            <p:graphicEl>
                                              <a:dgm id="{31EA35DB-A737-45B2-AEA8-3AC4C64F3EDA}"/>
                                            </p:graphicEl>
                                          </p:spTgt>
                                        </p:tgtEl>
                                        <p:attrNameLst>
                                          <p:attrName>style.visibility</p:attrName>
                                        </p:attrNameLst>
                                      </p:cBhvr>
                                      <p:to>
                                        <p:strVal val="visible"/>
                                      </p:to>
                                    </p:set>
                                    <p:animEffect transition="in" filter="dissolve">
                                      <p:cBhvr>
                                        <p:cTn id="42" dur="500"/>
                                        <p:tgtEl>
                                          <p:spTgt spid="7">
                                            <p:graphicEl>
                                              <a:dgm id="{31EA35DB-A737-45B2-AEA8-3AC4C64F3EDA}"/>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980728"/>
          </a:xfrm>
        </p:spPr>
        <p:txBody>
          <a:bodyPr/>
          <a:lstStyle/>
          <a:p>
            <a:pPr algn="ctr"/>
            <a:r>
              <a:rPr lang="en-GB" dirty="0"/>
              <a:t>Create a Table in Word 2010</a:t>
            </a:r>
            <a:endParaRPr lang="en-US" dirty="0"/>
          </a:p>
        </p:txBody>
      </p:sp>
      <p:sp>
        <p:nvSpPr>
          <p:cNvPr id="3" name="Content Placeholder 2"/>
          <p:cNvSpPr>
            <a:spLocks noGrp="1"/>
          </p:cNvSpPr>
          <p:nvPr>
            <p:ph idx="1"/>
          </p:nvPr>
        </p:nvSpPr>
        <p:spPr>
          <a:xfrm>
            <a:off x="152400" y="764704"/>
            <a:ext cx="8839200" cy="5636096"/>
          </a:xfrm>
        </p:spPr>
        <p:txBody>
          <a:bodyPr>
            <a:normAutofit/>
          </a:bodyPr>
          <a:lstStyle/>
          <a:p>
            <a:pPr algn="just"/>
            <a:r>
              <a:rPr lang="en-GB" dirty="0"/>
              <a:t>A table is a structure of </a:t>
            </a:r>
            <a:r>
              <a:rPr lang="en-GB" b="1" dirty="0"/>
              <a:t>vertical columns </a:t>
            </a:r>
            <a:r>
              <a:rPr lang="en-GB" dirty="0"/>
              <a:t>and </a:t>
            </a:r>
            <a:r>
              <a:rPr lang="en-GB" b="1" dirty="0"/>
              <a:t>horizontal rows </a:t>
            </a:r>
            <a:r>
              <a:rPr lang="en-GB" dirty="0"/>
              <a:t>with a </a:t>
            </a:r>
            <a:r>
              <a:rPr lang="en-GB" b="1" dirty="0"/>
              <a:t>cell</a:t>
            </a:r>
            <a:r>
              <a:rPr lang="en-GB" dirty="0"/>
              <a:t> at every intersection. </a:t>
            </a:r>
            <a:endParaRPr lang="en-GB" dirty="0" smtClean="0"/>
          </a:p>
          <a:p>
            <a:pPr algn="just"/>
            <a:endParaRPr lang="en-GB" dirty="0"/>
          </a:p>
          <a:p>
            <a:pPr algn="just"/>
            <a:r>
              <a:rPr lang="en-GB" dirty="0"/>
              <a:t>Each cell can contain text or graphics, and you can format the table in any </a:t>
            </a:r>
            <a:r>
              <a:rPr lang="en-GB" dirty="0" smtClean="0"/>
              <a:t>way </a:t>
            </a:r>
            <a:r>
              <a:rPr lang="en-GB" dirty="0"/>
              <a:t>you want. </a:t>
            </a:r>
            <a:endParaRPr lang="en-GB" dirty="0" smtClean="0"/>
          </a:p>
          <a:p>
            <a:pPr algn="just"/>
            <a:endParaRPr lang="en-GB" dirty="0"/>
          </a:p>
          <a:p>
            <a:pPr algn="just"/>
            <a:r>
              <a:rPr lang="en-GB" dirty="0"/>
              <a:t>Usually the top row in the table is kept as a table header and can be used to put some informative instruction.</a:t>
            </a:r>
            <a:endParaRPr lang="en-US" dirty="0"/>
          </a:p>
        </p:txBody>
      </p:sp>
      <p:sp>
        <p:nvSpPr>
          <p:cNvPr id="8" name="Text Placeholder 7"/>
          <p:cNvSpPr>
            <a:spLocks noGrp="1"/>
          </p:cNvSpPr>
          <p:nvPr>
            <p:ph type="body" sz="quarter" idx="13"/>
          </p:nvPr>
        </p:nvSpPr>
        <p:spPr/>
        <p:txBody>
          <a:bodyPr/>
          <a:lstStyle/>
          <a:p>
            <a:endParaRPr lang="en-GB"/>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200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wipe(left)">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200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wipe(left)">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92696"/>
          </a:xfrm>
        </p:spPr>
        <p:txBody>
          <a:bodyPr>
            <a:normAutofit fontScale="90000"/>
          </a:bodyPr>
          <a:lstStyle/>
          <a:p>
            <a:pPr algn="ctr"/>
            <a:r>
              <a:rPr lang="en-GB" dirty="0"/>
              <a:t>Create a Table</a:t>
            </a:r>
            <a:endParaRPr lang="en-US" dirty="0"/>
          </a:p>
        </p:txBody>
      </p:sp>
      <p:sp>
        <p:nvSpPr>
          <p:cNvPr id="3" name="Content Placeholder 2"/>
          <p:cNvSpPr>
            <a:spLocks noGrp="1"/>
          </p:cNvSpPr>
          <p:nvPr>
            <p:ph idx="1"/>
          </p:nvPr>
        </p:nvSpPr>
        <p:spPr>
          <a:xfrm>
            <a:off x="152400" y="548680"/>
            <a:ext cx="8839200" cy="5852120"/>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Click the Insert tab followed by the Table button. This will display a simple grid as shown below. </a:t>
            </a:r>
            <a:endParaRPr lang="en-GB" sz="2400" dirty="0" smtClean="0"/>
          </a:p>
          <a:p>
            <a:pPr algn="just"/>
            <a:r>
              <a:rPr lang="en-GB" sz="2400" dirty="0" smtClean="0"/>
              <a:t>When </a:t>
            </a:r>
            <a:r>
              <a:rPr lang="en-GB" sz="2400" dirty="0"/>
              <a:t>you move your mouse over the grid cells, it makes a table in the table that appears in the document. You can make your table having the desired number of rows and columns.</a:t>
            </a:r>
            <a:endParaRPr lang="en-US" sz="2400" dirty="0"/>
          </a:p>
        </p:txBody>
      </p:sp>
      <p:pic>
        <p:nvPicPr>
          <p:cNvPr id="1026" name="Picture 2" descr="C:\Users\UCCSMS1\Desktop\images\table_grid.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1840" y="2988131"/>
            <a:ext cx="5334000" cy="37872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2649079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92696"/>
          </a:xfrm>
        </p:spPr>
        <p:txBody>
          <a:bodyPr>
            <a:normAutofit fontScale="90000"/>
          </a:bodyPr>
          <a:lstStyle/>
          <a:p>
            <a:pPr algn="ctr"/>
            <a:r>
              <a:rPr lang="en-GB" dirty="0"/>
              <a:t>Create a Table</a:t>
            </a:r>
            <a:endParaRPr lang="en-US" dirty="0"/>
          </a:p>
        </p:txBody>
      </p:sp>
      <p:sp>
        <p:nvSpPr>
          <p:cNvPr id="3" name="Content Placeholder 2"/>
          <p:cNvSpPr>
            <a:spLocks noGrp="1"/>
          </p:cNvSpPr>
          <p:nvPr>
            <p:ph idx="1"/>
          </p:nvPr>
        </p:nvSpPr>
        <p:spPr>
          <a:xfrm>
            <a:off x="152400" y="548680"/>
            <a:ext cx="8839200" cy="6309320"/>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Click the square representing the lower-right corner of your table, which will create an actual table in your document and Word goes in the table design mode. </a:t>
            </a:r>
            <a:endParaRPr lang="en-GB" sz="2400" dirty="0" smtClean="0"/>
          </a:p>
          <a:p>
            <a:pPr algn="just"/>
            <a:r>
              <a:rPr lang="en-GB" sz="2400" dirty="0" smtClean="0"/>
              <a:t>The </a:t>
            </a:r>
            <a:r>
              <a:rPr lang="en-GB" sz="2400" dirty="0"/>
              <a:t>table design mode has many options to work with as shown below</a:t>
            </a:r>
            <a:r>
              <a:rPr lang="en-GB" sz="2400" dirty="0" smtClean="0"/>
              <a:t>.</a:t>
            </a:r>
          </a:p>
          <a:p>
            <a:pPr algn="just"/>
            <a:endParaRPr lang="en-US" sz="2400" dirty="0"/>
          </a:p>
        </p:txBody>
      </p:sp>
      <p:pic>
        <p:nvPicPr>
          <p:cNvPr id="2050" name="Picture 2" descr="C:\Users\UCCSMS1\Desktop\images\create_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15816" y="2708920"/>
            <a:ext cx="5334000"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89482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Create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3</a:t>
            </a:r>
            <a:endParaRPr lang="en-GB" sz="2400" b="1" dirty="0" smtClean="0">
              <a:solidFill>
                <a:srgbClr val="FF0000"/>
              </a:solidFill>
            </a:endParaRPr>
          </a:p>
          <a:p>
            <a:pPr algn="just"/>
            <a:r>
              <a:rPr lang="en-GB" sz="2400" dirty="0"/>
              <a:t>This is an optional step that can be worked out if you want to have a fancy table. </a:t>
            </a:r>
            <a:endParaRPr lang="en-GB" sz="2400" dirty="0" smtClean="0"/>
          </a:p>
          <a:p>
            <a:pPr algn="just"/>
            <a:r>
              <a:rPr lang="en-GB" sz="2400" dirty="0" smtClean="0"/>
              <a:t>Click </a:t>
            </a:r>
            <a:r>
              <a:rPr lang="en-GB" sz="2400" dirty="0"/>
              <a:t>the Table Styles button to display a gallery of table styles. When you move your mouse over any of the styles, it shows real time preview of your actual table.</a:t>
            </a:r>
            <a:endParaRPr lang="en-GB" sz="2400" dirty="0" smtClean="0"/>
          </a:p>
          <a:p>
            <a:pPr algn="just"/>
            <a:endParaRPr lang="en-US" sz="2400" dirty="0"/>
          </a:p>
        </p:txBody>
      </p:sp>
      <p:pic>
        <p:nvPicPr>
          <p:cNvPr id="3074" name="Picture 2" descr="C:\Users\UCCSMS1\Desktop\images\table_style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7864" y="2924945"/>
            <a:ext cx="5334000" cy="3933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37495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Create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4</a:t>
            </a:r>
          </a:p>
          <a:p>
            <a:pPr algn="just"/>
            <a:r>
              <a:rPr lang="en-GB" sz="2400" dirty="0"/>
              <a:t>To select any of the styles, just click the built-in table style and you will see that the selected style has been applied on your table</a:t>
            </a:r>
            <a:r>
              <a:rPr lang="en-GB" sz="2400" dirty="0" smtClean="0"/>
              <a:t>.</a:t>
            </a:r>
          </a:p>
          <a:p>
            <a:pPr algn="just"/>
            <a:endParaRPr lang="en-GB" sz="2400" dirty="0" smtClean="0"/>
          </a:p>
          <a:p>
            <a:pPr algn="just"/>
            <a:endParaRPr lang="en-US" sz="2400" dirty="0"/>
          </a:p>
        </p:txBody>
      </p:sp>
      <p:pic>
        <p:nvPicPr>
          <p:cNvPr id="4098" name="Picture 2" descr="C:\Users\UCCSMS1\Desktop\images\table_styles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1988840"/>
            <a:ext cx="5976664" cy="43742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462902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Delete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Click anywhere in the table you want to delete</a:t>
            </a:r>
            <a:r>
              <a:rPr lang="en-GB" sz="2400" dirty="0" smtClean="0"/>
              <a:t>.</a:t>
            </a:r>
          </a:p>
          <a:p>
            <a:pPr marL="0" indent="0" algn="ctr">
              <a:buNone/>
            </a:pPr>
            <a:r>
              <a:rPr lang="en-GB" sz="2400" b="1" dirty="0">
                <a:solidFill>
                  <a:srgbClr val="FF0000"/>
                </a:solidFill>
              </a:rPr>
              <a:t>Step 2</a:t>
            </a:r>
            <a:r>
              <a:rPr lang="en-GB" sz="2400" dirty="0"/>
              <a:t> </a:t>
            </a:r>
            <a:r>
              <a:rPr lang="en-GB" sz="2400" dirty="0" smtClean="0"/>
              <a:t> </a:t>
            </a:r>
          </a:p>
          <a:p>
            <a:pPr algn="just"/>
            <a:r>
              <a:rPr lang="en-GB" sz="2400" dirty="0" smtClean="0"/>
              <a:t>Click </a:t>
            </a:r>
            <a:r>
              <a:rPr lang="en-GB" sz="2400" dirty="0"/>
              <a:t>the </a:t>
            </a:r>
            <a:r>
              <a:rPr lang="en-GB" sz="2400" b="1" dirty="0"/>
              <a:t>Layout tab</a:t>
            </a:r>
            <a:r>
              <a:rPr lang="en-GB" sz="2400" dirty="0"/>
              <a:t>, and click the </a:t>
            </a:r>
            <a:r>
              <a:rPr lang="en-GB" sz="2400" b="1" dirty="0"/>
              <a:t>Delete Table option </a:t>
            </a:r>
            <a:r>
              <a:rPr lang="en-GB" sz="2400" dirty="0"/>
              <a:t>under the Delete Table Button to delete the complete table from the document along with its content.</a:t>
            </a:r>
            <a:endParaRPr lang="en-GB" sz="2400" dirty="0" smtClean="0"/>
          </a:p>
          <a:p>
            <a:pPr algn="just"/>
            <a:endParaRPr lang="en-GB" sz="2400" dirty="0" smtClean="0"/>
          </a:p>
          <a:p>
            <a:pPr algn="just"/>
            <a:endParaRPr lang="en-US" sz="2400" dirty="0"/>
          </a:p>
        </p:txBody>
      </p:sp>
      <p:pic>
        <p:nvPicPr>
          <p:cNvPr id="5122" name="Picture 2" descr="C:\Users\UCCSMS1\Desktop\images\delete_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9832" y="3140968"/>
            <a:ext cx="5334000" cy="3543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59047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Add a Row</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Click a </a:t>
            </a:r>
            <a:r>
              <a:rPr lang="en-GB" sz="2400" b="1" dirty="0"/>
              <a:t>row</a:t>
            </a:r>
            <a:r>
              <a:rPr lang="en-GB" sz="2400" dirty="0"/>
              <a:t> where you want to add an additional row and then </a:t>
            </a:r>
            <a:endParaRPr lang="en-GB" sz="2400" dirty="0" smtClean="0"/>
          </a:p>
          <a:p>
            <a:pPr algn="just"/>
            <a:r>
              <a:rPr lang="en-GB" sz="2400" dirty="0"/>
              <a:t>C</a:t>
            </a:r>
            <a:r>
              <a:rPr lang="en-GB" sz="2400" dirty="0" smtClean="0"/>
              <a:t>lick </a:t>
            </a:r>
            <a:r>
              <a:rPr lang="en-GB" sz="2400" dirty="0"/>
              <a:t>the </a:t>
            </a:r>
            <a:r>
              <a:rPr lang="en-GB" sz="2400" b="1" dirty="0"/>
              <a:t>Layout tab</a:t>
            </a:r>
            <a:r>
              <a:rPr lang="en-GB" sz="2400" dirty="0"/>
              <a:t>; it will show the following </a:t>
            </a:r>
            <a:r>
              <a:rPr lang="en-GB" sz="2400" dirty="0" smtClean="0"/>
              <a:t>screen.</a:t>
            </a:r>
          </a:p>
          <a:p>
            <a:pPr algn="just"/>
            <a:endParaRPr lang="en-GB" sz="2400" dirty="0" smtClean="0"/>
          </a:p>
          <a:p>
            <a:pPr algn="just"/>
            <a:endParaRPr lang="en-US" sz="2400" dirty="0"/>
          </a:p>
        </p:txBody>
      </p:sp>
      <p:pic>
        <p:nvPicPr>
          <p:cNvPr id="6146" name="Picture 2" descr="C:\Users\UCCSMS1\Desktop\images\add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276872"/>
            <a:ext cx="5334000" cy="355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96183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Add a Row</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Now use the </a:t>
            </a:r>
            <a:r>
              <a:rPr lang="en-GB" sz="2400" b="1" dirty="0"/>
              <a:t>Row &amp; Column group of buttons</a:t>
            </a:r>
            <a:r>
              <a:rPr lang="en-GB" sz="2400" dirty="0"/>
              <a:t> to add any row below or above to the selected row. </a:t>
            </a:r>
            <a:endParaRPr lang="en-GB" sz="2400" dirty="0" smtClean="0"/>
          </a:p>
          <a:p>
            <a:pPr algn="just"/>
            <a:r>
              <a:rPr lang="en-GB" sz="2400" dirty="0" smtClean="0"/>
              <a:t>If </a:t>
            </a:r>
            <a:r>
              <a:rPr lang="en-GB" sz="2400" dirty="0"/>
              <a:t>you click the Insert Below button, it will add a row just below the selected row as follows.</a:t>
            </a:r>
            <a:endParaRPr lang="en-GB" sz="2400" dirty="0" smtClean="0"/>
          </a:p>
          <a:p>
            <a:pPr algn="just"/>
            <a:endParaRPr lang="en-GB" sz="2400" dirty="0" smtClean="0"/>
          </a:p>
          <a:p>
            <a:pPr algn="just"/>
            <a:endParaRPr lang="en-US" sz="2400" dirty="0"/>
          </a:p>
        </p:txBody>
      </p:sp>
      <p:pic>
        <p:nvPicPr>
          <p:cNvPr id="7170" name="Picture 2" descr="C:\Users\UCCSMS1\Desktop\images\add_new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544692"/>
            <a:ext cx="6048672" cy="3980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714486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Delete a Row</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Click a row which you want to delete from the table and then click the </a:t>
            </a:r>
            <a:r>
              <a:rPr lang="en-GB" sz="2400" b="1" dirty="0"/>
              <a:t>Layout tab</a:t>
            </a:r>
            <a:r>
              <a:rPr lang="en-GB" sz="2400" dirty="0"/>
              <a:t>; it will show the following screen.</a:t>
            </a:r>
            <a:endParaRPr lang="en-GB" sz="2400" dirty="0" smtClean="0"/>
          </a:p>
          <a:p>
            <a:pPr algn="just"/>
            <a:endParaRPr lang="en-GB" sz="2400" dirty="0" smtClean="0"/>
          </a:p>
          <a:p>
            <a:pPr algn="just"/>
            <a:endParaRPr lang="en-US" sz="2400" dirty="0"/>
          </a:p>
        </p:txBody>
      </p:sp>
      <p:pic>
        <p:nvPicPr>
          <p:cNvPr id="8194" name="Picture 2" descr="C:\Users\UCCSMS1\Desktop\images\delete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060848"/>
            <a:ext cx="5976664"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941725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Delete a Row</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Click the </a:t>
            </a:r>
            <a:r>
              <a:rPr lang="en-GB" sz="2400" b="1" dirty="0"/>
              <a:t>Layout tab</a:t>
            </a:r>
            <a:r>
              <a:rPr lang="en-GB" sz="2400" dirty="0"/>
              <a:t>, and then click the </a:t>
            </a:r>
            <a:r>
              <a:rPr lang="en-GB" sz="2400" b="1" dirty="0"/>
              <a:t>Delete Rows option </a:t>
            </a:r>
            <a:r>
              <a:rPr lang="en-GB" sz="2400" dirty="0"/>
              <a:t>under the Delete Table Button to delete the selected row.</a:t>
            </a:r>
          </a:p>
          <a:p>
            <a:pPr marL="0" indent="0" algn="just">
              <a:buNone/>
            </a:pPr>
            <a:endParaRPr lang="en-GB" sz="2400" dirty="0" smtClean="0"/>
          </a:p>
          <a:p>
            <a:pPr algn="just"/>
            <a:endParaRPr lang="en-GB" sz="2400" dirty="0" smtClean="0"/>
          </a:p>
          <a:p>
            <a:pPr algn="just"/>
            <a:endParaRPr lang="en-US" sz="2400" dirty="0"/>
          </a:p>
        </p:txBody>
      </p:sp>
      <p:pic>
        <p:nvPicPr>
          <p:cNvPr id="9218" name="Picture 2" descr="C:\Users\UCCSMS1\Desktop\images\delete_new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204864"/>
            <a:ext cx="5688632"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357331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Add a Column</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Click a </a:t>
            </a:r>
            <a:r>
              <a:rPr lang="en-GB" sz="2400" b="1" dirty="0"/>
              <a:t>column</a:t>
            </a:r>
            <a:r>
              <a:rPr lang="en-GB" sz="2400" dirty="0"/>
              <a:t> where you want to add an additional column and then click the </a:t>
            </a:r>
            <a:r>
              <a:rPr lang="en-GB" sz="2400" b="1" dirty="0"/>
              <a:t>Layout tab</a:t>
            </a:r>
            <a:r>
              <a:rPr lang="en-GB" sz="2400" dirty="0"/>
              <a:t>; it will show the following screen.</a:t>
            </a:r>
          </a:p>
          <a:p>
            <a:pPr marL="0" indent="0" algn="just">
              <a:buNone/>
            </a:pPr>
            <a:endParaRPr lang="en-GB" sz="2400" dirty="0" smtClean="0"/>
          </a:p>
          <a:p>
            <a:pPr algn="just"/>
            <a:endParaRPr lang="en-GB" sz="2400" dirty="0" smtClean="0"/>
          </a:p>
          <a:p>
            <a:pPr algn="just"/>
            <a:endParaRPr lang="en-US" sz="2400" dirty="0"/>
          </a:p>
        </p:txBody>
      </p:sp>
      <p:pic>
        <p:nvPicPr>
          <p:cNvPr id="10242" name="Picture 2" descr="C:\Users\UCCSMS1\Desktop\images\add_colum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060848"/>
            <a:ext cx="5472608"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427237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Add a Column</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Now use </a:t>
            </a:r>
            <a:r>
              <a:rPr lang="en-GB" sz="2400" b="1" dirty="0"/>
              <a:t>the Row &amp; Column group of buttons </a:t>
            </a:r>
            <a:r>
              <a:rPr lang="en-GB" sz="2400" dirty="0"/>
              <a:t>to add any column to the left or right of the selected column. </a:t>
            </a:r>
            <a:endParaRPr lang="en-GB" sz="2400" dirty="0" smtClean="0"/>
          </a:p>
          <a:p>
            <a:pPr algn="just"/>
            <a:r>
              <a:rPr lang="en-GB" sz="2400" dirty="0" smtClean="0"/>
              <a:t>If </a:t>
            </a:r>
            <a:r>
              <a:rPr lang="en-GB" sz="2400" dirty="0"/>
              <a:t>you click the Insert Left button, it will add a column just left to the selected column as </a:t>
            </a:r>
            <a:r>
              <a:rPr lang="en-GB" sz="2400" dirty="0" smtClean="0"/>
              <a:t>follows.</a:t>
            </a:r>
            <a:endParaRPr lang="en-GB" sz="2400" dirty="0"/>
          </a:p>
          <a:p>
            <a:pPr marL="0" indent="0" algn="just">
              <a:buNone/>
            </a:pPr>
            <a:endParaRPr lang="en-GB" sz="2400" dirty="0" smtClean="0"/>
          </a:p>
          <a:p>
            <a:pPr algn="just"/>
            <a:endParaRPr lang="en-GB" sz="2400" dirty="0" smtClean="0"/>
          </a:p>
          <a:p>
            <a:pPr algn="just"/>
            <a:endParaRPr lang="en-US" sz="2400" dirty="0"/>
          </a:p>
        </p:txBody>
      </p:sp>
      <p:pic>
        <p:nvPicPr>
          <p:cNvPr id="11266" name="Picture 2" descr="C:\Users\UCCSMS1\Desktop\images\add_new_colum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708920"/>
            <a:ext cx="5760640"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55270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Delete a Column</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Click a column which you want to delete from the table and then click the Layout tab; it will show the following screen</a:t>
            </a:r>
            <a:r>
              <a:rPr lang="en-GB" sz="2400" dirty="0" smtClean="0"/>
              <a:t>.</a:t>
            </a:r>
          </a:p>
          <a:p>
            <a:pPr algn="just"/>
            <a:endParaRPr lang="en-GB" sz="2400" dirty="0"/>
          </a:p>
          <a:p>
            <a:pPr marL="0" indent="0" algn="just">
              <a:buNone/>
            </a:pPr>
            <a:endParaRPr lang="en-GB" sz="2400" dirty="0" smtClean="0"/>
          </a:p>
          <a:p>
            <a:pPr algn="just"/>
            <a:endParaRPr lang="en-GB" sz="2400" dirty="0" smtClean="0"/>
          </a:p>
          <a:p>
            <a:pPr algn="just"/>
            <a:endParaRPr lang="en-US" sz="2400" dirty="0"/>
          </a:p>
        </p:txBody>
      </p:sp>
      <p:pic>
        <p:nvPicPr>
          <p:cNvPr id="12290" name="Picture 2" descr="C:\Users\UCCSMS1\Desktop\images\delete_colum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79712" y="2204864"/>
            <a:ext cx="6336704" cy="41647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301127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Delete a Column</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Click the </a:t>
            </a:r>
            <a:r>
              <a:rPr lang="en-GB" sz="2400" b="1" dirty="0"/>
              <a:t>Layout tab</a:t>
            </a:r>
            <a:r>
              <a:rPr lang="en-GB" sz="2400" dirty="0"/>
              <a:t>, and click the </a:t>
            </a:r>
            <a:r>
              <a:rPr lang="en-GB" sz="2400" b="1" dirty="0"/>
              <a:t>Delete Column option </a:t>
            </a:r>
            <a:r>
              <a:rPr lang="en-GB" sz="2400" dirty="0"/>
              <a:t>under the Delete Table Button to delete the selected column.</a:t>
            </a:r>
            <a:endParaRPr lang="en-GB" sz="2400" dirty="0" smtClean="0"/>
          </a:p>
          <a:p>
            <a:pPr algn="just"/>
            <a:endParaRPr lang="en-GB" sz="2400" dirty="0"/>
          </a:p>
          <a:p>
            <a:pPr marL="0" indent="0" algn="just">
              <a:buNone/>
            </a:pPr>
            <a:endParaRPr lang="en-GB" sz="2400" dirty="0" smtClean="0"/>
          </a:p>
          <a:p>
            <a:pPr algn="just"/>
            <a:endParaRPr lang="en-GB" sz="2400" dirty="0" smtClean="0"/>
          </a:p>
          <a:p>
            <a:pPr algn="just"/>
            <a:endParaRPr lang="en-US" sz="2400" dirty="0"/>
          </a:p>
        </p:txBody>
      </p:sp>
      <p:pic>
        <p:nvPicPr>
          <p:cNvPr id="13314" name="Picture 2" descr="C:\Users\UCCSMS1\Desktop\images\delete_new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132856"/>
            <a:ext cx="5832648"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20367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Move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Bring your mouse pointer over the table which you want to move from one location to another location. </a:t>
            </a:r>
            <a:endParaRPr lang="en-GB" sz="2400" dirty="0" smtClean="0"/>
          </a:p>
          <a:p>
            <a:pPr algn="just"/>
            <a:r>
              <a:rPr lang="en-GB" sz="2400" dirty="0" smtClean="0"/>
              <a:t>As </a:t>
            </a:r>
            <a:r>
              <a:rPr lang="en-GB" sz="2400" dirty="0"/>
              <a:t>soon as you bring your mouse pointer inside the table, a small </a:t>
            </a:r>
            <a:r>
              <a:rPr lang="en-GB" sz="2400" b="1" dirty="0"/>
              <a:t>Cross Icon </a:t>
            </a:r>
            <a:r>
              <a:rPr lang="en-GB" sz="2400" dirty="0"/>
              <a:t>will appear at the </a:t>
            </a:r>
            <a:r>
              <a:rPr lang="en-GB" sz="2400" b="1" dirty="0"/>
              <a:t>top-left corner </a:t>
            </a:r>
            <a:r>
              <a:rPr lang="en-GB" sz="2400" dirty="0"/>
              <a:t>of the table as shown below.</a:t>
            </a:r>
            <a:endParaRPr lang="en-GB" sz="2400" dirty="0" smtClean="0"/>
          </a:p>
          <a:p>
            <a:pPr algn="just"/>
            <a:endParaRPr lang="en-GB" sz="2400" dirty="0"/>
          </a:p>
          <a:p>
            <a:pPr marL="0" indent="0" algn="just">
              <a:buNone/>
            </a:pPr>
            <a:endParaRPr lang="en-GB" sz="2400" dirty="0" smtClean="0"/>
          </a:p>
          <a:p>
            <a:pPr algn="just"/>
            <a:endParaRPr lang="en-GB" sz="2400" dirty="0" smtClean="0"/>
          </a:p>
          <a:p>
            <a:pPr algn="just"/>
            <a:endParaRPr lang="en-US" sz="2400" dirty="0"/>
          </a:p>
        </p:txBody>
      </p:sp>
      <p:pic>
        <p:nvPicPr>
          <p:cNvPr id="14338" name="Picture 2" descr="C:\Users\UCCSMS1\Desktop\images\cross_ic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1720" y="2780928"/>
            <a:ext cx="6840760" cy="396044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1622264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Move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000" dirty="0"/>
              <a:t>Click over the small Cross Icon which will select the whole table. Once the table is selected, use the </a:t>
            </a:r>
            <a:r>
              <a:rPr lang="en-GB" sz="2000" b="1" dirty="0"/>
              <a:t>Cut button </a:t>
            </a:r>
            <a:r>
              <a:rPr lang="en-GB" sz="2000" dirty="0"/>
              <a:t>or simply press the </a:t>
            </a:r>
            <a:r>
              <a:rPr lang="en-GB" sz="2000" b="1" dirty="0"/>
              <a:t>Ctrl + X</a:t>
            </a:r>
            <a:r>
              <a:rPr lang="en-GB" sz="2000" dirty="0"/>
              <a:t> keys to cut the table from its original location</a:t>
            </a:r>
            <a:r>
              <a:rPr lang="en-GB" sz="2000" dirty="0" smtClean="0"/>
              <a:t>.</a:t>
            </a:r>
          </a:p>
          <a:p>
            <a:pPr marL="0" indent="0" algn="ctr">
              <a:buNone/>
            </a:pPr>
            <a:r>
              <a:rPr lang="en-GB" sz="2000" b="1" dirty="0">
                <a:solidFill>
                  <a:srgbClr val="FF0000"/>
                </a:solidFill>
              </a:rPr>
              <a:t>Step 3</a:t>
            </a:r>
            <a:r>
              <a:rPr lang="en-GB" sz="2000" dirty="0"/>
              <a:t> </a:t>
            </a:r>
            <a:endParaRPr lang="en-GB" sz="2000" dirty="0" smtClean="0"/>
          </a:p>
          <a:p>
            <a:pPr algn="just"/>
            <a:r>
              <a:rPr lang="en-GB" sz="2000" dirty="0" smtClean="0"/>
              <a:t>Bring </a:t>
            </a:r>
            <a:r>
              <a:rPr lang="en-GB" sz="2000" dirty="0"/>
              <a:t>your insertion point at the location where you want to move the table and use Paste button or simply press </a:t>
            </a:r>
            <a:r>
              <a:rPr lang="en-GB" sz="2000" b="1" dirty="0"/>
              <a:t>Ctrl + V </a:t>
            </a:r>
            <a:r>
              <a:rPr lang="en-GB" sz="2000" dirty="0"/>
              <a:t>keys to paste the table at the new location.</a:t>
            </a:r>
          </a:p>
          <a:p>
            <a:pPr marL="0" indent="0" algn="just">
              <a:buNone/>
            </a:pPr>
            <a:endParaRPr lang="en-GB" sz="2000" dirty="0" smtClean="0"/>
          </a:p>
          <a:p>
            <a:pPr algn="just"/>
            <a:endParaRPr lang="en-GB" sz="2000" dirty="0" smtClean="0"/>
          </a:p>
          <a:p>
            <a:pPr algn="just"/>
            <a:endParaRPr lang="en-US" sz="2400" dirty="0"/>
          </a:p>
        </p:txBody>
      </p:sp>
      <p:pic>
        <p:nvPicPr>
          <p:cNvPr id="15362" name="Picture 2" descr="C:\Users\UCCSMS1\Desktop\images\moved_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35896" y="3102124"/>
            <a:ext cx="5334000" cy="35672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80330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Resize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Bring your mouse pointer over the table which you want to </a:t>
            </a:r>
            <a:r>
              <a:rPr lang="en-GB" sz="2400" dirty="0" smtClean="0"/>
              <a:t>resize.</a:t>
            </a:r>
          </a:p>
          <a:p>
            <a:pPr algn="just"/>
            <a:r>
              <a:rPr lang="en-GB" sz="2400" dirty="0" smtClean="0"/>
              <a:t>As </a:t>
            </a:r>
            <a:r>
              <a:rPr lang="en-GB" sz="2400" dirty="0"/>
              <a:t>soon as you bring your mouse pointer inside the table, a small </a:t>
            </a:r>
            <a:r>
              <a:rPr lang="en-GB" sz="2400" b="1" dirty="0"/>
              <a:t>Cross Icon </a:t>
            </a:r>
            <a:r>
              <a:rPr lang="en-GB" sz="2400" dirty="0"/>
              <a:t>will appear at the top-left corner and a small </a:t>
            </a:r>
            <a:r>
              <a:rPr lang="en-GB" sz="2400" b="1" dirty="0"/>
              <a:t>Resize Icon </a:t>
            </a:r>
            <a:r>
              <a:rPr lang="en-GB" sz="2400" dirty="0"/>
              <a:t>will appear at the bottom-right corner of the table as shown below.</a:t>
            </a:r>
            <a:endParaRPr lang="en-GB" sz="2400" dirty="0" smtClean="0"/>
          </a:p>
          <a:p>
            <a:pPr algn="just"/>
            <a:endParaRPr lang="en-GB" sz="2400" dirty="0" smtClean="0"/>
          </a:p>
          <a:p>
            <a:pPr algn="just"/>
            <a:endParaRPr lang="en-US" sz="2400" dirty="0"/>
          </a:p>
        </p:txBody>
      </p:sp>
      <p:pic>
        <p:nvPicPr>
          <p:cNvPr id="16386" name="Picture 2" descr="C:\Users\UCCSMS1\Desktop\images\resize_icon.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35696" y="2564904"/>
            <a:ext cx="6408712" cy="38999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4359412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Resize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smtClean="0"/>
              <a:t>Bring </a:t>
            </a:r>
            <a:r>
              <a:rPr lang="en-GB" sz="2400" dirty="0"/>
              <a:t>the mouse pointer over the </a:t>
            </a:r>
            <a:r>
              <a:rPr lang="en-GB" sz="2400" b="1" dirty="0"/>
              <a:t>Resize Icon </a:t>
            </a:r>
            <a:r>
              <a:rPr lang="en-GB" sz="2400" dirty="0"/>
              <a:t>till it changes to a diagonal </a:t>
            </a:r>
            <a:r>
              <a:rPr lang="en-GB" sz="2400" dirty="0" smtClean="0"/>
              <a:t>double sided </a:t>
            </a:r>
            <a:r>
              <a:rPr lang="en-GB" sz="2400" dirty="0"/>
              <a:t>arrow and this is the time when you need to press the left mouse button and keep holding the button while resizing the </a:t>
            </a:r>
            <a:r>
              <a:rPr lang="en-GB" sz="2400" dirty="0" smtClean="0"/>
              <a:t>table.</a:t>
            </a:r>
          </a:p>
          <a:p>
            <a:pPr algn="just"/>
            <a:endParaRPr lang="en-GB" sz="2400" dirty="0" smtClean="0"/>
          </a:p>
          <a:p>
            <a:pPr algn="just"/>
            <a:endParaRPr lang="en-US" sz="2400" dirty="0"/>
          </a:p>
        </p:txBody>
      </p:sp>
      <p:pic>
        <p:nvPicPr>
          <p:cNvPr id="17410" name="Picture 2" descr="C:\Users\UCCSMS1\Desktop\images\resized_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564904"/>
            <a:ext cx="5334000" cy="3918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3632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Merging Cells</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Bring your mouse pointer position inside the first cell that you want to merge. </a:t>
            </a:r>
            <a:endParaRPr lang="en-GB" sz="2400" dirty="0" smtClean="0"/>
          </a:p>
          <a:p>
            <a:pPr algn="just"/>
            <a:r>
              <a:rPr lang="en-GB" sz="2400" dirty="0" smtClean="0"/>
              <a:t>Now </a:t>
            </a:r>
            <a:r>
              <a:rPr lang="en-GB" sz="2400" dirty="0"/>
              <a:t>press the </a:t>
            </a:r>
            <a:r>
              <a:rPr lang="en-GB" sz="2400" b="1" dirty="0"/>
              <a:t>Shift key </a:t>
            </a:r>
            <a:r>
              <a:rPr lang="en-GB" sz="2400" dirty="0"/>
              <a:t>and click the </a:t>
            </a:r>
            <a:r>
              <a:rPr lang="en-GB" sz="2400" b="1" dirty="0"/>
              <a:t>cells</a:t>
            </a:r>
            <a:r>
              <a:rPr lang="en-GB" sz="2400" dirty="0"/>
              <a:t> around the cell which you want to merge into the first cell. </a:t>
            </a:r>
            <a:endParaRPr lang="en-GB" sz="2400" dirty="0" smtClean="0"/>
          </a:p>
          <a:p>
            <a:pPr algn="just"/>
            <a:r>
              <a:rPr lang="en-GB" sz="2400" dirty="0" smtClean="0"/>
              <a:t>This </a:t>
            </a:r>
            <a:r>
              <a:rPr lang="en-GB" sz="2400" dirty="0"/>
              <a:t>will highlight the cells which you click and they will be ready to be </a:t>
            </a:r>
            <a:r>
              <a:rPr lang="en-GB" sz="2400" dirty="0" smtClean="0"/>
              <a:t>merged.</a:t>
            </a:r>
          </a:p>
          <a:p>
            <a:pPr algn="just"/>
            <a:endParaRPr lang="en-GB" sz="2400" dirty="0" smtClean="0"/>
          </a:p>
          <a:p>
            <a:pPr algn="just"/>
            <a:endParaRPr lang="en-US" sz="2400" dirty="0"/>
          </a:p>
        </p:txBody>
      </p:sp>
      <p:pic>
        <p:nvPicPr>
          <p:cNvPr id="18434" name="Picture 2" descr="C:\Users\UCCSMS1\Desktop\images\selected_cell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808" y="3140968"/>
            <a:ext cx="5334000" cy="355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00436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Merging Cells</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 Now click the </a:t>
            </a:r>
            <a:r>
              <a:rPr lang="en-GB" sz="2400" b="1" dirty="0"/>
              <a:t>Layout </a:t>
            </a:r>
            <a:r>
              <a:rPr lang="en-GB" sz="2400" b="1" dirty="0" smtClean="0"/>
              <a:t>tab.</a:t>
            </a:r>
            <a:endParaRPr lang="en-GB" sz="2400" dirty="0" smtClean="0"/>
          </a:p>
          <a:p>
            <a:pPr algn="just"/>
            <a:r>
              <a:rPr lang="en-GB" sz="2400" dirty="0"/>
              <a:t>C</a:t>
            </a:r>
            <a:r>
              <a:rPr lang="en-GB" sz="2400" dirty="0" smtClean="0"/>
              <a:t>lick </a:t>
            </a:r>
            <a:r>
              <a:rPr lang="en-GB" sz="2400" dirty="0"/>
              <a:t>the </a:t>
            </a:r>
            <a:r>
              <a:rPr lang="en-GB" sz="2400" b="1" dirty="0"/>
              <a:t>Merge Cells button </a:t>
            </a:r>
            <a:r>
              <a:rPr lang="en-GB" sz="2400" dirty="0"/>
              <a:t>which will merge all the selected cells</a:t>
            </a:r>
            <a:r>
              <a:rPr lang="en-GB" sz="2400" dirty="0" smtClean="0"/>
              <a:t>.</a:t>
            </a:r>
          </a:p>
          <a:p>
            <a:pPr algn="just"/>
            <a:endParaRPr lang="en-GB" sz="2400" dirty="0" smtClean="0"/>
          </a:p>
          <a:p>
            <a:pPr algn="just"/>
            <a:endParaRPr lang="en-US" sz="2400" dirty="0"/>
          </a:p>
        </p:txBody>
      </p:sp>
      <p:pic>
        <p:nvPicPr>
          <p:cNvPr id="19458" name="Picture 2" descr="C:\Users\UCCSMS1\Desktop\images\merged_cell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8364" y="2348880"/>
            <a:ext cx="5334000" cy="3552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26148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Split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Bring your mouse pointer position anywhere in the row that should appear as the first row of the new table.</a:t>
            </a:r>
            <a:endParaRPr lang="en-US" sz="2400" dirty="0"/>
          </a:p>
        </p:txBody>
      </p:sp>
      <p:pic>
        <p:nvPicPr>
          <p:cNvPr id="20482" name="Picture 2" descr="C:\Users\UCCSMS1\Desktop\images\selected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132856"/>
            <a:ext cx="5760640"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483492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Split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400" dirty="0"/>
              <a:t>Now click the Layout tab and then </a:t>
            </a:r>
            <a:endParaRPr lang="en-GB" sz="2400" dirty="0" smtClean="0"/>
          </a:p>
          <a:p>
            <a:pPr algn="just"/>
            <a:r>
              <a:rPr lang="en-GB" sz="2400" dirty="0" smtClean="0"/>
              <a:t>click </a:t>
            </a:r>
            <a:r>
              <a:rPr lang="en-GB" sz="2400" b="1" dirty="0"/>
              <a:t>the Split Table button </a:t>
            </a:r>
            <a:r>
              <a:rPr lang="en-GB" sz="2400" dirty="0"/>
              <a:t>which will split the table into two tables and the selected row will </a:t>
            </a:r>
            <a:r>
              <a:rPr lang="en-GB" sz="2400" dirty="0" smtClean="0"/>
              <a:t>become </a:t>
            </a:r>
            <a:r>
              <a:rPr lang="en-GB" sz="2400" dirty="0"/>
              <a:t>the first row of the lower </a:t>
            </a:r>
            <a:r>
              <a:rPr lang="en-GB" sz="2400" dirty="0" smtClean="0"/>
              <a:t>table.</a:t>
            </a:r>
          </a:p>
          <a:p>
            <a:pPr algn="just"/>
            <a:endParaRPr lang="en-US" sz="2400" dirty="0"/>
          </a:p>
        </p:txBody>
      </p:sp>
      <p:pic>
        <p:nvPicPr>
          <p:cNvPr id="21506" name="Picture 2" descr="C:\Users\UCCSMS1\Desktop\images\split_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83768" y="2492896"/>
            <a:ext cx="5904656"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667358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Split a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2</a:t>
            </a:r>
            <a:endParaRPr lang="en-GB" sz="2400" b="1" dirty="0" smtClean="0">
              <a:solidFill>
                <a:srgbClr val="FF0000"/>
              </a:solidFill>
            </a:endParaRPr>
          </a:p>
          <a:p>
            <a:pPr algn="just"/>
            <a:r>
              <a:rPr lang="en-GB" sz="2400" dirty="0"/>
              <a:t>After splitting the table into two tables, you can further divide it into two parts and you can continue dividing the Word tables as long as a table has more than one row</a:t>
            </a:r>
            <a:r>
              <a:rPr lang="en-GB" sz="2400" dirty="0" smtClean="0"/>
              <a:t>.</a:t>
            </a:r>
          </a:p>
          <a:p>
            <a:pPr algn="just"/>
            <a:endParaRPr lang="en-US" sz="2400" dirty="0"/>
          </a:p>
        </p:txBody>
      </p:sp>
      <p:pic>
        <p:nvPicPr>
          <p:cNvPr id="22530" name="Picture 2" descr="C:\Users\UCCSMS1\Desktop\images\split_table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420888"/>
            <a:ext cx="6120680" cy="39593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04392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Split a Cell</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1</a:t>
            </a:r>
          </a:p>
          <a:p>
            <a:pPr algn="just"/>
            <a:r>
              <a:rPr lang="en-GB" sz="2400" dirty="0"/>
              <a:t>Bring your mouse pointer position inside the cell that has to be divided into multiple </a:t>
            </a:r>
            <a:r>
              <a:rPr lang="en-GB" sz="2400" dirty="0" smtClean="0"/>
              <a:t>cells.</a:t>
            </a:r>
          </a:p>
          <a:p>
            <a:pPr algn="just"/>
            <a:endParaRPr lang="en-US" sz="2400" dirty="0"/>
          </a:p>
        </p:txBody>
      </p:sp>
      <p:pic>
        <p:nvPicPr>
          <p:cNvPr id="23554" name="Picture 2" descr="C:\Users\UCCSMS1\Desktop\images\selected_cel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22160" y="2060848"/>
            <a:ext cx="5962208"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17083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Split a Cell</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2</a:t>
            </a:r>
            <a:endParaRPr lang="en-GB" sz="2400" b="1" dirty="0" smtClean="0">
              <a:solidFill>
                <a:srgbClr val="FF0000"/>
              </a:solidFill>
            </a:endParaRPr>
          </a:p>
          <a:p>
            <a:pPr algn="just"/>
            <a:r>
              <a:rPr lang="en-GB" sz="2400" dirty="0"/>
              <a:t>Now click the Layout tab and then click the Split Cells button; this will display a dialog box asking for the number of rows and columns to be created from the selected cell</a:t>
            </a:r>
            <a:r>
              <a:rPr lang="en-GB" sz="2400" dirty="0" smtClean="0"/>
              <a:t>.</a:t>
            </a:r>
          </a:p>
          <a:p>
            <a:pPr algn="just"/>
            <a:endParaRPr lang="en-GB" sz="2400" dirty="0" smtClean="0"/>
          </a:p>
          <a:p>
            <a:pPr algn="just"/>
            <a:endParaRPr lang="en-US" sz="2400" dirty="0"/>
          </a:p>
        </p:txBody>
      </p:sp>
      <p:pic>
        <p:nvPicPr>
          <p:cNvPr id="24578" name="Picture 2" descr="C:\Users\UCCSMS1\Desktop\images\cell_dialog_bo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7744" y="2348880"/>
            <a:ext cx="5760640" cy="42484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848818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Split a Cell</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3</a:t>
            </a:r>
          </a:p>
          <a:p>
            <a:pPr algn="just"/>
            <a:r>
              <a:rPr lang="en-GB" sz="2400" dirty="0"/>
              <a:t>Select the desired number of rows and columns that have to go into the resultant cell and </a:t>
            </a:r>
            <a:endParaRPr lang="en-GB" sz="2400" dirty="0" smtClean="0"/>
          </a:p>
          <a:p>
            <a:pPr algn="just"/>
            <a:r>
              <a:rPr lang="en-GB" sz="2400" dirty="0" smtClean="0"/>
              <a:t>finally </a:t>
            </a:r>
            <a:r>
              <a:rPr lang="en-GB" sz="2400" dirty="0"/>
              <a:t>click the OK button to apply the result.</a:t>
            </a:r>
          </a:p>
          <a:p>
            <a:pPr marL="0" indent="0" algn="just">
              <a:buNone/>
            </a:pPr>
            <a:endParaRPr lang="en-GB" sz="2400" dirty="0" smtClean="0"/>
          </a:p>
          <a:p>
            <a:pPr algn="just"/>
            <a:endParaRPr lang="en-GB" sz="2400" dirty="0" smtClean="0"/>
          </a:p>
          <a:p>
            <a:pPr algn="just"/>
            <a:endParaRPr lang="en-US" sz="2400" dirty="0"/>
          </a:p>
        </p:txBody>
      </p:sp>
      <p:pic>
        <p:nvPicPr>
          <p:cNvPr id="25602" name="Picture 2" descr="C:\Users\UCCSMS1\Desktop\images\split_cell.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9752" y="2492896"/>
            <a:ext cx="5334000" cy="3648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745756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Add a Formula</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r>
              <a:rPr lang="en-GB" sz="2400" b="1" dirty="0">
                <a:solidFill>
                  <a:srgbClr val="FF0000"/>
                </a:solidFill>
              </a:rPr>
              <a:t>Step </a:t>
            </a:r>
            <a:r>
              <a:rPr lang="en-GB" sz="2400" b="1" dirty="0">
                <a:solidFill>
                  <a:srgbClr val="FF0000"/>
                </a:solidFill>
              </a:rPr>
              <a:t>1</a:t>
            </a:r>
            <a:endParaRPr lang="en-GB" sz="2400" b="1" dirty="0" smtClean="0">
              <a:solidFill>
                <a:srgbClr val="FF0000"/>
              </a:solidFill>
            </a:endParaRPr>
          </a:p>
          <a:p>
            <a:pPr algn="just"/>
            <a:r>
              <a:rPr lang="en-GB" sz="2400" dirty="0"/>
              <a:t>Consider the following table with the total number of rows. Click in a cell that should contain the sum of the rows.</a:t>
            </a:r>
          </a:p>
          <a:p>
            <a:pPr marL="0" indent="0" algn="just">
              <a:buNone/>
            </a:pPr>
            <a:endParaRPr lang="en-GB" sz="2400" dirty="0"/>
          </a:p>
          <a:p>
            <a:pPr marL="0" indent="0" algn="just">
              <a:buNone/>
            </a:pPr>
            <a:endParaRPr lang="en-GB" sz="2400" dirty="0" smtClean="0"/>
          </a:p>
          <a:p>
            <a:pPr algn="just"/>
            <a:endParaRPr lang="en-GB" sz="2400" dirty="0" smtClean="0"/>
          </a:p>
          <a:p>
            <a:pPr algn="just"/>
            <a:endParaRPr lang="en-US" sz="2400" dirty="0"/>
          </a:p>
        </p:txBody>
      </p:sp>
      <p:pic>
        <p:nvPicPr>
          <p:cNvPr id="26626" name="Picture 2" descr="C:\Users\UCCSMS1\Desktop\images\salary_tabl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16832"/>
            <a:ext cx="5979368" cy="4392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678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a Formula</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2</a:t>
            </a:r>
          </a:p>
          <a:p>
            <a:pPr algn="just"/>
            <a:r>
              <a:rPr lang="en-GB" sz="2000" dirty="0"/>
              <a:t>Now click the </a:t>
            </a:r>
            <a:r>
              <a:rPr lang="en-GB" sz="2000" b="1" dirty="0"/>
              <a:t>Layout tab </a:t>
            </a:r>
            <a:r>
              <a:rPr lang="en-GB" sz="2000" dirty="0"/>
              <a:t>and then click the </a:t>
            </a:r>
            <a:r>
              <a:rPr lang="en-GB" sz="2000" b="1" dirty="0"/>
              <a:t>Formula button</a:t>
            </a:r>
            <a:r>
              <a:rPr lang="en-GB" sz="2000" dirty="0"/>
              <a:t>; this will display a Formula Dialog Box which will suggest a default formula, which is </a:t>
            </a:r>
            <a:r>
              <a:rPr lang="en-GB" sz="2000" b="1" dirty="0">
                <a:solidFill>
                  <a:srgbClr val="FF0000"/>
                </a:solidFill>
              </a:rPr>
              <a:t>=SUM(LEFT)</a:t>
            </a:r>
            <a:r>
              <a:rPr lang="en-GB" sz="2000" dirty="0"/>
              <a:t> in our case. </a:t>
            </a:r>
            <a:endParaRPr lang="en-GB" sz="2000" dirty="0" smtClean="0"/>
          </a:p>
          <a:p>
            <a:pPr algn="just"/>
            <a:endParaRPr lang="en-GB" sz="2000" dirty="0"/>
          </a:p>
          <a:p>
            <a:pPr algn="just"/>
            <a:r>
              <a:rPr lang="en-GB" sz="2000" dirty="0" smtClean="0"/>
              <a:t>You </a:t>
            </a:r>
            <a:r>
              <a:rPr lang="en-GB" sz="2000" dirty="0"/>
              <a:t>can select a number format using Number Format List Box to display the result or you can change the formula using the Formula List Box</a:t>
            </a:r>
            <a:r>
              <a:rPr lang="en-GB" sz="2000" dirty="0" smtClean="0"/>
              <a:t>.</a:t>
            </a:r>
            <a:endParaRPr lang="en-GB" sz="2000" dirty="0"/>
          </a:p>
          <a:p>
            <a:pPr marL="0" indent="0" algn="just">
              <a:buNone/>
            </a:pPr>
            <a:endParaRPr lang="en-GB" sz="2400" dirty="0"/>
          </a:p>
          <a:p>
            <a:pPr marL="0" indent="0" algn="just">
              <a:buNone/>
            </a:pPr>
            <a:endParaRPr lang="en-GB" sz="2400" dirty="0" smtClean="0"/>
          </a:p>
          <a:p>
            <a:pPr algn="just"/>
            <a:endParaRPr lang="en-GB" sz="2400" dirty="0" smtClean="0"/>
          </a:p>
          <a:p>
            <a:pPr algn="just"/>
            <a:endParaRPr lang="en-US" sz="2400" dirty="0"/>
          </a:p>
        </p:txBody>
      </p:sp>
      <p:pic>
        <p:nvPicPr>
          <p:cNvPr id="27650" name="Picture 2" descr="C:\Users\UCCSMS1\Desktop\images\formula_dialog_box.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1760" y="2924944"/>
            <a:ext cx="5334000" cy="37623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36373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a Formula</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a:solidFill>
                  <a:srgbClr val="FF0000"/>
                </a:solidFill>
              </a:rPr>
              <a:t>3</a:t>
            </a:r>
            <a:endParaRPr lang="en-GB" sz="2400" b="1" dirty="0" smtClean="0">
              <a:solidFill>
                <a:srgbClr val="FF0000"/>
              </a:solidFill>
            </a:endParaRPr>
          </a:p>
          <a:p>
            <a:pPr algn="just"/>
            <a:r>
              <a:rPr lang="en-GB" sz="2400" dirty="0"/>
              <a:t>Now click OK to apply the formula and you will see that the left cells have been added and the sum has been put in the total cell where we wanted to have it.</a:t>
            </a:r>
          </a:p>
          <a:p>
            <a:pPr marL="0" indent="0" algn="just">
              <a:buNone/>
            </a:pPr>
            <a:endParaRPr lang="en-GB" sz="2400" dirty="0" smtClean="0"/>
          </a:p>
          <a:p>
            <a:pPr algn="just"/>
            <a:endParaRPr lang="en-GB" sz="2400" dirty="0" smtClean="0"/>
          </a:p>
          <a:p>
            <a:pPr algn="just"/>
            <a:endParaRPr lang="en-US" sz="2400" dirty="0"/>
          </a:p>
        </p:txBody>
      </p:sp>
      <p:pic>
        <p:nvPicPr>
          <p:cNvPr id="28674" name="Picture 2" descr="C:\Users\UCCSMS1\Desktop\images\sum_result.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10008" y="2060848"/>
            <a:ext cx="6046367"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9672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Cell Formulae</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just">
              <a:buNone/>
            </a:pPr>
            <a:endParaRPr lang="en-GB" sz="2400" dirty="0" smtClean="0"/>
          </a:p>
          <a:p>
            <a:pPr algn="just"/>
            <a:endParaRPr lang="en-GB" sz="2400" dirty="0" smtClean="0"/>
          </a:p>
          <a:p>
            <a:pPr algn="just"/>
            <a:endParaRPr lang="en-US" sz="2400" dirty="0"/>
          </a:p>
        </p:txBody>
      </p:sp>
      <p:pic>
        <p:nvPicPr>
          <p:cNvPr id="296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548680"/>
            <a:ext cx="8280919" cy="61206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20862951"/>
      </p:ext>
    </p:extLst>
  </p:cSld>
  <p:clrMapOvr>
    <a:masterClrMapping/>
  </p:clrMapOvr>
  <p:transition>
    <p:fade/>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Borders to Table</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1</a:t>
            </a:r>
          </a:p>
          <a:p>
            <a:pPr algn="just"/>
            <a:r>
              <a:rPr lang="en-GB" dirty="0"/>
              <a:t>Select the table to which you want to add border. </a:t>
            </a:r>
            <a:endParaRPr lang="en-GB" dirty="0" smtClean="0"/>
          </a:p>
          <a:p>
            <a:pPr algn="just"/>
            <a:endParaRPr lang="en-GB" dirty="0" smtClean="0"/>
          </a:p>
          <a:p>
            <a:pPr algn="just"/>
            <a:r>
              <a:rPr lang="en-GB" dirty="0" smtClean="0"/>
              <a:t>To </a:t>
            </a:r>
            <a:r>
              <a:rPr lang="en-GB" dirty="0"/>
              <a:t>select a table, click over the table anywhere which will make the </a:t>
            </a:r>
            <a:r>
              <a:rPr lang="en-GB" b="1" dirty="0"/>
              <a:t>Cross icon </a:t>
            </a:r>
            <a:r>
              <a:rPr lang="en-GB" dirty="0"/>
              <a:t>visible at the top-left corner of the table. </a:t>
            </a:r>
            <a:endParaRPr lang="en-GB" dirty="0" smtClean="0"/>
          </a:p>
          <a:p>
            <a:pPr algn="just"/>
            <a:endParaRPr lang="en-GB" dirty="0" smtClean="0"/>
          </a:p>
          <a:p>
            <a:pPr algn="just"/>
            <a:r>
              <a:rPr lang="en-GB" dirty="0" smtClean="0"/>
              <a:t>Click </a:t>
            </a:r>
            <a:r>
              <a:rPr lang="en-GB" dirty="0"/>
              <a:t>this </a:t>
            </a:r>
            <a:r>
              <a:rPr lang="en-GB" b="1" dirty="0"/>
              <a:t>cross icon </a:t>
            </a:r>
            <a:r>
              <a:rPr lang="en-GB" dirty="0"/>
              <a:t>to select the </a:t>
            </a:r>
            <a:r>
              <a:rPr lang="en-GB" dirty="0" smtClean="0"/>
              <a:t>table.</a:t>
            </a:r>
            <a:endParaRPr lang="en-GB" dirty="0"/>
          </a:p>
          <a:p>
            <a:pPr marL="0" indent="0" algn="just">
              <a:buNone/>
            </a:pPr>
            <a:endParaRPr lang="en-GB" dirty="0" smtClean="0"/>
          </a:p>
          <a:p>
            <a:pPr algn="just"/>
            <a:endParaRPr lang="en-GB" dirty="0" smtClean="0"/>
          </a:p>
          <a:p>
            <a:pPr algn="just"/>
            <a:endParaRPr lang="en-US" sz="2400" dirty="0"/>
          </a:p>
        </p:txBody>
      </p:sp>
    </p:spTree>
    <p:extLst>
      <p:ext uri="{BB962C8B-B14F-4D97-AF65-F5344CB8AC3E}">
        <p14:creationId xmlns:p14="http://schemas.microsoft.com/office/powerpoint/2010/main" val="425541179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Borders to Table</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a:solidFill>
                  <a:srgbClr val="FF0000"/>
                </a:solidFill>
              </a:rPr>
              <a:t>2</a:t>
            </a:r>
            <a:endParaRPr lang="en-GB" sz="2400" b="1" dirty="0" smtClean="0">
              <a:solidFill>
                <a:srgbClr val="FF0000"/>
              </a:solidFill>
            </a:endParaRPr>
          </a:p>
          <a:p>
            <a:pPr algn="just"/>
            <a:r>
              <a:rPr lang="en-GB" sz="2400" dirty="0"/>
              <a:t>Click the </a:t>
            </a:r>
            <a:r>
              <a:rPr lang="en-GB" sz="2400" b="1" dirty="0"/>
              <a:t>Border button </a:t>
            </a:r>
            <a:r>
              <a:rPr lang="en-GB" sz="2400" dirty="0"/>
              <a:t>to display a list of options to put a border around the selected table. </a:t>
            </a:r>
            <a:endParaRPr lang="en-GB" sz="2400" dirty="0" smtClean="0"/>
          </a:p>
          <a:p>
            <a:pPr algn="just"/>
            <a:r>
              <a:rPr lang="en-GB" sz="2400" dirty="0" smtClean="0"/>
              <a:t>You </a:t>
            </a:r>
            <a:r>
              <a:rPr lang="en-GB" sz="2400" dirty="0"/>
              <a:t>can select any of the option available by simply clicking over it.</a:t>
            </a:r>
            <a:endParaRPr lang="en-GB" sz="2400" dirty="0" smtClean="0"/>
          </a:p>
          <a:p>
            <a:pPr algn="just"/>
            <a:endParaRPr lang="en-GB" sz="2400" dirty="0" smtClean="0"/>
          </a:p>
          <a:p>
            <a:pPr algn="just"/>
            <a:endParaRPr lang="en-US" sz="2400" dirty="0"/>
          </a:p>
        </p:txBody>
      </p:sp>
      <p:pic>
        <p:nvPicPr>
          <p:cNvPr id="30722" name="Picture 2" descr="C:\Users\UCCSMS1\Desktop\images\table_bor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8144" y="2276872"/>
            <a:ext cx="5946224" cy="42100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659360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Borders to Table</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a:solidFill>
                  <a:srgbClr val="FF0000"/>
                </a:solidFill>
              </a:rPr>
              <a:t>3</a:t>
            </a:r>
            <a:endParaRPr lang="en-GB" sz="2400" b="1" dirty="0" smtClean="0">
              <a:solidFill>
                <a:srgbClr val="FF0000"/>
              </a:solidFill>
            </a:endParaRPr>
          </a:p>
          <a:p>
            <a:pPr algn="just"/>
            <a:r>
              <a:rPr lang="en-GB" sz="2400" dirty="0"/>
              <a:t>Try to add and remove different borders like left, right, top or bottom by selecting different options from the border </a:t>
            </a:r>
            <a:r>
              <a:rPr lang="en-GB" sz="2400" dirty="0" smtClean="0"/>
              <a:t>options.</a:t>
            </a:r>
          </a:p>
          <a:p>
            <a:pPr algn="just"/>
            <a:endParaRPr lang="en-GB" sz="2400" dirty="0" smtClean="0"/>
          </a:p>
          <a:p>
            <a:pPr algn="just"/>
            <a:endParaRPr lang="en-US" sz="2400" dirty="0"/>
          </a:p>
        </p:txBody>
      </p:sp>
      <p:pic>
        <p:nvPicPr>
          <p:cNvPr id="31746" name="Picture 2" descr="C:\Users\UCCSMS1\Desktop\images\table_border2.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1988840"/>
            <a:ext cx="5979368" cy="432048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661755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Add Borders to Table</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endParaRPr lang="en-GB" b="1" dirty="0" smtClean="0">
              <a:solidFill>
                <a:srgbClr val="FF0000"/>
              </a:solidFill>
            </a:endParaRPr>
          </a:p>
          <a:p>
            <a:pPr marL="0" indent="0" algn="ctr">
              <a:buNone/>
            </a:pPr>
            <a:r>
              <a:rPr lang="en-GB" b="1" dirty="0" smtClean="0">
                <a:solidFill>
                  <a:srgbClr val="FF0000"/>
                </a:solidFill>
              </a:rPr>
              <a:t>Step </a:t>
            </a:r>
            <a:r>
              <a:rPr lang="en-GB" b="1" dirty="0">
                <a:solidFill>
                  <a:srgbClr val="FF0000"/>
                </a:solidFill>
              </a:rPr>
              <a:t>4</a:t>
            </a:r>
            <a:endParaRPr lang="en-GB" b="1" dirty="0" smtClean="0">
              <a:solidFill>
                <a:srgbClr val="FF0000"/>
              </a:solidFill>
            </a:endParaRPr>
          </a:p>
          <a:p>
            <a:pPr algn="just"/>
            <a:r>
              <a:rPr lang="en-GB" dirty="0"/>
              <a:t>You can apply border to any of the selected row or column. You can try it </a:t>
            </a:r>
            <a:r>
              <a:rPr lang="en-GB" dirty="0" smtClean="0"/>
              <a:t>yourself.</a:t>
            </a:r>
          </a:p>
          <a:p>
            <a:pPr marL="0" indent="0" algn="just">
              <a:buNone/>
            </a:pPr>
            <a:endParaRPr lang="en-GB" dirty="0" smtClean="0"/>
          </a:p>
          <a:p>
            <a:pPr marL="0" indent="0" algn="ctr">
              <a:buNone/>
            </a:pPr>
            <a:r>
              <a:rPr lang="en-GB" b="1" dirty="0" smtClean="0">
                <a:solidFill>
                  <a:srgbClr val="FF0000"/>
                </a:solidFill>
              </a:rPr>
              <a:t>Step 5</a:t>
            </a:r>
            <a:endParaRPr lang="en-GB" dirty="0" smtClean="0"/>
          </a:p>
          <a:p>
            <a:pPr algn="just"/>
            <a:r>
              <a:rPr lang="en-GB" dirty="0"/>
              <a:t>To delete the existing border, simply select the No Border option from the border </a:t>
            </a:r>
            <a:r>
              <a:rPr lang="en-GB" dirty="0" smtClean="0"/>
              <a:t>options.</a:t>
            </a:r>
            <a:endParaRPr lang="en-GB" dirty="0"/>
          </a:p>
          <a:p>
            <a:pPr marL="0" indent="0" algn="just">
              <a:buNone/>
            </a:pPr>
            <a:endParaRPr lang="en-GB" dirty="0" smtClean="0"/>
          </a:p>
          <a:p>
            <a:pPr algn="just"/>
            <a:endParaRPr lang="en-GB" dirty="0" smtClean="0"/>
          </a:p>
          <a:p>
            <a:pPr algn="just"/>
            <a:endParaRPr lang="en-US" sz="2400" dirty="0"/>
          </a:p>
        </p:txBody>
      </p:sp>
    </p:spTree>
    <p:extLst>
      <p:ext uri="{BB962C8B-B14F-4D97-AF65-F5344CB8AC3E}">
        <p14:creationId xmlns:p14="http://schemas.microsoft.com/office/powerpoint/2010/main" val="232678897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Using Border Options</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1</a:t>
            </a:r>
          </a:p>
          <a:p>
            <a:pPr algn="just"/>
            <a:r>
              <a:rPr lang="en-GB" sz="2400" dirty="0"/>
              <a:t>Click the </a:t>
            </a:r>
            <a:r>
              <a:rPr lang="en-GB" sz="2400" b="1" dirty="0"/>
              <a:t>Border button </a:t>
            </a:r>
            <a:r>
              <a:rPr lang="en-GB" sz="2400" dirty="0"/>
              <a:t>to display a list of options to put a </a:t>
            </a:r>
            <a:r>
              <a:rPr lang="en-GB" sz="2400" dirty="0" smtClean="0"/>
              <a:t>border.</a:t>
            </a:r>
          </a:p>
          <a:p>
            <a:pPr algn="just"/>
            <a:r>
              <a:rPr lang="en-GB" sz="2400" dirty="0" smtClean="0"/>
              <a:t>Select </a:t>
            </a:r>
            <a:r>
              <a:rPr lang="en-GB" sz="2400" dirty="0"/>
              <a:t>the </a:t>
            </a:r>
            <a:r>
              <a:rPr lang="en-GB" sz="2400" b="1" dirty="0"/>
              <a:t>Border and Shading option </a:t>
            </a:r>
            <a:r>
              <a:rPr lang="en-GB" sz="2400" dirty="0"/>
              <a:t>available at the bottom of the list of options as shown in </a:t>
            </a:r>
            <a:r>
              <a:rPr lang="en-GB" sz="2400" dirty="0" smtClean="0"/>
              <a:t>the screenshot</a:t>
            </a:r>
            <a:r>
              <a:rPr lang="en-GB" sz="2400" dirty="0"/>
              <a:t>. </a:t>
            </a:r>
            <a:endParaRPr lang="en-GB" sz="2400" dirty="0" smtClean="0"/>
          </a:p>
          <a:p>
            <a:pPr algn="just"/>
            <a:r>
              <a:rPr lang="en-GB" sz="2400" dirty="0" smtClean="0"/>
              <a:t>This </a:t>
            </a:r>
            <a:r>
              <a:rPr lang="en-GB" sz="2400" dirty="0"/>
              <a:t>will display a </a:t>
            </a:r>
            <a:r>
              <a:rPr lang="en-GB" sz="2400" b="1" dirty="0"/>
              <a:t>Border and Shading dialog box</a:t>
            </a:r>
            <a:r>
              <a:rPr lang="en-GB" sz="2400" dirty="0"/>
              <a:t>.</a:t>
            </a:r>
            <a:endParaRPr lang="en-GB" sz="2400" dirty="0" smtClean="0"/>
          </a:p>
          <a:p>
            <a:pPr algn="just"/>
            <a:endParaRPr lang="en-GB" sz="2400" dirty="0" smtClean="0"/>
          </a:p>
          <a:p>
            <a:pPr algn="just"/>
            <a:endParaRPr lang="en-US" sz="2400" dirty="0"/>
          </a:p>
        </p:txBody>
      </p:sp>
      <p:pic>
        <p:nvPicPr>
          <p:cNvPr id="32770" name="Picture 2" descr="C:\Users\UCCSMS1\Desktop\images\table_borders_options.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9792" y="2564904"/>
            <a:ext cx="5334000" cy="4032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3530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Border Options</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endParaRPr lang="en-GB" sz="2800" b="1" dirty="0" smtClean="0">
              <a:solidFill>
                <a:srgbClr val="FF0000"/>
              </a:solidFill>
            </a:endParaRPr>
          </a:p>
          <a:p>
            <a:pPr marL="0" indent="0" algn="ctr">
              <a:buNone/>
            </a:pPr>
            <a:r>
              <a:rPr lang="en-GB" sz="2800" b="1" dirty="0" smtClean="0">
                <a:solidFill>
                  <a:srgbClr val="FF0000"/>
                </a:solidFill>
              </a:rPr>
              <a:t>Step </a:t>
            </a:r>
            <a:r>
              <a:rPr lang="en-GB" sz="2800" b="1" dirty="0" smtClean="0">
                <a:solidFill>
                  <a:srgbClr val="FF0000"/>
                </a:solidFill>
              </a:rPr>
              <a:t>2</a:t>
            </a:r>
            <a:endParaRPr lang="en-GB" sz="2800" b="1" dirty="0" smtClean="0">
              <a:solidFill>
                <a:srgbClr val="FF0000"/>
              </a:solidFill>
            </a:endParaRPr>
          </a:p>
          <a:p>
            <a:pPr algn="just"/>
            <a:r>
              <a:rPr lang="en-GB" sz="2800" dirty="0" smtClean="0"/>
              <a:t>Click </a:t>
            </a:r>
            <a:r>
              <a:rPr lang="en-GB" sz="2800" dirty="0"/>
              <a:t>the Border tab; this will display a list of border settings, styles and options whether this border should be applied to the table or text or paragraph.</a:t>
            </a:r>
            <a:endParaRPr lang="en-GB" sz="2800" dirty="0" smtClean="0"/>
          </a:p>
          <a:p>
            <a:pPr marL="0" indent="0" algn="just">
              <a:buNone/>
            </a:pPr>
            <a:endParaRPr lang="en-GB" sz="2800" dirty="0" smtClean="0"/>
          </a:p>
          <a:p>
            <a:pPr marL="0" indent="0" algn="ctr">
              <a:buNone/>
            </a:pPr>
            <a:r>
              <a:rPr lang="en-GB" sz="2800" b="1" dirty="0" smtClean="0">
                <a:solidFill>
                  <a:srgbClr val="FF0000"/>
                </a:solidFill>
              </a:rPr>
              <a:t>Step 3</a:t>
            </a:r>
            <a:endParaRPr lang="en-GB" sz="2800" dirty="0" smtClean="0"/>
          </a:p>
          <a:p>
            <a:pPr algn="just"/>
            <a:r>
              <a:rPr lang="en-GB" sz="2800" dirty="0"/>
              <a:t>You can use the Preview section to disable or enable left, right, top or bottom borders of the selected table or row or </a:t>
            </a:r>
            <a:r>
              <a:rPr lang="en-GB" sz="2800" dirty="0" smtClean="0"/>
              <a:t>column.</a:t>
            </a:r>
            <a:endParaRPr lang="en-GB" sz="2800" dirty="0"/>
          </a:p>
          <a:p>
            <a:pPr marL="0" indent="0" algn="just">
              <a:buNone/>
            </a:pPr>
            <a:endParaRPr lang="en-GB" sz="2800" dirty="0" smtClean="0"/>
          </a:p>
          <a:p>
            <a:pPr algn="just"/>
            <a:endParaRPr lang="en-GB" dirty="0" smtClean="0"/>
          </a:p>
          <a:p>
            <a:pPr algn="just"/>
            <a:endParaRPr lang="en-US" sz="2400" dirty="0"/>
          </a:p>
        </p:txBody>
      </p:sp>
    </p:spTree>
    <p:extLst>
      <p:ext uri="{BB962C8B-B14F-4D97-AF65-F5344CB8AC3E}">
        <p14:creationId xmlns:p14="http://schemas.microsoft.com/office/powerpoint/2010/main" val="172517173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Using Border Options</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a:solidFill>
                  <a:srgbClr val="FF0000"/>
                </a:solidFill>
              </a:rPr>
              <a:t>4</a:t>
            </a:r>
            <a:endParaRPr lang="en-GB" sz="2400" b="1" dirty="0" smtClean="0">
              <a:solidFill>
                <a:srgbClr val="FF0000"/>
              </a:solidFill>
            </a:endParaRPr>
          </a:p>
          <a:p>
            <a:pPr algn="just"/>
            <a:r>
              <a:rPr lang="en-GB" sz="2400" dirty="0"/>
              <a:t>You can customize your border by setting its </a:t>
            </a:r>
            <a:r>
              <a:rPr lang="en-GB" sz="2400" dirty="0" smtClean="0"/>
              <a:t>colour, </a:t>
            </a:r>
            <a:r>
              <a:rPr lang="en-GB" sz="2400" dirty="0"/>
              <a:t>width by using different width thickness available under the style section.</a:t>
            </a:r>
            <a:endParaRPr lang="en-GB" sz="2400" dirty="0" smtClean="0"/>
          </a:p>
          <a:p>
            <a:pPr algn="just"/>
            <a:endParaRPr lang="en-GB" sz="2400" dirty="0" smtClean="0"/>
          </a:p>
          <a:p>
            <a:pPr algn="just"/>
            <a:endParaRPr lang="en-US" sz="2400" dirty="0"/>
          </a:p>
        </p:txBody>
      </p:sp>
      <p:pic>
        <p:nvPicPr>
          <p:cNvPr id="33794" name="Picture 2" descr="C:\Users\UCCSMS1\Desktop\images\stylish_table_border.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5616" y="2060848"/>
            <a:ext cx="7056784" cy="4104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96571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Shades To Table</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smtClean="0">
                <a:solidFill>
                  <a:srgbClr val="FF0000"/>
                </a:solidFill>
              </a:rPr>
              <a:t>1</a:t>
            </a:r>
          </a:p>
          <a:p>
            <a:pPr algn="just"/>
            <a:r>
              <a:rPr lang="en-GB" sz="2400" dirty="0"/>
              <a:t>Select a row or column where you want to apply a shade of your </a:t>
            </a:r>
            <a:r>
              <a:rPr lang="en-GB" sz="2400" dirty="0" smtClean="0"/>
              <a:t>choice.</a:t>
            </a:r>
          </a:p>
          <a:p>
            <a:pPr algn="just"/>
            <a:endParaRPr lang="en-GB" sz="2400" dirty="0" smtClean="0"/>
          </a:p>
          <a:p>
            <a:pPr algn="just"/>
            <a:endParaRPr lang="en-US" sz="2400" dirty="0"/>
          </a:p>
        </p:txBody>
      </p:sp>
      <p:pic>
        <p:nvPicPr>
          <p:cNvPr id="34818" name="Picture 2" descr="C:\Users\UCCSMS1\Desktop\images\selected_table_row.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47664" y="1844824"/>
            <a:ext cx="6768752" cy="42241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31379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04664"/>
          </a:xfrm>
        </p:spPr>
        <p:txBody>
          <a:bodyPr>
            <a:normAutofit fontScale="90000"/>
          </a:bodyPr>
          <a:lstStyle/>
          <a:p>
            <a:pPr algn="ctr"/>
            <a:r>
              <a:rPr lang="en-GB" dirty="0"/>
              <a:t>Add Shades To Table</a:t>
            </a:r>
            <a:endParaRPr lang="en-US" dirty="0"/>
          </a:p>
        </p:txBody>
      </p:sp>
      <p:sp>
        <p:nvSpPr>
          <p:cNvPr id="3" name="Content Placeholder 2"/>
          <p:cNvSpPr>
            <a:spLocks noGrp="1"/>
          </p:cNvSpPr>
          <p:nvPr>
            <p:ph idx="1"/>
          </p:nvPr>
        </p:nvSpPr>
        <p:spPr>
          <a:xfrm>
            <a:off x="152400" y="332656"/>
            <a:ext cx="8839200" cy="6525344"/>
          </a:xfrm>
        </p:spPr>
        <p:txBody>
          <a:bodyPr>
            <a:normAutofit/>
          </a:bodyPr>
          <a:lstStyle/>
          <a:p>
            <a:pPr marL="0" indent="0" algn="ctr">
              <a:buNone/>
            </a:pPr>
            <a:r>
              <a:rPr lang="en-GB" sz="2400" b="1" dirty="0">
                <a:solidFill>
                  <a:srgbClr val="FF0000"/>
                </a:solidFill>
              </a:rPr>
              <a:t>Step </a:t>
            </a:r>
            <a:r>
              <a:rPr lang="en-GB" sz="2400" b="1" dirty="0">
                <a:solidFill>
                  <a:srgbClr val="FF0000"/>
                </a:solidFill>
              </a:rPr>
              <a:t>2</a:t>
            </a:r>
            <a:endParaRPr lang="en-GB" sz="2400" b="1" dirty="0" smtClean="0">
              <a:solidFill>
                <a:srgbClr val="FF0000"/>
              </a:solidFill>
            </a:endParaRPr>
          </a:p>
          <a:p>
            <a:pPr algn="just"/>
            <a:r>
              <a:rPr lang="en-GB" sz="2400" dirty="0"/>
              <a:t>Click the </a:t>
            </a:r>
            <a:r>
              <a:rPr lang="en-GB" sz="2400" b="1" dirty="0"/>
              <a:t>Border button </a:t>
            </a:r>
            <a:r>
              <a:rPr lang="en-GB" sz="2400" dirty="0"/>
              <a:t>to display a list of options to put a </a:t>
            </a:r>
            <a:r>
              <a:rPr lang="en-GB" sz="2400" dirty="0" smtClean="0"/>
              <a:t>border.</a:t>
            </a:r>
          </a:p>
          <a:p>
            <a:pPr algn="just"/>
            <a:r>
              <a:rPr lang="en-GB" sz="2400" dirty="0" smtClean="0"/>
              <a:t>Select </a:t>
            </a:r>
            <a:r>
              <a:rPr lang="en-GB" sz="2400" dirty="0"/>
              <a:t>the </a:t>
            </a:r>
            <a:r>
              <a:rPr lang="en-GB" sz="2400" b="1" dirty="0"/>
              <a:t>Border and Shading option </a:t>
            </a:r>
            <a:r>
              <a:rPr lang="en-GB" sz="2400" dirty="0"/>
              <a:t>available at the bottom of the list of options. </a:t>
            </a:r>
            <a:endParaRPr lang="en-GB" sz="2400" dirty="0" smtClean="0"/>
          </a:p>
          <a:p>
            <a:pPr algn="just"/>
            <a:r>
              <a:rPr lang="en-GB" sz="2400" dirty="0"/>
              <a:t>This will display a </a:t>
            </a:r>
            <a:r>
              <a:rPr lang="en-GB" sz="2400" b="1" dirty="0"/>
              <a:t>Border and Shading dialog box</a:t>
            </a:r>
            <a:r>
              <a:rPr lang="en-GB" sz="2400" dirty="0"/>
              <a:t>.</a:t>
            </a:r>
            <a:endParaRPr lang="en-GB" sz="2400" dirty="0" smtClean="0"/>
          </a:p>
          <a:p>
            <a:pPr algn="just"/>
            <a:endParaRPr lang="en-US" sz="2400" dirty="0"/>
          </a:p>
        </p:txBody>
      </p:sp>
      <p:pic>
        <p:nvPicPr>
          <p:cNvPr id="35842" name="Picture 2" descr="C:\Users\UCCSMS1\Desktop\images\table_shading.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2564904"/>
            <a:ext cx="5334000" cy="40206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37687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620688"/>
          </a:xfrm>
        </p:spPr>
        <p:txBody>
          <a:bodyPr>
            <a:normAutofit fontScale="90000"/>
          </a:bodyPr>
          <a:lstStyle/>
          <a:p>
            <a:pPr algn="ctr"/>
            <a:r>
              <a:rPr lang="en-GB" dirty="0"/>
              <a:t>Using Border Options</a:t>
            </a:r>
            <a:endParaRPr lang="en-US" dirty="0"/>
          </a:p>
        </p:txBody>
      </p:sp>
      <p:sp>
        <p:nvSpPr>
          <p:cNvPr id="3" name="Content Placeholder 2"/>
          <p:cNvSpPr>
            <a:spLocks noGrp="1"/>
          </p:cNvSpPr>
          <p:nvPr>
            <p:ph idx="1"/>
          </p:nvPr>
        </p:nvSpPr>
        <p:spPr>
          <a:xfrm>
            <a:off x="152400" y="476672"/>
            <a:ext cx="8839200" cy="6381328"/>
          </a:xfrm>
        </p:spPr>
        <p:txBody>
          <a:bodyPr>
            <a:normAutofit/>
          </a:bodyPr>
          <a:lstStyle/>
          <a:p>
            <a:pPr marL="0" indent="0" algn="ctr">
              <a:buNone/>
            </a:pPr>
            <a:endParaRPr lang="en-GB" sz="2800" b="1" dirty="0" smtClean="0">
              <a:solidFill>
                <a:srgbClr val="FF0000"/>
              </a:solidFill>
            </a:endParaRPr>
          </a:p>
          <a:p>
            <a:pPr marL="0" indent="0" algn="ctr">
              <a:buNone/>
            </a:pPr>
            <a:r>
              <a:rPr lang="en-GB" sz="2800" b="1" dirty="0" smtClean="0">
                <a:solidFill>
                  <a:srgbClr val="FF0000"/>
                </a:solidFill>
              </a:rPr>
              <a:t>Step </a:t>
            </a:r>
            <a:r>
              <a:rPr lang="en-GB" sz="2800" b="1" dirty="0">
                <a:solidFill>
                  <a:srgbClr val="FF0000"/>
                </a:solidFill>
              </a:rPr>
              <a:t>3</a:t>
            </a:r>
            <a:endParaRPr lang="en-GB" sz="2800" b="1" dirty="0" smtClean="0">
              <a:solidFill>
                <a:srgbClr val="FF0000"/>
              </a:solidFill>
            </a:endParaRPr>
          </a:p>
          <a:p>
            <a:pPr algn="just"/>
            <a:r>
              <a:rPr lang="en-GB" sz="2800" dirty="0"/>
              <a:t>Click the </a:t>
            </a:r>
            <a:r>
              <a:rPr lang="en-GB" sz="2800" b="1" dirty="0"/>
              <a:t>Shading </a:t>
            </a:r>
            <a:r>
              <a:rPr lang="en-GB" sz="2800" dirty="0"/>
              <a:t>tab which will display options to select </a:t>
            </a:r>
            <a:r>
              <a:rPr lang="en-GB" sz="2800" b="1" dirty="0"/>
              <a:t>fill</a:t>
            </a:r>
            <a:r>
              <a:rPr lang="en-GB" sz="2800" dirty="0"/>
              <a:t>, </a:t>
            </a:r>
            <a:r>
              <a:rPr lang="en-GB" sz="2800" b="1" dirty="0" smtClean="0"/>
              <a:t>colour</a:t>
            </a:r>
            <a:r>
              <a:rPr lang="en-GB" sz="2800" dirty="0" smtClean="0"/>
              <a:t> </a:t>
            </a:r>
            <a:r>
              <a:rPr lang="en-GB" sz="2800" dirty="0"/>
              <a:t>and </a:t>
            </a:r>
            <a:r>
              <a:rPr lang="en-GB" sz="2800" b="1" dirty="0"/>
              <a:t>style</a:t>
            </a:r>
            <a:r>
              <a:rPr lang="en-GB" sz="2800" dirty="0"/>
              <a:t> and whether this border should be applied to cell or table or selected portion of </a:t>
            </a:r>
            <a:r>
              <a:rPr lang="en-GB" sz="2800" dirty="0" smtClean="0"/>
              <a:t>text.</a:t>
            </a:r>
          </a:p>
          <a:p>
            <a:pPr marL="0" indent="0" algn="just">
              <a:buNone/>
            </a:pPr>
            <a:endParaRPr lang="en-GB" sz="2800" dirty="0" smtClean="0"/>
          </a:p>
          <a:p>
            <a:pPr marL="0" indent="0" algn="ctr">
              <a:buNone/>
            </a:pPr>
            <a:r>
              <a:rPr lang="en-GB" sz="2800" b="1" dirty="0" smtClean="0">
                <a:solidFill>
                  <a:srgbClr val="FF0000"/>
                </a:solidFill>
              </a:rPr>
              <a:t>Step 4</a:t>
            </a:r>
            <a:endParaRPr lang="en-GB" sz="2800" dirty="0" smtClean="0"/>
          </a:p>
          <a:p>
            <a:pPr algn="just"/>
            <a:r>
              <a:rPr lang="en-GB" sz="2800" dirty="0"/>
              <a:t>You can use the </a:t>
            </a:r>
            <a:r>
              <a:rPr lang="en-GB" sz="2800" b="1" dirty="0"/>
              <a:t>Preview</a:t>
            </a:r>
            <a:r>
              <a:rPr lang="en-GB" sz="2800" dirty="0"/>
              <a:t> section to have an idea about the expected result. </a:t>
            </a:r>
            <a:endParaRPr lang="en-GB" sz="2800" dirty="0" smtClean="0"/>
          </a:p>
          <a:p>
            <a:pPr algn="just"/>
            <a:r>
              <a:rPr lang="en-GB" sz="2800" dirty="0" smtClean="0"/>
              <a:t>Once </a:t>
            </a:r>
            <a:r>
              <a:rPr lang="en-GB" sz="2800" dirty="0"/>
              <a:t>you are done, click the </a:t>
            </a:r>
            <a:r>
              <a:rPr lang="en-GB" sz="2800" b="1" dirty="0"/>
              <a:t>OK button </a:t>
            </a:r>
            <a:r>
              <a:rPr lang="en-GB" sz="2800" dirty="0"/>
              <a:t>to apply the result..</a:t>
            </a:r>
          </a:p>
          <a:p>
            <a:pPr marL="0" indent="0" algn="just">
              <a:buNone/>
            </a:pPr>
            <a:endParaRPr lang="en-GB" sz="2800" dirty="0" smtClean="0"/>
          </a:p>
          <a:p>
            <a:pPr algn="just"/>
            <a:endParaRPr lang="en-GB" dirty="0" smtClean="0"/>
          </a:p>
          <a:p>
            <a:pPr algn="just"/>
            <a:endParaRPr lang="en-US" sz="2400" dirty="0"/>
          </a:p>
        </p:txBody>
      </p:sp>
    </p:spTree>
    <p:extLst>
      <p:ext uri="{BB962C8B-B14F-4D97-AF65-F5344CB8AC3E}">
        <p14:creationId xmlns:p14="http://schemas.microsoft.com/office/powerpoint/2010/main" val="2404344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200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wipe(left)">
                                      <p:cBhvr>
                                        <p:cTn id="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smtClean="0"/>
          </a:p>
          <a:p>
            <a:pPr algn="ctr">
              <a:buFont typeface="Arial" charset="0"/>
              <a:buNone/>
            </a:pPr>
            <a:endParaRPr lang="en-US" b="1" smtClean="0"/>
          </a:p>
          <a:p>
            <a:pPr algn="ctr">
              <a:buFont typeface="Arial" charset="0"/>
              <a:buNone/>
            </a:pPr>
            <a:endParaRPr lang="en-US" sz="3200" b="1" smtClean="0"/>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6362</TotalTime>
  <Words>1801</Words>
  <Application>Microsoft Office PowerPoint</Application>
  <PresentationFormat>On-screen Show (4:3)</PresentationFormat>
  <Paragraphs>244</Paragraphs>
  <Slides>45</Slides>
  <Notes>45</Notes>
  <HiddenSlides>0</HiddenSlides>
  <MMClips>0</MMClip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PowerPoint Presentation</vt:lpstr>
      <vt:lpstr>PowerPoint Presentation</vt:lpstr>
      <vt:lpstr>Objectives Overview</vt:lpstr>
      <vt:lpstr>Create a Table in Word 2010</vt:lpstr>
      <vt:lpstr>Create a Table</vt:lpstr>
      <vt:lpstr>Create a Table</vt:lpstr>
      <vt:lpstr>Create a Table</vt:lpstr>
      <vt:lpstr>Create a Table</vt:lpstr>
      <vt:lpstr>Delete a Table</vt:lpstr>
      <vt:lpstr>Add a Row</vt:lpstr>
      <vt:lpstr>Add a Row</vt:lpstr>
      <vt:lpstr>Delete a Row</vt:lpstr>
      <vt:lpstr>Delete a Row</vt:lpstr>
      <vt:lpstr>Add a Column</vt:lpstr>
      <vt:lpstr>Add a Column</vt:lpstr>
      <vt:lpstr>Delete a Column</vt:lpstr>
      <vt:lpstr>Delete a Column</vt:lpstr>
      <vt:lpstr>Move a Table</vt:lpstr>
      <vt:lpstr>Move a Table</vt:lpstr>
      <vt:lpstr>Resize a Table</vt:lpstr>
      <vt:lpstr>Resize a Table</vt:lpstr>
      <vt:lpstr>Merging Cells</vt:lpstr>
      <vt:lpstr>Merging Cells</vt:lpstr>
      <vt:lpstr>Split a Table</vt:lpstr>
      <vt:lpstr>Split a Table</vt:lpstr>
      <vt:lpstr>Split a Table</vt:lpstr>
      <vt:lpstr>Split a Cell</vt:lpstr>
      <vt:lpstr>Split a Cell</vt:lpstr>
      <vt:lpstr>Split a Cell</vt:lpstr>
      <vt:lpstr>Add a Formula</vt:lpstr>
      <vt:lpstr>Add a Formula</vt:lpstr>
      <vt:lpstr>Add a Formula</vt:lpstr>
      <vt:lpstr>Cell Formulae</vt:lpstr>
      <vt:lpstr>Add Borders to Table</vt:lpstr>
      <vt:lpstr>Add Borders to Table</vt:lpstr>
      <vt:lpstr>Add Borders to Table</vt:lpstr>
      <vt:lpstr>Add Borders to Table</vt:lpstr>
      <vt:lpstr>Using Border Options</vt:lpstr>
      <vt:lpstr>Using Border Options</vt:lpstr>
      <vt:lpstr>Using Border Options</vt:lpstr>
      <vt:lpstr>Add Shades To Table</vt:lpstr>
      <vt:lpstr>Add Shades To Table</vt:lpstr>
      <vt:lpstr>Using Border Options</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UCCSMS1</cp:lastModifiedBy>
  <cp:revision>282</cp:revision>
  <dcterms:created xsi:type="dcterms:W3CDTF">2008-12-18T17:11:12Z</dcterms:created>
  <dcterms:modified xsi:type="dcterms:W3CDTF">2021-02-19T16:18:36Z</dcterms:modified>
</cp:coreProperties>
</file>
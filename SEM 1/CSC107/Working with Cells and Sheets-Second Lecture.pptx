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2"/>
  </p:notesMasterIdLst>
  <p:sldIdLst>
    <p:sldId id="260" r:id="rId2"/>
    <p:sldId id="385" r:id="rId3"/>
    <p:sldId id="294" r:id="rId4"/>
    <p:sldId id="736" r:id="rId5"/>
    <p:sldId id="264" r:id="rId6"/>
    <p:sldId id="737" r:id="rId7"/>
    <p:sldId id="738" r:id="rId8"/>
    <p:sldId id="739" r:id="rId9"/>
    <p:sldId id="740" r:id="rId10"/>
    <p:sldId id="741" r:id="rId11"/>
    <p:sldId id="742" r:id="rId12"/>
    <p:sldId id="743" r:id="rId13"/>
    <p:sldId id="744" r:id="rId14"/>
    <p:sldId id="745" r:id="rId15"/>
    <p:sldId id="746" r:id="rId16"/>
    <p:sldId id="747" r:id="rId17"/>
    <p:sldId id="748" r:id="rId18"/>
    <p:sldId id="749" r:id="rId19"/>
    <p:sldId id="750" r:id="rId20"/>
    <p:sldId id="751" r:id="rId21"/>
    <p:sldId id="752" r:id="rId22"/>
    <p:sldId id="753" r:id="rId23"/>
    <p:sldId id="754" r:id="rId24"/>
    <p:sldId id="755" r:id="rId25"/>
    <p:sldId id="756" r:id="rId26"/>
    <p:sldId id="757" r:id="rId27"/>
    <p:sldId id="758" r:id="rId28"/>
    <p:sldId id="759" r:id="rId29"/>
    <p:sldId id="760" r:id="rId30"/>
    <p:sldId id="761" r:id="rId31"/>
    <p:sldId id="762" r:id="rId32"/>
    <p:sldId id="763" r:id="rId33"/>
    <p:sldId id="764" r:id="rId34"/>
    <p:sldId id="765" r:id="rId35"/>
    <p:sldId id="766" r:id="rId36"/>
    <p:sldId id="767" r:id="rId37"/>
    <p:sldId id="768" r:id="rId38"/>
    <p:sldId id="769" r:id="rId39"/>
    <p:sldId id="770" r:id="rId40"/>
    <p:sldId id="771" r:id="rId41"/>
    <p:sldId id="772" r:id="rId42"/>
    <p:sldId id="773" r:id="rId43"/>
    <p:sldId id="774" r:id="rId44"/>
    <p:sldId id="775" r:id="rId45"/>
    <p:sldId id="776" r:id="rId46"/>
    <p:sldId id="777" r:id="rId47"/>
    <p:sldId id="778" r:id="rId48"/>
    <p:sldId id="779" r:id="rId49"/>
    <p:sldId id="780" r:id="rId50"/>
    <p:sldId id="781" r:id="rId51"/>
    <p:sldId id="782" r:id="rId52"/>
    <p:sldId id="783" r:id="rId53"/>
    <p:sldId id="784" r:id="rId54"/>
    <p:sldId id="785" r:id="rId55"/>
    <p:sldId id="786" r:id="rId56"/>
    <p:sldId id="787" r:id="rId57"/>
    <p:sldId id="788" r:id="rId58"/>
    <p:sldId id="789" r:id="rId59"/>
    <p:sldId id="790" r:id="rId60"/>
    <p:sldId id="791" r:id="rId61"/>
    <p:sldId id="792" r:id="rId62"/>
    <p:sldId id="793" r:id="rId63"/>
    <p:sldId id="794" r:id="rId64"/>
    <p:sldId id="795" r:id="rId65"/>
    <p:sldId id="796" r:id="rId66"/>
    <p:sldId id="797" r:id="rId67"/>
    <p:sldId id="798" r:id="rId68"/>
    <p:sldId id="799" r:id="rId69"/>
    <p:sldId id="800" r:id="rId70"/>
    <p:sldId id="801" r:id="rId71"/>
    <p:sldId id="802" r:id="rId72"/>
    <p:sldId id="803" r:id="rId73"/>
    <p:sldId id="804" r:id="rId74"/>
    <p:sldId id="805" r:id="rId75"/>
    <p:sldId id="806" r:id="rId76"/>
    <p:sldId id="807" r:id="rId77"/>
    <p:sldId id="808" r:id="rId78"/>
    <p:sldId id="809" r:id="rId79"/>
    <p:sldId id="810" r:id="rId80"/>
    <p:sldId id="811" r:id="rId81"/>
    <p:sldId id="812" r:id="rId82"/>
    <p:sldId id="813" r:id="rId83"/>
    <p:sldId id="814" r:id="rId84"/>
    <p:sldId id="815" r:id="rId85"/>
    <p:sldId id="816" r:id="rId86"/>
    <p:sldId id="817" r:id="rId87"/>
    <p:sldId id="818" r:id="rId88"/>
    <p:sldId id="819" r:id="rId89"/>
    <p:sldId id="820" r:id="rId90"/>
    <p:sldId id="821" r:id="rId91"/>
    <p:sldId id="822" r:id="rId92"/>
    <p:sldId id="823" r:id="rId93"/>
    <p:sldId id="824" r:id="rId94"/>
    <p:sldId id="825" r:id="rId95"/>
    <p:sldId id="826" r:id="rId96"/>
    <p:sldId id="827" r:id="rId97"/>
    <p:sldId id="828" r:id="rId98"/>
    <p:sldId id="829" r:id="rId99"/>
    <p:sldId id="830" r:id="rId100"/>
    <p:sldId id="831" r:id="rId101"/>
    <p:sldId id="832" r:id="rId102"/>
    <p:sldId id="833" r:id="rId103"/>
    <p:sldId id="834" r:id="rId104"/>
    <p:sldId id="835" r:id="rId105"/>
    <p:sldId id="836" r:id="rId106"/>
    <p:sldId id="837" r:id="rId107"/>
    <p:sldId id="838" r:id="rId108"/>
    <p:sldId id="839" r:id="rId109"/>
    <p:sldId id="840" r:id="rId110"/>
    <p:sldId id="841" r:id="rId111"/>
    <p:sldId id="842" r:id="rId112"/>
    <p:sldId id="843" r:id="rId113"/>
    <p:sldId id="844" r:id="rId114"/>
    <p:sldId id="845" r:id="rId115"/>
    <p:sldId id="846" r:id="rId116"/>
    <p:sldId id="847" r:id="rId117"/>
    <p:sldId id="848" r:id="rId118"/>
    <p:sldId id="849" r:id="rId119"/>
    <p:sldId id="850" r:id="rId120"/>
    <p:sldId id="851" r:id="rId121"/>
    <p:sldId id="852" r:id="rId122"/>
    <p:sldId id="853" r:id="rId123"/>
    <p:sldId id="854" r:id="rId124"/>
    <p:sldId id="855" r:id="rId125"/>
    <p:sldId id="856" r:id="rId126"/>
    <p:sldId id="857" r:id="rId127"/>
    <p:sldId id="858" r:id="rId128"/>
    <p:sldId id="859" r:id="rId129"/>
    <p:sldId id="860" r:id="rId130"/>
    <p:sldId id="861" r:id="rId131"/>
    <p:sldId id="862" r:id="rId132"/>
    <p:sldId id="863" r:id="rId133"/>
    <p:sldId id="864" r:id="rId134"/>
    <p:sldId id="865" r:id="rId135"/>
    <p:sldId id="866" r:id="rId136"/>
    <p:sldId id="867" r:id="rId137"/>
    <p:sldId id="868" r:id="rId138"/>
    <p:sldId id="869" r:id="rId139"/>
    <p:sldId id="440" r:id="rId140"/>
    <p:sldId id="384" r:id="rId1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13" autoAdjust="0"/>
  </p:normalViewPr>
  <p:slideViewPr>
    <p:cSldViewPr>
      <p:cViewPr varScale="1">
        <p:scale>
          <a:sx n="66" d="100"/>
          <a:sy n="66" d="100"/>
        </p:scale>
        <p:origin x="1506"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970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p>
        <a:p>
          <a:r>
            <a:rPr lang="en-US" dirty="0"/>
            <a:t>Microsoft Excel </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custT="1"/>
      <dgm:spPr/>
      <dgm:t>
        <a:bodyPr/>
        <a:lstStyle/>
        <a:p>
          <a:r>
            <a:rPr lang="en-US" sz="4800" dirty="0"/>
            <a:t>Working with Cells and Sheets</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65DCDAFD-8909-4CCC-96D3-23F19B6A2257}" type="presOf" srcId="{7D821BC7-213D-4CEC-978A-9CFFE70F3D67}" destId="{9972E4C6-FDD6-4F32-8994-B9E0115268C3}" srcOrd="0" destOrd="0" presId="urn:microsoft.com/office/officeart/2005/8/layout/default#1"/>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a:t>How to insert and delete cells and cell content</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a:t>How to drag and drop cells</a:t>
          </a:r>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a:t>How to use the copy, cut, and paste functions </a:t>
          </a:r>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a:t>How to modify rows, columns and cells </a:t>
          </a:r>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a:t>How to format text</a:t>
          </a:r>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a:t>How to format numbers</a:t>
          </a:r>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B9D2FC92-ECB4-4D54-9508-F43A91E7E65C}">
      <dgm:prSet/>
      <dgm:spPr/>
      <dgm:t>
        <a:bodyPr/>
        <a:lstStyle/>
        <a:p>
          <a:r>
            <a:rPr lang="en-GB" dirty="0"/>
            <a:t>How to group and ungroup worksheet</a:t>
          </a:r>
        </a:p>
      </dgm:t>
    </dgm:pt>
    <dgm:pt modelId="{78D7DF5E-40D2-4C2E-A6D8-113A5982009C}" type="parTrans" cxnId="{7F547AE8-3119-406B-94F9-F606AA7491D7}">
      <dgm:prSet/>
      <dgm:spPr/>
      <dgm:t>
        <a:bodyPr/>
        <a:lstStyle/>
        <a:p>
          <a:endParaRPr lang="en-GB"/>
        </a:p>
      </dgm:t>
    </dgm:pt>
    <dgm:pt modelId="{E2B3D82B-B21B-4F72-B2BC-78A1696AD170}" type="sibTrans" cxnId="{7F547AE8-3119-406B-94F9-F606AA7491D7}">
      <dgm:prSet/>
      <dgm:spPr/>
      <dgm:t>
        <a:bodyPr/>
        <a:lstStyle/>
        <a:p>
          <a:endParaRPr lang="en-GB"/>
        </a:p>
      </dgm:t>
    </dgm:pt>
    <dgm:pt modelId="{476A1A6D-9E32-412F-852C-EA036D2EA443}">
      <dgm:prSet/>
      <dgm:spPr/>
      <dgm:t>
        <a:bodyPr/>
        <a:lstStyle/>
        <a:p>
          <a:r>
            <a:rPr lang="en-GB" dirty="0"/>
            <a:t>How to hide use find and replace</a:t>
          </a:r>
        </a:p>
      </dgm:t>
    </dgm:pt>
    <dgm:pt modelId="{A6D156B3-65C8-4D8D-9BA4-CBE69004882B}" type="parTrans" cxnId="{9F622BE6-A9AE-4059-9547-F4054D63F899}">
      <dgm:prSet/>
      <dgm:spPr/>
      <dgm:t>
        <a:bodyPr/>
        <a:lstStyle/>
        <a:p>
          <a:endParaRPr lang="en-GB"/>
        </a:p>
      </dgm:t>
    </dgm:pt>
    <dgm:pt modelId="{3C054B08-0B7E-409B-8D87-F73633A89691}" type="sibTrans" cxnId="{9F622BE6-A9AE-4059-9547-F4054D63F899}">
      <dgm:prSet/>
      <dgm:spPr/>
      <dgm:t>
        <a:bodyPr/>
        <a:lstStyle/>
        <a:p>
          <a:endParaRPr lang="en-GB"/>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8">
        <dgm:presLayoutVars>
          <dgm:bulletEnabled val="1"/>
        </dgm:presLayoutVars>
      </dgm:prSet>
      <dgm:spPr/>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8">
        <dgm:presLayoutVars>
          <dgm:bulletEnabled val="1"/>
        </dgm:presLayoutVars>
      </dgm:prSet>
      <dgm:spPr/>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8">
        <dgm:presLayoutVars>
          <dgm:bulletEnabled val="1"/>
        </dgm:presLayoutVars>
      </dgm:prSet>
      <dgm:spPr/>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8">
        <dgm:presLayoutVars>
          <dgm:bulletEnabled val="1"/>
        </dgm:presLayoutVars>
      </dgm:prSet>
      <dgm:spPr/>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8" custLinFactNeighborX="-2118">
        <dgm:presLayoutVars>
          <dgm:bulletEnabled val="1"/>
        </dgm:presLayoutVars>
      </dgm:prSet>
      <dgm:spPr/>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8">
        <dgm:presLayoutVars>
          <dgm:bulletEnabled val="1"/>
        </dgm:presLayoutVars>
      </dgm:prSet>
      <dgm:spPr/>
    </dgm:pt>
    <dgm:pt modelId="{78CB8F77-3CF7-4A24-AB1C-13517BFF6342}" type="pres">
      <dgm:prSet presAssocID="{C25ACD3C-6ADA-4FCF-83F9-C46AF1053BB7}" presName="sibTrans" presStyleCnt="0"/>
      <dgm:spPr/>
    </dgm:pt>
    <dgm:pt modelId="{4F3BB94F-726F-42B1-B2C9-9077543F3D05}" type="pres">
      <dgm:prSet presAssocID="{B9D2FC92-ECB4-4D54-9508-F43A91E7E65C}" presName="node" presStyleLbl="node1" presStyleIdx="6" presStyleCnt="8">
        <dgm:presLayoutVars>
          <dgm:bulletEnabled val="1"/>
        </dgm:presLayoutVars>
      </dgm:prSet>
      <dgm:spPr/>
    </dgm:pt>
    <dgm:pt modelId="{A5408A91-DCB4-4486-8086-1187B0570DB1}" type="pres">
      <dgm:prSet presAssocID="{E2B3D82B-B21B-4F72-B2BC-78A1696AD170}" presName="sibTrans" presStyleCnt="0"/>
      <dgm:spPr/>
    </dgm:pt>
    <dgm:pt modelId="{31EA35DB-A737-45B2-AEA8-3AC4C64F3EDA}" type="pres">
      <dgm:prSet presAssocID="{476A1A6D-9E32-412F-852C-EA036D2EA443}" presName="node" presStyleLbl="node1" presStyleIdx="7" presStyleCnt="8">
        <dgm:presLayoutVars>
          <dgm:bulletEnabled val="1"/>
        </dgm:presLayoutVars>
      </dgm:prSet>
      <dgm:spPr/>
    </dgm:pt>
  </dgm:ptLst>
  <dgm:cxnLst>
    <dgm:cxn modelId="{8294D506-3CCF-46C3-9D45-09DDBBAFC9A2}" srcId="{3DE9E547-3C66-4E5D-9D07-0515EED2B913}" destId="{BBBB9B4E-DA71-45DE-92BC-1EF247E5F9B2}" srcOrd="1" destOrd="0" parTransId="{A9ED417C-F968-4650-A07D-E6C8B9F80C83}" sibTransId="{8B37F55B-F450-4B0B-98F7-A2B490DAC81A}"/>
    <dgm:cxn modelId="{6AAA590D-29DC-4E4C-8B98-98C454876ACA}" type="presOf" srcId="{0C2A3C5A-0AE4-41C1-AA5D-5BC4E760C57F}" destId="{D944875E-4200-44D3-9F4D-D995865E5F68}" srcOrd="0" destOrd="0" presId="urn:microsoft.com/office/officeart/2005/8/layout/default#1"/>
    <dgm:cxn modelId="{83122414-9691-4F6C-BC60-0171D826C93D}" type="presOf" srcId="{476A1A6D-9E32-412F-852C-EA036D2EA443}" destId="{31EA35DB-A737-45B2-AEA8-3AC4C64F3EDA}" srcOrd="0" destOrd="0" presId="urn:microsoft.com/office/officeart/2005/8/layout/default#1"/>
    <dgm:cxn modelId="{031BCA45-34A2-4E89-93EF-0C69AA13A8F0}" type="presOf" srcId="{23F2D5E2-61FA-40AD-9F7D-BF405C8CDFAE}" destId="{126D987F-03E4-4E3A-BED9-08B6BA3A15AB}"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86E31C76-0D62-4F6E-AF30-DF0CF87F6868}" srcId="{3DE9E547-3C66-4E5D-9D07-0515EED2B913}" destId="{0C2A3C5A-0AE4-41C1-AA5D-5BC4E760C57F}" srcOrd="5" destOrd="0" parTransId="{C63CDA1C-7537-4175-AE85-DCCC8B9595D5}" sibTransId="{C25ACD3C-6ADA-4FCF-83F9-C46AF1053BB7}"/>
    <dgm:cxn modelId="{FBDBE29A-0A0F-4D97-8A3B-694C132A4FE5}" srcId="{3DE9E547-3C66-4E5D-9D07-0515EED2B913}" destId="{23F2D5E2-61FA-40AD-9F7D-BF405C8CDFAE}" srcOrd="3" destOrd="0" parTransId="{AB5E8461-293C-485A-87B5-1F0B83CE1442}" sibTransId="{2155DDCB-A76B-4506-AD94-A2E4AE9F6F2F}"/>
    <dgm:cxn modelId="{5975DE9F-9538-4AC2-A004-1F0309A49A9F}" type="presOf" srcId="{BBBB9B4E-DA71-45DE-92BC-1EF247E5F9B2}" destId="{08678D36-F832-48B7-8548-C43AEE1F6A43}" srcOrd="0" destOrd="0" presId="urn:microsoft.com/office/officeart/2005/8/layout/default#1"/>
    <dgm:cxn modelId="{A8B40AA2-278C-4338-99E0-4615B7D73CD9}" type="presOf" srcId="{B9D2FC92-ECB4-4D54-9508-F43A91E7E65C}" destId="{4F3BB94F-726F-42B1-B2C9-9077543F3D05}" srcOrd="0" destOrd="0" presId="urn:microsoft.com/office/officeart/2005/8/layout/default#1"/>
    <dgm:cxn modelId="{0DB3BCB8-BFA0-457C-84E0-1D03CDEA15BA}" srcId="{3DE9E547-3C66-4E5D-9D07-0515EED2B913}" destId="{C11B75ED-B46B-4BF2-80F2-DA583A75044E}" srcOrd="2" destOrd="0" parTransId="{5645C486-8F55-4C5D-BAFE-57B0FB9C1457}" sibTransId="{0F8F958D-95B3-4287-AB04-371DBF737C1C}"/>
    <dgm:cxn modelId="{A36A33C9-5EC3-4472-82B9-956D1373C0B4}" srcId="{3DE9E547-3C66-4E5D-9D07-0515EED2B913}" destId="{F9022B54-68C2-4973-9A00-460029290542}" srcOrd="0" destOrd="0" parTransId="{0EBC0F7C-C083-479E-822C-AA3F278D062A}" sibTransId="{AEC43A17-FDDC-4261-BB01-B6005B7A4552}"/>
    <dgm:cxn modelId="{8C7B99DC-F8B1-492C-AD47-8DB1AB5E9999}" type="presOf" srcId="{C11B75ED-B46B-4BF2-80F2-DA583A75044E}" destId="{D32AB574-D896-42B8-809A-74BD322B19E9}" srcOrd="0" destOrd="0" presId="urn:microsoft.com/office/officeart/2005/8/layout/default#1"/>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9F622BE6-A9AE-4059-9547-F4054D63F899}" srcId="{3DE9E547-3C66-4E5D-9D07-0515EED2B913}" destId="{476A1A6D-9E32-412F-852C-EA036D2EA443}" srcOrd="7" destOrd="0" parTransId="{A6D156B3-65C8-4D8D-9BA4-CBE69004882B}" sibTransId="{3C054B08-0B7E-409B-8D87-F73633A89691}"/>
    <dgm:cxn modelId="{7F547AE8-3119-406B-94F9-F606AA7491D7}" srcId="{3DE9E547-3C66-4E5D-9D07-0515EED2B913}" destId="{B9D2FC92-ECB4-4D54-9508-F43A91E7E65C}" srcOrd="6" destOrd="0" parTransId="{78D7DF5E-40D2-4C2E-A6D8-113A5982009C}" sibTransId="{E2B3D82B-B21B-4F72-B2BC-78A1696AD170}"/>
    <dgm:cxn modelId="{36C3BEF2-2DBA-42EB-9810-973BE445D0C7}" type="presOf" srcId="{3DE9E547-3C66-4E5D-9D07-0515EED2B913}" destId="{46A1C575-DE29-4021-A28C-E1E7FA78085E}"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 modelId="{3F5A64F1-66F4-44C1-BF95-02D94C0DFAD0}" type="presParOf" srcId="{46A1C575-DE29-4021-A28C-E1E7FA78085E}" destId="{78CB8F77-3CF7-4A24-AB1C-13517BFF6342}" srcOrd="11" destOrd="0" presId="urn:microsoft.com/office/officeart/2005/8/layout/default#1"/>
    <dgm:cxn modelId="{A0309069-2853-4FAA-AC09-2E967F751159}" type="presParOf" srcId="{46A1C575-DE29-4021-A28C-E1E7FA78085E}" destId="{4F3BB94F-726F-42B1-B2C9-9077543F3D05}" srcOrd="12" destOrd="0" presId="urn:microsoft.com/office/officeart/2005/8/layout/default#1"/>
    <dgm:cxn modelId="{B6D090FA-77F1-4532-850C-6322F5F68B9B}" type="presParOf" srcId="{46A1C575-DE29-4021-A28C-E1E7FA78085E}" destId="{A5408A91-DCB4-4486-8086-1187B0570DB1}" srcOrd="13" destOrd="0" presId="urn:microsoft.com/office/officeart/2005/8/layout/default#1"/>
    <dgm:cxn modelId="{07999851-A652-4497-BD02-78B00D8DF8BA}" type="presParOf" srcId="{46A1C575-DE29-4021-A28C-E1E7FA78085E}" destId="{31EA35DB-A737-45B2-AEA8-3AC4C64F3EDA}"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a:t>How to use excel’s spell check feature</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a:t>How to use the fill handle</a:t>
          </a:r>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2">
        <dgm:presLayoutVars>
          <dgm:bulletEnabled val="1"/>
        </dgm:presLayoutVars>
      </dgm:prSet>
      <dgm:spPr/>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2">
        <dgm:presLayoutVars>
          <dgm:bulletEnabled val="1"/>
        </dgm:presLayoutVars>
      </dgm:prSet>
      <dgm:spPr/>
    </dgm:pt>
  </dgm:ptLst>
  <dgm:cxnLst>
    <dgm:cxn modelId="{8294D506-3CCF-46C3-9D45-09DDBBAFC9A2}" srcId="{3DE9E547-3C66-4E5D-9D07-0515EED2B913}" destId="{BBBB9B4E-DA71-45DE-92BC-1EF247E5F9B2}" srcOrd="1" destOrd="0" parTransId="{A9ED417C-F968-4650-A07D-E6C8B9F80C83}" sibTransId="{8B37F55B-F450-4B0B-98F7-A2B490DAC81A}"/>
    <dgm:cxn modelId="{31217294-24E0-4BEF-8232-945035A8AD4E}" type="presOf" srcId="{3DE9E547-3C66-4E5D-9D07-0515EED2B913}" destId="{46A1C575-DE29-4021-A28C-E1E7FA78085E}" srcOrd="0" destOrd="0" presId="urn:microsoft.com/office/officeart/2005/8/layout/default#1"/>
    <dgm:cxn modelId="{DDEACEAE-9F22-4876-8BE4-E9A2722E6E0E}" type="presOf" srcId="{F9022B54-68C2-4973-9A00-460029290542}" destId="{E43CDCF3-D5B2-4556-A6FF-1FBA940E878F}" srcOrd="0" destOrd="0" presId="urn:microsoft.com/office/officeart/2005/8/layout/default#1"/>
    <dgm:cxn modelId="{A36A33C9-5EC3-4472-82B9-956D1373C0B4}" srcId="{3DE9E547-3C66-4E5D-9D07-0515EED2B913}" destId="{F9022B54-68C2-4973-9A00-460029290542}" srcOrd="0" destOrd="0" parTransId="{0EBC0F7C-C083-479E-822C-AA3F278D062A}" sibTransId="{AEC43A17-FDDC-4261-BB01-B6005B7A4552}"/>
    <dgm:cxn modelId="{0F3B32EC-7063-4445-BBBA-595449906008}" type="presOf" srcId="{BBBB9B4E-DA71-45DE-92BC-1EF247E5F9B2}" destId="{08678D36-F832-48B7-8548-C43AEE1F6A43}" srcOrd="0" destOrd="0" presId="urn:microsoft.com/office/officeart/2005/8/layout/default#1"/>
    <dgm:cxn modelId="{3DE9520B-3D7C-4FAB-906B-2D897AC21341}" type="presParOf" srcId="{46A1C575-DE29-4021-A28C-E1E7FA78085E}" destId="{E43CDCF3-D5B2-4556-A6FF-1FBA940E878F}" srcOrd="0" destOrd="0" presId="urn:microsoft.com/office/officeart/2005/8/layout/default#1"/>
    <dgm:cxn modelId="{AF2798AA-4FB0-4832-B5A8-F1B505E63B91}" type="presParOf" srcId="{46A1C575-DE29-4021-A28C-E1E7FA78085E}" destId="{54066D3B-676A-41CA-98B3-C0905E22B6EF}" srcOrd="1" destOrd="0" presId="urn:microsoft.com/office/officeart/2005/8/layout/default#1"/>
    <dgm:cxn modelId="{1B20A3D1-3449-4A00-ABFC-5DE469169C01}" type="presParOf" srcId="{46A1C575-DE29-4021-A28C-E1E7FA78085E}" destId="{08678D36-F832-48B7-8548-C43AEE1F6A43}" srcOrd="2"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Introduction </a:t>
          </a:r>
        </a:p>
        <a:p>
          <a:pPr marL="0" lvl="0" indent="0" algn="ctr" defTabSz="2889250">
            <a:lnSpc>
              <a:spcPct val="90000"/>
            </a:lnSpc>
            <a:spcBef>
              <a:spcPct val="0"/>
            </a:spcBef>
            <a:spcAft>
              <a:spcPct val="35000"/>
            </a:spcAft>
            <a:buNone/>
          </a:pPr>
          <a:r>
            <a:rPr lang="en-US" sz="6500" kern="1200" dirty="0"/>
            <a:t>to </a:t>
          </a:r>
        </a:p>
        <a:p>
          <a:pPr marL="0" lvl="0" indent="0" algn="ctr" defTabSz="2889250">
            <a:lnSpc>
              <a:spcPct val="90000"/>
            </a:lnSpc>
            <a:spcBef>
              <a:spcPct val="0"/>
            </a:spcBef>
            <a:spcAft>
              <a:spcPct val="35000"/>
            </a:spcAft>
            <a:buNone/>
          </a:pPr>
          <a:r>
            <a:rPr lang="en-US" sz="6500" kern="1200" dirty="0"/>
            <a:t>Microsoft Excel </a:t>
          </a:r>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ctr" defTabSz="2133600">
            <a:lnSpc>
              <a:spcPct val="90000"/>
            </a:lnSpc>
            <a:spcBef>
              <a:spcPct val="0"/>
            </a:spcBef>
            <a:spcAft>
              <a:spcPct val="35000"/>
            </a:spcAft>
            <a:buNone/>
          </a:pPr>
          <a:r>
            <a:rPr lang="en-US" sz="4800" kern="1200" dirty="0"/>
            <a:t>Working with Cells and Sheets</a:t>
          </a:r>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158829" y="1314"/>
          <a:ext cx="2662981" cy="1597788"/>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How to insert and delete cells and cell content</a:t>
          </a:r>
        </a:p>
      </dsp:txBody>
      <dsp:txXfrm>
        <a:off x="158829" y="1314"/>
        <a:ext cx="2662981" cy="1597788"/>
      </dsp:txXfrm>
    </dsp:sp>
    <dsp:sp modelId="{08678D36-F832-48B7-8548-C43AEE1F6A43}">
      <dsp:nvSpPr>
        <dsp:cNvPr id="0" name=""/>
        <dsp:cNvSpPr/>
      </dsp:nvSpPr>
      <dsp:spPr>
        <a:xfrm>
          <a:off x="3088109" y="1314"/>
          <a:ext cx="2662981" cy="1597788"/>
        </a:xfrm>
        <a:prstGeom prst="rect">
          <a:avLst/>
        </a:prstGeom>
        <a:gradFill rotWithShape="0">
          <a:gsLst>
            <a:gs pos="0">
              <a:schemeClr val="accent4">
                <a:shade val="80000"/>
                <a:hueOff val="-25223"/>
                <a:satOff val="-624"/>
                <a:lumOff val="3570"/>
                <a:alphaOff val="0"/>
                <a:shade val="51000"/>
                <a:satMod val="130000"/>
              </a:schemeClr>
            </a:gs>
            <a:gs pos="80000">
              <a:schemeClr val="accent4">
                <a:shade val="80000"/>
                <a:hueOff val="-25223"/>
                <a:satOff val="-624"/>
                <a:lumOff val="3570"/>
                <a:alphaOff val="0"/>
                <a:shade val="93000"/>
                <a:satMod val="130000"/>
              </a:schemeClr>
            </a:gs>
            <a:gs pos="100000">
              <a:schemeClr val="accent4">
                <a:shade val="80000"/>
                <a:hueOff val="-25223"/>
                <a:satOff val="-624"/>
                <a:lumOff val="357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How to drag and drop cells</a:t>
          </a:r>
        </a:p>
      </dsp:txBody>
      <dsp:txXfrm>
        <a:off x="3088109" y="1314"/>
        <a:ext cx="2662981" cy="1597788"/>
      </dsp:txXfrm>
    </dsp:sp>
    <dsp:sp modelId="{D32AB574-D896-42B8-809A-74BD322B19E9}">
      <dsp:nvSpPr>
        <dsp:cNvPr id="0" name=""/>
        <dsp:cNvSpPr/>
      </dsp:nvSpPr>
      <dsp:spPr>
        <a:xfrm>
          <a:off x="6017388" y="1314"/>
          <a:ext cx="2662981" cy="1597788"/>
        </a:xfrm>
        <a:prstGeom prst="rect">
          <a:avLst/>
        </a:prstGeom>
        <a:gradFill rotWithShape="0">
          <a:gsLst>
            <a:gs pos="0">
              <a:schemeClr val="accent4">
                <a:shade val="80000"/>
                <a:hueOff val="-50445"/>
                <a:satOff val="-1247"/>
                <a:lumOff val="7139"/>
                <a:alphaOff val="0"/>
                <a:shade val="51000"/>
                <a:satMod val="130000"/>
              </a:schemeClr>
            </a:gs>
            <a:gs pos="80000">
              <a:schemeClr val="accent4">
                <a:shade val="80000"/>
                <a:hueOff val="-50445"/>
                <a:satOff val="-1247"/>
                <a:lumOff val="7139"/>
                <a:alphaOff val="0"/>
                <a:shade val="93000"/>
                <a:satMod val="130000"/>
              </a:schemeClr>
            </a:gs>
            <a:gs pos="100000">
              <a:schemeClr val="accent4">
                <a:shade val="80000"/>
                <a:hueOff val="-50445"/>
                <a:satOff val="-1247"/>
                <a:lumOff val="71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How to use the copy, cut, and paste functions </a:t>
          </a:r>
        </a:p>
      </dsp:txBody>
      <dsp:txXfrm>
        <a:off x="6017388" y="1314"/>
        <a:ext cx="2662981" cy="1597788"/>
      </dsp:txXfrm>
    </dsp:sp>
    <dsp:sp modelId="{126D987F-03E4-4E3A-BED9-08B6BA3A15AB}">
      <dsp:nvSpPr>
        <dsp:cNvPr id="0" name=""/>
        <dsp:cNvSpPr/>
      </dsp:nvSpPr>
      <dsp:spPr>
        <a:xfrm>
          <a:off x="158829" y="1865401"/>
          <a:ext cx="2662981" cy="1597788"/>
        </a:xfrm>
        <a:prstGeom prst="rect">
          <a:avLst/>
        </a:prstGeom>
        <a:gradFill rotWithShape="0">
          <a:gsLst>
            <a:gs pos="0">
              <a:schemeClr val="accent4">
                <a:shade val="80000"/>
                <a:hueOff val="-75668"/>
                <a:satOff val="-1871"/>
                <a:lumOff val="10709"/>
                <a:alphaOff val="0"/>
                <a:shade val="51000"/>
                <a:satMod val="130000"/>
              </a:schemeClr>
            </a:gs>
            <a:gs pos="80000">
              <a:schemeClr val="accent4">
                <a:shade val="80000"/>
                <a:hueOff val="-75668"/>
                <a:satOff val="-1871"/>
                <a:lumOff val="10709"/>
                <a:alphaOff val="0"/>
                <a:shade val="93000"/>
                <a:satMod val="130000"/>
              </a:schemeClr>
            </a:gs>
            <a:gs pos="100000">
              <a:schemeClr val="accent4">
                <a:shade val="80000"/>
                <a:hueOff val="-75668"/>
                <a:satOff val="-1871"/>
                <a:lumOff val="1070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How to modify rows, columns and cells </a:t>
          </a:r>
        </a:p>
      </dsp:txBody>
      <dsp:txXfrm>
        <a:off x="158829" y="1865401"/>
        <a:ext cx="2662981" cy="1597788"/>
      </dsp:txXfrm>
    </dsp:sp>
    <dsp:sp modelId="{A0EFA616-1553-4077-9D32-88AE20AC0552}">
      <dsp:nvSpPr>
        <dsp:cNvPr id="0" name=""/>
        <dsp:cNvSpPr/>
      </dsp:nvSpPr>
      <dsp:spPr>
        <a:xfrm>
          <a:off x="3031707" y="1865401"/>
          <a:ext cx="2662981" cy="1597788"/>
        </a:xfrm>
        <a:prstGeom prst="rect">
          <a:avLst/>
        </a:prstGeom>
        <a:gradFill rotWithShape="0">
          <a:gsLst>
            <a:gs pos="0">
              <a:schemeClr val="accent4">
                <a:shade val="80000"/>
                <a:hueOff val="-100890"/>
                <a:satOff val="-2494"/>
                <a:lumOff val="14279"/>
                <a:alphaOff val="0"/>
                <a:shade val="51000"/>
                <a:satMod val="130000"/>
              </a:schemeClr>
            </a:gs>
            <a:gs pos="80000">
              <a:schemeClr val="accent4">
                <a:shade val="80000"/>
                <a:hueOff val="-100890"/>
                <a:satOff val="-2494"/>
                <a:lumOff val="14279"/>
                <a:alphaOff val="0"/>
                <a:shade val="93000"/>
                <a:satMod val="130000"/>
              </a:schemeClr>
            </a:gs>
            <a:gs pos="100000">
              <a:schemeClr val="accent4">
                <a:shade val="80000"/>
                <a:hueOff val="-100890"/>
                <a:satOff val="-2494"/>
                <a:lumOff val="1427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How to format text</a:t>
          </a:r>
        </a:p>
      </dsp:txBody>
      <dsp:txXfrm>
        <a:off x="3031707" y="1865401"/>
        <a:ext cx="2662981" cy="1597788"/>
      </dsp:txXfrm>
    </dsp:sp>
    <dsp:sp modelId="{D944875E-4200-44D3-9F4D-D995865E5F68}">
      <dsp:nvSpPr>
        <dsp:cNvPr id="0" name=""/>
        <dsp:cNvSpPr/>
      </dsp:nvSpPr>
      <dsp:spPr>
        <a:xfrm>
          <a:off x="6017388" y="1865401"/>
          <a:ext cx="2662981" cy="1597788"/>
        </a:xfrm>
        <a:prstGeom prst="rect">
          <a:avLst/>
        </a:prstGeom>
        <a:gradFill rotWithShape="0">
          <a:gsLst>
            <a:gs pos="0">
              <a:schemeClr val="accent4">
                <a:shade val="80000"/>
                <a:hueOff val="-126113"/>
                <a:satOff val="-3118"/>
                <a:lumOff val="17849"/>
                <a:alphaOff val="0"/>
                <a:shade val="51000"/>
                <a:satMod val="130000"/>
              </a:schemeClr>
            </a:gs>
            <a:gs pos="80000">
              <a:schemeClr val="accent4">
                <a:shade val="80000"/>
                <a:hueOff val="-126113"/>
                <a:satOff val="-3118"/>
                <a:lumOff val="17849"/>
                <a:alphaOff val="0"/>
                <a:shade val="93000"/>
                <a:satMod val="130000"/>
              </a:schemeClr>
            </a:gs>
            <a:gs pos="100000">
              <a:schemeClr val="accent4">
                <a:shade val="80000"/>
                <a:hueOff val="-126113"/>
                <a:satOff val="-3118"/>
                <a:lumOff val="178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How to format numbers</a:t>
          </a:r>
        </a:p>
      </dsp:txBody>
      <dsp:txXfrm>
        <a:off x="6017388" y="1865401"/>
        <a:ext cx="2662981" cy="1597788"/>
      </dsp:txXfrm>
    </dsp:sp>
    <dsp:sp modelId="{4F3BB94F-726F-42B1-B2C9-9077543F3D05}">
      <dsp:nvSpPr>
        <dsp:cNvPr id="0" name=""/>
        <dsp:cNvSpPr/>
      </dsp:nvSpPr>
      <dsp:spPr>
        <a:xfrm>
          <a:off x="1623469" y="3729488"/>
          <a:ext cx="2662981" cy="1597788"/>
        </a:xfrm>
        <a:prstGeom prst="rect">
          <a:avLst/>
        </a:prstGeom>
        <a:gradFill rotWithShape="0">
          <a:gsLst>
            <a:gs pos="0">
              <a:schemeClr val="accent4">
                <a:shade val="80000"/>
                <a:hueOff val="-151335"/>
                <a:satOff val="-3741"/>
                <a:lumOff val="21418"/>
                <a:alphaOff val="0"/>
                <a:shade val="51000"/>
                <a:satMod val="130000"/>
              </a:schemeClr>
            </a:gs>
            <a:gs pos="80000">
              <a:schemeClr val="accent4">
                <a:shade val="80000"/>
                <a:hueOff val="-151335"/>
                <a:satOff val="-3741"/>
                <a:lumOff val="21418"/>
                <a:alphaOff val="0"/>
                <a:shade val="93000"/>
                <a:satMod val="130000"/>
              </a:schemeClr>
            </a:gs>
            <a:gs pos="100000">
              <a:schemeClr val="accent4">
                <a:shade val="80000"/>
                <a:hueOff val="-151335"/>
                <a:satOff val="-3741"/>
                <a:lumOff val="214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How to group and ungroup worksheet</a:t>
          </a:r>
        </a:p>
      </dsp:txBody>
      <dsp:txXfrm>
        <a:off x="1623469" y="3729488"/>
        <a:ext cx="2662981" cy="1597788"/>
      </dsp:txXfrm>
    </dsp:sp>
    <dsp:sp modelId="{31EA35DB-A737-45B2-AEA8-3AC4C64F3EDA}">
      <dsp:nvSpPr>
        <dsp:cNvPr id="0" name=""/>
        <dsp:cNvSpPr/>
      </dsp:nvSpPr>
      <dsp:spPr>
        <a:xfrm>
          <a:off x="4552749" y="3729488"/>
          <a:ext cx="2662981" cy="1597788"/>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How to hide use find and replace</a:t>
          </a:r>
        </a:p>
      </dsp:txBody>
      <dsp:txXfrm>
        <a:off x="4552749" y="3729488"/>
        <a:ext cx="2662981" cy="15977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1079" y="1401861"/>
          <a:ext cx="4208115" cy="252486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How to use excel’s spell check feature</a:t>
          </a:r>
        </a:p>
      </dsp:txBody>
      <dsp:txXfrm>
        <a:off x="1079" y="1401861"/>
        <a:ext cx="4208115" cy="2524869"/>
      </dsp:txXfrm>
    </dsp:sp>
    <dsp:sp modelId="{08678D36-F832-48B7-8548-C43AEE1F6A43}">
      <dsp:nvSpPr>
        <dsp:cNvPr id="0" name=""/>
        <dsp:cNvSpPr/>
      </dsp:nvSpPr>
      <dsp:spPr>
        <a:xfrm>
          <a:off x="4630005" y="1401861"/>
          <a:ext cx="4208115" cy="252486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kern="1200" dirty="0"/>
            <a:t>How to use the fill handle</a:t>
          </a:r>
        </a:p>
      </dsp:txBody>
      <dsp:txXfrm>
        <a:off x="4630005" y="1401861"/>
        <a:ext cx="4208115" cy="252486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2/21/2023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dirty="0"/>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3743975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a:t>
            </a:fld>
            <a:endParaRPr lang="en-US" dirty="0"/>
          </a:p>
        </p:txBody>
      </p:sp>
    </p:spTree>
    <p:extLst>
      <p:ext uri="{BB962C8B-B14F-4D97-AF65-F5344CB8AC3E}">
        <p14:creationId xmlns:p14="http://schemas.microsoft.com/office/powerpoint/2010/main" val="2514882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a:t>
            </a:fld>
            <a:endParaRPr lang="en-US" dirty="0"/>
          </a:p>
        </p:txBody>
      </p:sp>
    </p:spTree>
    <p:extLst>
      <p:ext uri="{BB962C8B-B14F-4D97-AF65-F5344CB8AC3E}">
        <p14:creationId xmlns:p14="http://schemas.microsoft.com/office/powerpoint/2010/main" val="3306564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a:t>
            </a:fld>
            <a:endParaRPr lang="en-US" dirty="0"/>
          </a:p>
        </p:txBody>
      </p:sp>
    </p:spTree>
    <p:extLst>
      <p:ext uri="{BB962C8B-B14F-4D97-AF65-F5344CB8AC3E}">
        <p14:creationId xmlns:p14="http://schemas.microsoft.com/office/powerpoint/2010/main" val="711854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a:t>
            </a:fld>
            <a:endParaRPr lang="en-US" dirty="0"/>
          </a:p>
        </p:txBody>
      </p:sp>
    </p:spTree>
    <p:extLst>
      <p:ext uri="{BB962C8B-B14F-4D97-AF65-F5344CB8AC3E}">
        <p14:creationId xmlns:p14="http://schemas.microsoft.com/office/powerpoint/2010/main" val="2535789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a:t>
            </a:fld>
            <a:endParaRPr lang="en-US" dirty="0"/>
          </a:p>
        </p:txBody>
      </p:sp>
    </p:spTree>
    <p:extLst>
      <p:ext uri="{BB962C8B-B14F-4D97-AF65-F5344CB8AC3E}">
        <p14:creationId xmlns:p14="http://schemas.microsoft.com/office/powerpoint/2010/main" val="80579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a:t>
            </a:fld>
            <a:endParaRPr lang="en-US" dirty="0"/>
          </a:p>
        </p:txBody>
      </p:sp>
    </p:spTree>
    <p:extLst>
      <p:ext uri="{BB962C8B-B14F-4D97-AF65-F5344CB8AC3E}">
        <p14:creationId xmlns:p14="http://schemas.microsoft.com/office/powerpoint/2010/main" val="1990851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a:t>
            </a:fld>
            <a:endParaRPr lang="en-US" dirty="0"/>
          </a:p>
        </p:txBody>
      </p:sp>
    </p:spTree>
    <p:extLst>
      <p:ext uri="{BB962C8B-B14F-4D97-AF65-F5344CB8AC3E}">
        <p14:creationId xmlns:p14="http://schemas.microsoft.com/office/powerpoint/2010/main" val="2907913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a:t>
            </a:fld>
            <a:endParaRPr lang="en-US" dirty="0"/>
          </a:p>
        </p:txBody>
      </p:sp>
    </p:spTree>
    <p:extLst>
      <p:ext uri="{BB962C8B-B14F-4D97-AF65-F5344CB8AC3E}">
        <p14:creationId xmlns:p14="http://schemas.microsoft.com/office/powerpoint/2010/main" val="22880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14</a:t>
            </a:fld>
            <a:endParaRPr lang="en-US" dirty="0"/>
          </a:p>
        </p:txBody>
      </p:sp>
    </p:spTree>
    <p:extLst>
      <p:ext uri="{BB962C8B-B14F-4D97-AF65-F5344CB8AC3E}">
        <p14:creationId xmlns:p14="http://schemas.microsoft.com/office/powerpoint/2010/main" val="2104190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15</a:t>
            </a:fld>
            <a:endParaRPr lang="en-US" dirty="0"/>
          </a:p>
        </p:txBody>
      </p:sp>
    </p:spTree>
    <p:extLst>
      <p:ext uri="{BB962C8B-B14F-4D97-AF65-F5344CB8AC3E}">
        <p14:creationId xmlns:p14="http://schemas.microsoft.com/office/powerpoint/2010/main" val="785425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16</a:t>
            </a:fld>
            <a:endParaRPr lang="en-US" dirty="0"/>
          </a:p>
        </p:txBody>
      </p:sp>
    </p:spTree>
    <p:extLst>
      <p:ext uri="{BB962C8B-B14F-4D97-AF65-F5344CB8AC3E}">
        <p14:creationId xmlns:p14="http://schemas.microsoft.com/office/powerpoint/2010/main" val="2775133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17</a:t>
            </a:fld>
            <a:endParaRPr lang="en-US" dirty="0"/>
          </a:p>
        </p:txBody>
      </p:sp>
    </p:spTree>
    <p:extLst>
      <p:ext uri="{BB962C8B-B14F-4D97-AF65-F5344CB8AC3E}">
        <p14:creationId xmlns:p14="http://schemas.microsoft.com/office/powerpoint/2010/main" val="31953964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18</a:t>
            </a:fld>
            <a:endParaRPr lang="en-US" dirty="0"/>
          </a:p>
        </p:txBody>
      </p:sp>
    </p:spTree>
    <p:extLst>
      <p:ext uri="{BB962C8B-B14F-4D97-AF65-F5344CB8AC3E}">
        <p14:creationId xmlns:p14="http://schemas.microsoft.com/office/powerpoint/2010/main" val="1180909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19</a:t>
            </a:fld>
            <a:endParaRPr lang="en-US" dirty="0"/>
          </a:p>
        </p:txBody>
      </p:sp>
    </p:spTree>
    <p:extLst>
      <p:ext uri="{BB962C8B-B14F-4D97-AF65-F5344CB8AC3E}">
        <p14:creationId xmlns:p14="http://schemas.microsoft.com/office/powerpoint/2010/main" val="3354410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20</a:t>
            </a:fld>
            <a:endParaRPr lang="en-US" dirty="0"/>
          </a:p>
        </p:txBody>
      </p:sp>
    </p:spTree>
    <p:extLst>
      <p:ext uri="{BB962C8B-B14F-4D97-AF65-F5344CB8AC3E}">
        <p14:creationId xmlns:p14="http://schemas.microsoft.com/office/powerpoint/2010/main" val="10374490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21</a:t>
            </a:fld>
            <a:endParaRPr lang="en-US" dirty="0"/>
          </a:p>
        </p:txBody>
      </p:sp>
    </p:spTree>
    <p:extLst>
      <p:ext uri="{BB962C8B-B14F-4D97-AF65-F5344CB8AC3E}">
        <p14:creationId xmlns:p14="http://schemas.microsoft.com/office/powerpoint/2010/main" val="20736130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22</a:t>
            </a:fld>
            <a:endParaRPr lang="en-US" dirty="0"/>
          </a:p>
        </p:txBody>
      </p:sp>
    </p:spTree>
    <p:extLst>
      <p:ext uri="{BB962C8B-B14F-4D97-AF65-F5344CB8AC3E}">
        <p14:creationId xmlns:p14="http://schemas.microsoft.com/office/powerpoint/2010/main" val="432882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23</a:t>
            </a:fld>
            <a:endParaRPr lang="en-US" dirty="0"/>
          </a:p>
        </p:txBody>
      </p:sp>
    </p:spTree>
    <p:extLst>
      <p:ext uri="{BB962C8B-B14F-4D97-AF65-F5344CB8AC3E}">
        <p14:creationId xmlns:p14="http://schemas.microsoft.com/office/powerpoint/2010/main" val="4382860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24</a:t>
            </a:fld>
            <a:endParaRPr lang="en-US" dirty="0"/>
          </a:p>
        </p:txBody>
      </p:sp>
    </p:spTree>
    <p:extLst>
      <p:ext uri="{BB962C8B-B14F-4D97-AF65-F5344CB8AC3E}">
        <p14:creationId xmlns:p14="http://schemas.microsoft.com/office/powerpoint/2010/main" val="40523665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25</a:t>
            </a:fld>
            <a:endParaRPr lang="en-US" dirty="0"/>
          </a:p>
        </p:txBody>
      </p:sp>
    </p:spTree>
    <p:extLst>
      <p:ext uri="{BB962C8B-B14F-4D97-AF65-F5344CB8AC3E}">
        <p14:creationId xmlns:p14="http://schemas.microsoft.com/office/powerpoint/2010/main" val="27069844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26</a:t>
            </a:fld>
            <a:endParaRPr lang="en-US" dirty="0"/>
          </a:p>
        </p:txBody>
      </p:sp>
    </p:spTree>
    <p:extLst>
      <p:ext uri="{BB962C8B-B14F-4D97-AF65-F5344CB8AC3E}">
        <p14:creationId xmlns:p14="http://schemas.microsoft.com/office/powerpoint/2010/main" val="22421211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27</a:t>
            </a:fld>
            <a:endParaRPr lang="en-US" dirty="0"/>
          </a:p>
        </p:txBody>
      </p:sp>
    </p:spTree>
    <p:extLst>
      <p:ext uri="{BB962C8B-B14F-4D97-AF65-F5344CB8AC3E}">
        <p14:creationId xmlns:p14="http://schemas.microsoft.com/office/powerpoint/2010/main" val="16370221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28</a:t>
            </a:fld>
            <a:endParaRPr lang="en-US" dirty="0"/>
          </a:p>
        </p:txBody>
      </p:sp>
    </p:spTree>
    <p:extLst>
      <p:ext uri="{BB962C8B-B14F-4D97-AF65-F5344CB8AC3E}">
        <p14:creationId xmlns:p14="http://schemas.microsoft.com/office/powerpoint/2010/main" val="3536170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29</a:t>
            </a:fld>
            <a:endParaRPr lang="en-US" dirty="0"/>
          </a:p>
        </p:txBody>
      </p:sp>
    </p:spTree>
    <p:extLst>
      <p:ext uri="{BB962C8B-B14F-4D97-AF65-F5344CB8AC3E}">
        <p14:creationId xmlns:p14="http://schemas.microsoft.com/office/powerpoint/2010/main" val="4083674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30</a:t>
            </a:fld>
            <a:endParaRPr lang="en-US" dirty="0"/>
          </a:p>
        </p:txBody>
      </p:sp>
    </p:spTree>
    <p:extLst>
      <p:ext uri="{BB962C8B-B14F-4D97-AF65-F5344CB8AC3E}">
        <p14:creationId xmlns:p14="http://schemas.microsoft.com/office/powerpoint/2010/main" val="1480420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31</a:t>
            </a:fld>
            <a:endParaRPr lang="en-US" dirty="0"/>
          </a:p>
        </p:txBody>
      </p:sp>
    </p:spTree>
    <p:extLst>
      <p:ext uri="{BB962C8B-B14F-4D97-AF65-F5344CB8AC3E}">
        <p14:creationId xmlns:p14="http://schemas.microsoft.com/office/powerpoint/2010/main" val="27690993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32</a:t>
            </a:fld>
            <a:endParaRPr lang="en-US" dirty="0"/>
          </a:p>
        </p:txBody>
      </p:sp>
    </p:spTree>
    <p:extLst>
      <p:ext uri="{BB962C8B-B14F-4D97-AF65-F5344CB8AC3E}">
        <p14:creationId xmlns:p14="http://schemas.microsoft.com/office/powerpoint/2010/main" val="24581233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33</a:t>
            </a:fld>
            <a:endParaRPr lang="en-US" dirty="0"/>
          </a:p>
        </p:txBody>
      </p:sp>
    </p:spTree>
    <p:extLst>
      <p:ext uri="{BB962C8B-B14F-4D97-AF65-F5344CB8AC3E}">
        <p14:creationId xmlns:p14="http://schemas.microsoft.com/office/powerpoint/2010/main" val="22154763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34</a:t>
            </a:fld>
            <a:endParaRPr lang="en-US" dirty="0"/>
          </a:p>
        </p:txBody>
      </p:sp>
    </p:spTree>
    <p:extLst>
      <p:ext uri="{BB962C8B-B14F-4D97-AF65-F5344CB8AC3E}">
        <p14:creationId xmlns:p14="http://schemas.microsoft.com/office/powerpoint/2010/main" val="29843556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35</a:t>
            </a:fld>
            <a:endParaRPr lang="en-US" dirty="0"/>
          </a:p>
        </p:txBody>
      </p:sp>
    </p:spTree>
    <p:extLst>
      <p:ext uri="{BB962C8B-B14F-4D97-AF65-F5344CB8AC3E}">
        <p14:creationId xmlns:p14="http://schemas.microsoft.com/office/powerpoint/2010/main" val="31107098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36</a:t>
            </a:fld>
            <a:endParaRPr lang="en-US" dirty="0"/>
          </a:p>
        </p:txBody>
      </p:sp>
    </p:spTree>
    <p:extLst>
      <p:ext uri="{BB962C8B-B14F-4D97-AF65-F5344CB8AC3E}">
        <p14:creationId xmlns:p14="http://schemas.microsoft.com/office/powerpoint/2010/main" val="28444764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37</a:t>
            </a:fld>
            <a:endParaRPr lang="en-US" dirty="0"/>
          </a:p>
        </p:txBody>
      </p:sp>
    </p:spTree>
    <p:extLst>
      <p:ext uri="{BB962C8B-B14F-4D97-AF65-F5344CB8AC3E}">
        <p14:creationId xmlns:p14="http://schemas.microsoft.com/office/powerpoint/2010/main" val="41811604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38</a:t>
            </a:fld>
            <a:endParaRPr lang="en-US" dirty="0"/>
          </a:p>
        </p:txBody>
      </p:sp>
    </p:spTree>
    <p:extLst>
      <p:ext uri="{BB962C8B-B14F-4D97-AF65-F5344CB8AC3E}">
        <p14:creationId xmlns:p14="http://schemas.microsoft.com/office/powerpoint/2010/main" val="20353931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39</a:t>
            </a:fld>
            <a:endParaRPr lang="en-US" dirty="0"/>
          </a:p>
        </p:txBody>
      </p:sp>
    </p:spTree>
    <p:extLst>
      <p:ext uri="{BB962C8B-B14F-4D97-AF65-F5344CB8AC3E}">
        <p14:creationId xmlns:p14="http://schemas.microsoft.com/office/powerpoint/2010/main" val="4502821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40</a:t>
            </a:fld>
            <a:endParaRPr lang="en-US" dirty="0"/>
          </a:p>
        </p:txBody>
      </p:sp>
    </p:spTree>
    <p:extLst>
      <p:ext uri="{BB962C8B-B14F-4D97-AF65-F5344CB8AC3E}">
        <p14:creationId xmlns:p14="http://schemas.microsoft.com/office/powerpoint/2010/main" val="39277032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41</a:t>
            </a:fld>
            <a:endParaRPr lang="en-US" dirty="0"/>
          </a:p>
        </p:txBody>
      </p:sp>
    </p:spTree>
    <p:extLst>
      <p:ext uri="{BB962C8B-B14F-4D97-AF65-F5344CB8AC3E}">
        <p14:creationId xmlns:p14="http://schemas.microsoft.com/office/powerpoint/2010/main" val="1658429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42</a:t>
            </a:fld>
            <a:endParaRPr lang="en-US" dirty="0"/>
          </a:p>
        </p:txBody>
      </p:sp>
    </p:spTree>
    <p:extLst>
      <p:ext uri="{BB962C8B-B14F-4D97-AF65-F5344CB8AC3E}">
        <p14:creationId xmlns:p14="http://schemas.microsoft.com/office/powerpoint/2010/main" val="9665994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43</a:t>
            </a:fld>
            <a:endParaRPr lang="en-US" dirty="0"/>
          </a:p>
        </p:txBody>
      </p:sp>
    </p:spTree>
    <p:extLst>
      <p:ext uri="{BB962C8B-B14F-4D97-AF65-F5344CB8AC3E}">
        <p14:creationId xmlns:p14="http://schemas.microsoft.com/office/powerpoint/2010/main" val="3046322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44</a:t>
            </a:fld>
            <a:endParaRPr lang="en-US" dirty="0"/>
          </a:p>
        </p:txBody>
      </p:sp>
    </p:spTree>
    <p:extLst>
      <p:ext uri="{BB962C8B-B14F-4D97-AF65-F5344CB8AC3E}">
        <p14:creationId xmlns:p14="http://schemas.microsoft.com/office/powerpoint/2010/main" val="27249404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45</a:t>
            </a:fld>
            <a:endParaRPr lang="en-US" dirty="0"/>
          </a:p>
        </p:txBody>
      </p:sp>
    </p:spTree>
    <p:extLst>
      <p:ext uri="{BB962C8B-B14F-4D97-AF65-F5344CB8AC3E}">
        <p14:creationId xmlns:p14="http://schemas.microsoft.com/office/powerpoint/2010/main" val="24230010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46</a:t>
            </a:fld>
            <a:endParaRPr lang="en-US" dirty="0"/>
          </a:p>
        </p:txBody>
      </p:sp>
    </p:spTree>
    <p:extLst>
      <p:ext uri="{BB962C8B-B14F-4D97-AF65-F5344CB8AC3E}">
        <p14:creationId xmlns:p14="http://schemas.microsoft.com/office/powerpoint/2010/main" val="37122986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47</a:t>
            </a:fld>
            <a:endParaRPr lang="en-US" dirty="0"/>
          </a:p>
        </p:txBody>
      </p:sp>
    </p:spTree>
    <p:extLst>
      <p:ext uri="{BB962C8B-B14F-4D97-AF65-F5344CB8AC3E}">
        <p14:creationId xmlns:p14="http://schemas.microsoft.com/office/powerpoint/2010/main" val="7492963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48</a:t>
            </a:fld>
            <a:endParaRPr lang="en-US" dirty="0"/>
          </a:p>
        </p:txBody>
      </p:sp>
    </p:spTree>
    <p:extLst>
      <p:ext uri="{BB962C8B-B14F-4D97-AF65-F5344CB8AC3E}">
        <p14:creationId xmlns:p14="http://schemas.microsoft.com/office/powerpoint/2010/main" val="13178234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49</a:t>
            </a:fld>
            <a:endParaRPr lang="en-US" dirty="0"/>
          </a:p>
        </p:txBody>
      </p:sp>
    </p:spTree>
    <p:extLst>
      <p:ext uri="{BB962C8B-B14F-4D97-AF65-F5344CB8AC3E}">
        <p14:creationId xmlns:p14="http://schemas.microsoft.com/office/powerpoint/2010/main" val="26232202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50</a:t>
            </a:fld>
            <a:endParaRPr lang="en-US" dirty="0"/>
          </a:p>
        </p:txBody>
      </p:sp>
    </p:spTree>
    <p:extLst>
      <p:ext uri="{BB962C8B-B14F-4D97-AF65-F5344CB8AC3E}">
        <p14:creationId xmlns:p14="http://schemas.microsoft.com/office/powerpoint/2010/main" val="15319749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51</a:t>
            </a:fld>
            <a:endParaRPr lang="en-US" dirty="0"/>
          </a:p>
        </p:txBody>
      </p:sp>
    </p:spTree>
    <p:extLst>
      <p:ext uri="{BB962C8B-B14F-4D97-AF65-F5344CB8AC3E}">
        <p14:creationId xmlns:p14="http://schemas.microsoft.com/office/powerpoint/2010/main" val="27036471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52</a:t>
            </a:fld>
            <a:endParaRPr lang="en-US" dirty="0"/>
          </a:p>
        </p:txBody>
      </p:sp>
    </p:spTree>
    <p:extLst>
      <p:ext uri="{BB962C8B-B14F-4D97-AF65-F5344CB8AC3E}">
        <p14:creationId xmlns:p14="http://schemas.microsoft.com/office/powerpoint/2010/main" val="7614975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53</a:t>
            </a:fld>
            <a:endParaRPr lang="en-US" dirty="0"/>
          </a:p>
        </p:txBody>
      </p:sp>
    </p:spTree>
    <p:extLst>
      <p:ext uri="{BB962C8B-B14F-4D97-AF65-F5344CB8AC3E}">
        <p14:creationId xmlns:p14="http://schemas.microsoft.com/office/powerpoint/2010/main" val="9241306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54</a:t>
            </a:fld>
            <a:endParaRPr lang="en-US" dirty="0"/>
          </a:p>
        </p:txBody>
      </p:sp>
    </p:spTree>
    <p:extLst>
      <p:ext uri="{BB962C8B-B14F-4D97-AF65-F5344CB8AC3E}">
        <p14:creationId xmlns:p14="http://schemas.microsoft.com/office/powerpoint/2010/main" val="12542712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55</a:t>
            </a:fld>
            <a:endParaRPr lang="en-US" dirty="0"/>
          </a:p>
        </p:txBody>
      </p:sp>
    </p:spTree>
    <p:extLst>
      <p:ext uri="{BB962C8B-B14F-4D97-AF65-F5344CB8AC3E}">
        <p14:creationId xmlns:p14="http://schemas.microsoft.com/office/powerpoint/2010/main" val="40527203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56</a:t>
            </a:fld>
            <a:endParaRPr lang="en-US" dirty="0"/>
          </a:p>
        </p:txBody>
      </p:sp>
    </p:spTree>
    <p:extLst>
      <p:ext uri="{BB962C8B-B14F-4D97-AF65-F5344CB8AC3E}">
        <p14:creationId xmlns:p14="http://schemas.microsoft.com/office/powerpoint/2010/main" val="41758341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57</a:t>
            </a:fld>
            <a:endParaRPr lang="en-US" dirty="0"/>
          </a:p>
        </p:txBody>
      </p:sp>
    </p:spTree>
    <p:extLst>
      <p:ext uri="{BB962C8B-B14F-4D97-AF65-F5344CB8AC3E}">
        <p14:creationId xmlns:p14="http://schemas.microsoft.com/office/powerpoint/2010/main" val="6595339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58</a:t>
            </a:fld>
            <a:endParaRPr lang="en-US" dirty="0"/>
          </a:p>
        </p:txBody>
      </p:sp>
    </p:spTree>
    <p:extLst>
      <p:ext uri="{BB962C8B-B14F-4D97-AF65-F5344CB8AC3E}">
        <p14:creationId xmlns:p14="http://schemas.microsoft.com/office/powerpoint/2010/main" val="29216207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59</a:t>
            </a:fld>
            <a:endParaRPr lang="en-US" dirty="0"/>
          </a:p>
        </p:txBody>
      </p:sp>
    </p:spTree>
    <p:extLst>
      <p:ext uri="{BB962C8B-B14F-4D97-AF65-F5344CB8AC3E}">
        <p14:creationId xmlns:p14="http://schemas.microsoft.com/office/powerpoint/2010/main" val="22347897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60</a:t>
            </a:fld>
            <a:endParaRPr lang="en-US" dirty="0"/>
          </a:p>
        </p:txBody>
      </p:sp>
    </p:spTree>
    <p:extLst>
      <p:ext uri="{BB962C8B-B14F-4D97-AF65-F5344CB8AC3E}">
        <p14:creationId xmlns:p14="http://schemas.microsoft.com/office/powerpoint/2010/main" val="12568418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61</a:t>
            </a:fld>
            <a:endParaRPr lang="en-US" dirty="0"/>
          </a:p>
        </p:txBody>
      </p:sp>
    </p:spTree>
    <p:extLst>
      <p:ext uri="{BB962C8B-B14F-4D97-AF65-F5344CB8AC3E}">
        <p14:creationId xmlns:p14="http://schemas.microsoft.com/office/powerpoint/2010/main" val="9613775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62</a:t>
            </a:fld>
            <a:endParaRPr lang="en-US" dirty="0"/>
          </a:p>
        </p:txBody>
      </p:sp>
    </p:spTree>
    <p:extLst>
      <p:ext uri="{BB962C8B-B14F-4D97-AF65-F5344CB8AC3E}">
        <p14:creationId xmlns:p14="http://schemas.microsoft.com/office/powerpoint/2010/main" val="14498090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63</a:t>
            </a:fld>
            <a:endParaRPr lang="en-US" dirty="0"/>
          </a:p>
        </p:txBody>
      </p:sp>
    </p:spTree>
    <p:extLst>
      <p:ext uri="{BB962C8B-B14F-4D97-AF65-F5344CB8AC3E}">
        <p14:creationId xmlns:p14="http://schemas.microsoft.com/office/powerpoint/2010/main" val="28093434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64</a:t>
            </a:fld>
            <a:endParaRPr lang="en-US" dirty="0"/>
          </a:p>
        </p:txBody>
      </p:sp>
    </p:spTree>
    <p:extLst>
      <p:ext uri="{BB962C8B-B14F-4D97-AF65-F5344CB8AC3E}">
        <p14:creationId xmlns:p14="http://schemas.microsoft.com/office/powerpoint/2010/main" val="18974457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65</a:t>
            </a:fld>
            <a:endParaRPr lang="en-US" dirty="0"/>
          </a:p>
        </p:txBody>
      </p:sp>
    </p:spTree>
    <p:extLst>
      <p:ext uri="{BB962C8B-B14F-4D97-AF65-F5344CB8AC3E}">
        <p14:creationId xmlns:p14="http://schemas.microsoft.com/office/powerpoint/2010/main" val="38467876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66</a:t>
            </a:fld>
            <a:endParaRPr lang="en-US" dirty="0"/>
          </a:p>
        </p:txBody>
      </p:sp>
    </p:spTree>
    <p:extLst>
      <p:ext uri="{BB962C8B-B14F-4D97-AF65-F5344CB8AC3E}">
        <p14:creationId xmlns:p14="http://schemas.microsoft.com/office/powerpoint/2010/main" val="88281462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67</a:t>
            </a:fld>
            <a:endParaRPr lang="en-US" dirty="0"/>
          </a:p>
        </p:txBody>
      </p:sp>
    </p:spTree>
    <p:extLst>
      <p:ext uri="{BB962C8B-B14F-4D97-AF65-F5344CB8AC3E}">
        <p14:creationId xmlns:p14="http://schemas.microsoft.com/office/powerpoint/2010/main" val="25397434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68</a:t>
            </a:fld>
            <a:endParaRPr lang="en-US" dirty="0"/>
          </a:p>
        </p:txBody>
      </p:sp>
    </p:spTree>
    <p:extLst>
      <p:ext uri="{BB962C8B-B14F-4D97-AF65-F5344CB8AC3E}">
        <p14:creationId xmlns:p14="http://schemas.microsoft.com/office/powerpoint/2010/main" val="15431208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69</a:t>
            </a:fld>
            <a:endParaRPr lang="en-US" dirty="0"/>
          </a:p>
        </p:txBody>
      </p:sp>
    </p:spTree>
    <p:extLst>
      <p:ext uri="{BB962C8B-B14F-4D97-AF65-F5344CB8AC3E}">
        <p14:creationId xmlns:p14="http://schemas.microsoft.com/office/powerpoint/2010/main" val="22773970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70</a:t>
            </a:fld>
            <a:endParaRPr lang="en-US" dirty="0"/>
          </a:p>
        </p:txBody>
      </p:sp>
    </p:spTree>
    <p:extLst>
      <p:ext uri="{BB962C8B-B14F-4D97-AF65-F5344CB8AC3E}">
        <p14:creationId xmlns:p14="http://schemas.microsoft.com/office/powerpoint/2010/main" val="42284556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71</a:t>
            </a:fld>
            <a:endParaRPr lang="en-US" dirty="0"/>
          </a:p>
        </p:txBody>
      </p:sp>
    </p:spTree>
    <p:extLst>
      <p:ext uri="{BB962C8B-B14F-4D97-AF65-F5344CB8AC3E}">
        <p14:creationId xmlns:p14="http://schemas.microsoft.com/office/powerpoint/2010/main" val="13143998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72</a:t>
            </a:fld>
            <a:endParaRPr lang="en-US" dirty="0"/>
          </a:p>
        </p:txBody>
      </p:sp>
    </p:spTree>
    <p:extLst>
      <p:ext uri="{BB962C8B-B14F-4D97-AF65-F5344CB8AC3E}">
        <p14:creationId xmlns:p14="http://schemas.microsoft.com/office/powerpoint/2010/main" val="376100311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73</a:t>
            </a:fld>
            <a:endParaRPr lang="en-US" dirty="0"/>
          </a:p>
        </p:txBody>
      </p:sp>
    </p:spTree>
    <p:extLst>
      <p:ext uri="{BB962C8B-B14F-4D97-AF65-F5344CB8AC3E}">
        <p14:creationId xmlns:p14="http://schemas.microsoft.com/office/powerpoint/2010/main" val="10113071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74</a:t>
            </a:fld>
            <a:endParaRPr lang="en-US" dirty="0"/>
          </a:p>
        </p:txBody>
      </p:sp>
    </p:spTree>
    <p:extLst>
      <p:ext uri="{BB962C8B-B14F-4D97-AF65-F5344CB8AC3E}">
        <p14:creationId xmlns:p14="http://schemas.microsoft.com/office/powerpoint/2010/main" val="498997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75</a:t>
            </a:fld>
            <a:endParaRPr lang="en-US" dirty="0"/>
          </a:p>
        </p:txBody>
      </p:sp>
    </p:spTree>
    <p:extLst>
      <p:ext uri="{BB962C8B-B14F-4D97-AF65-F5344CB8AC3E}">
        <p14:creationId xmlns:p14="http://schemas.microsoft.com/office/powerpoint/2010/main" val="4943045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76</a:t>
            </a:fld>
            <a:endParaRPr lang="en-US" dirty="0"/>
          </a:p>
        </p:txBody>
      </p:sp>
    </p:spTree>
    <p:extLst>
      <p:ext uri="{BB962C8B-B14F-4D97-AF65-F5344CB8AC3E}">
        <p14:creationId xmlns:p14="http://schemas.microsoft.com/office/powerpoint/2010/main" val="30434074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77</a:t>
            </a:fld>
            <a:endParaRPr lang="en-US" dirty="0"/>
          </a:p>
        </p:txBody>
      </p:sp>
    </p:spTree>
    <p:extLst>
      <p:ext uri="{BB962C8B-B14F-4D97-AF65-F5344CB8AC3E}">
        <p14:creationId xmlns:p14="http://schemas.microsoft.com/office/powerpoint/2010/main" val="11231413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78</a:t>
            </a:fld>
            <a:endParaRPr lang="en-US" dirty="0"/>
          </a:p>
        </p:txBody>
      </p:sp>
    </p:spTree>
    <p:extLst>
      <p:ext uri="{BB962C8B-B14F-4D97-AF65-F5344CB8AC3E}">
        <p14:creationId xmlns:p14="http://schemas.microsoft.com/office/powerpoint/2010/main" val="167502703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79</a:t>
            </a:fld>
            <a:endParaRPr lang="en-US" dirty="0"/>
          </a:p>
        </p:txBody>
      </p:sp>
    </p:spTree>
    <p:extLst>
      <p:ext uri="{BB962C8B-B14F-4D97-AF65-F5344CB8AC3E}">
        <p14:creationId xmlns:p14="http://schemas.microsoft.com/office/powerpoint/2010/main" val="363371946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80</a:t>
            </a:fld>
            <a:endParaRPr lang="en-US" dirty="0"/>
          </a:p>
        </p:txBody>
      </p:sp>
    </p:spTree>
    <p:extLst>
      <p:ext uri="{BB962C8B-B14F-4D97-AF65-F5344CB8AC3E}">
        <p14:creationId xmlns:p14="http://schemas.microsoft.com/office/powerpoint/2010/main" val="3957473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81</a:t>
            </a:fld>
            <a:endParaRPr lang="en-US" dirty="0"/>
          </a:p>
        </p:txBody>
      </p:sp>
    </p:spTree>
    <p:extLst>
      <p:ext uri="{BB962C8B-B14F-4D97-AF65-F5344CB8AC3E}">
        <p14:creationId xmlns:p14="http://schemas.microsoft.com/office/powerpoint/2010/main" val="376569889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82</a:t>
            </a:fld>
            <a:endParaRPr lang="en-US" dirty="0"/>
          </a:p>
        </p:txBody>
      </p:sp>
    </p:spTree>
    <p:extLst>
      <p:ext uri="{BB962C8B-B14F-4D97-AF65-F5344CB8AC3E}">
        <p14:creationId xmlns:p14="http://schemas.microsoft.com/office/powerpoint/2010/main" val="24899238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83</a:t>
            </a:fld>
            <a:endParaRPr lang="en-US" dirty="0"/>
          </a:p>
        </p:txBody>
      </p:sp>
    </p:spTree>
    <p:extLst>
      <p:ext uri="{BB962C8B-B14F-4D97-AF65-F5344CB8AC3E}">
        <p14:creationId xmlns:p14="http://schemas.microsoft.com/office/powerpoint/2010/main" val="385156285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84</a:t>
            </a:fld>
            <a:endParaRPr lang="en-US" dirty="0"/>
          </a:p>
        </p:txBody>
      </p:sp>
    </p:spTree>
    <p:extLst>
      <p:ext uri="{BB962C8B-B14F-4D97-AF65-F5344CB8AC3E}">
        <p14:creationId xmlns:p14="http://schemas.microsoft.com/office/powerpoint/2010/main" val="231407604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85</a:t>
            </a:fld>
            <a:endParaRPr lang="en-US" dirty="0"/>
          </a:p>
        </p:txBody>
      </p:sp>
    </p:spTree>
    <p:extLst>
      <p:ext uri="{BB962C8B-B14F-4D97-AF65-F5344CB8AC3E}">
        <p14:creationId xmlns:p14="http://schemas.microsoft.com/office/powerpoint/2010/main" val="142693412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86</a:t>
            </a:fld>
            <a:endParaRPr lang="en-US" dirty="0"/>
          </a:p>
        </p:txBody>
      </p:sp>
    </p:spTree>
    <p:extLst>
      <p:ext uri="{BB962C8B-B14F-4D97-AF65-F5344CB8AC3E}">
        <p14:creationId xmlns:p14="http://schemas.microsoft.com/office/powerpoint/2010/main" val="34676213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87</a:t>
            </a:fld>
            <a:endParaRPr lang="en-US" dirty="0"/>
          </a:p>
        </p:txBody>
      </p:sp>
    </p:spTree>
    <p:extLst>
      <p:ext uri="{BB962C8B-B14F-4D97-AF65-F5344CB8AC3E}">
        <p14:creationId xmlns:p14="http://schemas.microsoft.com/office/powerpoint/2010/main" val="308996473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88</a:t>
            </a:fld>
            <a:endParaRPr lang="en-US" dirty="0"/>
          </a:p>
        </p:txBody>
      </p:sp>
    </p:spTree>
    <p:extLst>
      <p:ext uri="{BB962C8B-B14F-4D97-AF65-F5344CB8AC3E}">
        <p14:creationId xmlns:p14="http://schemas.microsoft.com/office/powerpoint/2010/main" val="319020845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89</a:t>
            </a:fld>
            <a:endParaRPr lang="en-US" dirty="0"/>
          </a:p>
        </p:txBody>
      </p:sp>
    </p:spTree>
    <p:extLst>
      <p:ext uri="{BB962C8B-B14F-4D97-AF65-F5344CB8AC3E}">
        <p14:creationId xmlns:p14="http://schemas.microsoft.com/office/powerpoint/2010/main" val="135903253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90</a:t>
            </a:fld>
            <a:endParaRPr lang="en-US" dirty="0"/>
          </a:p>
        </p:txBody>
      </p:sp>
    </p:spTree>
    <p:extLst>
      <p:ext uri="{BB962C8B-B14F-4D97-AF65-F5344CB8AC3E}">
        <p14:creationId xmlns:p14="http://schemas.microsoft.com/office/powerpoint/2010/main" val="169545426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91</a:t>
            </a:fld>
            <a:endParaRPr lang="en-US" dirty="0"/>
          </a:p>
        </p:txBody>
      </p:sp>
    </p:spTree>
    <p:extLst>
      <p:ext uri="{BB962C8B-B14F-4D97-AF65-F5344CB8AC3E}">
        <p14:creationId xmlns:p14="http://schemas.microsoft.com/office/powerpoint/2010/main" val="206146375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92</a:t>
            </a:fld>
            <a:endParaRPr lang="en-US" dirty="0"/>
          </a:p>
        </p:txBody>
      </p:sp>
    </p:spTree>
    <p:extLst>
      <p:ext uri="{BB962C8B-B14F-4D97-AF65-F5344CB8AC3E}">
        <p14:creationId xmlns:p14="http://schemas.microsoft.com/office/powerpoint/2010/main" val="43603356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93</a:t>
            </a:fld>
            <a:endParaRPr lang="en-US" dirty="0"/>
          </a:p>
        </p:txBody>
      </p:sp>
    </p:spTree>
    <p:extLst>
      <p:ext uri="{BB962C8B-B14F-4D97-AF65-F5344CB8AC3E}">
        <p14:creationId xmlns:p14="http://schemas.microsoft.com/office/powerpoint/2010/main" val="226835632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94</a:t>
            </a:fld>
            <a:endParaRPr lang="en-US" dirty="0"/>
          </a:p>
        </p:txBody>
      </p:sp>
    </p:spTree>
    <p:extLst>
      <p:ext uri="{BB962C8B-B14F-4D97-AF65-F5344CB8AC3E}">
        <p14:creationId xmlns:p14="http://schemas.microsoft.com/office/powerpoint/2010/main" val="7792437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95</a:t>
            </a:fld>
            <a:endParaRPr lang="en-US" dirty="0"/>
          </a:p>
        </p:txBody>
      </p:sp>
    </p:spTree>
    <p:extLst>
      <p:ext uri="{BB962C8B-B14F-4D97-AF65-F5344CB8AC3E}">
        <p14:creationId xmlns:p14="http://schemas.microsoft.com/office/powerpoint/2010/main" val="397131033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96</a:t>
            </a:fld>
            <a:endParaRPr lang="en-US" dirty="0"/>
          </a:p>
        </p:txBody>
      </p:sp>
    </p:spTree>
    <p:extLst>
      <p:ext uri="{BB962C8B-B14F-4D97-AF65-F5344CB8AC3E}">
        <p14:creationId xmlns:p14="http://schemas.microsoft.com/office/powerpoint/2010/main" val="428438020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97</a:t>
            </a:fld>
            <a:endParaRPr lang="en-US" dirty="0"/>
          </a:p>
        </p:txBody>
      </p:sp>
    </p:spTree>
    <p:extLst>
      <p:ext uri="{BB962C8B-B14F-4D97-AF65-F5344CB8AC3E}">
        <p14:creationId xmlns:p14="http://schemas.microsoft.com/office/powerpoint/2010/main" val="199058141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98</a:t>
            </a:fld>
            <a:endParaRPr lang="en-US" dirty="0"/>
          </a:p>
        </p:txBody>
      </p:sp>
    </p:spTree>
    <p:extLst>
      <p:ext uri="{BB962C8B-B14F-4D97-AF65-F5344CB8AC3E}">
        <p14:creationId xmlns:p14="http://schemas.microsoft.com/office/powerpoint/2010/main" val="10701202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99</a:t>
            </a:fld>
            <a:endParaRPr lang="en-US" dirty="0"/>
          </a:p>
        </p:txBody>
      </p:sp>
    </p:spTree>
    <p:extLst>
      <p:ext uri="{BB962C8B-B14F-4D97-AF65-F5344CB8AC3E}">
        <p14:creationId xmlns:p14="http://schemas.microsoft.com/office/powerpoint/2010/main" val="404878136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100</a:t>
            </a:fld>
            <a:endParaRPr lang="en-US" dirty="0"/>
          </a:p>
        </p:txBody>
      </p:sp>
    </p:spTree>
    <p:extLst>
      <p:ext uri="{BB962C8B-B14F-4D97-AF65-F5344CB8AC3E}">
        <p14:creationId xmlns:p14="http://schemas.microsoft.com/office/powerpoint/2010/main" val="17014497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101</a:t>
            </a:fld>
            <a:endParaRPr lang="en-US" dirty="0"/>
          </a:p>
        </p:txBody>
      </p:sp>
    </p:spTree>
    <p:extLst>
      <p:ext uri="{BB962C8B-B14F-4D97-AF65-F5344CB8AC3E}">
        <p14:creationId xmlns:p14="http://schemas.microsoft.com/office/powerpoint/2010/main" val="312063782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102</a:t>
            </a:fld>
            <a:endParaRPr lang="en-US" dirty="0"/>
          </a:p>
        </p:txBody>
      </p:sp>
    </p:spTree>
    <p:extLst>
      <p:ext uri="{BB962C8B-B14F-4D97-AF65-F5344CB8AC3E}">
        <p14:creationId xmlns:p14="http://schemas.microsoft.com/office/powerpoint/2010/main" val="382321786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103</a:t>
            </a:fld>
            <a:endParaRPr lang="en-US" dirty="0"/>
          </a:p>
        </p:txBody>
      </p:sp>
    </p:spTree>
    <p:extLst>
      <p:ext uri="{BB962C8B-B14F-4D97-AF65-F5344CB8AC3E}">
        <p14:creationId xmlns:p14="http://schemas.microsoft.com/office/powerpoint/2010/main" val="44910223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104</a:t>
            </a:fld>
            <a:endParaRPr lang="en-US" dirty="0"/>
          </a:p>
        </p:txBody>
      </p:sp>
    </p:spTree>
    <p:extLst>
      <p:ext uri="{BB962C8B-B14F-4D97-AF65-F5344CB8AC3E}">
        <p14:creationId xmlns:p14="http://schemas.microsoft.com/office/powerpoint/2010/main" val="180431244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105</a:t>
            </a:fld>
            <a:endParaRPr lang="en-US" dirty="0"/>
          </a:p>
        </p:txBody>
      </p:sp>
    </p:spTree>
    <p:extLst>
      <p:ext uri="{BB962C8B-B14F-4D97-AF65-F5344CB8AC3E}">
        <p14:creationId xmlns:p14="http://schemas.microsoft.com/office/powerpoint/2010/main" val="53622926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106</a:t>
            </a:fld>
            <a:endParaRPr lang="en-US" dirty="0"/>
          </a:p>
        </p:txBody>
      </p:sp>
    </p:spTree>
    <p:extLst>
      <p:ext uri="{BB962C8B-B14F-4D97-AF65-F5344CB8AC3E}">
        <p14:creationId xmlns:p14="http://schemas.microsoft.com/office/powerpoint/2010/main" val="393147988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107</a:t>
            </a:fld>
            <a:endParaRPr lang="en-US" dirty="0"/>
          </a:p>
        </p:txBody>
      </p:sp>
    </p:spTree>
    <p:extLst>
      <p:ext uri="{BB962C8B-B14F-4D97-AF65-F5344CB8AC3E}">
        <p14:creationId xmlns:p14="http://schemas.microsoft.com/office/powerpoint/2010/main" val="21209301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108</a:t>
            </a:fld>
            <a:endParaRPr lang="en-US" dirty="0"/>
          </a:p>
        </p:txBody>
      </p:sp>
    </p:spTree>
    <p:extLst>
      <p:ext uri="{BB962C8B-B14F-4D97-AF65-F5344CB8AC3E}">
        <p14:creationId xmlns:p14="http://schemas.microsoft.com/office/powerpoint/2010/main" val="342176622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109</a:t>
            </a:fld>
            <a:endParaRPr lang="en-US" dirty="0"/>
          </a:p>
        </p:txBody>
      </p:sp>
    </p:spTree>
    <p:extLst>
      <p:ext uri="{BB962C8B-B14F-4D97-AF65-F5344CB8AC3E}">
        <p14:creationId xmlns:p14="http://schemas.microsoft.com/office/powerpoint/2010/main" val="36684260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110</a:t>
            </a:fld>
            <a:endParaRPr lang="en-US" dirty="0"/>
          </a:p>
        </p:txBody>
      </p:sp>
    </p:spTree>
    <p:extLst>
      <p:ext uri="{BB962C8B-B14F-4D97-AF65-F5344CB8AC3E}">
        <p14:creationId xmlns:p14="http://schemas.microsoft.com/office/powerpoint/2010/main" val="324003511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111</a:t>
            </a:fld>
            <a:endParaRPr lang="en-US" dirty="0"/>
          </a:p>
        </p:txBody>
      </p:sp>
    </p:spTree>
    <p:extLst>
      <p:ext uri="{BB962C8B-B14F-4D97-AF65-F5344CB8AC3E}">
        <p14:creationId xmlns:p14="http://schemas.microsoft.com/office/powerpoint/2010/main" val="317170868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112</a:t>
            </a:fld>
            <a:endParaRPr lang="en-US" dirty="0"/>
          </a:p>
        </p:txBody>
      </p:sp>
    </p:spTree>
    <p:extLst>
      <p:ext uri="{BB962C8B-B14F-4D97-AF65-F5344CB8AC3E}">
        <p14:creationId xmlns:p14="http://schemas.microsoft.com/office/powerpoint/2010/main" val="43086944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113</a:t>
            </a:fld>
            <a:endParaRPr lang="en-US" dirty="0"/>
          </a:p>
        </p:txBody>
      </p:sp>
    </p:spTree>
    <p:extLst>
      <p:ext uri="{BB962C8B-B14F-4D97-AF65-F5344CB8AC3E}">
        <p14:creationId xmlns:p14="http://schemas.microsoft.com/office/powerpoint/2010/main" val="128763125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114</a:t>
            </a:fld>
            <a:endParaRPr lang="en-US" dirty="0"/>
          </a:p>
        </p:txBody>
      </p:sp>
    </p:spTree>
    <p:extLst>
      <p:ext uri="{BB962C8B-B14F-4D97-AF65-F5344CB8AC3E}">
        <p14:creationId xmlns:p14="http://schemas.microsoft.com/office/powerpoint/2010/main" val="138220008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115</a:t>
            </a:fld>
            <a:endParaRPr lang="en-US" dirty="0"/>
          </a:p>
        </p:txBody>
      </p:sp>
    </p:spTree>
    <p:extLst>
      <p:ext uri="{BB962C8B-B14F-4D97-AF65-F5344CB8AC3E}">
        <p14:creationId xmlns:p14="http://schemas.microsoft.com/office/powerpoint/2010/main" val="42335509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116</a:t>
            </a:fld>
            <a:endParaRPr lang="en-US" dirty="0"/>
          </a:p>
        </p:txBody>
      </p:sp>
    </p:spTree>
    <p:extLst>
      <p:ext uri="{BB962C8B-B14F-4D97-AF65-F5344CB8AC3E}">
        <p14:creationId xmlns:p14="http://schemas.microsoft.com/office/powerpoint/2010/main" val="319468284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117</a:t>
            </a:fld>
            <a:endParaRPr lang="en-US" dirty="0"/>
          </a:p>
        </p:txBody>
      </p:sp>
    </p:spTree>
    <p:extLst>
      <p:ext uri="{BB962C8B-B14F-4D97-AF65-F5344CB8AC3E}">
        <p14:creationId xmlns:p14="http://schemas.microsoft.com/office/powerpoint/2010/main" val="311265999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118</a:t>
            </a:fld>
            <a:endParaRPr lang="en-US" dirty="0"/>
          </a:p>
        </p:txBody>
      </p:sp>
    </p:spTree>
    <p:extLst>
      <p:ext uri="{BB962C8B-B14F-4D97-AF65-F5344CB8AC3E}">
        <p14:creationId xmlns:p14="http://schemas.microsoft.com/office/powerpoint/2010/main" val="353880813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119</a:t>
            </a:fld>
            <a:endParaRPr lang="en-US" dirty="0"/>
          </a:p>
        </p:txBody>
      </p:sp>
    </p:spTree>
    <p:extLst>
      <p:ext uri="{BB962C8B-B14F-4D97-AF65-F5344CB8AC3E}">
        <p14:creationId xmlns:p14="http://schemas.microsoft.com/office/powerpoint/2010/main" val="398554620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120</a:t>
            </a:fld>
            <a:endParaRPr lang="en-US" dirty="0"/>
          </a:p>
        </p:txBody>
      </p:sp>
    </p:spTree>
    <p:extLst>
      <p:ext uri="{BB962C8B-B14F-4D97-AF65-F5344CB8AC3E}">
        <p14:creationId xmlns:p14="http://schemas.microsoft.com/office/powerpoint/2010/main" val="99166002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121</a:t>
            </a:fld>
            <a:endParaRPr lang="en-US" dirty="0"/>
          </a:p>
        </p:txBody>
      </p:sp>
    </p:spTree>
    <p:extLst>
      <p:ext uri="{BB962C8B-B14F-4D97-AF65-F5344CB8AC3E}">
        <p14:creationId xmlns:p14="http://schemas.microsoft.com/office/powerpoint/2010/main" val="173502924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122</a:t>
            </a:fld>
            <a:endParaRPr lang="en-US" dirty="0"/>
          </a:p>
        </p:txBody>
      </p:sp>
    </p:spTree>
    <p:extLst>
      <p:ext uri="{BB962C8B-B14F-4D97-AF65-F5344CB8AC3E}">
        <p14:creationId xmlns:p14="http://schemas.microsoft.com/office/powerpoint/2010/main" val="218537568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123</a:t>
            </a:fld>
            <a:endParaRPr lang="en-US" dirty="0"/>
          </a:p>
        </p:txBody>
      </p:sp>
    </p:spTree>
    <p:extLst>
      <p:ext uri="{BB962C8B-B14F-4D97-AF65-F5344CB8AC3E}">
        <p14:creationId xmlns:p14="http://schemas.microsoft.com/office/powerpoint/2010/main" val="247918186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124</a:t>
            </a:fld>
            <a:endParaRPr lang="en-US" dirty="0"/>
          </a:p>
        </p:txBody>
      </p:sp>
    </p:spTree>
    <p:extLst>
      <p:ext uri="{BB962C8B-B14F-4D97-AF65-F5344CB8AC3E}">
        <p14:creationId xmlns:p14="http://schemas.microsoft.com/office/powerpoint/2010/main" val="396713903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125</a:t>
            </a:fld>
            <a:endParaRPr lang="en-US" dirty="0"/>
          </a:p>
        </p:txBody>
      </p:sp>
    </p:spTree>
    <p:extLst>
      <p:ext uri="{BB962C8B-B14F-4D97-AF65-F5344CB8AC3E}">
        <p14:creationId xmlns:p14="http://schemas.microsoft.com/office/powerpoint/2010/main" val="105009887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126</a:t>
            </a:fld>
            <a:endParaRPr lang="en-US" dirty="0"/>
          </a:p>
        </p:txBody>
      </p:sp>
    </p:spTree>
    <p:extLst>
      <p:ext uri="{BB962C8B-B14F-4D97-AF65-F5344CB8AC3E}">
        <p14:creationId xmlns:p14="http://schemas.microsoft.com/office/powerpoint/2010/main" val="241612226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127</a:t>
            </a:fld>
            <a:endParaRPr lang="en-US" dirty="0"/>
          </a:p>
        </p:txBody>
      </p:sp>
    </p:spTree>
    <p:extLst>
      <p:ext uri="{BB962C8B-B14F-4D97-AF65-F5344CB8AC3E}">
        <p14:creationId xmlns:p14="http://schemas.microsoft.com/office/powerpoint/2010/main" val="373574667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128</a:t>
            </a:fld>
            <a:endParaRPr lang="en-US" dirty="0"/>
          </a:p>
        </p:txBody>
      </p:sp>
    </p:spTree>
    <p:extLst>
      <p:ext uri="{BB962C8B-B14F-4D97-AF65-F5344CB8AC3E}">
        <p14:creationId xmlns:p14="http://schemas.microsoft.com/office/powerpoint/2010/main" val="40062667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129</a:t>
            </a:fld>
            <a:endParaRPr lang="en-US" dirty="0"/>
          </a:p>
        </p:txBody>
      </p:sp>
    </p:spTree>
    <p:extLst>
      <p:ext uri="{BB962C8B-B14F-4D97-AF65-F5344CB8AC3E}">
        <p14:creationId xmlns:p14="http://schemas.microsoft.com/office/powerpoint/2010/main" val="203718962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130</a:t>
            </a:fld>
            <a:endParaRPr lang="en-US" dirty="0"/>
          </a:p>
        </p:txBody>
      </p:sp>
    </p:spTree>
    <p:extLst>
      <p:ext uri="{BB962C8B-B14F-4D97-AF65-F5344CB8AC3E}">
        <p14:creationId xmlns:p14="http://schemas.microsoft.com/office/powerpoint/2010/main" val="231489822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131</a:t>
            </a:fld>
            <a:endParaRPr lang="en-US" dirty="0"/>
          </a:p>
        </p:txBody>
      </p:sp>
    </p:spTree>
    <p:extLst>
      <p:ext uri="{BB962C8B-B14F-4D97-AF65-F5344CB8AC3E}">
        <p14:creationId xmlns:p14="http://schemas.microsoft.com/office/powerpoint/2010/main" val="325315757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132</a:t>
            </a:fld>
            <a:endParaRPr lang="en-US" dirty="0"/>
          </a:p>
        </p:txBody>
      </p:sp>
    </p:spTree>
    <p:extLst>
      <p:ext uri="{BB962C8B-B14F-4D97-AF65-F5344CB8AC3E}">
        <p14:creationId xmlns:p14="http://schemas.microsoft.com/office/powerpoint/2010/main" val="114712481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133</a:t>
            </a:fld>
            <a:endParaRPr lang="en-US" dirty="0"/>
          </a:p>
        </p:txBody>
      </p:sp>
    </p:spTree>
    <p:extLst>
      <p:ext uri="{BB962C8B-B14F-4D97-AF65-F5344CB8AC3E}">
        <p14:creationId xmlns:p14="http://schemas.microsoft.com/office/powerpoint/2010/main" val="133825146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134</a:t>
            </a:fld>
            <a:endParaRPr lang="en-US" dirty="0"/>
          </a:p>
        </p:txBody>
      </p:sp>
    </p:spTree>
    <p:extLst>
      <p:ext uri="{BB962C8B-B14F-4D97-AF65-F5344CB8AC3E}">
        <p14:creationId xmlns:p14="http://schemas.microsoft.com/office/powerpoint/2010/main" val="150424440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135</a:t>
            </a:fld>
            <a:endParaRPr lang="en-US" dirty="0"/>
          </a:p>
        </p:txBody>
      </p:sp>
    </p:spTree>
    <p:extLst>
      <p:ext uri="{BB962C8B-B14F-4D97-AF65-F5344CB8AC3E}">
        <p14:creationId xmlns:p14="http://schemas.microsoft.com/office/powerpoint/2010/main" val="8435647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136</a:t>
            </a:fld>
            <a:endParaRPr lang="en-US" dirty="0"/>
          </a:p>
        </p:txBody>
      </p:sp>
    </p:spTree>
    <p:extLst>
      <p:ext uri="{BB962C8B-B14F-4D97-AF65-F5344CB8AC3E}">
        <p14:creationId xmlns:p14="http://schemas.microsoft.com/office/powerpoint/2010/main" val="42913578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137</a:t>
            </a:fld>
            <a:endParaRPr lang="en-US" dirty="0"/>
          </a:p>
        </p:txBody>
      </p:sp>
    </p:spTree>
    <p:extLst>
      <p:ext uri="{BB962C8B-B14F-4D97-AF65-F5344CB8AC3E}">
        <p14:creationId xmlns:p14="http://schemas.microsoft.com/office/powerpoint/2010/main" val="89922452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pPr/>
              <a:t>138</a:t>
            </a:fld>
            <a:endParaRPr lang="en-US" dirty="0"/>
          </a:p>
        </p:txBody>
      </p:sp>
    </p:spTree>
    <p:extLst>
      <p:ext uri="{BB962C8B-B14F-4D97-AF65-F5344CB8AC3E}">
        <p14:creationId xmlns:p14="http://schemas.microsoft.com/office/powerpoint/2010/main" val="397723131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139</a:t>
            </a:fld>
            <a:endParaRPr lang="en-US">
              <a:solidFill>
                <a:prstClr val="black"/>
              </a:solidFill>
              <a:latin typeface="Calibri" pitchFamily="34" charset="0"/>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140</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0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10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10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2.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2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5.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3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852775200"/>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018623425"/>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866122602"/>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2000"/>
                                  </p:stCondLst>
                                  <p:childTnLst>
                                    <p:set>
                                      <p:cBhvr>
                                        <p:cTn id="31"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32" dur="500"/>
                                        <p:tgtEl>
                                          <p:spTgt spid="7">
                                            <p:graphicEl>
                                              <a:dgm id="{D944875E-4200-44D3-9F4D-D995865E5F68}"/>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2000"/>
                                  </p:stCondLst>
                                  <p:childTnLst>
                                    <p:set>
                                      <p:cBhvr>
                                        <p:cTn id="36" dur="1" fill="hold">
                                          <p:stCondLst>
                                            <p:cond delay="0"/>
                                          </p:stCondLst>
                                        </p:cTn>
                                        <p:tgtEl>
                                          <p:spTgt spid="7">
                                            <p:graphicEl>
                                              <a:dgm id="{4F3BB94F-726F-42B1-B2C9-9077543F3D05}"/>
                                            </p:graphicEl>
                                          </p:spTgt>
                                        </p:tgtEl>
                                        <p:attrNameLst>
                                          <p:attrName>style.visibility</p:attrName>
                                        </p:attrNameLst>
                                      </p:cBhvr>
                                      <p:to>
                                        <p:strVal val="visible"/>
                                      </p:to>
                                    </p:set>
                                    <p:animEffect transition="in" filter="dissolve">
                                      <p:cBhvr>
                                        <p:cTn id="37" dur="500"/>
                                        <p:tgtEl>
                                          <p:spTgt spid="7">
                                            <p:graphicEl>
                                              <a:dgm id="{4F3BB94F-726F-42B1-B2C9-9077543F3D0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2000"/>
                                  </p:stCondLst>
                                  <p:childTnLst>
                                    <p:set>
                                      <p:cBhvr>
                                        <p:cTn id="41" dur="1" fill="hold">
                                          <p:stCondLst>
                                            <p:cond delay="0"/>
                                          </p:stCondLst>
                                        </p:cTn>
                                        <p:tgtEl>
                                          <p:spTgt spid="7">
                                            <p:graphicEl>
                                              <a:dgm id="{31EA35DB-A737-45B2-AEA8-3AC4C64F3EDA}"/>
                                            </p:graphicEl>
                                          </p:spTgt>
                                        </p:tgtEl>
                                        <p:attrNameLst>
                                          <p:attrName>style.visibility</p:attrName>
                                        </p:attrNameLst>
                                      </p:cBhvr>
                                      <p:to>
                                        <p:strVal val="visible"/>
                                      </p:to>
                                    </p:set>
                                    <p:animEffect transition="in" filter="dissolve">
                                      <p:cBhvr>
                                        <p:cTn id="42" dur="500"/>
                                        <p:tgtEl>
                                          <p:spTgt spid="7">
                                            <p:graphicEl>
                                              <a:dgm id="{31EA35DB-A737-45B2-AEA8-3AC4C64F3ED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211007218"/>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5002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Excel - Cell Basics</a:t>
            </a:r>
          </a:p>
        </p:txBody>
      </p:sp>
      <p:sp>
        <p:nvSpPr>
          <p:cNvPr id="3" name="Content Placeholder 2"/>
          <p:cNvSpPr>
            <a:spLocks noGrp="1"/>
          </p:cNvSpPr>
          <p:nvPr>
            <p:ph idx="1"/>
          </p:nvPr>
        </p:nvSpPr>
        <p:spPr>
          <a:xfrm>
            <a:off x="0" y="764704"/>
            <a:ext cx="9144000" cy="6093296"/>
          </a:xfrm>
        </p:spPr>
        <p:txBody>
          <a:bodyPr>
            <a:normAutofit/>
          </a:bodyPr>
          <a:lstStyle/>
          <a:p>
            <a:pPr algn="just"/>
            <a:r>
              <a:rPr lang="en-US" dirty="0"/>
              <a:t>Whenever you work with Excel, you'll enter information—or </a:t>
            </a:r>
            <a:r>
              <a:rPr lang="en-US" b="1" dirty="0"/>
              <a:t>content</a:t>
            </a:r>
            <a:r>
              <a:rPr lang="en-US" dirty="0"/>
              <a:t>—into </a:t>
            </a:r>
            <a:r>
              <a:rPr lang="en-US" b="1" dirty="0"/>
              <a:t>cells</a:t>
            </a:r>
            <a:r>
              <a:rPr lang="en-US" dirty="0"/>
              <a:t>. </a:t>
            </a:r>
          </a:p>
          <a:p>
            <a:pPr algn="just"/>
            <a:endParaRPr lang="en-US" dirty="0"/>
          </a:p>
          <a:p>
            <a:pPr algn="just"/>
            <a:r>
              <a:rPr lang="en-US" dirty="0"/>
              <a:t>Cells are the basic building blocks of a worksheet.</a:t>
            </a:r>
          </a:p>
          <a:p>
            <a:pPr algn="just"/>
            <a:endParaRPr lang="en-US" dirty="0"/>
          </a:p>
          <a:p>
            <a:pPr algn="just"/>
            <a:r>
              <a:rPr lang="en-US" dirty="0"/>
              <a:t>You'll need to learn the basics of </a:t>
            </a:r>
            <a:r>
              <a:rPr lang="en-US" b="1" dirty="0"/>
              <a:t>cells</a:t>
            </a:r>
            <a:r>
              <a:rPr lang="en-US" dirty="0"/>
              <a:t> and </a:t>
            </a:r>
            <a:r>
              <a:rPr lang="en-US" b="1" dirty="0"/>
              <a:t>cell content</a:t>
            </a:r>
            <a:r>
              <a:rPr lang="en-US" dirty="0"/>
              <a:t> to calculate, analyze, and organize data in Excel.</a:t>
            </a:r>
            <a:endParaRPr lang="en-US" sz="28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cells</a:t>
            </a:r>
          </a:p>
        </p:txBody>
      </p:sp>
      <p:sp>
        <p:nvSpPr>
          <p:cNvPr id="3" name="Content Placeholder 2"/>
          <p:cNvSpPr>
            <a:spLocks noGrp="1"/>
          </p:cNvSpPr>
          <p:nvPr>
            <p:ph idx="1"/>
          </p:nvPr>
        </p:nvSpPr>
        <p:spPr>
          <a:xfrm>
            <a:off x="0" y="620688"/>
            <a:ext cx="9144000" cy="6237312"/>
          </a:xfrm>
        </p:spPr>
        <p:txBody>
          <a:bodyPr>
            <a:normAutofit fontScale="85000" lnSpcReduction="10000"/>
          </a:bodyPr>
          <a:lstStyle/>
          <a:p>
            <a:pPr algn="just"/>
            <a:r>
              <a:rPr lang="en-US" dirty="0"/>
              <a:t>Every worksheet is made up of thousands of rectangles, which are called </a:t>
            </a:r>
            <a:r>
              <a:rPr lang="en-US" b="1" dirty="0"/>
              <a:t>cells</a:t>
            </a:r>
            <a:r>
              <a:rPr lang="en-US" dirty="0"/>
              <a:t>. </a:t>
            </a:r>
          </a:p>
          <a:p>
            <a:pPr algn="just"/>
            <a:endParaRPr lang="en-US" dirty="0"/>
          </a:p>
          <a:p>
            <a:pPr algn="just"/>
            <a:r>
              <a:rPr lang="en-US" dirty="0"/>
              <a:t>A cell is the </a:t>
            </a:r>
            <a:r>
              <a:rPr lang="en-US" b="1" dirty="0"/>
              <a:t>intersection</a:t>
            </a:r>
            <a:r>
              <a:rPr lang="en-US" dirty="0"/>
              <a:t> of a </a:t>
            </a:r>
            <a:r>
              <a:rPr lang="en-US" b="1" dirty="0"/>
              <a:t>row</a:t>
            </a:r>
            <a:r>
              <a:rPr lang="en-US" dirty="0"/>
              <a:t> and a </a:t>
            </a:r>
            <a:r>
              <a:rPr lang="en-US" b="1" dirty="0"/>
              <a:t>column</a:t>
            </a:r>
            <a:r>
              <a:rPr lang="en-US" dirty="0"/>
              <a:t>. In other words, it's where a row and column meet.</a:t>
            </a:r>
          </a:p>
          <a:p>
            <a:pPr algn="just"/>
            <a:endParaRPr lang="en-US" sz="2800" dirty="0"/>
          </a:p>
          <a:p>
            <a:pPr algn="just"/>
            <a:r>
              <a:rPr lang="en-US" dirty="0"/>
              <a:t>Columns are identified by </a:t>
            </a:r>
            <a:r>
              <a:rPr lang="en-US" b="1" dirty="0"/>
              <a:t>letters</a:t>
            </a:r>
            <a:r>
              <a:rPr lang="en-US" dirty="0"/>
              <a:t> </a:t>
            </a:r>
            <a:r>
              <a:rPr lang="en-US" b="1" dirty="0"/>
              <a:t>(A, B, C)</a:t>
            </a:r>
            <a:r>
              <a:rPr lang="en-US" dirty="0"/>
              <a:t>, while rows are identified by </a:t>
            </a:r>
            <a:r>
              <a:rPr lang="en-US" b="1" dirty="0"/>
              <a:t>numbers (1, 2, 3)</a:t>
            </a:r>
            <a:r>
              <a:rPr lang="en-US" dirty="0"/>
              <a:t>.</a:t>
            </a:r>
            <a:r>
              <a:rPr lang="en-US" b="1" dirty="0"/>
              <a:t> </a:t>
            </a:r>
          </a:p>
          <a:p>
            <a:pPr algn="just"/>
            <a:endParaRPr lang="en-US" b="1" dirty="0"/>
          </a:p>
          <a:p>
            <a:pPr algn="just"/>
            <a:r>
              <a:rPr lang="en-US" dirty="0"/>
              <a:t>Each cell has its own </a:t>
            </a:r>
            <a:r>
              <a:rPr lang="en-US" b="1" dirty="0"/>
              <a:t>name</a:t>
            </a:r>
            <a:r>
              <a:rPr lang="en-US" dirty="0"/>
              <a:t>—or </a:t>
            </a:r>
            <a:r>
              <a:rPr lang="en-US" b="1" dirty="0"/>
              <a:t>cell address</a:t>
            </a:r>
            <a:r>
              <a:rPr lang="en-US" dirty="0"/>
              <a:t>—based on its column and row. </a:t>
            </a:r>
          </a:p>
          <a:p>
            <a:pPr algn="just"/>
            <a:endParaRPr lang="en-US" dirty="0"/>
          </a:p>
          <a:p>
            <a:pPr algn="just"/>
            <a:r>
              <a:rPr lang="en-US" dirty="0"/>
              <a:t>In the example below, the selected cell intersects </a:t>
            </a:r>
            <a:r>
              <a:rPr lang="en-US" b="1" dirty="0"/>
              <a:t>column C</a:t>
            </a:r>
            <a:r>
              <a:rPr lang="en-US" dirty="0"/>
              <a:t> and </a:t>
            </a:r>
            <a:r>
              <a:rPr lang="en-US" b="1" dirty="0"/>
              <a:t>row 5</a:t>
            </a:r>
            <a:r>
              <a:rPr lang="en-US" dirty="0"/>
              <a:t>, so the cell address is </a:t>
            </a:r>
            <a:r>
              <a:rPr lang="en-US" b="1" dirty="0"/>
              <a:t>C5</a:t>
            </a:r>
            <a:r>
              <a:rPr lang="en-US" dirty="0"/>
              <a:t>.</a:t>
            </a:r>
            <a:endParaRPr lang="en-US" sz="2800" dirty="0"/>
          </a:p>
        </p:txBody>
      </p:sp>
    </p:spTree>
    <p:extLst>
      <p:ext uri="{BB962C8B-B14F-4D97-AF65-F5344CB8AC3E}">
        <p14:creationId xmlns:p14="http://schemas.microsoft.com/office/powerpoint/2010/main" val="41903252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cells</a:t>
            </a:r>
          </a:p>
        </p:txBody>
      </p:sp>
      <p:sp>
        <p:nvSpPr>
          <p:cNvPr id="3" name="Content Placeholder 2"/>
          <p:cNvSpPr>
            <a:spLocks noGrp="1"/>
          </p:cNvSpPr>
          <p:nvPr>
            <p:ph idx="1"/>
          </p:nvPr>
        </p:nvSpPr>
        <p:spPr>
          <a:xfrm>
            <a:off x="0" y="620688"/>
            <a:ext cx="9144000" cy="6237312"/>
          </a:xfrm>
        </p:spPr>
        <p:txBody>
          <a:bodyPr>
            <a:normAutofit lnSpcReduction="10000"/>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Note that the cell address also appears in the </a:t>
            </a:r>
            <a:r>
              <a:rPr lang="en-US" b="1" dirty="0"/>
              <a:t>Name box</a:t>
            </a:r>
            <a:r>
              <a:rPr lang="en-US" dirty="0"/>
              <a:t> in the top-left corner, and that a cell’s </a:t>
            </a:r>
            <a:r>
              <a:rPr lang="en-US" b="1" dirty="0"/>
              <a:t>column</a:t>
            </a:r>
            <a:r>
              <a:rPr lang="en-US" dirty="0"/>
              <a:t> and </a:t>
            </a:r>
            <a:r>
              <a:rPr lang="en-US" b="1" dirty="0"/>
              <a:t>row headings</a:t>
            </a:r>
            <a:r>
              <a:rPr lang="en-US" dirty="0"/>
              <a:t> are </a:t>
            </a:r>
            <a:r>
              <a:rPr lang="en-US" b="1" dirty="0"/>
              <a:t>highlighted </a:t>
            </a:r>
            <a:r>
              <a:rPr lang="en-US" dirty="0"/>
              <a:t>when the cell is selected.</a:t>
            </a:r>
            <a:endParaRPr lang="en-US" sz="2800" dirty="0"/>
          </a:p>
        </p:txBody>
      </p:sp>
      <p:pic>
        <p:nvPicPr>
          <p:cNvPr id="5" name="Picture 4">
            <a:extLst>
              <a:ext uri="{FF2B5EF4-FFF2-40B4-BE49-F238E27FC236}">
                <a16:creationId xmlns:a16="http://schemas.microsoft.com/office/drawing/2014/main" id="{9E19EA85-4843-4878-883E-6B1CD69BD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764705"/>
            <a:ext cx="7488831" cy="3528392"/>
          </a:xfrm>
          <a:prstGeom prst="rect">
            <a:avLst/>
          </a:prstGeom>
        </p:spPr>
      </p:pic>
    </p:spTree>
    <p:extLst>
      <p:ext uri="{BB962C8B-B14F-4D97-AF65-F5344CB8AC3E}">
        <p14:creationId xmlns:p14="http://schemas.microsoft.com/office/powerpoint/2010/main" val="10176560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cells</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You can also select </a:t>
            </a:r>
            <a:r>
              <a:rPr lang="en-US" b="1" dirty="0"/>
              <a:t>multiple cells</a:t>
            </a:r>
            <a:r>
              <a:rPr lang="en-US" dirty="0"/>
              <a:t> at the same time. A group of cells is known as a </a:t>
            </a:r>
            <a:r>
              <a:rPr lang="en-US" b="1" dirty="0"/>
              <a:t>cell range</a:t>
            </a:r>
            <a:r>
              <a:rPr lang="en-US" dirty="0"/>
              <a:t>. </a:t>
            </a:r>
          </a:p>
          <a:p>
            <a:pPr algn="just"/>
            <a:endParaRPr lang="en-US" dirty="0"/>
          </a:p>
          <a:p>
            <a:pPr algn="just"/>
            <a:r>
              <a:rPr lang="en-US" dirty="0"/>
              <a:t>Rather than a single cell address, you will refer to a cell range using the cell addresses of the </a:t>
            </a:r>
            <a:r>
              <a:rPr lang="en-US" b="1" dirty="0"/>
              <a:t>first </a:t>
            </a:r>
            <a:r>
              <a:rPr lang="en-US" dirty="0"/>
              <a:t>and </a:t>
            </a:r>
            <a:r>
              <a:rPr lang="en-US" b="1" dirty="0"/>
              <a:t>last</a:t>
            </a:r>
            <a:r>
              <a:rPr lang="en-US" dirty="0"/>
              <a:t> cells in the cell range, separated by a </a:t>
            </a:r>
            <a:r>
              <a:rPr lang="en-US" b="1" dirty="0"/>
              <a:t>colon</a:t>
            </a:r>
            <a:r>
              <a:rPr lang="en-US" dirty="0"/>
              <a:t>. </a:t>
            </a:r>
          </a:p>
          <a:p>
            <a:pPr algn="just"/>
            <a:endParaRPr lang="en-US" dirty="0"/>
          </a:p>
          <a:p>
            <a:pPr algn="just"/>
            <a:r>
              <a:rPr lang="en-US" dirty="0"/>
              <a:t>For example, a cell range that included cells A1, A2, A3, A4, and A5 would be written as </a:t>
            </a:r>
            <a:r>
              <a:rPr lang="en-US" b="1" dirty="0"/>
              <a:t>A1:A5</a:t>
            </a:r>
            <a:r>
              <a:rPr lang="en-US" dirty="0"/>
              <a:t>. Take a look at the different cell ranges below:</a:t>
            </a:r>
            <a:endParaRPr lang="en-US" sz="2800" dirty="0"/>
          </a:p>
        </p:txBody>
      </p:sp>
    </p:spTree>
    <p:extLst>
      <p:ext uri="{BB962C8B-B14F-4D97-AF65-F5344CB8AC3E}">
        <p14:creationId xmlns:p14="http://schemas.microsoft.com/office/powerpoint/2010/main" val="369563689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cells</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Cell range </a:t>
            </a:r>
            <a:r>
              <a:rPr lang="en-US" b="1" dirty="0"/>
              <a:t>A1:A8</a:t>
            </a:r>
            <a:endParaRPr lang="en-US" sz="2800" dirty="0"/>
          </a:p>
        </p:txBody>
      </p:sp>
      <p:pic>
        <p:nvPicPr>
          <p:cNvPr id="5" name="Picture 4">
            <a:extLst>
              <a:ext uri="{FF2B5EF4-FFF2-40B4-BE49-F238E27FC236}">
                <a16:creationId xmlns:a16="http://schemas.microsoft.com/office/drawing/2014/main" id="{28511ED2-A284-4370-BF4C-A0202A24F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1412776"/>
            <a:ext cx="7632848" cy="4032448"/>
          </a:xfrm>
          <a:prstGeom prst="rect">
            <a:avLst/>
          </a:prstGeom>
        </p:spPr>
      </p:pic>
    </p:spTree>
    <p:extLst>
      <p:ext uri="{BB962C8B-B14F-4D97-AF65-F5344CB8AC3E}">
        <p14:creationId xmlns:p14="http://schemas.microsoft.com/office/powerpoint/2010/main" val="38703479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cells</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Cell range </a:t>
            </a:r>
            <a:r>
              <a:rPr lang="en-US" b="1" dirty="0"/>
              <a:t>A1:F1</a:t>
            </a:r>
            <a:endParaRPr lang="en-US" sz="2800" dirty="0"/>
          </a:p>
        </p:txBody>
      </p:sp>
      <p:pic>
        <p:nvPicPr>
          <p:cNvPr id="6" name="Picture 5">
            <a:extLst>
              <a:ext uri="{FF2B5EF4-FFF2-40B4-BE49-F238E27FC236}">
                <a16:creationId xmlns:a16="http://schemas.microsoft.com/office/drawing/2014/main" id="{D80072A8-CBF9-4862-8987-2692892F5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1241376"/>
            <a:ext cx="7848872" cy="4779912"/>
          </a:xfrm>
          <a:prstGeom prst="rect">
            <a:avLst/>
          </a:prstGeom>
        </p:spPr>
      </p:pic>
    </p:spTree>
    <p:extLst>
      <p:ext uri="{BB962C8B-B14F-4D97-AF65-F5344CB8AC3E}">
        <p14:creationId xmlns:p14="http://schemas.microsoft.com/office/powerpoint/2010/main" val="16602023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Understanding cells</a:t>
            </a:r>
          </a:p>
        </p:txBody>
      </p:sp>
      <p:sp>
        <p:nvSpPr>
          <p:cNvPr id="3" name="Content Placeholder 2"/>
          <p:cNvSpPr>
            <a:spLocks noGrp="1"/>
          </p:cNvSpPr>
          <p:nvPr>
            <p:ph idx="1"/>
          </p:nvPr>
        </p:nvSpPr>
        <p:spPr>
          <a:xfrm>
            <a:off x="0" y="620688"/>
            <a:ext cx="9144000" cy="6237312"/>
          </a:xfrm>
        </p:spPr>
        <p:txBody>
          <a:bodyPr>
            <a:normAutofit/>
          </a:bodyPr>
          <a:lstStyle/>
          <a:p>
            <a:pPr algn="just"/>
            <a:r>
              <a:rPr lang="en-US" dirty="0"/>
              <a:t>Cell range </a:t>
            </a:r>
            <a:r>
              <a:rPr lang="en-US" b="1" dirty="0"/>
              <a:t>A1:F8</a:t>
            </a:r>
            <a:endParaRPr lang="en-US" sz="2800" dirty="0"/>
          </a:p>
        </p:txBody>
      </p:sp>
      <p:pic>
        <p:nvPicPr>
          <p:cNvPr id="5" name="Picture 4">
            <a:extLst>
              <a:ext uri="{FF2B5EF4-FFF2-40B4-BE49-F238E27FC236}">
                <a16:creationId xmlns:a16="http://schemas.microsoft.com/office/drawing/2014/main" id="{E63766A6-1CC7-4A05-88F5-66D821927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241376"/>
            <a:ext cx="8208912" cy="4491880"/>
          </a:xfrm>
          <a:prstGeom prst="rect">
            <a:avLst/>
          </a:prstGeom>
        </p:spPr>
      </p:pic>
    </p:spTree>
    <p:extLst>
      <p:ext uri="{BB962C8B-B14F-4D97-AF65-F5344CB8AC3E}">
        <p14:creationId xmlns:p14="http://schemas.microsoft.com/office/powerpoint/2010/main" val="186717732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select a cell</a:t>
            </a:r>
          </a:p>
        </p:txBody>
      </p:sp>
      <p:sp>
        <p:nvSpPr>
          <p:cNvPr id="3" name="Content Placeholder 2"/>
          <p:cNvSpPr>
            <a:spLocks noGrp="1"/>
          </p:cNvSpPr>
          <p:nvPr>
            <p:ph idx="1"/>
          </p:nvPr>
        </p:nvSpPr>
        <p:spPr>
          <a:xfrm>
            <a:off x="0" y="620688"/>
            <a:ext cx="9144000" cy="6237312"/>
          </a:xfrm>
        </p:spPr>
        <p:txBody>
          <a:bodyPr>
            <a:normAutofit lnSpcReduction="10000"/>
          </a:bodyPr>
          <a:lstStyle/>
          <a:p>
            <a:pPr algn="just" fontAlgn="base"/>
            <a:r>
              <a:rPr lang="en-US" dirty="0"/>
              <a:t>To input or edit cell content, you'll first need to </a:t>
            </a:r>
            <a:r>
              <a:rPr lang="en-US" b="1" dirty="0"/>
              <a:t>select</a:t>
            </a:r>
            <a:r>
              <a:rPr lang="en-US" dirty="0"/>
              <a:t> the cell.</a:t>
            </a:r>
          </a:p>
          <a:p>
            <a:pPr algn="just" fontAlgn="base"/>
            <a:endParaRPr lang="en-US" dirty="0"/>
          </a:p>
          <a:p>
            <a:pPr algn="just" fontAlgn="base"/>
            <a:r>
              <a:rPr lang="en-US" dirty="0"/>
              <a:t>Click a </a:t>
            </a:r>
            <a:r>
              <a:rPr lang="en-US" b="1" dirty="0"/>
              <a:t>cell </a:t>
            </a:r>
            <a:r>
              <a:rPr lang="en-US" dirty="0"/>
              <a:t>to select it. In our example, we'll select cell </a:t>
            </a:r>
            <a:r>
              <a:rPr lang="en-US" b="1" dirty="0"/>
              <a:t>D9</a:t>
            </a:r>
            <a:r>
              <a:rPr lang="en-US" dirty="0"/>
              <a:t>.</a:t>
            </a:r>
          </a:p>
          <a:p>
            <a:pPr algn="just" fontAlgn="base"/>
            <a:endParaRPr lang="en-US" dirty="0"/>
          </a:p>
          <a:p>
            <a:pPr algn="just" fontAlgn="base"/>
            <a:r>
              <a:rPr lang="en-US" dirty="0"/>
              <a:t>A</a:t>
            </a:r>
            <a:r>
              <a:rPr lang="en-US" b="1" dirty="0"/>
              <a:t> border</a:t>
            </a:r>
            <a:r>
              <a:rPr lang="en-US" dirty="0"/>
              <a:t> will appear around the selected cell, and the </a:t>
            </a:r>
            <a:r>
              <a:rPr lang="en-US" b="1" dirty="0"/>
              <a:t>column heading</a:t>
            </a:r>
            <a:r>
              <a:rPr lang="en-US" dirty="0"/>
              <a:t> and </a:t>
            </a:r>
            <a:r>
              <a:rPr lang="en-US" b="1" dirty="0"/>
              <a:t>row heading</a:t>
            </a:r>
            <a:r>
              <a:rPr lang="en-US" dirty="0"/>
              <a:t> will be highlighted. </a:t>
            </a:r>
          </a:p>
          <a:p>
            <a:pPr algn="just" fontAlgn="base"/>
            <a:endParaRPr lang="en-US" dirty="0"/>
          </a:p>
          <a:p>
            <a:pPr algn="just" fontAlgn="base"/>
            <a:r>
              <a:rPr lang="en-US" dirty="0"/>
              <a:t>The cell will remain selected until you click another cell in the worksheet.</a:t>
            </a:r>
          </a:p>
        </p:txBody>
      </p:sp>
    </p:spTree>
    <p:extLst>
      <p:ext uri="{BB962C8B-B14F-4D97-AF65-F5344CB8AC3E}">
        <p14:creationId xmlns:p14="http://schemas.microsoft.com/office/powerpoint/2010/main" val="77680250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To select a cell</a:t>
            </a:r>
          </a:p>
        </p:txBody>
      </p:sp>
      <p:pic>
        <p:nvPicPr>
          <p:cNvPr id="5" name="Content Placeholder 4">
            <a:extLst>
              <a:ext uri="{FF2B5EF4-FFF2-40B4-BE49-F238E27FC236}">
                <a16:creationId xmlns:a16="http://schemas.microsoft.com/office/drawing/2014/main" id="{F8C9DBD4-68A0-462E-A575-A251F222DFB6}"/>
              </a:ext>
            </a:extLst>
          </p:cNvPr>
          <p:cNvPicPr>
            <a:picLocks noGrp="1" noChangeAspect="1"/>
          </p:cNvPicPr>
          <p:nvPr>
            <p:ph idx="1"/>
          </p:nvPr>
        </p:nvPicPr>
        <p:blipFill rotWithShape="1">
          <a:blip r:embed="rId3"/>
          <a:srcRect b="5415"/>
          <a:stretch/>
        </p:blipFill>
        <p:spPr>
          <a:xfrm>
            <a:off x="0" y="980729"/>
            <a:ext cx="9144000" cy="5760639"/>
          </a:xfrm>
          <a:prstGeom prst="rect">
            <a:avLst/>
          </a:prstGeom>
        </p:spPr>
      </p:pic>
    </p:spTree>
    <p:extLst>
      <p:ext uri="{BB962C8B-B14F-4D97-AF65-F5344CB8AC3E}">
        <p14:creationId xmlns:p14="http://schemas.microsoft.com/office/powerpoint/2010/main" val="316463467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select a cell range</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Click and drag the mouse until all of the </a:t>
            </a:r>
            <a:r>
              <a:rPr lang="en-US" b="1" dirty="0"/>
              <a:t>adjoining</a:t>
            </a:r>
            <a:r>
              <a:rPr lang="en-US" dirty="0"/>
              <a:t> </a:t>
            </a:r>
            <a:r>
              <a:rPr lang="en-US" b="1" dirty="0"/>
              <a:t>cells</a:t>
            </a:r>
            <a:r>
              <a:rPr lang="en-US" dirty="0"/>
              <a:t> you want to select are </a:t>
            </a:r>
            <a:r>
              <a:rPr lang="en-US" b="1" dirty="0"/>
              <a:t>highlighted</a:t>
            </a:r>
            <a:r>
              <a:rPr lang="en-US" dirty="0"/>
              <a:t>. </a:t>
            </a:r>
          </a:p>
          <a:p>
            <a:pPr algn="just" fontAlgn="base"/>
            <a:endParaRPr lang="en-US" dirty="0"/>
          </a:p>
          <a:p>
            <a:pPr algn="just" fontAlgn="base"/>
            <a:r>
              <a:rPr lang="en-US" dirty="0"/>
              <a:t>In our example, we'll select the cell range </a:t>
            </a:r>
            <a:r>
              <a:rPr lang="en-US" b="1" dirty="0"/>
              <a:t>B5:C18</a:t>
            </a:r>
            <a:r>
              <a:rPr lang="en-US" dirty="0"/>
              <a:t>.</a:t>
            </a:r>
          </a:p>
          <a:p>
            <a:pPr algn="just" fontAlgn="base"/>
            <a:endParaRPr lang="en-US" dirty="0"/>
          </a:p>
          <a:p>
            <a:pPr algn="just" fontAlgn="base"/>
            <a:r>
              <a:rPr lang="en-US" dirty="0"/>
              <a:t>Release the mouse to </a:t>
            </a:r>
            <a:r>
              <a:rPr lang="en-US" b="1" dirty="0"/>
              <a:t>select</a:t>
            </a:r>
            <a:r>
              <a:rPr lang="en-US" dirty="0"/>
              <a:t> the desired cell range.</a:t>
            </a:r>
          </a:p>
          <a:p>
            <a:pPr algn="just" fontAlgn="base"/>
            <a:endParaRPr lang="en-US" dirty="0"/>
          </a:p>
          <a:p>
            <a:pPr algn="just" fontAlgn="base"/>
            <a:r>
              <a:rPr lang="en-US" dirty="0"/>
              <a:t>The cells will remain selected</a:t>
            </a:r>
            <a:r>
              <a:rPr lang="en-US" b="1" dirty="0"/>
              <a:t> </a:t>
            </a:r>
            <a:r>
              <a:rPr lang="en-US" dirty="0"/>
              <a:t>until you click another cell in the worksheet.</a:t>
            </a:r>
          </a:p>
        </p:txBody>
      </p:sp>
    </p:spTree>
    <p:extLst>
      <p:ext uri="{BB962C8B-B14F-4D97-AF65-F5344CB8AC3E}">
        <p14:creationId xmlns:p14="http://schemas.microsoft.com/office/powerpoint/2010/main" val="18738920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select a cell range</a:t>
            </a:r>
            <a:endParaRPr lang="en-GB" dirty="0"/>
          </a:p>
        </p:txBody>
      </p:sp>
      <p:pic>
        <p:nvPicPr>
          <p:cNvPr id="5" name="Content Placeholder 4">
            <a:extLst>
              <a:ext uri="{FF2B5EF4-FFF2-40B4-BE49-F238E27FC236}">
                <a16:creationId xmlns:a16="http://schemas.microsoft.com/office/drawing/2014/main" id="{68656A0D-26FD-47C8-8C72-DA2DDDF3A5B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43608" y="908721"/>
            <a:ext cx="7704856" cy="5130924"/>
          </a:xfrm>
        </p:spPr>
      </p:pic>
    </p:spTree>
    <p:extLst>
      <p:ext uri="{BB962C8B-B14F-4D97-AF65-F5344CB8AC3E}">
        <p14:creationId xmlns:p14="http://schemas.microsoft.com/office/powerpoint/2010/main" val="301746970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Any information you enter into a spreadsheet will be stored in a cell. </a:t>
            </a:r>
          </a:p>
          <a:p>
            <a:pPr algn="just" fontAlgn="base"/>
            <a:endParaRPr lang="en-US" dirty="0"/>
          </a:p>
          <a:p>
            <a:pPr algn="just" fontAlgn="base"/>
            <a:r>
              <a:rPr lang="en-US" dirty="0"/>
              <a:t>Each cell can contain different types of </a:t>
            </a:r>
            <a:r>
              <a:rPr lang="en-US" b="1" dirty="0"/>
              <a:t>content</a:t>
            </a:r>
            <a:r>
              <a:rPr lang="en-US" dirty="0"/>
              <a:t>, including </a:t>
            </a:r>
            <a:r>
              <a:rPr lang="en-US" b="1" dirty="0"/>
              <a:t>text</a:t>
            </a:r>
            <a:r>
              <a:rPr lang="en-US" dirty="0"/>
              <a:t>, </a:t>
            </a:r>
            <a:r>
              <a:rPr lang="en-US" b="1" dirty="0"/>
              <a:t>formatting</a:t>
            </a:r>
            <a:r>
              <a:rPr lang="en-US" dirty="0"/>
              <a:t>, </a:t>
            </a:r>
            <a:r>
              <a:rPr lang="en-US" b="1" dirty="0"/>
              <a:t>formulas</a:t>
            </a:r>
            <a:r>
              <a:rPr lang="en-US" dirty="0"/>
              <a:t>, and </a:t>
            </a:r>
            <a:r>
              <a:rPr lang="en-US" b="1" dirty="0"/>
              <a:t>functions</a:t>
            </a:r>
            <a:r>
              <a:rPr lang="en-US" dirty="0"/>
              <a:t>.</a:t>
            </a:r>
          </a:p>
          <a:p>
            <a:pPr algn="just" fontAlgn="base"/>
            <a:endParaRPr lang="en-US" dirty="0"/>
          </a:p>
          <a:p>
            <a:pPr algn="just" fontAlgn="base"/>
            <a:endParaRPr lang="en-US" dirty="0"/>
          </a:p>
        </p:txBody>
      </p:sp>
    </p:spTree>
    <p:extLst>
      <p:ext uri="{BB962C8B-B14F-4D97-AF65-F5344CB8AC3E}">
        <p14:creationId xmlns:p14="http://schemas.microsoft.com/office/powerpoint/2010/main" val="218500879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b="1" dirty="0"/>
              <a:t>Text</a:t>
            </a:r>
            <a:r>
              <a:rPr lang="en-US" dirty="0"/>
              <a:t>: Cells can contain </a:t>
            </a:r>
            <a:r>
              <a:rPr lang="en-US" b="1" dirty="0"/>
              <a:t>text</a:t>
            </a:r>
            <a:r>
              <a:rPr lang="en-US" dirty="0"/>
              <a:t>, such as </a:t>
            </a:r>
            <a:r>
              <a:rPr lang="en-US" b="1" dirty="0"/>
              <a:t>letters</a:t>
            </a:r>
            <a:r>
              <a:rPr lang="en-US" dirty="0"/>
              <a:t>, </a:t>
            </a:r>
            <a:r>
              <a:rPr lang="en-US" b="1" dirty="0"/>
              <a:t>numbers</a:t>
            </a:r>
            <a:r>
              <a:rPr lang="en-US" dirty="0"/>
              <a:t>, and </a:t>
            </a:r>
            <a:r>
              <a:rPr lang="en-US" b="1" dirty="0"/>
              <a:t>dates</a:t>
            </a:r>
            <a:r>
              <a:rPr lang="en-US" dirty="0"/>
              <a:t>.</a:t>
            </a:r>
          </a:p>
        </p:txBody>
      </p:sp>
      <p:pic>
        <p:nvPicPr>
          <p:cNvPr id="5" name="Picture 4">
            <a:extLst>
              <a:ext uri="{FF2B5EF4-FFF2-40B4-BE49-F238E27FC236}">
                <a16:creationId xmlns:a16="http://schemas.microsoft.com/office/drawing/2014/main" id="{EDBDFE6A-73FD-4C9F-85FD-8372DC39C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1772816"/>
            <a:ext cx="6984776" cy="3600399"/>
          </a:xfrm>
          <a:prstGeom prst="rect">
            <a:avLst/>
          </a:prstGeom>
        </p:spPr>
      </p:pic>
    </p:spTree>
    <p:extLst>
      <p:ext uri="{BB962C8B-B14F-4D97-AF65-F5344CB8AC3E}">
        <p14:creationId xmlns:p14="http://schemas.microsoft.com/office/powerpoint/2010/main" val="284759241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b="1" dirty="0"/>
              <a:t>Formatting attributes</a:t>
            </a:r>
            <a:r>
              <a:rPr lang="en-US" dirty="0"/>
              <a:t>:</a:t>
            </a:r>
            <a:r>
              <a:rPr lang="en-US" b="1" dirty="0"/>
              <a:t> </a:t>
            </a:r>
            <a:r>
              <a:rPr lang="en-US" dirty="0"/>
              <a:t>Cells can contain </a:t>
            </a:r>
            <a:r>
              <a:rPr lang="en-US" b="1" dirty="0"/>
              <a:t>formatting attributes</a:t>
            </a:r>
            <a:r>
              <a:rPr lang="en-US" dirty="0"/>
              <a:t> that change the way letters, numbers, and dates are displayed. For example, percentages can appear as 0.15 or 15%. You can even change a cell's </a:t>
            </a:r>
            <a:r>
              <a:rPr lang="en-US" b="1" dirty="0"/>
              <a:t>text</a:t>
            </a:r>
            <a:r>
              <a:rPr lang="en-US" dirty="0"/>
              <a:t> or </a:t>
            </a:r>
            <a:r>
              <a:rPr lang="en-US" b="1" dirty="0"/>
              <a:t>background color</a:t>
            </a:r>
            <a:r>
              <a:rPr lang="en-US" dirty="0"/>
              <a:t>.</a:t>
            </a:r>
          </a:p>
        </p:txBody>
      </p:sp>
      <p:pic>
        <p:nvPicPr>
          <p:cNvPr id="6" name="Picture 5">
            <a:extLst>
              <a:ext uri="{FF2B5EF4-FFF2-40B4-BE49-F238E27FC236}">
                <a16:creationId xmlns:a16="http://schemas.microsoft.com/office/drawing/2014/main" id="{EAC79E3D-9B4E-4BDB-9D54-17E091EE9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3284984"/>
            <a:ext cx="7776864" cy="3456384"/>
          </a:xfrm>
          <a:prstGeom prst="rect">
            <a:avLst/>
          </a:prstGeom>
        </p:spPr>
      </p:pic>
    </p:spTree>
    <p:extLst>
      <p:ext uri="{BB962C8B-B14F-4D97-AF65-F5344CB8AC3E}">
        <p14:creationId xmlns:p14="http://schemas.microsoft.com/office/powerpoint/2010/main" val="109100591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b="1" dirty="0"/>
              <a:t>Formulas and functions</a:t>
            </a:r>
            <a:r>
              <a:rPr lang="en-US" dirty="0"/>
              <a:t>: Cells can contain </a:t>
            </a:r>
            <a:r>
              <a:rPr lang="en-US" b="1" dirty="0"/>
              <a:t>formulas</a:t>
            </a:r>
            <a:r>
              <a:rPr lang="en-US" dirty="0"/>
              <a:t> and </a:t>
            </a:r>
            <a:r>
              <a:rPr lang="en-US" b="1" dirty="0"/>
              <a:t>functions</a:t>
            </a:r>
            <a:r>
              <a:rPr lang="en-US" dirty="0"/>
              <a:t> that calculate cell values. In our example, </a:t>
            </a:r>
            <a:r>
              <a:rPr lang="en-US" b="1" dirty="0"/>
              <a:t>SUM(B2:B8) </a:t>
            </a:r>
            <a:r>
              <a:rPr lang="en-US" dirty="0"/>
              <a:t>adds the value of each cell in the cell range B2:B8 and displays the total in cell B9.</a:t>
            </a:r>
          </a:p>
        </p:txBody>
      </p:sp>
      <p:pic>
        <p:nvPicPr>
          <p:cNvPr id="5" name="Picture 4">
            <a:extLst>
              <a:ext uri="{FF2B5EF4-FFF2-40B4-BE49-F238E27FC236}">
                <a16:creationId xmlns:a16="http://schemas.microsoft.com/office/drawing/2014/main" id="{0F10601F-FC02-4D2F-8821-3EE93A69B9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3284984"/>
            <a:ext cx="6120680" cy="3456384"/>
          </a:xfrm>
          <a:prstGeom prst="rect">
            <a:avLst/>
          </a:prstGeom>
        </p:spPr>
      </p:pic>
    </p:spTree>
    <p:extLst>
      <p:ext uri="{BB962C8B-B14F-4D97-AF65-F5344CB8AC3E}">
        <p14:creationId xmlns:p14="http://schemas.microsoft.com/office/powerpoint/2010/main" val="119542406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insert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Click a </a:t>
            </a:r>
            <a:r>
              <a:rPr lang="en-US" b="1" dirty="0"/>
              <a:t>cell</a:t>
            </a:r>
            <a:r>
              <a:rPr lang="en-US" dirty="0"/>
              <a:t> to select it. In our example, we'll select cell </a:t>
            </a:r>
            <a:r>
              <a:rPr lang="en-US" b="1" dirty="0"/>
              <a:t>F9. </a:t>
            </a:r>
            <a:endParaRPr lang="en-US" dirty="0"/>
          </a:p>
        </p:txBody>
      </p:sp>
      <p:pic>
        <p:nvPicPr>
          <p:cNvPr id="6" name="Picture 5">
            <a:extLst>
              <a:ext uri="{FF2B5EF4-FFF2-40B4-BE49-F238E27FC236}">
                <a16:creationId xmlns:a16="http://schemas.microsoft.com/office/drawing/2014/main" id="{95166964-C8AE-48A8-9689-03B1F9A32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866900"/>
            <a:ext cx="7704856" cy="4514428"/>
          </a:xfrm>
          <a:prstGeom prst="rect">
            <a:avLst/>
          </a:prstGeom>
        </p:spPr>
      </p:pic>
    </p:spTree>
    <p:extLst>
      <p:ext uri="{BB962C8B-B14F-4D97-AF65-F5344CB8AC3E}">
        <p14:creationId xmlns:p14="http://schemas.microsoft.com/office/powerpoint/2010/main" val="350369572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delete (or clear) 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Select the </a:t>
            </a:r>
            <a:r>
              <a:rPr lang="en-US" b="1" dirty="0"/>
              <a:t>cell(s)</a:t>
            </a:r>
            <a:r>
              <a:rPr lang="en-US" dirty="0"/>
              <a:t> with content you want to delete. In our example, we'll select the cell range </a:t>
            </a:r>
            <a:r>
              <a:rPr lang="en-US" b="1" dirty="0"/>
              <a:t>A10:H10</a:t>
            </a:r>
            <a:r>
              <a:rPr lang="en-US" dirty="0"/>
              <a:t>.</a:t>
            </a:r>
          </a:p>
        </p:txBody>
      </p:sp>
      <p:pic>
        <p:nvPicPr>
          <p:cNvPr id="8" name="Picture 7">
            <a:extLst>
              <a:ext uri="{FF2B5EF4-FFF2-40B4-BE49-F238E27FC236}">
                <a16:creationId xmlns:a16="http://schemas.microsoft.com/office/drawing/2014/main" id="{89CEF1DD-DEF7-49CF-A287-14753C4B5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936883"/>
            <a:ext cx="8280920" cy="4300429"/>
          </a:xfrm>
          <a:prstGeom prst="rect">
            <a:avLst/>
          </a:prstGeom>
        </p:spPr>
      </p:pic>
    </p:spTree>
    <p:extLst>
      <p:ext uri="{BB962C8B-B14F-4D97-AF65-F5344CB8AC3E}">
        <p14:creationId xmlns:p14="http://schemas.microsoft.com/office/powerpoint/2010/main" val="64023963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delete (or clear) 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Select the Clear command on the Home tab, then click Clear Contents.</a:t>
            </a:r>
          </a:p>
        </p:txBody>
      </p:sp>
      <p:pic>
        <p:nvPicPr>
          <p:cNvPr id="5" name="Picture 4">
            <a:extLst>
              <a:ext uri="{FF2B5EF4-FFF2-40B4-BE49-F238E27FC236}">
                <a16:creationId xmlns:a16="http://schemas.microsoft.com/office/drawing/2014/main" id="{196606C4-D8EC-489F-824F-475DF70E0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2076450"/>
            <a:ext cx="7632848" cy="4376886"/>
          </a:xfrm>
          <a:prstGeom prst="rect">
            <a:avLst/>
          </a:prstGeom>
        </p:spPr>
      </p:pic>
    </p:spTree>
    <p:extLst>
      <p:ext uri="{BB962C8B-B14F-4D97-AF65-F5344CB8AC3E}">
        <p14:creationId xmlns:p14="http://schemas.microsoft.com/office/powerpoint/2010/main" val="196044077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delete (or clear) cell content</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The cell contents will be deleted.</a:t>
            </a:r>
          </a:p>
          <a:p>
            <a:pPr marL="0" indent="0" algn="just" fontAlgn="base">
              <a:buNone/>
            </a:pPr>
            <a:endParaRPr lang="en-US" dirty="0"/>
          </a:p>
        </p:txBody>
      </p:sp>
      <p:pic>
        <p:nvPicPr>
          <p:cNvPr id="6" name="Picture 5">
            <a:extLst>
              <a:ext uri="{FF2B5EF4-FFF2-40B4-BE49-F238E27FC236}">
                <a16:creationId xmlns:a16="http://schemas.microsoft.com/office/drawing/2014/main" id="{BEB4FE3A-8C36-429A-AC01-85382C9F30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1600200"/>
            <a:ext cx="7632848" cy="4061048"/>
          </a:xfrm>
          <a:prstGeom prst="rect">
            <a:avLst/>
          </a:prstGeom>
        </p:spPr>
      </p:pic>
    </p:spTree>
    <p:extLst>
      <p:ext uri="{BB962C8B-B14F-4D97-AF65-F5344CB8AC3E}">
        <p14:creationId xmlns:p14="http://schemas.microsoft.com/office/powerpoint/2010/main" val="23832754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delete cells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There is an important difference between deleting the content of a cell and </a:t>
            </a:r>
            <a:r>
              <a:rPr lang="en-US" b="1" dirty="0"/>
              <a:t>deleting the cell itself</a:t>
            </a:r>
            <a:r>
              <a:rPr lang="en-US" dirty="0"/>
              <a:t>. If you delete the entire cell, the cells below it will </a:t>
            </a:r>
            <a:r>
              <a:rPr lang="en-US" b="1" dirty="0"/>
              <a:t>shift to fill in the gaps </a:t>
            </a:r>
            <a:r>
              <a:rPr lang="en-US" dirty="0"/>
              <a:t>and </a:t>
            </a:r>
            <a:r>
              <a:rPr lang="en-US" b="1" dirty="0"/>
              <a:t>replace</a:t>
            </a:r>
            <a:r>
              <a:rPr lang="en-US" dirty="0"/>
              <a:t> </a:t>
            </a:r>
            <a:r>
              <a:rPr lang="en-US" b="1" dirty="0"/>
              <a:t>the deleted cells</a:t>
            </a:r>
            <a:r>
              <a:rPr lang="en-US" dirty="0"/>
              <a:t>.</a:t>
            </a:r>
          </a:p>
          <a:p>
            <a:pPr algn="just" fontAlgn="base"/>
            <a:r>
              <a:rPr lang="en-US" dirty="0"/>
              <a:t>Select the</a:t>
            </a:r>
            <a:r>
              <a:rPr lang="en-US" b="1" dirty="0"/>
              <a:t> cell(s)</a:t>
            </a:r>
            <a:r>
              <a:rPr lang="en-US" dirty="0"/>
              <a:t> you want to delete. In our example, we'll select </a:t>
            </a:r>
            <a:r>
              <a:rPr lang="en-US" b="1" dirty="0"/>
              <a:t>A10:H10</a:t>
            </a:r>
            <a:r>
              <a:rPr lang="en-US" dirty="0"/>
              <a:t>.</a:t>
            </a:r>
          </a:p>
          <a:p>
            <a:pPr algn="just" fontAlgn="base"/>
            <a:endParaRPr lang="en-US" dirty="0"/>
          </a:p>
        </p:txBody>
      </p:sp>
      <p:pic>
        <p:nvPicPr>
          <p:cNvPr id="5" name="Picture 4">
            <a:extLst>
              <a:ext uri="{FF2B5EF4-FFF2-40B4-BE49-F238E27FC236}">
                <a16:creationId xmlns:a16="http://schemas.microsoft.com/office/drawing/2014/main" id="{73B402ED-89F7-4B0C-8387-8CD39D9C0A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 y="4149080"/>
            <a:ext cx="6248400" cy="2708920"/>
          </a:xfrm>
          <a:prstGeom prst="rect">
            <a:avLst/>
          </a:prstGeom>
        </p:spPr>
      </p:pic>
    </p:spTree>
    <p:extLst>
      <p:ext uri="{BB962C8B-B14F-4D97-AF65-F5344CB8AC3E}">
        <p14:creationId xmlns:p14="http://schemas.microsoft.com/office/powerpoint/2010/main" val="291915088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delete cells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Select the </a:t>
            </a:r>
            <a:r>
              <a:rPr lang="en-US" b="1" dirty="0"/>
              <a:t>Delete</a:t>
            </a:r>
            <a:r>
              <a:rPr lang="en-US" dirty="0"/>
              <a:t> command from the Home tab on the </a:t>
            </a:r>
            <a:r>
              <a:rPr lang="en-US" b="1" dirty="0"/>
              <a:t>Ribbon</a:t>
            </a:r>
            <a:r>
              <a:rPr lang="en-US" dirty="0"/>
              <a:t>.</a:t>
            </a:r>
          </a:p>
          <a:p>
            <a:pPr algn="just" fontAlgn="base"/>
            <a:endParaRPr lang="en-US" dirty="0"/>
          </a:p>
        </p:txBody>
      </p:sp>
      <p:pic>
        <p:nvPicPr>
          <p:cNvPr id="8" name="Picture 7">
            <a:extLst>
              <a:ext uri="{FF2B5EF4-FFF2-40B4-BE49-F238E27FC236}">
                <a16:creationId xmlns:a16="http://schemas.microsoft.com/office/drawing/2014/main" id="{12D0635C-FE8A-4F56-B830-B77F94962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2060847"/>
            <a:ext cx="7416823" cy="2664297"/>
          </a:xfrm>
          <a:prstGeom prst="rect">
            <a:avLst/>
          </a:prstGeom>
        </p:spPr>
      </p:pic>
    </p:spTree>
    <p:extLst>
      <p:ext uri="{BB962C8B-B14F-4D97-AF65-F5344CB8AC3E}">
        <p14:creationId xmlns:p14="http://schemas.microsoft.com/office/powerpoint/2010/main" val="94878456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To delete cells</a:t>
            </a:r>
            <a:endParaRPr lang="en-GB" dirty="0"/>
          </a:p>
        </p:txBody>
      </p:sp>
      <p:sp>
        <p:nvSpPr>
          <p:cNvPr id="3" name="Content Placeholder 2"/>
          <p:cNvSpPr>
            <a:spLocks noGrp="1"/>
          </p:cNvSpPr>
          <p:nvPr>
            <p:ph idx="1"/>
          </p:nvPr>
        </p:nvSpPr>
        <p:spPr>
          <a:xfrm>
            <a:off x="0" y="620688"/>
            <a:ext cx="9144000" cy="6237312"/>
          </a:xfrm>
        </p:spPr>
        <p:txBody>
          <a:bodyPr>
            <a:normAutofit/>
          </a:bodyPr>
          <a:lstStyle/>
          <a:p>
            <a:pPr algn="just" fontAlgn="base"/>
            <a:r>
              <a:rPr lang="en-US" dirty="0"/>
              <a:t>The cells below will </a:t>
            </a:r>
            <a:r>
              <a:rPr lang="en-US" b="1" dirty="0"/>
              <a:t>shift</a:t>
            </a:r>
            <a:r>
              <a:rPr lang="en-US" dirty="0"/>
              <a:t> </a:t>
            </a:r>
            <a:r>
              <a:rPr lang="en-US" b="1" dirty="0"/>
              <a:t>up</a:t>
            </a:r>
            <a:r>
              <a:rPr lang="en-US" dirty="0"/>
              <a:t> and </a:t>
            </a:r>
            <a:r>
              <a:rPr lang="en-US" b="1" dirty="0"/>
              <a:t>fill in the gaps</a:t>
            </a:r>
            <a:r>
              <a:rPr lang="en-US" dirty="0"/>
              <a:t>.</a:t>
            </a:r>
            <a:br>
              <a:rPr lang="en-US" dirty="0"/>
            </a:br>
            <a:endParaRPr lang="en-US" dirty="0"/>
          </a:p>
        </p:txBody>
      </p:sp>
      <p:pic>
        <p:nvPicPr>
          <p:cNvPr id="5" name="Picture 4">
            <a:extLst>
              <a:ext uri="{FF2B5EF4-FFF2-40B4-BE49-F238E27FC236}">
                <a16:creationId xmlns:a16="http://schemas.microsoft.com/office/drawing/2014/main" id="{A6B70248-2D22-464A-80EA-FB5AB5D31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600200"/>
            <a:ext cx="7560840" cy="4205064"/>
          </a:xfrm>
          <a:prstGeom prst="rect">
            <a:avLst/>
          </a:prstGeom>
        </p:spPr>
      </p:pic>
    </p:spTree>
    <p:extLst>
      <p:ext uri="{BB962C8B-B14F-4D97-AF65-F5344CB8AC3E}">
        <p14:creationId xmlns:p14="http://schemas.microsoft.com/office/powerpoint/2010/main" val="295538888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copy and paste cell content</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Excel allows you to </a:t>
            </a:r>
            <a:r>
              <a:rPr lang="en-US" b="1" dirty="0"/>
              <a:t>copy</a:t>
            </a:r>
            <a:r>
              <a:rPr lang="en-US" dirty="0"/>
              <a:t> content that is already entered into your spreadsheet and </a:t>
            </a:r>
            <a:r>
              <a:rPr lang="en-US" b="1" dirty="0"/>
              <a:t>paste</a:t>
            </a:r>
            <a:r>
              <a:rPr lang="en-US" dirty="0"/>
              <a:t> this content to other cells, which can save you time and effort.</a:t>
            </a:r>
          </a:p>
          <a:p>
            <a:pPr algn="just" fontAlgn="base"/>
            <a:r>
              <a:rPr lang="en-US" dirty="0"/>
              <a:t>Select the </a:t>
            </a:r>
            <a:r>
              <a:rPr lang="en-US" b="1" dirty="0"/>
              <a:t>cell(s)</a:t>
            </a:r>
            <a:r>
              <a:rPr lang="en-US" dirty="0"/>
              <a:t> you want to </a:t>
            </a:r>
            <a:r>
              <a:rPr lang="en-US" b="1" dirty="0"/>
              <a:t>copy</a:t>
            </a:r>
            <a:r>
              <a:rPr lang="en-US" dirty="0"/>
              <a:t>. In our example, we'll select </a:t>
            </a:r>
            <a:r>
              <a:rPr lang="en-US" b="1" dirty="0"/>
              <a:t>F9</a:t>
            </a:r>
            <a:r>
              <a:rPr lang="en-US" dirty="0"/>
              <a:t>.</a:t>
            </a:r>
          </a:p>
          <a:p>
            <a:pPr algn="just" fontAlgn="base"/>
            <a:endParaRPr lang="en-US" dirty="0"/>
          </a:p>
        </p:txBody>
      </p:sp>
      <p:pic>
        <p:nvPicPr>
          <p:cNvPr id="7" name="Picture 6">
            <a:extLst>
              <a:ext uri="{FF2B5EF4-FFF2-40B4-BE49-F238E27FC236}">
                <a16:creationId xmlns:a16="http://schemas.microsoft.com/office/drawing/2014/main" id="{90583ED5-16CC-4595-B029-26EB95A4CB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752" y="3573017"/>
            <a:ext cx="6419850" cy="3257330"/>
          </a:xfrm>
          <a:prstGeom prst="rect">
            <a:avLst/>
          </a:prstGeom>
        </p:spPr>
      </p:pic>
    </p:spTree>
    <p:extLst>
      <p:ext uri="{BB962C8B-B14F-4D97-AF65-F5344CB8AC3E}">
        <p14:creationId xmlns:p14="http://schemas.microsoft.com/office/powerpoint/2010/main" val="418203517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copy and paste cell content</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Click the Copy command on the Home tab, or press </a:t>
            </a:r>
            <a:r>
              <a:rPr lang="en-US" b="1" dirty="0" err="1"/>
              <a:t>Ctrl+C</a:t>
            </a:r>
            <a:r>
              <a:rPr lang="en-US" dirty="0"/>
              <a:t> on your keyboard.</a:t>
            </a:r>
          </a:p>
          <a:p>
            <a:pPr algn="just" fontAlgn="base"/>
            <a:endParaRPr lang="en-US" dirty="0"/>
          </a:p>
        </p:txBody>
      </p:sp>
      <p:pic>
        <p:nvPicPr>
          <p:cNvPr id="5" name="Picture 4">
            <a:extLst>
              <a:ext uri="{FF2B5EF4-FFF2-40B4-BE49-F238E27FC236}">
                <a16:creationId xmlns:a16="http://schemas.microsoft.com/office/drawing/2014/main" id="{FDEC6D70-98C9-44C9-95A5-0FA3F7D1AA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1844824"/>
            <a:ext cx="5544616" cy="2736304"/>
          </a:xfrm>
          <a:prstGeom prst="rect">
            <a:avLst/>
          </a:prstGeom>
        </p:spPr>
      </p:pic>
    </p:spTree>
    <p:extLst>
      <p:ext uri="{BB962C8B-B14F-4D97-AF65-F5344CB8AC3E}">
        <p14:creationId xmlns:p14="http://schemas.microsoft.com/office/powerpoint/2010/main" val="68367337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copy and paste cell content</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Select the </a:t>
            </a:r>
            <a:r>
              <a:rPr lang="en-US" b="1" dirty="0"/>
              <a:t>cell(s) </a:t>
            </a:r>
            <a:r>
              <a:rPr lang="en-US" dirty="0"/>
              <a:t>where you want to </a:t>
            </a:r>
            <a:r>
              <a:rPr lang="en-US" b="1" dirty="0"/>
              <a:t>paste</a:t>
            </a:r>
            <a:r>
              <a:rPr lang="en-US" dirty="0"/>
              <a:t> the content. In our example, we'll select </a:t>
            </a:r>
            <a:r>
              <a:rPr lang="en-US" b="1" dirty="0"/>
              <a:t>F12:F17</a:t>
            </a:r>
            <a:r>
              <a:rPr lang="en-US" dirty="0"/>
              <a:t>. </a:t>
            </a:r>
          </a:p>
          <a:p>
            <a:pPr algn="just" fontAlgn="base"/>
            <a:r>
              <a:rPr lang="en-US" dirty="0"/>
              <a:t>The copied cell(s) will have a </a:t>
            </a:r>
            <a:r>
              <a:rPr lang="en-US" b="1" dirty="0"/>
              <a:t>dashed box</a:t>
            </a:r>
            <a:r>
              <a:rPr lang="en-US" dirty="0"/>
              <a:t> around them.</a:t>
            </a:r>
          </a:p>
        </p:txBody>
      </p:sp>
      <p:pic>
        <p:nvPicPr>
          <p:cNvPr id="6" name="Picture 5">
            <a:extLst>
              <a:ext uri="{FF2B5EF4-FFF2-40B4-BE49-F238E27FC236}">
                <a16:creationId xmlns:a16="http://schemas.microsoft.com/office/drawing/2014/main" id="{06F96BC3-1551-4697-8A26-33F91853BB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2420888"/>
            <a:ext cx="6343650" cy="4293096"/>
          </a:xfrm>
          <a:prstGeom prst="rect">
            <a:avLst/>
          </a:prstGeom>
        </p:spPr>
      </p:pic>
    </p:spTree>
    <p:extLst>
      <p:ext uri="{BB962C8B-B14F-4D97-AF65-F5344CB8AC3E}">
        <p14:creationId xmlns:p14="http://schemas.microsoft.com/office/powerpoint/2010/main" val="166487234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copy and paste cell content</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Click the Paste command on the Home tab, or press </a:t>
            </a:r>
            <a:r>
              <a:rPr lang="en-US" b="1" dirty="0" err="1"/>
              <a:t>Ctrl+V</a:t>
            </a:r>
            <a:r>
              <a:rPr lang="en-US" dirty="0"/>
              <a:t> on your keyboard.</a:t>
            </a:r>
          </a:p>
        </p:txBody>
      </p:sp>
      <p:pic>
        <p:nvPicPr>
          <p:cNvPr id="5" name="Picture 4">
            <a:extLst>
              <a:ext uri="{FF2B5EF4-FFF2-40B4-BE49-F238E27FC236}">
                <a16:creationId xmlns:a16="http://schemas.microsoft.com/office/drawing/2014/main" id="{D3616F56-2E9E-47C2-91E8-B8EFAD633C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2060848"/>
            <a:ext cx="7632848" cy="2952328"/>
          </a:xfrm>
          <a:prstGeom prst="rect">
            <a:avLst/>
          </a:prstGeom>
        </p:spPr>
      </p:pic>
    </p:spTree>
    <p:extLst>
      <p:ext uri="{BB962C8B-B14F-4D97-AF65-F5344CB8AC3E}">
        <p14:creationId xmlns:p14="http://schemas.microsoft.com/office/powerpoint/2010/main" val="296483985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copy and paste cell content</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The content will be </a:t>
            </a:r>
            <a:r>
              <a:rPr lang="en-US" b="1" dirty="0"/>
              <a:t>pasted</a:t>
            </a:r>
            <a:r>
              <a:rPr lang="en-US" dirty="0"/>
              <a:t> into the selected cells.</a:t>
            </a:r>
            <a:br>
              <a:rPr lang="en-US" dirty="0"/>
            </a:br>
            <a:endParaRPr lang="en-US" dirty="0"/>
          </a:p>
        </p:txBody>
      </p:sp>
      <p:pic>
        <p:nvPicPr>
          <p:cNvPr id="6" name="Picture 5">
            <a:extLst>
              <a:ext uri="{FF2B5EF4-FFF2-40B4-BE49-F238E27FC236}">
                <a16:creationId xmlns:a16="http://schemas.microsoft.com/office/drawing/2014/main" id="{826B4DF0-308F-48D1-B538-0022C764D0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1412776"/>
            <a:ext cx="7992887" cy="5112568"/>
          </a:xfrm>
          <a:prstGeom prst="rect">
            <a:avLst/>
          </a:prstGeom>
        </p:spPr>
      </p:pic>
    </p:spTree>
    <p:extLst>
      <p:ext uri="{BB962C8B-B14F-4D97-AF65-F5344CB8AC3E}">
        <p14:creationId xmlns:p14="http://schemas.microsoft.com/office/powerpoint/2010/main" val="56911513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access additional paste options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You can also access </a:t>
            </a:r>
            <a:r>
              <a:rPr lang="en-US" b="1" dirty="0"/>
              <a:t>additional paste options</a:t>
            </a:r>
            <a:r>
              <a:rPr lang="en-US" dirty="0"/>
              <a:t>, which are especially convenient when working with cells that contain</a:t>
            </a:r>
            <a:r>
              <a:rPr lang="en-US" b="1" dirty="0"/>
              <a:t> formulas </a:t>
            </a:r>
            <a:r>
              <a:rPr lang="en-US" dirty="0"/>
              <a:t>or</a:t>
            </a:r>
            <a:r>
              <a:rPr lang="en-US" b="1" dirty="0"/>
              <a:t> formatting</a:t>
            </a:r>
            <a:r>
              <a:rPr lang="en-US" dirty="0"/>
              <a:t>. Just click the</a:t>
            </a:r>
            <a:r>
              <a:rPr lang="en-US" b="1" dirty="0"/>
              <a:t> drop-down arrow </a:t>
            </a:r>
            <a:r>
              <a:rPr lang="en-US" dirty="0"/>
              <a:t>on the</a:t>
            </a:r>
            <a:r>
              <a:rPr lang="en-US" b="1" dirty="0"/>
              <a:t> Paste </a:t>
            </a:r>
            <a:r>
              <a:rPr lang="en-US" dirty="0"/>
              <a:t>command to see these options.</a:t>
            </a:r>
          </a:p>
        </p:txBody>
      </p:sp>
      <p:pic>
        <p:nvPicPr>
          <p:cNvPr id="5" name="Picture 4">
            <a:extLst>
              <a:ext uri="{FF2B5EF4-FFF2-40B4-BE49-F238E27FC236}">
                <a16:creationId xmlns:a16="http://schemas.microsoft.com/office/drawing/2014/main" id="{1BA42AFC-007A-406F-A918-149033C55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3028528"/>
            <a:ext cx="4968552" cy="3712840"/>
          </a:xfrm>
          <a:prstGeom prst="rect">
            <a:avLst/>
          </a:prstGeom>
        </p:spPr>
      </p:pic>
    </p:spTree>
    <p:extLst>
      <p:ext uri="{BB962C8B-B14F-4D97-AF65-F5344CB8AC3E}">
        <p14:creationId xmlns:p14="http://schemas.microsoft.com/office/powerpoint/2010/main" val="256730754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access additional paste options</a:t>
            </a:r>
            <a:endParaRPr lang="en-GB" dirty="0"/>
          </a:p>
        </p:txBody>
      </p:sp>
      <p:sp>
        <p:nvSpPr>
          <p:cNvPr id="3" name="Content Placeholder 2"/>
          <p:cNvSpPr>
            <a:spLocks noGrp="1"/>
          </p:cNvSpPr>
          <p:nvPr>
            <p:ph idx="1"/>
          </p:nvPr>
        </p:nvSpPr>
        <p:spPr>
          <a:xfrm>
            <a:off x="0" y="476672"/>
            <a:ext cx="9144000" cy="6381328"/>
          </a:xfrm>
        </p:spPr>
        <p:txBody>
          <a:bodyPr>
            <a:normAutofit/>
          </a:bodyPr>
          <a:lstStyle/>
          <a:p>
            <a:pPr algn="just" fontAlgn="base"/>
            <a:r>
              <a:rPr lang="en-US" dirty="0"/>
              <a:t>Instead of choosing commands from the Ribbon, you can access commands quickly by </a:t>
            </a:r>
            <a:r>
              <a:rPr lang="en-US" b="1" dirty="0"/>
              <a:t>right-clicking</a:t>
            </a:r>
            <a:r>
              <a:rPr lang="en-US" dirty="0"/>
              <a:t>. Simply select the</a:t>
            </a:r>
            <a:r>
              <a:rPr lang="en-US" b="1" dirty="0"/>
              <a:t> cell(s)</a:t>
            </a:r>
            <a:r>
              <a:rPr lang="en-US" dirty="0"/>
              <a:t> you want to </a:t>
            </a:r>
            <a:r>
              <a:rPr lang="en-US" b="1" dirty="0"/>
              <a:t>format</a:t>
            </a:r>
            <a:r>
              <a:rPr lang="en-US" dirty="0"/>
              <a:t>, then right-click the mouse. A </a:t>
            </a:r>
            <a:r>
              <a:rPr lang="en-US" b="1" dirty="0"/>
              <a:t>drop-down menu</a:t>
            </a:r>
            <a:r>
              <a:rPr lang="en-US" dirty="0"/>
              <a:t> will appear, where you'll find several </a:t>
            </a:r>
            <a:r>
              <a:rPr lang="en-US" b="1" dirty="0"/>
              <a:t>commands</a:t>
            </a:r>
            <a:r>
              <a:rPr lang="en-US" dirty="0"/>
              <a:t> that are also located on the Ribbon.</a:t>
            </a:r>
          </a:p>
          <a:p>
            <a:pPr marL="0" indent="0">
              <a:buNone/>
            </a:pPr>
            <a:br>
              <a:rPr lang="en-US" dirty="0"/>
            </a:br>
            <a:endParaRPr lang="en-US" dirty="0"/>
          </a:p>
        </p:txBody>
      </p:sp>
      <p:pic>
        <p:nvPicPr>
          <p:cNvPr id="6" name="Picture 5">
            <a:extLst>
              <a:ext uri="{FF2B5EF4-FFF2-40B4-BE49-F238E27FC236}">
                <a16:creationId xmlns:a16="http://schemas.microsoft.com/office/drawing/2014/main" id="{B04B4927-F06F-4B0A-BD8B-7E932122A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9862" y="3429001"/>
            <a:ext cx="4814466" cy="3429000"/>
          </a:xfrm>
          <a:prstGeom prst="rect">
            <a:avLst/>
          </a:prstGeom>
        </p:spPr>
      </p:pic>
    </p:spTree>
    <p:extLst>
      <p:ext uri="{BB962C8B-B14F-4D97-AF65-F5344CB8AC3E}">
        <p14:creationId xmlns:p14="http://schemas.microsoft.com/office/powerpoint/2010/main" val="59739014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cut and paste cell content</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Unlike copying and pasting, which </a:t>
            </a:r>
            <a:r>
              <a:rPr lang="en-US" b="1" dirty="0"/>
              <a:t>duplicates</a:t>
            </a:r>
            <a:r>
              <a:rPr lang="en-US" dirty="0"/>
              <a:t> cell content, </a:t>
            </a:r>
            <a:r>
              <a:rPr lang="en-US" b="1" dirty="0"/>
              <a:t>cutting</a:t>
            </a:r>
            <a:r>
              <a:rPr lang="en-US" dirty="0"/>
              <a:t> allows you to </a:t>
            </a:r>
            <a:r>
              <a:rPr lang="en-US" b="1" dirty="0"/>
              <a:t>move </a:t>
            </a:r>
            <a:r>
              <a:rPr lang="en-US" dirty="0"/>
              <a:t>content between cells.</a:t>
            </a:r>
          </a:p>
          <a:p>
            <a:pPr algn="just" fontAlgn="base"/>
            <a:r>
              <a:rPr lang="en-US" dirty="0"/>
              <a:t>Select the </a:t>
            </a:r>
            <a:r>
              <a:rPr lang="en-US" b="1" dirty="0"/>
              <a:t>cell(s)</a:t>
            </a:r>
            <a:r>
              <a:rPr lang="en-US" dirty="0"/>
              <a:t> you want to </a:t>
            </a:r>
            <a:r>
              <a:rPr lang="en-US" b="1" dirty="0"/>
              <a:t>cut</a:t>
            </a:r>
            <a:r>
              <a:rPr lang="en-US" dirty="0"/>
              <a:t>. In our example, we'll select </a:t>
            </a:r>
            <a:r>
              <a:rPr lang="en-US" b="1" dirty="0"/>
              <a:t>G5:G6</a:t>
            </a:r>
            <a:r>
              <a:rPr lang="en-US" dirty="0"/>
              <a:t>.</a:t>
            </a:r>
          </a:p>
          <a:p>
            <a:pPr algn="just" fontAlgn="base"/>
            <a:r>
              <a:rPr lang="en-US" dirty="0"/>
              <a:t>Right-click the mouse and select the </a:t>
            </a:r>
            <a:r>
              <a:rPr lang="en-US" b="1" dirty="0"/>
              <a:t>Cut</a:t>
            </a:r>
            <a:r>
              <a:rPr lang="en-US" dirty="0"/>
              <a:t> command. You can also use the command on the </a:t>
            </a:r>
            <a:r>
              <a:rPr lang="en-US" b="1" dirty="0"/>
              <a:t>Home</a:t>
            </a:r>
            <a:r>
              <a:rPr lang="en-US" dirty="0"/>
              <a:t> tab, or press </a:t>
            </a:r>
            <a:r>
              <a:rPr lang="en-US" b="1" dirty="0" err="1"/>
              <a:t>Ctrl+X</a:t>
            </a:r>
            <a:r>
              <a:rPr lang="en-US" dirty="0"/>
              <a:t> on your keyboard.</a:t>
            </a:r>
          </a:p>
          <a:p>
            <a:pPr marL="0" indent="0" algn="just">
              <a:buNone/>
            </a:pPr>
            <a:br>
              <a:rPr lang="en-US" dirty="0"/>
            </a:br>
            <a:endParaRPr lang="en-US" dirty="0"/>
          </a:p>
        </p:txBody>
      </p:sp>
      <p:pic>
        <p:nvPicPr>
          <p:cNvPr id="5" name="Picture 4">
            <a:extLst>
              <a:ext uri="{FF2B5EF4-FFF2-40B4-BE49-F238E27FC236}">
                <a16:creationId xmlns:a16="http://schemas.microsoft.com/office/drawing/2014/main" id="{BF70F8F0-99AE-4F7B-AE84-47926E0C1F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75" y="4509120"/>
            <a:ext cx="7486650" cy="2348880"/>
          </a:xfrm>
          <a:prstGeom prst="rect">
            <a:avLst/>
          </a:prstGeom>
        </p:spPr>
      </p:pic>
    </p:spTree>
    <p:extLst>
      <p:ext uri="{BB962C8B-B14F-4D97-AF65-F5344CB8AC3E}">
        <p14:creationId xmlns:p14="http://schemas.microsoft.com/office/powerpoint/2010/main" val="253527274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cut and paste cell content</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Select the cells where you want to </a:t>
            </a:r>
            <a:r>
              <a:rPr lang="en-US" b="1" dirty="0"/>
              <a:t>paste</a:t>
            </a:r>
            <a:r>
              <a:rPr lang="en-US" dirty="0"/>
              <a:t> the content. In our example, we'll select </a:t>
            </a:r>
            <a:r>
              <a:rPr lang="en-US" b="1" dirty="0"/>
              <a:t>F10:F11</a:t>
            </a:r>
            <a:r>
              <a:rPr lang="en-US" dirty="0"/>
              <a:t>. The cut cells will now have a </a:t>
            </a:r>
            <a:r>
              <a:rPr lang="en-US" b="1" dirty="0"/>
              <a:t>dashed box</a:t>
            </a:r>
            <a:r>
              <a:rPr lang="en-US" dirty="0"/>
              <a:t> around them.</a:t>
            </a:r>
          </a:p>
          <a:p>
            <a:pPr algn="just" fontAlgn="base"/>
            <a:r>
              <a:rPr lang="en-US" dirty="0"/>
              <a:t>Right-click the mouse and select the </a:t>
            </a:r>
            <a:r>
              <a:rPr lang="en-US" b="1" dirty="0"/>
              <a:t>Paste</a:t>
            </a:r>
            <a:r>
              <a:rPr lang="en-US" dirty="0"/>
              <a:t> command. You can also use the command on the </a:t>
            </a:r>
            <a:r>
              <a:rPr lang="en-US" b="1" dirty="0"/>
              <a:t>Home</a:t>
            </a:r>
            <a:r>
              <a:rPr lang="en-US" dirty="0"/>
              <a:t> tab, or press </a:t>
            </a:r>
            <a:r>
              <a:rPr lang="en-US" b="1" dirty="0" err="1"/>
              <a:t>Ctrl+V</a:t>
            </a:r>
            <a:r>
              <a:rPr lang="en-US" dirty="0"/>
              <a:t> on your keyboard.</a:t>
            </a:r>
          </a:p>
          <a:p>
            <a:pPr marL="0" indent="0" algn="just">
              <a:buNone/>
            </a:pPr>
            <a:br>
              <a:rPr lang="en-US" dirty="0"/>
            </a:br>
            <a:endParaRPr lang="en-US" dirty="0"/>
          </a:p>
        </p:txBody>
      </p:sp>
      <p:pic>
        <p:nvPicPr>
          <p:cNvPr id="6" name="Picture 5">
            <a:extLst>
              <a:ext uri="{FF2B5EF4-FFF2-40B4-BE49-F238E27FC236}">
                <a16:creationId xmlns:a16="http://schemas.microsoft.com/office/drawing/2014/main" id="{C77DAA3D-8111-4E87-BBD2-64F46F7ED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162" y="3429000"/>
            <a:ext cx="7305675" cy="3429000"/>
          </a:xfrm>
          <a:prstGeom prst="rect">
            <a:avLst/>
          </a:prstGeom>
        </p:spPr>
      </p:pic>
    </p:spTree>
    <p:extLst>
      <p:ext uri="{BB962C8B-B14F-4D97-AF65-F5344CB8AC3E}">
        <p14:creationId xmlns:p14="http://schemas.microsoft.com/office/powerpoint/2010/main" val="134333399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cut and paste cell content</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The cut content will be </a:t>
            </a:r>
            <a:r>
              <a:rPr lang="en-US" b="1" dirty="0">
                <a:solidFill>
                  <a:srgbClr val="4E4E4E"/>
                </a:solidFill>
                <a:latin typeface="Source Sans Pro" panose="020B0503030403020204" pitchFamily="34" charset="0"/>
              </a:rPr>
              <a:t>removed</a:t>
            </a:r>
            <a:r>
              <a:rPr lang="en-US" dirty="0">
                <a:solidFill>
                  <a:srgbClr val="4E4E4E"/>
                </a:solidFill>
                <a:latin typeface="Source Sans Pro" panose="020B0503030403020204" pitchFamily="34" charset="0"/>
              </a:rPr>
              <a:t> from the original cells and </a:t>
            </a:r>
            <a:r>
              <a:rPr lang="en-US" b="1" dirty="0">
                <a:solidFill>
                  <a:srgbClr val="4E4E4E"/>
                </a:solidFill>
                <a:latin typeface="Source Sans Pro" panose="020B0503030403020204" pitchFamily="34" charset="0"/>
              </a:rPr>
              <a:t>pasted</a:t>
            </a:r>
            <a:r>
              <a:rPr lang="en-US" dirty="0">
                <a:solidFill>
                  <a:srgbClr val="4E4E4E"/>
                </a:solidFill>
                <a:latin typeface="Source Sans Pro" panose="020B0503030403020204" pitchFamily="34" charset="0"/>
              </a:rPr>
              <a:t> into the selected cells.</a:t>
            </a:r>
            <a:br>
              <a:rPr lang="en-US" dirty="0"/>
            </a:br>
            <a:endParaRPr lang="en-US" dirty="0"/>
          </a:p>
        </p:txBody>
      </p:sp>
      <p:pic>
        <p:nvPicPr>
          <p:cNvPr id="5" name="Picture 4">
            <a:extLst>
              <a:ext uri="{FF2B5EF4-FFF2-40B4-BE49-F238E27FC236}">
                <a16:creationId xmlns:a16="http://schemas.microsoft.com/office/drawing/2014/main" id="{27AADBFF-777E-44F2-AB18-5E9953854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3" y="1556792"/>
            <a:ext cx="6912768" cy="4752528"/>
          </a:xfrm>
          <a:prstGeom prst="rect">
            <a:avLst/>
          </a:prstGeom>
        </p:spPr>
      </p:pic>
    </p:spTree>
    <p:extLst>
      <p:ext uri="{BB962C8B-B14F-4D97-AF65-F5344CB8AC3E}">
        <p14:creationId xmlns:p14="http://schemas.microsoft.com/office/powerpoint/2010/main" val="106104810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drag and drop cells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Instead of cutting, copying, and pasting, you can </a:t>
            </a:r>
            <a:r>
              <a:rPr lang="en-US" b="1" dirty="0">
                <a:solidFill>
                  <a:srgbClr val="4E4E4E"/>
                </a:solidFill>
                <a:latin typeface="Source Sans Pro" panose="020B0503030403020204" pitchFamily="34" charset="0"/>
              </a:rPr>
              <a:t>drag and drop </a:t>
            </a:r>
            <a:r>
              <a:rPr lang="en-US" dirty="0">
                <a:solidFill>
                  <a:srgbClr val="4E4E4E"/>
                </a:solidFill>
                <a:latin typeface="Source Sans Pro" panose="020B0503030403020204" pitchFamily="34" charset="0"/>
              </a:rPr>
              <a:t>cells to move their contents.</a:t>
            </a:r>
          </a:p>
          <a:p>
            <a:pPr algn="just" fontAlgn="base"/>
            <a:r>
              <a:rPr lang="en-US" dirty="0">
                <a:solidFill>
                  <a:srgbClr val="4E4E4E"/>
                </a:solidFill>
                <a:latin typeface="Source Sans Pro" panose="020B0503030403020204" pitchFamily="34" charset="0"/>
              </a:rPr>
              <a:t>Select the </a:t>
            </a:r>
            <a:r>
              <a:rPr lang="en-US" b="1" dirty="0">
                <a:solidFill>
                  <a:srgbClr val="4E4E4E"/>
                </a:solidFill>
                <a:latin typeface="Source Sans Pro" panose="020B0503030403020204" pitchFamily="34" charset="0"/>
              </a:rPr>
              <a:t>cell(s)</a:t>
            </a:r>
            <a:r>
              <a:rPr lang="en-US" dirty="0">
                <a:solidFill>
                  <a:srgbClr val="4E4E4E"/>
                </a:solidFill>
                <a:latin typeface="Source Sans Pro" panose="020B0503030403020204" pitchFamily="34" charset="0"/>
              </a:rPr>
              <a:t> you want to </a:t>
            </a:r>
            <a:r>
              <a:rPr lang="en-US" b="1" dirty="0">
                <a:solidFill>
                  <a:srgbClr val="4E4E4E"/>
                </a:solidFill>
                <a:latin typeface="Source Sans Pro" panose="020B0503030403020204" pitchFamily="34" charset="0"/>
              </a:rPr>
              <a:t>move</a:t>
            </a:r>
            <a:r>
              <a:rPr lang="en-US" dirty="0">
                <a:solidFill>
                  <a:srgbClr val="4E4E4E"/>
                </a:solidFill>
                <a:latin typeface="Source Sans Pro" panose="020B0503030403020204" pitchFamily="34" charset="0"/>
              </a:rPr>
              <a:t>. In our example, we'll select </a:t>
            </a:r>
            <a:r>
              <a:rPr lang="en-US" b="1" dirty="0">
                <a:solidFill>
                  <a:srgbClr val="4E4E4E"/>
                </a:solidFill>
                <a:latin typeface="Source Sans Pro" panose="020B0503030403020204" pitchFamily="34" charset="0"/>
              </a:rPr>
              <a:t>H4:H12</a:t>
            </a:r>
            <a:r>
              <a:rPr lang="en-US" dirty="0">
                <a:solidFill>
                  <a:srgbClr val="4E4E4E"/>
                </a:solidFill>
                <a:latin typeface="Source Sans Pro" panose="020B0503030403020204" pitchFamily="34" charset="0"/>
              </a:rPr>
              <a:t>.</a:t>
            </a:r>
          </a:p>
          <a:p>
            <a:pPr algn="just" fontAlgn="base"/>
            <a:r>
              <a:rPr lang="en-US" dirty="0">
                <a:solidFill>
                  <a:srgbClr val="4E4E4E"/>
                </a:solidFill>
                <a:latin typeface="Source Sans Pro" panose="020B0503030403020204" pitchFamily="34" charset="0"/>
              </a:rPr>
              <a:t>Hover the mouse over the </a:t>
            </a:r>
            <a:r>
              <a:rPr lang="en-US" b="1" dirty="0">
                <a:solidFill>
                  <a:srgbClr val="4E4E4E"/>
                </a:solidFill>
                <a:latin typeface="Source Sans Pro" panose="020B0503030403020204" pitchFamily="34" charset="0"/>
              </a:rPr>
              <a:t>border</a:t>
            </a:r>
            <a:r>
              <a:rPr lang="en-US" dirty="0">
                <a:solidFill>
                  <a:srgbClr val="4E4E4E"/>
                </a:solidFill>
                <a:latin typeface="Source Sans Pro" panose="020B0503030403020204" pitchFamily="34" charset="0"/>
              </a:rPr>
              <a:t> of the selected cell(s) until the mouse changes to a </a:t>
            </a:r>
            <a:r>
              <a:rPr lang="en-US" b="1" dirty="0">
                <a:solidFill>
                  <a:srgbClr val="4E4E4E"/>
                </a:solidFill>
                <a:latin typeface="Source Sans Pro" panose="020B0503030403020204" pitchFamily="34" charset="0"/>
              </a:rPr>
              <a:t>pointer with four arrows</a:t>
            </a:r>
            <a:r>
              <a:rPr lang="en-US" dirty="0">
                <a:solidFill>
                  <a:srgbClr val="4E4E4E"/>
                </a:solidFill>
                <a:latin typeface="Source Sans Pro" panose="020B0503030403020204" pitchFamily="34" charset="0"/>
              </a:rPr>
              <a:t>.</a:t>
            </a:r>
          </a:p>
        </p:txBody>
      </p:sp>
      <p:pic>
        <p:nvPicPr>
          <p:cNvPr id="6" name="Picture 5">
            <a:extLst>
              <a:ext uri="{FF2B5EF4-FFF2-40B4-BE49-F238E27FC236}">
                <a16:creationId xmlns:a16="http://schemas.microsoft.com/office/drawing/2014/main" id="{717E7DEB-DCFD-45AD-B924-3CD0EAA8D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9040" y="3861048"/>
            <a:ext cx="6619875" cy="2996952"/>
          </a:xfrm>
          <a:prstGeom prst="rect">
            <a:avLst/>
          </a:prstGeom>
        </p:spPr>
      </p:pic>
    </p:spTree>
    <p:extLst>
      <p:ext uri="{BB962C8B-B14F-4D97-AF65-F5344CB8AC3E}">
        <p14:creationId xmlns:p14="http://schemas.microsoft.com/office/powerpoint/2010/main" val="318699839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drag and drop cells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Click and drag the cells to the </a:t>
            </a:r>
            <a:r>
              <a:rPr lang="en-US" b="1" dirty="0">
                <a:solidFill>
                  <a:srgbClr val="4E4E4E"/>
                </a:solidFill>
                <a:latin typeface="Source Sans Pro" panose="020B0503030403020204" pitchFamily="34" charset="0"/>
              </a:rPr>
              <a:t>desired location</a:t>
            </a:r>
            <a:r>
              <a:rPr lang="en-US" dirty="0">
                <a:solidFill>
                  <a:srgbClr val="4E4E4E"/>
                </a:solidFill>
                <a:latin typeface="Source Sans Pro" panose="020B0503030403020204" pitchFamily="34" charset="0"/>
              </a:rPr>
              <a:t>. In our example, we'll move them to </a:t>
            </a:r>
            <a:r>
              <a:rPr lang="en-US" b="1" dirty="0">
                <a:solidFill>
                  <a:srgbClr val="4E4E4E"/>
                </a:solidFill>
                <a:latin typeface="Source Sans Pro" panose="020B0503030403020204" pitchFamily="34" charset="0"/>
              </a:rPr>
              <a:t>G4:G12</a:t>
            </a:r>
            <a:r>
              <a:rPr lang="en-US" dirty="0">
                <a:solidFill>
                  <a:srgbClr val="4E4E4E"/>
                </a:solidFill>
                <a:latin typeface="Source Sans Pro" panose="020B0503030403020204" pitchFamily="34" charset="0"/>
              </a:rPr>
              <a:t>.</a:t>
            </a:r>
          </a:p>
        </p:txBody>
      </p:sp>
      <p:pic>
        <p:nvPicPr>
          <p:cNvPr id="5" name="Picture 4">
            <a:extLst>
              <a:ext uri="{FF2B5EF4-FFF2-40B4-BE49-F238E27FC236}">
                <a16:creationId xmlns:a16="http://schemas.microsoft.com/office/drawing/2014/main" id="{61896619-CAFF-4FFC-87F8-15054F34B1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062" y="1772816"/>
            <a:ext cx="7486402" cy="4968552"/>
          </a:xfrm>
          <a:prstGeom prst="rect">
            <a:avLst/>
          </a:prstGeom>
        </p:spPr>
      </p:pic>
    </p:spTree>
    <p:extLst>
      <p:ext uri="{BB962C8B-B14F-4D97-AF65-F5344CB8AC3E}">
        <p14:creationId xmlns:p14="http://schemas.microsoft.com/office/powerpoint/2010/main" val="200547290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drag and drop cells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Release the mouse. The cells will be </a:t>
            </a:r>
            <a:r>
              <a:rPr lang="en-US" b="1" dirty="0">
                <a:solidFill>
                  <a:srgbClr val="4E4E4E"/>
                </a:solidFill>
                <a:latin typeface="Source Sans Pro" panose="020B0503030403020204" pitchFamily="34" charset="0"/>
              </a:rPr>
              <a:t>dropped</a:t>
            </a:r>
            <a:r>
              <a:rPr lang="en-US" dirty="0">
                <a:solidFill>
                  <a:srgbClr val="4E4E4E"/>
                </a:solidFill>
                <a:latin typeface="Source Sans Pro" panose="020B0503030403020204" pitchFamily="34" charset="0"/>
              </a:rPr>
              <a:t> in the selected location.</a:t>
            </a:r>
          </a:p>
        </p:txBody>
      </p:sp>
      <p:pic>
        <p:nvPicPr>
          <p:cNvPr id="6" name="Picture 5">
            <a:extLst>
              <a:ext uri="{FF2B5EF4-FFF2-40B4-BE49-F238E27FC236}">
                <a16:creationId xmlns:a16="http://schemas.microsoft.com/office/drawing/2014/main" id="{8466210E-80E3-4C86-A1A9-7BC7ACEEB5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062" y="1988840"/>
            <a:ext cx="6619875" cy="4104456"/>
          </a:xfrm>
          <a:prstGeom prst="rect">
            <a:avLst/>
          </a:prstGeom>
        </p:spPr>
      </p:pic>
    </p:spTree>
    <p:extLst>
      <p:ext uri="{BB962C8B-B14F-4D97-AF65-F5344CB8AC3E}">
        <p14:creationId xmlns:p14="http://schemas.microsoft.com/office/powerpoint/2010/main" val="200769233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use the fill handle</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If you're copying cell content to adjacent cells in the same row or column, the </a:t>
            </a:r>
            <a:r>
              <a:rPr lang="en-US" b="1" dirty="0">
                <a:solidFill>
                  <a:srgbClr val="4E4E4E"/>
                </a:solidFill>
                <a:latin typeface="Source Sans Pro" panose="020B0503030403020204" pitchFamily="34" charset="0"/>
              </a:rPr>
              <a:t>fill handle </a:t>
            </a:r>
            <a:r>
              <a:rPr lang="en-US" dirty="0">
                <a:solidFill>
                  <a:srgbClr val="4E4E4E"/>
                </a:solidFill>
                <a:latin typeface="Source Sans Pro" panose="020B0503030403020204" pitchFamily="34" charset="0"/>
              </a:rPr>
              <a:t>is a good alternative to the copy and paste commands.</a:t>
            </a:r>
          </a:p>
          <a:p>
            <a:pPr algn="just" fontAlgn="base"/>
            <a:r>
              <a:rPr lang="en-US" dirty="0">
                <a:solidFill>
                  <a:srgbClr val="4E4E4E"/>
                </a:solidFill>
                <a:latin typeface="Source Sans Pro" panose="020B0503030403020204" pitchFamily="34" charset="0"/>
              </a:rPr>
              <a:t>Select the </a:t>
            </a:r>
            <a:r>
              <a:rPr lang="en-US" b="1" dirty="0">
                <a:solidFill>
                  <a:srgbClr val="4E4E4E"/>
                </a:solidFill>
                <a:latin typeface="Source Sans Pro" panose="020B0503030403020204" pitchFamily="34" charset="0"/>
              </a:rPr>
              <a:t>cell(s)</a:t>
            </a:r>
            <a:r>
              <a:rPr lang="en-US" dirty="0">
                <a:solidFill>
                  <a:srgbClr val="4E4E4E"/>
                </a:solidFill>
                <a:latin typeface="Source Sans Pro" panose="020B0503030403020204" pitchFamily="34" charset="0"/>
              </a:rPr>
              <a:t> containing the content you want to use, then hover the mouse over the lower-right corner of the cell so the </a:t>
            </a:r>
            <a:r>
              <a:rPr lang="en-US" b="1" dirty="0">
                <a:solidFill>
                  <a:srgbClr val="4E4E4E"/>
                </a:solidFill>
                <a:latin typeface="Source Sans Pro" panose="020B0503030403020204" pitchFamily="34" charset="0"/>
              </a:rPr>
              <a:t>fill handle </a:t>
            </a:r>
            <a:r>
              <a:rPr lang="en-US" dirty="0">
                <a:solidFill>
                  <a:srgbClr val="4E4E4E"/>
                </a:solidFill>
                <a:latin typeface="Source Sans Pro" panose="020B0503030403020204" pitchFamily="34" charset="0"/>
              </a:rPr>
              <a:t>appears.</a:t>
            </a:r>
          </a:p>
        </p:txBody>
      </p:sp>
      <p:pic>
        <p:nvPicPr>
          <p:cNvPr id="5" name="Picture 4">
            <a:extLst>
              <a:ext uri="{FF2B5EF4-FFF2-40B4-BE49-F238E27FC236}">
                <a16:creationId xmlns:a16="http://schemas.microsoft.com/office/drawing/2014/main" id="{9C0916CE-AA4F-47F8-B640-DFD3CB29C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2575" y="3429000"/>
            <a:ext cx="6038850" cy="3429000"/>
          </a:xfrm>
          <a:prstGeom prst="rect">
            <a:avLst/>
          </a:prstGeom>
        </p:spPr>
      </p:pic>
    </p:spTree>
    <p:extLst>
      <p:ext uri="{BB962C8B-B14F-4D97-AF65-F5344CB8AC3E}">
        <p14:creationId xmlns:p14="http://schemas.microsoft.com/office/powerpoint/2010/main" val="395180585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use the fill handle</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Click and drag the </a:t>
            </a:r>
            <a:r>
              <a:rPr lang="en-US" b="1" dirty="0">
                <a:solidFill>
                  <a:srgbClr val="4E4E4E"/>
                </a:solidFill>
                <a:latin typeface="Source Sans Pro" panose="020B0503030403020204" pitchFamily="34" charset="0"/>
              </a:rPr>
              <a:t>fill handle </a:t>
            </a:r>
            <a:r>
              <a:rPr lang="en-US" dirty="0">
                <a:solidFill>
                  <a:srgbClr val="4E4E4E"/>
                </a:solidFill>
                <a:latin typeface="Source Sans Pro" panose="020B0503030403020204" pitchFamily="34" charset="0"/>
              </a:rPr>
              <a:t>until all of the cells you want to fill are selected. In our example, we'll select </a:t>
            </a:r>
            <a:r>
              <a:rPr lang="en-US" b="1" dirty="0">
                <a:solidFill>
                  <a:srgbClr val="4E4E4E"/>
                </a:solidFill>
                <a:latin typeface="Source Sans Pro" panose="020B0503030403020204" pitchFamily="34" charset="0"/>
              </a:rPr>
              <a:t>G13:G17</a:t>
            </a:r>
            <a:r>
              <a:rPr lang="en-US" dirty="0">
                <a:solidFill>
                  <a:srgbClr val="4E4E4E"/>
                </a:solidFill>
                <a:latin typeface="Source Sans Pro" panose="020B0503030403020204" pitchFamily="34" charset="0"/>
              </a:rPr>
              <a:t>.</a:t>
            </a:r>
          </a:p>
        </p:txBody>
      </p:sp>
      <p:pic>
        <p:nvPicPr>
          <p:cNvPr id="6" name="Picture 5">
            <a:extLst>
              <a:ext uri="{FF2B5EF4-FFF2-40B4-BE49-F238E27FC236}">
                <a16:creationId xmlns:a16="http://schemas.microsoft.com/office/drawing/2014/main" id="{D1BEABCC-D6D7-4883-AECC-EE366EAF56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3525" y="1988839"/>
            <a:ext cx="6076950" cy="4869161"/>
          </a:xfrm>
          <a:prstGeom prst="rect">
            <a:avLst/>
          </a:prstGeom>
        </p:spPr>
      </p:pic>
    </p:spTree>
    <p:extLst>
      <p:ext uri="{BB962C8B-B14F-4D97-AF65-F5344CB8AC3E}">
        <p14:creationId xmlns:p14="http://schemas.microsoft.com/office/powerpoint/2010/main" val="168749877"/>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use the fill handle</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solidFill>
                  <a:srgbClr val="4E4E4E"/>
                </a:solidFill>
                <a:latin typeface="Source Sans Pro" panose="020B0503030403020204" pitchFamily="34" charset="0"/>
              </a:rPr>
              <a:t>Release the mouse to </a:t>
            </a:r>
            <a:r>
              <a:rPr lang="en-US" b="1" dirty="0">
                <a:solidFill>
                  <a:srgbClr val="4E4E4E"/>
                </a:solidFill>
                <a:latin typeface="Source Sans Pro" panose="020B0503030403020204" pitchFamily="34" charset="0"/>
              </a:rPr>
              <a:t>fill</a:t>
            </a:r>
            <a:r>
              <a:rPr lang="en-US" dirty="0">
                <a:solidFill>
                  <a:srgbClr val="4E4E4E"/>
                </a:solidFill>
                <a:latin typeface="Source Sans Pro" panose="020B0503030403020204" pitchFamily="34" charset="0"/>
              </a:rPr>
              <a:t> the selected cells.</a:t>
            </a:r>
          </a:p>
        </p:txBody>
      </p:sp>
      <p:pic>
        <p:nvPicPr>
          <p:cNvPr id="5" name="Picture 4">
            <a:extLst>
              <a:ext uri="{FF2B5EF4-FFF2-40B4-BE49-F238E27FC236}">
                <a16:creationId xmlns:a16="http://schemas.microsoft.com/office/drawing/2014/main" id="{2E11017A-C88E-4D23-9A5B-E4089B1386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0187" y="1133475"/>
            <a:ext cx="6143625" cy="4591050"/>
          </a:xfrm>
          <a:prstGeom prst="rect">
            <a:avLst/>
          </a:prstGeom>
        </p:spPr>
      </p:pic>
    </p:spTree>
    <p:extLst>
      <p:ext uri="{BB962C8B-B14F-4D97-AF65-F5344CB8AC3E}">
        <p14:creationId xmlns:p14="http://schemas.microsoft.com/office/powerpoint/2010/main" val="3732833944"/>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continue a series with the fill handle</a:t>
            </a:r>
            <a:endParaRPr lang="en-GB" dirty="0"/>
          </a:p>
        </p:txBody>
      </p:sp>
      <p:sp>
        <p:nvSpPr>
          <p:cNvPr id="3" name="Content Placeholder 2"/>
          <p:cNvSpPr>
            <a:spLocks noGrp="1"/>
          </p:cNvSpPr>
          <p:nvPr>
            <p:ph idx="1"/>
          </p:nvPr>
        </p:nvSpPr>
        <p:spPr>
          <a:xfrm>
            <a:off x="0" y="332656"/>
            <a:ext cx="9144000" cy="6525344"/>
          </a:xfrm>
        </p:spPr>
        <p:txBody>
          <a:bodyPr>
            <a:normAutofit fontScale="92500"/>
          </a:bodyPr>
          <a:lstStyle/>
          <a:p>
            <a:pPr algn="just" fontAlgn="base"/>
            <a:r>
              <a:rPr lang="en-US" dirty="0"/>
              <a:t>The fill handle can also be used to </a:t>
            </a:r>
            <a:r>
              <a:rPr lang="en-US" b="1" dirty="0"/>
              <a:t>continue</a:t>
            </a:r>
            <a:r>
              <a:rPr lang="en-US" dirty="0"/>
              <a:t> </a:t>
            </a:r>
            <a:r>
              <a:rPr lang="en-US" b="1" dirty="0"/>
              <a:t>a series</a:t>
            </a:r>
            <a:r>
              <a:rPr lang="en-US" dirty="0"/>
              <a:t>. </a:t>
            </a:r>
          </a:p>
          <a:p>
            <a:pPr algn="just" fontAlgn="base"/>
            <a:endParaRPr lang="en-US" dirty="0"/>
          </a:p>
          <a:p>
            <a:pPr algn="just" fontAlgn="base"/>
            <a:r>
              <a:rPr lang="en-US" dirty="0"/>
              <a:t>Whenever the content of a row or column follows a sequential order, like </a:t>
            </a:r>
            <a:r>
              <a:rPr lang="en-US" b="1" dirty="0"/>
              <a:t>numbers</a:t>
            </a:r>
            <a:r>
              <a:rPr lang="en-US" dirty="0"/>
              <a:t> </a:t>
            </a:r>
            <a:r>
              <a:rPr lang="en-US" b="1" dirty="0"/>
              <a:t>(1, 2, 3)</a:t>
            </a:r>
            <a:r>
              <a:rPr lang="en-US" dirty="0"/>
              <a:t> or </a:t>
            </a:r>
            <a:r>
              <a:rPr lang="en-US" b="1" dirty="0"/>
              <a:t>days</a:t>
            </a:r>
            <a:r>
              <a:rPr lang="en-US" dirty="0"/>
              <a:t> </a:t>
            </a:r>
            <a:r>
              <a:rPr lang="en-US" b="1" dirty="0"/>
              <a:t>(Monday, Tuesday, Wednesday)</a:t>
            </a:r>
            <a:r>
              <a:rPr lang="en-US" dirty="0"/>
              <a:t>, the fill handle can guess what should come next in the series. </a:t>
            </a:r>
          </a:p>
          <a:p>
            <a:pPr algn="just" fontAlgn="base"/>
            <a:endParaRPr lang="en-US" dirty="0"/>
          </a:p>
          <a:p>
            <a:pPr algn="just" fontAlgn="base"/>
            <a:r>
              <a:rPr lang="en-US" dirty="0"/>
              <a:t>In most cases, you will need to select </a:t>
            </a:r>
            <a:r>
              <a:rPr lang="en-US" b="1" dirty="0"/>
              <a:t>multiple cells</a:t>
            </a:r>
            <a:r>
              <a:rPr lang="en-US" dirty="0"/>
              <a:t> before using the fill handle to help Excel determine the series order. </a:t>
            </a:r>
          </a:p>
          <a:p>
            <a:pPr algn="just" fontAlgn="base"/>
            <a:endParaRPr lang="en-US" dirty="0"/>
          </a:p>
          <a:p>
            <a:pPr algn="just" fontAlgn="base"/>
            <a:r>
              <a:rPr lang="en-US" dirty="0"/>
              <a:t>Let's take a look at an example:</a:t>
            </a:r>
            <a:endParaRPr lang="en-US" dirty="0">
              <a:solidFill>
                <a:srgbClr val="4E4E4E"/>
              </a:solidFill>
              <a:latin typeface="Source Sans Pro" panose="020B0503030403020204" pitchFamily="34" charset="0"/>
            </a:endParaRPr>
          </a:p>
        </p:txBody>
      </p:sp>
    </p:spTree>
    <p:extLst>
      <p:ext uri="{BB962C8B-B14F-4D97-AF65-F5344CB8AC3E}">
        <p14:creationId xmlns:p14="http://schemas.microsoft.com/office/powerpoint/2010/main" val="194988528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continue a series with the fill handle</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fontAlgn="base"/>
            <a:r>
              <a:rPr lang="en-US" dirty="0"/>
              <a:t>Select the cell range that contains the series you want to continue. </a:t>
            </a:r>
          </a:p>
          <a:p>
            <a:pPr fontAlgn="base"/>
            <a:r>
              <a:rPr lang="en-US" dirty="0"/>
              <a:t>In our example, we'll select</a:t>
            </a:r>
            <a:r>
              <a:rPr lang="en-US" b="1" dirty="0"/>
              <a:t> E4:G4</a:t>
            </a:r>
            <a:r>
              <a:rPr lang="en-US" dirty="0"/>
              <a:t>.</a:t>
            </a:r>
          </a:p>
          <a:p>
            <a:pPr fontAlgn="base"/>
            <a:r>
              <a:rPr lang="en-US" dirty="0"/>
              <a:t>Click and drag the fill handle to continue the series.</a:t>
            </a:r>
          </a:p>
          <a:p>
            <a:pPr algn="just" fontAlgn="base"/>
            <a:endParaRPr lang="en-US" dirty="0">
              <a:solidFill>
                <a:srgbClr val="4E4E4E"/>
              </a:solidFill>
              <a:latin typeface="Source Sans Pro" panose="020B0503030403020204" pitchFamily="34" charset="0"/>
            </a:endParaRPr>
          </a:p>
        </p:txBody>
      </p:sp>
      <p:pic>
        <p:nvPicPr>
          <p:cNvPr id="5" name="Picture 4">
            <a:extLst>
              <a:ext uri="{FF2B5EF4-FFF2-40B4-BE49-F238E27FC236}">
                <a16:creationId xmlns:a16="http://schemas.microsoft.com/office/drawing/2014/main" id="{977B179D-8D93-4C2B-A212-8E9493104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780928"/>
            <a:ext cx="7467600" cy="4077072"/>
          </a:xfrm>
          <a:prstGeom prst="rect">
            <a:avLst/>
          </a:prstGeom>
        </p:spPr>
      </p:pic>
    </p:spTree>
    <p:extLst>
      <p:ext uri="{BB962C8B-B14F-4D97-AF65-F5344CB8AC3E}">
        <p14:creationId xmlns:p14="http://schemas.microsoft.com/office/powerpoint/2010/main" val="317054565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continue a series with the fill handle</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fontAlgn="base"/>
            <a:r>
              <a:rPr lang="en-US" dirty="0"/>
              <a:t>Release the mouse. If Excel understood the series, it will be continued in the selected cells. </a:t>
            </a:r>
          </a:p>
          <a:p>
            <a:pPr fontAlgn="base"/>
            <a:r>
              <a:rPr lang="en-US" dirty="0"/>
              <a:t>In our example, Excel added </a:t>
            </a:r>
            <a:r>
              <a:rPr lang="en-US" b="1" dirty="0"/>
              <a:t>Part 4</a:t>
            </a:r>
            <a:r>
              <a:rPr lang="en-US" dirty="0"/>
              <a:t>, </a:t>
            </a:r>
            <a:r>
              <a:rPr lang="en-US" b="1" dirty="0"/>
              <a:t>Part 5</a:t>
            </a:r>
            <a:r>
              <a:rPr lang="en-US" dirty="0"/>
              <a:t>, and </a:t>
            </a:r>
            <a:r>
              <a:rPr lang="en-US" b="1" dirty="0"/>
              <a:t>Part 6</a:t>
            </a:r>
            <a:r>
              <a:rPr lang="en-US" dirty="0"/>
              <a:t> to </a:t>
            </a:r>
            <a:r>
              <a:rPr lang="en-US" b="1" dirty="0"/>
              <a:t>H4:J4</a:t>
            </a:r>
            <a:r>
              <a:rPr lang="en-US" dirty="0"/>
              <a:t>.</a:t>
            </a:r>
            <a:br>
              <a:rPr lang="en-US" dirty="0"/>
            </a:br>
            <a:endParaRPr lang="en-US" dirty="0">
              <a:solidFill>
                <a:srgbClr val="4E4E4E"/>
              </a:solidFill>
              <a:latin typeface="Source Sans Pro" panose="020B0503030403020204" pitchFamily="34" charset="0"/>
            </a:endParaRPr>
          </a:p>
        </p:txBody>
      </p:sp>
      <p:pic>
        <p:nvPicPr>
          <p:cNvPr id="6" name="Picture 5">
            <a:extLst>
              <a:ext uri="{FF2B5EF4-FFF2-40B4-BE49-F238E27FC236}">
                <a16:creationId xmlns:a16="http://schemas.microsoft.com/office/drawing/2014/main" id="{5F8D30ED-A4EB-40B8-8BD2-B78A03F2D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424" y="2564904"/>
            <a:ext cx="8285287" cy="4293096"/>
          </a:xfrm>
          <a:prstGeom prst="rect">
            <a:avLst/>
          </a:prstGeom>
        </p:spPr>
      </p:pic>
    </p:spTree>
    <p:extLst>
      <p:ext uri="{BB962C8B-B14F-4D97-AF65-F5344CB8AC3E}">
        <p14:creationId xmlns:p14="http://schemas.microsoft.com/office/powerpoint/2010/main" val="322621660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Excel - Modifying Columns, Rows, and Cells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By default, every row and column of a new workbook is set to the same </a:t>
            </a:r>
            <a:r>
              <a:rPr lang="en-US" b="1" dirty="0"/>
              <a:t>height </a:t>
            </a:r>
            <a:r>
              <a:rPr lang="en-US" dirty="0"/>
              <a:t>and</a:t>
            </a:r>
            <a:r>
              <a:rPr lang="en-US" b="1" dirty="0"/>
              <a:t> width</a:t>
            </a:r>
            <a:r>
              <a:rPr lang="en-US" dirty="0"/>
              <a:t>.</a:t>
            </a:r>
          </a:p>
          <a:p>
            <a:pPr algn="just" fontAlgn="base"/>
            <a:endParaRPr lang="en-US" dirty="0"/>
          </a:p>
          <a:p>
            <a:pPr algn="just" fontAlgn="base"/>
            <a:endParaRPr lang="en-US" dirty="0"/>
          </a:p>
          <a:p>
            <a:pPr algn="just" fontAlgn="base"/>
            <a:r>
              <a:rPr lang="en-US" dirty="0"/>
              <a:t>Excel allows you to modify column width and row height in different ways, including </a:t>
            </a:r>
            <a:r>
              <a:rPr lang="en-US" b="1" dirty="0"/>
              <a:t>wrapping text</a:t>
            </a:r>
            <a:r>
              <a:rPr lang="en-US" dirty="0"/>
              <a:t> and</a:t>
            </a:r>
            <a:r>
              <a:rPr lang="en-US" b="1" dirty="0"/>
              <a:t> merging cells</a:t>
            </a:r>
            <a:r>
              <a:rPr lang="en-US" dirty="0"/>
              <a:t>.</a:t>
            </a:r>
            <a:endParaRPr lang="en-US" dirty="0">
              <a:solidFill>
                <a:srgbClr val="4E4E4E"/>
              </a:solidFill>
              <a:latin typeface="Source Sans Pro" panose="020B0503030403020204" pitchFamily="34" charset="0"/>
            </a:endParaRPr>
          </a:p>
        </p:txBody>
      </p:sp>
    </p:spTree>
    <p:extLst>
      <p:ext uri="{BB962C8B-B14F-4D97-AF65-F5344CB8AC3E}">
        <p14:creationId xmlns:p14="http://schemas.microsoft.com/office/powerpoint/2010/main" val="62355232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column width</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In our example below, column C is too narrow to display all of the content in these cells. We can make all of this content visible by changing the </a:t>
            </a:r>
            <a:r>
              <a:rPr lang="en-US" b="1" dirty="0"/>
              <a:t>width</a:t>
            </a:r>
            <a:r>
              <a:rPr lang="en-US" dirty="0"/>
              <a:t> of column C.</a:t>
            </a:r>
          </a:p>
          <a:p>
            <a:pPr algn="just" fontAlgn="base"/>
            <a:r>
              <a:rPr lang="en-US" dirty="0"/>
              <a:t>Position the mouse over the </a:t>
            </a:r>
            <a:r>
              <a:rPr lang="en-US" b="1" dirty="0"/>
              <a:t>column line </a:t>
            </a:r>
            <a:r>
              <a:rPr lang="en-US" dirty="0"/>
              <a:t>in the </a:t>
            </a:r>
            <a:r>
              <a:rPr lang="en-US" b="1" dirty="0"/>
              <a:t>column heading </a:t>
            </a:r>
            <a:r>
              <a:rPr lang="en-US" dirty="0"/>
              <a:t>so the cursor becomes a </a:t>
            </a:r>
            <a:r>
              <a:rPr lang="en-US" b="1" dirty="0"/>
              <a:t>double arrow</a:t>
            </a:r>
            <a:r>
              <a:rPr lang="en-US" dirty="0"/>
              <a:t>.</a:t>
            </a:r>
          </a:p>
        </p:txBody>
      </p:sp>
      <p:pic>
        <p:nvPicPr>
          <p:cNvPr id="5" name="Picture 4">
            <a:extLst>
              <a:ext uri="{FF2B5EF4-FFF2-40B4-BE49-F238E27FC236}">
                <a16:creationId xmlns:a16="http://schemas.microsoft.com/office/drawing/2014/main" id="{0BD0E1B2-48C8-482D-AE13-17DB8DABE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3717032"/>
            <a:ext cx="7010400" cy="3140968"/>
          </a:xfrm>
          <a:prstGeom prst="rect">
            <a:avLst/>
          </a:prstGeom>
        </p:spPr>
      </p:pic>
    </p:spTree>
    <p:extLst>
      <p:ext uri="{BB962C8B-B14F-4D97-AF65-F5344CB8AC3E}">
        <p14:creationId xmlns:p14="http://schemas.microsoft.com/office/powerpoint/2010/main" val="393456372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column width</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and drag the mouse to </a:t>
            </a:r>
            <a:r>
              <a:rPr lang="en-US" b="1" dirty="0"/>
              <a:t>increase</a:t>
            </a:r>
            <a:r>
              <a:rPr lang="en-US" dirty="0"/>
              <a:t> or </a:t>
            </a:r>
            <a:r>
              <a:rPr lang="en-US" b="1" dirty="0"/>
              <a:t>decrease</a:t>
            </a:r>
            <a:r>
              <a:rPr lang="en-US" dirty="0"/>
              <a:t> the column width.</a:t>
            </a:r>
          </a:p>
        </p:txBody>
      </p:sp>
      <p:pic>
        <p:nvPicPr>
          <p:cNvPr id="6" name="Picture 5">
            <a:extLst>
              <a:ext uri="{FF2B5EF4-FFF2-40B4-BE49-F238E27FC236}">
                <a16:creationId xmlns:a16="http://schemas.microsoft.com/office/drawing/2014/main" id="{9C527BE7-A66A-4405-B0F4-C28D9A96D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912" y="1628800"/>
            <a:ext cx="7496175" cy="4392488"/>
          </a:xfrm>
          <a:prstGeom prst="rect">
            <a:avLst/>
          </a:prstGeom>
        </p:spPr>
      </p:pic>
    </p:spTree>
    <p:extLst>
      <p:ext uri="{BB962C8B-B14F-4D97-AF65-F5344CB8AC3E}">
        <p14:creationId xmlns:p14="http://schemas.microsoft.com/office/powerpoint/2010/main" val="317252587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column width</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Release the mouse. The </a:t>
            </a:r>
            <a:r>
              <a:rPr lang="en-US" b="1" dirty="0"/>
              <a:t>column width </a:t>
            </a:r>
            <a:r>
              <a:rPr lang="en-US" dirty="0"/>
              <a:t>will be changed.</a:t>
            </a:r>
          </a:p>
        </p:txBody>
      </p:sp>
      <p:pic>
        <p:nvPicPr>
          <p:cNvPr id="5" name="Picture 4">
            <a:extLst>
              <a:ext uri="{FF2B5EF4-FFF2-40B4-BE49-F238E27FC236}">
                <a16:creationId xmlns:a16="http://schemas.microsoft.com/office/drawing/2014/main" id="{447564A7-9ED6-47E5-BB17-C8F2CDD555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75" y="1556792"/>
            <a:ext cx="8705850" cy="4392488"/>
          </a:xfrm>
          <a:prstGeom prst="rect">
            <a:avLst/>
          </a:prstGeom>
        </p:spPr>
      </p:pic>
    </p:spTree>
    <p:extLst>
      <p:ext uri="{BB962C8B-B14F-4D97-AF65-F5344CB8AC3E}">
        <p14:creationId xmlns:p14="http://schemas.microsoft.com/office/powerpoint/2010/main" val="903877505"/>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AutoFit column width</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The </a:t>
            </a:r>
            <a:r>
              <a:rPr lang="en-US" b="1" dirty="0"/>
              <a:t>AutoFit</a:t>
            </a:r>
            <a:r>
              <a:rPr lang="en-US" dirty="0"/>
              <a:t> feature will allow you to set a column's width to fit its content </a:t>
            </a:r>
            <a:r>
              <a:rPr lang="en-US" b="1" dirty="0"/>
              <a:t>automatically</a:t>
            </a:r>
            <a:r>
              <a:rPr lang="en-US" dirty="0"/>
              <a:t>.</a:t>
            </a:r>
          </a:p>
          <a:p>
            <a:pPr algn="just" fontAlgn="base"/>
            <a:r>
              <a:rPr lang="en-US" dirty="0"/>
              <a:t>Position the mouse over the </a:t>
            </a:r>
            <a:r>
              <a:rPr lang="en-US" b="1" dirty="0"/>
              <a:t>column line </a:t>
            </a:r>
            <a:r>
              <a:rPr lang="en-US" dirty="0"/>
              <a:t>in the </a:t>
            </a:r>
            <a:r>
              <a:rPr lang="en-US" b="1" dirty="0"/>
              <a:t>column heading </a:t>
            </a:r>
            <a:r>
              <a:rPr lang="en-US" dirty="0"/>
              <a:t>so the cursor becomes a </a:t>
            </a:r>
            <a:r>
              <a:rPr lang="en-US" b="1" dirty="0"/>
              <a:t>double arrow</a:t>
            </a:r>
            <a:r>
              <a:rPr lang="en-US" dirty="0"/>
              <a:t>.</a:t>
            </a:r>
          </a:p>
        </p:txBody>
      </p:sp>
      <p:pic>
        <p:nvPicPr>
          <p:cNvPr id="6" name="Picture 5">
            <a:extLst>
              <a:ext uri="{FF2B5EF4-FFF2-40B4-BE49-F238E27FC236}">
                <a16:creationId xmlns:a16="http://schemas.microsoft.com/office/drawing/2014/main" id="{FD460DC6-2235-4CB5-BEED-2E8B28E9A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787" y="2924944"/>
            <a:ext cx="8734425" cy="3933056"/>
          </a:xfrm>
          <a:prstGeom prst="rect">
            <a:avLst/>
          </a:prstGeom>
        </p:spPr>
      </p:pic>
    </p:spTree>
    <p:extLst>
      <p:ext uri="{BB962C8B-B14F-4D97-AF65-F5344CB8AC3E}">
        <p14:creationId xmlns:p14="http://schemas.microsoft.com/office/powerpoint/2010/main" val="2432612362"/>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AutoFit column width</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Double-click the mouse. The </a:t>
            </a:r>
            <a:r>
              <a:rPr lang="en-US" b="1" dirty="0"/>
              <a:t>column width</a:t>
            </a:r>
            <a:r>
              <a:rPr lang="en-US" dirty="0"/>
              <a:t> will be changed automatically to fit the content.</a:t>
            </a:r>
          </a:p>
        </p:txBody>
      </p:sp>
      <p:pic>
        <p:nvPicPr>
          <p:cNvPr id="5" name="Picture 4">
            <a:extLst>
              <a:ext uri="{FF2B5EF4-FFF2-40B4-BE49-F238E27FC236}">
                <a16:creationId xmlns:a16="http://schemas.microsoft.com/office/drawing/2014/main" id="{0A82D445-8F08-4F01-A15E-5BA87C230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1700807"/>
            <a:ext cx="8458200" cy="4824537"/>
          </a:xfrm>
          <a:prstGeom prst="rect">
            <a:avLst/>
          </a:prstGeom>
        </p:spPr>
      </p:pic>
    </p:spTree>
    <p:extLst>
      <p:ext uri="{BB962C8B-B14F-4D97-AF65-F5344CB8AC3E}">
        <p14:creationId xmlns:p14="http://schemas.microsoft.com/office/powerpoint/2010/main" val="3261035998"/>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row height</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Position the </a:t>
            </a:r>
            <a:r>
              <a:rPr lang="en-US" b="1" dirty="0"/>
              <a:t>cursor</a:t>
            </a:r>
            <a:r>
              <a:rPr lang="en-US" dirty="0"/>
              <a:t> over the </a:t>
            </a:r>
            <a:r>
              <a:rPr lang="en-US" b="1" dirty="0"/>
              <a:t>row line </a:t>
            </a:r>
            <a:r>
              <a:rPr lang="en-US" dirty="0"/>
              <a:t>so the cursor becomes a </a:t>
            </a:r>
            <a:r>
              <a:rPr lang="en-US" b="1" dirty="0"/>
              <a:t>double arrow</a:t>
            </a:r>
            <a:r>
              <a:rPr lang="en-US" dirty="0"/>
              <a:t>.</a:t>
            </a:r>
          </a:p>
        </p:txBody>
      </p:sp>
      <p:pic>
        <p:nvPicPr>
          <p:cNvPr id="6" name="Picture 5">
            <a:extLst>
              <a:ext uri="{FF2B5EF4-FFF2-40B4-BE49-F238E27FC236}">
                <a16:creationId xmlns:a16="http://schemas.microsoft.com/office/drawing/2014/main" id="{72481F0B-24C2-47BF-B13D-C81E8CA44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2057400"/>
            <a:ext cx="7776863" cy="4467944"/>
          </a:xfrm>
          <a:prstGeom prst="rect">
            <a:avLst/>
          </a:prstGeom>
        </p:spPr>
      </p:pic>
    </p:spTree>
    <p:extLst>
      <p:ext uri="{BB962C8B-B14F-4D97-AF65-F5344CB8AC3E}">
        <p14:creationId xmlns:p14="http://schemas.microsoft.com/office/powerpoint/2010/main" val="387796122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row height</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and drag the mouse to </a:t>
            </a:r>
            <a:r>
              <a:rPr lang="en-US" b="1" dirty="0"/>
              <a:t>increase</a:t>
            </a:r>
            <a:r>
              <a:rPr lang="en-US" dirty="0"/>
              <a:t> or </a:t>
            </a:r>
            <a:r>
              <a:rPr lang="en-US" b="1" dirty="0"/>
              <a:t>decrease</a:t>
            </a:r>
            <a:r>
              <a:rPr lang="en-US" dirty="0"/>
              <a:t> the row height.</a:t>
            </a:r>
          </a:p>
        </p:txBody>
      </p:sp>
      <p:pic>
        <p:nvPicPr>
          <p:cNvPr id="5" name="Picture 4">
            <a:extLst>
              <a:ext uri="{FF2B5EF4-FFF2-40B4-BE49-F238E27FC236}">
                <a16:creationId xmlns:a16="http://schemas.microsoft.com/office/drawing/2014/main" id="{4AF65E6D-113A-4733-8DFE-05B825774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772816"/>
            <a:ext cx="7632847" cy="3600400"/>
          </a:xfrm>
          <a:prstGeom prst="rect">
            <a:avLst/>
          </a:prstGeom>
        </p:spPr>
      </p:pic>
    </p:spTree>
    <p:extLst>
      <p:ext uri="{BB962C8B-B14F-4D97-AF65-F5344CB8AC3E}">
        <p14:creationId xmlns:p14="http://schemas.microsoft.com/office/powerpoint/2010/main" val="413659982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row height</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Release the mouse. The </a:t>
            </a:r>
            <a:r>
              <a:rPr lang="en-US" b="1" dirty="0"/>
              <a:t>height</a:t>
            </a:r>
            <a:r>
              <a:rPr lang="en-US" dirty="0"/>
              <a:t> of the selected row will be changed.</a:t>
            </a:r>
          </a:p>
        </p:txBody>
      </p:sp>
      <p:pic>
        <p:nvPicPr>
          <p:cNvPr id="6" name="Picture 5">
            <a:extLst>
              <a:ext uri="{FF2B5EF4-FFF2-40B4-BE49-F238E27FC236}">
                <a16:creationId xmlns:a16="http://schemas.microsoft.com/office/drawing/2014/main" id="{814CB4CF-C104-40BD-92F0-A532A402F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484784"/>
            <a:ext cx="7776863" cy="4248472"/>
          </a:xfrm>
          <a:prstGeom prst="rect">
            <a:avLst/>
          </a:prstGeom>
        </p:spPr>
      </p:pic>
    </p:spTree>
    <p:extLst>
      <p:ext uri="{BB962C8B-B14F-4D97-AF65-F5344CB8AC3E}">
        <p14:creationId xmlns:p14="http://schemas.microsoft.com/office/powerpoint/2010/main" val="46206445"/>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all rows or columns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Instead of resizing rows and columns individually, you can modify the height and width of every row and column at the same time. </a:t>
            </a:r>
          </a:p>
          <a:p>
            <a:pPr algn="just" fontAlgn="base"/>
            <a:endParaRPr lang="en-US" dirty="0"/>
          </a:p>
          <a:p>
            <a:pPr algn="just" fontAlgn="base"/>
            <a:r>
              <a:rPr lang="en-US" dirty="0"/>
              <a:t>This method allows you to set a </a:t>
            </a:r>
            <a:r>
              <a:rPr lang="en-US" b="1" dirty="0"/>
              <a:t>uniform size </a:t>
            </a:r>
            <a:r>
              <a:rPr lang="en-US" dirty="0"/>
              <a:t>for every row and column in your worksheet. </a:t>
            </a:r>
          </a:p>
          <a:p>
            <a:pPr algn="just" fontAlgn="base"/>
            <a:endParaRPr lang="en-US" dirty="0"/>
          </a:p>
          <a:p>
            <a:pPr algn="just" fontAlgn="base"/>
            <a:r>
              <a:rPr lang="en-US" dirty="0"/>
              <a:t>In our example, we will set a </a:t>
            </a:r>
            <a:r>
              <a:rPr lang="en-US" b="1" dirty="0"/>
              <a:t>uniform row height</a:t>
            </a:r>
            <a:r>
              <a:rPr lang="en-US" dirty="0"/>
              <a:t>.</a:t>
            </a:r>
          </a:p>
        </p:txBody>
      </p:sp>
    </p:spTree>
    <p:extLst>
      <p:ext uri="{BB962C8B-B14F-4D97-AF65-F5344CB8AC3E}">
        <p14:creationId xmlns:p14="http://schemas.microsoft.com/office/powerpoint/2010/main" val="47252648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all rows or columns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Locate and click the </a:t>
            </a:r>
            <a:r>
              <a:rPr lang="en-US" b="1" dirty="0"/>
              <a:t>Select All </a:t>
            </a:r>
            <a:r>
              <a:rPr lang="en-US" dirty="0"/>
              <a:t>button just below the</a:t>
            </a:r>
            <a:r>
              <a:rPr lang="en-US" b="1" dirty="0"/>
              <a:t> name box</a:t>
            </a:r>
            <a:r>
              <a:rPr lang="en-US" dirty="0"/>
              <a:t> to select every cell in the worksheet.</a:t>
            </a:r>
          </a:p>
        </p:txBody>
      </p:sp>
      <p:pic>
        <p:nvPicPr>
          <p:cNvPr id="5" name="Picture 4">
            <a:extLst>
              <a:ext uri="{FF2B5EF4-FFF2-40B4-BE49-F238E27FC236}">
                <a16:creationId xmlns:a16="http://schemas.microsoft.com/office/drawing/2014/main" id="{9B9F5348-C84B-47DC-93E4-F80506EC73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962" y="1772816"/>
            <a:ext cx="7458075" cy="4248472"/>
          </a:xfrm>
          <a:prstGeom prst="rect">
            <a:avLst/>
          </a:prstGeom>
        </p:spPr>
      </p:pic>
    </p:spTree>
    <p:extLst>
      <p:ext uri="{BB962C8B-B14F-4D97-AF65-F5344CB8AC3E}">
        <p14:creationId xmlns:p14="http://schemas.microsoft.com/office/powerpoint/2010/main" val="13154405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rmAutofit fontScale="90000"/>
          </a:bodyPr>
          <a:lstStyle/>
          <a:p>
            <a:pPr algn="ctr"/>
            <a:r>
              <a:rPr lang="en-US" dirty="0"/>
              <a:t>To modify all rows or columns</a:t>
            </a:r>
            <a:endParaRPr lang="en-GB"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Position the mouse over a </a:t>
            </a:r>
            <a:r>
              <a:rPr lang="en-US" b="1" dirty="0"/>
              <a:t>row line </a:t>
            </a:r>
            <a:r>
              <a:rPr lang="en-US" dirty="0"/>
              <a:t>so the cursor becomes a </a:t>
            </a:r>
            <a:r>
              <a:rPr lang="en-US" b="1" dirty="0"/>
              <a:t>double arrow</a:t>
            </a:r>
            <a:r>
              <a:rPr lang="en-US" dirty="0"/>
              <a:t>.</a:t>
            </a:r>
          </a:p>
          <a:p>
            <a:pPr algn="just" fontAlgn="base"/>
            <a:r>
              <a:rPr lang="en-US" dirty="0"/>
              <a:t>Click and drag the mouse to </a:t>
            </a:r>
            <a:r>
              <a:rPr lang="en-US" b="1" dirty="0"/>
              <a:t>increase</a:t>
            </a:r>
            <a:r>
              <a:rPr lang="en-US" dirty="0"/>
              <a:t> or </a:t>
            </a:r>
            <a:r>
              <a:rPr lang="en-US" b="1" dirty="0"/>
              <a:t>decrease</a:t>
            </a:r>
            <a:r>
              <a:rPr lang="en-US" dirty="0"/>
              <a:t> the row height, then release the mouse when you are satisfied. The row height will be changed for the entire worksheet.</a:t>
            </a:r>
          </a:p>
        </p:txBody>
      </p:sp>
      <p:pic>
        <p:nvPicPr>
          <p:cNvPr id="6" name="Picture 5">
            <a:extLst>
              <a:ext uri="{FF2B5EF4-FFF2-40B4-BE49-F238E27FC236}">
                <a16:creationId xmlns:a16="http://schemas.microsoft.com/office/drawing/2014/main" id="{27F20AFC-708F-4D42-BD62-32C5D77A80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0" y="3429000"/>
            <a:ext cx="7429500" cy="3429000"/>
          </a:xfrm>
          <a:prstGeom prst="rect">
            <a:avLst/>
          </a:prstGeom>
        </p:spPr>
      </p:pic>
    </p:spTree>
    <p:extLst>
      <p:ext uri="{BB962C8B-B14F-4D97-AF65-F5344CB8AC3E}">
        <p14:creationId xmlns:p14="http://schemas.microsoft.com/office/powerpoint/2010/main" val="1558220818"/>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Inserting, deleting, moving, and hiding rows and columns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endParaRPr lang="en-US" dirty="0"/>
          </a:p>
          <a:p>
            <a:pPr algn="just" fontAlgn="base"/>
            <a:r>
              <a:rPr lang="en-US" dirty="0"/>
              <a:t>After you've been working with a workbook for a while, you may find that you want to </a:t>
            </a:r>
            <a:r>
              <a:rPr lang="en-US" b="1" dirty="0"/>
              <a:t>insert new </a:t>
            </a:r>
            <a:r>
              <a:rPr lang="en-US" dirty="0"/>
              <a:t>columns or rows, </a:t>
            </a:r>
            <a:r>
              <a:rPr lang="en-US" b="1" dirty="0"/>
              <a:t>delete</a:t>
            </a:r>
            <a:r>
              <a:rPr lang="en-US" dirty="0"/>
              <a:t> certain rows or columns, </a:t>
            </a:r>
            <a:r>
              <a:rPr lang="en-US" b="1" dirty="0"/>
              <a:t>move</a:t>
            </a:r>
            <a:r>
              <a:rPr lang="en-US" dirty="0"/>
              <a:t> them to a different location in the worksheet, or even </a:t>
            </a:r>
            <a:r>
              <a:rPr lang="en-US" b="1" dirty="0"/>
              <a:t>hide</a:t>
            </a:r>
            <a:r>
              <a:rPr lang="en-US" dirty="0"/>
              <a:t> them.</a:t>
            </a:r>
          </a:p>
        </p:txBody>
      </p:sp>
    </p:spTree>
    <p:extLst>
      <p:ext uri="{BB962C8B-B14F-4D97-AF65-F5344CB8AC3E}">
        <p14:creationId xmlns:p14="http://schemas.microsoft.com/office/powerpoint/2010/main" val="2580063957"/>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insert rows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Select the </a:t>
            </a:r>
            <a:r>
              <a:rPr lang="en-US" b="1" dirty="0"/>
              <a:t>row</a:t>
            </a:r>
            <a:r>
              <a:rPr lang="en-US" dirty="0"/>
              <a:t> </a:t>
            </a:r>
            <a:r>
              <a:rPr lang="en-US" b="1" dirty="0"/>
              <a:t>heading</a:t>
            </a:r>
            <a:r>
              <a:rPr lang="en-US" dirty="0"/>
              <a:t> below where you want the new row to appear. In this example, we want to insert a row between rows 4 and 5, so we'll select </a:t>
            </a:r>
            <a:r>
              <a:rPr lang="en-US" b="1" dirty="0"/>
              <a:t>row 5</a:t>
            </a:r>
            <a:r>
              <a:rPr lang="en-US" dirty="0"/>
              <a:t>.</a:t>
            </a:r>
          </a:p>
        </p:txBody>
      </p:sp>
      <p:pic>
        <p:nvPicPr>
          <p:cNvPr id="5" name="Picture 4">
            <a:extLst>
              <a:ext uri="{FF2B5EF4-FFF2-40B4-BE49-F238E27FC236}">
                <a16:creationId xmlns:a16="http://schemas.microsoft.com/office/drawing/2014/main" id="{58A3AF7B-440A-4A45-B112-099306B48F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2348880"/>
            <a:ext cx="7776864" cy="4176464"/>
          </a:xfrm>
          <a:prstGeom prst="rect">
            <a:avLst/>
          </a:prstGeom>
        </p:spPr>
      </p:pic>
    </p:spTree>
    <p:extLst>
      <p:ext uri="{BB962C8B-B14F-4D97-AF65-F5344CB8AC3E}">
        <p14:creationId xmlns:p14="http://schemas.microsoft.com/office/powerpoint/2010/main" val="3207626667"/>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insert rows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the </a:t>
            </a:r>
            <a:r>
              <a:rPr lang="en-US" b="1" dirty="0"/>
              <a:t>Insert</a:t>
            </a:r>
            <a:r>
              <a:rPr lang="en-US" dirty="0"/>
              <a:t> command on the </a:t>
            </a:r>
            <a:r>
              <a:rPr lang="en-US" b="1" dirty="0"/>
              <a:t>Home</a:t>
            </a:r>
            <a:r>
              <a:rPr lang="en-US" dirty="0"/>
              <a:t> tab.</a:t>
            </a:r>
          </a:p>
          <a:p>
            <a:pPr algn="just" fontAlgn="base"/>
            <a:endParaRPr lang="en-US" dirty="0"/>
          </a:p>
          <a:p>
            <a:pPr algn="just" fontAlgn="base"/>
            <a:endParaRPr lang="en-US" dirty="0"/>
          </a:p>
          <a:p>
            <a:pPr algn="just" fontAlgn="base"/>
            <a:endParaRPr lang="en-US" dirty="0"/>
          </a:p>
          <a:p>
            <a:pPr algn="just" fontAlgn="base"/>
            <a:endParaRPr lang="en-US" dirty="0"/>
          </a:p>
          <a:p>
            <a:pPr algn="just" fontAlgn="base"/>
            <a:r>
              <a:rPr lang="en-US" dirty="0"/>
              <a:t>The new row will appear above the selected row.</a:t>
            </a:r>
          </a:p>
        </p:txBody>
      </p:sp>
      <p:pic>
        <p:nvPicPr>
          <p:cNvPr id="6" name="Picture 5">
            <a:extLst>
              <a:ext uri="{FF2B5EF4-FFF2-40B4-BE49-F238E27FC236}">
                <a16:creationId xmlns:a16="http://schemas.microsoft.com/office/drawing/2014/main" id="{9D74B15D-D802-4AB3-BED0-466CDA6AEE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1268760"/>
            <a:ext cx="6192688" cy="1944216"/>
          </a:xfrm>
          <a:prstGeom prst="rect">
            <a:avLst/>
          </a:prstGeom>
        </p:spPr>
      </p:pic>
      <p:pic>
        <p:nvPicPr>
          <p:cNvPr id="8" name="Picture 7">
            <a:extLst>
              <a:ext uri="{FF2B5EF4-FFF2-40B4-BE49-F238E27FC236}">
                <a16:creationId xmlns:a16="http://schemas.microsoft.com/office/drawing/2014/main" id="{2437372C-7B31-49EF-A416-51DAE6B66A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1575" y="3789040"/>
            <a:ext cx="6800850" cy="3068960"/>
          </a:xfrm>
          <a:prstGeom prst="rect">
            <a:avLst/>
          </a:prstGeom>
        </p:spPr>
      </p:pic>
    </p:spTree>
    <p:extLst>
      <p:ext uri="{BB962C8B-B14F-4D97-AF65-F5344CB8AC3E}">
        <p14:creationId xmlns:p14="http://schemas.microsoft.com/office/powerpoint/2010/main" val="312694551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insert rows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When inserting new rows, columns, or cells, you will see a paintbrush icon next to the inserted cells. This button allows you to choose how Excel formats these cells. By default, Excel formats inserted rows with the same formatting as the cells in the row above. To access additional options, hover your mouse over the icon, then click the drop-down arrow.</a:t>
            </a:r>
          </a:p>
          <a:p>
            <a:pPr algn="just" fontAlgn="base"/>
            <a:endParaRPr lang="en-US" dirty="0"/>
          </a:p>
        </p:txBody>
      </p:sp>
      <p:pic>
        <p:nvPicPr>
          <p:cNvPr id="5" name="Picture 4">
            <a:extLst>
              <a:ext uri="{FF2B5EF4-FFF2-40B4-BE49-F238E27FC236}">
                <a16:creationId xmlns:a16="http://schemas.microsoft.com/office/drawing/2014/main" id="{35268D81-723D-474D-8E94-A4B4E3F70F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7904" y="4221088"/>
            <a:ext cx="3960440" cy="2520280"/>
          </a:xfrm>
          <a:prstGeom prst="rect">
            <a:avLst/>
          </a:prstGeom>
        </p:spPr>
      </p:pic>
    </p:spTree>
    <p:extLst>
      <p:ext uri="{BB962C8B-B14F-4D97-AF65-F5344CB8AC3E}">
        <p14:creationId xmlns:p14="http://schemas.microsoft.com/office/powerpoint/2010/main" val="4292315471"/>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insert columns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Select the </a:t>
            </a:r>
            <a:r>
              <a:rPr lang="en-US" b="1" dirty="0"/>
              <a:t>column heading </a:t>
            </a:r>
            <a:r>
              <a:rPr lang="en-US" dirty="0"/>
              <a:t>to the right of where you want the new column to appear. For example, if you want to insert a column between columns D and E, select </a:t>
            </a:r>
            <a:r>
              <a:rPr lang="en-US" b="1" dirty="0"/>
              <a:t>column E</a:t>
            </a:r>
            <a:r>
              <a:rPr lang="en-US" dirty="0"/>
              <a:t>.</a:t>
            </a:r>
          </a:p>
        </p:txBody>
      </p:sp>
      <p:pic>
        <p:nvPicPr>
          <p:cNvPr id="6" name="Picture 5">
            <a:extLst>
              <a:ext uri="{FF2B5EF4-FFF2-40B4-BE49-F238E27FC236}">
                <a16:creationId xmlns:a16="http://schemas.microsoft.com/office/drawing/2014/main" id="{1FF8C2A8-88C2-4EE7-BADF-EF9F29990F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8349" y="2420888"/>
            <a:ext cx="5287987" cy="3888432"/>
          </a:xfrm>
          <a:prstGeom prst="rect">
            <a:avLst/>
          </a:prstGeom>
        </p:spPr>
      </p:pic>
    </p:spTree>
    <p:extLst>
      <p:ext uri="{BB962C8B-B14F-4D97-AF65-F5344CB8AC3E}">
        <p14:creationId xmlns:p14="http://schemas.microsoft.com/office/powerpoint/2010/main" val="2027002766"/>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insert columns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the </a:t>
            </a:r>
            <a:r>
              <a:rPr lang="en-US" b="1" dirty="0"/>
              <a:t>Insert </a:t>
            </a:r>
            <a:r>
              <a:rPr lang="en-US" dirty="0"/>
              <a:t>command on the </a:t>
            </a:r>
            <a:r>
              <a:rPr lang="en-US" b="1" dirty="0"/>
              <a:t>Home</a:t>
            </a:r>
            <a:r>
              <a:rPr lang="en-US" dirty="0"/>
              <a:t> tab.</a:t>
            </a:r>
          </a:p>
          <a:p>
            <a:pPr algn="just" fontAlgn="base"/>
            <a:endParaRPr lang="en-US" dirty="0"/>
          </a:p>
          <a:p>
            <a:pPr algn="just" fontAlgn="base"/>
            <a:endParaRPr lang="en-US" dirty="0"/>
          </a:p>
          <a:p>
            <a:pPr algn="just" fontAlgn="base"/>
            <a:endParaRPr lang="en-US" dirty="0"/>
          </a:p>
          <a:p>
            <a:pPr marL="0" indent="0" algn="just" fontAlgn="base">
              <a:buNone/>
            </a:pPr>
            <a:endParaRPr lang="en-US" dirty="0"/>
          </a:p>
          <a:p>
            <a:pPr marL="0" indent="0" algn="just" fontAlgn="base">
              <a:buNone/>
            </a:pPr>
            <a:endParaRPr lang="en-US" dirty="0"/>
          </a:p>
        </p:txBody>
      </p:sp>
      <p:pic>
        <p:nvPicPr>
          <p:cNvPr id="5" name="Picture 4">
            <a:extLst>
              <a:ext uri="{FF2B5EF4-FFF2-40B4-BE49-F238E27FC236}">
                <a16:creationId xmlns:a16="http://schemas.microsoft.com/office/drawing/2014/main" id="{882AAB24-5CD6-40F7-A927-3387A466D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1025780"/>
            <a:ext cx="5904656" cy="5211532"/>
          </a:xfrm>
          <a:prstGeom prst="rect">
            <a:avLst/>
          </a:prstGeom>
        </p:spPr>
      </p:pic>
    </p:spTree>
    <p:extLst>
      <p:ext uri="{BB962C8B-B14F-4D97-AF65-F5344CB8AC3E}">
        <p14:creationId xmlns:p14="http://schemas.microsoft.com/office/powerpoint/2010/main" val="3586477747"/>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insert columns</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The </a:t>
            </a:r>
            <a:r>
              <a:rPr lang="en-US" b="1" dirty="0"/>
              <a:t>new column</a:t>
            </a:r>
            <a:r>
              <a:rPr lang="en-US" dirty="0"/>
              <a:t> will appear </a:t>
            </a:r>
            <a:r>
              <a:rPr lang="en-US" b="1" dirty="0"/>
              <a:t>to the left </a:t>
            </a:r>
            <a:r>
              <a:rPr lang="en-US" dirty="0"/>
              <a:t>of the selected column.</a:t>
            </a:r>
          </a:p>
        </p:txBody>
      </p:sp>
      <p:pic>
        <p:nvPicPr>
          <p:cNvPr id="6" name="Picture 5">
            <a:extLst>
              <a:ext uri="{FF2B5EF4-FFF2-40B4-BE49-F238E27FC236}">
                <a16:creationId xmlns:a16="http://schemas.microsoft.com/office/drawing/2014/main" id="{DAAC21D4-373D-4E42-B88D-75BC71461D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0762" y="1556792"/>
            <a:ext cx="5377582" cy="4608512"/>
          </a:xfrm>
          <a:prstGeom prst="rect">
            <a:avLst/>
          </a:prstGeom>
        </p:spPr>
      </p:pic>
    </p:spTree>
    <p:extLst>
      <p:ext uri="{BB962C8B-B14F-4D97-AF65-F5344CB8AC3E}">
        <p14:creationId xmlns:p14="http://schemas.microsoft.com/office/powerpoint/2010/main" val="3637963855"/>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delete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It's easy to delete a row or column that you no longer need. In our example we'll delete a row, but you can delete a column the same way.</a:t>
            </a:r>
          </a:p>
          <a:p>
            <a:pPr algn="just" fontAlgn="base"/>
            <a:r>
              <a:rPr lang="en-US" dirty="0"/>
              <a:t>Select the </a:t>
            </a:r>
            <a:r>
              <a:rPr lang="en-US" b="1" dirty="0"/>
              <a:t>row</a:t>
            </a:r>
            <a:r>
              <a:rPr lang="en-US" dirty="0"/>
              <a:t> you want to delete. In our example, we'll select </a:t>
            </a:r>
            <a:r>
              <a:rPr lang="en-US" b="1" dirty="0"/>
              <a:t>row 9</a:t>
            </a:r>
            <a:r>
              <a:rPr lang="en-US" dirty="0"/>
              <a:t>.</a:t>
            </a:r>
          </a:p>
        </p:txBody>
      </p:sp>
      <p:pic>
        <p:nvPicPr>
          <p:cNvPr id="5" name="Picture 4">
            <a:extLst>
              <a:ext uri="{FF2B5EF4-FFF2-40B4-BE49-F238E27FC236}">
                <a16:creationId xmlns:a16="http://schemas.microsoft.com/office/drawing/2014/main" id="{85F34C3F-04F4-4ED7-AA7D-E32919956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449" y="3068960"/>
            <a:ext cx="6791325" cy="3672408"/>
          </a:xfrm>
          <a:prstGeom prst="rect">
            <a:avLst/>
          </a:prstGeom>
        </p:spPr>
      </p:pic>
    </p:spTree>
    <p:extLst>
      <p:ext uri="{BB962C8B-B14F-4D97-AF65-F5344CB8AC3E}">
        <p14:creationId xmlns:p14="http://schemas.microsoft.com/office/powerpoint/2010/main" val="2995052338"/>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delete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the </a:t>
            </a:r>
            <a:r>
              <a:rPr lang="en-US" b="1" dirty="0"/>
              <a:t>Delete</a:t>
            </a:r>
            <a:r>
              <a:rPr lang="en-US" dirty="0"/>
              <a:t> command on the </a:t>
            </a:r>
            <a:r>
              <a:rPr lang="en-US" b="1" dirty="0"/>
              <a:t>Home</a:t>
            </a:r>
            <a:r>
              <a:rPr lang="en-US" dirty="0"/>
              <a:t> tab.</a:t>
            </a:r>
          </a:p>
        </p:txBody>
      </p:sp>
      <p:pic>
        <p:nvPicPr>
          <p:cNvPr id="6" name="Picture 5">
            <a:extLst>
              <a:ext uri="{FF2B5EF4-FFF2-40B4-BE49-F238E27FC236}">
                <a16:creationId xmlns:a16="http://schemas.microsoft.com/office/drawing/2014/main" id="{811A55E1-502A-48B3-B100-1CE189E4A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1340768"/>
            <a:ext cx="7333431" cy="2840707"/>
          </a:xfrm>
          <a:prstGeom prst="rect">
            <a:avLst/>
          </a:prstGeom>
        </p:spPr>
      </p:pic>
    </p:spTree>
    <p:extLst>
      <p:ext uri="{BB962C8B-B14F-4D97-AF65-F5344CB8AC3E}">
        <p14:creationId xmlns:p14="http://schemas.microsoft.com/office/powerpoint/2010/main" val="1900536340"/>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delete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The </a:t>
            </a:r>
            <a:r>
              <a:rPr lang="en-US" b="1" dirty="0"/>
              <a:t>selected row </a:t>
            </a:r>
            <a:r>
              <a:rPr lang="en-US" dirty="0"/>
              <a:t>will be deleted, and those around it will </a:t>
            </a:r>
            <a:r>
              <a:rPr lang="en-US" b="1" dirty="0"/>
              <a:t>shift</a:t>
            </a:r>
            <a:r>
              <a:rPr lang="en-US" dirty="0"/>
              <a:t>. In our example, </a:t>
            </a:r>
            <a:r>
              <a:rPr lang="en-US" b="1" dirty="0"/>
              <a:t>row 10 </a:t>
            </a:r>
            <a:r>
              <a:rPr lang="en-US" dirty="0"/>
              <a:t>has moved up, so it's now </a:t>
            </a:r>
            <a:r>
              <a:rPr lang="en-US" b="1" dirty="0"/>
              <a:t>row 9</a:t>
            </a:r>
            <a:r>
              <a:rPr lang="en-US" dirty="0"/>
              <a:t>.</a:t>
            </a:r>
          </a:p>
        </p:txBody>
      </p:sp>
      <p:pic>
        <p:nvPicPr>
          <p:cNvPr id="5" name="Picture 4">
            <a:extLst>
              <a:ext uri="{FF2B5EF4-FFF2-40B4-BE49-F238E27FC236}">
                <a16:creationId xmlns:a16="http://schemas.microsoft.com/office/drawing/2014/main" id="{783715BC-674B-4FC1-B41C-924CCDAB2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337" y="2119312"/>
            <a:ext cx="6791325" cy="3757960"/>
          </a:xfrm>
          <a:prstGeom prst="rect">
            <a:avLst/>
          </a:prstGeom>
        </p:spPr>
      </p:pic>
    </p:spTree>
    <p:extLst>
      <p:ext uri="{BB962C8B-B14F-4D97-AF65-F5344CB8AC3E}">
        <p14:creationId xmlns:p14="http://schemas.microsoft.com/office/powerpoint/2010/main" val="1784060734"/>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delete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It's important to understand the difference between </a:t>
            </a:r>
            <a:r>
              <a:rPr lang="en-US" b="1" dirty="0"/>
              <a:t>deleting</a:t>
            </a:r>
            <a:r>
              <a:rPr lang="en-US" dirty="0"/>
              <a:t> a row or column and simply </a:t>
            </a:r>
            <a:r>
              <a:rPr lang="en-US" b="1" dirty="0"/>
              <a:t>clearing its contents</a:t>
            </a:r>
            <a:r>
              <a:rPr lang="en-US" dirty="0"/>
              <a:t>. If you want to remove the </a:t>
            </a:r>
            <a:r>
              <a:rPr lang="en-US" b="1" dirty="0"/>
              <a:t>content</a:t>
            </a:r>
            <a:r>
              <a:rPr lang="en-US" dirty="0"/>
              <a:t> from a row or column without causing others to shift, </a:t>
            </a:r>
            <a:r>
              <a:rPr lang="en-US" b="1" dirty="0"/>
              <a:t>right-click a heading</a:t>
            </a:r>
            <a:r>
              <a:rPr lang="en-US" dirty="0"/>
              <a:t>, then select </a:t>
            </a:r>
            <a:r>
              <a:rPr lang="en-US" b="1" dirty="0"/>
              <a:t>Clear Contents</a:t>
            </a:r>
            <a:r>
              <a:rPr lang="en-US" dirty="0"/>
              <a:t> from the drop-down menu.</a:t>
            </a:r>
          </a:p>
          <a:p>
            <a:pPr algn="just" fontAlgn="base"/>
            <a:endParaRPr lang="en-US" dirty="0"/>
          </a:p>
        </p:txBody>
      </p:sp>
      <p:pic>
        <p:nvPicPr>
          <p:cNvPr id="6" name="Picture 5">
            <a:extLst>
              <a:ext uri="{FF2B5EF4-FFF2-40B4-BE49-F238E27FC236}">
                <a16:creationId xmlns:a16="http://schemas.microsoft.com/office/drawing/2014/main" id="{D3E45A6C-230E-4AE5-A01E-972327089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3429000"/>
            <a:ext cx="4896544" cy="3429000"/>
          </a:xfrm>
          <a:prstGeom prst="rect">
            <a:avLst/>
          </a:prstGeom>
        </p:spPr>
      </p:pic>
    </p:spTree>
    <p:extLst>
      <p:ext uri="{BB962C8B-B14F-4D97-AF65-F5344CB8AC3E}">
        <p14:creationId xmlns:p14="http://schemas.microsoft.com/office/powerpoint/2010/main" val="409146757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move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Sometimes you may want to </a:t>
            </a:r>
            <a:r>
              <a:rPr lang="en-US" b="1" dirty="0"/>
              <a:t>move</a:t>
            </a:r>
            <a:r>
              <a:rPr lang="en-US" dirty="0"/>
              <a:t> a column or row to rearrange the content of your worksheet. In our example we'll move a column, but you can move a row in the same way.</a:t>
            </a:r>
          </a:p>
          <a:p>
            <a:pPr algn="just" fontAlgn="base"/>
            <a:r>
              <a:rPr lang="en-US" dirty="0"/>
              <a:t>Select the desired </a:t>
            </a:r>
            <a:r>
              <a:rPr lang="en-US" b="1" dirty="0"/>
              <a:t>column heading </a:t>
            </a:r>
            <a:r>
              <a:rPr lang="en-US" dirty="0"/>
              <a:t>for the column you want to move.</a:t>
            </a:r>
          </a:p>
        </p:txBody>
      </p:sp>
      <p:pic>
        <p:nvPicPr>
          <p:cNvPr id="5" name="Picture 4">
            <a:extLst>
              <a:ext uri="{FF2B5EF4-FFF2-40B4-BE49-F238E27FC236}">
                <a16:creationId xmlns:a16="http://schemas.microsoft.com/office/drawing/2014/main" id="{57D9085A-38F9-44BA-8D1E-07369C52D2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7287" y="3428999"/>
            <a:ext cx="6829425" cy="3429001"/>
          </a:xfrm>
          <a:prstGeom prst="rect">
            <a:avLst/>
          </a:prstGeom>
        </p:spPr>
      </p:pic>
    </p:spTree>
    <p:extLst>
      <p:ext uri="{BB962C8B-B14F-4D97-AF65-F5344CB8AC3E}">
        <p14:creationId xmlns:p14="http://schemas.microsoft.com/office/powerpoint/2010/main" val="335142689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move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the </a:t>
            </a:r>
            <a:r>
              <a:rPr lang="en-US" b="1" dirty="0"/>
              <a:t>Cut</a:t>
            </a:r>
            <a:r>
              <a:rPr lang="en-US" dirty="0"/>
              <a:t> command on the </a:t>
            </a:r>
            <a:r>
              <a:rPr lang="en-US" b="1" dirty="0"/>
              <a:t>Home</a:t>
            </a:r>
            <a:r>
              <a:rPr lang="en-US" dirty="0"/>
              <a:t> tab, or press </a:t>
            </a:r>
            <a:r>
              <a:rPr lang="en-US" b="1" dirty="0" err="1"/>
              <a:t>Ctrl+X</a:t>
            </a:r>
            <a:r>
              <a:rPr lang="en-US" dirty="0"/>
              <a:t> on your keyboard.</a:t>
            </a:r>
          </a:p>
        </p:txBody>
      </p:sp>
      <p:pic>
        <p:nvPicPr>
          <p:cNvPr id="6" name="Picture 5">
            <a:extLst>
              <a:ext uri="{FF2B5EF4-FFF2-40B4-BE49-F238E27FC236}">
                <a16:creationId xmlns:a16="http://schemas.microsoft.com/office/drawing/2014/main" id="{07268DBC-9C7A-467D-84DF-8CA56AC6A7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9" y="1772816"/>
            <a:ext cx="6336704" cy="2351509"/>
          </a:xfrm>
          <a:prstGeom prst="rect">
            <a:avLst/>
          </a:prstGeom>
        </p:spPr>
      </p:pic>
    </p:spTree>
    <p:extLst>
      <p:ext uri="{BB962C8B-B14F-4D97-AF65-F5344CB8AC3E}">
        <p14:creationId xmlns:p14="http://schemas.microsoft.com/office/powerpoint/2010/main" val="2375361307"/>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move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Select the </a:t>
            </a:r>
            <a:r>
              <a:rPr lang="en-US" b="1" dirty="0"/>
              <a:t>column heading </a:t>
            </a:r>
            <a:r>
              <a:rPr lang="en-US" dirty="0"/>
              <a:t>to the right of where you want to move the column. For example, if you want to move a column between columns E and F, select </a:t>
            </a:r>
            <a:r>
              <a:rPr lang="en-US" b="1" dirty="0"/>
              <a:t>column F</a:t>
            </a:r>
            <a:r>
              <a:rPr lang="en-US" dirty="0"/>
              <a:t>.</a:t>
            </a:r>
          </a:p>
        </p:txBody>
      </p:sp>
      <p:pic>
        <p:nvPicPr>
          <p:cNvPr id="5" name="Picture 4">
            <a:extLst>
              <a:ext uri="{FF2B5EF4-FFF2-40B4-BE49-F238E27FC236}">
                <a16:creationId xmlns:a16="http://schemas.microsoft.com/office/drawing/2014/main" id="{8A196A7D-21D6-4255-8DF9-29189E83D6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212" y="2420887"/>
            <a:ext cx="7267575" cy="4437113"/>
          </a:xfrm>
          <a:prstGeom prst="rect">
            <a:avLst/>
          </a:prstGeom>
        </p:spPr>
      </p:pic>
    </p:spTree>
    <p:extLst>
      <p:ext uri="{BB962C8B-B14F-4D97-AF65-F5344CB8AC3E}">
        <p14:creationId xmlns:p14="http://schemas.microsoft.com/office/powerpoint/2010/main" val="2549644909"/>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move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Click the </a:t>
            </a:r>
            <a:r>
              <a:rPr lang="en-US" b="1" dirty="0"/>
              <a:t>Insert</a:t>
            </a:r>
            <a:r>
              <a:rPr lang="en-US" dirty="0"/>
              <a:t> command on the </a:t>
            </a:r>
            <a:r>
              <a:rPr lang="en-US" b="1" dirty="0"/>
              <a:t>Home</a:t>
            </a:r>
            <a:r>
              <a:rPr lang="en-US" dirty="0"/>
              <a:t> tab, then select </a:t>
            </a:r>
            <a:r>
              <a:rPr lang="en-US" b="1" dirty="0"/>
              <a:t>Insert Cut Cells</a:t>
            </a:r>
            <a:r>
              <a:rPr lang="en-US" dirty="0"/>
              <a:t> from the drop-down menu.</a:t>
            </a:r>
            <a:br>
              <a:rPr lang="en-US" dirty="0"/>
            </a:br>
            <a:endParaRPr lang="en-US" dirty="0"/>
          </a:p>
        </p:txBody>
      </p:sp>
      <p:pic>
        <p:nvPicPr>
          <p:cNvPr id="6" name="Picture 5">
            <a:extLst>
              <a:ext uri="{FF2B5EF4-FFF2-40B4-BE49-F238E27FC236}">
                <a16:creationId xmlns:a16="http://schemas.microsoft.com/office/drawing/2014/main" id="{A4F500A8-478B-414B-961F-5929F03FC0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3" y="1581150"/>
            <a:ext cx="6768752" cy="4152106"/>
          </a:xfrm>
          <a:prstGeom prst="rect">
            <a:avLst/>
          </a:prstGeom>
        </p:spPr>
      </p:pic>
    </p:spTree>
    <p:extLst>
      <p:ext uri="{BB962C8B-B14F-4D97-AF65-F5344CB8AC3E}">
        <p14:creationId xmlns:p14="http://schemas.microsoft.com/office/powerpoint/2010/main" val="153297191"/>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move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The column will be </a:t>
            </a:r>
            <a:r>
              <a:rPr lang="en-US" b="1" dirty="0"/>
              <a:t>moved</a:t>
            </a:r>
            <a:r>
              <a:rPr lang="en-US" dirty="0"/>
              <a:t> to the selected location, and the columns around it will shift.</a:t>
            </a:r>
          </a:p>
        </p:txBody>
      </p:sp>
      <p:pic>
        <p:nvPicPr>
          <p:cNvPr id="5" name="Picture 4">
            <a:extLst>
              <a:ext uri="{FF2B5EF4-FFF2-40B4-BE49-F238E27FC236}">
                <a16:creationId xmlns:a16="http://schemas.microsoft.com/office/drawing/2014/main" id="{D8AB7A4F-CA0E-4481-BFCA-745E54899E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1562100"/>
            <a:ext cx="7143750" cy="3883124"/>
          </a:xfrm>
          <a:prstGeom prst="rect">
            <a:avLst/>
          </a:prstGeom>
        </p:spPr>
      </p:pic>
    </p:spTree>
    <p:extLst>
      <p:ext uri="{BB962C8B-B14F-4D97-AF65-F5344CB8AC3E}">
        <p14:creationId xmlns:p14="http://schemas.microsoft.com/office/powerpoint/2010/main" val="821746129"/>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move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You can also access the </a:t>
            </a:r>
            <a:r>
              <a:rPr lang="en-US" b="1" dirty="0"/>
              <a:t>Cut</a:t>
            </a:r>
            <a:r>
              <a:rPr lang="en-US" dirty="0"/>
              <a:t> and </a:t>
            </a:r>
            <a:r>
              <a:rPr lang="en-US" b="1" dirty="0"/>
              <a:t>Insert</a:t>
            </a:r>
            <a:r>
              <a:rPr lang="en-US" dirty="0"/>
              <a:t> commands by right-clicking the mouse and selecting the </a:t>
            </a:r>
            <a:r>
              <a:rPr lang="en-US" b="1" dirty="0"/>
              <a:t>desired commands </a:t>
            </a:r>
            <a:r>
              <a:rPr lang="en-US" dirty="0"/>
              <a:t>from the drop-down menu.</a:t>
            </a:r>
          </a:p>
          <a:p>
            <a:pPr algn="just" fontAlgn="base"/>
            <a:endParaRPr lang="en-US" dirty="0"/>
          </a:p>
        </p:txBody>
      </p:sp>
      <p:pic>
        <p:nvPicPr>
          <p:cNvPr id="6" name="Picture 5">
            <a:extLst>
              <a:ext uri="{FF2B5EF4-FFF2-40B4-BE49-F238E27FC236}">
                <a16:creationId xmlns:a16="http://schemas.microsoft.com/office/drawing/2014/main" id="{DE659E02-F41C-479F-AEBB-2036F4621E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9" y="1919287"/>
            <a:ext cx="6624736" cy="4246017"/>
          </a:xfrm>
          <a:prstGeom prst="rect">
            <a:avLst/>
          </a:prstGeom>
        </p:spPr>
      </p:pic>
    </p:spTree>
    <p:extLst>
      <p:ext uri="{BB962C8B-B14F-4D97-AF65-F5344CB8AC3E}">
        <p14:creationId xmlns:p14="http://schemas.microsoft.com/office/powerpoint/2010/main" val="174955458"/>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hide and unhide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At times, you may want to </a:t>
            </a:r>
            <a:r>
              <a:rPr lang="en-US" b="1" dirty="0"/>
              <a:t>compare</a:t>
            </a:r>
            <a:r>
              <a:rPr lang="en-US" dirty="0"/>
              <a:t> certain rows or columns without changing the organization of your worksheet. </a:t>
            </a:r>
          </a:p>
          <a:p>
            <a:pPr algn="just" fontAlgn="base"/>
            <a:endParaRPr lang="en-US" dirty="0"/>
          </a:p>
          <a:p>
            <a:pPr algn="just" fontAlgn="base"/>
            <a:r>
              <a:rPr lang="en-US" dirty="0"/>
              <a:t>To do this, Excel allows you to </a:t>
            </a:r>
            <a:r>
              <a:rPr lang="en-US" b="1" dirty="0"/>
              <a:t>hide</a:t>
            </a:r>
            <a:r>
              <a:rPr lang="en-US" dirty="0"/>
              <a:t> rows and columns as needed. </a:t>
            </a:r>
          </a:p>
          <a:p>
            <a:pPr algn="just" fontAlgn="base"/>
            <a:endParaRPr lang="en-US" dirty="0"/>
          </a:p>
          <a:p>
            <a:pPr algn="just" fontAlgn="base"/>
            <a:r>
              <a:rPr lang="en-US" dirty="0"/>
              <a:t>In our example we'll hide a few columns, but you can hide rows in the same way.</a:t>
            </a:r>
          </a:p>
        </p:txBody>
      </p:sp>
    </p:spTree>
    <p:extLst>
      <p:ext uri="{BB962C8B-B14F-4D97-AF65-F5344CB8AC3E}">
        <p14:creationId xmlns:p14="http://schemas.microsoft.com/office/powerpoint/2010/main" val="1284156704"/>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hide and unhide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Select the </a:t>
            </a:r>
            <a:r>
              <a:rPr lang="en-US" b="1" dirty="0"/>
              <a:t>columns</a:t>
            </a:r>
            <a:r>
              <a:rPr lang="en-US" dirty="0"/>
              <a:t> you want to </a:t>
            </a:r>
            <a:r>
              <a:rPr lang="en-US" b="1" dirty="0"/>
              <a:t>hide</a:t>
            </a:r>
            <a:r>
              <a:rPr lang="en-US" dirty="0"/>
              <a:t>, right-click the mouse, then select </a:t>
            </a:r>
            <a:r>
              <a:rPr lang="en-US" b="1" dirty="0"/>
              <a:t>Hide</a:t>
            </a:r>
            <a:r>
              <a:rPr lang="en-US" dirty="0"/>
              <a:t> from the </a:t>
            </a:r>
            <a:r>
              <a:rPr lang="en-US" b="1" dirty="0"/>
              <a:t>formatting</a:t>
            </a:r>
            <a:r>
              <a:rPr lang="en-US" dirty="0"/>
              <a:t> menu. In our example, we'll hide columns C, D, and E.</a:t>
            </a:r>
          </a:p>
        </p:txBody>
      </p:sp>
      <p:pic>
        <p:nvPicPr>
          <p:cNvPr id="5" name="Picture 4">
            <a:extLst>
              <a:ext uri="{FF2B5EF4-FFF2-40B4-BE49-F238E27FC236}">
                <a16:creationId xmlns:a16="http://schemas.microsoft.com/office/drawing/2014/main" id="{3BB2B470-888C-4636-8B64-6065905F6F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175" y="1988839"/>
            <a:ext cx="7867650" cy="4176465"/>
          </a:xfrm>
          <a:prstGeom prst="rect">
            <a:avLst/>
          </a:prstGeom>
        </p:spPr>
      </p:pic>
    </p:spTree>
    <p:extLst>
      <p:ext uri="{BB962C8B-B14F-4D97-AF65-F5344CB8AC3E}">
        <p14:creationId xmlns:p14="http://schemas.microsoft.com/office/powerpoint/2010/main" val="2456886221"/>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hide and unhide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The columns will be </a:t>
            </a:r>
            <a:r>
              <a:rPr lang="en-US" b="1" dirty="0"/>
              <a:t>hidden</a:t>
            </a:r>
            <a:r>
              <a:rPr lang="en-US" dirty="0"/>
              <a:t>. The</a:t>
            </a:r>
            <a:r>
              <a:rPr lang="en-US" b="1" dirty="0"/>
              <a:t> green column line</a:t>
            </a:r>
            <a:r>
              <a:rPr lang="en-US" dirty="0"/>
              <a:t> indicates the location of the hidden columns.</a:t>
            </a:r>
            <a:br>
              <a:rPr lang="en-US" dirty="0"/>
            </a:br>
            <a:endParaRPr lang="en-US" dirty="0"/>
          </a:p>
        </p:txBody>
      </p:sp>
      <p:pic>
        <p:nvPicPr>
          <p:cNvPr id="6" name="Picture 5">
            <a:extLst>
              <a:ext uri="{FF2B5EF4-FFF2-40B4-BE49-F238E27FC236}">
                <a16:creationId xmlns:a16="http://schemas.microsoft.com/office/drawing/2014/main" id="{49F79A72-8E17-4067-B5F6-37E73A33F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6749" y="1772816"/>
            <a:ext cx="7324725" cy="4608512"/>
          </a:xfrm>
          <a:prstGeom prst="rect">
            <a:avLst/>
          </a:prstGeom>
        </p:spPr>
      </p:pic>
    </p:spTree>
    <p:extLst>
      <p:ext uri="{BB962C8B-B14F-4D97-AF65-F5344CB8AC3E}">
        <p14:creationId xmlns:p14="http://schemas.microsoft.com/office/powerpoint/2010/main" val="2476542602"/>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hide and unhide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To </a:t>
            </a:r>
            <a:r>
              <a:rPr lang="en-US" b="1" dirty="0"/>
              <a:t>unhide</a:t>
            </a:r>
            <a:r>
              <a:rPr lang="en-US" dirty="0"/>
              <a:t> the columns, select the columns on </a:t>
            </a:r>
            <a:r>
              <a:rPr lang="en-US" b="1" dirty="0"/>
              <a:t>both</a:t>
            </a:r>
            <a:r>
              <a:rPr lang="en-US" dirty="0"/>
              <a:t> </a:t>
            </a:r>
            <a:r>
              <a:rPr lang="en-US" b="1" dirty="0"/>
              <a:t>sides</a:t>
            </a:r>
            <a:r>
              <a:rPr lang="en-US" dirty="0"/>
              <a:t> of the hidden columns. In our example, we'll select columns </a:t>
            </a:r>
            <a:r>
              <a:rPr lang="en-US" b="1" dirty="0"/>
              <a:t>B</a:t>
            </a:r>
            <a:r>
              <a:rPr lang="en-US" dirty="0"/>
              <a:t> and </a:t>
            </a:r>
            <a:r>
              <a:rPr lang="en-US" b="1" dirty="0"/>
              <a:t>F</a:t>
            </a:r>
            <a:r>
              <a:rPr lang="en-US" dirty="0"/>
              <a:t>. Then right-click the mouse and select </a:t>
            </a:r>
            <a:r>
              <a:rPr lang="en-US" b="1" dirty="0"/>
              <a:t>Unhide</a:t>
            </a:r>
            <a:r>
              <a:rPr lang="en-US" dirty="0"/>
              <a:t> from the </a:t>
            </a:r>
            <a:r>
              <a:rPr lang="en-US" b="1" dirty="0"/>
              <a:t>formatting </a:t>
            </a:r>
            <a:r>
              <a:rPr lang="en-US" dirty="0"/>
              <a:t>menu.</a:t>
            </a:r>
          </a:p>
        </p:txBody>
      </p:sp>
      <p:pic>
        <p:nvPicPr>
          <p:cNvPr id="5" name="Picture 4">
            <a:extLst>
              <a:ext uri="{FF2B5EF4-FFF2-40B4-BE49-F238E27FC236}">
                <a16:creationId xmlns:a16="http://schemas.microsoft.com/office/drawing/2014/main" id="{F3B5EEEB-4CAF-4173-8661-5D5E06631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637" y="2852936"/>
            <a:ext cx="7324725" cy="4005064"/>
          </a:xfrm>
          <a:prstGeom prst="rect">
            <a:avLst/>
          </a:prstGeom>
        </p:spPr>
      </p:pic>
    </p:spTree>
    <p:extLst>
      <p:ext uri="{BB962C8B-B14F-4D97-AF65-F5344CB8AC3E}">
        <p14:creationId xmlns:p14="http://schemas.microsoft.com/office/powerpoint/2010/main" val="4293235114"/>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332656"/>
          </a:xfrm>
        </p:spPr>
        <p:txBody>
          <a:bodyPr>
            <a:noAutofit/>
          </a:bodyPr>
          <a:lstStyle/>
          <a:p>
            <a:pPr algn="ctr"/>
            <a:r>
              <a:rPr lang="en-US" sz="2800" dirty="0"/>
              <a:t>To hide and unhide a row or column</a:t>
            </a:r>
            <a:endParaRPr lang="en-GB" sz="2800" dirty="0"/>
          </a:p>
        </p:txBody>
      </p:sp>
      <p:sp>
        <p:nvSpPr>
          <p:cNvPr id="3" name="Content Placeholder 2"/>
          <p:cNvSpPr>
            <a:spLocks noGrp="1"/>
          </p:cNvSpPr>
          <p:nvPr>
            <p:ph idx="1"/>
          </p:nvPr>
        </p:nvSpPr>
        <p:spPr>
          <a:xfrm>
            <a:off x="0" y="332656"/>
            <a:ext cx="9144000" cy="6525344"/>
          </a:xfrm>
        </p:spPr>
        <p:txBody>
          <a:bodyPr>
            <a:normAutofit/>
          </a:bodyPr>
          <a:lstStyle/>
          <a:p>
            <a:pPr algn="just" fontAlgn="base"/>
            <a:r>
              <a:rPr lang="en-US" dirty="0"/>
              <a:t>The hidden columns will reappear.</a:t>
            </a:r>
          </a:p>
        </p:txBody>
      </p:sp>
      <p:pic>
        <p:nvPicPr>
          <p:cNvPr id="6" name="Picture 5">
            <a:extLst>
              <a:ext uri="{FF2B5EF4-FFF2-40B4-BE49-F238E27FC236}">
                <a16:creationId xmlns:a16="http://schemas.microsoft.com/office/drawing/2014/main" id="{84D60F29-10F9-4761-A947-5CACE0B85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512" y="1052736"/>
            <a:ext cx="7800975" cy="4143375"/>
          </a:xfrm>
          <a:prstGeom prst="rect">
            <a:avLst/>
          </a:prstGeom>
        </p:spPr>
      </p:pic>
    </p:spTree>
    <p:extLst>
      <p:ext uri="{BB962C8B-B14F-4D97-AF65-F5344CB8AC3E}">
        <p14:creationId xmlns:p14="http://schemas.microsoft.com/office/powerpoint/2010/main" val="1952358825"/>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Wrapping text and merging cells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Whenever you have too much cell content to be displayed in a single cell, you may decide to </a:t>
            </a:r>
            <a:r>
              <a:rPr lang="en-US" b="1" dirty="0"/>
              <a:t>wrap the text</a:t>
            </a:r>
            <a:r>
              <a:rPr lang="en-US" dirty="0"/>
              <a:t> or </a:t>
            </a:r>
            <a:r>
              <a:rPr lang="en-US" b="1" dirty="0"/>
              <a:t>merge </a:t>
            </a:r>
            <a:r>
              <a:rPr lang="en-US" dirty="0"/>
              <a:t>the cell rather than resize a column. </a:t>
            </a:r>
          </a:p>
          <a:p>
            <a:pPr algn="just" fontAlgn="base"/>
            <a:endParaRPr lang="en-US" dirty="0"/>
          </a:p>
          <a:p>
            <a:pPr algn="just" fontAlgn="base"/>
            <a:r>
              <a:rPr lang="en-US" dirty="0"/>
              <a:t>Wrapping the text will automatically modify a cell's </a:t>
            </a:r>
            <a:r>
              <a:rPr lang="en-US" b="1" dirty="0"/>
              <a:t>row height</a:t>
            </a:r>
            <a:r>
              <a:rPr lang="en-US" dirty="0"/>
              <a:t>, allowing cell contents to be displayed </a:t>
            </a:r>
            <a:r>
              <a:rPr lang="en-US" b="1" dirty="0"/>
              <a:t>on multiple lines</a:t>
            </a:r>
            <a:r>
              <a:rPr lang="en-US" dirty="0"/>
              <a:t>. </a:t>
            </a:r>
          </a:p>
          <a:p>
            <a:pPr algn="just" fontAlgn="base"/>
            <a:endParaRPr lang="en-US" dirty="0"/>
          </a:p>
          <a:p>
            <a:pPr algn="just" fontAlgn="base"/>
            <a:r>
              <a:rPr lang="en-US" dirty="0"/>
              <a:t>Merging allows you to combine a cell with adjacent empty cells to create </a:t>
            </a:r>
            <a:r>
              <a:rPr lang="en-US" b="1" dirty="0"/>
              <a:t>one large cell</a:t>
            </a:r>
            <a:r>
              <a:rPr lang="en-US" dirty="0"/>
              <a:t>.</a:t>
            </a:r>
          </a:p>
        </p:txBody>
      </p:sp>
    </p:spTree>
    <p:extLst>
      <p:ext uri="{BB962C8B-B14F-4D97-AF65-F5344CB8AC3E}">
        <p14:creationId xmlns:p14="http://schemas.microsoft.com/office/powerpoint/2010/main" val="4259188208"/>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wrap text in cells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cells you want to wrap. In this example, we'll select the cells in </a:t>
            </a:r>
            <a:r>
              <a:rPr lang="en-US" b="1" dirty="0"/>
              <a:t>column C</a:t>
            </a:r>
            <a:r>
              <a:rPr lang="en-US" dirty="0"/>
              <a:t>.</a:t>
            </a:r>
          </a:p>
          <a:p>
            <a:pPr fontAlgn="base"/>
            <a:r>
              <a:rPr lang="en-US" dirty="0"/>
              <a:t>Click the </a:t>
            </a:r>
            <a:r>
              <a:rPr lang="en-US" b="1" dirty="0"/>
              <a:t>Wrap Text</a:t>
            </a:r>
            <a:r>
              <a:rPr lang="en-US" dirty="0"/>
              <a:t> command on the </a:t>
            </a:r>
            <a:r>
              <a:rPr lang="en-US" b="1" dirty="0"/>
              <a:t>Home</a:t>
            </a:r>
            <a:r>
              <a:rPr lang="en-US" dirty="0"/>
              <a:t> tab.</a:t>
            </a:r>
          </a:p>
        </p:txBody>
      </p:sp>
      <p:pic>
        <p:nvPicPr>
          <p:cNvPr id="5" name="Picture 4">
            <a:extLst>
              <a:ext uri="{FF2B5EF4-FFF2-40B4-BE49-F238E27FC236}">
                <a16:creationId xmlns:a16="http://schemas.microsoft.com/office/drawing/2014/main" id="{CBA16AAE-E4E6-4AF2-9AB4-912B6B7E1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9225" y="2204863"/>
            <a:ext cx="6305550" cy="4653135"/>
          </a:xfrm>
          <a:prstGeom prst="rect">
            <a:avLst/>
          </a:prstGeom>
        </p:spPr>
      </p:pic>
    </p:spTree>
    <p:extLst>
      <p:ext uri="{BB962C8B-B14F-4D97-AF65-F5344CB8AC3E}">
        <p14:creationId xmlns:p14="http://schemas.microsoft.com/office/powerpoint/2010/main" val="1811639277"/>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wrap text in cells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text in the selected cells will be </a:t>
            </a:r>
            <a:r>
              <a:rPr lang="en-US" b="1" dirty="0"/>
              <a:t>wrapped</a:t>
            </a:r>
            <a:r>
              <a:rPr lang="en-US" dirty="0"/>
              <a:t>.</a:t>
            </a:r>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marL="0" indent="0" fontAlgn="base">
              <a:buNone/>
            </a:pPr>
            <a:endParaRPr lang="en-US" dirty="0"/>
          </a:p>
          <a:p>
            <a:pPr fontAlgn="base"/>
            <a:r>
              <a:rPr lang="en-US" dirty="0"/>
              <a:t>Click the </a:t>
            </a:r>
            <a:r>
              <a:rPr lang="en-US" b="1" dirty="0"/>
              <a:t>Wrap Text</a:t>
            </a:r>
            <a:r>
              <a:rPr lang="en-US" dirty="0"/>
              <a:t> command again to </a:t>
            </a:r>
            <a:r>
              <a:rPr lang="en-US" b="1" dirty="0"/>
              <a:t>unwrap</a:t>
            </a:r>
            <a:r>
              <a:rPr lang="en-US" dirty="0"/>
              <a:t> the text.</a:t>
            </a:r>
          </a:p>
        </p:txBody>
      </p:sp>
      <p:pic>
        <p:nvPicPr>
          <p:cNvPr id="6" name="Picture 5">
            <a:extLst>
              <a:ext uri="{FF2B5EF4-FFF2-40B4-BE49-F238E27FC236}">
                <a16:creationId xmlns:a16="http://schemas.microsoft.com/office/drawing/2014/main" id="{68A73BFD-020B-4FA5-B421-3553AF93D6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4462" y="1124744"/>
            <a:ext cx="6315075" cy="3816423"/>
          </a:xfrm>
          <a:prstGeom prst="rect">
            <a:avLst/>
          </a:prstGeom>
        </p:spPr>
      </p:pic>
    </p:spTree>
    <p:extLst>
      <p:ext uri="{BB962C8B-B14F-4D97-AF65-F5344CB8AC3E}">
        <p14:creationId xmlns:p14="http://schemas.microsoft.com/office/powerpoint/2010/main" val="642080121"/>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merge cells using the Merge &amp; Center command</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a:t>
            </a:r>
            <a:r>
              <a:rPr lang="en-US" b="1" dirty="0"/>
              <a:t>cell range </a:t>
            </a:r>
            <a:r>
              <a:rPr lang="en-US" dirty="0"/>
              <a:t>you want to merge. In our example, we'll select </a:t>
            </a:r>
            <a:r>
              <a:rPr lang="en-US" b="1" dirty="0"/>
              <a:t>A1:F1</a:t>
            </a:r>
            <a:r>
              <a:rPr lang="en-US" dirty="0"/>
              <a:t>.</a:t>
            </a:r>
          </a:p>
          <a:p>
            <a:pPr fontAlgn="base"/>
            <a:r>
              <a:rPr lang="en-US" dirty="0"/>
              <a:t>Click the </a:t>
            </a:r>
            <a:r>
              <a:rPr lang="en-US" b="1" dirty="0"/>
              <a:t>Merge &amp; Center </a:t>
            </a:r>
            <a:r>
              <a:rPr lang="en-US" dirty="0"/>
              <a:t>command on the </a:t>
            </a:r>
            <a:r>
              <a:rPr lang="en-US" b="1" dirty="0"/>
              <a:t>Home</a:t>
            </a:r>
            <a:r>
              <a:rPr lang="en-US" dirty="0"/>
              <a:t> tab. </a:t>
            </a:r>
          </a:p>
          <a:p>
            <a:pPr fontAlgn="base"/>
            <a:r>
              <a:rPr lang="en-US" dirty="0"/>
              <a:t>In our example, we'll select the cell range </a:t>
            </a:r>
            <a:r>
              <a:rPr lang="en-US" b="1" dirty="0"/>
              <a:t>A1:F1</a:t>
            </a:r>
            <a:r>
              <a:rPr lang="en-US" dirty="0"/>
              <a:t>.</a:t>
            </a:r>
          </a:p>
        </p:txBody>
      </p:sp>
      <p:pic>
        <p:nvPicPr>
          <p:cNvPr id="5" name="Picture 4">
            <a:extLst>
              <a:ext uri="{FF2B5EF4-FFF2-40B4-BE49-F238E27FC236}">
                <a16:creationId xmlns:a16="http://schemas.microsoft.com/office/drawing/2014/main" id="{97616A93-5590-4A3C-9F94-CC89EFF26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84983"/>
            <a:ext cx="9144000" cy="3573015"/>
          </a:xfrm>
          <a:prstGeom prst="rect">
            <a:avLst/>
          </a:prstGeom>
        </p:spPr>
      </p:pic>
    </p:spTree>
    <p:extLst>
      <p:ext uri="{BB962C8B-B14F-4D97-AF65-F5344CB8AC3E}">
        <p14:creationId xmlns:p14="http://schemas.microsoft.com/office/powerpoint/2010/main" val="984909939"/>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merge cells using the Merge &amp; Center command</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selected cells will be </a:t>
            </a:r>
            <a:r>
              <a:rPr lang="en-US" b="1" dirty="0"/>
              <a:t>merged</a:t>
            </a:r>
            <a:r>
              <a:rPr lang="en-US" dirty="0"/>
              <a:t>, and the text will be </a:t>
            </a:r>
            <a:r>
              <a:rPr lang="en-US" b="1" dirty="0"/>
              <a:t>centered</a:t>
            </a:r>
            <a:r>
              <a:rPr lang="en-US" dirty="0"/>
              <a:t>.</a:t>
            </a:r>
            <a:br>
              <a:rPr lang="en-US" dirty="0"/>
            </a:br>
            <a:endParaRPr lang="en-US" dirty="0"/>
          </a:p>
        </p:txBody>
      </p:sp>
      <p:pic>
        <p:nvPicPr>
          <p:cNvPr id="6" name="Picture 5">
            <a:extLst>
              <a:ext uri="{FF2B5EF4-FFF2-40B4-BE49-F238E27FC236}">
                <a16:creationId xmlns:a16="http://schemas.microsoft.com/office/drawing/2014/main" id="{1A28AB21-131E-4C3E-8366-FCE5558DF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00808"/>
            <a:ext cx="9144000" cy="3096344"/>
          </a:xfrm>
          <a:prstGeom prst="rect">
            <a:avLst/>
          </a:prstGeom>
        </p:spPr>
      </p:pic>
    </p:spTree>
    <p:extLst>
      <p:ext uri="{BB962C8B-B14F-4D97-AF65-F5344CB8AC3E}">
        <p14:creationId xmlns:p14="http://schemas.microsoft.com/office/powerpoint/2010/main" val="2636792586"/>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access additional merge options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If you click the drop-down arrow next to the </a:t>
            </a:r>
            <a:r>
              <a:rPr lang="en-US" b="1" dirty="0"/>
              <a:t>Merge &amp; Center</a:t>
            </a:r>
            <a:r>
              <a:rPr lang="en-US" dirty="0"/>
              <a:t> command on the </a:t>
            </a:r>
            <a:r>
              <a:rPr lang="en-US" b="1" dirty="0"/>
              <a:t>Home</a:t>
            </a:r>
            <a:r>
              <a:rPr lang="en-US" dirty="0"/>
              <a:t> tab, the </a:t>
            </a:r>
            <a:r>
              <a:rPr lang="en-US" b="1" dirty="0"/>
              <a:t>Merge</a:t>
            </a:r>
            <a:r>
              <a:rPr lang="en-US" dirty="0"/>
              <a:t> drop-down menu will appear.</a:t>
            </a:r>
          </a:p>
          <a:p>
            <a:pPr fontAlgn="base"/>
            <a:endParaRPr lang="en-US" dirty="0"/>
          </a:p>
        </p:txBody>
      </p:sp>
      <p:pic>
        <p:nvPicPr>
          <p:cNvPr id="5" name="Picture 4">
            <a:extLst>
              <a:ext uri="{FF2B5EF4-FFF2-40B4-BE49-F238E27FC236}">
                <a16:creationId xmlns:a16="http://schemas.microsoft.com/office/drawing/2014/main" id="{1D4D0020-98F2-4214-AE60-10E0C2E3F9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3" y="2362200"/>
            <a:ext cx="7344816" cy="3155032"/>
          </a:xfrm>
          <a:prstGeom prst="rect">
            <a:avLst/>
          </a:prstGeom>
        </p:spPr>
      </p:pic>
    </p:spTree>
    <p:extLst>
      <p:ext uri="{BB962C8B-B14F-4D97-AF65-F5344CB8AC3E}">
        <p14:creationId xmlns:p14="http://schemas.microsoft.com/office/powerpoint/2010/main" val="1446863259"/>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access additional merge options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From here, you can choose to:</a:t>
            </a:r>
          </a:p>
          <a:p>
            <a:pPr algn="just" fontAlgn="base"/>
            <a:r>
              <a:rPr lang="en-US" b="1" dirty="0"/>
              <a:t>Merge &amp; Center</a:t>
            </a:r>
            <a:r>
              <a:rPr lang="en-US" dirty="0"/>
              <a:t>: This merges the selected cells into </a:t>
            </a:r>
            <a:r>
              <a:rPr lang="en-US" b="1" dirty="0"/>
              <a:t>one cell</a:t>
            </a:r>
            <a:r>
              <a:rPr lang="en-US" dirty="0"/>
              <a:t> and </a:t>
            </a:r>
            <a:r>
              <a:rPr lang="en-US" b="1" dirty="0"/>
              <a:t>centers</a:t>
            </a:r>
            <a:r>
              <a:rPr lang="en-US" dirty="0"/>
              <a:t> the text.</a:t>
            </a:r>
          </a:p>
          <a:p>
            <a:pPr algn="just" fontAlgn="base"/>
            <a:endParaRPr lang="en-US" dirty="0"/>
          </a:p>
          <a:p>
            <a:pPr algn="just" fontAlgn="base"/>
            <a:r>
              <a:rPr lang="en-US" b="1" dirty="0"/>
              <a:t>Merge Across</a:t>
            </a:r>
            <a:r>
              <a:rPr lang="en-US" dirty="0"/>
              <a:t>: This merges the selected cells into </a:t>
            </a:r>
            <a:r>
              <a:rPr lang="en-US" b="1" dirty="0"/>
              <a:t>larger cells</a:t>
            </a:r>
            <a:r>
              <a:rPr lang="en-US" dirty="0"/>
              <a:t> while keeping each </a:t>
            </a:r>
            <a:r>
              <a:rPr lang="en-US" b="1" dirty="0"/>
              <a:t>row</a:t>
            </a:r>
            <a:r>
              <a:rPr lang="en-US" dirty="0"/>
              <a:t> separate.</a:t>
            </a:r>
          </a:p>
          <a:p>
            <a:pPr algn="just" fontAlgn="base"/>
            <a:endParaRPr lang="en-US" dirty="0"/>
          </a:p>
          <a:p>
            <a:pPr algn="just" fontAlgn="base"/>
            <a:r>
              <a:rPr lang="en-US" b="1" dirty="0"/>
              <a:t>Merge Cells</a:t>
            </a:r>
            <a:r>
              <a:rPr lang="en-US" dirty="0"/>
              <a:t>: This merges the selected cells into one cell but </a:t>
            </a:r>
            <a:r>
              <a:rPr lang="en-US" b="1" dirty="0"/>
              <a:t>does not cente</a:t>
            </a:r>
            <a:r>
              <a:rPr lang="en-US" dirty="0"/>
              <a:t>r the text.</a:t>
            </a:r>
          </a:p>
          <a:p>
            <a:pPr algn="just" fontAlgn="base"/>
            <a:endParaRPr lang="en-US" dirty="0"/>
          </a:p>
          <a:p>
            <a:pPr algn="just" fontAlgn="base"/>
            <a:r>
              <a:rPr lang="en-US" b="1" dirty="0"/>
              <a:t>Unmerge Cells</a:t>
            </a:r>
            <a:r>
              <a:rPr lang="en-US" dirty="0"/>
              <a:t>: This unmerges selected cells.</a:t>
            </a:r>
          </a:p>
          <a:p>
            <a:pPr fontAlgn="base"/>
            <a:endParaRPr lang="en-US" dirty="0"/>
          </a:p>
        </p:txBody>
      </p:sp>
    </p:spTree>
    <p:extLst>
      <p:ext uri="{BB962C8B-B14F-4D97-AF65-F5344CB8AC3E}">
        <p14:creationId xmlns:p14="http://schemas.microsoft.com/office/powerpoint/2010/main" val="2745414900"/>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Centering across selection</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Merging can be useful for organizing your data, but it can also create problems later on. </a:t>
            </a:r>
          </a:p>
          <a:p>
            <a:pPr algn="just" fontAlgn="base"/>
            <a:endParaRPr lang="en-US" dirty="0"/>
          </a:p>
          <a:p>
            <a:pPr algn="just" fontAlgn="base"/>
            <a:r>
              <a:rPr lang="en-US" dirty="0"/>
              <a:t>For example, it can be difficult to move, copy, and paste content from merged cells. </a:t>
            </a:r>
          </a:p>
          <a:p>
            <a:pPr algn="just" fontAlgn="base"/>
            <a:endParaRPr lang="en-US" dirty="0"/>
          </a:p>
          <a:p>
            <a:pPr algn="just" fontAlgn="base"/>
            <a:r>
              <a:rPr lang="en-US" dirty="0"/>
              <a:t>A good alternative to merging is to </a:t>
            </a:r>
            <a:r>
              <a:rPr lang="en-US" b="1" dirty="0"/>
              <a:t>Center Across Selection</a:t>
            </a:r>
            <a:r>
              <a:rPr lang="en-US" dirty="0"/>
              <a:t>, which creates a similar effect without actually combining cells.</a:t>
            </a:r>
          </a:p>
        </p:txBody>
      </p:sp>
    </p:spTree>
    <p:extLst>
      <p:ext uri="{BB962C8B-B14F-4D97-AF65-F5344CB8AC3E}">
        <p14:creationId xmlns:p14="http://schemas.microsoft.com/office/powerpoint/2010/main" val="4149696935"/>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use Center Across Selection</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desired cell range. In our example, we'll select </a:t>
            </a:r>
            <a:r>
              <a:rPr lang="en-US" b="1" dirty="0"/>
              <a:t>A1:F1</a:t>
            </a:r>
            <a:r>
              <a:rPr lang="en-US" dirty="0"/>
              <a:t>. </a:t>
            </a:r>
            <a:r>
              <a:rPr lang="en-US" b="1" dirty="0"/>
              <a:t>Note</a:t>
            </a:r>
            <a:r>
              <a:rPr lang="en-US" dirty="0"/>
              <a:t>: If you already merged these cells, you should </a:t>
            </a:r>
            <a:r>
              <a:rPr lang="en-US" b="1" dirty="0"/>
              <a:t>unmerge</a:t>
            </a:r>
            <a:r>
              <a:rPr lang="en-US" dirty="0"/>
              <a:t> </a:t>
            </a:r>
            <a:r>
              <a:rPr lang="en-US" b="1" dirty="0"/>
              <a:t>them</a:t>
            </a:r>
            <a:r>
              <a:rPr lang="en-US" dirty="0"/>
              <a:t> before continuing to step 2.</a:t>
            </a:r>
          </a:p>
          <a:p>
            <a:pPr fontAlgn="base"/>
            <a:r>
              <a:rPr lang="en-US" dirty="0"/>
              <a:t>Click the </a:t>
            </a:r>
            <a:r>
              <a:rPr lang="en-US" b="1" dirty="0"/>
              <a:t>small arrow </a:t>
            </a:r>
            <a:r>
              <a:rPr lang="en-US" dirty="0"/>
              <a:t>in the lower-right corner of the </a:t>
            </a:r>
            <a:r>
              <a:rPr lang="en-US" b="1" dirty="0"/>
              <a:t>Alignment</a:t>
            </a:r>
            <a:r>
              <a:rPr lang="en-US" dirty="0"/>
              <a:t> group on the </a:t>
            </a:r>
            <a:r>
              <a:rPr lang="en-US" b="1" dirty="0"/>
              <a:t>Home</a:t>
            </a:r>
            <a:r>
              <a:rPr lang="en-US" dirty="0"/>
              <a:t> tab.</a:t>
            </a:r>
          </a:p>
          <a:p>
            <a:pPr marL="0" indent="0">
              <a:buNone/>
            </a:pPr>
            <a:br>
              <a:rPr lang="en-US" dirty="0"/>
            </a:br>
            <a:endParaRPr lang="en-US" dirty="0"/>
          </a:p>
        </p:txBody>
      </p:sp>
      <p:pic>
        <p:nvPicPr>
          <p:cNvPr id="5" name="Picture 4">
            <a:extLst>
              <a:ext uri="{FF2B5EF4-FFF2-40B4-BE49-F238E27FC236}">
                <a16:creationId xmlns:a16="http://schemas.microsoft.com/office/drawing/2014/main" id="{ABF579F2-2927-49FC-A5C0-27AB5928C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573016"/>
            <a:ext cx="7620000" cy="3284983"/>
          </a:xfrm>
          <a:prstGeom prst="rect">
            <a:avLst/>
          </a:prstGeom>
        </p:spPr>
      </p:pic>
    </p:spTree>
    <p:extLst>
      <p:ext uri="{BB962C8B-B14F-4D97-AF65-F5344CB8AC3E}">
        <p14:creationId xmlns:p14="http://schemas.microsoft.com/office/powerpoint/2010/main" val="3825317736"/>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use Center Across Selection</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A dialog box will appear. Locate and select the </a:t>
            </a:r>
            <a:r>
              <a:rPr lang="en-US" b="1" dirty="0"/>
              <a:t>Horizontal</a:t>
            </a:r>
            <a:r>
              <a:rPr lang="en-US" dirty="0"/>
              <a:t> drop-down menu, select </a:t>
            </a:r>
            <a:r>
              <a:rPr lang="en-US" b="1" dirty="0"/>
              <a:t>Center Across Selection</a:t>
            </a:r>
            <a:r>
              <a:rPr lang="en-US" dirty="0"/>
              <a:t>, then click </a:t>
            </a:r>
            <a:r>
              <a:rPr lang="en-US" b="1" dirty="0"/>
              <a:t>OK</a:t>
            </a:r>
            <a:r>
              <a:rPr lang="en-US" dirty="0"/>
              <a:t>.</a:t>
            </a:r>
          </a:p>
          <a:p>
            <a:pPr fontAlgn="base"/>
            <a:endParaRPr lang="en-US" dirty="0"/>
          </a:p>
        </p:txBody>
      </p:sp>
      <p:pic>
        <p:nvPicPr>
          <p:cNvPr id="6" name="Picture 5">
            <a:extLst>
              <a:ext uri="{FF2B5EF4-FFF2-40B4-BE49-F238E27FC236}">
                <a16:creationId xmlns:a16="http://schemas.microsoft.com/office/drawing/2014/main" id="{69D79F6F-7A36-4C17-8FD0-481323D17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637" y="2132856"/>
            <a:ext cx="5831731" cy="4464496"/>
          </a:xfrm>
          <a:prstGeom prst="rect">
            <a:avLst/>
          </a:prstGeom>
        </p:spPr>
      </p:pic>
    </p:spTree>
    <p:extLst>
      <p:ext uri="{BB962C8B-B14F-4D97-AF65-F5344CB8AC3E}">
        <p14:creationId xmlns:p14="http://schemas.microsoft.com/office/powerpoint/2010/main" val="2155245554"/>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Autofit/>
          </a:bodyPr>
          <a:lstStyle/>
          <a:p>
            <a:pPr algn="ctr"/>
            <a:r>
              <a:rPr lang="en-US" sz="2800" dirty="0"/>
              <a:t>To use Center Across Selection</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content will be centered across the selected cell range. As you can see, this creates the same visual result as merging and centering, but it preserves each cell within A1:F1.</a:t>
            </a:r>
          </a:p>
          <a:p>
            <a:pPr fontAlgn="base"/>
            <a:endParaRPr lang="en-US" dirty="0"/>
          </a:p>
        </p:txBody>
      </p:sp>
      <p:pic>
        <p:nvPicPr>
          <p:cNvPr id="5" name="Picture 4">
            <a:extLst>
              <a:ext uri="{FF2B5EF4-FFF2-40B4-BE49-F238E27FC236}">
                <a16:creationId xmlns:a16="http://schemas.microsoft.com/office/drawing/2014/main" id="{F9F080DC-B57C-41FA-9EA4-DB01227867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64903"/>
            <a:ext cx="9144000" cy="4293095"/>
          </a:xfrm>
          <a:prstGeom prst="rect">
            <a:avLst/>
          </a:prstGeom>
        </p:spPr>
      </p:pic>
    </p:spTree>
    <p:extLst>
      <p:ext uri="{BB962C8B-B14F-4D97-AF65-F5344CB8AC3E}">
        <p14:creationId xmlns:p14="http://schemas.microsoft.com/office/powerpoint/2010/main" val="1437204252"/>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Excel - Formatting Cells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All cell content uses the same formatting by default, which can make it difficult to read a workbook with a lot of information. </a:t>
            </a:r>
          </a:p>
          <a:p>
            <a:pPr fontAlgn="base"/>
            <a:endParaRPr lang="en-US" dirty="0"/>
          </a:p>
          <a:p>
            <a:pPr fontAlgn="base"/>
            <a:r>
              <a:rPr lang="en-US" dirty="0"/>
              <a:t>Basic formatting can customize the look and feel of your workbook, allowing you to draw attention to specific sections and making your content easier to view and understand.</a:t>
            </a:r>
          </a:p>
        </p:txBody>
      </p:sp>
    </p:spTree>
    <p:extLst>
      <p:ext uri="{BB962C8B-B14F-4D97-AF65-F5344CB8AC3E}">
        <p14:creationId xmlns:p14="http://schemas.microsoft.com/office/powerpoint/2010/main" val="547683660"/>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Excel - Formatting Cells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All cell content uses the same formatting by default, which can make it difficult to read a workbook with a lot of information. </a:t>
            </a:r>
          </a:p>
          <a:p>
            <a:pPr fontAlgn="base"/>
            <a:endParaRPr lang="en-US" dirty="0"/>
          </a:p>
          <a:p>
            <a:pPr fontAlgn="base"/>
            <a:r>
              <a:rPr lang="en-US" dirty="0"/>
              <a:t>Basic formatting can customize the look and feel of your workbook, allowing you to draw attention to specific sections and making your content easier to view and understand.</a:t>
            </a:r>
          </a:p>
        </p:txBody>
      </p:sp>
    </p:spTree>
    <p:extLst>
      <p:ext uri="{BB962C8B-B14F-4D97-AF65-F5344CB8AC3E}">
        <p14:creationId xmlns:p14="http://schemas.microsoft.com/office/powerpoint/2010/main" val="888520759"/>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Excel - Formatting Cells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All cell content uses the same formatting by default, which can make it difficult to read a workbook with a lot of information. </a:t>
            </a:r>
          </a:p>
          <a:p>
            <a:pPr fontAlgn="base"/>
            <a:endParaRPr lang="en-US" dirty="0"/>
          </a:p>
          <a:p>
            <a:pPr fontAlgn="base"/>
            <a:r>
              <a:rPr lang="en-US" dirty="0"/>
              <a:t>Basic formatting can customize the look and feel of your workbook, allowing you to draw attention to specific sections and making your content easier to view and understand.</a:t>
            </a:r>
          </a:p>
        </p:txBody>
      </p:sp>
    </p:spTree>
    <p:extLst>
      <p:ext uri="{BB962C8B-B14F-4D97-AF65-F5344CB8AC3E}">
        <p14:creationId xmlns:p14="http://schemas.microsoft.com/office/powerpoint/2010/main" val="3486336001"/>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To change the font size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a:t>
            </a:r>
            <a:r>
              <a:rPr lang="en-US" b="1" dirty="0"/>
              <a:t>cell(s)</a:t>
            </a:r>
            <a:r>
              <a:rPr lang="en-US" dirty="0"/>
              <a:t> you want to modify.</a:t>
            </a:r>
          </a:p>
          <a:p>
            <a:pPr fontAlgn="base"/>
            <a:endParaRPr lang="en-US" dirty="0"/>
          </a:p>
        </p:txBody>
      </p:sp>
      <p:pic>
        <p:nvPicPr>
          <p:cNvPr id="5" name="Picture 4">
            <a:extLst>
              <a:ext uri="{FF2B5EF4-FFF2-40B4-BE49-F238E27FC236}">
                <a16:creationId xmlns:a16="http://schemas.microsoft.com/office/drawing/2014/main" id="{A100BD28-E27D-4FF6-A4B5-49CF95E3CB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1412776"/>
            <a:ext cx="5976664" cy="3096344"/>
          </a:xfrm>
          <a:prstGeom prst="rect">
            <a:avLst/>
          </a:prstGeom>
        </p:spPr>
      </p:pic>
    </p:spTree>
    <p:extLst>
      <p:ext uri="{BB962C8B-B14F-4D97-AF65-F5344CB8AC3E}">
        <p14:creationId xmlns:p14="http://schemas.microsoft.com/office/powerpoint/2010/main" val="3677047380"/>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To change the font size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On the </a:t>
            </a:r>
            <a:r>
              <a:rPr lang="en-US" b="1" dirty="0"/>
              <a:t>Home</a:t>
            </a:r>
            <a:r>
              <a:rPr lang="en-US" dirty="0"/>
              <a:t> tab, click the </a:t>
            </a:r>
            <a:r>
              <a:rPr lang="en-US" b="1" dirty="0"/>
              <a:t>drop-down arrow </a:t>
            </a:r>
            <a:r>
              <a:rPr lang="en-US" dirty="0"/>
              <a:t>next to the </a:t>
            </a:r>
            <a:r>
              <a:rPr lang="en-US" b="1" dirty="0"/>
              <a:t>Font Size </a:t>
            </a:r>
            <a:r>
              <a:rPr lang="en-US" dirty="0"/>
              <a:t>command, then select the desired font size. In our example, we will choose </a:t>
            </a:r>
            <a:r>
              <a:rPr lang="en-US" b="1" dirty="0"/>
              <a:t>24</a:t>
            </a:r>
            <a:r>
              <a:rPr lang="en-US" dirty="0"/>
              <a:t> to make the text </a:t>
            </a:r>
            <a:r>
              <a:rPr lang="en-US" b="1" dirty="0"/>
              <a:t>larger</a:t>
            </a:r>
            <a:r>
              <a:rPr lang="en-US" dirty="0"/>
              <a:t>.</a:t>
            </a:r>
          </a:p>
        </p:txBody>
      </p:sp>
      <p:pic>
        <p:nvPicPr>
          <p:cNvPr id="6" name="Picture 5">
            <a:extLst>
              <a:ext uri="{FF2B5EF4-FFF2-40B4-BE49-F238E27FC236}">
                <a16:creationId xmlns:a16="http://schemas.microsoft.com/office/drawing/2014/main" id="{8CF45791-9BDD-4D10-ABB4-9A50DDD53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2564904"/>
            <a:ext cx="5040560" cy="4032448"/>
          </a:xfrm>
          <a:prstGeom prst="rect">
            <a:avLst/>
          </a:prstGeom>
        </p:spPr>
      </p:pic>
    </p:spTree>
    <p:extLst>
      <p:ext uri="{BB962C8B-B14F-4D97-AF65-F5344CB8AC3E}">
        <p14:creationId xmlns:p14="http://schemas.microsoft.com/office/powerpoint/2010/main" val="3015174590"/>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To change the font size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text will change to the </a:t>
            </a:r>
            <a:r>
              <a:rPr lang="en-US" b="1" dirty="0"/>
              <a:t>selected font size</a:t>
            </a:r>
            <a:r>
              <a:rPr lang="en-US" dirty="0"/>
              <a:t>.</a:t>
            </a:r>
          </a:p>
        </p:txBody>
      </p:sp>
      <p:pic>
        <p:nvPicPr>
          <p:cNvPr id="5" name="Picture 4">
            <a:extLst>
              <a:ext uri="{FF2B5EF4-FFF2-40B4-BE49-F238E27FC236}">
                <a16:creationId xmlns:a16="http://schemas.microsoft.com/office/drawing/2014/main" id="{A6E4C8B9-BB7E-48A4-A7F6-0E9614612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1196752"/>
            <a:ext cx="6984776" cy="3237135"/>
          </a:xfrm>
          <a:prstGeom prst="rect">
            <a:avLst/>
          </a:prstGeom>
        </p:spPr>
      </p:pic>
    </p:spTree>
    <p:extLst>
      <p:ext uri="{BB962C8B-B14F-4D97-AF65-F5344CB8AC3E}">
        <p14:creationId xmlns:p14="http://schemas.microsoft.com/office/powerpoint/2010/main" val="3679583915"/>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Autofit/>
          </a:bodyPr>
          <a:lstStyle/>
          <a:p>
            <a:pPr algn="ctr"/>
            <a:r>
              <a:rPr lang="en-US" sz="2800" dirty="0"/>
              <a:t>To change the font size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text will change to the </a:t>
            </a:r>
            <a:r>
              <a:rPr lang="en-US" b="1" dirty="0"/>
              <a:t>selected font size</a:t>
            </a:r>
            <a:r>
              <a:rPr lang="en-US" dirty="0"/>
              <a:t>.</a:t>
            </a:r>
          </a:p>
          <a:p>
            <a:pPr fontAlgn="base"/>
            <a:endParaRPr lang="en-US" dirty="0"/>
          </a:p>
          <a:p>
            <a:pPr fontAlgn="base"/>
            <a:endParaRPr lang="en-US" dirty="0"/>
          </a:p>
          <a:p>
            <a:pPr fontAlgn="base"/>
            <a:endParaRPr lang="en-US" dirty="0"/>
          </a:p>
          <a:p>
            <a:pPr marL="0" indent="0" fontAlgn="base">
              <a:buNone/>
            </a:pPr>
            <a:endParaRPr lang="en-US" dirty="0"/>
          </a:p>
          <a:p>
            <a:pPr fontAlgn="base"/>
            <a:r>
              <a:rPr lang="en-US" dirty="0"/>
              <a:t>You can also use the </a:t>
            </a:r>
            <a:r>
              <a:rPr lang="en-US" b="1" dirty="0"/>
              <a:t>Increase Font Size </a:t>
            </a:r>
            <a:r>
              <a:rPr lang="en-US" dirty="0"/>
              <a:t>and Decrease Font Size commands or enter a </a:t>
            </a:r>
            <a:r>
              <a:rPr lang="en-US" b="1" dirty="0"/>
              <a:t>custom font size</a:t>
            </a:r>
            <a:r>
              <a:rPr lang="en-US" dirty="0"/>
              <a:t> using your keyboard.</a:t>
            </a:r>
          </a:p>
        </p:txBody>
      </p:sp>
      <p:pic>
        <p:nvPicPr>
          <p:cNvPr id="5" name="Picture 4">
            <a:extLst>
              <a:ext uri="{FF2B5EF4-FFF2-40B4-BE49-F238E27FC236}">
                <a16:creationId xmlns:a16="http://schemas.microsoft.com/office/drawing/2014/main" id="{A6E4C8B9-BB7E-48A4-A7F6-0E96146128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6724" y="1010657"/>
            <a:ext cx="6984776" cy="2202319"/>
          </a:xfrm>
          <a:prstGeom prst="rect">
            <a:avLst/>
          </a:prstGeom>
        </p:spPr>
      </p:pic>
      <p:pic>
        <p:nvPicPr>
          <p:cNvPr id="6" name="Picture 5">
            <a:extLst>
              <a:ext uri="{FF2B5EF4-FFF2-40B4-BE49-F238E27FC236}">
                <a16:creationId xmlns:a16="http://schemas.microsoft.com/office/drawing/2014/main" id="{98DDC3DA-B16C-4CF9-A875-166974C1DA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9832" y="5108212"/>
            <a:ext cx="3816424" cy="1749787"/>
          </a:xfrm>
          <a:prstGeom prst="rect">
            <a:avLst/>
          </a:prstGeom>
        </p:spPr>
      </p:pic>
    </p:spTree>
    <p:extLst>
      <p:ext uri="{BB962C8B-B14F-4D97-AF65-F5344CB8AC3E}">
        <p14:creationId xmlns:p14="http://schemas.microsoft.com/office/powerpoint/2010/main" val="2354399111"/>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font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By default, the font of each new workbook is set to Calibri. However, Excel provides many other fonts you can use to customize your cell text. </a:t>
            </a:r>
          </a:p>
          <a:p>
            <a:pPr fontAlgn="base"/>
            <a:endParaRPr lang="en-US" dirty="0"/>
          </a:p>
          <a:p>
            <a:pPr fontAlgn="base"/>
            <a:endParaRPr lang="en-US" dirty="0"/>
          </a:p>
          <a:p>
            <a:pPr fontAlgn="base"/>
            <a:r>
              <a:rPr lang="en-US" dirty="0"/>
              <a:t>In the example below, we'll format our </a:t>
            </a:r>
            <a:r>
              <a:rPr lang="en-US" b="1" dirty="0"/>
              <a:t>title cell </a:t>
            </a:r>
            <a:r>
              <a:rPr lang="en-US" dirty="0"/>
              <a:t>to help distinguish it from the rest of the worksheet.</a:t>
            </a:r>
          </a:p>
        </p:txBody>
      </p:sp>
    </p:spTree>
    <p:extLst>
      <p:ext uri="{BB962C8B-B14F-4D97-AF65-F5344CB8AC3E}">
        <p14:creationId xmlns:p14="http://schemas.microsoft.com/office/powerpoint/2010/main" val="1048134617"/>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font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a:t>
            </a:r>
            <a:r>
              <a:rPr lang="en-US" b="1" dirty="0"/>
              <a:t>cell(s)</a:t>
            </a:r>
            <a:r>
              <a:rPr lang="en-US" dirty="0"/>
              <a:t> you want to modify.</a:t>
            </a:r>
          </a:p>
          <a:p>
            <a:pPr fontAlgn="base"/>
            <a:endParaRPr lang="en-US" dirty="0"/>
          </a:p>
          <a:p>
            <a:pPr fontAlgn="base"/>
            <a:endParaRPr lang="en-US" dirty="0"/>
          </a:p>
          <a:p>
            <a:pPr marL="0" indent="0" fontAlgn="base">
              <a:buNone/>
            </a:pPr>
            <a:endParaRPr lang="en-US" dirty="0"/>
          </a:p>
          <a:p>
            <a:pPr marL="0" indent="0" fontAlgn="base">
              <a:buNone/>
            </a:pPr>
            <a:endParaRPr lang="en-US" dirty="0"/>
          </a:p>
        </p:txBody>
      </p:sp>
      <p:pic>
        <p:nvPicPr>
          <p:cNvPr id="5" name="Picture 4">
            <a:extLst>
              <a:ext uri="{FF2B5EF4-FFF2-40B4-BE49-F238E27FC236}">
                <a16:creationId xmlns:a16="http://schemas.microsoft.com/office/drawing/2014/main" id="{EDEB6274-E09C-4F95-98D3-E38D6C63FD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1122264"/>
            <a:ext cx="4392488" cy="2666776"/>
          </a:xfrm>
          <a:prstGeom prst="rect">
            <a:avLst/>
          </a:prstGeom>
        </p:spPr>
      </p:pic>
    </p:spTree>
    <p:extLst>
      <p:ext uri="{BB962C8B-B14F-4D97-AF65-F5344CB8AC3E}">
        <p14:creationId xmlns:p14="http://schemas.microsoft.com/office/powerpoint/2010/main" val="3479317777"/>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font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On the </a:t>
            </a:r>
            <a:r>
              <a:rPr lang="en-US" b="1" dirty="0"/>
              <a:t>Home</a:t>
            </a:r>
            <a:r>
              <a:rPr lang="en-US" dirty="0"/>
              <a:t> tab, click the </a:t>
            </a:r>
            <a:r>
              <a:rPr lang="en-US" b="1" dirty="0"/>
              <a:t>drop-down arrow</a:t>
            </a:r>
            <a:r>
              <a:rPr lang="en-US" dirty="0"/>
              <a:t> next to the </a:t>
            </a:r>
            <a:r>
              <a:rPr lang="en-US" b="1" dirty="0"/>
              <a:t>Font</a:t>
            </a:r>
            <a:r>
              <a:rPr lang="en-US" dirty="0"/>
              <a:t> command, then select the desired </a:t>
            </a:r>
            <a:r>
              <a:rPr lang="en-US" b="1" dirty="0"/>
              <a:t>font</a:t>
            </a:r>
            <a:r>
              <a:rPr lang="en-US" dirty="0"/>
              <a:t>. In our example, we'll choose </a:t>
            </a:r>
            <a:r>
              <a:rPr lang="en-US" b="1" dirty="0"/>
              <a:t>Century Gothic</a:t>
            </a:r>
            <a:r>
              <a:rPr lang="en-US" dirty="0"/>
              <a:t>.</a:t>
            </a:r>
          </a:p>
        </p:txBody>
      </p:sp>
      <p:pic>
        <p:nvPicPr>
          <p:cNvPr id="6" name="Picture 5">
            <a:extLst>
              <a:ext uri="{FF2B5EF4-FFF2-40B4-BE49-F238E27FC236}">
                <a16:creationId xmlns:a16="http://schemas.microsoft.com/office/drawing/2014/main" id="{28C0070A-5E06-4EE8-A599-9A5909E1F7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2129618"/>
            <a:ext cx="5328592" cy="4107694"/>
          </a:xfrm>
          <a:prstGeom prst="rect">
            <a:avLst/>
          </a:prstGeom>
        </p:spPr>
      </p:pic>
    </p:spTree>
    <p:extLst>
      <p:ext uri="{BB962C8B-B14F-4D97-AF65-F5344CB8AC3E}">
        <p14:creationId xmlns:p14="http://schemas.microsoft.com/office/powerpoint/2010/main" val="2726250762"/>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font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text will change to the </a:t>
            </a:r>
            <a:r>
              <a:rPr lang="en-US" b="1" dirty="0"/>
              <a:t>selected font</a:t>
            </a:r>
            <a:r>
              <a:rPr lang="en-US" dirty="0"/>
              <a:t>.</a:t>
            </a:r>
            <a:br>
              <a:rPr lang="en-US" dirty="0"/>
            </a:br>
            <a:endParaRPr lang="en-US" dirty="0"/>
          </a:p>
        </p:txBody>
      </p:sp>
      <p:pic>
        <p:nvPicPr>
          <p:cNvPr id="5" name="Picture 4">
            <a:extLst>
              <a:ext uri="{FF2B5EF4-FFF2-40B4-BE49-F238E27FC236}">
                <a16:creationId xmlns:a16="http://schemas.microsoft.com/office/drawing/2014/main" id="{0FE0F1E5-7FD0-4505-9079-BF1BAC36F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1196752"/>
            <a:ext cx="6048672" cy="3312368"/>
          </a:xfrm>
          <a:prstGeom prst="rect">
            <a:avLst/>
          </a:prstGeom>
        </p:spPr>
      </p:pic>
    </p:spTree>
    <p:extLst>
      <p:ext uri="{BB962C8B-B14F-4D97-AF65-F5344CB8AC3E}">
        <p14:creationId xmlns:p14="http://schemas.microsoft.com/office/powerpoint/2010/main" val="527490258"/>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font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a:t>
            </a:r>
            <a:r>
              <a:rPr lang="en-US" b="1" dirty="0"/>
              <a:t>cell(s)</a:t>
            </a:r>
            <a:r>
              <a:rPr lang="en-US" dirty="0"/>
              <a:t> you want to modify.</a:t>
            </a:r>
          </a:p>
          <a:p>
            <a:pPr fontAlgn="base"/>
            <a:endParaRPr lang="en-US" dirty="0"/>
          </a:p>
          <a:p>
            <a:pPr fontAlgn="base"/>
            <a:endParaRPr lang="en-US" dirty="0"/>
          </a:p>
          <a:p>
            <a:pPr marL="0" indent="0" fontAlgn="base">
              <a:buNone/>
            </a:pPr>
            <a:endParaRPr lang="en-US" dirty="0"/>
          </a:p>
          <a:p>
            <a:pPr fontAlgn="base"/>
            <a:r>
              <a:rPr lang="en-US" dirty="0"/>
              <a:t>On the </a:t>
            </a:r>
            <a:r>
              <a:rPr lang="en-US" b="1" dirty="0"/>
              <a:t>Home</a:t>
            </a:r>
            <a:r>
              <a:rPr lang="en-US" dirty="0"/>
              <a:t> tab, click the </a:t>
            </a:r>
            <a:r>
              <a:rPr lang="en-US" b="1" dirty="0"/>
              <a:t>drop-down arrow </a:t>
            </a:r>
            <a:r>
              <a:rPr lang="en-US" dirty="0"/>
              <a:t>next to the </a:t>
            </a:r>
            <a:r>
              <a:rPr lang="en-US" b="1" dirty="0"/>
              <a:t>Font Color </a:t>
            </a:r>
            <a:r>
              <a:rPr lang="en-US" dirty="0"/>
              <a:t>command, then select the desired font color. In our example, we'll choose </a:t>
            </a:r>
            <a:r>
              <a:rPr lang="en-US" b="1" dirty="0"/>
              <a:t>Green</a:t>
            </a:r>
            <a:r>
              <a:rPr lang="en-US" dirty="0"/>
              <a:t>.</a:t>
            </a:r>
          </a:p>
        </p:txBody>
      </p:sp>
      <p:pic>
        <p:nvPicPr>
          <p:cNvPr id="6" name="Picture 5">
            <a:extLst>
              <a:ext uri="{FF2B5EF4-FFF2-40B4-BE49-F238E27FC236}">
                <a16:creationId xmlns:a16="http://schemas.microsoft.com/office/drawing/2014/main" id="{96C863AE-3E7E-42B8-BF85-71B8976F5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997967"/>
            <a:ext cx="4276725" cy="1827584"/>
          </a:xfrm>
          <a:prstGeom prst="rect">
            <a:avLst/>
          </a:prstGeom>
        </p:spPr>
      </p:pic>
      <p:pic>
        <p:nvPicPr>
          <p:cNvPr id="8" name="Picture 7">
            <a:extLst>
              <a:ext uri="{FF2B5EF4-FFF2-40B4-BE49-F238E27FC236}">
                <a16:creationId xmlns:a16="http://schemas.microsoft.com/office/drawing/2014/main" id="{E001A5CB-B328-48BE-BACA-7E3929811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3808" y="4365104"/>
            <a:ext cx="4057650" cy="2420887"/>
          </a:xfrm>
          <a:prstGeom prst="rect">
            <a:avLst/>
          </a:prstGeom>
        </p:spPr>
      </p:pic>
    </p:spTree>
    <p:extLst>
      <p:ext uri="{BB962C8B-B14F-4D97-AF65-F5344CB8AC3E}">
        <p14:creationId xmlns:p14="http://schemas.microsoft.com/office/powerpoint/2010/main" val="795361068"/>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font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text will change to the </a:t>
            </a:r>
            <a:r>
              <a:rPr lang="en-US" b="1" dirty="0"/>
              <a:t>selected font color</a:t>
            </a:r>
            <a:r>
              <a:rPr lang="en-US" dirty="0"/>
              <a:t>.</a:t>
            </a:r>
          </a:p>
          <a:p>
            <a:pPr fontAlgn="base"/>
            <a:endParaRPr lang="en-US" dirty="0"/>
          </a:p>
          <a:p>
            <a:pPr fontAlgn="base"/>
            <a:endParaRPr lang="en-US" dirty="0"/>
          </a:p>
          <a:p>
            <a:pPr fontAlgn="base"/>
            <a:endParaRPr lang="en-US" dirty="0"/>
          </a:p>
          <a:p>
            <a:pPr fontAlgn="base"/>
            <a:endParaRPr lang="en-US" dirty="0"/>
          </a:p>
          <a:p>
            <a:pPr fontAlgn="base"/>
            <a:r>
              <a:rPr lang="en-US" dirty="0"/>
              <a:t>Select </a:t>
            </a:r>
            <a:r>
              <a:rPr lang="en-US" b="1" dirty="0"/>
              <a:t>More Colors </a:t>
            </a:r>
            <a:r>
              <a:rPr lang="en-US" dirty="0"/>
              <a:t>at the bottom of the menu to access additional color options. We've changed the font color to a bright pink.</a:t>
            </a:r>
          </a:p>
        </p:txBody>
      </p:sp>
      <p:pic>
        <p:nvPicPr>
          <p:cNvPr id="5" name="Picture 4">
            <a:extLst>
              <a:ext uri="{FF2B5EF4-FFF2-40B4-BE49-F238E27FC236}">
                <a16:creationId xmlns:a16="http://schemas.microsoft.com/office/drawing/2014/main" id="{B44636E4-C87D-4DE8-A1CD-553B486F7E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1438275"/>
            <a:ext cx="4276725" cy="1990725"/>
          </a:xfrm>
          <a:prstGeom prst="rect">
            <a:avLst/>
          </a:prstGeom>
        </p:spPr>
      </p:pic>
      <p:pic>
        <p:nvPicPr>
          <p:cNvPr id="9" name="Picture 8">
            <a:extLst>
              <a:ext uri="{FF2B5EF4-FFF2-40B4-BE49-F238E27FC236}">
                <a16:creationId xmlns:a16="http://schemas.microsoft.com/office/drawing/2014/main" id="{749C6E79-CB2C-40D4-BE03-72E270707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0072" y="4725144"/>
            <a:ext cx="3105150" cy="1990725"/>
          </a:xfrm>
          <a:prstGeom prst="rect">
            <a:avLst/>
          </a:prstGeom>
        </p:spPr>
      </p:pic>
    </p:spTree>
    <p:extLst>
      <p:ext uri="{BB962C8B-B14F-4D97-AF65-F5344CB8AC3E}">
        <p14:creationId xmlns:p14="http://schemas.microsoft.com/office/powerpoint/2010/main" val="1881301539"/>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use the Bold, Italic, and Underline commands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Select the </a:t>
            </a:r>
            <a:r>
              <a:rPr lang="en-US" b="1" dirty="0"/>
              <a:t>cell(s)</a:t>
            </a:r>
            <a:r>
              <a:rPr lang="en-US" dirty="0"/>
              <a:t> you want to modify.</a:t>
            </a:r>
          </a:p>
          <a:p>
            <a:pPr fontAlgn="base"/>
            <a:endParaRPr lang="en-US" dirty="0"/>
          </a:p>
          <a:p>
            <a:pPr fontAlgn="base"/>
            <a:endParaRPr lang="en-US" dirty="0"/>
          </a:p>
          <a:p>
            <a:pPr fontAlgn="base"/>
            <a:endParaRPr lang="en-US" dirty="0"/>
          </a:p>
          <a:p>
            <a:pPr fontAlgn="base"/>
            <a:endParaRPr lang="en-US" dirty="0"/>
          </a:p>
          <a:p>
            <a:pPr fontAlgn="base"/>
            <a:r>
              <a:rPr lang="en-US" dirty="0"/>
              <a:t>Click the Bold (B), Italic (I), or Underline (U) command on the Home tab. In our example, we'll make the selected cells bold.</a:t>
            </a:r>
          </a:p>
        </p:txBody>
      </p:sp>
      <p:pic>
        <p:nvPicPr>
          <p:cNvPr id="6" name="Picture 5">
            <a:extLst>
              <a:ext uri="{FF2B5EF4-FFF2-40B4-BE49-F238E27FC236}">
                <a16:creationId xmlns:a16="http://schemas.microsoft.com/office/drawing/2014/main" id="{6CD2B287-9F20-4B21-BE18-A632CD4E66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720" y="1268760"/>
            <a:ext cx="4276725" cy="1990725"/>
          </a:xfrm>
          <a:prstGeom prst="rect">
            <a:avLst/>
          </a:prstGeom>
        </p:spPr>
      </p:pic>
      <p:pic>
        <p:nvPicPr>
          <p:cNvPr id="8" name="Picture 7">
            <a:extLst>
              <a:ext uri="{FF2B5EF4-FFF2-40B4-BE49-F238E27FC236}">
                <a16:creationId xmlns:a16="http://schemas.microsoft.com/office/drawing/2014/main" id="{322C806E-4FE0-4600-8B75-3804383758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4088" y="4725144"/>
            <a:ext cx="3118222" cy="1990724"/>
          </a:xfrm>
          <a:prstGeom prst="rect">
            <a:avLst/>
          </a:prstGeom>
        </p:spPr>
      </p:pic>
    </p:spTree>
    <p:extLst>
      <p:ext uri="{BB962C8B-B14F-4D97-AF65-F5344CB8AC3E}">
        <p14:creationId xmlns:p14="http://schemas.microsoft.com/office/powerpoint/2010/main" val="1940727027"/>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use the Bold, Italic, and Underline commands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a:t>
            </a:r>
            <a:r>
              <a:rPr lang="en-US" b="1" dirty="0"/>
              <a:t>selected style</a:t>
            </a:r>
            <a:r>
              <a:rPr lang="en-US" dirty="0"/>
              <a:t> will be applied to the text.</a:t>
            </a:r>
          </a:p>
          <a:p>
            <a:pPr fontAlgn="base"/>
            <a:endParaRPr lang="en-US" dirty="0"/>
          </a:p>
          <a:p>
            <a:pPr fontAlgn="base"/>
            <a:endParaRPr lang="en-US" dirty="0"/>
          </a:p>
          <a:p>
            <a:pPr fontAlgn="base"/>
            <a:endParaRPr lang="en-US" dirty="0"/>
          </a:p>
          <a:p>
            <a:pPr fontAlgn="base"/>
            <a:endParaRPr lang="en-US" dirty="0"/>
          </a:p>
          <a:p>
            <a:pPr marL="0" indent="0" fontAlgn="base">
              <a:buNone/>
            </a:pPr>
            <a:endParaRPr lang="en-US" dirty="0"/>
          </a:p>
          <a:p>
            <a:pPr fontAlgn="base"/>
            <a:r>
              <a:rPr lang="en-US" dirty="0"/>
              <a:t>You can also press </a:t>
            </a:r>
            <a:r>
              <a:rPr lang="en-US" b="1" dirty="0" err="1"/>
              <a:t>Ctrl+B</a:t>
            </a:r>
            <a:r>
              <a:rPr lang="en-US" dirty="0"/>
              <a:t> on your keyboard to make selected text </a:t>
            </a:r>
            <a:r>
              <a:rPr lang="en-US" b="1" dirty="0"/>
              <a:t>bold</a:t>
            </a:r>
            <a:r>
              <a:rPr lang="en-US" dirty="0"/>
              <a:t>, </a:t>
            </a:r>
            <a:r>
              <a:rPr lang="en-US" b="1" dirty="0" err="1"/>
              <a:t>Ctrl+I</a:t>
            </a:r>
            <a:r>
              <a:rPr lang="en-US" dirty="0"/>
              <a:t> to apply </a:t>
            </a:r>
            <a:r>
              <a:rPr lang="en-US" b="1" dirty="0"/>
              <a:t>italics</a:t>
            </a:r>
            <a:r>
              <a:rPr lang="en-US" dirty="0"/>
              <a:t>, and </a:t>
            </a:r>
            <a:r>
              <a:rPr lang="en-US" b="1" dirty="0" err="1"/>
              <a:t>Ctrl+U</a:t>
            </a:r>
            <a:r>
              <a:rPr lang="en-US" dirty="0"/>
              <a:t> to apply an </a:t>
            </a:r>
            <a:r>
              <a:rPr lang="en-US" b="1" dirty="0"/>
              <a:t>underline</a:t>
            </a:r>
            <a:r>
              <a:rPr lang="en-US" dirty="0"/>
              <a:t>.</a:t>
            </a:r>
            <a:br>
              <a:rPr lang="en-US" dirty="0"/>
            </a:br>
            <a:endParaRPr lang="en-US" dirty="0"/>
          </a:p>
        </p:txBody>
      </p:sp>
      <p:pic>
        <p:nvPicPr>
          <p:cNvPr id="5" name="Picture 4">
            <a:extLst>
              <a:ext uri="{FF2B5EF4-FFF2-40B4-BE49-F238E27FC236}">
                <a16:creationId xmlns:a16="http://schemas.microsoft.com/office/drawing/2014/main" id="{69F8B631-9AA4-4233-99BA-6AEB9E850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1421355"/>
            <a:ext cx="4276725" cy="2007645"/>
          </a:xfrm>
          <a:prstGeom prst="rect">
            <a:avLst/>
          </a:prstGeom>
        </p:spPr>
      </p:pic>
    </p:spTree>
    <p:extLst>
      <p:ext uri="{BB962C8B-B14F-4D97-AF65-F5344CB8AC3E}">
        <p14:creationId xmlns:p14="http://schemas.microsoft.com/office/powerpoint/2010/main" val="509323029"/>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Cell borders and fill colors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b="1" dirty="0"/>
              <a:t>Cell borders</a:t>
            </a:r>
            <a:r>
              <a:rPr lang="en-US" dirty="0"/>
              <a:t> and</a:t>
            </a:r>
            <a:r>
              <a:rPr lang="en-US" b="1" dirty="0"/>
              <a:t> fill colors</a:t>
            </a:r>
            <a:r>
              <a:rPr lang="en-US" dirty="0"/>
              <a:t> allow you to create clear and defined boundaries for different sections of your worksheet. </a:t>
            </a:r>
          </a:p>
          <a:p>
            <a:pPr algn="just" fontAlgn="base"/>
            <a:endParaRPr lang="en-US" dirty="0"/>
          </a:p>
          <a:p>
            <a:pPr algn="just" fontAlgn="base"/>
            <a:r>
              <a:rPr lang="en-US" dirty="0"/>
              <a:t>Below, we'll add cell borders and fill color to our </a:t>
            </a:r>
            <a:r>
              <a:rPr lang="en-US" b="1" dirty="0"/>
              <a:t>header cells</a:t>
            </a:r>
            <a:r>
              <a:rPr lang="en-US" dirty="0"/>
              <a:t> to help distinguish them from the rest of the worksheet.</a:t>
            </a:r>
          </a:p>
        </p:txBody>
      </p:sp>
    </p:spTree>
    <p:extLst>
      <p:ext uri="{BB962C8B-B14F-4D97-AF65-F5344CB8AC3E}">
        <p14:creationId xmlns:p14="http://schemas.microsoft.com/office/powerpoint/2010/main" val="3039584372"/>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add a fill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Select the </a:t>
            </a:r>
            <a:r>
              <a:rPr lang="en-US" b="1" dirty="0"/>
              <a:t>cell(s)</a:t>
            </a:r>
            <a:r>
              <a:rPr lang="en-US" dirty="0"/>
              <a:t> you want to modify.</a:t>
            </a:r>
            <a:br>
              <a:rPr lang="en-US" dirty="0"/>
            </a:br>
            <a:endParaRPr lang="en-US" dirty="0"/>
          </a:p>
        </p:txBody>
      </p:sp>
      <p:pic>
        <p:nvPicPr>
          <p:cNvPr id="5" name="Picture 4">
            <a:extLst>
              <a:ext uri="{FF2B5EF4-FFF2-40B4-BE49-F238E27FC236}">
                <a16:creationId xmlns:a16="http://schemas.microsoft.com/office/drawing/2014/main" id="{7DD4014C-20D6-4E06-8D51-615A0B87D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3" y="1262361"/>
            <a:ext cx="9144000" cy="2476982"/>
          </a:xfrm>
          <a:prstGeom prst="rect">
            <a:avLst/>
          </a:prstGeom>
        </p:spPr>
      </p:pic>
    </p:spTree>
    <p:extLst>
      <p:ext uri="{BB962C8B-B14F-4D97-AF65-F5344CB8AC3E}">
        <p14:creationId xmlns:p14="http://schemas.microsoft.com/office/powerpoint/2010/main" val="2720676038"/>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add a fill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On the </a:t>
            </a:r>
            <a:r>
              <a:rPr lang="en-US" b="1" dirty="0"/>
              <a:t>Home</a:t>
            </a:r>
            <a:r>
              <a:rPr lang="en-US" dirty="0"/>
              <a:t> tab, click the </a:t>
            </a:r>
            <a:r>
              <a:rPr lang="en-US" b="1" dirty="0"/>
              <a:t>drop-down arrow</a:t>
            </a:r>
            <a:r>
              <a:rPr lang="en-US" dirty="0"/>
              <a:t> next to the </a:t>
            </a:r>
            <a:r>
              <a:rPr lang="en-US" b="1" dirty="0"/>
              <a:t>Fill Color</a:t>
            </a:r>
            <a:r>
              <a:rPr lang="en-US" dirty="0"/>
              <a:t> command, then select the</a:t>
            </a:r>
            <a:r>
              <a:rPr lang="en-US" b="1" dirty="0"/>
              <a:t> fill color</a:t>
            </a:r>
            <a:r>
              <a:rPr lang="en-US" dirty="0"/>
              <a:t> you want to use. In our example, we'll choose a dark gray.</a:t>
            </a:r>
          </a:p>
        </p:txBody>
      </p:sp>
      <p:pic>
        <p:nvPicPr>
          <p:cNvPr id="6" name="Picture 5">
            <a:extLst>
              <a:ext uri="{FF2B5EF4-FFF2-40B4-BE49-F238E27FC236}">
                <a16:creationId xmlns:a16="http://schemas.microsoft.com/office/drawing/2014/main" id="{3A7DB031-D675-41C4-B5BC-A1450B24C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8436" y="2564904"/>
            <a:ext cx="4227859" cy="3672408"/>
          </a:xfrm>
          <a:prstGeom prst="rect">
            <a:avLst/>
          </a:prstGeom>
        </p:spPr>
      </p:pic>
    </p:spTree>
    <p:extLst>
      <p:ext uri="{BB962C8B-B14F-4D97-AF65-F5344CB8AC3E}">
        <p14:creationId xmlns:p14="http://schemas.microsoft.com/office/powerpoint/2010/main" val="2814830276"/>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add a fill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The selected fill color will appear in the selected cells. We've also changed the font color to white to make it more readable with this dark fill color.</a:t>
            </a:r>
          </a:p>
        </p:txBody>
      </p:sp>
      <p:pic>
        <p:nvPicPr>
          <p:cNvPr id="5" name="Picture 4">
            <a:extLst>
              <a:ext uri="{FF2B5EF4-FFF2-40B4-BE49-F238E27FC236}">
                <a16:creationId xmlns:a16="http://schemas.microsoft.com/office/drawing/2014/main" id="{70FC2A29-A2A0-463C-9E7E-FD9FCBBCF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90509"/>
            <a:ext cx="9144000" cy="2476982"/>
          </a:xfrm>
          <a:prstGeom prst="rect">
            <a:avLst/>
          </a:prstGeom>
        </p:spPr>
      </p:pic>
    </p:spTree>
    <p:extLst>
      <p:ext uri="{BB962C8B-B14F-4D97-AF65-F5344CB8AC3E}">
        <p14:creationId xmlns:p14="http://schemas.microsoft.com/office/powerpoint/2010/main" val="247641316"/>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add a border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Select the cell(s) you want to modify.</a:t>
            </a:r>
          </a:p>
        </p:txBody>
      </p:sp>
      <p:pic>
        <p:nvPicPr>
          <p:cNvPr id="6" name="Picture 5">
            <a:extLst>
              <a:ext uri="{FF2B5EF4-FFF2-40B4-BE49-F238E27FC236}">
                <a16:creationId xmlns:a16="http://schemas.microsoft.com/office/drawing/2014/main" id="{79E43271-CDE3-40FF-A875-C4F17A904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288" y="1262361"/>
            <a:ext cx="9144000" cy="2476982"/>
          </a:xfrm>
          <a:prstGeom prst="rect">
            <a:avLst/>
          </a:prstGeom>
        </p:spPr>
      </p:pic>
    </p:spTree>
    <p:extLst>
      <p:ext uri="{BB962C8B-B14F-4D97-AF65-F5344CB8AC3E}">
        <p14:creationId xmlns:p14="http://schemas.microsoft.com/office/powerpoint/2010/main" val="1499192604"/>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add a border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On the </a:t>
            </a:r>
            <a:r>
              <a:rPr lang="en-US" b="1" dirty="0"/>
              <a:t>Home</a:t>
            </a:r>
            <a:r>
              <a:rPr lang="en-US" dirty="0"/>
              <a:t> tab, click the </a:t>
            </a:r>
            <a:r>
              <a:rPr lang="en-US" b="1" dirty="0"/>
              <a:t>drop-down arrow </a:t>
            </a:r>
            <a:r>
              <a:rPr lang="en-US" dirty="0"/>
              <a:t>next to the </a:t>
            </a:r>
            <a:r>
              <a:rPr lang="en-US" b="1" dirty="0"/>
              <a:t>Borders </a:t>
            </a:r>
            <a:r>
              <a:rPr lang="en-US" dirty="0"/>
              <a:t>command, then select the </a:t>
            </a:r>
            <a:r>
              <a:rPr lang="en-US" b="1" dirty="0"/>
              <a:t>border style </a:t>
            </a:r>
            <a:r>
              <a:rPr lang="en-US" dirty="0"/>
              <a:t>you want to use. In our example, we'll choose to display </a:t>
            </a:r>
            <a:r>
              <a:rPr lang="en-US" b="1" dirty="0"/>
              <a:t>All Borders</a:t>
            </a:r>
            <a:r>
              <a:rPr lang="en-US" dirty="0"/>
              <a:t>.</a:t>
            </a:r>
          </a:p>
        </p:txBody>
      </p:sp>
      <p:pic>
        <p:nvPicPr>
          <p:cNvPr id="5" name="Picture 4">
            <a:extLst>
              <a:ext uri="{FF2B5EF4-FFF2-40B4-BE49-F238E27FC236}">
                <a16:creationId xmlns:a16="http://schemas.microsoft.com/office/drawing/2014/main" id="{5D0DA31E-527D-443E-9D3A-000025277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2636912"/>
            <a:ext cx="4608512" cy="3456384"/>
          </a:xfrm>
          <a:prstGeom prst="rect">
            <a:avLst/>
          </a:prstGeom>
        </p:spPr>
      </p:pic>
    </p:spTree>
    <p:extLst>
      <p:ext uri="{BB962C8B-B14F-4D97-AF65-F5344CB8AC3E}">
        <p14:creationId xmlns:p14="http://schemas.microsoft.com/office/powerpoint/2010/main" val="3189727141"/>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add a border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The </a:t>
            </a:r>
            <a:r>
              <a:rPr lang="en-US" b="1" dirty="0"/>
              <a:t>selected border style </a:t>
            </a:r>
            <a:r>
              <a:rPr lang="en-US" dirty="0"/>
              <a:t>will appear.</a:t>
            </a:r>
          </a:p>
          <a:p>
            <a:pPr algn="just" fontAlgn="base"/>
            <a:endParaRPr lang="en-US" dirty="0"/>
          </a:p>
          <a:p>
            <a:pPr algn="just" fontAlgn="base"/>
            <a:endParaRPr lang="en-US" dirty="0"/>
          </a:p>
          <a:p>
            <a:pPr algn="just" fontAlgn="base"/>
            <a:endParaRPr lang="en-US" dirty="0"/>
          </a:p>
          <a:p>
            <a:pPr marL="0" indent="0" algn="just" fontAlgn="base">
              <a:buNone/>
            </a:pPr>
            <a:endParaRPr lang="en-US" dirty="0"/>
          </a:p>
          <a:p>
            <a:pPr algn="just" fontAlgn="base"/>
            <a:r>
              <a:rPr lang="en-US" dirty="0"/>
              <a:t>You can draw borders and change the </a:t>
            </a:r>
            <a:r>
              <a:rPr lang="en-US" b="1" dirty="0"/>
              <a:t>line style </a:t>
            </a:r>
            <a:r>
              <a:rPr lang="en-US" dirty="0"/>
              <a:t>and </a:t>
            </a:r>
            <a:r>
              <a:rPr lang="en-US" b="1" dirty="0"/>
              <a:t>color</a:t>
            </a:r>
            <a:r>
              <a:rPr lang="en-US" dirty="0"/>
              <a:t> of borders with the </a:t>
            </a:r>
            <a:r>
              <a:rPr lang="en-US" b="1" dirty="0"/>
              <a:t>Draw Borders </a:t>
            </a:r>
            <a:r>
              <a:rPr lang="en-US" dirty="0"/>
              <a:t>tools at the bottom of the Borders drop-down menu.</a:t>
            </a:r>
          </a:p>
          <a:p>
            <a:pPr algn="just" fontAlgn="base"/>
            <a:endParaRPr lang="en-US" dirty="0"/>
          </a:p>
          <a:p>
            <a:pPr algn="just" fontAlgn="base"/>
            <a:endParaRPr lang="en-US" dirty="0"/>
          </a:p>
        </p:txBody>
      </p:sp>
      <p:pic>
        <p:nvPicPr>
          <p:cNvPr id="6" name="Picture 5">
            <a:extLst>
              <a:ext uri="{FF2B5EF4-FFF2-40B4-BE49-F238E27FC236}">
                <a16:creationId xmlns:a16="http://schemas.microsoft.com/office/drawing/2014/main" id="{D6237E9A-4A45-4E88-8F18-29A8A63A8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67183"/>
            <a:ext cx="9144000" cy="1628775"/>
          </a:xfrm>
          <a:prstGeom prst="rect">
            <a:avLst/>
          </a:prstGeom>
        </p:spPr>
      </p:pic>
      <p:pic>
        <p:nvPicPr>
          <p:cNvPr id="8" name="Picture 7">
            <a:extLst>
              <a:ext uri="{FF2B5EF4-FFF2-40B4-BE49-F238E27FC236}">
                <a16:creationId xmlns:a16="http://schemas.microsoft.com/office/drawing/2014/main" id="{08F97D92-4D6E-4C77-8086-85EB1319E6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4048" y="4976429"/>
            <a:ext cx="2105025" cy="1628775"/>
          </a:xfrm>
          <a:prstGeom prst="rect">
            <a:avLst/>
          </a:prstGeom>
        </p:spPr>
      </p:pic>
    </p:spTree>
    <p:extLst>
      <p:ext uri="{BB962C8B-B14F-4D97-AF65-F5344CB8AC3E}">
        <p14:creationId xmlns:p14="http://schemas.microsoft.com/office/powerpoint/2010/main" val="235813314"/>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Cell styles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Instead of formatting cells manually, you can use Excel's </a:t>
            </a:r>
            <a:r>
              <a:rPr lang="en-US" b="1" dirty="0"/>
              <a:t>predesigned cell styles</a:t>
            </a:r>
            <a:r>
              <a:rPr lang="en-US" dirty="0"/>
              <a:t>. </a:t>
            </a:r>
          </a:p>
          <a:p>
            <a:pPr algn="just" fontAlgn="base"/>
            <a:endParaRPr lang="en-US" dirty="0"/>
          </a:p>
          <a:p>
            <a:pPr algn="just" fontAlgn="base"/>
            <a:r>
              <a:rPr lang="en-US" dirty="0"/>
              <a:t>Cell styles are a quick way to include professional formatting for different parts of your workbook, like </a:t>
            </a:r>
            <a:r>
              <a:rPr lang="en-US" b="1" dirty="0"/>
              <a:t>titles</a:t>
            </a:r>
            <a:r>
              <a:rPr lang="en-US" dirty="0"/>
              <a:t> and </a:t>
            </a:r>
            <a:r>
              <a:rPr lang="en-US" b="1" dirty="0"/>
              <a:t>headers</a:t>
            </a:r>
            <a:r>
              <a:rPr lang="en-US" dirty="0"/>
              <a:t>.</a:t>
            </a:r>
          </a:p>
        </p:txBody>
      </p:sp>
    </p:spTree>
    <p:extLst>
      <p:ext uri="{BB962C8B-B14F-4D97-AF65-F5344CB8AC3E}">
        <p14:creationId xmlns:p14="http://schemas.microsoft.com/office/powerpoint/2010/main" val="2141061023"/>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apply a cell style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In our example, we'll apply a new cell style to our existing </a:t>
            </a:r>
            <a:r>
              <a:rPr lang="en-US" b="1" dirty="0"/>
              <a:t>title</a:t>
            </a:r>
            <a:r>
              <a:rPr lang="en-US" dirty="0"/>
              <a:t> and </a:t>
            </a:r>
            <a:r>
              <a:rPr lang="en-US" b="1" dirty="0"/>
              <a:t>header</a:t>
            </a:r>
            <a:r>
              <a:rPr lang="en-US" dirty="0"/>
              <a:t> </a:t>
            </a:r>
            <a:r>
              <a:rPr lang="en-US" b="1" dirty="0"/>
              <a:t>cells</a:t>
            </a:r>
            <a:r>
              <a:rPr lang="en-US" dirty="0"/>
              <a:t>.</a:t>
            </a:r>
          </a:p>
          <a:p>
            <a:r>
              <a:rPr lang="en-US" dirty="0"/>
              <a:t>Select the </a:t>
            </a:r>
            <a:r>
              <a:rPr lang="en-US" b="1" dirty="0"/>
              <a:t>cell(s)</a:t>
            </a:r>
            <a:r>
              <a:rPr lang="en-US" dirty="0"/>
              <a:t> you want to modify.</a:t>
            </a:r>
            <a:br>
              <a:rPr lang="en-US" dirty="0"/>
            </a:br>
            <a:endParaRPr lang="en-US" dirty="0"/>
          </a:p>
        </p:txBody>
      </p:sp>
      <p:pic>
        <p:nvPicPr>
          <p:cNvPr id="7" name="Picture 6">
            <a:extLst>
              <a:ext uri="{FF2B5EF4-FFF2-40B4-BE49-F238E27FC236}">
                <a16:creationId xmlns:a16="http://schemas.microsoft.com/office/drawing/2014/main" id="{1A25ABA5-C467-497D-A85A-54B7859D69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90509"/>
            <a:ext cx="9144000" cy="2476982"/>
          </a:xfrm>
          <a:prstGeom prst="rect">
            <a:avLst/>
          </a:prstGeom>
        </p:spPr>
      </p:pic>
    </p:spTree>
    <p:extLst>
      <p:ext uri="{BB962C8B-B14F-4D97-AF65-F5344CB8AC3E}">
        <p14:creationId xmlns:p14="http://schemas.microsoft.com/office/powerpoint/2010/main" val="45515017"/>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apply a cell style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Click the </a:t>
            </a:r>
            <a:r>
              <a:rPr lang="en-US" b="1" dirty="0"/>
              <a:t>Cell Styles </a:t>
            </a:r>
            <a:r>
              <a:rPr lang="en-US" dirty="0"/>
              <a:t>command on the </a:t>
            </a:r>
            <a:r>
              <a:rPr lang="en-US" b="1" dirty="0"/>
              <a:t>Home</a:t>
            </a:r>
            <a:r>
              <a:rPr lang="en-US" dirty="0"/>
              <a:t> tab, then choose the </a:t>
            </a:r>
            <a:r>
              <a:rPr lang="en-US" b="1" dirty="0"/>
              <a:t>desired style</a:t>
            </a:r>
            <a:r>
              <a:rPr lang="en-US" dirty="0"/>
              <a:t> from the drop-down menu.</a:t>
            </a:r>
            <a:br>
              <a:rPr lang="en-US" dirty="0"/>
            </a:br>
            <a:endParaRPr lang="en-US" dirty="0"/>
          </a:p>
        </p:txBody>
      </p:sp>
      <p:pic>
        <p:nvPicPr>
          <p:cNvPr id="5" name="Picture 4">
            <a:extLst>
              <a:ext uri="{FF2B5EF4-FFF2-40B4-BE49-F238E27FC236}">
                <a16:creationId xmlns:a16="http://schemas.microsoft.com/office/drawing/2014/main" id="{70E80B5B-0186-4049-8E06-35D38C6C7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337" y="2060848"/>
            <a:ext cx="6791325" cy="3730352"/>
          </a:xfrm>
          <a:prstGeom prst="rect">
            <a:avLst/>
          </a:prstGeom>
        </p:spPr>
      </p:pic>
    </p:spTree>
    <p:extLst>
      <p:ext uri="{BB962C8B-B14F-4D97-AF65-F5344CB8AC3E}">
        <p14:creationId xmlns:p14="http://schemas.microsoft.com/office/powerpoint/2010/main" val="932256978"/>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apply a cell style</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a:t>
            </a:r>
            <a:r>
              <a:rPr lang="en-US" b="1" dirty="0"/>
              <a:t>selected cell style </a:t>
            </a:r>
            <a:r>
              <a:rPr lang="en-US" dirty="0"/>
              <a:t>will appear.</a:t>
            </a:r>
            <a:br>
              <a:rPr lang="en-US" dirty="0"/>
            </a:br>
            <a:endParaRPr lang="en-US" dirty="0"/>
          </a:p>
        </p:txBody>
      </p:sp>
      <p:pic>
        <p:nvPicPr>
          <p:cNvPr id="6" name="Picture 5">
            <a:extLst>
              <a:ext uri="{FF2B5EF4-FFF2-40B4-BE49-F238E27FC236}">
                <a16:creationId xmlns:a16="http://schemas.microsoft.com/office/drawing/2014/main" id="{D6E1BBDD-EF49-42E2-B72F-4FE087962F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84784"/>
            <a:ext cx="9144000" cy="2476982"/>
          </a:xfrm>
          <a:prstGeom prst="rect">
            <a:avLst/>
          </a:prstGeom>
        </p:spPr>
      </p:pic>
    </p:spTree>
    <p:extLst>
      <p:ext uri="{BB962C8B-B14F-4D97-AF65-F5344CB8AC3E}">
        <p14:creationId xmlns:p14="http://schemas.microsoft.com/office/powerpoint/2010/main" val="147612999"/>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Excel - Working with Multiple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Every workbook contains at least one </a:t>
            </a:r>
            <a:r>
              <a:rPr lang="en-US" b="1" dirty="0"/>
              <a:t>worksheet</a:t>
            </a:r>
            <a:r>
              <a:rPr lang="en-US" dirty="0"/>
              <a:t> by default. </a:t>
            </a:r>
          </a:p>
          <a:p>
            <a:pPr algn="just" fontAlgn="base"/>
            <a:endParaRPr lang="en-US" dirty="0"/>
          </a:p>
          <a:p>
            <a:pPr algn="just" fontAlgn="base"/>
            <a:r>
              <a:rPr lang="en-US" dirty="0"/>
              <a:t>When working with a large amount of data, you can create </a:t>
            </a:r>
            <a:r>
              <a:rPr lang="en-US" b="1" dirty="0"/>
              <a:t>multiple worksheets</a:t>
            </a:r>
            <a:r>
              <a:rPr lang="en-US" dirty="0"/>
              <a:t> to help organize your workbook and make it easier to find content. </a:t>
            </a:r>
          </a:p>
          <a:p>
            <a:pPr algn="just" fontAlgn="base"/>
            <a:endParaRPr lang="en-US" dirty="0"/>
          </a:p>
          <a:p>
            <a:pPr algn="just" fontAlgn="base"/>
            <a:r>
              <a:rPr lang="en-US" dirty="0"/>
              <a:t>You can also </a:t>
            </a:r>
            <a:r>
              <a:rPr lang="en-US" b="1" dirty="0"/>
              <a:t>group </a:t>
            </a:r>
            <a:r>
              <a:rPr lang="en-US" dirty="0"/>
              <a:t>worksheets to quickly add information to multiple worksheets at the same time.</a:t>
            </a:r>
          </a:p>
        </p:txBody>
      </p:sp>
    </p:spTree>
    <p:extLst>
      <p:ext uri="{BB962C8B-B14F-4D97-AF65-F5344CB8AC3E}">
        <p14:creationId xmlns:p14="http://schemas.microsoft.com/office/powerpoint/2010/main" val="1844300872"/>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Excel - Working with Multiple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Every workbook contains at least one </a:t>
            </a:r>
            <a:r>
              <a:rPr lang="en-US" b="1" dirty="0"/>
              <a:t>worksheet</a:t>
            </a:r>
            <a:r>
              <a:rPr lang="en-US" dirty="0"/>
              <a:t> by default. </a:t>
            </a:r>
          </a:p>
          <a:p>
            <a:pPr algn="just" fontAlgn="base"/>
            <a:endParaRPr lang="en-US" dirty="0"/>
          </a:p>
          <a:p>
            <a:pPr algn="just" fontAlgn="base"/>
            <a:r>
              <a:rPr lang="en-US" dirty="0"/>
              <a:t>When working with a large amount of data, you can create </a:t>
            </a:r>
            <a:r>
              <a:rPr lang="en-US" b="1" dirty="0"/>
              <a:t>multiple worksheets</a:t>
            </a:r>
            <a:r>
              <a:rPr lang="en-US" dirty="0"/>
              <a:t> to help organize your workbook and make it easier to find content. </a:t>
            </a:r>
          </a:p>
          <a:p>
            <a:pPr algn="just" fontAlgn="base"/>
            <a:endParaRPr lang="en-US" dirty="0"/>
          </a:p>
          <a:p>
            <a:pPr algn="just" fontAlgn="base"/>
            <a:r>
              <a:rPr lang="en-US" dirty="0"/>
              <a:t>You can also </a:t>
            </a:r>
            <a:r>
              <a:rPr lang="en-US" b="1" dirty="0"/>
              <a:t>group </a:t>
            </a:r>
            <a:r>
              <a:rPr lang="en-US" dirty="0"/>
              <a:t>worksheets to quickly add information to multiple worksheets at the same time.</a:t>
            </a:r>
          </a:p>
        </p:txBody>
      </p:sp>
    </p:spTree>
    <p:extLst>
      <p:ext uri="{BB962C8B-B14F-4D97-AF65-F5344CB8AC3E}">
        <p14:creationId xmlns:p14="http://schemas.microsoft.com/office/powerpoint/2010/main" val="1979747489"/>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insert a new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Locate and select the </a:t>
            </a:r>
            <a:r>
              <a:rPr lang="en-US" b="1" dirty="0"/>
              <a:t>New sheet </a:t>
            </a:r>
            <a:r>
              <a:rPr lang="en-US" dirty="0"/>
              <a:t>button near the bottom-right corner of the Excel window.</a:t>
            </a:r>
          </a:p>
        </p:txBody>
      </p:sp>
      <p:pic>
        <p:nvPicPr>
          <p:cNvPr id="5" name="Picture 4">
            <a:extLst>
              <a:ext uri="{FF2B5EF4-FFF2-40B4-BE49-F238E27FC236}">
                <a16:creationId xmlns:a16="http://schemas.microsoft.com/office/drawing/2014/main" id="{81315932-6470-4AB4-99C1-0EA21F9DE5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6812" y="1952836"/>
            <a:ext cx="6810375" cy="2952328"/>
          </a:xfrm>
          <a:prstGeom prst="rect">
            <a:avLst/>
          </a:prstGeom>
        </p:spPr>
      </p:pic>
    </p:spTree>
    <p:extLst>
      <p:ext uri="{BB962C8B-B14F-4D97-AF65-F5344CB8AC3E}">
        <p14:creationId xmlns:p14="http://schemas.microsoft.com/office/powerpoint/2010/main" val="2990981429"/>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insert a new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A </a:t>
            </a:r>
            <a:r>
              <a:rPr lang="en-US" b="1" dirty="0"/>
              <a:t>new blank worksheet </a:t>
            </a:r>
            <a:r>
              <a:rPr lang="en-US" dirty="0"/>
              <a:t>will appear.</a:t>
            </a:r>
          </a:p>
        </p:txBody>
      </p:sp>
      <p:pic>
        <p:nvPicPr>
          <p:cNvPr id="6" name="Picture 5">
            <a:extLst>
              <a:ext uri="{FF2B5EF4-FFF2-40B4-BE49-F238E27FC236}">
                <a16:creationId xmlns:a16="http://schemas.microsoft.com/office/drawing/2014/main" id="{A78BF8F4-E532-44FF-B778-59668E71B8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1412776"/>
            <a:ext cx="6819900" cy="3343275"/>
          </a:xfrm>
          <a:prstGeom prst="rect">
            <a:avLst/>
          </a:prstGeom>
        </p:spPr>
      </p:pic>
    </p:spTree>
    <p:extLst>
      <p:ext uri="{BB962C8B-B14F-4D97-AF65-F5344CB8AC3E}">
        <p14:creationId xmlns:p14="http://schemas.microsoft.com/office/powerpoint/2010/main" val="3357445563"/>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copy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If you need to </a:t>
            </a:r>
            <a:r>
              <a:rPr lang="en-US" b="1" dirty="0"/>
              <a:t>duplicate</a:t>
            </a:r>
            <a:r>
              <a:rPr lang="en-US" dirty="0"/>
              <a:t> the content of one worksheet to another, Excel allows you to copy an existing worksheet.</a:t>
            </a:r>
          </a:p>
          <a:p>
            <a:pPr algn="just" fontAlgn="base"/>
            <a:r>
              <a:rPr lang="en-US" dirty="0"/>
              <a:t>Right-click the worksheet you want to copy, then select </a:t>
            </a:r>
            <a:r>
              <a:rPr lang="en-US" b="1" dirty="0"/>
              <a:t>Move or Copy </a:t>
            </a:r>
            <a:r>
              <a:rPr lang="en-US" dirty="0"/>
              <a:t>from the worksheet menu.</a:t>
            </a:r>
          </a:p>
        </p:txBody>
      </p:sp>
      <p:pic>
        <p:nvPicPr>
          <p:cNvPr id="5" name="Picture 4">
            <a:extLst>
              <a:ext uri="{FF2B5EF4-FFF2-40B4-BE49-F238E27FC236}">
                <a16:creationId xmlns:a16="http://schemas.microsoft.com/office/drawing/2014/main" id="{6676A226-AB35-4CC1-8119-50B08213D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250" y="3068959"/>
            <a:ext cx="5905500" cy="3456385"/>
          </a:xfrm>
          <a:prstGeom prst="rect">
            <a:avLst/>
          </a:prstGeom>
        </p:spPr>
      </p:pic>
    </p:spTree>
    <p:extLst>
      <p:ext uri="{BB962C8B-B14F-4D97-AF65-F5344CB8AC3E}">
        <p14:creationId xmlns:p14="http://schemas.microsoft.com/office/powerpoint/2010/main" val="3388904536"/>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copy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The </a:t>
            </a:r>
            <a:r>
              <a:rPr lang="en-US" b="1" dirty="0"/>
              <a:t>Move or Copy </a:t>
            </a:r>
            <a:r>
              <a:rPr lang="en-US" dirty="0"/>
              <a:t>dialog box will appear. Choose where the sheet will appear in the </a:t>
            </a:r>
            <a:r>
              <a:rPr lang="en-US" b="1" dirty="0"/>
              <a:t>Before sheet</a:t>
            </a:r>
            <a:r>
              <a:rPr lang="en-US" dirty="0"/>
              <a:t>: field. In our example, we'll choose (</a:t>
            </a:r>
            <a:r>
              <a:rPr lang="en-US" b="1" dirty="0"/>
              <a:t>move to end</a:t>
            </a:r>
            <a:r>
              <a:rPr lang="en-US" dirty="0"/>
              <a:t>) to place the worksheet to the right of the existing worksheet.</a:t>
            </a:r>
          </a:p>
          <a:p>
            <a:pPr algn="just" fontAlgn="base"/>
            <a:r>
              <a:rPr lang="en-US" b="1" dirty="0"/>
              <a:t>Check the box </a:t>
            </a:r>
            <a:r>
              <a:rPr lang="en-US" dirty="0"/>
              <a:t>next to </a:t>
            </a:r>
            <a:r>
              <a:rPr lang="en-US" b="1" dirty="0"/>
              <a:t>Create a copy</a:t>
            </a:r>
            <a:r>
              <a:rPr lang="en-US" dirty="0"/>
              <a:t>, then click </a:t>
            </a:r>
            <a:r>
              <a:rPr lang="en-US" b="1" dirty="0"/>
              <a:t>OK</a:t>
            </a:r>
            <a:r>
              <a:rPr lang="en-US" dirty="0"/>
              <a:t>.</a:t>
            </a:r>
          </a:p>
        </p:txBody>
      </p:sp>
      <p:pic>
        <p:nvPicPr>
          <p:cNvPr id="6" name="Picture 5">
            <a:extLst>
              <a:ext uri="{FF2B5EF4-FFF2-40B4-BE49-F238E27FC236}">
                <a16:creationId xmlns:a16="http://schemas.microsoft.com/office/drawing/2014/main" id="{7DC19B2B-E346-476B-9ED5-4E1779866B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9337" y="3717031"/>
            <a:ext cx="4505325" cy="3140968"/>
          </a:xfrm>
          <a:prstGeom prst="rect">
            <a:avLst/>
          </a:prstGeom>
        </p:spPr>
      </p:pic>
    </p:spTree>
    <p:extLst>
      <p:ext uri="{BB962C8B-B14F-4D97-AF65-F5344CB8AC3E}">
        <p14:creationId xmlns:p14="http://schemas.microsoft.com/office/powerpoint/2010/main" val="3125650174"/>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copy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The worksheet will be </a:t>
            </a:r>
            <a:r>
              <a:rPr lang="en-US" b="1" dirty="0"/>
              <a:t>copied</a:t>
            </a:r>
            <a:r>
              <a:rPr lang="en-US" dirty="0"/>
              <a:t>. It will have the same title as the original worksheet, as well as a </a:t>
            </a:r>
            <a:r>
              <a:rPr lang="en-US" b="1" dirty="0"/>
              <a:t>version number</a:t>
            </a:r>
            <a:r>
              <a:rPr lang="en-US" dirty="0"/>
              <a:t>. In our example, we copied the November worksheet, so our new worksheet is named </a:t>
            </a:r>
            <a:r>
              <a:rPr lang="en-US" b="1" dirty="0"/>
              <a:t>November (2)</a:t>
            </a:r>
            <a:r>
              <a:rPr lang="en-US" dirty="0"/>
              <a:t>. All content from the November worksheet has also been copied to the new worksheet.</a:t>
            </a:r>
          </a:p>
        </p:txBody>
      </p:sp>
      <p:pic>
        <p:nvPicPr>
          <p:cNvPr id="5" name="Picture 4">
            <a:extLst>
              <a:ext uri="{FF2B5EF4-FFF2-40B4-BE49-F238E27FC236}">
                <a16:creationId xmlns:a16="http://schemas.microsoft.com/office/drawing/2014/main" id="{94701267-CF14-46E0-BD1D-39785C496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4077072"/>
            <a:ext cx="6334125" cy="2780927"/>
          </a:xfrm>
          <a:prstGeom prst="rect">
            <a:avLst/>
          </a:prstGeom>
        </p:spPr>
      </p:pic>
    </p:spTree>
    <p:extLst>
      <p:ext uri="{BB962C8B-B14F-4D97-AF65-F5344CB8AC3E}">
        <p14:creationId xmlns:p14="http://schemas.microsoft.com/office/powerpoint/2010/main" val="2365347081"/>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rename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Right-click the </a:t>
            </a:r>
            <a:r>
              <a:rPr lang="en-US" b="1" dirty="0"/>
              <a:t>worksheet </a:t>
            </a:r>
            <a:r>
              <a:rPr lang="en-US" dirty="0"/>
              <a:t>you want to rename, then select </a:t>
            </a:r>
            <a:r>
              <a:rPr lang="en-US" b="1" dirty="0"/>
              <a:t>Rename</a:t>
            </a:r>
            <a:r>
              <a:rPr lang="en-US" dirty="0"/>
              <a:t> from the worksheet menu.</a:t>
            </a:r>
          </a:p>
        </p:txBody>
      </p:sp>
      <p:pic>
        <p:nvPicPr>
          <p:cNvPr id="6" name="Picture 5">
            <a:extLst>
              <a:ext uri="{FF2B5EF4-FFF2-40B4-BE49-F238E27FC236}">
                <a16:creationId xmlns:a16="http://schemas.microsoft.com/office/drawing/2014/main" id="{168E2767-6B81-45C2-8266-BED2C2D454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6875" y="1628800"/>
            <a:ext cx="5810250" cy="3976662"/>
          </a:xfrm>
          <a:prstGeom prst="rect">
            <a:avLst/>
          </a:prstGeom>
        </p:spPr>
      </p:pic>
    </p:spTree>
    <p:extLst>
      <p:ext uri="{BB962C8B-B14F-4D97-AF65-F5344CB8AC3E}">
        <p14:creationId xmlns:p14="http://schemas.microsoft.com/office/powerpoint/2010/main" val="105632858"/>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rename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Type the </a:t>
            </a:r>
            <a:r>
              <a:rPr lang="en-US" b="1" dirty="0"/>
              <a:t>desired name </a:t>
            </a:r>
            <a:r>
              <a:rPr lang="en-US" dirty="0"/>
              <a:t>for the worksheet.</a:t>
            </a:r>
          </a:p>
          <a:p>
            <a:pPr algn="just" fontAlgn="base"/>
            <a:r>
              <a:rPr lang="en-US" dirty="0"/>
              <a:t>Click anywhere outside the worksheet tab, or press </a:t>
            </a:r>
            <a:r>
              <a:rPr lang="en-US" b="1" dirty="0"/>
              <a:t>Enter</a:t>
            </a:r>
            <a:r>
              <a:rPr lang="en-US" dirty="0"/>
              <a:t> on your keyboard. The worksheet will be </a:t>
            </a:r>
            <a:r>
              <a:rPr lang="en-US" b="1" dirty="0"/>
              <a:t>renamed</a:t>
            </a:r>
            <a:r>
              <a:rPr lang="en-US" dirty="0"/>
              <a:t>.</a:t>
            </a:r>
          </a:p>
        </p:txBody>
      </p:sp>
      <p:pic>
        <p:nvPicPr>
          <p:cNvPr id="5" name="Picture 4">
            <a:extLst>
              <a:ext uri="{FF2B5EF4-FFF2-40B4-BE49-F238E27FC236}">
                <a16:creationId xmlns:a16="http://schemas.microsoft.com/office/drawing/2014/main" id="{BA8C6CBC-693A-4CC9-8970-53EC6AE44E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2924944"/>
            <a:ext cx="5810250" cy="2476500"/>
          </a:xfrm>
          <a:prstGeom prst="rect">
            <a:avLst/>
          </a:prstGeom>
        </p:spPr>
      </p:pic>
    </p:spTree>
    <p:extLst>
      <p:ext uri="{BB962C8B-B14F-4D97-AF65-F5344CB8AC3E}">
        <p14:creationId xmlns:p14="http://schemas.microsoft.com/office/powerpoint/2010/main" val="1220902753"/>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move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Click and drag the worksheet you want to move until a </a:t>
            </a:r>
            <a:r>
              <a:rPr lang="en-US" b="1" dirty="0"/>
              <a:t>small black arrow</a:t>
            </a:r>
            <a:r>
              <a:rPr lang="en-US" dirty="0"/>
              <a:t> appears above the desired location.</a:t>
            </a:r>
          </a:p>
          <a:p>
            <a:pPr algn="just" fontAlgn="base"/>
            <a:endParaRPr lang="en-US" dirty="0"/>
          </a:p>
          <a:p>
            <a:pPr algn="just" fontAlgn="base"/>
            <a:endParaRPr lang="en-US" dirty="0"/>
          </a:p>
          <a:p>
            <a:pPr algn="just" fontAlgn="base"/>
            <a:endParaRPr lang="en-US" dirty="0"/>
          </a:p>
          <a:p>
            <a:pPr algn="just" fontAlgn="base"/>
            <a:r>
              <a:rPr lang="en-US" dirty="0"/>
              <a:t>Release the mouse. The worksheet will be moved.</a:t>
            </a:r>
          </a:p>
          <a:p>
            <a:pPr algn="just" fontAlgn="base"/>
            <a:endParaRPr lang="en-US" dirty="0"/>
          </a:p>
        </p:txBody>
      </p:sp>
      <p:pic>
        <p:nvPicPr>
          <p:cNvPr id="6" name="Picture 5">
            <a:extLst>
              <a:ext uri="{FF2B5EF4-FFF2-40B4-BE49-F238E27FC236}">
                <a16:creationId xmlns:a16="http://schemas.microsoft.com/office/drawing/2014/main" id="{AE2ABAC9-C7B3-462E-AECA-82457B9BA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825" y="2082761"/>
            <a:ext cx="7372350" cy="1584574"/>
          </a:xfrm>
          <a:prstGeom prst="rect">
            <a:avLst/>
          </a:prstGeom>
        </p:spPr>
      </p:pic>
      <p:pic>
        <p:nvPicPr>
          <p:cNvPr id="8" name="Picture 7">
            <a:extLst>
              <a:ext uri="{FF2B5EF4-FFF2-40B4-BE49-F238E27FC236}">
                <a16:creationId xmlns:a16="http://schemas.microsoft.com/office/drawing/2014/main" id="{1BCBC412-6E5D-4A8D-8918-EBCD932549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2937" y="4683736"/>
            <a:ext cx="7372350" cy="1841607"/>
          </a:xfrm>
          <a:prstGeom prst="rect">
            <a:avLst/>
          </a:prstGeom>
        </p:spPr>
      </p:pic>
    </p:spTree>
    <p:extLst>
      <p:ext uri="{BB962C8B-B14F-4D97-AF65-F5344CB8AC3E}">
        <p14:creationId xmlns:p14="http://schemas.microsoft.com/office/powerpoint/2010/main" val="3620971566"/>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worksheet tab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Right-click the desired worksheet tab, and hover the mouse over </a:t>
            </a:r>
            <a:r>
              <a:rPr lang="en-US" b="1" dirty="0"/>
              <a:t>Tab Color</a:t>
            </a:r>
            <a:r>
              <a:rPr lang="en-US" dirty="0"/>
              <a:t>. The </a:t>
            </a:r>
            <a:r>
              <a:rPr lang="en-US" b="1" dirty="0"/>
              <a:t>Color</a:t>
            </a:r>
            <a:r>
              <a:rPr lang="en-US" dirty="0"/>
              <a:t> menu will appear.</a:t>
            </a:r>
          </a:p>
          <a:p>
            <a:pPr fontAlgn="base"/>
            <a:r>
              <a:rPr lang="en-US" dirty="0"/>
              <a:t>Select the desired </a:t>
            </a:r>
            <a:r>
              <a:rPr lang="en-US" b="1" dirty="0"/>
              <a:t>color</a:t>
            </a:r>
            <a:r>
              <a:rPr lang="en-US" dirty="0"/>
              <a:t>.</a:t>
            </a:r>
          </a:p>
        </p:txBody>
      </p:sp>
      <p:pic>
        <p:nvPicPr>
          <p:cNvPr id="6" name="Picture 5">
            <a:extLst>
              <a:ext uri="{FF2B5EF4-FFF2-40B4-BE49-F238E27FC236}">
                <a16:creationId xmlns:a16="http://schemas.microsoft.com/office/drawing/2014/main" id="{3C284176-7CE1-4A58-AA3D-1B88710800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550" y="2348880"/>
            <a:ext cx="7200900" cy="4032448"/>
          </a:xfrm>
          <a:prstGeom prst="rect">
            <a:avLst/>
          </a:prstGeom>
        </p:spPr>
      </p:pic>
    </p:spTree>
    <p:extLst>
      <p:ext uri="{BB962C8B-B14F-4D97-AF65-F5344CB8AC3E}">
        <p14:creationId xmlns:p14="http://schemas.microsoft.com/office/powerpoint/2010/main" val="3175291407"/>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worksheet tab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fontAlgn="base"/>
            <a:r>
              <a:rPr lang="en-US" dirty="0"/>
              <a:t>The worksheet tab color will be changed.</a:t>
            </a:r>
          </a:p>
        </p:txBody>
      </p:sp>
      <p:pic>
        <p:nvPicPr>
          <p:cNvPr id="5" name="Picture 4">
            <a:extLst>
              <a:ext uri="{FF2B5EF4-FFF2-40B4-BE49-F238E27FC236}">
                <a16:creationId xmlns:a16="http://schemas.microsoft.com/office/drawing/2014/main" id="{406F318C-1E5C-4030-9844-BAEFE6A3B5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550" y="1333500"/>
            <a:ext cx="7200900" cy="4191000"/>
          </a:xfrm>
          <a:prstGeom prst="rect">
            <a:avLst/>
          </a:prstGeom>
        </p:spPr>
      </p:pic>
    </p:spTree>
    <p:extLst>
      <p:ext uri="{BB962C8B-B14F-4D97-AF65-F5344CB8AC3E}">
        <p14:creationId xmlns:p14="http://schemas.microsoft.com/office/powerpoint/2010/main" val="1289927903"/>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change the worksheet tab color</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The worksheet tab color is considerably </a:t>
            </a:r>
            <a:r>
              <a:rPr lang="en-US" b="1" dirty="0"/>
              <a:t>less noticeable </a:t>
            </a:r>
            <a:r>
              <a:rPr lang="en-US" dirty="0"/>
              <a:t>when the worksheet is selected. Select another worksheet to see how the color will appear when the worksheet is not selected.</a:t>
            </a:r>
          </a:p>
          <a:p>
            <a:pPr fontAlgn="base"/>
            <a:endParaRPr lang="en-US" dirty="0"/>
          </a:p>
        </p:txBody>
      </p:sp>
      <p:pic>
        <p:nvPicPr>
          <p:cNvPr id="6" name="Picture 5">
            <a:extLst>
              <a:ext uri="{FF2B5EF4-FFF2-40B4-BE49-F238E27FC236}">
                <a16:creationId xmlns:a16="http://schemas.microsoft.com/office/drawing/2014/main" id="{95DB71A8-19EA-4D7D-BE3E-9324A5B4E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2924944"/>
            <a:ext cx="5724525" cy="3168352"/>
          </a:xfrm>
          <a:prstGeom prst="rect">
            <a:avLst/>
          </a:prstGeom>
        </p:spPr>
      </p:pic>
    </p:spTree>
    <p:extLst>
      <p:ext uri="{BB962C8B-B14F-4D97-AF65-F5344CB8AC3E}">
        <p14:creationId xmlns:p14="http://schemas.microsoft.com/office/powerpoint/2010/main" val="2293942410"/>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delete a worksheet</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Right-click the </a:t>
            </a:r>
            <a:r>
              <a:rPr lang="en-US" b="1" dirty="0"/>
              <a:t>worksheet</a:t>
            </a:r>
            <a:r>
              <a:rPr lang="en-US" dirty="0"/>
              <a:t> you want to </a:t>
            </a:r>
            <a:r>
              <a:rPr lang="en-US" b="1" dirty="0"/>
              <a:t>delete</a:t>
            </a:r>
            <a:r>
              <a:rPr lang="en-US" dirty="0"/>
              <a:t>, then select Delete from the worksheet menu.</a:t>
            </a:r>
          </a:p>
        </p:txBody>
      </p:sp>
      <p:pic>
        <p:nvPicPr>
          <p:cNvPr id="5" name="Picture 4">
            <a:extLst>
              <a:ext uri="{FF2B5EF4-FFF2-40B4-BE49-F238E27FC236}">
                <a16:creationId xmlns:a16="http://schemas.microsoft.com/office/drawing/2014/main" id="{4001AD2D-A9F8-4B3D-A486-8AB3169213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4899" y="1772816"/>
            <a:ext cx="7157541" cy="4608512"/>
          </a:xfrm>
          <a:prstGeom prst="rect">
            <a:avLst/>
          </a:prstGeom>
        </p:spPr>
      </p:pic>
    </p:spTree>
    <p:extLst>
      <p:ext uri="{BB962C8B-B14F-4D97-AF65-F5344CB8AC3E}">
        <p14:creationId xmlns:p14="http://schemas.microsoft.com/office/powerpoint/2010/main" val="1780341939"/>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delete a worksheet</a:t>
            </a:r>
            <a:endParaRPr lang="en-GB" sz="2800" dirty="0"/>
          </a:p>
        </p:txBody>
      </p:sp>
      <p:sp>
        <p:nvSpPr>
          <p:cNvPr id="3" name="Content Placeholder 2"/>
          <p:cNvSpPr>
            <a:spLocks noGrp="1"/>
          </p:cNvSpPr>
          <p:nvPr>
            <p:ph idx="1"/>
          </p:nvPr>
        </p:nvSpPr>
        <p:spPr>
          <a:xfrm>
            <a:off x="0" y="476672"/>
            <a:ext cx="9144000" cy="6381327"/>
          </a:xfrm>
        </p:spPr>
        <p:txBody>
          <a:bodyPr>
            <a:normAutofit lnSpcReduction="10000"/>
          </a:bodyPr>
          <a:lstStyle/>
          <a:p>
            <a:pPr algn="just" fontAlgn="base"/>
            <a:r>
              <a:rPr lang="en-US" dirty="0"/>
              <a:t>The worksheet will be </a:t>
            </a:r>
            <a:r>
              <a:rPr lang="en-US" b="1" dirty="0"/>
              <a:t>deleted </a:t>
            </a:r>
            <a:r>
              <a:rPr lang="en-US" dirty="0"/>
              <a:t>from your workbook.</a:t>
            </a:r>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algn="just" fontAlgn="base"/>
            <a:r>
              <a:rPr lang="en-US" b="1" dirty="0"/>
              <a:t>NOTE</a:t>
            </a:r>
            <a:r>
              <a:rPr lang="en-US" dirty="0"/>
              <a:t>: If you want to prevent specific worksheets from being edited or deleted, you can </a:t>
            </a:r>
            <a:r>
              <a:rPr lang="en-US" b="1" dirty="0"/>
              <a:t>protect them </a:t>
            </a:r>
            <a:r>
              <a:rPr lang="en-US" dirty="0"/>
              <a:t>by right-clicking the desired worksheet and selecting </a:t>
            </a:r>
            <a:r>
              <a:rPr lang="en-US" b="1" dirty="0"/>
              <a:t>Protect Sheet </a:t>
            </a:r>
            <a:r>
              <a:rPr lang="en-US" dirty="0"/>
              <a:t>from the worksheet menu.</a:t>
            </a:r>
          </a:p>
        </p:txBody>
      </p:sp>
      <p:pic>
        <p:nvPicPr>
          <p:cNvPr id="6" name="Picture 5">
            <a:extLst>
              <a:ext uri="{FF2B5EF4-FFF2-40B4-BE49-F238E27FC236}">
                <a16:creationId xmlns:a16="http://schemas.microsoft.com/office/drawing/2014/main" id="{1E39F6D7-D7D4-44C5-AB17-794E1EF97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1097360"/>
            <a:ext cx="7410450" cy="3238103"/>
          </a:xfrm>
          <a:prstGeom prst="rect">
            <a:avLst/>
          </a:prstGeom>
        </p:spPr>
      </p:pic>
    </p:spTree>
    <p:extLst>
      <p:ext uri="{BB962C8B-B14F-4D97-AF65-F5344CB8AC3E}">
        <p14:creationId xmlns:p14="http://schemas.microsoft.com/office/powerpoint/2010/main" val="512078077"/>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Switching between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If you want to view a different worksheet, you can simply </a:t>
            </a:r>
            <a:r>
              <a:rPr lang="en-US" b="1" dirty="0"/>
              <a:t>click the tab </a:t>
            </a:r>
            <a:r>
              <a:rPr lang="en-US" dirty="0"/>
              <a:t>to switch to that worksheet.</a:t>
            </a:r>
          </a:p>
          <a:p>
            <a:pPr algn="just" fontAlgn="base"/>
            <a:endParaRPr lang="en-US" dirty="0"/>
          </a:p>
          <a:p>
            <a:pPr algn="just" fontAlgn="base"/>
            <a:r>
              <a:rPr lang="en-US" dirty="0"/>
              <a:t>However, with larger workbooks this can sometimes become tedious, as it may require scrolling through all of the tabs to find the one you want. </a:t>
            </a:r>
          </a:p>
          <a:p>
            <a:pPr algn="just" fontAlgn="base"/>
            <a:endParaRPr lang="en-US" dirty="0"/>
          </a:p>
          <a:p>
            <a:pPr algn="just" fontAlgn="base"/>
            <a:r>
              <a:rPr lang="en-US" dirty="0"/>
              <a:t>Instead, you can simply </a:t>
            </a:r>
            <a:r>
              <a:rPr lang="en-US" b="1" dirty="0"/>
              <a:t>right-click</a:t>
            </a:r>
            <a:r>
              <a:rPr lang="en-US" dirty="0"/>
              <a:t> the scroll arrows in the lower-left corner, as shown below.</a:t>
            </a:r>
          </a:p>
          <a:p>
            <a:pPr algn="just" fontAlgn="base"/>
            <a:endParaRPr lang="en-US" dirty="0"/>
          </a:p>
        </p:txBody>
      </p:sp>
      <p:pic>
        <p:nvPicPr>
          <p:cNvPr id="5" name="Picture 4">
            <a:extLst>
              <a:ext uri="{FF2B5EF4-FFF2-40B4-BE49-F238E27FC236}">
                <a16:creationId xmlns:a16="http://schemas.microsoft.com/office/drawing/2014/main" id="{7E403B58-ECA9-4437-A469-4DF19953E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5348794"/>
            <a:ext cx="4800600" cy="1509206"/>
          </a:xfrm>
          <a:prstGeom prst="rect">
            <a:avLst/>
          </a:prstGeom>
        </p:spPr>
      </p:pic>
    </p:spTree>
    <p:extLst>
      <p:ext uri="{BB962C8B-B14F-4D97-AF65-F5344CB8AC3E}">
        <p14:creationId xmlns:p14="http://schemas.microsoft.com/office/powerpoint/2010/main" val="1878114558"/>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Switching between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A dialog box will appear with a list of all of the sheets in your workbook. You can then </a:t>
            </a:r>
            <a:r>
              <a:rPr lang="en-US" b="1" dirty="0"/>
              <a:t>double-click</a:t>
            </a:r>
            <a:r>
              <a:rPr lang="en-US" dirty="0"/>
              <a:t> the sheet you want to jump to.</a:t>
            </a:r>
          </a:p>
          <a:p>
            <a:pPr algn="just" fontAlgn="base"/>
            <a:endParaRPr lang="en-US" dirty="0"/>
          </a:p>
          <a:p>
            <a:pPr algn="just" fontAlgn="base"/>
            <a:endParaRPr lang="en-US" dirty="0"/>
          </a:p>
        </p:txBody>
      </p:sp>
      <p:pic>
        <p:nvPicPr>
          <p:cNvPr id="6" name="Picture 5">
            <a:extLst>
              <a:ext uri="{FF2B5EF4-FFF2-40B4-BE49-F238E27FC236}">
                <a16:creationId xmlns:a16="http://schemas.microsoft.com/office/drawing/2014/main" id="{ECA9EBFA-87B2-44C4-8B07-0F8DD86B43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837" y="2132856"/>
            <a:ext cx="4870475" cy="3816424"/>
          </a:xfrm>
          <a:prstGeom prst="rect">
            <a:avLst/>
          </a:prstGeom>
        </p:spPr>
      </p:pic>
    </p:spTree>
    <p:extLst>
      <p:ext uri="{BB962C8B-B14F-4D97-AF65-F5344CB8AC3E}">
        <p14:creationId xmlns:p14="http://schemas.microsoft.com/office/powerpoint/2010/main" val="2991799664"/>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Grouping and ungrouping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You can work with each worksheet </a:t>
            </a:r>
            <a:r>
              <a:rPr lang="en-US" b="1" dirty="0"/>
              <a:t>individually</a:t>
            </a:r>
            <a:r>
              <a:rPr lang="en-US" dirty="0"/>
              <a:t>, or you can work with multiple worksheets at the same time. </a:t>
            </a:r>
          </a:p>
          <a:p>
            <a:pPr algn="just" fontAlgn="base"/>
            <a:endParaRPr lang="en-US" dirty="0"/>
          </a:p>
          <a:p>
            <a:pPr algn="just" fontAlgn="base"/>
            <a:r>
              <a:rPr lang="en-US" dirty="0"/>
              <a:t>Several worksheets can be combined into a </a:t>
            </a:r>
            <a:r>
              <a:rPr lang="en-US" b="1" dirty="0"/>
              <a:t>group</a:t>
            </a:r>
            <a:r>
              <a:rPr lang="en-US" dirty="0"/>
              <a:t>. </a:t>
            </a:r>
          </a:p>
          <a:p>
            <a:pPr algn="just" fontAlgn="base"/>
            <a:endParaRPr lang="en-US" dirty="0"/>
          </a:p>
          <a:p>
            <a:pPr algn="just" fontAlgn="base"/>
            <a:r>
              <a:rPr lang="en-US" dirty="0"/>
              <a:t>Any changes made to one worksheet in a group will be made to </a:t>
            </a:r>
            <a:r>
              <a:rPr lang="en-US" b="1" dirty="0"/>
              <a:t>every worksheet </a:t>
            </a:r>
            <a:r>
              <a:rPr lang="en-US" dirty="0"/>
              <a:t>in that group.</a:t>
            </a:r>
          </a:p>
        </p:txBody>
      </p:sp>
    </p:spTree>
    <p:extLst>
      <p:ext uri="{BB962C8B-B14F-4D97-AF65-F5344CB8AC3E}">
        <p14:creationId xmlns:p14="http://schemas.microsoft.com/office/powerpoint/2010/main" val="274089907"/>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group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Select the </a:t>
            </a:r>
            <a:r>
              <a:rPr lang="en-US" b="1" dirty="0"/>
              <a:t>first worksheet </a:t>
            </a:r>
            <a:r>
              <a:rPr lang="en-US" dirty="0"/>
              <a:t>you want to include in the </a:t>
            </a:r>
            <a:r>
              <a:rPr lang="en-US" b="1" dirty="0"/>
              <a:t>worksheet group</a:t>
            </a:r>
            <a:r>
              <a:rPr lang="en-US" dirty="0"/>
              <a:t>.</a:t>
            </a:r>
          </a:p>
          <a:p>
            <a:pPr algn="just" fontAlgn="base"/>
            <a:endParaRPr lang="en-US" dirty="0"/>
          </a:p>
          <a:p>
            <a:pPr algn="just" fontAlgn="base"/>
            <a:endParaRPr lang="en-US" dirty="0"/>
          </a:p>
          <a:p>
            <a:pPr algn="just" fontAlgn="base"/>
            <a:endParaRPr lang="en-US" dirty="0"/>
          </a:p>
          <a:p>
            <a:pPr algn="just" fontAlgn="base"/>
            <a:r>
              <a:rPr lang="en-US" dirty="0"/>
              <a:t>Press and hold the </a:t>
            </a:r>
            <a:r>
              <a:rPr lang="en-US" b="1" dirty="0"/>
              <a:t>Ctrl</a:t>
            </a:r>
            <a:r>
              <a:rPr lang="en-US" dirty="0"/>
              <a:t> key on your keyboard. Select the </a:t>
            </a:r>
            <a:r>
              <a:rPr lang="en-US" b="1" dirty="0"/>
              <a:t>next worksheet </a:t>
            </a:r>
            <a:r>
              <a:rPr lang="en-US" dirty="0"/>
              <a:t>you want in the group.</a:t>
            </a:r>
          </a:p>
          <a:p>
            <a:pPr algn="just" fontAlgn="base"/>
            <a:endParaRPr lang="en-US" dirty="0"/>
          </a:p>
        </p:txBody>
      </p:sp>
      <p:pic>
        <p:nvPicPr>
          <p:cNvPr id="5" name="Picture 4">
            <a:extLst>
              <a:ext uri="{FF2B5EF4-FFF2-40B4-BE49-F238E27FC236}">
                <a16:creationId xmlns:a16="http://schemas.microsoft.com/office/drawing/2014/main" id="{F274FB64-CC3C-4D61-A0C1-D1DD6E3F1F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1628800"/>
            <a:ext cx="7315200" cy="1266825"/>
          </a:xfrm>
          <a:prstGeom prst="rect">
            <a:avLst/>
          </a:prstGeom>
        </p:spPr>
      </p:pic>
      <p:pic>
        <p:nvPicPr>
          <p:cNvPr id="7" name="Picture 6">
            <a:extLst>
              <a:ext uri="{FF2B5EF4-FFF2-40B4-BE49-F238E27FC236}">
                <a16:creationId xmlns:a16="http://schemas.microsoft.com/office/drawing/2014/main" id="{4EED1398-F689-4501-9488-01B920707D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3716" y="4725144"/>
            <a:ext cx="7277100" cy="1266825"/>
          </a:xfrm>
          <a:prstGeom prst="rect">
            <a:avLst/>
          </a:prstGeom>
        </p:spPr>
      </p:pic>
    </p:spTree>
    <p:extLst>
      <p:ext uri="{BB962C8B-B14F-4D97-AF65-F5344CB8AC3E}">
        <p14:creationId xmlns:p14="http://schemas.microsoft.com/office/powerpoint/2010/main" val="1798629229"/>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group worksheets</a:t>
            </a:r>
            <a:endParaRPr lang="en-GB" sz="2800" dirty="0"/>
          </a:p>
        </p:txBody>
      </p:sp>
      <p:sp>
        <p:nvSpPr>
          <p:cNvPr id="3" name="Content Placeholder 2"/>
          <p:cNvSpPr>
            <a:spLocks noGrp="1"/>
          </p:cNvSpPr>
          <p:nvPr>
            <p:ph idx="1"/>
          </p:nvPr>
        </p:nvSpPr>
        <p:spPr>
          <a:xfrm>
            <a:off x="0" y="476672"/>
            <a:ext cx="9144000" cy="6381327"/>
          </a:xfrm>
        </p:spPr>
        <p:txBody>
          <a:bodyPr>
            <a:normAutofit fontScale="92500" lnSpcReduction="10000"/>
          </a:bodyPr>
          <a:lstStyle/>
          <a:p>
            <a:pPr algn="just" fontAlgn="base"/>
            <a:r>
              <a:rPr lang="en-US" dirty="0"/>
              <a:t>Continue to select worksheets until all of the worksheets you want to group are selected, then release the </a:t>
            </a:r>
            <a:r>
              <a:rPr lang="en-US" b="1" dirty="0"/>
              <a:t>Ctrl</a:t>
            </a:r>
            <a:r>
              <a:rPr lang="en-US" dirty="0"/>
              <a:t> key. The worksheets are now </a:t>
            </a:r>
            <a:r>
              <a:rPr lang="en-US" b="1" dirty="0"/>
              <a:t>grouped</a:t>
            </a:r>
            <a:r>
              <a:rPr lang="en-US" dirty="0"/>
              <a:t>.</a:t>
            </a:r>
          </a:p>
          <a:p>
            <a:pPr algn="just" fontAlgn="base"/>
            <a:endParaRPr lang="en-US" dirty="0"/>
          </a:p>
          <a:p>
            <a:pPr algn="just" fontAlgn="base"/>
            <a:endParaRPr lang="en-US" dirty="0"/>
          </a:p>
          <a:p>
            <a:pPr algn="just" fontAlgn="base"/>
            <a:endParaRPr lang="en-US" dirty="0"/>
          </a:p>
          <a:p>
            <a:pPr marL="0" indent="0" algn="just" fontAlgn="base">
              <a:buNone/>
            </a:pPr>
            <a:r>
              <a:rPr lang="en-US" b="1" dirty="0"/>
              <a:t>NOTE</a:t>
            </a:r>
            <a:r>
              <a:rPr lang="en-US" dirty="0"/>
              <a:t>:</a:t>
            </a:r>
          </a:p>
          <a:p>
            <a:pPr algn="just" fontAlgn="base"/>
            <a:r>
              <a:rPr lang="en-US" dirty="0"/>
              <a:t>While worksheets are grouped, you can navigate to any worksheet within the group. </a:t>
            </a:r>
          </a:p>
          <a:p>
            <a:pPr algn="just" fontAlgn="base"/>
            <a:r>
              <a:rPr lang="en-US" dirty="0"/>
              <a:t>Any </a:t>
            </a:r>
            <a:r>
              <a:rPr lang="en-US" b="1" dirty="0"/>
              <a:t>changes</a:t>
            </a:r>
            <a:r>
              <a:rPr lang="en-US" dirty="0"/>
              <a:t> made to one worksheet will appear on </a:t>
            </a:r>
            <a:r>
              <a:rPr lang="en-US" b="1" dirty="0"/>
              <a:t>every worksheet </a:t>
            </a:r>
            <a:r>
              <a:rPr lang="en-US" dirty="0"/>
              <a:t>in the group. </a:t>
            </a:r>
          </a:p>
          <a:p>
            <a:pPr algn="just" fontAlgn="base"/>
            <a:r>
              <a:rPr lang="en-US" dirty="0"/>
              <a:t>However, if you select a worksheet that is not in the group, all of your worksheets will become </a:t>
            </a:r>
            <a:r>
              <a:rPr lang="en-US" b="1" dirty="0"/>
              <a:t>ungrouped</a:t>
            </a:r>
            <a:r>
              <a:rPr lang="en-US" dirty="0"/>
              <a:t>.</a:t>
            </a:r>
          </a:p>
        </p:txBody>
      </p:sp>
      <p:pic>
        <p:nvPicPr>
          <p:cNvPr id="6" name="Picture 5">
            <a:extLst>
              <a:ext uri="{FF2B5EF4-FFF2-40B4-BE49-F238E27FC236}">
                <a16:creationId xmlns:a16="http://schemas.microsoft.com/office/drawing/2014/main" id="{475D1F00-834F-4369-A1CB-B2A7C91798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1862320"/>
            <a:ext cx="7446912" cy="1266825"/>
          </a:xfrm>
          <a:prstGeom prst="rect">
            <a:avLst/>
          </a:prstGeom>
        </p:spPr>
      </p:pic>
    </p:spTree>
    <p:extLst>
      <p:ext uri="{BB962C8B-B14F-4D97-AF65-F5344CB8AC3E}">
        <p14:creationId xmlns:p14="http://schemas.microsoft.com/office/powerpoint/2010/main" val="4195051088"/>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ungroup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algn="just" fontAlgn="base"/>
            <a:r>
              <a:rPr lang="en-US" dirty="0"/>
              <a:t>Right-click a worksheet in the group, then select </a:t>
            </a:r>
            <a:r>
              <a:rPr lang="en-US" b="1" dirty="0"/>
              <a:t>Ungroup Sheets</a:t>
            </a:r>
            <a:r>
              <a:rPr lang="en-US" dirty="0"/>
              <a:t> from the worksheet menu.</a:t>
            </a:r>
          </a:p>
          <a:p>
            <a:pPr algn="just" fontAlgn="base"/>
            <a:endParaRPr lang="en-US" dirty="0"/>
          </a:p>
          <a:p>
            <a:pPr algn="just" fontAlgn="base"/>
            <a:endParaRPr lang="en-US" dirty="0"/>
          </a:p>
          <a:p>
            <a:pPr algn="just" fontAlgn="base"/>
            <a:endParaRPr lang="en-US" dirty="0"/>
          </a:p>
          <a:p>
            <a:pPr algn="just" fontAlgn="base"/>
            <a:endParaRPr lang="en-US" dirty="0"/>
          </a:p>
          <a:p>
            <a:pPr algn="just" fontAlgn="base"/>
            <a:endParaRPr lang="en-US" dirty="0"/>
          </a:p>
          <a:p>
            <a:pPr marL="0" indent="0" algn="just" fontAlgn="base">
              <a:buNone/>
            </a:pPr>
            <a:endParaRPr lang="en-US" dirty="0"/>
          </a:p>
        </p:txBody>
      </p:sp>
      <p:pic>
        <p:nvPicPr>
          <p:cNvPr id="5" name="Picture 4">
            <a:extLst>
              <a:ext uri="{FF2B5EF4-FFF2-40B4-BE49-F238E27FC236}">
                <a16:creationId xmlns:a16="http://schemas.microsoft.com/office/drawing/2014/main" id="{8C6707A1-5326-4D1D-AC00-6F434D583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212" y="1700808"/>
            <a:ext cx="7267575" cy="3888432"/>
          </a:xfrm>
          <a:prstGeom prst="rect">
            <a:avLst/>
          </a:prstGeom>
        </p:spPr>
      </p:pic>
    </p:spTree>
    <p:extLst>
      <p:ext uri="{BB962C8B-B14F-4D97-AF65-F5344CB8AC3E}">
        <p14:creationId xmlns:p14="http://schemas.microsoft.com/office/powerpoint/2010/main" val="284277473"/>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Autofit/>
          </a:bodyPr>
          <a:lstStyle/>
          <a:p>
            <a:pPr algn="ctr"/>
            <a:r>
              <a:rPr lang="en-US" sz="2800" dirty="0"/>
              <a:t>To ungroup worksheets</a:t>
            </a:r>
            <a:endParaRPr lang="en-GB" sz="2800" dirty="0"/>
          </a:p>
        </p:txBody>
      </p:sp>
      <p:sp>
        <p:nvSpPr>
          <p:cNvPr id="3" name="Content Placeholder 2"/>
          <p:cNvSpPr>
            <a:spLocks noGrp="1"/>
          </p:cNvSpPr>
          <p:nvPr>
            <p:ph idx="1"/>
          </p:nvPr>
        </p:nvSpPr>
        <p:spPr>
          <a:xfrm>
            <a:off x="0" y="476672"/>
            <a:ext cx="9144000" cy="6381327"/>
          </a:xfrm>
        </p:spPr>
        <p:txBody>
          <a:bodyPr>
            <a:normAutofit/>
          </a:bodyPr>
          <a:lstStyle/>
          <a:p>
            <a:pPr marL="0" indent="0" algn="just" fontAlgn="base">
              <a:buNone/>
            </a:pPr>
            <a:endParaRPr lang="en-US" dirty="0"/>
          </a:p>
          <a:p>
            <a:pPr algn="just" fontAlgn="base"/>
            <a:r>
              <a:rPr lang="en-US" dirty="0"/>
              <a:t>The worksheets will be </a:t>
            </a:r>
            <a:r>
              <a:rPr lang="en-US" b="1" dirty="0"/>
              <a:t>ungrouped</a:t>
            </a:r>
            <a:r>
              <a:rPr lang="en-US" dirty="0"/>
              <a:t>. You can also click any worksheet not included in the group to </a:t>
            </a:r>
            <a:r>
              <a:rPr lang="en-US" b="1" dirty="0"/>
              <a:t>ungroup all worksheets</a:t>
            </a:r>
            <a:r>
              <a:rPr lang="en-US" dirty="0"/>
              <a:t>.</a:t>
            </a:r>
          </a:p>
          <a:p>
            <a:pPr algn="just" fontAlgn="base"/>
            <a:endParaRPr lang="en-US" dirty="0"/>
          </a:p>
          <a:p>
            <a:pPr marL="0" indent="0" algn="just" fontAlgn="base">
              <a:buNone/>
            </a:pPr>
            <a:endParaRPr lang="en-US" dirty="0"/>
          </a:p>
        </p:txBody>
      </p:sp>
      <p:pic>
        <p:nvPicPr>
          <p:cNvPr id="6" name="Picture 5">
            <a:extLst>
              <a:ext uri="{FF2B5EF4-FFF2-40B4-BE49-F238E27FC236}">
                <a16:creationId xmlns:a16="http://schemas.microsoft.com/office/drawing/2014/main" id="{83F95AA6-1779-4650-936D-222FF16C5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512" y="2917488"/>
            <a:ext cx="7315200" cy="1713533"/>
          </a:xfrm>
          <a:prstGeom prst="rect">
            <a:avLst/>
          </a:prstGeom>
        </p:spPr>
      </p:pic>
    </p:spTree>
    <p:extLst>
      <p:ext uri="{BB962C8B-B14F-4D97-AF65-F5344CB8AC3E}">
        <p14:creationId xmlns:p14="http://schemas.microsoft.com/office/powerpoint/2010/main" val="2784364573"/>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12569</TotalTime>
  <Words>5737</Words>
  <Application>Microsoft Office PowerPoint</Application>
  <PresentationFormat>On-screen Show (4:3)</PresentationFormat>
  <Paragraphs>632</Paragraphs>
  <Slides>140</Slides>
  <Notes>140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140</vt:i4>
      </vt:variant>
    </vt:vector>
  </HeadingPairs>
  <TitlesOfParts>
    <vt:vector size="146" baseType="lpstr">
      <vt:lpstr>Arial</vt:lpstr>
      <vt:lpstr>Arial Black</vt:lpstr>
      <vt:lpstr>Calibri</vt:lpstr>
      <vt:lpstr>Source Sans Pro</vt:lpstr>
      <vt:lpstr>Wingdings</vt:lpstr>
      <vt:lpstr>Office Theme</vt:lpstr>
      <vt:lpstr>PowerPoint Presentation</vt:lpstr>
      <vt:lpstr>PowerPoint Presentation</vt:lpstr>
      <vt:lpstr>Objectives Overview</vt:lpstr>
      <vt:lpstr>Objectives Overview</vt:lpstr>
      <vt:lpstr>Excel - Cell Basics</vt:lpstr>
      <vt:lpstr>Understanding cells</vt:lpstr>
      <vt:lpstr>Understanding cells</vt:lpstr>
      <vt:lpstr>Understanding cells</vt:lpstr>
      <vt:lpstr>Understanding cells</vt:lpstr>
      <vt:lpstr>Understanding cells</vt:lpstr>
      <vt:lpstr>Understanding cells</vt:lpstr>
      <vt:lpstr>To select a cell</vt:lpstr>
      <vt:lpstr>To select a cell</vt:lpstr>
      <vt:lpstr>To select a cell range</vt:lpstr>
      <vt:lpstr>To select a cell range</vt:lpstr>
      <vt:lpstr>Cell content</vt:lpstr>
      <vt:lpstr>Cell content</vt:lpstr>
      <vt:lpstr>Cell content</vt:lpstr>
      <vt:lpstr>Cell content</vt:lpstr>
      <vt:lpstr>To insert content</vt:lpstr>
      <vt:lpstr>To delete (or clear) cell content</vt:lpstr>
      <vt:lpstr>To delete (or clear) cell content</vt:lpstr>
      <vt:lpstr>To delete (or clear) cell content</vt:lpstr>
      <vt:lpstr>To delete cells</vt:lpstr>
      <vt:lpstr>To delete cells</vt:lpstr>
      <vt:lpstr>To delete cells</vt:lpstr>
      <vt:lpstr>To copy and paste cell content</vt:lpstr>
      <vt:lpstr>To copy and paste cell content</vt:lpstr>
      <vt:lpstr>To copy and paste cell content</vt:lpstr>
      <vt:lpstr>To copy and paste cell content</vt:lpstr>
      <vt:lpstr>To copy and paste cell content</vt:lpstr>
      <vt:lpstr>To access additional paste options</vt:lpstr>
      <vt:lpstr>To access additional paste options</vt:lpstr>
      <vt:lpstr>To cut and paste cell content</vt:lpstr>
      <vt:lpstr>To cut and paste cell content</vt:lpstr>
      <vt:lpstr>To cut and paste cell content</vt:lpstr>
      <vt:lpstr>To drag and drop cells</vt:lpstr>
      <vt:lpstr>To drag and drop cells</vt:lpstr>
      <vt:lpstr>To drag and drop cells</vt:lpstr>
      <vt:lpstr>To use the fill handle</vt:lpstr>
      <vt:lpstr>To use the fill handle</vt:lpstr>
      <vt:lpstr>To use the fill handle</vt:lpstr>
      <vt:lpstr>To continue a series with the fill handle</vt:lpstr>
      <vt:lpstr>To continue a series with the fill handle</vt:lpstr>
      <vt:lpstr>To continue a series with the fill handle</vt:lpstr>
      <vt:lpstr>Excel - Modifying Columns, Rows, and Cells</vt:lpstr>
      <vt:lpstr>To modify column width</vt:lpstr>
      <vt:lpstr>To modify column width</vt:lpstr>
      <vt:lpstr>To modify column width</vt:lpstr>
      <vt:lpstr>To AutoFit column width</vt:lpstr>
      <vt:lpstr>To AutoFit column width</vt:lpstr>
      <vt:lpstr>To modify row height</vt:lpstr>
      <vt:lpstr>To modify row height</vt:lpstr>
      <vt:lpstr>To modify row height</vt:lpstr>
      <vt:lpstr>To modify all rows or columns</vt:lpstr>
      <vt:lpstr>To modify all rows or columns</vt:lpstr>
      <vt:lpstr>To modify all rows or columns</vt:lpstr>
      <vt:lpstr>Inserting, deleting, moving, and hiding rows and columns</vt:lpstr>
      <vt:lpstr>To insert rows</vt:lpstr>
      <vt:lpstr>To insert rows</vt:lpstr>
      <vt:lpstr>To insert rows</vt:lpstr>
      <vt:lpstr>To insert columns</vt:lpstr>
      <vt:lpstr>To insert columns</vt:lpstr>
      <vt:lpstr>To insert columns</vt:lpstr>
      <vt:lpstr>To delete a row or column</vt:lpstr>
      <vt:lpstr>To delete a row or column</vt:lpstr>
      <vt:lpstr>To delete a row or column</vt:lpstr>
      <vt:lpstr>To delete a row or column</vt:lpstr>
      <vt:lpstr>To move a row or column</vt:lpstr>
      <vt:lpstr>To move a row or column</vt:lpstr>
      <vt:lpstr>To move a row or column</vt:lpstr>
      <vt:lpstr>To move a row or column</vt:lpstr>
      <vt:lpstr>To move a row or column</vt:lpstr>
      <vt:lpstr>To move a row or column</vt:lpstr>
      <vt:lpstr>To hide and unhide a row or column</vt:lpstr>
      <vt:lpstr>To hide and unhide a row or column</vt:lpstr>
      <vt:lpstr>To hide and unhide a row or column</vt:lpstr>
      <vt:lpstr>To hide and unhide a row or column</vt:lpstr>
      <vt:lpstr>To hide and unhide a row or column</vt:lpstr>
      <vt:lpstr>Wrapping text and merging cells</vt:lpstr>
      <vt:lpstr>To wrap text in cells</vt:lpstr>
      <vt:lpstr>To wrap text in cells</vt:lpstr>
      <vt:lpstr>To merge cells using the Merge &amp; Center command</vt:lpstr>
      <vt:lpstr>To merge cells using the Merge &amp; Center command</vt:lpstr>
      <vt:lpstr>To access additional merge options</vt:lpstr>
      <vt:lpstr>To access additional merge options</vt:lpstr>
      <vt:lpstr>Centering across selection</vt:lpstr>
      <vt:lpstr>To use Center Across Selection</vt:lpstr>
      <vt:lpstr>To use Center Across Selection</vt:lpstr>
      <vt:lpstr>To use Center Across Selection</vt:lpstr>
      <vt:lpstr>Excel - Formatting Cells</vt:lpstr>
      <vt:lpstr>Excel - Formatting Cells</vt:lpstr>
      <vt:lpstr>Excel - Formatting Cells</vt:lpstr>
      <vt:lpstr>To change the font size</vt:lpstr>
      <vt:lpstr>To change the font size</vt:lpstr>
      <vt:lpstr>To change the font size</vt:lpstr>
      <vt:lpstr>To change the font size</vt:lpstr>
      <vt:lpstr>To change the font</vt:lpstr>
      <vt:lpstr>To change the font</vt:lpstr>
      <vt:lpstr>To change the font</vt:lpstr>
      <vt:lpstr>To change the font</vt:lpstr>
      <vt:lpstr>To change the font color</vt:lpstr>
      <vt:lpstr>To change the font color</vt:lpstr>
      <vt:lpstr>To use the Bold, Italic, and Underline commands</vt:lpstr>
      <vt:lpstr>To use the Bold, Italic, and Underline commands</vt:lpstr>
      <vt:lpstr>Cell borders and fill colors</vt:lpstr>
      <vt:lpstr>To add a fill color</vt:lpstr>
      <vt:lpstr>To add a fill color</vt:lpstr>
      <vt:lpstr>To add a fill color</vt:lpstr>
      <vt:lpstr>To add a border</vt:lpstr>
      <vt:lpstr>To add a border</vt:lpstr>
      <vt:lpstr>To add a border</vt:lpstr>
      <vt:lpstr>Cell styles</vt:lpstr>
      <vt:lpstr>To apply a cell style</vt:lpstr>
      <vt:lpstr>To apply a cell style</vt:lpstr>
      <vt:lpstr>To apply a cell style</vt:lpstr>
      <vt:lpstr>Excel - Working with Multiple Worksheets</vt:lpstr>
      <vt:lpstr>Excel - Working with Multiple Worksheets</vt:lpstr>
      <vt:lpstr>To insert a new worksheet</vt:lpstr>
      <vt:lpstr>To insert a new worksheet</vt:lpstr>
      <vt:lpstr>To copy a worksheet</vt:lpstr>
      <vt:lpstr>To copy a worksheet</vt:lpstr>
      <vt:lpstr>To copy a worksheet</vt:lpstr>
      <vt:lpstr>To rename a worksheet</vt:lpstr>
      <vt:lpstr>To rename a worksheet</vt:lpstr>
      <vt:lpstr>To move a worksheet</vt:lpstr>
      <vt:lpstr>To change the worksheet tab color</vt:lpstr>
      <vt:lpstr>To change the worksheet tab color</vt:lpstr>
      <vt:lpstr>To change the worksheet tab color</vt:lpstr>
      <vt:lpstr>To delete a worksheet</vt:lpstr>
      <vt:lpstr>To delete a worksheet</vt:lpstr>
      <vt:lpstr>Switching between worksheets</vt:lpstr>
      <vt:lpstr>Switching between worksheets</vt:lpstr>
      <vt:lpstr>Grouping and ungrouping worksheets</vt:lpstr>
      <vt:lpstr>To group worksheets</vt:lpstr>
      <vt:lpstr>To group worksheets</vt:lpstr>
      <vt:lpstr>To ungroup worksheets</vt:lpstr>
      <vt:lpstr>To ungroup worksheets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USER</cp:lastModifiedBy>
  <cp:revision>477</cp:revision>
  <dcterms:created xsi:type="dcterms:W3CDTF">2008-12-18T17:11:12Z</dcterms:created>
  <dcterms:modified xsi:type="dcterms:W3CDTF">2023-02-21T09:08:58Z</dcterms:modified>
</cp:coreProperties>
</file>
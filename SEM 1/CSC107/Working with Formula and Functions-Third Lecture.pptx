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0"/>
  </p:notesMasterIdLst>
  <p:sldIdLst>
    <p:sldId id="260" r:id="rId2"/>
    <p:sldId id="385" r:id="rId3"/>
    <p:sldId id="294" r:id="rId4"/>
    <p:sldId id="264" r:id="rId5"/>
    <p:sldId id="870" r:id="rId6"/>
    <p:sldId id="871" r:id="rId7"/>
    <p:sldId id="872" r:id="rId8"/>
    <p:sldId id="873" r:id="rId9"/>
    <p:sldId id="874" r:id="rId10"/>
    <p:sldId id="875" r:id="rId11"/>
    <p:sldId id="876" r:id="rId12"/>
    <p:sldId id="877" r:id="rId13"/>
    <p:sldId id="878" r:id="rId14"/>
    <p:sldId id="879" r:id="rId15"/>
    <p:sldId id="880" r:id="rId16"/>
    <p:sldId id="881" r:id="rId17"/>
    <p:sldId id="882" r:id="rId18"/>
    <p:sldId id="883" r:id="rId19"/>
    <p:sldId id="884" r:id="rId20"/>
    <p:sldId id="885" r:id="rId21"/>
    <p:sldId id="886" r:id="rId22"/>
    <p:sldId id="887" r:id="rId23"/>
    <p:sldId id="888" r:id="rId24"/>
    <p:sldId id="889" r:id="rId25"/>
    <p:sldId id="890" r:id="rId26"/>
    <p:sldId id="891" r:id="rId27"/>
    <p:sldId id="892" r:id="rId28"/>
    <p:sldId id="893" r:id="rId29"/>
    <p:sldId id="894" r:id="rId30"/>
    <p:sldId id="895" r:id="rId31"/>
    <p:sldId id="896" r:id="rId32"/>
    <p:sldId id="897" r:id="rId33"/>
    <p:sldId id="898" r:id="rId34"/>
    <p:sldId id="899" r:id="rId35"/>
    <p:sldId id="901" r:id="rId36"/>
    <p:sldId id="900" r:id="rId37"/>
    <p:sldId id="902" r:id="rId38"/>
    <p:sldId id="903" r:id="rId39"/>
    <p:sldId id="904" r:id="rId40"/>
    <p:sldId id="905" r:id="rId41"/>
    <p:sldId id="906" r:id="rId42"/>
    <p:sldId id="907" r:id="rId43"/>
    <p:sldId id="908" r:id="rId44"/>
    <p:sldId id="909" r:id="rId45"/>
    <p:sldId id="910" r:id="rId46"/>
    <p:sldId id="911" r:id="rId47"/>
    <p:sldId id="912" r:id="rId48"/>
    <p:sldId id="913" r:id="rId49"/>
    <p:sldId id="914" r:id="rId50"/>
    <p:sldId id="915" r:id="rId51"/>
    <p:sldId id="916" r:id="rId52"/>
    <p:sldId id="917" r:id="rId53"/>
    <p:sldId id="918" r:id="rId54"/>
    <p:sldId id="919" r:id="rId55"/>
    <p:sldId id="920" r:id="rId56"/>
    <p:sldId id="921" r:id="rId57"/>
    <p:sldId id="922" r:id="rId58"/>
    <p:sldId id="923" r:id="rId59"/>
    <p:sldId id="924" r:id="rId60"/>
    <p:sldId id="925" r:id="rId61"/>
    <p:sldId id="926" r:id="rId62"/>
    <p:sldId id="927" r:id="rId63"/>
    <p:sldId id="928" r:id="rId64"/>
    <p:sldId id="929" r:id="rId65"/>
    <p:sldId id="930" r:id="rId66"/>
    <p:sldId id="931" r:id="rId67"/>
    <p:sldId id="932" r:id="rId68"/>
    <p:sldId id="933" r:id="rId69"/>
    <p:sldId id="934" r:id="rId70"/>
    <p:sldId id="935" r:id="rId71"/>
    <p:sldId id="936" r:id="rId72"/>
    <p:sldId id="937" r:id="rId73"/>
    <p:sldId id="938" r:id="rId74"/>
    <p:sldId id="939" r:id="rId75"/>
    <p:sldId id="940" r:id="rId76"/>
    <p:sldId id="941" r:id="rId77"/>
    <p:sldId id="942" r:id="rId78"/>
    <p:sldId id="943" r:id="rId79"/>
    <p:sldId id="944" r:id="rId80"/>
    <p:sldId id="945" r:id="rId81"/>
    <p:sldId id="946" r:id="rId82"/>
    <p:sldId id="947" r:id="rId83"/>
    <p:sldId id="948" r:id="rId84"/>
    <p:sldId id="949" r:id="rId85"/>
    <p:sldId id="950" r:id="rId86"/>
    <p:sldId id="951" r:id="rId87"/>
    <p:sldId id="952" r:id="rId88"/>
    <p:sldId id="953" r:id="rId89"/>
    <p:sldId id="954" r:id="rId90"/>
    <p:sldId id="955" r:id="rId91"/>
    <p:sldId id="956" r:id="rId92"/>
    <p:sldId id="957" r:id="rId93"/>
    <p:sldId id="958" r:id="rId94"/>
    <p:sldId id="959" r:id="rId95"/>
    <p:sldId id="960" r:id="rId96"/>
    <p:sldId id="961" r:id="rId97"/>
    <p:sldId id="440" r:id="rId98"/>
    <p:sldId id="384" r:id="rId9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13" autoAdjust="0"/>
  </p:normalViewPr>
  <p:slideViewPr>
    <p:cSldViewPr>
      <p:cViewPr varScale="1">
        <p:scale>
          <a:sx n="66" d="100"/>
          <a:sy n="66" d="100"/>
        </p:scale>
        <p:origin x="1506" y="6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970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Introduction </a:t>
          </a:r>
        </a:p>
        <a:p>
          <a:r>
            <a:rPr lang="en-US" dirty="0"/>
            <a:t>to </a:t>
          </a:r>
        </a:p>
        <a:p>
          <a:r>
            <a:rPr lang="en-US" dirty="0"/>
            <a:t>Microsoft Excel </a:t>
          </a:r>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pt>
  </dgm:ptLst>
  <dgm:cxnLst>
    <dgm:cxn modelId="{0B62D86B-A0DA-4B75-8C82-CC0B7B67BE45}" type="presOf" srcId="{7D821BC7-213D-4CEC-978A-9CFFE70F3D67}" destId="{9972E4C6-FDD6-4F32-8994-B9E0115268C3}"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36C3BEF2-2DBA-42EB-9810-973BE445D0C7}" type="presOf" srcId="{3DE9E547-3C66-4E5D-9D07-0515EED2B913}" destId="{46A1C575-DE29-4021-A28C-E1E7FA78085E}" srcOrd="0" destOrd="0" presId="urn:microsoft.com/office/officeart/2005/8/layout/default#1"/>
    <dgm:cxn modelId="{9FF98F3C-4B54-499E-81E4-D4C2F1EE2959}"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custT="1"/>
      <dgm:spPr/>
      <dgm:t>
        <a:bodyPr/>
        <a:lstStyle/>
        <a:p>
          <a:r>
            <a:rPr lang="en-US" sz="4800" dirty="0"/>
            <a:t>Working with Formulas and Functions</a:t>
          </a:r>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pt>
  </dgm:ptLst>
  <dgm:cxnLst>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65DCDAFD-8909-4CCC-96D3-23F19B6A2257}" type="presOf" srcId="{7D821BC7-213D-4CEC-978A-9CFFE70F3D67}" destId="{9972E4C6-FDD6-4F32-8994-B9E0115268C3}" srcOrd="0" destOrd="0" presId="urn:microsoft.com/office/officeart/2005/8/layout/default#1"/>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a:t>How to use cell references to create a simple formula in excel</a:t>
          </a:r>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a:t>How to create a complex formula in excel</a:t>
          </a:r>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C11B75ED-B46B-4BF2-80F2-DA583A75044E}">
      <dgm:prSet/>
      <dgm:spPr/>
      <dgm:t>
        <a:bodyPr/>
        <a:lstStyle/>
        <a:p>
          <a:r>
            <a:rPr lang="en-US" dirty="0"/>
            <a:t>How absolute and relative cell references are used in excel </a:t>
          </a:r>
        </a:p>
      </dgm:t>
    </dgm:pt>
    <dgm:pt modelId="{5645C486-8F55-4C5D-BAFE-57B0FB9C1457}" type="parTrans" cxnId="{0DB3BCB8-BFA0-457C-84E0-1D03CDEA15BA}">
      <dgm:prSet/>
      <dgm:spPr/>
      <dgm:t>
        <a:bodyPr/>
        <a:lstStyle/>
        <a:p>
          <a:endParaRPr lang="en-US"/>
        </a:p>
      </dgm:t>
    </dgm:pt>
    <dgm:pt modelId="{0F8F958D-95B3-4287-AB04-371DBF737C1C}" type="sibTrans" cxnId="{0DB3BCB8-BFA0-457C-84E0-1D03CDEA15BA}">
      <dgm:prSet/>
      <dgm:spPr/>
      <dgm:t>
        <a:bodyPr/>
        <a:lstStyle/>
        <a:p>
          <a:endParaRPr lang="en-US"/>
        </a:p>
      </dgm:t>
    </dgm:pt>
    <dgm:pt modelId="{23F2D5E2-61FA-40AD-9F7D-BF405C8CDFAE}">
      <dgm:prSet/>
      <dgm:spPr/>
      <dgm:t>
        <a:bodyPr/>
        <a:lstStyle/>
        <a:p>
          <a:r>
            <a:rPr lang="en-US" dirty="0"/>
            <a:t>How to use different parts of a function </a:t>
          </a:r>
        </a:p>
      </dgm:t>
    </dgm:pt>
    <dgm:pt modelId="{AB5E8461-293C-485A-87B5-1F0B83CE1442}" type="parTrans" cxnId="{FBDBE29A-0A0F-4D97-8A3B-694C132A4FE5}">
      <dgm:prSet/>
      <dgm:spPr/>
      <dgm:t>
        <a:bodyPr/>
        <a:lstStyle/>
        <a:p>
          <a:endParaRPr lang="en-US"/>
        </a:p>
      </dgm:t>
    </dgm:pt>
    <dgm:pt modelId="{2155DDCB-A76B-4506-AD94-A2E4AE9F6F2F}" type="sibTrans" cxnId="{FBDBE29A-0A0F-4D97-8A3B-694C132A4FE5}">
      <dgm:prSet/>
      <dgm:spPr/>
      <dgm:t>
        <a:bodyPr/>
        <a:lstStyle/>
        <a:p>
          <a:endParaRPr lang="en-US"/>
        </a:p>
      </dgm:t>
    </dgm:pt>
    <dgm:pt modelId="{D032DDD3-5BE8-4773-89B2-68CD8965B3E6}">
      <dgm:prSet/>
      <dgm:spPr/>
      <dgm:t>
        <a:bodyPr/>
        <a:lstStyle/>
        <a:p>
          <a:r>
            <a:rPr lang="en-US" dirty="0"/>
            <a:t>How to create arguments to calculate values and cell references</a:t>
          </a:r>
        </a:p>
      </dgm:t>
    </dgm:pt>
    <dgm:pt modelId="{81D33D49-3010-4917-BC50-D44BA8B22DF2}" type="parTrans" cxnId="{864161E3-D902-466F-A23C-0B9201C3B39B}">
      <dgm:prSet/>
      <dgm:spPr/>
      <dgm:t>
        <a:bodyPr/>
        <a:lstStyle/>
        <a:p>
          <a:endParaRPr lang="en-US"/>
        </a:p>
      </dgm:t>
    </dgm:pt>
    <dgm:pt modelId="{C692D208-6BD8-417E-A3C9-418AEBD7A4B3}" type="sibTrans" cxnId="{864161E3-D902-466F-A23C-0B9201C3B39B}">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E43CDCF3-D5B2-4556-A6FF-1FBA940E878F}" type="pres">
      <dgm:prSet presAssocID="{F9022B54-68C2-4973-9A00-460029290542}" presName="node" presStyleLbl="node1" presStyleIdx="0" presStyleCnt="5">
        <dgm:presLayoutVars>
          <dgm:bulletEnabled val="1"/>
        </dgm:presLayoutVars>
      </dgm:prSet>
      <dgm:spPr/>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5">
        <dgm:presLayoutVars>
          <dgm:bulletEnabled val="1"/>
        </dgm:presLayoutVars>
      </dgm:prSet>
      <dgm:spPr/>
    </dgm:pt>
    <dgm:pt modelId="{94E3CC2B-92E4-4B0C-B930-B4411572BF9F}" type="pres">
      <dgm:prSet presAssocID="{8B37F55B-F450-4B0B-98F7-A2B490DAC81A}" presName="sibTrans" presStyleCnt="0"/>
      <dgm:spPr/>
    </dgm:pt>
    <dgm:pt modelId="{D32AB574-D896-42B8-809A-74BD322B19E9}" type="pres">
      <dgm:prSet presAssocID="{C11B75ED-B46B-4BF2-80F2-DA583A75044E}" presName="node" presStyleLbl="node1" presStyleIdx="2" presStyleCnt="5">
        <dgm:presLayoutVars>
          <dgm:bulletEnabled val="1"/>
        </dgm:presLayoutVars>
      </dgm:prSet>
      <dgm:spPr/>
    </dgm:pt>
    <dgm:pt modelId="{8FCDC96A-B844-4560-9827-3799EB37A607}" type="pres">
      <dgm:prSet presAssocID="{0F8F958D-95B3-4287-AB04-371DBF737C1C}" presName="sibTrans" presStyleCnt="0"/>
      <dgm:spPr/>
    </dgm:pt>
    <dgm:pt modelId="{126D987F-03E4-4E3A-BED9-08B6BA3A15AB}" type="pres">
      <dgm:prSet presAssocID="{23F2D5E2-61FA-40AD-9F7D-BF405C8CDFAE}" presName="node" presStyleLbl="node1" presStyleIdx="3" presStyleCnt="5">
        <dgm:presLayoutVars>
          <dgm:bulletEnabled val="1"/>
        </dgm:presLayoutVars>
      </dgm:prSet>
      <dgm:spPr/>
    </dgm:pt>
    <dgm:pt modelId="{E35D6D9B-6CD2-4458-885A-62ADB7B92653}" type="pres">
      <dgm:prSet presAssocID="{2155DDCB-A76B-4506-AD94-A2E4AE9F6F2F}" presName="sibTrans" presStyleCnt="0"/>
      <dgm:spPr/>
    </dgm:pt>
    <dgm:pt modelId="{A0EFA616-1553-4077-9D32-88AE20AC0552}" type="pres">
      <dgm:prSet presAssocID="{D032DDD3-5BE8-4773-89B2-68CD8965B3E6}" presName="node" presStyleLbl="node1" presStyleIdx="4" presStyleCnt="5" custLinFactNeighborX="-2118">
        <dgm:presLayoutVars>
          <dgm:bulletEnabled val="1"/>
        </dgm:presLayoutVars>
      </dgm:prSet>
      <dgm:spPr/>
    </dgm:pt>
  </dgm:ptLst>
  <dgm:cxnLst>
    <dgm:cxn modelId="{8294D506-3CCF-46C3-9D45-09DDBBAFC9A2}" srcId="{3DE9E547-3C66-4E5D-9D07-0515EED2B913}" destId="{BBBB9B4E-DA71-45DE-92BC-1EF247E5F9B2}" srcOrd="1" destOrd="0" parTransId="{A9ED417C-F968-4650-A07D-E6C8B9F80C83}" sibTransId="{8B37F55B-F450-4B0B-98F7-A2B490DAC81A}"/>
    <dgm:cxn modelId="{031BCA45-34A2-4E89-93EF-0C69AA13A8F0}" type="presOf" srcId="{23F2D5E2-61FA-40AD-9F7D-BF405C8CDFAE}" destId="{126D987F-03E4-4E3A-BED9-08B6BA3A15AB}" srcOrd="0" destOrd="0" presId="urn:microsoft.com/office/officeart/2005/8/layout/default#1"/>
    <dgm:cxn modelId="{DB5CF76F-016D-4F32-AE1E-423FE30EF2F6}" type="presOf" srcId="{F9022B54-68C2-4973-9A00-460029290542}" destId="{E43CDCF3-D5B2-4556-A6FF-1FBA940E878F}" srcOrd="0" destOrd="0" presId="urn:microsoft.com/office/officeart/2005/8/layout/default#1"/>
    <dgm:cxn modelId="{FBDBE29A-0A0F-4D97-8A3B-694C132A4FE5}" srcId="{3DE9E547-3C66-4E5D-9D07-0515EED2B913}" destId="{23F2D5E2-61FA-40AD-9F7D-BF405C8CDFAE}" srcOrd="3" destOrd="0" parTransId="{AB5E8461-293C-485A-87B5-1F0B83CE1442}" sibTransId="{2155DDCB-A76B-4506-AD94-A2E4AE9F6F2F}"/>
    <dgm:cxn modelId="{5975DE9F-9538-4AC2-A004-1F0309A49A9F}" type="presOf" srcId="{BBBB9B4E-DA71-45DE-92BC-1EF247E5F9B2}" destId="{08678D36-F832-48B7-8548-C43AEE1F6A43}" srcOrd="0" destOrd="0" presId="urn:microsoft.com/office/officeart/2005/8/layout/default#1"/>
    <dgm:cxn modelId="{0DB3BCB8-BFA0-457C-84E0-1D03CDEA15BA}" srcId="{3DE9E547-3C66-4E5D-9D07-0515EED2B913}" destId="{C11B75ED-B46B-4BF2-80F2-DA583A75044E}" srcOrd="2" destOrd="0" parTransId="{5645C486-8F55-4C5D-BAFE-57B0FB9C1457}" sibTransId="{0F8F958D-95B3-4287-AB04-371DBF737C1C}"/>
    <dgm:cxn modelId="{A36A33C9-5EC3-4472-82B9-956D1373C0B4}" srcId="{3DE9E547-3C66-4E5D-9D07-0515EED2B913}" destId="{F9022B54-68C2-4973-9A00-460029290542}" srcOrd="0" destOrd="0" parTransId="{0EBC0F7C-C083-479E-822C-AA3F278D062A}" sibTransId="{AEC43A17-FDDC-4261-BB01-B6005B7A4552}"/>
    <dgm:cxn modelId="{8C7B99DC-F8B1-492C-AD47-8DB1AB5E9999}" type="presOf" srcId="{C11B75ED-B46B-4BF2-80F2-DA583A75044E}" destId="{D32AB574-D896-42B8-809A-74BD322B19E9}" srcOrd="0" destOrd="0" presId="urn:microsoft.com/office/officeart/2005/8/layout/default#1"/>
    <dgm:cxn modelId="{FD5D13DE-A886-43C1-8176-BE8410373EBE}" type="presOf" srcId="{D032DDD3-5BE8-4773-89B2-68CD8965B3E6}" destId="{A0EFA616-1553-4077-9D32-88AE20AC0552}" srcOrd="0" destOrd="0" presId="urn:microsoft.com/office/officeart/2005/8/layout/default#1"/>
    <dgm:cxn modelId="{864161E3-D902-466F-A23C-0B9201C3B39B}" srcId="{3DE9E547-3C66-4E5D-9D07-0515EED2B913}" destId="{D032DDD3-5BE8-4773-89B2-68CD8965B3E6}" srcOrd="4" destOrd="0" parTransId="{81D33D49-3010-4917-BC50-D44BA8B22DF2}" sibTransId="{C692D208-6BD8-417E-A3C9-418AEBD7A4B3}"/>
    <dgm:cxn modelId="{36C3BEF2-2DBA-42EB-9810-973BE445D0C7}" type="presOf" srcId="{3DE9E547-3C66-4E5D-9D07-0515EED2B913}" destId="{46A1C575-DE29-4021-A28C-E1E7FA78085E}" srcOrd="0" destOrd="0" presId="urn:microsoft.com/office/officeart/2005/8/layout/default#1"/>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10FB1E55-51FE-4D10-8536-2E0EBE944374}" type="presParOf" srcId="{46A1C575-DE29-4021-A28C-E1E7FA78085E}" destId="{D32AB574-D896-42B8-809A-74BD322B19E9}" srcOrd="4" destOrd="0" presId="urn:microsoft.com/office/officeart/2005/8/layout/default#1"/>
    <dgm:cxn modelId="{9EDDF9FC-F073-4434-AE22-C4716365B1A3}" type="presParOf" srcId="{46A1C575-DE29-4021-A28C-E1E7FA78085E}" destId="{8FCDC96A-B844-4560-9827-3799EB37A607}" srcOrd="5" destOrd="0" presId="urn:microsoft.com/office/officeart/2005/8/layout/default#1"/>
    <dgm:cxn modelId="{62AA1254-BAAA-4C30-915B-8E8B8D5D39B6}" type="presParOf" srcId="{46A1C575-DE29-4021-A28C-E1E7FA78085E}" destId="{126D987F-03E4-4E3A-BED9-08B6BA3A15AB}" srcOrd="6" destOrd="0" presId="urn:microsoft.com/office/officeart/2005/8/layout/default#1"/>
    <dgm:cxn modelId="{DA7D4CFB-222D-4450-8AF0-D10DC3C95EA3}" type="presParOf" srcId="{46A1C575-DE29-4021-A28C-E1E7FA78085E}" destId="{E35D6D9B-6CD2-4458-885A-62ADB7B92653}" srcOrd="7" destOrd="0" presId="urn:microsoft.com/office/officeart/2005/8/layout/default#1"/>
    <dgm:cxn modelId="{6AE59283-A23C-4A44-A8A5-3A057903230C}" type="presParOf" srcId="{46A1C575-DE29-4021-A28C-E1E7FA78085E}" destId="{A0EFA616-1553-4077-9D32-88AE20AC0552}" srcOrd="8"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Introduction </a:t>
          </a:r>
        </a:p>
        <a:p>
          <a:pPr marL="0" lvl="0" indent="0" algn="ctr" defTabSz="2889250">
            <a:lnSpc>
              <a:spcPct val="90000"/>
            </a:lnSpc>
            <a:spcBef>
              <a:spcPct val="0"/>
            </a:spcBef>
            <a:spcAft>
              <a:spcPct val="35000"/>
            </a:spcAft>
            <a:buNone/>
          </a:pPr>
          <a:r>
            <a:rPr lang="en-US" sz="6500" kern="1200" dirty="0"/>
            <a:t>to </a:t>
          </a:r>
        </a:p>
        <a:p>
          <a:pPr marL="0" lvl="0" indent="0" algn="ctr" defTabSz="2889250">
            <a:lnSpc>
              <a:spcPct val="90000"/>
            </a:lnSpc>
            <a:spcBef>
              <a:spcPct val="0"/>
            </a:spcBef>
            <a:spcAft>
              <a:spcPct val="35000"/>
            </a:spcAft>
            <a:buNone/>
          </a:pPr>
          <a:r>
            <a:rPr lang="en-US" sz="6500" kern="1200" dirty="0"/>
            <a:t>Microsoft Excel </a:t>
          </a:r>
        </a:p>
      </dsp:txBody>
      <dsp:txXfrm>
        <a:off x="162" y="1817"/>
        <a:ext cx="8838875" cy="4811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Working with Formulas and Functions</a:t>
          </a:r>
        </a:p>
      </dsp:txBody>
      <dsp:txXfrm>
        <a:off x="162" y="1817"/>
        <a:ext cx="8838875" cy="4811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0" y="868833"/>
          <a:ext cx="2762250" cy="1657349"/>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How to use cell references to create a simple formula in excel</a:t>
          </a:r>
        </a:p>
      </dsp:txBody>
      <dsp:txXfrm>
        <a:off x="0" y="868833"/>
        <a:ext cx="2762250" cy="1657349"/>
      </dsp:txXfrm>
    </dsp:sp>
    <dsp:sp modelId="{08678D36-F832-48B7-8548-C43AEE1F6A43}">
      <dsp:nvSpPr>
        <dsp:cNvPr id="0" name=""/>
        <dsp:cNvSpPr/>
      </dsp:nvSpPr>
      <dsp:spPr>
        <a:xfrm>
          <a:off x="3038474" y="868833"/>
          <a:ext cx="2762250" cy="1657349"/>
        </a:xfrm>
        <a:prstGeom prst="rect">
          <a:avLst/>
        </a:prstGeom>
        <a:gradFill rotWithShape="0">
          <a:gsLst>
            <a:gs pos="0">
              <a:schemeClr val="accent4">
                <a:shade val="80000"/>
                <a:hueOff val="-44139"/>
                <a:satOff val="-1091"/>
                <a:lumOff val="6247"/>
                <a:alphaOff val="0"/>
                <a:shade val="51000"/>
                <a:satMod val="130000"/>
              </a:schemeClr>
            </a:gs>
            <a:gs pos="80000">
              <a:schemeClr val="accent4">
                <a:shade val="80000"/>
                <a:hueOff val="-44139"/>
                <a:satOff val="-1091"/>
                <a:lumOff val="6247"/>
                <a:alphaOff val="0"/>
                <a:shade val="93000"/>
                <a:satMod val="130000"/>
              </a:schemeClr>
            </a:gs>
            <a:gs pos="100000">
              <a:schemeClr val="accent4">
                <a:shade val="80000"/>
                <a:hueOff val="-44139"/>
                <a:satOff val="-1091"/>
                <a:lumOff val="624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How to create a complex formula in excel</a:t>
          </a:r>
        </a:p>
      </dsp:txBody>
      <dsp:txXfrm>
        <a:off x="3038474" y="868833"/>
        <a:ext cx="2762250" cy="1657349"/>
      </dsp:txXfrm>
    </dsp:sp>
    <dsp:sp modelId="{D32AB574-D896-42B8-809A-74BD322B19E9}">
      <dsp:nvSpPr>
        <dsp:cNvPr id="0" name=""/>
        <dsp:cNvSpPr/>
      </dsp:nvSpPr>
      <dsp:spPr>
        <a:xfrm>
          <a:off x="6076950" y="868833"/>
          <a:ext cx="2762250" cy="1657349"/>
        </a:xfrm>
        <a:prstGeom prst="rect">
          <a:avLst/>
        </a:prstGeom>
        <a:gradFill rotWithShape="0">
          <a:gsLst>
            <a:gs pos="0">
              <a:schemeClr val="accent4">
                <a:shade val="80000"/>
                <a:hueOff val="-88279"/>
                <a:satOff val="-2183"/>
                <a:lumOff val="12494"/>
                <a:alphaOff val="0"/>
                <a:shade val="51000"/>
                <a:satMod val="130000"/>
              </a:schemeClr>
            </a:gs>
            <a:gs pos="80000">
              <a:schemeClr val="accent4">
                <a:shade val="80000"/>
                <a:hueOff val="-88279"/>
                <a:satOff val="-2183"/>
                <a:lumOff val="12494"/>
                <a:alphaOff val="0"/>
                <a:shade val="93000"/>
                <a:satMod val="130000"/>
              </a:schemeClr>
            </a:gs>
            <a:gs pos="100000">
              <a:schemeClr val="accent4">
                <a:shade val="80000"/>
                <a:hueOff val="-88279"/>
                <a:satOff val="-2183"/>
                <a:lumOff val="124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How absolute and relative cell references are used in excel </a:t>
          </a:r>
        </a:p>
      </dsp:txBody>
      <dsp:txXfrm>
        <a:off x="6076950" y="868833"/>
        <a:ext cx="2762250" cy="1657349"/>
      </dsp:txXfrm>
    </dsp:sp>
    <dsp:sp modelId="{126D987F-03E4-4E3A-BED9-08B6BA3A15AB}">
      <dsp:nvSpPr>
        <dsp:cNvPr id="0" name=""/>
        <dsp:cNvSpPr/>
      </dsp:nvSpPr>
      <dsp:spPr>
        <a:xfrm>
          <a:off x="1519237" y="2802408"/>
          <a:ext cx="2762250" cy="1657349"/>
        </a:xfrm>
        <a:prstGeom prst="rect">
          <a:avLst/>
        </a:prstGeom>
        <a:gradFill rotWithShape="0">
          <a:gsLst>
            <a:gs pos="0">
              <a:schemeClr val="accent4">
                <a:shade val="80000"/>
                <a:hueOff val="-132418"/>
                <a:satOff val="-3274"/>
                <a:lumOff val="18741"/>
                <a:alphaOff val="0"/>
                <a:shade val="51000"/>
                <a:satMod val="130000"/>
              </a:schemeClr>
            </a:gs>
            <a:gs pos="80000">
              <a:schemeClr val="accent4">
                <a:shade val="80000"/>
                <a:hueOff val="-132418"/>
                <a:satOff val="-3274"/>
                <a:lumOff val="18741"/>
                <a:alphaOff val="0"/>
                <a:shade val="93000"/>
                <a:satMod val="130000"/>
              </a:schemeClr>
            </a:gs>
            <a:gs pos="100000">
              <a:schemeClr val="accent4">
                <a:shade val="80000"/>
                <a:hueOff val="-132418"/>
                <a:satOff val="-3274"/>
                <a:lumOff val="1874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How to use different parts of a function </a:t>
          </a:r>
        </a:p>
      </dsp:txBody>
      <dsp:txXfrm>
        <a:off x="1519237" y="2802408"/>
        <a:ext cx="2762250" cy="1657349"/>
      </dsp:txXfrm>
    </dsp:sp>
    <dsp:sp modelId="{A0EFA616-1553-4077-9D32-88AE20AC0552}">
      <dsp:nvSpPr>
        <dsp:cNvPr id="0" name=""/>
        <dsp:cNvSpPr/>
      </dsp:nvSpPr>
      <dsp:spPr>
        <a:xfrm>
          <a:off x="4499208" y="2802408"/>
          <a:ext cx="2762250" cy="165734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How to create arguments to calculate values and cell references</a:t>
          </a:r>
        </a:p>
      </dsp:txBody>
      <dsp:txXfrm>
        <a:off x="4499208" y="2802408"/>
        <a:ext cx="2762250" cy="1657349"/>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2/22/2023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a:t>
            </a:fld>
            <a:endParaRPr lang="en-US" dirty="0">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dirty="0"/>
          </a:p>
        </p:txBody>
      </p:sp>
    </p:spTree>
    <p:extLst>
      <p:ext uri="{BB962C8B-B14F-4D97-AF65-F5344CB8AC3E}">
        <p14:creationId xmlns:p14="http://schemas.microsoft.com/office/powerpoint/2010/main" val="374397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a:t>
            </a:fld>
            <a:endParaRPr lang="en-US" dirty="0"/>
          </a:p>
        </p:txBody>
      </p:sp>
    </p:spTree>
    <p:extLst>
      <p:ext uri="{BB962C8B-B14F-4D97-AF65-F5344CB8AC3E}">
        <p14:creationId xmlns:p14="http://schemas.microsoft.com/office/powerpoint/2010/main" val="290110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a:t>
            </a:fld>
            <a:endParaRPr lang="en-US" dirty="0"/>
          </a:p>
        </p:txBody>
      </p:sp>
    </p:spTree>
    <p:extLst>
      <p:ext uri="{BB962C8B-B14F-4D97-AF65-F5344CB8AC3E}">
        <p14:creationId xmlns:p14="http://schemas.microsoft.com/office/powerpoint/2010/main" val="2188671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a:t>
            </a:fld>
            <a:endParaRPr lang="en-US" dirty="0"/>
          </a:p>
        </p:txBody>
      </p:sp>
    </p:spTree>
    <p:extLst>
      <p:ext uri="{BB962C8B-B14F-4D97-AF65-F5344CB8AC3E}">
        <p14:creationId xmlns:p14="http://schemas.microsoft.com/office/powerpoint/2010/main" val="3297550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a:t>
            </a:fld>
            <a:endParaRPr lang="en-US" dirty="0"/>
          </a:p>
        </p:txBody>
      </p:sp>
    </p:spTree>
    <p:extLst>
      <p:ext uri="{BB962C8B-B14F-4D97-AF65-F5344CB8AC3E}">
        <p14:creationId xmlns:p14="http://schemas.microsoft.com/office/powerpoint/2010/main" val="2804759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a:t>
            </a:fld>
            <a:endParaRPr lang="en-US" dirty="0"/>
          </a:p>
        </p:txBody>
      </p:sp>
    </p:spTree>
    <p:extLst>
      <p:ext uri="{BB962C8B-B14F-4D97-AF65-F5344CB8AC3E}">
        <p14:creationId xmlns:p14="http://schemas.microsoft.com/office/powerpoint/2010/main" val="3297235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a:t>
            </a:fld>
            <a:endParaRPr lang="en-US" dirty="0"/>
          </a:p>
        </p:txBody>
      </p:sp>
    </p:spTree>
    <p:extLst>
      <p:ext uri="{BB962C8B-B14F-4D97-AF65-F5344CB8AC3E}">
        <p14:creationId xmlns:p14="http://schemas.microsoft.com/office/powerpoint/2010/main" val="130287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a:t>
            </a:fld>
            <a:endParaRPr lang="en-US" dirty="0"/>
          </a:p>
        </p:txBody>
      </p:sp>
    </p:spTree>
    <p:extLst>
      <p:ext uri="{BB962C8B-B14F-4D97-AF65-F5344CB8AC3E}">
        <p14:creationId xmlns:p14="http://schemas.microsoft.com/office/powerpoint/2010/main" val="39629343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a:t>
            </a:fld>
            <a:endParaRPr lang="en-US" dirty="0"/>
          </a:p>
        </p:txBody>
      </p:sp>
    </p:spTree>
    <p:extLst>
      <p:ext uri="{BB962C8B-B14F-4D97-AF65-F5344CB8AC3E}">
        <p14:creationId xmlns:p14="http://schemas.microsoft.com/office/powerpoint/2010/main" val="461527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a:t>
            </a:fld>
            <a:endParaRPr lang="en-US" dirty="0"/>
          </a:p>
        </p:txBody>
      </p:sp>
    </p:spTree>
    <p:extLst>
      <p:ext uri="{BB962C8B-B14F-4D97-AF65-F5344CB8AC3E}">
        <p14:creationId xmlns:p14="http://schemas.microsoft.com/office/powerpoint/2010/main" val="436472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14</a:t>
            </a:fld>
            <a:endParaRPr lang="en-US" dirty="0"/>
          </a:p>
        </p:txBody>
      </p:sp>
    </p:spTree>
    <p:extLst>
      <p:ext uri="{BB962C8B-B14F-4D97-AF65-F5344CB8AC3E}">
        <p14:creationId xmlns:p14="http://schemas.microsoft.com/office/powerpoint/2010/main" val="2075117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15</a:t>
            </a:fld>
            <a:endParaRPr lang="en-US" dirty="0"/>
          </a:p>
        </p:txBody>
      </p:sp>
    </p:spTree>
    <p:extLst>
      <p:ext uri="{BB962C8B-B14F-4D97-AF65-F5344CB8AC3E}">
        <p14:creationId xmlns:p14="http://schemas.microsoft.com/office/powerpoint/2010/main" val="1307784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16</a:t>
            </a:fld>
            <a:endParaRPr lang="en-US" dirty="0"/>
          </a:p>
        </p:txBody>
      </p:sp>
    </p:spTree>
    <p:extLst>
      <p:ext uri="{BB962C8B-B14F-4D97-AF65-F5344CB8AC3E}">
        <p14:creationId xmlns:p14="http://schemas.microsoft.com/office/powerpoint/2010/main" val="311016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17</a:t>
            </a:fld>
            <a:endParaRPr lang="en-US" dirty="0"/>
          </a:p>
        </p:txBody>
      </p:sp>
    </p:spTree>
    <p:extLst>
      <p:ext uri="{BB962C8B-B14F-4D97-AF65-F5344CB8AC3E}">
        <p14:creationId xmlns:p14="http://schemas.microsoft.com/office/powerpoint/2010/main" val="34195291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18</a:t>
            </a:fld>
            <a:endParaRPr lang="en-US" dirty="0"/>
          </a:p>
        </p:txBody>
      </p:sp>
    </p:spTree>
    <p:extLst>
      <p:ext uri="{BB962C8B-B14F-4D97-AF65-F5344CB8AC3E}">
        <p14:creationId xmlns:p14="http://schemas.microsoft.com/office/powerpoint/2010/main" val="32068431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19</a:t>
            </a:fld>
            <a:endParaRPr lang="en-US" dirty="0"/>
          </a:p>
        </p:txBody>
      </p:sp>
    </p:spTree>
    <p:extLst>
      <p:ext uri="{BB962C8B-B14F-4D97-AF65-F5344CB8AC3E}">
        <p14:creationId xmlns:p14="http://schemas.microsoft.com/office/powerpoint/2010/main" val="27757661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20</a:t>
            </a:fld>
            <a:endParaRPr lang="en-US" dirty="0"/>
          </a:p>
        </p:txBody>
      </p:sp>
    </p:spTree>
    <p:extLst>
      <p:ext uri="{BB962C8B-B14F-4D97-AF65-F5344CB8AC3E}">
        <p14:creationId xmlns:p14="http://schemas.microsoft.com/office/powerpoint/2010/main" val="4282674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21</a:t>
            </a:fld>
            <a:endParaRPr lang="en-US" dirty="0"/>
          </a:p>
        </p:txBody>
      </p:sp>
    </p:spTree>
    <p:extLst>
      <p:ext uri="{BB962C8B-B14F-4D97-AF65-F5344CB8AC3E}">
        <p14:creationId xmlns:p14="http://schemas.microsoft.com/office/powerpoint/2010/main" val="31308094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22</a:t>
            </a:fld>
            <a:endParaRPr lang="en-US" dirty="0"/>
          </a:p>
        </p:txBody>
      </p:sp>
    </p:spTree>
    <p:extLst>
      <p:ext uri="{BB962C8B-B14F-4D97-AF65-F5344CB8AC3E}">
        <p14:creationId xmlns:p14="http://schemas.microsoft.com/office/powerpoint/2010/main" val="2665224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23</a:t>
            </a:fld>
            <a:endParaRPr lang="en-US" dirty="0"/>
          </a:p>
        </p:txBody>
      </p:sp>
    </p:spTree>
    <p:extLst>
      <p:ext uri="{BB962C8B-B14F-4D97-AF65-F5344CB8AC3E}">
        <p14:creationId xmlns:p14="http://schemas.microsoft.com/office/powerpoint/2010/main" val="26778252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24</a:t>
            </a:fld>
            <a:endParaRPr lang="en-US" dirty="0"/>
          </a:p>
        </p:txBody>
      </p:sp>
    </p:spTree>
    <p:extLst>
      <p:ext uri="{BB962C8B-B14F-4D97-AF65-F5344CB8AC3E}">
        <p14:creationId xmlns:p14="http://schemas.microsoft.com/office/powerpoint/2010/main" val="21318283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25</a:t>
            </a:fld>
            <a:endParaRPr lang="en-US" dirty="0"/>
          </a:p>
        </p:txBody>
      </p:sp>
    </p:spTree>
    <p:extLst>
      <p:ext uri="{BB962C8B-B14F-4D97-AF65-F5344CB8AC3E}">
        <p14:creationId xmlns:p14="http://schemas.microsoft.com/office/powerpoint/2010/main" val="22932413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26</a:t>
            </a:fld>
            <a:endParaRPr lang="en-US" dirty="0"/>
          </a:p>
        </p:txBody>
      </p:sp>
    </p:spTree>
    <p:extLst>
      <p:ext uri="{BB962C8B-B14F-4D97-AF65-F5344CB8AC3E}">
        <p14:creationId xmlns:p14="http://schemas.microsoft.com/office/powerpoint/2010/main" val="7905064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27</a:t>
            </a:fld>
            <a:endParaRPr lang="en-US" dirty="0"/>
          </a:p>
        </p:txBody>
      </p:sp>
    </p:spTree>
    <p:extLst>
      <p:ext uri="{BB962C8B-B14F-4D97-AF65-F5344CB8AC3E}">
        <p14:creationId xmlns:p14="http://schemas.microsoft.com/office/powerpoint/2010/main" val="22515574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28</a:t>
            </a:fld>
            <a:endParaRPr lang="en-US" dirty="0"/>
          </a:p>
        </p:txBody>
      </p:sp>
    </p:spTree>
    <p:extLst>
      <p:ext uri="{BB962C8B-B14F-4D97-AF65-F5344CB8AC3E}">
        <p14:creationId xmlns:p14="http://schemas.microsoft.com/office/powerpoint/2010/main" val="1088593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29</a:t>
            </a:fld>
            <a:endParaRPr lang="en-US" dirty="0"/>
          </a:p>
        </p:txBody>
      </p:sp>
    </p:spTree>
    <p:extLst>
      <p:ext uri="{BB962C8B-B14F-4D97-AF65-F5344CB8AC3E}">
        <p14:creationId xmlns:p14="http://schemas.microsoft.com/office/powerpoint/2010/main" val="40134664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30</a:t>
            </a:fld>
            <a:endParaRPr lang="en-US" dirty="0"/>
          </a:p>
        </p:txBody>
      </p:sp>
    </p:spTree>
    <p:extLst>
      <p:ext uri="{BB962C8B-B14F-4D97-AF65-F5344CB8AC3E}">
        <p14:creationId xmlns:p14="http://schemas.microsoft.com/office/powerpoint/2010/main" val="12881007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31</a:t>
            </a:fld>
            <a:endParaRPr lang="en-US" dirty="0"/>
          </a:p>
        </p:txBody>
      </p:sp>
    </p:spTree>
    <p:extLst>
      <p:ext uri="{BB962C8B-B14F-4D97-AF65-F5344CB8AC3E}">
        <p14:creationId xmlns:p14="http://schemas.microsoft.com/office/powerpoint/2010/main" val="7562125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32</a:t>
            </a:fld>
            <a:endParaRPr lang="en-US" dirty="0"/>
          </a:p>
        </p:txBody>
      </p:sp>
    </p:spTree>
    <p:extLst>
      <p:ext uri="{BB962C8B-B14F-4D97-AF65-F5344CB8AC3E}">
        <p14:creationId xmlns:p14="http://schemas.microsoft.com/office/powerpoint/2010/main" val="34939885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33</a:t>
            </a:fld>
            <a:endParaRPr lang="en-US" dirty="0"/>
          </a:p>
        </p:txBody>
      </p:sp>
    </p:spTree>
    <p:extLst>
      <p:ext uri="{BB962C8B-B14F-4D97-AF65-F5344CB8AC3E}">
        <p14:creationId xmlns:p14="http://schemas.microsoft.com/office/powerpoint/2010/main" val="30965460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34</a:t>
            </a:fld>
            <a:endParaRPr lang="en-US" dirty="0"/>
          </a:p>
        </p:txBody>
      </p:sp>
    </p:spTree>
    <p:extLst>
      <p:ext uri="{BB962C8B-B14F-4D97-AF65-F5344CB8AC3E}">
        <p14:creationId xmlns:p14="http://schemas.microsoft.com/office/powerpoint/2010/main" val="12650803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35</a:t>
            </a:fld>
            <a:endParaRPr lang="en-US" dirty="0"/>
          </a:p>
        </p:txBody>
      </p:sp>
    </p:spTree>
    <p:extLst>
      <p:ext uri="{BB962C8B-B14F-4D97-AF65-F5344CB8AC3E}">
        <p14:creationId xmlns:p14="http://schemas.microsoft.com/office/powerpoint/2010/main" val="629510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36</a:t>
            </a:fld>
            <a:endParaRPr lang="en-US" dirty="0"/>
          </a:p>
        </p:txBody>
      </p:sp>
    </p:spTree>
    <p:extLst>
      <p:ext uri="{BB962C8B-B14F-4D97-AF65-F5344CB8AC3E}">
        <p14:creationId xmlns:p14="http://schemas.microsoft.com/office/powerpoint/2010/main" val="26661549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37</a:t>
            </a:fld>
            <a:endParaRPr lang="en-US" dirty="0"/>
          </a:p>
        </p:txBody>
      </p:sp>
    </p:spTree>
    <p:extLst>
      <p:ext uri="{BB962C8B-B14F-4D97-AF65-F5344CB8AC3E}">
        <p14:creationId xmlns:p14="http://schemas.microsoft.com/office/powerpoint/2010/main" val="39604181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38</a:t>
            </a:fld>
            <a:endParaRPr lang="en-US" dirty="0"/>
          </a:p>
        </p:txBody>
      </p:sp>
    </p:spTree>
    <p:extLst>
      <p:ext uri="{BB962C8B-B14F-4D97-AF65-F5344CB8AC3E}">
        <p14:creationId xmlns:p14="http://schemas.microsoft.com/office/powerpoint/2010/main" val="6455838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39</a:t>
            </a:fld>
            <a:endParaRPr lang="en-US" dirty="0"/>
          </a:p>
        </p:txBody>
      </p:sp>
    </p:spTree>
    <p:extLst>
      <p:ext uri="{BB962C8B-B14F-4D97-AF65-F5344CB8AC3E}">
        <p14:creationId xmlns:p14="http://schemas.microsoft.com/office/powerpoint/2010/main" val="3468890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40</a:t>
            </a:fld>
            <a:endParaRPr lang="en-US" dirty="0"/>
          </a:p>
        </p:txBody>
      </p:sp>
    </p:spTree>
    <p:extLst>
      <p:ext uri="{BB962C8B-B14F-4D97-AF65-F5344CB8AC3E}">
        <p14:creationId xmlns:p14="http://schemas.microsoft.com/office/powerpoint/2010/main" val="21313744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41</a:t>
            </a:fld>
            <a:endParaRPr lang="en-US" dirty="0"/>
          </a:p>
        </p:txBody>
      </p:sp>
    </p:spTree>
    <p:extLst>
      <p:ext uri="{BB962C8B-B14F-4D97-AF65-F5344CB8AC3E}">
        <p14:creationId xmlns:p14="http://schemas.microsoft.com/office/powerpoint/2010/main" val="4431006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42</a:t>
            </a:fld>
            <a:endParaRPr lang="en-US" dirty="0"/>
          </a:p>
        </p:txBody>
      </p:sp>
    </p:spTree>
    <p:extLst>
      <p:ext uri="{BB962C8B-B14F-4D97-AF65-F5344CB8AC3E}">
        <p14:creationId xmlns:p14="http://schemas.microsoft.com/office/powerpoint/2010/main" val="27115233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43</a:t>
            </a:fld>
            <a:endParaRPr lang="en-US" dirty="0"/>
          </a:p>
        </p:txBody>
      </p:sp>
    </p:spTree>
    <p:extLst>
      <p:ext uri="{BB962C8B-B14F-4D97-AF65-F5344CB8AC3E}">
        <p14:creationId xmlns:p14="http://schemas.microsoft.com/office/powerpoint/2010/main" val="21461791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44</a:t>
            </a:fld>
            <a:endParaRPr lang="en-US" dirty="0"/>
          </a:p>
        </p:txBody>
      </p:sp>
    </p:spTree>
    <p:extLst>
      <p:ext uri="{BB962C8B-B14F-4D97-AF65-F5344CB8AC3E}">
        <p14:creationId xmlns:p14="http://schemas.microsoft.com/office/powerpoint/2010/main" val="41346632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45</a:t>
            </a:fld>
            <a:endParaRPr lang="en-US" dirty="0"/>
          </a:p>
        </p:txBody>
      </p:sp>
    </p:spTree>
    <p:extLst>
      <p:ext uri="{BB962C8B-B14F-4D97-AF65-F5344CB8AC3E}">
        <p14:creationId xmlns:p14="http://schemas.microsoft.com/office/powerpoint/2010/main" val="7876983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46</a:t>
            </a:fld>
            <a:endParaRPr lang="en-US" dirty="0"/>
          </a:p>
        </p:txBody>
      </p:sp>
    </p:spTree>
    <p:extLst>
      <p:ext uri="{BB962C8B-B14F-4D97-AF65-F5344CB8AC3E}">
        <p14:creationId xmlns:p14="http://schemas.microsoft.com/office/powerpoint/2010/main" val="19946471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47</a:t>
            </a:fld>
            <a:endParaRPr lang="en-US" dirty="0"/>
          </a:p>
        </p:txBody>
      </p:sp>
    </p:spTree>
    <p:extLst>
      <p:ext uri="{BB962C8B-B14F-4D97-AF65-F5344CB8AC3E}">
        <p14:creationId xmlns:p14="http://schemas.microsoft.com/office/powerpoint/2010/main" val="11279885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48</a:t>
            </a:fld>
            <a:endParaRPr lang="en-US" dirty="0"/>
          </a:p>
        </p:txBody>
      </p:sp>
    </p:spTree>
    <p:extLst>
      <p:ext uri="{BB962C8B-B14F-4D97-AF65-F5344CB8AC3E}">
        <p14:creationId xmlns:p14="http://schemas.microsoft.com/office/powerpoint/2010/main" val="3465548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49</a:t>
            </a:fld>
            <a:endParaRPr lang="en-US" dirty="0"/>
          </a:p>
        </p:txBody>
      </p:sp>
    </p:spTree>
    <p:extLst>
      <p:ext uri="{BB962C8B-B14F-4D97-AF65-F5344CB8AC3E}">
        <p14:creationId xmlns:p14="http://schemas.microsoft.com/office/powerpoint/2010/main" val="840304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50</a:t>
            </a:fld>
            <a:endParaRPr lang="en-US" dirty="0"/>
          </a:p>
        </p:txBody>
      </p:sp>
    </p:spTree>
    <p:extLst>
      <p:ext uri="{BB962C8B-B14F-4D97-AF65-F5344CB8AC3E}">
        <p14:creationId xmlns:p14="http://schemas.microsoft.com/office/powerpoint/2010/main" val="15827859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51</a:t>
            </a:fld>
            <a:endParaRPr lang="en-US" dirty="0"/>
          </a:p>
        </p:txBody>
      </p:sp>
    </p:spTree>
    <p:extLst>
      <p:ext uri="{BB962C8B-B14F-4D97-AF65-F5344CB8AC3E}">
        <p14:creationId xmlns:p14="http://schemas.microsoft.com/office/powerpoint/2010/main" val="19000641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52</a:t>
            </a:fld>
            <a:endParaRPr lang="en-US" dirty="0"/>
          </a:p>
        </p:txBody>
      </p:sp>
    </p:spTree>
    <p:extLst>
      <p:ext uri="{BB962C8B-B14F-4D97-AF65-F5344CB8AC3E}">
        <p14:creationId xmlns:p14="http://schemas.microsoft.com/office/powerpoint/2010/main" val="30417972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53</a:t>
            </a:fld>
            <a:endParaRPr lang="en-US" dirty="0"/>
          </a:p>
        </p:txBody>
      </p:sp>
    </p:spTree>
    <p:extLst>
      <p:ext uri="{BB962C8B-B14F-4D97-AF65-F5344CB8AC3E}">
        <p14:creationId xmlns:p14="http://schemas.microsoft.com/office/powerpoint/2010/main" val="7676749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54</a:t>
            </a:fld>
            <a:endParaRPr lang="en-US" dirty="0"/>
          </a:p>
        </p:txBody>
      </p:sp>
    </p:spTree>
    <p:extLst>
      <p:ext uri="{BB962C8B-B14F-4D97-AF65-F5344CB8AC3E}">
        <p14:creationId xmlns:p14="http://schemas.microsoft.com/office/powerpoint/2010/main" val="40262258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55</a:t>
            </a:fld>
            <a:endParaRPr lang="en-US" dirty="0"/>
          </a:p>
        </p:txBody>
      </p:sp>
    </p:spTree>
    <p:extLst>
      <p:ext uri="{BB962C8B-B14F-4D97-AF65-F5344CB8AC3E}">
        <p14:creationId xmlns:p14="http://schemas.microsoft.com/office/powerpoint/2010/main" val="3423207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56</a:t>
            </a:fld>
            <a:endParaRPr lang="en-US" dirty="0"/>
          </a:p>
        </p:txBody>
      </p:sp>
    </p:spTree>
    <p:extLst>
      <p:ext uri="{BB962C8B-B14F-4D97-AF65-F5344CB8AC3E}">
        <p14:creationId xmlns:p14="http://schemas.microsoft.com/office/powerpoint/2010/main" val="39236307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57</a:t>
            </a:fld>
            <a:endParaRPr lang="en-US" dirty="0"/>
          </a:p>
        </p:txBody>
      </p:sp>
    </p:spTree>
    <p:extLst>
      <p:ext uri="{BB962C8B-B14F-4D97-AF65-F5344CB8AC3E}">
        <p14:creationId xmlns:p14="http://schemas.microsoft.com/office/powerpoint/2010/main" val="24124237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58</a:t>
            </a:fld>
            <a:endParaRPr lang="en-US" dirty="0"/>
          </a:p>
        </p:txBody>
      </p:sp>
    </p:spTree>
    <p:extLst>
      <p:ext uri="{BB962C8B-B14F-4D97-AF65-F5344CB8AC3E}">
        <p14:creationId xmlns:p14="http://schemas.microsoft.com/office/powerpoint/2010/main" val="23522938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59</a:t>
            </a:fld>
            <a:endParaRPr lang="en-US" dirty="0"/>
          </a:p>
        </p:txBody>
      </p:sp>
    </p:spTree>
    <p:extLst>
      <p:ext uri="{BB962C8B-B14F-4D97-AF65-F5344CB8AC3E}">
        <p14:creationId xmlns:p14="http://schemas.microsoft.com/office/powerpoint/2010/main" val="17461567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60</a:t>
            </a:fld>
            <a:endParaRPr lang="en-US" dirty="0"/>
          </a:p>
        </p:txBody>
      </p:sp>
    </p:spTree>
    <p:extLst>
      <p:ext uri="{BB962C8B-B14F-4D97-AF65-F5344CB8AC3E}">
        <p14:creationId xmlns:p14="http://schemas.microsoft.com/office/powerpoint/2010/main" val="32179129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61</a:t>
            </a:fld>
            <a:endParaRPr lang="en-US" dirty="0"/>
          </a:p>
        </p:txBody>
      </p:sp>
    </p:spTree>
    <p:extLst>
      <p:ext uri="{BB962C8B-B14F-4D97-AF65-F5344CB8AC3E}">
        <p14:creationId xmlns:p14="http://schemas.microsoft.com/office/powerpoint/2010/main" val="21682892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62</a:t>
            </a:fld>
            <a:endParaRPr lang="en-US" dirty="0"/>
          </a:p>
        </p:txBody>
      </p:sp>
    </p:spTree>
    <p:extLst>
      <p:ext uri="{BB962C8B-B14F-4D97-AF65-F5344CB8AC3E}">
        <p14:creationId xmlns:p14="http://schemas.microsoft.com/office/powerpoint/2010/main" val="38185250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63</a:t>
            </a:fld>
            <a:endParaRPr lang="en-US" dirty="0"/>
          </a:p>
        </p:txBody>
      </p:sp>
    </p:spTree>
    <p:extLst>
      <p:ext uri="{BB962C8B-B14F-4D97-AF65-F5344CB8AC3E}">
        <p14:creationId xmlns:p14="http://schemas.microsoft.com/office/powerpoint/2010/main" val="182301375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64</a:t>
            </a:fld>
            <a:endParaRPr lang="en-US" dirty="0"/>
          </a:p>
        </p:txBody>
      </p:sp>
    </p:spTree>
    <p:extLst>
      <p:ext uri="{BB962C8B-B14F-4D97-AF65-F5344CB8AC3E}">
        <p14:creationId xmlns:p14="http://schemas.microsoft.com/office/powerpoint/2010/main" val="36945742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65</a:t>
            </a:fld>
            <a:endParaRPr lang="en-US" dirty="0"/>
          </a:p>
        </p:txBody>
      </p:sp>
    </p:spTree>
    <p:extLst>
      <p:ext uri="{BB962C8B-B14F-4D97-AF65-F5344CB8AC3E}">
        <p14:creationId xmlns:p14="http://schemas.microsoft.com/office/powerpoint/2010/main" val="247404702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66</a:t>
            </a:fld>
            <a:endParaRPr lang="en-US" dirty="0"/>
          </a:p>
        </p:txBody>
      </p:sp>
    </p:spTree>
    <p:extLst>
      <p:ext uri="{BB962C8B-B14F-4D97-AF65-F5344CB8AC3E}">
        <p14:creationId xmlns:p14="http://schemas.microsoft.com/office/powerpoint/2010/main" val="249346721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67</a:t>
            </a:fld>
            <a:endParaRPr lang="en-US" dirty="0"/>
          </a:p>
        </p:txBody>
      </p:sp>
    </p:spTree>
    <p:extLst>
      <p:ext uri="{BB962C8B-B14F-4D97-AF65-F5344CB8AC3E}">
        <p14:creationId xmlns:p14="http://schemas.microsoft.com/office/powerpoint/2010/main" val="19940325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68</a:t>
            </a:fld>
            <a:endParaRPr lang="en-US" dirty="0"/>
          </a:p>
        </p:txBody>
      </p:sp>
    </p:spTree>
    <p:extLst>
      <p:ext uri="{BB962C8B-B14F-4D97-AF65-F5344CB8AC3E}">
        <p14:creationId xmlns:p14="http://schemas.microsoft.com/office/powerpoint/2010/main" val="33020066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69</a:t>
            </a:fld>
            <a:endParaRPr lang="en-US" dirty="0"/>
          </a:p>
        </p:txBody>
      </p:sp>
    </p:spTree>
    <p:extLst>
      <p:ext uri="{BB962C8B-B14F-4D97-AF65-F5344CB8AC3E}">
        <p14:creationId xmlns:p14="http://schemas.microsoft.com/office/powerpoint/2010/main" val="178000338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70</a:t>
            </a:fld>
            <a:endParaRPr lang="en-US" dirty="0"/>
          </a:p>
        </p:txBody>
      </p:sp>
    </p:spTree>
    <p:extLst>
      <p:ext uri="{BB962C8B-B14F-4D97-AF65-F5344CB8AC3E}">
        <p14:creationId xmlns:p14="http://schemas.microsoft.com/office/powerpoint/2010/main" val="414360309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71</a:t>
            </a:fld>
            <a:endParaRPr lang="en-US" dirty="0"/>
          </a:p>
        </p:txBody>
      </p:sp>
    </p:spTree>
    <p:extLst>
      <p:ext uri="{BB962C8B-B14F-4D97-AF65-F5344CB8AC3E}">
        <p14:creationId xmlns:p14="http://schemas.microsoft.com/office/powerpoint/2010/main" val="324040276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72</a:t>
            </a:fld>
            <a:endParaRPr lang="en-US" dirty="0"/>
          </a:p>
        </p:txBody>
      </p:sp>
    </p:spTree>
    <p:extLst>
      <p:ext uri="{BB962C8B-B14F-4D97-AF65-F5344CB8AC3E}">
        <p14:creationId xmlns:p14="http://schemas.microsoft.com/office/powerpoint/2010/main" val="36340416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73</a:t>
            </a:fld>
            <a:endParaRPr lang="en-US" dirty="0"/>
          </a:p>
        </p:txBody>
      </p:sp>
    </p:spTree>
    <p:extLst>
      <p:ext uri="{BB962C8B-B14F-4D97-AF65-F5344CB8AC3E}">
        <p14:creationId xmlns:p14="http://schemas.microsoft.com/office/powerpoint/2010/main" val="323295666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74</a:t>
            </a:fld>
            <a:endParaRPr lang="en-US" dirty="0"/>
          </a:p>
        </p:txBody>
      </p:sp>
    </p:spTree>
    <p:extLst>
      <p:ext uri="{BB962C8B-B14F-4D97-AF65-F5344CB8AC3E}">
        <p14:creationId xmlns:p14="http://schemas.microsoft.com/office/powerpoint/2010/main" val="200854428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75</a:t>
            </a:fld>
            <a:endParaRPr lang="en-US" dirty="0"/>
          </a:p>
        </p:txBody>
      </p:sp>
    </p:spTree>
    <p:extLst>
      <p:ext uri="{BB962C8B-B14F-4D97-AF65-F5344CB8AC3E}">
        <p14:creationId xmlns:p14="http://schemas.microsoft.com/office/powerpoint/2010/main" val="345931070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76</a:t>
            </a:fld>
            <a:endParaRPr lang="en-US" dirty="0"/>
          </a:p>
        </p:txBody>
      </p:sp>
    </p:spTree>
    <p:extLst>
      <p:ext uri="{BB962C8B-B14F-4D97-AF65-F5344CB8AC3E}">
        <p14:creationId xmlns:p14="http://schemas.microsoft.com/office/powerpoint/2010/main" val="101156937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77</a:t>
            </a:fld>
            <a:endParaRPr lang="en-US" dirty="0"/>
          </a:p>
        </p:txBody>
      </p:sp>
    </p:spTree>
    <p:extLst>
      <p:ext uri="{BB962C8B-B14F-4D97-AF65-F5344CB8AC3E}">
        <p14:creationId xmlns:p14="http://schemas.microsoft.com/office/powerpoint/2010/main" val="54199503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78</a:t>
            </a:fld>
            <a:endParaRPr lang="en-US" dirty="0"/>
          </a:p>
        </p:txBody>
      </p:sp>
    </p:spTree>
    <p:extLst>
      <p:ext uri="{BB962C8B-B14F-4D97-AF65-F5344CB8AC3E}">
        <p14:creationId xmlns:p14="http://schemas.microsoft.com/office/powerpoint/2010/main" val="10548085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79</a:t>
            </a:fld>
            <a:endParaRPr lang="en-US" dirty="0"/>
          </a:p>
        </p:txBody>
      </p:sp>
    </p:spTree>
    <p:extLst>
      <p:ext uri="{BB962C8B-B14F-4D97-AF65-F5344CB8AC3E}">
        <p14:creationId xmlns:p14="http://schemas.microsoft.com/office/powerpoint/2010/main" val="280984915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80</a:t>
            </a:fld>
            <a:endParaRPr lang="en-US" dirty="0"/>
          </a:p>
        </p:txBody>
      </p:sp>
    </p:spTree>
    <p:extLst>
      <p:ext uri="{BB962C8B-B14F-4D97-AF65-F5344CB8AC3E}">
        <p14:creationId xmlns:p14="http://schemas.microsoft.com/office/powerpoint/2010/main" val="36282509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81</a:t>
            </a:fld>
            <a:endParaRPr lang="en-US" dirty="0"/>
          </a:p>
        </p:txBody>
      </p:sp>
    </p:spTree>
    <p:extLst>
      <p:ext uri="{BB962C8B-B14F-4D97-AF65-F5344CB8AC3E}">
        <p14:creationId xmlns:p14="http://schemas.microsoft.com/office/powerpoint/2010/main" val="202839084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82</a:t>
            </a:fld>
            <a:endParaRPr lang="en-US" dirty="0"/>
          </a:p>
        </p:txBody>
      </p:sp>
    </p:spTree>
    <p:extLst>
      <p:ext uri="{BB962C8B-B14F-4D97-AF65-F5344CB8AC3E}">
        <p14:creationId xmlns:p14="http://schemas.microsoft.com/office/powerpoint/2010/main" val="150780776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83</a:t>
            </a:fld>
            <a:endParaRPr lang="en-US" dirty="0"/>
          </a:p>
        </p:txBody>
      </p:sp>
    </p:spTree>
    <p:extLst>
      <p:ext uri="{BB962C8B-B14F-4D97-AF65-F5344CB8AC3E}">
        <p14:creationId xmlns:p14="http://schemas.microsoft.com/office/powerpoint/2010/main" val="36580540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84</a:t>
            </a:fld>
            <a:endParaRPr lang="en-US" dirty="0"/>
          </a:p>
        </p:txBody>
      </p:sp>
    </p:spTree>
    <p:extLst>
      <p:ext uri="{BB962C8B-B14F-4D97-AF65-F5344CB8AC3E}">
        <p14:creationId xmlns:p14="http://schemas.microsoft.com/office/powerpoint/2010/main" val="361314960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85</a:t>
            </a:fld>
            <a:endParaRPr lang="en-US" dirty="0"/>
          </a:p>
        </p:txBody>
      </p:sp>
    </p:spTree>
    <p:extLst>
      <p:ext uri="{BB962C8B-B14F-4D97-AF65-F5344CB8AC3E}">
        <p14:creationId xmlns:p14="http://schemas.microsoft.com/office/powerpoint/2010/main" val="145939969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86</a:t>
            </a:fld>
            <a:endParaRPr lang="en-US" dirty="0"/>
          </a:p>
        </p:txBody>
      </p:sp>
    </p:spTree>
    <p:extLst>
      <p:ext uri="{BB962C8B-B14F-4D97-AF65-F5344CB8AC3E}">
        <p14:creationId xmlns:p14="http://schemas.microsoft.com/office/powerpoint/2010/main" val="50265046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87</a:t>
            </a:fld>
            <a:endParaRPr lang="en-US" dirty="0"/>
          </a:p>
        </p:txBody>
      </p:sp>
    </p:spTree>
    <p:extLst>
      <p:ext uri="{BB962C8B-B14F-4D97-AF65-F5344CB8AC3E}">
        <p14:creationId xmlns:p14="http://schemas.microsoft.com/office/powerpoint/2010/main" val="40481362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88</a:t>
            </a:fld>
            <a:endParaRPr lang="en-US" dirty="0"/>
          </a:p>
        </p:txBody>
      </p:sp>
    </p:spTree>
    <p:extLst>
      <p:ext uri="{BB962C8B-B14F-4D97-AF65-F5344CB8AC3E}">
        <p14:creationId xmlns:p14="http://schemas.microsoft.com/office/powerpoint/2010/main" val="209576874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89</a:t>
            </a:fld>
            <a:endParaRPr lang="en-US" dirty="0"/>
          </a:p>
        </p:txBody>
      </p:sp>
    </p:spTree>
    <p:extLst>
      <p:ext uri="{BB962C8B-B14F-4D97-AF65-F5344CB8AC3E}">
        <p14:creationId xmlns:p14="http://schemas.microsoft.com/office/powerpoint/2010/main" val="388618526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90</a:t>
            </a:fld>
            <a:endParaRPr lang="en-US" dirty="0"/>
          </a:p>
        </p:txBody>
      </p:sp>
    </p:spTree>
    <p:extLst>
      <p:ext uri="{BB962C8B-B14F-4D97-AF65-F5344CB8AC3E}">
        <p14:creationId xmlns:p14="http://schemas.microsoft.com/office/powerpoint/2010/main" val="108716635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91</a:t>
            </a:fld>
            <a:endParaRPr lang="en-US" dirty="0"/>
          </a:p>
        </p:txBody>
      </p:sp>
    </p:spTree>
    <p:extLst>
      <p:ext uri="{BB962C8B-B14F-4D97-AF65-F5344CB8AC3E}">
        <p14:creationId xmlns:p14="http://schemas.microsoft.com/office/powerpoint/2010/main" val="281923630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92</a:t>
            </a:fld>
            <a:endParaRPr lang="en-US" dirty="0"/>
          </a:p>
        </p:txBody>
      </p:sp>
    </p:spTree>
    <p:extLst>
      <p:ext uri="{BB962C8B-B14F-4D97-AF65-F5344CB8AC3E}">
        <p14:creationId xmlns:p14="http://schemas.microsoft.com/office/powerpoint/2010/main" val="27830240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93</a:t>
            </a:fld>
            <a:endParaRPr lang="en-US" dirty="0"/>
          </a:p>
        </p:txBody>
      </p:sp>
    </p:spTree>
    <p:extLst>
      <p:ext uri="{BB962C8B-B14F-4D97-AF65-F5344CB8AC3E}">
        <p14:creationId xmlns:p14="http://schemas.microsoft.com/office/powerpoint/2010/main" val="157464901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94</a:t>
            </a:fld>
            <a:endParaRPr lang="en-US" dirty="0"/>
          </a:p>
        </p:txBody>
      </p:sp>
    </p:spTree>
    <p:extLst>
      <p:ext uri="{BB962C8B-B14F-4D97-AF65-F5344CB8AC3E}">
        <p14:creationId xmlns:p14="http://schemas.microsoft.com/office/powerpoint/2010/main" val="271450774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95</a:t>
            </a:fld>
            <a:endParaRPr lang="en-US" dirty="0"/>
          </a:p>
        </p:txBody>
      </p:sp>
    </p:spTree>
    <p:extLst>
      <p:ext uri="{BB962C8B-B14F-4D97-AF65-F5344CB8AC3E}">
        <p14:creationId xmlns:p14="http://schemas.microsoft.com/office/powerpoint/2010/main" val="251038433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96</a:t>
            </a:fld>
            <a:endParaRPr lang="en-US" dirty="0"/>
          </a:p>
        </p:txBody>
      </p:sp>
    </p:spTree>
    <p:extLst>
      <p:ext uri="{BB962C8B-B14F-4D97-AF65-F5344CB8AC3E}">
        <p14:creationId xmlns:p14="http://schemas.microsoft.com/office/powerpoint/2010/main" val="425553175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97</a:t>
            </a:fld>
            <a:endParaRPr lang="en-US">
              <a:solidFill>
                <a:prstClr val="black"/>
              </a:solidFill>
              <a:latin typeface="Calibri"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98</a:t>
            </a:fld>
            <a:endParaRPr 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852775200"/>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315446379"/>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792949474"/>
              </p:ext>
            </p:extLst>
          </p:nvPr>
        </p:nvGraphicFramePr>
        <p:xfrm>
          <a:off x="28135" y="1268760"/>
          <a:ext cx="8839200"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2000"/>
                                  </p:stCondLst>
                                  <p:childTnLst>
                                    <p:set>
                                      <p:cBhvr>
                                        <p:cTn id="11"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2" dur="500"/>
                                        <p:tgtEl>
                                          <p:spTgt spid="7">
                                            <p:graphicEl>
                                              <a:dgm id="{08678D36-F832-48B7-8548-C43AEE1F6A4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2000"/>
                                  </p:stCondLst>
                                  <p:childTnLst>
                                    <p:set>
                                      <p:cBhvr>
                                        <p:cTn id="16" dur="1" fill="hold">
                                          <p:stCondLst>
                                            <p:cond delay="0"/>
                                          </p:stCondLst>
                                        </p:cTn>
                                        <p:tgtEl>
                                          <p:spTgt spid="7">
                                            <p:graphicEl>
                                              <a:dgm id="{D32AB574-D896-42B8-809A-74BD322B19E9}"/>
                                            </p:graphicEl>
                                          </p:spTgt>
                                        </p:tgtEl>
                                        <p:attrNameLst>
                                          <p:attrName>style.visibility</p:attrName>
                                        </p:attrNameLst>
                                      </p:cBhvr>
                                      <p:to>
                                        <p:strVal val="visible"/>
                                      </p:to>
                                    </p:set>
                                    <p:animEffect transition="in" filter="dissolve">
                                      <p:cBhvr>
                                        <p:cTn id="17" dur="500"/>
                                        <p:tgtEl>
                                          <p:spTgt spid="7">
                                            <p:graphicEl>
                                              <a:dgm id="{D32AB574-D896-42B8-809A-74BD322B19E9}"/>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2000"/>
                                  </p:stCondLst>
                                  <p:childTnLst>
                                    <p:set>
                                      <p:cBhvr>
                                        <p:cTn id="21" dur="1" fill="hold">
                                          <p:stCondLst>
                                            <p:cond delay="0"/>
                                          </p:stCondLst>
                                        </p:cTn>
                                        <p:tgtEl>
                                          <p:spTgt spid="7">
                                            <p:graphicEl>
                                              <a:dgm id="{126D987F-03E4-4E3A-BED9-08B6BA3A15AB}"/>
                                            </p:graphicEl>
                                          </p:spTgt>
                                        </p:tgtEl>
                                        <p:attrNameLst>
                                          <p:attrName>style.visibility</p:attrName>
                                        </p:attrNameLst>
                                      </p:cBhvr>
                                      <p:to>
                                        <p:strVal val="visible"/>
                                      </p:to>
                                    </p:set>
                                    <p:animEffect transition="in" filter="dissolve">
                                      <p:cBhvr>
                                        <p:cTn id="22" dur="500"/>
                                        <p:tgtEl>
                                          <p:spTgt spid="7">
                                            <p:graphicEl>
                                              <a:dgm id="{126D987F-03E4-4E3A-BED9-08B6BA3A15A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2000"/>
                                  </p:stCondLst>
                                  <p:childTnLst>
                                    <p:set>
                                      <p:cBhvr>
                                        <p:cTn id="26" dur="1" fill="hold">
                                          <p:stCondLst>
                                            <p:cond delay="0"/>
                                          </p:stCondLst>
                                        </p:cTn>
                                        <p:tgtEl>
                                          <p:spTgt spid="7">
                                            <p:graphicEl>
                                              <a:dgm id="{A0EFA616-1553-4077-9D32-88AE20AC0552}"/>
                                            </p:graphicEl>
                                          </p:spTgt>
                                        </p:tgtEl>
                                        <p:attrNameLst>
                                          <p:attrName>style.visibility</p:attrName>
                                        </p:attrNameLst>
                                      </p:cBhvr>
                                      <p:to>
                                        <p:strVal val="visible"/>
                                      </p:to>
                                    </p:set>
                                    <p:animEffect transition="in" filter="dissolve">
                                      <p:cBhvr>
                                        <p:cTn id="27" dur="500"/>
                                        <p:tgtEl>
                                          <p:spTgt spid="7">
                                            <p:graphicEl>
                                              <a:dgm id="{A0EFA616-1553-4077-9D32-88AE20AC055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Excel - Introduction to Formulas</a:t>
            </a:r>
          </a:p>
        </p:txBody>
      </p:sp>
      <p:sp>
        <p:nvSpPr>
          <p:cNvPr id="3" name="Content Placeholder 2"/>
          <p:cNvSpPr>
            <a:spLocks noGrp="1"/>
          </p:cNvSpPr>
          <p:nvPr>
            <p:ph idx="1"/>
          </p:nvPr>
        </p:nvSpPr>
        <p:spPr>
          <a:xfrm>
            <a:off x="0" y="764704"/>
            <a:ext cx="9144000" cy="6093296"/>
          </a:xfrm>
        </p:spPr>
        <p:txBody>
          <a:bodyPr>
            <a:normAutofit/>
          </a:bodyPr>
          <a:lstStyle/>
          <a:p>
            <a:pPr algn="just"/>
            <a:r>
              <a:rPr lang="en-US" dirty="0"/>
              <a:t>One of the most powerful features in Excel is the ability to </a:t>
            </a:r>
            <a:r>
              <a:rPr lang="en-US" b="1" dirty="0"/>
              <a:t>calculate</a:t>
            </a:r>
            <a:r>
              <a:rPr lang="en-US" dirty="0"/>
              <a:t> numerical information using </a:t>
            </a:r>
            <a:r>
              <a:rPr lang="en-US" b="1" dirty="0"/>
              <a:t>formulas</a:t>
            </a:r>
            <a:r>
              <a:rPr lang="en-US" dirty="0"/>
              <a:t>. </a:t>
            </a:r>
          </a:p>
          <a:p>
            <a:pPr algn="just"/>
            <a:endParaRPr lang="en-US" dirty="0"/>
          </a:p>
          <a:p>
            <a:pPr algn="just"/>
            <a:r>
              <a:rPr lang="en-US" dirty="0"/>
              <a:t>Just like a calculator, Excel can add, subtract, multiply, and divide. </a:t>
            </a:r>
          </a:p>
          <a:p>
            <a:pPr algn="just"/>
            <a:endParaRPr lang="en-US" dirty="0"/>
          </a:p>
          <a:p>
            <a:pPr algn="just"/>
            <a:r>
              <a:rPr lang="en-US" dirty="0"/>
              <a:t>In this lesson, we'll show you how to use </a:t>
            </a:r>
            <a:r>
              <a:rPr lang="en-US" b="1" dirty="0"/>
              <a:t>cell references</a:t>
            </a:r>
            <a:r>
              <a:rPr lang="en-US" dirty="0"/>
              <a:t> to create simple formulas.</a:t>
            </a:r>
            <a:endParaRPr lang="en-US" sz="28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Mathematical operators</a:t>
            </a:r>
          </a:p>
        </p:txBody>
      </p:sp>
      <p:sp>
        <p:nvSpPr>
          <p:cNvPr id="3" name="Content Placeholder 2"/>
          <p:cNvSpPr>
            <a:spLocks noGrp="1"/>
          </p:cNvSpPr>
          <p:nvPr>
            <p:ph idx="1"/>
          </p:nvPr>
        </p:nvSpPr>
        <p:spPr>
          <a:xfrm>
            <a:off x="0" y="620688"/>
            <a:ext cx="9144000" cy="6237312"/>
          </a:xfrm>
        </p:spPr>
        <p:txBody>
          <a:bodyPr>
            <a:normAutofit fontScale="92500"/>
          </a:bodyPr>
          <a:lstStyle/>
          <a:p>
            <a:pPr algn="just"/>
            <a:r>
              <a:rPr lang="en-US" dirty="0"/>
              <a:t>Excel uses standard operators for formulas: a </a:t>
            </a:r>
            <a:r>
              <a:rPr lang="en-US" b="1" dirty="0"/>
              <a:t>plus sign</a:t>
            </a:r>
            <a:r>
              <a:rPr lang="en-US" dirty="0"/>
              <a:t> for addition (+), </a:t>
            </a:r>
            <a:r>
              <a:rPr lang="en-US" b="1" dirty="0"/>
              <a:t>minus sign </a:t>
            </a:r>
            <a:r>
              <a:rPr lang="en-US" dirty="0"/>
              <a:t>for subtraction (-), </a:t>
            </a:r>
            <a:r>
              <a:rPr lang="en-US" b="1" dirty="0"/>
              <a:t>asterisk</a:t>
            </a:r>
            <a:r>
              <a:rPr lang="en-US" dirty="0"/>
              <a:t> for multiplication (*), </a:t>
            </a:r>
            <a:r>
              <a:rPr lang="en-US" b="1" dirty="0"/>
              <a:t>forward slash</a:t>
            </a:r>
            <a:r>
              <a:rPr lang="en-US" dirty="0"/>
              <a:t> for division (/), and </a:t>
            </a:r>
            <a:r>
              <a:rPr lang="en-US" b="1" dirty="0"/>
              <a:t>caret</a:t>
            </a:r>
            <a:r>
              <a:rPr lang="en-US" dirty="0"/>
              <a:t> (^) for exponents.</a:t>
            </a:r>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All formulas in Excel must begin with an </a:t>
            </a:r>
            <a:r>
              <a:rPr lang="en-US" b="1" dirty="0"/>
              <a:t>equals sign (=)</a:t>
            </a:r>
            <a:r>
              <a:rPr lang="en-US" dirty="0"/>
              <a:t>. </a:t>
            </a:r>
          </a:p>
          <a:p>
            <a:pPr algn="just"/>
            <a:r>
              <a:rPr lang="en-US" dirty="0"/>
              <a:t>This is because the cell contains, or is equal to, the formula and the value it calculates.</a:t>
            </a:r>
          </a:p>
          <a:p>
            <a:pPr algn="just"/>
            <a:endParaRPr lang="en-US" dirty="0"/>
          </a:p>
        </p:txBody>
      </p:sp>
      <p:pic>
        <p:nvPicPr>
          <p:cNvPr id="5" name="Picture 4">
            <a:extLst>
              <a:ext uri="{FF2B5EF4-FFF2-40B4-BE49-F238E27FC236}">
                <a16:creationId xmlns:a16="http://schemas.microsoft.com/office/drawing/2014/main" id="{552F981D-91EE-44E9-BE71-5799D20703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9832" y="2348880"/>
            <a:ext cx="3744416" cy="2736304"/>
          </a:xfrm>
          <a:prstGeom prst="rect">
            <a:avLst/>
          </a:prstGeom>
        </p:spPr>
      </p:pic>
    </p:spTree>
    <p:extLst>
      <p:ext uri="{BB962C8B-B14F-4D97-AF65-F5344CB8AC3E}">
        <p14:creationId xmlns:p14="http://schemas.microsoft.com/office/powerpoint/2010/main" val="53712270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0" y="764704"/>
            <a:ext cx="9144000" cy="6093296"/>
          </a:xfrm>
        </p:spPr>
        <p:txBody>
          <a:bodyPr>
            <a:normAutofit/>
          </a:bodyPr>
          <a:lstStyle/>
          <a:p>
            <a:pPr algn="just"/>
            <a:r>
              <a:rPr lang="en-US" dirty="0"/>
              <a:t>While you can create simple formulas in Excel using numbers (for example, </a:t>
            </a:r>
            <a:r>
              <a:rPr lang="en-US" b="1" dirty="0"/>
              <a:t>=2+2 or =5*5</a:t>
            </a:r>
            <a:r>
              <a:rPr lang="en-US" dirty="0"/>
              <a:t>), most of the time you will use </a:t>
            </a:r>
            <a:r>
              <a:rPr lang="en-US" b="1" dirty="0"/>
              <a:t>cell addresses </a:t>
            </a:r>
            <a:r>
              <a:rPr lang="en-US" dirty="0"/>
              <a:t>to create a formula.</a:t>
            </a:r>
          </a:p>
          <a:p>
            <a:pPr algn="just"/>
            <a:endParaRPr lang="en-US" dirty="0"/>
          </a:p>
          <a:p>
            <a:pPr algn="just"/>
            <a:r>
              <a:rPr lang="en-US" dirty="0"/>
              <a:t>This is known as making a </a:t>
            </a:r>
            <a:r>
              <a:rPr lang="en-US" b="1" dirty="0"/>
              <a:t>cell reference</a:t>
            </a:r>
            <a:r>
              <a:rPr lang="en-US" dirty="0"/>
              <a:t>. </a:t>
            </a:r>
          </a:p>
          <a:p>
            <a:pPr algn="just"/>
            <a:endParaRPr lang="en-US" dirty="0"/>
          </a:p>
          <a:p>
            <a:pPr algn="just"/>
            <a:r>
              <a:rPr lang="en-US" dirty="0"/>
              <a:t>Using cell references will ensure that your formulas are always accurate because you can change the value of referenced cells without having to rewrite the formula.</a:t>
            </a:r>
            <a:endParaRPr lang="en-US" sz="2800" dirty="0"/>
          </a:p>
        </p:txBody>
      </p:sp>
    </p:spTree>
    <p:extLst>
      <p:ext uri="{BB962C8B-B14F-4D97-AF65-F5344CB8AC3E}">
        <p14:creationId xmlns:p14="http://schemas.microsoft.com/office/powerpoint/2010/main" val="217663052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0" y="764704"/>
            <a:ext cx="9144000" cy="6093296"/>
          </a:xfrm>
        </p:spPr>
        <p:txBody>
          <a:bodyPr>
            <a:normAutofit/>
          </a:bodyPr>
          <a:lstStyle/>
          <a:p>
            <a:pPr algn="just"/>
            <a:r>
              <a:rPr lang="en-US" dirty="0"/>
              <a:t>In the formula below, cell A3 adds the values of cells A1 and A2 by making cell references:</a:t>
            </a:r>
          </a:p>
          <a:p>
            <a:pPr algn="just"/>
            <a:endParaRPr lang="en-US" dirty="0"/>
          </a:p>
          <a:p>
            <a:pPr algn="just"/>
            <a:endParaRPr lang="en-US" dirty="0"/>
          </a:p>
          <a:p>
            <a:pPr algn="just"/>
            <a:endParaRPr lang="en-US" dirty="0"/>
          </a:p>
          <a:p>
            <a:pPr algn="just"/>
            <a:r>
              <a:rPr lang="en-US" dirty="0"/>
              <a:t>When you press Enter, the formula calculates and displays the answer in cell A3:</a:t>
            </a:r>
          </a:p>
          <a:p>
            <a:pPr algn="just"/>
            <a:endParaRPr lang="en-US" dirty="0"/>
          </a:p>
          <a:p>
            <a:pPr algn="just"/>
            <a:endParaRPr lang="en-US" dirty="0"/>
          </a:p>
          <a:p>
            <a:pPr algn="just"/>
            <a:endParaRPr lang="en-US" sz="2800" dirty="0"/>
          </a:p>
        </p:txBody>
      </p:sp>
      <p:pic>
        <p:nvPicPr>
          <p:cNvPr id="5" name="Picture 4">
            <a:extLst>
              <a:ext uri="{FF2B5EF4-FFF2-40B4-BE49-F238E27FC236}">
                <a16:creationId xmlns:a16="http://schemas.microsoft.com/office/drawing/2014/main" id="{8D05EE8B-5C84-404B-AD1B-58CD61010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864" y="1916832"/>
            <a:ext cx="2736304" cy="1752773"/>
          </a:xfrm>
          <a:prstGeom prst="rect">
            <a:avLst/>
          </a:prstGeom>
        </p:spPr>
      </p:pic>
      <p:pic>
        <p:nvPicPr>
          <p:cNvPr id="7" name="Picture 6">
            <a:extLst>
              <a:ext uri="{FF2B5EF4-FFF2-40B4-BE49-F238E27FC236}">
                <a16:creationId xmlns:a16="http://schemas.microsoft.com/office/drawing/2014/main" id="{0FFE5DBC-A5D7-4C62-B7C9-1560C667D4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9524" y="4727096"/>
            <a:ext cx="2264643" cy="1582224"/>
          </a:xfrm>
          <a:prstGeom prst="rect">
            <a:avLst/>
          </a:prstGeom>
        </p:spPr>
      </p:pic>
    </p:spTree>
    <p:extLst>
      <p:ext uri="{BB962C8B-B14F-4D97-AF65-F5344CB8AC3E}">
        <p14:creationId xmlns:p14="http://schemas.microsoft.com/office/powerpoint/2010/main" val="278703446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0" y="764704"/>
            <a:ext cx="9144000" cy="6093296"/>
          </a:xfrm>
        </p:spPr>
        <p:txBody>
          <a:bodyPr>
            <a:normAutofit/>
          </a:bodyPr>
          <a:lstStyle/>
          <a:p>
            <a:pPr algn="just"/>
            <a:r>
              <a:rPr lang="en-US" dirty="0"/>
              <a:t>If the values in the referenced cells change, the formula automatically recalculates:</a:t>
            </a:r>
          </a:p>
          <a:p>
            <a:pPr algn="just"/>
            <a:endParaRPr lang="en-US" dirty="0"/>
          </a:p>
          <a:p>
            <a:pPr algn="just"/>
            <a:endParaRPr lang="en-US" sz="2800" dirty="0"/>
          </a:p>
        </p:txBody>
      </p:sp>
      <p:pic>
        <p:nvPicPr>
          <p:cNvPr id="6" name="Picture 5">
            <a:extLst>
              <a:ext uri="{FF2B5EF4-FFF2-40B4-BE49-F238E27FC236}">
                <a16:creationId xmlns:a16="http://schemas.microsoft.com/office/drawing/2014/main" id="{E2449183-70F4-472C-A73D-2658A041B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2204864"/>
            <a:ext cx="2880319" cy="2304256"/>
          </a:xfrm>
          <a:prstGeom prst="rect">
            <a:avLst/>
          </a:prstGeom>
        </p:spPr>
      </p:pic>
    </p:spTree>
    <p:extLst>
      <p:ext uri="{BB962C8B-B14F-4D97-AF65-F5344CB8AC3E}">
        <p14:creationId xmlns:p14="http://schemas.microsoft.com/office/powerpoint/2010/main" val="418057344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 references</a:t>
            </a:r>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By combining a mathematical operator with cell references, you can create a variety of simple formulas in Excel. </a:t>
            </a:r>
          </a:p>
          <a:p>
            <a:pPr algn="just"/>
            <a:r>
              <a:rPr lang="en-US" dirty="0"/>
              <a:t>Formulas can also include a combination of cell references and numbers, as in the examples below:</a:t>
            </a:r>
            <a:endParaRPr lang="en-US" sz="2800" dirty="0"/>
          </a:p>
        </p:txBody>
      </p:sp>
      <p:pic>
        <p:nvPicPr>
          <p:cNvPr id="5" name="Picture 4">
            <a:extLst>
              <a:ext uri="{FF2B5EF4-FFF2-40B4-BE49-F238E27FC236}">
                <a16:creationId xmlns:a16="http://schemas.microsoft.com/office/drawing/2014/main" id="{9640E358-40B7-49B4-A96E-6143F5F6FC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85" y="3284984"/>
            <a:ext cx="4896544" cy="3384376"/>
          </a:xfrm>
          <a:prstGeom prst="rect">
            <a:avLst/>
          </a:prstGeom>
        </p:spPr>
      </p:pic>
    </p:spTree>
    <p:extLst>
      <p:ext uri="{BB962C8B-B14F-4D97-AF65-F5344CB8AC3E}">
        <p14:creationId xmlns:p14="http://schemas.microsoft.com/office/powerpoint/2010/main" val="141317259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To create a formula</a:t>
            </a:r>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In our example below, we'll use a simple formula and cell references to calculate a budget.</a:t>
            </a:r>
          </a:p>
          <a:p>
            <a:pPr algn="just"/>
            <a:endParaRPr lang="en-US" sz="2800" dirty="0"/>
          </a:p>
          <a:p>
            <a:pPr algn="just"/>
            <a:r>
              <a:rPr lang="en-US" sz="2800" dirty="0"/>
              <a:t>Select the </a:t>
            </a:r>
            <a:r>
              <a:rPr lang="en-US" sz="2800" b="1" dirty="0"/>
              <a:t>cell</a:t>
            </a:r>
            <a:r>
              <a:rPr lang="en-US" sz="2800" dirty="0"/>
              <a:t> that will contain the formula. In our example, we'll select cell </a:t>
            </a:r>
            <a:r>
              <a:rPr lang="en-US" sz="2800" b="1" dirty="0"/>
              <a:t>D12</a:t>
            </a:r>
            <a:r>
              <a:rPr lang="en-US" sz="2800" dirty="0"/>
              <a:t>.</a:t>
            </a:r>
          </a:p>
          <a:p>
            <a:pPr algn="just"/>
            <a:endParaRPr lang="en-US" sz="2800" dirty="0"/>
          </a:p>
        </p:txBody>
      </p:sp>
      <p:pic>
        <p:nvPicPr>
          <p:cNvPr id="6" name="Picture 5">
            <a:extLst>
              <a:ext uri="{FF2B5EF4-FFF2-40B4-BE49-F238E27FC236}">
                <a16:creationId xmlns:a16="http://schemas.microsoft.com/office/drawing/2014/main" id="{C7B97B93-870B-413E-AED7-9944CFD6A4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3068960"/>
            <a:ext cx="4824536" cy="3672408"/>
          </a:xfrm>
          <a:prstGeom prst="rect">
            <a:avLst/>
          </a:prstGeom>
        </p:spPr>
      </p:pic>
    </p:spTree>
    <p:extLst>
      <p:ext uri="{BB962C8B-B14F-4D97-AF65-F5344CB8AC3E}">
        <p14:creationId xmlns:p14="http://schemas.microsoft.com/office/powerpoint/2010/main" val="287802699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To create a formula</a:t>
            </a:r>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Type the </a:t>
            </a:r>
            <a:r>
              <a:rPr lang="en-US" b="1" dirty="0"/>
              <a:t>equals sign (=) in the formula bar</a:t>
            </a:r>
            <a:r>
              <a:rPr lang="en-US" dirty="0"/>
              <a:t>. Notice how it appears in both the </a:t>
            </a:r>
            <a:r>
              <a:rPr lang="en-US" b="1" dirty="0"/>
              <a:t>cell</a:t>
            </a:r>
            <a:r>
              <a:rPr lang="en-US" dirty="0"/>
              <a:t> and the </a:t>
            </a:r>
            <a:r>
              <a:rPr lang="en-US" b="1" dirty="0"/>
              <a:t>formula bar</a:t>
            </a:r>
            <a:r>
              <a:rPr lang="en-US" dirty="0"/>
              <a:t>.</a:t>
            </a:r>
            <a:endParaRPr lang="en-US" sz="2800" dirty="0"/>
          </a:p>
        </p:txBody>
      </p:sp>
      <p:pic>
        <p:nvPicPr>
          <p:cNvPr id="5" name="Picture 4">
            <a:extLst>
              <a:ext uri="{FF2B5EF4-FFF2-40B4-BE49-F238E27FC236}">
                <a16:creationId xmlns:a16="http://schemas.microsoft.com/office/drawing/2014/main" id="{2030E051-47CD-4A69-AABA-A88735339F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5062" y="1795462"/>
            <a:ext cx="5695330" cy="4585866"/>
          </a:xfrm>
          <a:prstGeom prst="rect">
            <a:avLst/>
          </a:prstGeom>
        </p:spPr>
      </p:pic>
    </p:spTree>
    <p:extLst>
      <p:ext uri="{BB962C8B-B14F-4D97-AF65-F5344CB8AC3E}">
        <p14:creationId xmlns:p14="http://schemas.microsoft.com/office/powerpoint/2010/main" val="319103428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To create a formula</a:t>
            </a:r>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Type the </a:t>
            </a:r>
            <a:r>
              <a:rPr lang="en-US" b="1" dirty="0"/>
              <a:t>cell address </a:t>
            </a:r>
            <a:r>
              <a:rPr lang="en-US" dirty="0"/>
              <a:t>of the cell you want to reference first in the formula: cell </a:t>
            </a:r>
            <a:r>
              <a:rPr lang="en-US" b="1" dirty="0"/>
              <a:t>D10</a:t>
            </a:r>
            <a:r>
              <a:rPr lang="en-US" dirty="0"/>
              <a:t> in our example. A </a:t>
            </a:r>
            <a:r>
              <a:rPr lang="en-US" b="1" dirty="0"/>
              <a:t>blue border </a:t>
            </a:r>
            <a:r>
              <a:rPr lang="en-US" dirty="0"/>
              <a:t>will appear around the referenced cell.</a:t>
            </a:r>
          </a:p>
        </p:txBody>
      </p:sp>
      <p:pic>
        <p:nvPicPr>
          <p:cNvPr id="6" name="Picture 5">
            <a:extLst>
              <a:ext uri="{FF2B5EF4-FFF2-40B4-BE49-F238E27FC236}">
                <a16:creationId xmlns:a16="http://schemas.microsoft.com/office/drawing/2014/main" id="{5DE15B38-C03C-4806-B124-808A442CB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792" y="2780928"/>
            <a:ext cx="5040560" cy="3744416"/>
          </a:xfrm>
          <a:prstGeom prst="rect">
            <a:avLst/>
          </a:prstGeom>
        </p:spPr>
      </p:pic>
    </p:spTree>
    <p:extLst>
      <p:ext uri="{BB962C8B-B14F-4D97-AF65-F5344CB8AC3E}">
        <p14:creationId xmlns:p14="http://schemas.microsoft.com/office/powerpoint/2010/main" val="179353973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To create a formula</a:t>
            </a:r>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Type the </a:t>
            </a:r>
            <a:r>
              <a:rPr lang="en-US" b="1" dirty="0"/>
              <a:t>mathematical operator </a:t>
            </a:r>
            <a:r>
              <a:rPr lang="en-US" dirty="0"/>
              <a:t>you want to use. In our example, we'll type the </a:t>
            </a:r>
            <a:r>
              <a:rPr lang="en-US" b="1" dirty="0"/>
              <a:t>addition sign (+).</a:t>
            </a:r>
          </a:p>
          <a:p>
            <a:pPr algn="just"/>
            <a:r>
              <a:rPr lang="en-US" dirty="0"/>
              <a:t>Type the </a:t>
            </a:r>
            <a:r>
              <a:rPr lang="en-US" b="1" dirty="0"/>
              <a:t>cell address </a:t>
            </a:r>
            <a:r>
              <a:rPr lang="en-US" dirty="0"/>
              <a:t>of the cell you want to reference second in the formula: cell </a:t>
            </a:r>
            <a:r>
              <a:rPr lang="en-US" b="1" dirty="0"/>
              <a:t>D11</a:t>
            </a:r>
            <a:r>
              <a:rPr lang="en-US" dirty="0"/>
              <a:t> in our example. A </a:t>
            </a:r>
            <a:r>
              <a:rPr lang="en-US" b="1" dirty="0"/>
              <a:t>red border </a:t>
            </a:r>
            <a:r>
              <a:rPr lang="en-US" dirty="0"/>
              <a:t>will appear around the referenced cell.</a:t>
            </a:r>
          </a:p>
        </p:txBody>
      </p:sp>
      <p:pic>
        <p:nvPicPr>
          <p:cNvPr id="5" name="Picture 4">
            <a:extLst>
              <a:ext uri="{FF2B5EF4-FFF2-40B4-BE49-F238E27FC236}">
                <a16:creationId xmlns:a16="http://schemas.microsoft.com/office/drawing/2014/main" id="{8D6A9CF4-DFE9-4EBD-A92E-9E3CE6B305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9872" y="3429000"/>
            <a:ext cx="5400600" cy="3429000"/>
          </a:xfrm>
          <a:prstGeom prst="rect">
            <a:avLst/>
          </a:prstGeom>
        </p:spPr>
      </p:pic>
    </p:spTree>
    <p:extLst>
      <p:ext uri="{BB962C8B-B14F-4D97-AF65-F5344CB8AC3E}">
        <p14:creationId xmlns:p14="http://schemas.microsoft.com/office/powerpoint/2010/main" val="254436712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To create a formula</a:t>
            </a:r>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Press </a:t>
            </a:r>
            <a:r>
              <a:rPr lang="en-US" b="1" dirty="0"/>
              <a:t>Enter </a:t>
            </a:r>
            <a:r>
              <a:rPr lang="en-US" dirty="0"/>
              <a:t>on your keyboard. The formula will be </a:t>
            </a:r>
            <a:r>
              <a:rPr lang="en-US" b="1" dirty="0"/>
              <a:t>calculated</a:t>
            </a:r>
            <a:r>
              <a:rPr lang="en-US" dirty="0"/>
              <a:t>, and the </a:t>
            </a:r>
            <a:r>
              <a:rPr lang="en-US" b="1" dirty="0"/>
              <a:t>value</a:t>
            </a:r>
            <a:r>
              <a:rPr lang="en-US" dirty="0"/>
              <a:t> will be displayed in the cell. If you select the cell again, notice that the cell displays the result, while the formula bar displays the formula.</a:t>
            </a:r>
          </a:p>
        </p:txBody>
      </p:sp>
      <p:pic>
        <p:nvPicPr>
          <p:cNvPr id="6" name="Picture 5">
            <a:extLst>
              <a:ext uri="{FF2B5EF4-FFF2-40B4-BE49-F238E27FC236}">
                <a16:creationId xmlns:a16="http://schemas.microsoft.com/office/drawing/2014/main" id="{7DD95BAC-D80F-4ADE-9344-E48E7A212C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3848" y="2780928"/>
            <a:ext cx="5544616" cy="4077072"/>
          </a:xfrm>
          <a:prstGeom prst="rect">
            <a:avLst/>
          </a:prstGeom>
        </p:spPr>
      </p:pic>
    </p:spTree>
    <p:extLst>
      <p:ext uri="{BB962C8B-B14F-4D97-AF65-F5344CB8AC3E}">
        <p14:creationId xmlns:p14="http://schemas.microsoft.com/office/powerpoint/2010/main" val="75180691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To create a formula</a:t>
            </a:r>
          </a:p>
        </p:txBody>
      </p:sp>
      <p:sp>
        <p:nvSpPr>
          <p:cNvPr id="3" name="Content Placeholder 2"/>
          <p:cNvSpPr>
            <a:spLocks noGrp="1"/>
          </p:cNvSpPr>
          <p:nvPr>
            <p:ph idx="1"/>
          </p:nvPr>
        </p:nvSpPr>
        <p:spPr>
          <a:xfrm>
            <a:off x="0" y="620688"/>
            <a:ext cx="9144000" cy="6237312"/>
          </a:xfrm>
        </p:spPr>
        <p:txBody>
          <a:bodyPr>
            <a:normAutofit/>
          </a:bodyPr>
          <a:lstStyle/>
          <a:p>
            <a:pPr marL="0" indent="0" algn="just">
              <a:buNone/>
            </a:pPr>
            <a:r>
              <a:rPr lang="en-US" b="1" dirty="0"/>
              <a:t>NOTE</a:t>
            </a:r>
            <a:r>
              <a:rPr lang="en-US" dirty="0"/>
              <a:t>:</a:t>
            </a:r>
          </a:p>
          <a:p>
            <a:pPr algn="just"/>
            <a:r>
              <a:rPr lang="en-US" dirty="0"/>
              <a:t>If the result of a formula is too large to be displayed in a cell, it may appear as </a:t>
            </a:r>
            <a:r>
              <a:rPr lang="en-US" b="1" dirty="0"/>
              <a:t>pound signs (#######) </a:t>
            </a:r>
            <a:r>
              <a:rPr lang="en-US" dirty="0"/>
              <a:t>instead of a value. </a:t>
            </a:r>
          </a:p>
          <a:p>
            <a:pPr algn="just"/>
            <a:endParaRPr lang="en-US" dirty="0"/>
          </a:p>
          <a:p>
            <a:pPr algn="just"/>
            <a:r>
              <a:rPr lang="en-US" dirty="0"/>
              <a:t>This means the column is not wide enough to display the cell content. </a:t>
            </a:r>
          </a:p>
          <a:p>
            <a:pPr algn="just"/>
            <a:endParaRPr lang="en-US" dirty="0"/>
          </a:p>
          <a:p>
            <a:pPr algn="just"/>
            <a:r>
              <a:rPr lang="en-US" dirty="0"/>
              <a:t>Simply </a:t>
            </a:r>
            <a:r>
              <a:rPr lang="en-US" b="1" dirty="0"/>
              <a:t>increase the column width </a:t>
            </a:r>
            <a:r>
              <a:rPr lang="en-US" dirty="0"/>
              <a:t>to show the cell content.</a:t>
            </a:r>
          </a:p>
        </p:txBody>
      </p:sp>
    </p:spTree>
    <p:extLst>
      <p:ext uri="{BB962C8B-B14F-4D97-AF65-F5344CB8AC3E}">
        <p14:creationId xmlns:p14="http://schemas.microsoft.com/office/powerpoint/2010/main" val="2512502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Modifying values with cell references</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The true advantage of cell references is that they allow you to </a:t>
            </a:r>
            <a:r>
              <a:rPr lang="en-US" b="1" dirty="0"/>
              <a:t>update data </a:t>
            </a:r>
            <a:r>
              <a:rPr lang="en-US" dirty="0"/>
              <a:t>in your worksheet without having to </a:t>
            </a:r>
            <a:r>
              <a:rPr lang="en-US" b="1" dirty="0"/>
              <a:t>rewrite formulas</a:t>
            </a:r>
            <a:r>
              <a:rPr lang="en-US" dirty="0"/>
              <a:t>. </a:t>
            </a:r>
          </a:p>
          <a:p>
            <a:pPr algn="just"/>
            <a:r>
              <a:rPr lang="en-US" dirty="0"/>
              <a:t>In the example below, we've </a:t>
            </a:r>
            <a:r>
              <a:rPr lang="en-US" b="1" dirty="0"/>
              <a:t>modified</a:t>
            </a:r>
            <a:r>
              <a:rPr lang="en-US" dirty="0"/>
              <a:t> the value of cell </a:t>
            </a:r>
            <a:r>
              <a:rPr lang="en-US" b="1" dirty="0"/>
              <a:t>D10</a:t>
            </a:r>
            <a:r>
              <a:rPr lang="en-US" dirty="0"/>
              <a:t> from </a:t>
            </a:r>
            <a:r>
              <a:rPr lang="en-US" b="1" dirty="0"/>
              <a:t>$1,200 to $1,800</a:t>
            </a:r>
            <a:r>
              <a:rPr lang="en-US" dirty="0"/>
              <a:t>. The formula in </a:t>
            </a:r>
            <a:r>
              <a:rPr lang="en-US" b="1" dirty="0"/>
              <a:t>D12</a:t>
            </a:r>
            <a:r>
              <a:rPr lang="en-US" dirty="0"/>
              <a:t> will </a:t>
            </a:r>
            <a:r>
              <a:rPr lang="en-US" b="1" dirty="0"/>
              <a:t>automatically recalculate </a:t>
            </a:r>
            <a:r>
              <a:rPr lang="en-US" dirty="0"/>
              <a:t>and display the new value in cell </a:t>
            </a:r>
            <a:r>
              <a:rPr lang="en-US" b="1" dirty="0"/>
              <a:t>D12</a:t>
            </a:r>
            <a:r>
              <a:rPr lang="en-US" dirty="0"/>
              <a:t>.</a:t>
            </a:r>
          </a:p>
          <a:p>
            <a:pPr algn="just"/>
            <a:endParaRPr lang="en-US" dirty="0"/>
          </a:p>
        </p:txBody>
      </p:sp>
      <p:pic>
        <p:nvPicPr>
          <p:cNvPr id="5" name="Picture 4">
            <a:extLst>
              <a:ext uri="{FF2B5EF4-FFF2-40B4-BE49-F238E27FC236}">
                <a16:creationId xmlns:a16="http://schemas.microsoft.com/office/drawing/2014/main" id="{34AED98C-6CD9-4055-83EA-2A5A19916B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3888" y="3933056"/>
            <a:ext cx="5184576" cy="2786000"/>
          </a:xfrm>
          <a:prstGeom prst="rect">
            <a:avLst/>
          </a:prstGeom>
        </p:spPr>
      </p:pic>
    </p:spTree>
    <p:extLst>
      <p:ext uri="{BB962C8B-B14F-4D97-AF65-F5344CB8AC3E}">
        <p14:creationId xmlns:p14="http://schemas.microsoft.com/office/powerpoint/2010/main" val="36280852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formula using the point-and-click method</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Instead of typing cell addresses manually, you can </a:t>
            </a:r>
            <a:r>
              <a:rPr lang="en-US" b="1" dirty="0"/>
              <a:t>point and click</a:t>
            </a:r>
            <a:r>
              <a:rPr lang="en-US" dirty="0"/>
              <a:t> the cells you want to include in your formula. </a:t>
            </a:r>
          </a:p>
          <a:p>
            <a:pPr algn="just"/>
            <a:endParaRPr lang="en-US" dirty="0"/>
          </a:p>
          <a:p>
            <a:pPr algn="just"/>
            <a:r>
              <a:rPr lang="en-US" dirty="0"/>
              <a:t>This method can save a lot of time and effort when creating formulas. </a:t>
            </a:r>
          </a:p>
          <a:p>
            <a:pPr algn="just"/>
            <a:endParaRPr lang="en-US" dirty="0"/>
          </a:p>
          <a:p>
            <a:pPr algn="just"/>
            <a:r>
              <a:rPr lang="en-US" dirty="0"/>
              <a:t>In our example below, we'll create a formula to calculate the cost of ordering several boxes of plastic silverware.</a:t>
            </a:r>
          </a:p>
        </p:txBody>
      </p:sp>
    </p:spTree>
    <p:extLst>
      <p:ext uri="{BB962C8B-B14F-4D97-AF65-F5344CB8AC3E}">
        <p14:creationId xmlns:p14="http://schemas.microsoft.com/office/powerpoint/2010/main" val="289646852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formula using the point-and-click method</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Select the </a:t>
            </a:r>
            <a:r>
              <a:rPr lang="en-US" b="1" dirty="0"/>
              <a:t>cell</a:t>
            </a:r>
            <a:r>
              <a:rPr lang="en-US" dirty="0"/>
              <a:t> that will contain the formula. In our example, we'll select cell </a:t>
            </a:r>
            <a:r>
              <a:rPr lang="en-US" b="1" dirty="0"/>
              <a:t>D4</a:t>
            </a:r>
            <a:r>
              <a:rPr lang="en-US" dirty="0"/>
              <a:t>.</a:t>
            </a:r>
          </a:p>
        </p:txBody>
      </p:sp>
      <p:pic>
        <p:nvPicPr>
          <p:cNvPr id="5" name="Picture 4">
            <a:extLst>
              <a:ext uri="{FF2B5EF4-FFF2-40B4-BE49-F238E27FC236}">
                <a16:creationId xmlns:a16="http://schemas.microsoft.com/office/drawing/2014/main" id="{A6A42997-D28F-44C7-A57D-BDD5A55950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75" y="1772816"/>
            <a:ext cx="6877050" cy="4176464"/>
          </a:xfrm>
          <a:prstGeom prst="rect">
            <a:avLst/>
          </a:prstGeom>
        </p:spPr>
      </p:pic>
    </p:spTree>
    <p:extLst>
      <p:ext uri="{BB962C8B-B14F-4D97-AF65-F5344CB8AC3E}">
        <p14:creationId xmlns:p14="http://schemas.microsoft.com/office/powerpoint/2010/main" val="416169655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formula using the point-and-click method</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Type the </a:t>
            </a:r>
            <a:r>
              <a:rPr lang="en-US" b="1" dirty="0"/>
              <a:t>equals sign (=) </a:t>
            </a:r>
            <a:r>
              <a:rPr lang="en-US" dirty="0"/>
              <a:t>in the formula bar.</a:t>
            </a:r>
          </a:p>
          <a:p>
            <a:pPr algn="just"/>
            <a:r>
              <a:rPr lang="en-US" dirty="0"/>
              <a:t>Select the </a:t>
            </a:r>
            <a:r>
              <a:rPr lang="en-US" b="1" dirty="0"/>
              <a:t>cell</a:t>
            </a:r>
            <a:r>
              <a:rPr lang="en-US" dirty="0"/>
              <a:t> you want to reference first in the formula: cell </a:t>
            </a:r>
            <a:r>
              <a:rPr lang="en-US" b="1" dirty="0"/>
              <a:t>B4</a:t>
            </a:r>
            <a:r>
              <a:rPr lang="en-US" dirty="0"/>
              <a:t> in our example. The </a:t>
            </a:r>
            <a:r>
              <a:rPr lang="en-US" b="1" dirty="0"/>
              <a:t>cell address </a:t>
            </a:r>
            <a:r>
              <a:rPr lang="en-US" dirty="0"/>
              <a:t>will appear in the formula.</a:t>
            </a:r>
          </a:p>
        </p:txBody>
      </p:sp>
      <p:pic>
        <p:nvPicPr>
          <p:cNvPr id="6" name="Picture 5">
            <a:extLst>
              <a:ext uri="{FF2B5EF4-FFF2-40B4-BE49-F238E27FC236}">
                <a16:creationId xmlns:a16="http://schemas.microsoft.com/office/drawing/2014/main" id="{ED78D4C4-7311-41DD-96A5-B96C99271E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74" y="2852936"/>
            <a:ext cx="7614989" cy="4005064"/>
          </a:xfrm>
          <a:prstGeom prst="rect">
            <a:avLst/>
          </a:prstGeom>
        </p:spPr>
      </p:pic>
    </p:spTree>
    <p:extLst>
      <p:ext uri="{BB962C8B-B14F-4D97-AF65-F5344CB8AC3E}">
        <p14:creationId xmlns:p14="http://schemas.microsoft.com/office/powerpoint/2010/main" val="286309496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formula using the point-and-click method</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Type the </a:t>
            </a:r>
            <a:r>
              <a:rPr lang="en-US" b="1" dirty="0"/>
              <a:t>mathematical operator </a:t>
            </a:r>
            <a:r>
              <a:rPr lang="en-US" dirty="0"/>
              <a:t>you want to use. In our example, we'll type the </a:t>
            </a:r>
            <a:r>
              <a:rPr lang="en-US" b="1" dirty="0"/>
              <a:t>multiplication sign (*)</a:t>
            </a:r>
            <a:r>
              <a:rPr lang="en-US" dirty="0"/>
              <a:t>.</a:t>
            </a:r>
          </a:p>
          <a:p>
            <a:pPr algn="just"/>
            <a:r>
              <a:rPr lang="en-US" dirty="0"/>
              <a:t>Select the </a:t>
            </a:r>
            <a:r>
              <a:rPr lang="en-US" b="1" dirty="0"/>
              <a:t>cell</a:t>
            </a:r>
            <a:r>
              <a:rPr lang="en-US" dirty="0"/>
              <a:t> you want to reference second in the formula: cell </a:t>
            </a:r>
            <a:r>
              <a:rPr lang="en-US" b="1" dirty="0"/>
              <a:t>C4</a:t>
            </a:r>
            <a:r>
              <a:rPr lang="en-US" dirty="0"/>
              <a:t> in our example. The </a:t>
            </a:r>
            <a:r>
              <a:rPr lang="en-US" b="1" dirty="0"/>
              <a:t>cell address </a:t>
            </a:r>
            <a:r>
              <a:rPr lang="en-US" dirty="0"/>
              <a:t>will appear in the formula.</a:t>
            </a:r>
          </a:p>
        </p:txBody>
      </p:sp>
      <p:pic>
        <p:nvPicPr>
          <p:cNvPr id="8" name="Picture 7">
            <a:extLst>
              <a:ext uri="{FF2B5EF4-FFF2-40B4-BE49-F238E27FC236}">
                <a16:creationId xmlns:a16="http://schemas.microsoft.com/office/drawing/2014/main" id="{C60D7667-6205-4335-8925-AEE432BE89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3642193"/>
            <a:ext cx="6877050" cy="3190836"/>
          </a:xfrm>
          <a:prstGeom prst="rect">
            <a:avLst/>
          </a:prstGeom>
        </p:spPr>
      </p:pic>
    </p:spTree>
    <p:extLst>
      <p:ext uri="{BB962C8B-B14F-4D97-AF65-F5344CB8AC3E}">
        <p14:creationId xmlns:p14="http://schemas.microsoft.com/office/powerpoint/2010/main" val="205501593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formula using the point-and-click method</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Press </a:t>
            </a:r>
            <a:r>
              <a:rPr lang="en-US" b="1" dirty="0"/>
              <a:t>Enter</a:t>
            </a:r>
            <a:r>
              <a:rPr lang="en-US" dirty="0"/>
              <a:t> on your keyboard. The formula will be </a:t>
            </a:r>
            <a:r>
              <a:rPr lang="en-US" b="1" dirty="0"/>
              <a:t>calculated</a:t>
            </a:r>
            <a:r>
              <a:rPr lang="en-US" dirty="0"/>
              <a:t>, and the </a:t>
            </a:r>
            <a:r>
              <a:rPr lang="en-US" b="1" dirty="0"/>
              <a:t>value</a:t>
            </a:r>
            <a:r>
              <a:rPr lang="en-US" dirty="0"/>
              <a:t> will be displayed in the cell.</a:t>
            </a:r>
          </a:p>
        </p:txBody>
      </p:sp>
      <p:pic>
        <p:nvPicPr>
          <p:cNvPr id="5" name="Picture 4">
            <a:extLst>
              <a:ext uri="{FF2B5EF4-FFF2-40B4-BE49-F238E27FC236}">
                <a16:creationId xmlns:a16="http://schemas.microsoft.com/office/drawing/2014/main" id="{FD12102D-9491-461B-8402-0D4EC874BA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75" y="2276872"/>
            <a:ext cx="6877050" cy="4176464"/>
          </a:xfrm>
          <a:prstGeom prst="rect">
            <a:avLst/>
          </a:prstGeom>
        </p:spPr>
      </p:pic>
    </p:spTree>
    <p:extLst>
      <p:ext uri="{BB962C8B-B14F-4D97-AF65-F5344CB8AC3E}">
        <p14:creationId xmlns:p14="http://schemas.microsoft.com/office/powerpoint/2010/main" val="252350302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Copying formulas with the fill handle</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Formulas can also be </a:t>
            </a:r>
            <a:r>
              <a:rPr lang="en-US" b="1" dirty="0"/>
              <a:t>copied</a:t>
            </a:r>
            <a:r>
              <a:rPr lang="en-US" dirty="0"/>
              <a:t> to adjacent cells with the </a:t>
            </a:r>
            <a:r>
              <a:rPr lang="en-US" b="1" dirty="0"/>
              <a:t>fill</a:t>
            </a:r>
            <a:r>
              <a:rPr lang="en-US" dirty="0"/>
              <a:t> </a:t>
            </a:r>
            <a:r>
              <a:rPr lang="en-US" b="1" dirty="0"/>
              <a:t>handle</a:t>
            </a:r>
            <a:r>
              <a:rPr lang="en-US" dirty="0"/>
              <a:t>, which can save a lot of time and effort if you need to perform the</a:t>
            </a:r>
            <a:r>
              <a:rPr lang="en-US" b="1" dirty="0"/>
              <a:t> same calculation</a:t>
            </a:r>
            <a:r>
              <a:rPr lang="en-US" dirty="0"/>
              <a:t> multiple times in a worksheet. </a:t>
            </a:r>
          </a:p>
          <a:p>
            <a:pPr algn="just"/>
            <a:endParaRPr lang="en-US" dirty="0"/>
          </a:p>
          <a:p>
            <a:pPr algn="just"/>
            <a:r>
              <a:rPr lang="en-US" dirty="0"/>
              <a:t>The </a:t>
            </a:r>
            <a:r>
              <a:rPr lang="en-US" b="1" dirty="0"/>
              <a:t>fill handle</a:t>
            </a:r>
            <a:r>
              <a:rPr lang="en-US" dirty="0"/>
              <a:t> is the </a:t>
            </a:r>
            <a:r>
              <a:rPr lang="en-US" b="1" dirty="0"/>
              <a:t>small square </a:t>
            </a:r>
            <a:r>
              <a:rPr lang="en-US" dirty="0"/>
              <a:t>at the </a:t>
            </a:r>
            <a:r>
              <a:rPr lang="en-US" b="1" dirty="0"/>
              <a:t>bottom-right corner </a:t>
            </a:r>
            <a:r>
              <a:rPr lang="en-US" dirty="0"/>
              <a:t>of the selected cell(s).</a:t>
            </a:r>
          </a:p>
        </p:txBody>
      </p:sp>
    </p:spTree>
    <p:extLst>
      <p:ext uri="{BB962C8B-B14F-4D97-AF65-F5344CB8AC3E}">
        <p14:creationId xmlns:p14="http://schemas.microsoft.com/office/powerpoint/2010/main" val="361092430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Copying formulas with the fill handle</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Select the cell containing the formula you want to copy. Click and drag the </a:t>
            </a:r>
            <a:r>
              <a:rPr lang="en-US" b="1" dirty="0"/>
              <a:t>fill handle</a:t>
            </a:r>
            <a:r>
              <a:rPr lang="en-US" dirty="0"/>
              <a:t> over the cells you want to fill.</a:t>
            </a:r>
          </a:p>
        </p:txBody>
      </p:sp>
      <p:pic>
        <p:nvPicPr>
          <p:cNvPr id="5" name="Picture 4">
            <a:extLst>
              <a:ext uri="{FF2B5EF4-FFF2-40B4-BE49-F238E27FC236}">
                <a16:creationId xmlns:a16="http://schemas.microsoft.com/office/drawing/2014/main" id="{3E32A491-B9E0-4F16-9F9E-5635D62758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2276872"/>
            <a:ext cx="6696744" cy="3960440"/>
          </a:xfrm>
          <a:prstGeom prst="rect">
            <a:avLst/>
          </a:prstGeom>
        </p:spPr>
      </p:pic>
    </p:spTree>
    <p:extLst>
      <p:ext uri="{BB962C8B-B14F-4D97-AF65-F5344CB8AC3E}">
        <p14:creationId xmlns:p14="http://schemas.microsoft.com/office/powerpoint/2010/main" val="406976747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Copying formulas with the fill handle</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After you release the mouse, the formula will be copied to the selected cells.</a:t>
            </a:r>
          </a:p>
        </p:txBody>
      </p:sp>
      <p:pic>
        <p:nvPicPr>
          <p:cNvPr id="6" name="Picture 5">
            <a:extLst>
              <a:ext uri="{FF2B5EF4-FFF2-40B4-BE49-F238E27FC236}">
                <a16:creationId xmlns:a16="http://schemas.microsoft.com/office/drawing/2014/main" id="{DCD5DCFC-EBBE-48AD-93D2-64BC9F575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1772816"/>
            <a:ext cx="6408712" cy="4536504"/>
          </a:xfrm>
          <a:prstGeom prst="rect">
            <a:avLst/>
          </a:prstGeom>
        </p:spPr>
      </p:pic>
    </p:spTree>
    <p:extLst>
      <p:ext uri="{BB962C8B-B14F-4D97-AF65-F5344CB8AC3E}">
        <p14:creationId xmlns:p14="http://schemas.microsoft.com/office/powerpoint/2010/main" val="229444856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edit a formula</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Sometimes you may want to modify an existing formula. </a:t>
            </a:r>
          </a:p>
          <a:p>
            <a:pPr algn="just"/>
            <a:endParaRPr lang="en-US" dirty="0"/>
          </a:p>
          <a:p>
            <a:pPr algn="just"/>
            <a:r>
              <a:rPr lang="en-US" dirty="0"/>
              <a:t>In the example below, we've entered an incorrect cell address in our formula, so we'll need to correct it.</a:t>
            </a:r>
          </a:p>
        </p:txBody>
      </p:sp>
    </p:spTree>
    <p:extLst>
      <p:ext uri="{BB962C8B-B14F-4D97-AF65-F5344CB8AC3E}">
        <p14:creationId xmlns:p14="http://schemas.microsoft.com/office/powerpoint/2010/main" val="293778314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edit a formula</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Select the </a:t>
            </a:r>
            <a:r>
              <a:rPr lang="en-US" b="1" dirty="0"/>
              <a:t>cell</a:t>
            </a:r>
            <a:r>
              <a:rPr lang="en-US" dirty="0"/>
              <a:t> containing the formula you want to edit. In our example, we'll select cell </a:t>
            </a:r>
            <a:r>
              <a:rPr lang="en-US" b="1" dirty="0"/>
              <a:t>D12</a:t>
            </a:r>
            <a:r>
              <a:rPr lang="en-US" dirty="0"/>
              <a:t>.</a:t>
            </a:r>
          </a:p>
        </p:txBody>
      </p:sp>
      <p:pic>
        <p:nvPicPr>
          <p:cNvPr id="5" name="Picture 4">
            <a:extLst>
              <a:ext uri="{FF2B5EF4-FFF2-40B4-BE49-F238E27FC236}">
                <a16:creationId xmlns:a16="http://schemas.microsoft.com/office/drawing/2014/main" id="{B39C0DE2-500C-42A1-B7F8-D3EE6B08C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5062" y="1795462"/>
            <a:ext cx="5191274" cy="4009802"/>
          </a:xfrm>
          <a:prstGeom prst="rect">
            <a:avLst/>
          </a:prstGeom>
        </p:spPr>
      </p:pic>
    </p:spTree>
    <p:extLst>
      <p:ext uri="{BB962C8B-B14F-4D97-AF65-F5344CB8AC3E}">
        <p14:creationId xmlns:p14="http://schemas.microsoft.com/office/powerpoint/2010/main" val="86355286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edit a formula</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Click the </a:t>
            </a:r>
            <a:r>
              <a:rPr lang="en-US" b="1" dirty="0"/>
              <a:t>formula bar </a:t>
            </a:r>
            <a:r>
              <a:rPr lang="en-US" dirty="0"/>
              <a:t>to edit the formula. You can also </a:t>
            </a:r>
            <a:r>
              <a:rPr lang="en-US" b="1" dirty="0"/>
              <a:t>double-click</a:t>
            </a:r>
            <a:r>
              <a:rPr lang="en-US" dirty="0"/>
              <a:t> the cell to view and edit the formula directly within the cell.</a:t>
            </a:r>
          </a:p>
        </p:txBody>
      </p:sp>
      <p:pic>
        <p:nvPicPr>
          <p:cNvPr id="6" name="Picture 5">
            <a:extLst>
              <a:ext uri="{FF2B5EF4-FFF2-40B4-BE49-F238E27FC236}">
                <a16:creationId xmlns:a16="http://schemas.microsoft.com/office/drawing/2014/main" id="{6080A2C1-0FD8-4D0F-909E-0B6AEF595A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2348880"/>
            <a:ext cx="5904656" cy="3888432"/>
          </a:xfrm>
          <a:prstGeom prst="rect">
            <a:avLst/>
          </a:prstGeom>
        </p:spPr>
      </p:pic>
    </p:spTree>
    <p:extLst>
      <p:ext uri="{BB962C8B-B14F-4D97-AF65-F5344CB8AC3E}">
        <p14:creationId xmlns:p14="http://schemas.microsoft.com/office/powerpoint/2010/main" val="71343646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edit a formula</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A </a:t>
            </a:r>
            <a:r>
              <a:rPr lang="en-US" b="1" dirty="0"/>
              <a:t>border</a:t>
            </a:r>
            <a:r>
              <a:rPr lang="en-US" dirty="0"/>
              <a:t> will appear around any </a:t>
            </a:r>
            <a:r>
              <a:rPr lang="en-US" b="1" dirty="0"/>
              <a:t>referenced cells</a:t>
            </a:r>
            <a:r>
              <a:rPr lang="en-US" dirty="0"/>
              <a:t>. In our example, we'll change the first part of the formula to reference cell </a:t>
            </a:r>
            <a:r>
              <a:rPr lang="en-US" b="1" dirty="0"/>
              <a:t>D10</a:t>
            </a:r>
            <a:r>
              <a:rPr lang="en-US" dirty="0"/>
              <a:t> instead of cell </a:t>
            </a:r>
            <a:r>
              <a:rPr lang="en-US" b="1" dirty="0"/>
              <a:t>D9</a:t>
            </a:r>
            <a:r>
              <a:rPr lang="en-US" dirty="0"/>
              <a:t>.</a:t>
            </a:r>
          </a:p>
        </p:txBody>
      </p:sp>
      <p:pic>
        <p:nvPicPr>
          <p:cNvPr id="5" name="Picture 4">
            <a:extLst>
              <a:ext uri="{FF2B5EF4-FFF2-40B4-BE49-F238E27FC236}">
                <a16:creationId xmlns:a16="http://schemas.microsoft.com/office/drawing/2014/main" id="{60D6540A-1480-4973-A0C0-0E0DF04534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5776" y="2204864"/>
            <a:ext cx="5616624" cy="3888432"/>
          </a:xfrm>
          <a:prstGeom prst="rect">
            <a:avLst/>
          </a:prstGeom>
        </p:spPr>
      </p:pic>
    </p:spTree>
    <p:extLst>
      <p:ext uri="{BB962C8B-B14F-4D97-AF65-F5344CB8AC3E}">
        <p14:creationId xmlns:p14="http://schemas.microsoft.com/office/powerpoint/2010/main" val="308473707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edit a formula</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When you're finished, press </a:t>
            </a:r>
            <a:r>
              <a:rPr lang="en-US" b="1" dirty="0"/>
              <a:t>Enter</a:t>
            </a:r>
            <a:r>
              <a:rPr lang="en-US" dirty="0"/>
              <a:t> on your keyboard or select the </a:t>
            </a:r>
            <a:r>
              <a:rPr lang="en-US" b="1" dirty="0"/>
              <a:t>Enter</a:t>
            </a:r>
            <a:r>
              <a:rPr lang="en-US" dirty="0"/>
              <a:t> command in the formula bar.</a:t>
            </a:r>
          </a:p>
        </p:txBody>
      </p:sp>
      <p:pic>
        <p:nvPicPr>
          <p:cNvPr id="6" name="Picture 5">
            <a:extLst>
              <a:ext uri="{FF2B5EF4-FFF2-40B4-BE49-F238E27FC236}">
                <a16:creationId xmlns:a16="http://schemas.microsoft.com/office/drawing/2014/main" id="{85E1911F-F08D-4CD4-A9CF-CCBECFB8F7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5062" y="1795462"/>
            <a:ext cx="5623322" cy="4441850"/>
          </a:xfrm>
          <a:prstGeom prst="rect">
            <a:avLst/>
          </a:prstGeom>
        </p:spPr>
      </p:pic>
    </p:spTree>
    <p:extLst>
      <p:ext uri="{BB962C8B-B14F-4D97-AF65-F5344CB8AC3E}">
        <p14:creationId xmlns:p14="http://schemas.microsoft.com/office/powerpoint/2010/main" val="388990625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edit a formula</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The formula will be </a:t>
            </a:r>
            <a:r>
              <a:rPr lang="en-US" b="1" dirty="0"/>
              <a:t>updated</a:t>
            </a:r>
            <a:r>
              <a:rPr lang="en-US" dirty="0"/>
              <a:t>, and the </a:t>
            </a:r>
            <a:r>
              <a:rPr lang="en-US" b="1" dirty="0"/>
              <a:t>new value </a:t>
            </a:r>
            <a:r>
              <a:rPr lang="en-US" dirty="0"/>
              <a:t>will be displayed in the cell.</a:t>
            </a:r>
          </a:p>
        </p:txBody>
      </p:sp>
      <p:pic>
        <p:nvPicPr>
          <p:cNvPr id="5" name="Picture 4">
            <a:extLst>
              <a:ext uri="{FF2B5EF4-FFF2-40B4-BE49-F238E27FC236}">
                <a16:creationId xmlns:a16="http://schemas.microsoft.com/office/drawing/2014/main" id="{363A2729-554E-4B5C-897E-556FAF6BF5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1795462"/>
            <a:ext cx="6336704" cy="4441850"/>
          </a:xfrm>
          <a:prstGeom prst="rect">
            <a:avLst/>
          </a:prstGeom>
        </p:spPr>
      </p:pic>
    </p:spTree>
    <p:extLst>
      <p:ext uri="{BB962C8B-B14F-4D97-AF65-F5344CB8AC3E}">
        <p14:creationId xmlns:p14="http://schemas.microsoft.com/office/powerpoint/2010/main" val="83969386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edit a formula</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If you change your mind, you can press the </a:t>
            </a:r>
            <a:r>
              <a:rPr lang="en-US" b="1" dirty="0"/>
              <a:t>Esc</a:t>
            </a:r>
            <a:r>
              <a:rPr lang="en-US" dirty="0"/>
              <a:t> key on your keyboard or click the </a:t>
            </a:r>
            <a:r>
              <a:rPr lang="en-US" b="1" dirty="0"/>
              <a:t>Cancel</a:t>
            </a:r>
            <a:r>
              <a:rPr lang="en-US" dirty="0"/>
              <a:t> command in the formula bar to avoid accidentally making changes to your formula.</a:t>
            </a:r>
          </a:p>
        </p:txBody>
      </p:sp>
      <p:pic>
        <p:nvPicPr>
          <p:cNvPr id="6" name="Picture 5">
            <a:extLst>
              <a:ext uri="{FF2B5EF4-FFF2-40B4-BE49-F238E27FC236}">
                <a16:creationId xmlns:a16="http://schemas.microsoft.com/office/drawing/2014/main" id="{E102658A-A8A8-433E-9E04-E67AB02F65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3019424"/>
            <a:ext cx="6192687" cy="1921744"/>
          </a:xfrm>
          <a:prstGeom prst="rect">
            <a:avLst/>
          </a:prstGeom>
        </p:spPr>
      </p:pic>
    </p:spTree>
    <p:extLst>
      <p:ext uri="{BB962C8B-B14F-4D97-AF65-F5344CB8AC3E}">
        <p14:creationId xmlns:p14="http://schemas.microsoft.com/office/powerpoint/2010/main" val="10909776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Excel - Creating More Complex Formulas</a:t>
            </a:r>
            <a:endParaRPr lang="en-GB" sz="3200" dirty="0"/>
          </a:p>
        </p:txBody>
      </p:sp>
      <p:sp>
        <p:nvSpPr>
          <p:cNvPr id="3" name="Content Placeholder 2"/>
          <p:cNvSpPr>
            <a:spLocks noGrp="1"/>
          </p:cNvSpPr>
          <p:nvPr>
            <p:ph idx="1"/>
          </p:nvPr>
        </p:nvSpPr>
        <p:spPr>
          <a:xfrm>
            <a:off x="0" y="620688"/>
            <a:ext cx="9144000" cy="6237312"/>
          </a:xfrm>
        </p:spPr>
        <p:txBody>
          <a:bodyPr>
            <a:normAutofit fontScale="92500"/>
          </a:bodyPr>
          <a:lstStyle/>
          <a:p>
            <a:pPr algn="just"/>
            <a:r>
              <a:rPr lang="en-US" dirty="0"/>
              <a:t>You may have experience working with formulas that contain only one operator, like </a:t>
            </a:r>
            <a:r>
              <a:rPr lang="en-US" b="1" dirty="0"/>
              <a:t>7+9</a:t>
            </a:r>
            <a:r>
              <a:rPr lang="en-US" dirty="0"/>
              <a:t>. </a:t>
            </a:r>
          </a:p>
          <a:p>
            <a:pPr algn="just"/>
            <a:endParaRPr lang="en-US" dirty="0"/>
          </a:p>
          <a:p>
            <a:pPr algn="just"/>
            <a:r>
              <a:rPr lang="en-US" dirty="0"/>
              <a:t>More complex formulas can contain several mathematical operators, like </a:t>
            </a:r>
            <a:r>
              <a:rPr lang="en-US" b="1" dirty="0"/>
              <a:t>5+2*8</a:t>
            </a:r>
            <a:r>
              <a:rPr lang="en-US" dirty="0"/>
              <a:t>. </a:t>
            </a:r>
          </a:p>
          <a:p>
            <a:pPr algn="just"/>
            <a:endParaRPr lang="en-US" dirty="0"/>
          </a:p>
          <a:p>
            <a:pPr algn="just"/>
            <a:r>
              <a:rPr lang="en-US" dirty="0"/>
              <a:t>When there's more than one operation in a formula, the </a:t>
            </a:r>
            <a:r>
              <a:rPr lang="en-US" b="1" dirty="0"/>
              <a:t>order of operations</a:t>
            </a:r>
            <a:r>
              <a:rPr lang="en-US" dirty="0"/>
              <a:t> tells Excel which operation to calculate first. </a:t>
            </a:r>
          </a:p>
          <a:p>
            <a:pPr algn="just"/>
            <a:endParaRPr lang="en-US" dirty="0"/>
          </a:p>
          <a:p>
            <a:pPr algn="just"/>
            <a:r>
              <a:rPr lang="en-US" dirty="0"/>
              <a:t>To write formulas that will give you the correct answer, you'll need to understand the order of operations.</a:t>
            </a:r>
          </a:p>
        </p:txBody>
      </p:sp>
    </p:spTree>
    <p:extLst>
      <p:ext uri="{BB962C8B-B14F-4D97-AF65-F5344CB8AC3E}">
        <p14:creationId xmlns:p14="http://schemas.microsoft.com/office/powerpoint/2010/main" val="312565974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The order of operations</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Excel calculates formulas based on the following </a:t>
            </a:r>
            <a:r>
              <a:rPr lang="en-US" b="1" dirty="0"/>
              <a:t>order of operations</a:t>
            </a:r>
            <a:r>
              <a:rPr lang="en-US" dirty="0"/>
              <a:t>:</a:t>
            </a:r>
          </a:p>
          <a:p>
            <a:pPr algn="just"/>
            <a:endParaRPr lang="en-US" dirty="0"/>
          </a:p>
          <a:p>
            <a:pPr algn="just"/>
            <a:r>
              <a:rPr lang="en-US" dirty="0"/>
              <a:t>Operations enclosed in </a:t>
            </a:r>
            <a:r>
              <a:rPr lang="en-US" b="1" dirty="0"/>
              <a:t>parentheses</a:t>
            </a:r>
          </a:p>
          <a:p>
            <a:pPr algn="just"/>
            <a:r>
              <a:rPr lang="en-US" b="1" dirty="0"/>
              <a:t>Exponential</a:t>
            </a:r>
            <a:r>
              <a:rPr lang="en-US" dirty="0"/>
              <a:t> calculations (3^2, for example)</a:t>
            </a:r>
          </a:p>
          <a:p>
            <a:pPr algn="just"/>
            <a:r>
              <a:rPr lang="en-US" b="1" dirty="0"/>
              <a:t>Multiplication</a:t>
            </a:r>
            <a:r>
              <a:rPr lang="en-US" dirty="0"/>
              <a:t> and </a:t>
            </a:r>
            <a:r>
              <a:rPr lang="en-US" b="1" dirty="0"/>
              <a:t>division</a:t>
            </a:r>
            <a:r>
              <a:rPr lang="en-US" dirty="0"/>
              <a:t>, whichever comes first</a:t>
            </a:r>
          </a:p>
          <a:p>
            <a:pPr algn="just"/>
            <a:r>
              <a:rPr lang="en-US" b="1" dirty="0"/>
              <a:t>Addition</a:t>
            </a:r>
            <a:r>
              <a:rPr lang="en-US" dirty="0"/>
              <a:t> and </a:t>
            </a:r>
            <a:r>
              <a:rPr lang="en-US" b="1" dirty="0"/>
              <a:t>subtraction</a:t>
            </a:r>
            <a:r>
              <a:rPr lang="en-US" dirty="0"/>
              <a:t>, whichever comes first</a:t>
            </a:r>
          </a:p>
          <a:p>
            <a:pPr algn="just"/>
            <a:endParaRPr lang="en-US" dirty="0"/>
          </a:p>
          <a:p>
            <a:pPr algn="just"/>
            <a:r>
              <a:rPr lang="en-US" dirty="0"/>
              <a:t>A mnemonic that can help you remember the order is </a:t>
            </a:r>
            <a:r>
              <a:rPr lang="en-US" b="1" dirty="0"/>
              <a:t>PEMDAS</a:t>
            </a:r>
            <a:r>
              <a:rPr lang="en-US" dirty="0"/>
              <a:t>, or </a:t>
            </a:r>
            <a:r>
              <a:rPr lang="en-US" b="1" dirty="0"/>
              <a:t>Please Excuse My Dear Aunt Sally</a:t>
            </a:r>
            <a:r>
              <a:rPr lang="en-US" dirty="0"/>
              <a:t>.</a:t>
            </a:r>
          </a:p>
        </p:txBody>
      </p:sp>
    </p:spTree>
    <p:extLst>
      <p:ext uri="{BB962C8B-B14F-4D97-AF65-F5344CB8AC3E}">
        <p14:creationId xmlns:p14="http://schemas.microsoft.com/office/powerpoint/2010/main" val="47130924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The order of operations</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Excel calculates formulas based on the following </a:t>
            </a:r>
            <a:r>
              <a:rPr lang="en-US" b="1" dirty="0"/>
              <a:t>order of operations</a:t>
            </a:r>
            <a:r>
              <a:rPr lang="en-US" dirty="0"/>
              <a:t>:</a:t>
            </a:r>
          </a:p>
          <a:p>
            <a:pPr algn="just"/>
            <a:endParaRPr lang="en-US" dirty="0"/>
          </a:p>
          <a:p>
            <a:pPr algn="just"/>
            <a:r>
              <a:rPr lang="en-US" dirty="0"/>
              <a:t>Operations enclosed in </a:t>
            </a:r>
            <a:r>
              <a:rPr lang="en-US" b="1" dirty="0"/>
              <a:t>parentheses</a:t>
            </a:r>
          </a:p>
          <a:p>
            <a:pPr algn="just"/>
            <a:r>
              <a:rPr lang="en-US" b="1" dirty="0"/>
              <a:t>Exponential</a:t>
            </a:r>
            <a:r>
              <a:rPr lang="en-US" dirty="0"/>
              <a:t> calculations (3^2, for example)</a:t>
            </a:r>
          </a:p>
          <a:p>
            <a:pPr algn="just"/>
            <a:r>
              <a:rPr lang="en-US" b="1" dirty="0"/>
              <a:t>Multiplication</a:t>
            </a:r>
            <a:r>
              <a:rPr lang="en-US" dirty="0"/>
              <a:t> and </a:t>
            </a:r>
            <a:r>
              <a:rPr lang="en-US" b="1" dirty="0"/>
              <a:t>division</a:t>
            </a:r>
            <a:r>
              <a:rPr lang="en-US" dirty="0"/>
              <a:t>, whichever comes first</a:t>
            </a:r>
          </a:p>
          <a:p>
            <a:pPr algn="just"/>
            <a:r>
              <a:rPr lang="en-US" b="1" dirty="0"/>
              <a:t>Addition</a:t>
            </a:r>
            <a:r>
              <a:rPr lang="en-US" dirty="0"/>
              <a:t> and </a:t>
            </a:r>
            <a:r>
              <a:rPr lang="en-US" b="1" dirty="0"/>
              <a:t>subtraction</a:t>
            </a:r>
            <a:r>
              <a:rPr lang="en-US" dirty="0"/>
              <a:t>, whichever comes first</a:t>
            </a:r>
          </a:p>
          <a:p>
            <a:pPr algn="just"/>
            <a:endParaRPr lang="en-US" dirty="0"/>
          </a:p>
          <a:p>
            <a:pPr algn="just"/>
            <a:r>
              <a:rPr lang="en-US" dirty="0"/>
              <a:t>A mnemonic that can help you remember the order is </a:t>
            </a:r>
            <a:r>
              <a:rPr lang="en-US" b="1" dirty="0">
                <a:solidFill>
                  <a:srgbClr val="FF0000"/>
                </a:solidFill>
              </a:rPr>
              <a:t>PEMDAS</a:t>
            </a:r>
            <a:r>
              <a:rPr lang="en-US" dirty="0"/>
              <a:t>, or </a:t>
            </a:r>
            <a:r>
              <a:rPr lang="en-US" b="1" dirty="0">
                <a:solidFill>
                  <a:srgbClr val="FF0000"/>
                </a:solidFill>
              </a:rPr>
              <a:t>Please Excuse My Dear Aunt Sally</a:t>
            </a:r>
            <a:r>
              <a:rPr lang="en-US" dirty="0"/>
              <a:t>.</a:t>
            </a:r>
          </a:p>
        </p:txBody>
      </p:sp>
    </p:spTree>
    <p:extLst>
      <p:ext uri="{BB962C8B-B14F-4D97-AF65-F5344CB8AC3E}">
        <p14:creationId xmlns:p14="http://schemas.microsoft.com/office/powerpoint/2010/main" val="20188869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The order of operations</a:t>
            </a:r>
            <a:endParaRPr lang="en-GB" sz="3200" dirty="0"/>
          </a:p>
        </p:txBody>
      </p:sp>
      <p:sp>
        <p:nvSpPr>
          <p:cNvPr id="4" name="Content Placeholder 3">
            <a:extLst>
              <a:ext uri="{FF2B5EF4-FFF2-40B4-BE49-F238E27FC236}">
                <a16:creationId xmlns:a16="http://schemas.microsoft.com/office/drawing/2014/main" id="{7CBD8F87-F94F-4E3F-9BA9-64AFB8629747}"/>
              </a:ext>
            </a:extLst>
          </p:cNvPr>
          <p:cNvSpPr>
            <a:spLocks noGrp="1"/>
          </p:cNvSpPr>
          <p:nvPr>
            <p:ph idx="1"/>
          </p:nvPr>
        </p:nvSpPr>
        <p:spPr>
          <a:xfrm>
            <a:off x="0" y="692696"/>
            <a:ext cx="9144000" cy="6165304"/>
          </a:xfrm>
        </p:spPr>
        <p:txBody>
          <a:bodyPr/>
          <a:lstStyle/>
          <a:p>
            <a:r>
              <a:rPr lang="en-US" dirty="0"/>
              <a:t>What is the final answer in the expression below?</a:t>
            </a:r>
          </a:p>
          <a:p>
            <a:endParaRPr lang="en-US" dirty="0"/>
          </a:p>
        </p:txBody>
      </p:sp>
      <p:pic>
        <p:nvPicPr>
          <p:cNvPr id="7" name="Picture 6">
            <a:extLst>
              <a:ext uri="{FF2B5EF4-FFF2-40B4-BE49-F238E27FC236}">
                <a16:creationId xmlns:a16="http://schemas.microsoft.com/office/drawing/2014/main" id="{168ABBA6-2EE7-4CB4-AC67-4C9DFB293A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1412776"/>
            <a:ext cx="7920880" cy="4752528"/>
          </a:xfrm>
          <a:prstGeom prst="rect">
            <a:avLst/>
          </a:prstGeom>
        </p:spPr>
      </p:pic>
    </p:spTree>
    <p:extLst>
      <p:ext uri="{BB962C8B-B14F-4D97-AF65-F5344CB8AC3E}">
        <p14:creationId xmlns:p14="http://schemas.microsoft.com/office/powerpoint/2010/main" val="2090326411"/>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The order of operations</a:t>
            </a:r>
            <a:endParaRPr lang="en-GB" sz="3200" dirty="0"/>
          </a:p>
        </p:txBody>
      </p:sp>
      <p:pic>
        <p:nvPicPr>
          <p:cNvPr id="5" name="Content Placeholder 4">
            <a:extLst>
              <a:ext uri="{FF2B5EF4-FFF2-40B4-BE49-F238E27FC236}">
                <a16:creationId xmlns:a16="http://schemas.microsoft.com/office/drawing/2014/main" id="{119EB95E-5F07-4F01-BF64-D98F1F10D72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83568" y="1052736"/>
            <a:ext cx="7848871" cy="5400600"/>
          </a:xfrm>
        </p:spPr>
      </p:pic>
    </p:spTree>
    <p:extLst>
      <p:ext uri="{BB962C8B-B14F-4D97-AF65-F5344CB8AC3E}">
        <p14:creationId xmlns:p14="http://schemas.microsoft.com/office/powerpoint/2010/main" val="277228580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Creating complex formulas</a:t>
            </a:r>
            <a:endParaRPr lang="en-GB" sz="3200" dirty="0"/>
          </a:p>
        </p:txBody>
      </p:sp>
      <p:sp>
        <p:nvSpPr>
          <p:cNvPr id="3" name="Content Placeholder 2"/>
          <p:cNvSpPr>
            <a:spLocks noGrp="1"/>
          </p:cNvSpPr>
          <p:nvPr>
            <p:ph idx="1"/>
          </p:nvPr>
        </p:nvSpPr>
        <p:spPr>
          <a:xfrm>
            <a:off x="0" y="620688"/>
            <a:ext cx="9144000" cy="6237312"/>
          </a:xfrm>
        </p:spPr>
        <p:txBody>
          <a:bodyPr>
            <a:normAutofit fontScale="92500" lnSpcReduction="10000"/>
          </a:bodyPr>
          <a:lstStyle/>
          <a:p>
            <a:pPr algn="just"/>
            <a:r>
              <a:rPr lang="en-US" dirty="0"/>
              <a:t>In the example below, we'll demonstrate how Excel uses the order of operations to solve a more complex formula. </a:t>
            </a:r>
          </a:p>
          <a:p>
            <a:pPr algn="just"/>
            <a:endParaRPr lang="en-US" dirty="0"/>
          </a:p>
          <a:p>
            <a:pPr algn="just"/>
            <a:r>
              <a:rPr lang="en-US" dirty="0"/>
              <a:t>Here, we want to calculate the cost of </a:t>
            </a:r>
            <a:r>
              <a:rPr lang="en-US" b="1" dirty="0"/>
              <a:t>sales tax</a:t>
            </a:r>
            <a:r>
              <a:rPr lang="en-US" dirty="0"/>
              <a:t> for a catering invoice. </a:t>
            </a:r>
          </a:p>
          <a:p>
            <a:pPr algn="just"/>
            <a:endParaRPr lang="en-US" dirty="0"/>
          </a:p>
          <a:p>
            <a:pPr algn="just"/>
            <a:r>
              <a:rPr lang="en-US" dirty="0"/>
              <a:t>To do this, we'll write our formula as </a:t>
            </a:r>
            <a:r>
              <a:rPr lang="en-US" b="1" dirty="0"/>
              <a:t>=(D3+D4+D5)*0.075</a:t>
            </a:r>
            <a:r>
              <a:rPr lang="en-US" dirty="0"/>
              <a:t> in cell </a:t>
            </a:r>
            <a:r>
              <a:rPr lang="en-US" b="1" dirty="0"/>
              <a:t>D6</a:t>
            </a:r>
            <a:r>
              <a:rPr lang="en-US" dirty="0"/>
              <a:t>. </a:t>
            </a:r>
          </a:p>
          <a:p>
            <a:pPr algn="just"/>
            <a:endParaRPr lang="en-US" dirty="0"/>
          </a:p>
          <a:p>
            <a:pPr algn="just"/>
            <a:r>
              <a:rPr lang="en-US" dirty="0"/>
              <a:t>This formula will add the prices of our items, then multiply that value by the 7.5% tax rate (which is written as 0.075) to calculate the answer.</a:t>
            </a:r>
          </a:p>
        </p:txBody>
      </p:sp>
    </p:spTree>
    <p:extLst>
      <p:ext uri="{BB962C8B-B14F-4D97-AF65-F5344CB8AC3E}">
        <p14:creationId xmlns:p14="http://schemas.microsoft.com/office/powerpoint/2010/main" val="206555460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Creating complex formulas</a:t>
            </a:r>
            <a:endParaRPr lang="en-GB" sz="3200" dirty="0"/>
          </a:p>
        </p:txBody>
      </p:sp>
      <p:sp>
        <p:nvSpPr>
          <p:cNvPr id="3" name="Content Placeholder 2"/>
          <p:cNvSpPr>
            <a:spLocks noGrp="1"/>
          </p:cNvSpPr>
          <p:nvPr>
            <p:ph idx="1"/>
          </p:nvPr>
        </p:nvSpPr>
        <p:spPr>
          <a:xfrm>
            <a:off x="0" y="620688"/>
            <a:ext cx="9144000" cy="6237312"/>
          </a:xfrm>
        </p:spPr>
        <p:txBody>
          <a:bodyPr>
            <a:normAutofit fontScale="92500" lnSpcReduction="10000"/>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Excel follows the order of operations and first adds the values inside the parentheses: </a:t>
            </a:r>
            <a:r>
              <a:rPr lang="en-US" b="1" dirty="0"/>
              <a:t>(45.80+68.70+159.60) = 274.10</a:t>
            </a:r>
            <a:r>
              <a:rPr lang="en-US" dirty="0"/>
              <a:t>. </a:t>
            </a:r>
          </a:p>
          <a:p>
            <a:pPr algn="just"/>
            <a:endParaRPr lang="en-US" dirty="0"/>
          </a:p>
          <a:p>
            <a:pPr algn="just"/>
            <a:r>
              <a:rPr lang="en-US" dirty="0"/>
              <a:t>It then multiplies that value by the tax rate: </a:t>
            </a:r>
            <a:r>
              <a:rPr lang="en-US" b="1" dirty="0"/>
              <a:t>274.10*0.075</a:t>
            </a:r>
            <a:r>
              <a:rPr lang="en-US" dirty="0"/>
              <a:t>. The result will show that the sales tax is </a:t>
            </a:r>
            <a:r>
              <a:rPr lang="en-US" b="1" dirty="0"/>
              <a:t>$20.56</a:t>
            </a:r>
            <a:r>
              <a:rPr lang="en-US" dirty="0"/>
              <a:t>.</a:t>
            </a:r>
          </a:p>
          <a:p>
            <a:pPr algn="just"/>
            <a:endParaRPr lang="en-US" dirty="0"/>
          </a:p>
        </p:txBody>
      </p:sp>
      <p:pic>
        <p:nvPicPr>
          <p:cNvPr id="5" name="Picture 4">
            <a:extLst>
              <a:ext uri="{FF2B5EF4-FFF2-40B4-BE49-F238E27FC236}">
                <a16:creationId xmlns:a16="http://schemas.microsoft.com/office/drawing/2014/main" id="{391013D2-DE13-459D-BA58-9866BBC469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639529"/>
            <a:ext cx="8352928" cy="2902632"/>
          </a:xfrm>
          <a:prstGeom prst="rect">
            <a:avLst/>
          </a:prstGeom>
        </p:spPr>
      </p:pic>
    </p:spTree>
    <p:extLst>
      <p:ext uri="{BB962C8B-B14F-4D97-AF65-F5344CB8AC3E}">
        <p14:creationId xmlns:p14="http://schemas.microsoft.com/office/powerpoint/2010/main" val="3157910334"/>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Creating complex formulas</a:t>
            </a:r>
            <a:endParaRPr lang="en-GB" sz="3200" dirty="0"/>
          </a:p>
        </p:txBody>
      </p:sp>
      <p:sp>
        <p:nvSpPr>
          <p:cNvPr id="3" name="Content Placeholder 2"/>
          <p:cNvSpPr>
            <a:spLocks noGrp="1"/>
          </p:cNvSpPr>
          <p:nvPr>
            <p:ph idx="1"/>
          </p:nvPr>
        </p:nvSpPr>
        <p:spPr>
          <a:xfrm>
            <a:off x="0" y="620688"/>
            <a:ext cx="9144000" cy="6237312"/>
          </a:xfrm>
        </p:spPr>
        <p:txBody>
          <a:bodyPr>
            <a:normAutofit/>
          </a:bodyPr>
          <a:lstStyle/>
          <a:p>
            <a:pPr marL="0" indent="0" algn="just">
              <a:buNone/>
            </a:pPr>
            <a:endParaRPr lang="en-US" dirty="0"/>
          </a:p>
          <a:p>
            <a:pPr algn="just"/>
            <a:r>
              <a:rPr lang="en-US" dirty="0"/>
              <a:t>The result will show that the sales tax is </a:t>
            </a:r>
            <a:r>
              <a:rPr lang="en-US" b="1" dirty="0"/>
              <a:t>$20.56</a:t>
            </a:r>
            <a:r>
              <a:rPr lang="en-US" dirty="0"/>
              <a:t>.</a:t>
            </a:r>
          </a:p>
          <a:p>
            <a:pPr algn="just"/>
            <a:endParaRPr lang="en-US" dirty="0"/>
          </a:p>
        </p:txBody>
      </p:sp>
      <p:pic>
        <p:nvPicPr>
          <p:cNvPr id="6" name="Picture 5">
            <a:extLst>
              <a:ext uri="{FF2B5EF4-FFF2-40B4-BE49-F238E27FC236}">
                <a16:creationId xmlns:a16="http://schemas.microsoft.com/office/drawing/2014/main" id="{6E06084D-06CD-4D37-AD75-6C731C887A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592" y="2132856"/>
            <a:ext cx="7722815" cy="2952328"/>
          </a:xfrm>
          <a:prstGeom prst="rect">
            <a:avLst/>
          </a:prstGeom>
        </p:spPr>
      </p:pic>
    </p:spTree>
    <p:extLst>
      <p:ext uri="{BB962C8B-B14F-4D97-AF65-F5344CB8AC3E}">
        <p14:creationId xmlns:p14="http://schemas.microsoft.com/office/powerpoint/2010/main" val="3136262608"/>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Creating complex formulas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It's especially important to follow the order of operations when creating a formula. Otherwise, Excel won't calculate the results accurately. In our example, if the </a:t>
            </a:r>
            <a:r>
              <a:rPr lang="en-US" b="1" dirty="0"/>
              <a:t>parentheses</a:t>
            </a:r>
            <a:r>
              <a:rPr lang="en-US" dirty="0"/>
              <a:t> are not included, the multiplication is calculated first and the result is incorrect. Parentheses are often the best way to define which calculations will be performed first in Excel.</a:t>
            </a:r>
          </a:p>
        </p:txBody>
      </p:sp>
      <p:pic>
        <p:nvPicPr>
          <p:cNvPr id="5" name="Picture 4">
            <a:extLst>
              <a:ext uri="{FF2B5EF4-FFF2-40B4-BE49-F238E27FC236}">
                <a16:creationId xmlns:a16="http://schemas.microsoft.com/office/drawing/2014/main" id="{D9BD4F62-CF93-4EC6-9321-C46FE33280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4365104"/>
            <a:ext cx="7524750" cy="2492896"/>
          </a:xfrm>
          <a:prstGeom prst="rect">
            <a:avLst/>
          </a:prstGeom>
        </p:spPr>
      </p:pic>
    </p:spTree>
    <p:extLst>
      <p:ext uri="{BB962C8B-B14F-4D97-AF65-F5344CB8AC3E}">
        <p14:creationId xmlns:p14="http://schemas.microsoft.com/office/powerpoint/2010/main" val="265344000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 complex formula using the order of operations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In the example below, we'll use </a:t>
            </a:r>
            <a:r>
              <a:rPr lang="en-US" b="1" dirty="0"/>
              <a:t>cell references </a:t>
            </a:r>
            <a:r>
              <a:rPr lang="en-US" dirty="0"/>
              <a:t>along with </a:t>
            </a:r>
            <a:r>
              <a:rPr lang="en-US" b="1" dirty="0"/>
              <a:t>numerical values </a:t>
            </a:r>
            <a:r>
              <a:rPr lang="en-US" dirty="0"/>
              <a:t>to create a complex formula that will calculate the </a:t>
            </a:r>
            <a:r>
              <a:rPr lang="en-US" b="1" dirty="0"/>
              <a:t>subtotal</a:t>
            </a:r>
            <a:r>
              <a:rPr lang="en-US" dirty="0"/>
              <a:t> for a catering invoice. </a:t>
            </a:r>
          </a:p>
          <a:p>
            <a:pPr algn="just"/>
            <a:endParaRPr lang="en-US" dirty="0"/>
          </a:p>
          <a:p>
            <a:pPr algn="just"/>
            <a:r>
              <a:rPr lang="en-US" dirty="0"/>
              <a:t>The formula will calculate the cost of each menu item first, then add these values.</a:t>
            </a:r>
          </a:p>
          <a:p>
            <a:pPr algn="just"/>
            <a:endParaRPr lang="en-US" dirty="0"/>
          </a:p>
          <a:p>
            <a:pPr algn="just"/>
            <a:endParaRPr lang="en-US" dirty="0"/>
          </a:p>
        </p:txBody>
      </p:sp>
    </p:spTree>
    <p:extLst>
      <p:ext uri="{BB962C8B-B14F-4D97-AF65-F5344CB8AC3E}">
        <p14:creationId xmlns:p14="http://schemas.microsoft.com/office/powerpoint/2010/main" val="2462941446"/>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 complex formula using the order of operations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Select the </a:t>
            </a:r>
            <a:r>
              <a:rPr lang="en-US" b="1" dirty="0"/>
              <a:t>cell</a:t>
            </a:r>
            <a:r>
              <a:rPr lang="en-US" dirty="0"/>
              <a:t> that will contain the formula. In our example, we'll select cell </a:t>
            </a:r>
            <a:r>
              <a:rPr lang="en-US" b="1" dirty="0"/>
              <a:t>C5</a:t>
            </a:r>
            <a:r>
              <a:rPr lang="en-US" dirty="0"/>
              <a:t>.</a:t>
            </a:r>
          </a:p>
        </p:txBody>
      </p:sp>
      <p:pic>
        <p:nvPicPr>
          <p:cNvPr id="5" name="Picture 4">
            <a:extLst>
              <a:ext uri="{FF2B5EF4-FFF2-40B4-BE49-F238E27FC236}">
                <a16:creationId xmlns:a16="http://schemas.microsoft.com/office/drawing/2014/main" id="{44072705-4BE9-4C1E-885F-4A64862D30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1628800"/>
            <a:ext cx="7776864" cy="3384376"/>
          </a:xfrm>
          <a:prstGeom prst="rect">
            <a:avLst/>
          </a:prstGeom>
        </p:spPr>
      </p:pic>
    </p:spTree>
    <p:extLst>
      <p:ext uri="{BB962C8B-B14F-4D97-AF65-F5344CB8AC3E}">
        <p14:creationId xmlns:p14="http://schemas.microsoft.com/office/powerpoint/2010/main" val="199595712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 complex formula using the order of operations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Enter your </a:t>
            </a:r>
            <a:r>
              <a:rPr lang="en-US" b="1" dirty="0"/>
              <a:t>formula</a:t>
            </a:r>
            <a:r>
              <a:rPr lang="en-US" dirty="0"/>
              <a:t>. In our example, we'll type </a:t>
            </a:r>
            <a:r>
              <a:rPr lang="en-US" b="1" dirty="0"/>
              <a:t>=B3*C3+B4*C4</a:t>
            </a:r>
            <a:r>
              <a:rPr lang="en-US" dirty="0"/>
              <a:t>. This formula will follow the order of operations, first performing the multiplication: </a:t>
            </a:r>
            <a:r>
              <a:rPr lang="en-US" b="1" dirty="0"/>
              <a:t>2.79*35 = 97.65 </a:t>
            </a:r>
            <a:r>
              <a:rPr lang="en-US" dirty="0"/>
              <a:t>and </a:t>
            </a:r>
            <a:r>
              <a:rPr lang="en-US" b="1" dirty="0"/>
              <a:t>2.29*20 = 45.80</a:t>
            </a:r>
            <a:r>
              <a:rPr lang="en-US" dirty="0"/>
              <a:t>. It then will add these values to calculate the total: </a:t>
            </a:r>
            <a:r>
              <a:rPr lang="en-US" b="1" dirty="0"/>
              <a:t>97.65+45.80</a:t>
            </a:r>
            <a:r>
              <a:rPr lang="en-US" dirty="0"/>
              <a:t>.</a:t>
            </a:r>
          </a:p>
        </p:txBody>
      </p:sp>
      <p:pic>
        <p:nvPicPr>
          <p:cNvPr id="6" name="Picture 5">
            <a:extLst>
              <a:ext uri="{FF2B5EF4-FFF2-40B4-BE49-F238E27FC236}">
                <a16:creationId xmlns:a16="http://schemas.microsoft.com/office/drawing/2014/main" id="{0AE31214-C816-45AA-ACBA-886E0F731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3667336"/>
            <a:ext cx="7956798" cy="2569976"/>
          </a:xfrm>
          <a:prstGeom prst="rect">
            <a:avLst/>
          </a:prstGeom>
        </p:spPr>
      </p:pic>
    </p:spTree>
    <p:extLst>
      <p:ext uri="{BB962C8B-B14F-4D97-AF65-F5344CB8AC3E}">
        <p14:creationId xmlns:p14="http://schemas.microsoft.com/office/powerpoint/2010/main" val="264428992"/>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 complex formula using the order of operations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Double-check your formula for accuracy, then press </a:t>
            </a:r>
            <a:r>
              <a:rPr lang="en-US" b="1" dirty="0"/>
              <a:t>Enter</a:t>
            </a:r>
            <a:r>
              <a:rPr lang="en-US" dirty="0"/>
              <a:t> on your keyboard. The formula will calculate and display the </a:t>
            </a:r>
            <a:r>
              <a:rPr lang="en-US" b="1" dirty="0"/>
              <a:t>result</a:t>
            </a:r>
            <a:r>
              <a:rPr lang="en-US" dirty="0"/>
              <a:t>. In our example, the result shows that the subtotal for the order is </a:t>
            </a:r>
            <a:r>
              <a:rPr lang="en-US" b="1" dirty="0"/>
              <a:t>$143.45</a:t>
            </a:r>
            <a:r>
              <a:rPr lang="en-US" dirty="0"/>
              <a:t>.</a:t>
            </a:r>
          </a:p>
        </p:txBody>
      </p:sp>
      <p:pic>
        <p:nvPicPr>
          <p:cNvPr id="5" name="Picture 4">
            <a:extLst>
              <a:ext uri="{FF2B5EF4-FFF2-40B4-BE49-F238E27FC236}">
                <a16:creationId xmlns:a16="http://schemas.microsoft.com/office/drawing/2014/main" id="{A6043275-3EDF-4511-8582-1F708363B6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532" y="3212976"/>
            <a:ext cx="8424936" cy="2664296"/>
          </a:xfrm>
          <a:prstGeom prst="rect">
            <a:avLst/>
          </a:prstGeom>
        </p:spPr>
      </p:pic>
    </p:spTree>
    <p:extLst>
      <p:ext uri="{BB962C8B-B14F-4D97-AF65-F5344CB8AC3E}">
        <p14:creationId xmlns:p14="http://schemas.microsoft.com/office/powerpoint/2010/main" val="2146302020"/>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 complex formula using the order of operations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You can add </a:t>
            </a:r>
            <a:r>
              <a:rPr lang="en-US" b="1" dirty="0"/>
              <a:t>parentheses</a:t>
            </a:r>
            <a:r>
              <a:rPr lang="en-US" dirty="0"/>
              <a:t> to any equation to make it easier to read. While it won't change the result of the formula in this example, we could enclose the multiplication operations within parentheses to clarify that they will be calculated before the addition.</a:t>
            </a:r>
          </a:p>
          <a:p>
            <a:pPr algn="just"/>
            <a:endParaRPr lang="en-US" dirty="0"/>
          </a:p>
        </p:txBody>
      </p:sp>
      <p:pic>
        <p:nvPicPr>
          <p:cNvPr id="6" name="Picture 5">
            <a:extLst>
              <a:ext uri="{FF2B5EF4-FFF2-40B4-BE49-F238E27FC236}">
                <a16:creationId xmlns:a16="http://schemas.microsoft.com/office/drawing/2014/main" id="{19A7E53A-0B83-4D84-86DC-66EE8C227C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3667336"/>
            <a:ext cx="8064896" cy="2353952"/>
          </a:xfrm>
          <a:prstGeom prst="rect">
            <a:avLst/>
          </a:prstGeom>
        </p:spPr>
      </p:pic>
    </p:spTree>
    <p:extLst>
      <p:ext uri="{BB962C8B-B14F-4D97-AF65-F5344CB8AC3E}">
        <p14:creationId xmlns:p14="http://schemas.microsoft.com/office/powerpoint/2010/main" val="3505675266"/>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Excel - Relative and Absolute Cell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There are two types of cell references: </a:t>
            </a:r>
            <a:r>
              <a:rPr lang="en-US" b="1" dirty="0"/>
              <a:t>relative</a:t>
            </a:r>
            <a:r>
              <a:rPr lang="en-US" dirty="0"/>
              <a:t> and </a:t>
            </a:r>
            <a:r>
              <a:rPr lang="en-US" b="1" dirty="0"/>
              <a:t>absolute</a:t>
            </a:r>
            <a:r>
              <a:rPr lang="en-US" dirty="0"/>
              <a:t>. </a:t>
            </a:r>
          </a:p>
          <a:p>
            <a:pPr algn="just"/>
            <a:endParaRPr lang="en-US" dirty="0"/>
          </a:p>
          <a:p>
            <a:pPr algn="just"/>
            <a:r>
              <a:rPr lang="en-US" dirty="0"/>
              <a:t>Relative and absolute references behave differently when copied and filled to other cells. </a:t>
            </a:r>
          </a:p>
          <a:p>
            <a:pPr algn="just"/>
            <a:endParaRPr lang="en-US" dirty="0"/>
          </a:p>
          <a:p>
            <a:pPr algn="just"/>
            <a:r>
              <a:rPr lang="en-US" dirty="0"/>
              <a:t>Relative references </a:t>
            </a:r>
            <a:r>
              <a:rPr lang="en-US" b="1" dirty="0"/>
              <a:t>change</a:t>
            </a:r>
            <a:r>
              <a:rPr lang="en-US" dirty="0"/>
              <a:t> when a formula is copied to another cell. </a:t>
            </a:r>
          </a:p>
          <a:p>
            <a:pPr algn="just"/>
            <a:endParaRPr lang="en-US" dirty="0"/>
          </a:p>
          <a:p>
            <a:pPr algn="just"/>
            <a:r>
              <a:rPr lang="en-US" dirty="0"/>
              <a:t>Absolute references, on the other hand, remain </a:t>
            </a:r>
            <a:r>
              <a:rPr lang="en-US" b="1" dirty="0"/>
              <a:t>constant</a:t>
            </a:r>
            <a:r>
              <a:rPr lang="en-US" dirty="0"/>
              <a:t> no matter where they are copied.</a:t>
            </a:r>
          </a:p>
        </p:txBody>
      </p:sp>
    </p:spTree>
    <p:extLst>
      <p:ext uri="{BB962C8B-B14F-4D97-AF65-F5344CB8AC3E}">
        <p14:creationId xmlns:p14="http://schemas.microsoft.com/office/powerpoint/2010/main" val="166630800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Relative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By default, all cell references are </a:t>
            </a:r>
            <a:r>
              <a:rPr lang="en-US" b="1" dirty="0"/>
              <a:t>relative references</a:t>
            </a:r>
            <a:r>
              <a:rPr lang="en-US" dirty="0"/>
              <a:t>. </a:t>
            </a:r>
          </a:p>
          <a:p>
            <a:pPr algn="just"/>
            <a:r>
              <a:rPr lang="en-US" dirty="0"/>
              <a:t>When copied across multiple cells, they change based on the relative position of rows and columns.</a:t>
            </a:r>
          </a:p>
          <a:p>
            <a:pPr algn="just"/>
            <a:endParaRPr lang="en-US" dirty="0"/>
          </a:p>
          <a:p>
            <a:pPr algn="just"/>
            <a:r>
              <a:rPr lang="en-US" dirty="0"/>
              <a:t>For example, if you copy the formula </a:t>
            </a:r>
            <a:r>
              <a:rPr lang="en-US" b="1" dirty="0"/>
              <a:t>=A1+B1</a:t>
            </a:r>
            <a:r>
              <a:rPr lang="en-US" dirty="0"/>
              <a:t> from row 1 to row 2, the formula will become </a:t>
            </a:r>
            <a:r>
              <a:rPr lang="en-US" b="1" dirty="0"/>
              <a:t>=A2+B2</a:t>
            </a:r>
            <a:r>
              <a:rPr lang="en-US" dirty="0"/>
              <a:t>.</a:t>
            </a:r>
          </a:p>
          <a:p>
            <a:pPr algn="just"/>
            <a:endParaRPr lang="en-US" dirty="0"/>
          </a:p>
          <a:p>
            <a:pPr algn="just"/>
            <a:r>
              <a:rPr lang="en-US" dirty="0"/>
              <a:t>Relative references are especially convenient whenever you need to repeat the same calculation across multiple rows or columns.</a:t>
            </a:r>
          </a:p>
        </p:txBody>
      </p:sp>
    </p:spTree>
    <p:extLst>
      <p:ext uri="{BB962C8B-B14F-4D97-AF65-F5344CB8AC3E}">
        <p14:creationId xmlns:p14="http://schemas.microsoft.com/office/powerpoint/2010/main" val="3489332821"/>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relative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In the following example, we want to create a formula that will multiply each item's </a:t>
            </a:r>
            <a:r>
              <a:rPr lang="en-US" b="1" dirty="0"/>
              <a:t>price</a:t>
            </a:r>
            <a:r>
              <a:rPr lang="en-US" dirty="0"/>
              <a:t> by the </a:t>
            </a:r>
            <a:r>
              <a:rPr lang="en-US" b="1" dirty="0"/>
              <a:t>quantity</a:t>
            </a:r>
            <a:r>
              <a:rPr lang="en-US" dirty="0"/>
              <a:t>. </a:t>
            </a:r>
          </a:p>
          <a:p>
            <a:pPr algn="just"/>
            <a:endParaRPr lang="en-US" dirty="0"/>
          </a:p>
          <a:p>
            <a:pPr algn="just"/>
            <a:r>
              <a:rPr lang="en-US" dirty="0"/>
              <a:t>Instead of creating a new formula for each row, we can create a single formula in cell </a:t>
            </a:r>
            <a:r>
              <a:rPr lang="en-US" b="1" dirty="0"/>
              <a:t>D4</a:t>
            </a:r>
            <a:r>
              <a:rPr lang="en-US" dirty="0"/>
              <a:t> and then copy it to the other rows. </a:t>
            </a:r>
          </a:p>
          <a:p>
            <a:pPr algn="just"/>
            <a:endParaRPr lang="en-US" dirty="0"/>
          </a:p>
          <a:p>
            <a:pPr algn="just"/>
            <a:r>
              <a:rPr lang="en-US" dirty="0"/>
              <a:t>We'll use relative references so the formula calculates the total for each item correctly.</a:t>
            </a:r>
          </a:p>
        </p:txBody>
      </p:sp>
    </p:spTree>
    <p:extLst>
      <p:ext uri="{BB962C8B-B14F-4D97-AF65-F5344CB8AC3E}">
        <p14:creationId xmlns:p14="http://schemas.microsoft.com/office/powerpoint/2010/main" val="749280106"/>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relative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Select the </a:t>
            </a:r>
            <a:r>
              <a:rPr lang="en-US" b="1" dirty="0"/>
              <a:t>cell</a:t>
            </a:r>
            <a:r>
              <a:rPr lang="en-US" dirty="0"/>
              <a:t> that will contain the formula. In our example, we'll select cell </a:t>
            </a:r>
            <a:r>
              <a:rPr lang="en-US" b="1" dirty="0"/>
              <a:t>D4</a:t>
            </a:r>
            <a:r>
              <a:rPr lang="en-US" dirty="0"/>
              <a:t>.</a:t>
            </a:r>
          </a:p>
        </p:txBody>
      </p:sp>
      <p:pic>
        <p:nvPicPr>
          <p:cNvPr id="5" name="Picture 4">
            <a:extLst>
              <a:ext uri="{FF2B5EF4-FFF2-40B4-BE49-F238E27FC236}">
                <a16:creationId xmlns:a16="http://schemas.microsoft.com/office/drawing/2014/main" id="{711E9C1D-D730-4F47-A1A8-33A2D00B9E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1628800"/>
            <a:ext cx="7560840" cy="4320480"/>
          </a:xfrm>
          <a:prstGeom prst="rect">
            <a:avLst/>
          </a:prstGeom>
        </p:spPr>
      </p:pic>
    </p:spTree>
    <p:extLst>
      <p:ext uri="{BB962C8B-B14F-4D97-AF65-F5344CB8AC3E}">
        <p14:creationId xmlns:p14="http://schemas.microsoft.com/office/powerpoint/2010/main" val="141187839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relative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a:r>
              <a:rPr lang="en-US" dirty="0"/>
              <a:t>Enter the formula to calculate the desired value. In our example, we'll type </a:t>
            </a:r>
            <a:r>
              <a:rPr lang="en-US" b="1" dirty="0"/>
              <a:t>=B4*C4</a:t>
            </a:r>
            <a:r>
              <a:rPr lang="en-US" dirty="0"/>
              <a:t>.</a:t>
            </a:r>
          </a:p>
        </p:txBody>
      </p:sp>
      <p:pic>
        <p:nvPicPr>
          <p:cNvPr id="6" name="Picture 5">
            <a:extLst>
              <a:ext uri="{FF2B5EF4-FFF2-40B4-BE49-F238E27FC236}">
                <a16:creationId xmlns:a16="http://schemas.microsoft.com/office/drawing/2014/main" id="{A552D1CC-CEDE-45B1-82C9-6392DBE602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4" y="1643273"/>
            <a:ext cx="7488832" cy="4306007"/>
          </a:xfrm>
          <a:prstGeom prst="rect">
            <a:avLst/>
          </a:prstGeom>
        </p:spPr>
      </p:pic>
    </p:spTree>
    <p:extLst>
      <p:ext uri="{BB962C8B-B14F-4D97-AF65-F5344CB8AC3E}">
        <p14:creationId xmlns:p14="http://schemas.microsoft.com/office/powerpoint/2010/main" val="762044820"/>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relative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fontAlgn="base"/>
            <a:r>
              <a:rPr lang="en-US" dirty="0"/>
              <a:t>Press </a:t>
            </a:r>
            <a:r>
              <a:rPr lang="en-US" b="1" dirty="0"/>
              <a:t>Enter</a:t>
            </a:r>
            <a:r>
              <a:rPr lang="en-US" dirty="0"/>
              <a:t> on your keyboard. The formula will be calculated, and the result will be displayed in the cell.</a:t>
            </a:r>
          </a:p>
          <a:p>
            <a:pPr fontAlgn="base"/>
            <a:r>
              <a:rPr lang="en-US" dirty="0"/>
              <a:t>Locate the </a:t>
            </a:r>
            <a:r>
              <a:rPr lang="en-US" b="1" dirty="0"/>
              <a:t>fill handle</a:t>
            </a:r>
            <a:r>
              <a:rPr lang="en-US" dirty="0"/>
              <a:t> in the bottom-right corner of the desired cell. In our example, we'll locate the fill handle for cell </a:t>
            </a:r>
            <a:r>
              <a:rPr lang="en-US" b="1" dirty="0"/>
              <a:t>D4</a:t>
            </a:r>
            <a:r>
              <a:rPr lang="en-US" dirty="0"/>
              <a:t>.</a:t>
            </a:r>
          </a:p>
        </p:txBody>
      </p:sp>
      <p:pic>
        <p:nvPicPr>
          <p:cNvPr id="5" name="Picture 4">
            <a:extLst>
              <a:ext uri="{FF2B5EF4-FFF2-40B4-BE49-F238E27FC236}">
                <a16:creationId xmlns:a16="http://schemas.microsoft.com/office/drawing/2014/main" id="{B22A7E2F-7945-41AB-A467-D3C037D0B9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3573016"/>
            <a:ext cx="6858000" cy="3284984"/>
          </a:xfrm>
          <a:prstGeom prst="rect">
            <a:avLst/>
          </a:prstGeom>
        </p:spPr>
      </p:pic>
    </p:spTree>
    <p:extLst>
      <p:ext uri="{BB962C8B-B14F-4D97-AF65-F5344CB8AC3E}">
        <p14:creationId xmlns:p14="http://schemas.microsoft.com/office/powerpoint/2010/main" val="3198200846"/>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relative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Click and drag the </a:t>
            </a:r>
            <a:r>
              <a:rPr lang="en-US" b="1" dirty="0"/>
              <a:t>fill handle </a:t>
            </a:r>
            <a:r>
              <a:rPr lang="en-US" dirty="0"/>
              <a:t>over the cells you want to fill. In our example, we'll select cells </a:t>
            </a:r>
            <a:r>
              <a:rPr lang="en-US" b="1" dirty="0"/>
              <a:t>D5:D13</a:t>
            </a:r>
            <a:r>
              <a:rPr lang="en-US" dirty="0"/>
              <a:t>.</a:t>
            </a:r>
          </a:p>
        </p:txBody>
      </p:sp>
      <p:pic>
        <p:nvPicPr>
          <p:cNvPr id="6" name="Picture 5">
            <a:extLst>
              <a:ext uri="{FF2B5EF4-FFF2-40B4-BE49-F238E27FC236}">
                <a16:creationId xmlns:a16="http://schemas.microsoft.com/office/drawing/2014/main" id="{CCE4473A-0276-4BE5-BEDA-8670FA757D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4" y="2060848"/>
            <a:ext cx="7992888" cy="4392488"/>
          </a:xfrm>
          <a:prstGeom prst="rect">
            <a:avLst/>
          </a:prstGeom>
        </p:spPr>
      </p:pic>
    </p:spTree>
    <p:extLst>
      <p:ext uri="{BB962C8B-B14F-4D97-AF65-F5344CB8AC3E}">
        <p14:creationId xmlns:p14="http://schemas.microsoft.com/office/powerpoint/2010/main" val="3761195065"/>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relative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Release the mouse. The formula will be </a:t>
            </a:r>
            <a:r>
              <a:rPr lang="en-US" b="1" dirty="0"/>
              <a:t>copied</a:t>
            </a:r>
            <a:r>
              <a:rPr lang="en-US" dirty="0"/>
              <a:t> to the selected cells with </a:t>
            </a:r>
            <a:r>
              <a:rPr lang="en-US" b="1" dirty="0"/>
              <a:t>relative references</a:t>
            </a:r>
            <a:r>
              <a:rPr lang="en-US" dirty="0"/>
              <a:t>, displaying the result in each cell.</a:t>
            </a:r>
          </a:p>
        </p:txBody>
      </p:sp>
      <p:pic>
        <p:nvPicPr>
          <p:cNvPr id="5" name="Picture 4">
            <a:extLst>
              <a:ext uri="{FF2B5EF4-FFF2-40B4-BE49-F238E27FC236}">
                <a16:creationId xmlns:a16="http://schemas.microsoft.com/office/drawing/2014/main" id="{F4283702-AC7F-42BF-9BF0-BCD8C623FB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2060848"/>
            <a:ext cx="7200800" cy="4320480"/>
          </a:xfrm>
          <a:prstGeom prst="rect">
            <a:avLst/>
          </a:prstGeom>
        </p:spPr>
      </p:pic>
    </p:spTree>
    <p:extLst>
      <p:ext uri="{BB962C8B-B14F-4D97-AF65-F5344CB8AC3E}">
        <p14:creationId xmlns:p14="http://schemas.microsoft.com/office/powerpoint/2010/main" val="4236192273"/>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relative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You can double-click the </a:t>
            </a:r>
            <a:r>
              <a:rPr lang="en-US" b="1" dirty="0"/>
              <a:t>filled cells</a:t>
            </a:r>
            <a:r>
              <a:rPr lang="en-US" dirty="0"/>
              <a:t> to check their formulas for accuracy. The relative cell references should be different for each cell, depending on their rows.</a:t>
            </a:r>
          </a:p>
        </p:txBody>
      </p:sp>
      <p:pic>
        <p:nvPicPr>
          <p:cNvPr id="6" name="Picture 5">
            <a:extLst>
              <a:ext uri="{FF2B5EF4-FFF2-40B4-BE49-F238E27FC236}">
                <a16:creationId xmlns:a16="http://schemas.microsoft.com/office/drawing/2014/main" id="{B3EF05DE-B06B-43F8-8285-0E8FCD9BD1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2708920"/>
            <a:ext cx="6858000" cy="4149080"/>
          </a:xfrm>
          <a:prstGeom prst="rect">
            <a:avLst/>
          </a:prstGeom>
        </p:spPr>
      </p:pic>
    </p:spTree>
    <p:extLst>
      <p:ext uri="{BB962C8B-B14F-4D97-AF65-F5344CB8AC3E}">
        <p14:creationId xmlns:p14="http://schemas.microsoft.com/office/powerpoint/2010/main" val="3937132245"/>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Absolute references</a:t>
            </a:r>
            <a:endParaRPr lang="en-GB" sz="3200" dirty="0"/>
          </a:p>
        </p:txBody>
      </p:sp>
      <p:sp>
        <p:nvSpPr>
          <p:cNvPr id="3" name="Content Placeholder 2"/>
          <p:cNvSpPr>
            <a:spLocks noGrp="1"/>
          </p:cNvSpPr>
          <p:nvPr>
            <p:ph idx="1"/>
          </p:nvPr>
        </p:nvSpPr>
        <p:spPr>
          <a:xfrm>
            <a:off x="0" y="476672"/>
            <a:ext cx="9144000" cy="6381328"/>
          </a:xfrm>
        </p:spPr>
        <p:txBody>
          <a:bodyPr>
            <a:normAutofit fontScale="92500" lnSpcReduction="20000"/>
          </a:bodyPr>
          <a:lstStyle/>
          <a:p>
            <a:pPr algn="just" fontAlgn="base"/>
            <a:r>
              <a:rPr lang="en-US" dirty="0"/>
              <a:t>There may be a time when you don't want a cell reference to change when copied to other cells.</a:t>
            </a:r>
          </a:p>
          <a:p>
            <a:pPr algn="just" fontAlgn="base"/>
            <a:endParaRPr lang="en-US" dirty="0"/>
          </a:p>
          <a:p>
            <a:pPr algn="just" fontAlgn="base"/>
            <a:r>
              <a:rPr lang="en-US" dirty="0"/>
              <a:t>Unlike relative references, </a:t>
            </a:r>
            <a:r>
              <a:rPr lang="en-US" b="1" dirty="0"/>
              <a:t>absolute references do not change when copied or filled</a:t>
            </a:r>
            <a:r>
              <a:rPr lang="en-US" dirty="0"/>
              <a:t>. </a:t>
            </a:r>
          </a:p>
          <a:p>
            <a:pPr algn="just" fontAlgn="base"/>
            <a:endParaRPr lang="en-US" dirty="0"/>
          </a:p>
          <a:p>
            <a:pPr algn="just" fontAlgn="base"/>
            <a:r>
              <a:rPr lang="en-US" dirty="0"/>
              <a:t>You can use an absolute reference to keep a row and/or column constant.</a:t>
            </a:r>
          </a:p>
          <a:p>
            <a:pPr algn="just" fontAlgn="base"/>
            <a:endParaRPr lang="en-US" dirty="0"/>
          </a:p>
          <a:p>
            <a:pPr algn="just" fontAlgn="base"/>
            <a:r>
              <a:rPr lang="en-US" dirty="0"/>
              <a:t>An absolute reference is designated in a formula by the addition of a </a:t>
            </a:r>
            <a:r>
              <a:rPr lang="en-US" b="1" dirty="0"/>
              <a:t>dollar sign ($)</a:t>
            </a:r>
            <a:r>
              <a:rPr lang="en-US" dirty="0"/>
              <a:t>.</a:t>
            </a:r>
            <a:r>
              <a:rPr lang="en-US" b="1" dirty="0"/>
              <a:t> </a:t>
            </a:r>
          </a:p>
          <a:p>
            <a:pPr algn="just" fontAlgn="base"/>
            <a:endParaRPr lang="en-US" dirty="0"/>
          </a:p>
          <a:p>
            <a:pPr algn="just" fontAlgn="base"/>
            <a:r>
              <a:rPr lang="en-US" dirty="0"/>
              <a:t>It can precede the column reference, the row reference, or both.</a:t>
            </a:r>
          </a:p>
          <a:p>
            <a:pPr algn="just" fontAlgn="base"/>
            <a:endParaRPr lang="en-US" dirty="0"/>
          </a:p>
        </p:txBody>
      </p:sp>
    </p:spTree>
    <p:extLst>
      <p:ext uri="{BB962C8B-B14F-4D97-AF65-F5344CB8AC3E}">
        <p14:creationId xmlns:p14="http://schemas.microsoft.com/office/powerpoint/2010/main" val="1686227870"/>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Absolute references</a:t>
            </a:r>
            <a:endParaRPr lang="en-GB" sz="3200" dirty="0"/>
          </a:p>
        </p:txBody>
      </p:sp>
      <p:sp>
        <p:nvSpPr>
          <p:cNvPr id="3" name="Content Placeholder 2"/>
          <p:cNvSpPr>
            <a:spLocks noGrp="1"/>
          </p:cNvSpPr>
          <p:nvPr>
            <p:ph idx="1"/>
          </p:nvPr>
        </p:nvSpPr>
        <p:spPr>
          <a:xfrm>
            <a:off x="0" y="476672"/>
            <a:ext cx="9144000" cy="6381328"/>
          </a:xfrm>
        </p:spPr>
        <p:txBody>
          <a:bodyPr>
            <a:normAutofit lnSpcReduction="10000"/>
          </a:bodyPr>
          <a:lstStyle/>
          <a:p>
            <a:pPr algn="just" fontAlgn="base"/>
            <a:endParaRPr lang="en-US" dirty="0"/>
          </a:p>
          <a:p>
            <a:pPr algn="just" fontAlgn="base"/>
            <a:endParaRPr lang="en-US" dirty="0"/>
          </a:p>
          <a:p>
            <a:pPr algn="just" fontAlgn="base"/>
            <a:endParaRPr lang="en-US" dirty="0"/>
          </a:p>
          <a:p>
            <a:pPr algn="just" fontAlgn="base"/>
            <a:endParaRPr lang="en-US" dirty="0"/>
          </a:p>
          <a:p>
            <a:pPr algn="just" fontAlgn="base"/>
            <a:r>
              <a:rPr lang="en-US" dirty="0"/>
              <a:t>You will generally use the </a:t>
            </a:r>
            <a:r>
              <a:rPr lang="en-US" b="1" dirty="0"/>
              <a:t>$A$2</a:t>
            </a:r>
            <a:r>
              <a:rPr lang="en-US" dirty="0"/>
              <a:t> format when creating formulas that contain absolute references. The other two formats are used much less frequently.</a:t>
            </a:r>
          </a:p>
          <a:p>
            <a:pPr algn="just" fontAlgn="base"/>
            <a:endParaRPr lang="en-US" dirty="0"/>
          </a:p>
          <a:p>
            <a:pPr algn="just" fontAlgn="base"/>
            <a:r>
              <a:rPr lang="en-US" dirty="0"/>
              <a:t>When writing a formula, you can press the </a:t>
            </a:r>
            <a:r>
              <a:rPr lang="en-US" b="1" dirty="0"/>
              <a:t>F4</a:t>
            </a:r>
            <a:r>
              <a:rPr lang="en-US" dirty="0"/>
              <a:t> key on your keyboard to switch between </a:t>
            </a:r>
            <a:r>
              <a:rPr lang="en-US" b="1" dirty="0"/>
              <a:t>relative and absolute cell references</a:t>
            </a:r>
            <a:r>
              <a:rPr lang="en-US" dirty="0"/>
              <a:t>, </a:t>
            </a:r>
          </a:p>
        </p:txBody>
      </p:sp>
      <p:pic>
        <p:nvPicPr>
          <p:cNvPr id="7" name="Picture 6">
            <a:extLst>
              <a:ext uri="{FF2B5EF4-FFF2-40B4-BE49-F238E27FC236}">
                <a16:creationId xmlns:a16="http://schemas.microsoft.com/office/drawing/2014/main" id="{1D04E3DA-CDBB-41EA-B8BA-E7D8B4CE95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491434"/>
            <a:ext cx="6480720" cy="1929454"/>
          </a:xfrm>
          <a:prstGeom prst="rect">
            <a:avLst/>
          </a:prstGeom>
        </p:spPr>
      </p:pic>
    </p:spTree>
    <p:extLst>
      <p:ext uri="{BB962C8B-B14F-4D97-AF65-F5344CB8AC3E}">
        <p14:creationId xmlns:p14="http://schemas.microsoft.com/office/powerpoint/2010/main" val="2801332622"/>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absolute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In the example below, we'll use cell </a:t>
            </a:r>
            <a:r>
              <a:rPr lang="en-US" b="1" dirty="0"/>
              <a:t>E2</a:t>
            </a:r>
            <a:r>
              <a:rPr lang="en-US" dirty="0"/>
              <a:t> (which contains the tax rate of 7.5%) to calculate the sales tax for each item in </a:t>
            </a:r>
            <a:r>
              <a:rPr lang="en-US" b="1" dirty="0"/>
              <a:t>column D</a:t>
            </a:r>
            <a:r>
              <a:rPr lang="en-US" dirty="0"/>
              <a:t>. </a:t>
            </a:r>
          </a:p>
          <a:p>
            <a:pPr algn="just" fontAlgn="base"/>
            <a:endParaRPr lang="en-US" dirty="0"/>
          </a:p>
          <a:p>
            <a:pPr algn="just" fontAlgn="base"/>
            <a:r>
              <a:rPr lang="en-US" dirty="0"/>
              <a:t>To make sure the reference to the tax rate stays constant—even when the formula is copied and filled to other cells—we'll need to make cell </a:t>
            </a:r>
            <a:r>
              <a:rPr lang="en-US" b="1" dirty="0"/>
              <a:t>$E$2</a:t>
            </a:r>
            <a:r>
              <a:rPr lang="en-US" dirty="0"/>
              <a:t> an absolute reference.</a:t>
            </a:r>
          </a:p>
        </p:txBody>
      </p:sp>
    </p:spTree>
    <p:extLst>
      <p:ext uri="{BB962C8B-B14F-4D97-AF65-F5344CB8AC3E}">
        <p14:creationId xmlns:p14="http://schemas.microsoft.com/office/powerpoint/2010/main" val="3501029950"/>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absolute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Select the </a:t>
            </a:r>
            <a:r>
              <a:rPr lang="en-US" b="1" dirty="0"/>
              <a:t>cell</a:t>
            </a:r>
            <a:r>
              <a:rPr lang="en-US" dirty="0"/>
              <a:t> that will contain the formula. In our example, we'll select cell </a:t>
            </a:r>
            <a:r>
              <a:rPr lang="en-US" b="1" dirty="0"/>
              <a:t>D4</a:t>
            </a:r>
            <a:r>
              <a:rPr lang="en-US" dirty="0"/>
              <a:t>.</a:t>
            </a:r>
          </a:p>
        </p:txBody>
      </p:sp>
      <p:pic>
        <p:nvPicPr>
          <p:cNvPr id="5" name="Picture 4">
            <a:extLst>
              <a:ext uri="{FF2B5EF4-FFF2-40B4-BE49-F238E27FC236}">
                <a16:creationId xmlns:a16="http://schemas.microsoft.com/office/drawing/2014/main" id="{FFF2A401-D07B-42C2-B30E-AB373EE5CB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187" y="1772816"/>
            <a:ext cx="7125221" cy="4608512"/>
          </a:xfrm>
          <a:prstGeom prst="rect">
            <a:avLst/>
          </a:prstGeom>
        </p:spPr>
      </p:pic>
    </p:spTree>
    <p:extLst>
      <p:ext uri="{BB962C8B-B14F-4D97-AF65-F5344CB8AC3E}">
        <p14:creationId xmlns:p14="http://schemas.microsoft.com/office/powerpoint/2010/main" val="1525301550"/>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absolute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Enter the </a:t>
            </a:r>
            <a:r>
              <a:rPr lang="en-US" b="1" dirty="0"/>
              <a:t>formula </a:t>
            </a:r>
            <a:r>
              <a:rPr lang="en-US" dirty="0"/>
              <a:t>to calculate the desired value. In our example, we'll type </a:t>
            </a:r>
            <a:r>
              <a:rPr lang="en-US" b="1" dirty="0"/>
              <a:t>=(B4*C4)*$E$2</a:t>
            </a:r>
            <a:r>
              <a:rPr lang="en-US" dirty="0"/>
              <a:t>, making </a:t>
            </a:r>
            <a:r>
              <a:rPr lang="en-US" b="1" dirty="0"/>
              <a:t>$E$2</a:t>
            </a:r>
            <a:r>
              <a:rPr lang="en-US" dirty="0"/>
              <a:t> an absolute reference.</a:t>
            </a:r>
          </a:p>
        </p:txBody>
      </p:sp>
      <p:pic>
        <p:nvPicPr>
          <p:cNvPr id="6" name="Picture 5">
            <a:extLst>
              <a:ext uri="{FF2B5EF4-FFF2-40B4-BE49-F238E27FC236}">
                <a16:creationId xmlns:a16="http://schemas.microsoft.com/office/drawing/2014/main" id="{CE5DC20D-9CA0-47EC-9BA3-67C61BCC2B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9" y="2204864"/>
            <a:ext cx="7920880" cy="4320480"/>
          </a:xfrm>
          <a:prstGeom prst="rect">
            <a:avLst/>
          </a:prstGeom>
        </p:spPr>
      </p:pic>
    </p:spTree>
    <p:extLst>
      <p:ext uri="{BB962C8B-B14F-4D97-AF65-F5344CB8AC3E}">
        <p14:creationId xmlns:p14="http://schemas.microsoft.com/office/powerpoint/2010/main" val="2819746525"/>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absolute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Press </a:t>
            </a:r>
            <a:r>
              <a:rPr lang="en-US" b="1" dirty="0"/>
              <a:t>Enter</a:t>
            </a:r>
            <a:r>
              <a:rPr lang="en-US" dirty="0"/>
              <a:t> on your keyboard. The formula will calculate, and the result will display in the cell.</a:t>
            </a:r>
          </a:p>
          <a:p>
            <a:pPr algn="just" fontAlgn="base"/>
            <a:r>
              <a:rPr lang="en-US" dirty="0"/>
              <a:t>Locate the </a:t>
            </a:r>
            <a:r>
              <a:rPr lang="en-US" b="1" dirty="0"/>
              <a:t>fill handle </a:t>
            </a:r>
            <a:r>
              <a:rPr lang="en-US" dirty="0"/>
              <a:t>in the bottom-right corner of the desired cell. In our example, we'll locate the fill handle for cell </a:t>
            </a:r>
            <a:r>
              <a:rPr lang="en-US" b="1" dirty="0"/>
              <a:t>D4</a:t>
            </a:r>
            <a:r>
              <a:rPr lang="en-US" dirty="0"/>
              <a:t>.</a:t>
            </a:r>
          </a:p>
        </p:txBody>
      </p:sp>
      <p:pic>
        <p:nvPicPr>
          <p:cNvPr id="5" name="Picture 4">
            <a:extLst>
              <a:ext uri="{FF2B5EF4-FFF2-40B4-BE49-F238E27FC236}">
                <a16:creationId xmlns:a16="http://schemas.microsoft.com/office/drawing/2014/main" id="{F08DE17A-85EF-4632-9D70-AD39BE3CD7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187" y="3140968"/>
            <a:ext cx="6905625" cy="3717032"/>
          </a:xfrm>
          <a:prstGeom prst="rect">
            <a:avLst/>
          </a:prstGeom>
        </p:spPr>
      </p:pic>
    </p:spTree>
    <p:extLst>
      <p:ext uri="{BB962C8B-B14F-4D97-AF65-F5344CB8AC3E}">
        <p14:creationId xmlns:p14="http://schemas.microsoft.com/office/powerpoint/2010/main" val="4065512313"/>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absolute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Click and drag the </a:t>
            </a:r>
            <a:r>
              <a:rPr lang="en-US" b="1" dirty="0"/>
              <a:t>fill handle</a:t>
            </a:r>
            <a:r>
              <a:rPr lang="en-US" dirty="0"/>
              <a:t> over the cells you want to fill (cells </a:t>
            </a:r>
            <a:r>
              <a:rPr lang="en-US" b="1" dirty="0"/>
              <a:t>D5:D13</a:t>
            </a:r>
            <a:r>
              <a:rPr lang="en-US" dirty="0"/>
              <a:t> in our example).</a:t>
            </a:r>
          </a:p>
        </p:txBody>
      </p:sp>
      <p:pic>
        <p:nvPicPr>
          <p:cNvPr id="6" name="Picture 5">
            <a:extLst>
              <a:ext uri="{FF2B5EF4-FFF2-40B4-BE49-F238E27FC236}">
                <a16:creationId xmlns:a16="http://schemas.microsoft.com/office/drawing/2014/main" id="{E078D393-74D4-431D-AC6F-EB4400A49D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187" y="1700808"/>
            <a:ext cx="6905625" cy="4680520"/>
          </a:xfrm>
          <a:prstGeom prst="rect">
            <a:avLst/>
          </a:prstGeom>
        </p:spPr>
      </p:pic>
    </p:spTree>
    <p:extLst>
      <p:ext uri="{BB962C8B-B14F-4D97-AF65-F5344CB8AC3E}">
        <p14:creationId xmlns:p14="http://schemas.microsoft.com/office/powerpoint/2010/main" val="2962495087"/>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absolute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Release the mouse. The formula will be </a:t>
            </a:r>
            <a:r>
              <a:rPr lang="en-US" b="1" dirty="0"/>
              <a:t>copied</a:t>
            </a:r>
            <a:r>
              <a:rPr lang="en-US" dirty="0"/>
              <a:t> to the selected cells with an </a:t>
            </a:r>
            <a:r>
              <a:rPr lang="en-US" b="1" dirty="0"/>
              <a:t>absolute</a:t>
            </a:r>
            <a:r>
              <a:rPr lang="en-US" dirty="0"/>
              <a:t> </a:t>
            </a:r>
            <a:r>
              <a:rPr lang="en-US" b="1" dirty="0"/>
              <a:t>reference</a:t>
            </a:r>
            <a:r>
              <a:rPr lang="en-US" dirty="0"/>
              <a:t>, and the values will be calculated in each cell.</a:t>
            </a:r>
          </a:p>
        </p:txBody>
      </p:sp>
      <p:pic>
        <p:nvPicPr>
          <p:cNvPr id="5" name="Picture 4">
            <a:extLst>
              <a:ext uri="{FF2B5EF4-FFF2-40B4-BE49-F238E27FC236}">
                <a16:creationId xmlns:a16="http://schemas.microsoft.com/office/drawing/2014/main" id="{D0D127F5-9168-487B-B661-52A840E2F9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5" y="2060848"/>
            <a:ext cx="7992888" cy="4536504"/>
          </a:xfrm>
          <a:prstGeom prst="rect">
            <a:avLst/>
          </a:prstGeom>
        </p:spPr>
      </p:pic>
    </p:spTree>
    <p:extLst>
      <p:ext uri="{BB962C8B-B14F-4D97-AF65-F5344CB8AC3E}">
        <p14:creationId xmlns:p14="http://schemas.microsoft.com/office/powerpoint/2010/main" val="1399044492"/>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absolute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You can double-click the </a:t>
            </a:r>
            <a:r>
              <a:rPr lang="en-US" b="1" dirty="0"/>
              <a:t>filled cells</a:t>
            </a:r>
            <a:r>
              <a:rPr lang="en-US" dirty="0"/>
              <a:t> to check their formulas for accuracy. The absolute reference should be the same for each cell, while the other references are relative to the cell's row.</a:t>
            </a:r>
          </a:p>
        </p:txBody>
      </p:sp>
      <p:pic>
        <p:nvPicPr>
          <p:cNvPr id="6" name="Picture 5">
            <a:extLst>
              <a:ext uri="{FF2B5EF4-FFF2-40B4-BE49-F238E27FC236}">
                <a16:creationId xmlns:a16="http://schemas.microsoft.com/office/drawing/2014/main" id="{76A6E1FF-FD5A-4B16-A513-230B6A1F26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187" y="2564904"/>
            <a:ext cx="6905625" cy="4293096"/>
          </a:xfrm>
          <a:prstGeom prst="rect">
            <a:avLst/>
          </a:prstGeom>
        </p:spPr>
      </p:pic>
    </p:spTree>
    <p:extLst>
      <p:ext uri="{BB962C8B-B14F-4D97-AF65-F5344CB8AC3E}">
        <p14:creationId xmlns:p14="http://schemas.microsoft.com/office/powerpoint/2010/main" val="1304411702"/>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fontScale="90000"/>
          </a:bodyPr>
          <a:lstStyle/>
          <a:p>
            <a:pPr algn="ctr"/>
            <a:r>
              <a:rPr lang="en-US" sz="3200" dirty="0"/>
              <a:t>To create and copy a formula using absolute references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Be sure to include the </a:t>
            </a:r>
            <a:r>
              <a:rPr lang="en-US" b="1" dirty="0"/>
              <a:t>dollar sign ($)</a:t>
            </a:r>
            <a:r>
              <a:rPr lang="en-US" dirty="0"/>
              <a:t> whenever you're making an absolute reference across multiple cells. The dollar signs were omitted in the example below. This caused Excel to interpret it as a </a:t>
            </a:r>
            <a:r>
              <a:rPr lang="en-US" b="1" dirty="0"/>
              <a:t>relative reference</a:t>
            </a:r>
            <a:r>
              <a:rPr lang="en-US" dirty="0"/>
              <a:t>, producing an incorrect result when copied to other cells.</a:t>
            </a:r>
          </a:p>
        </p:txBody>
      </p:sp>
      <p:pic>
        <p:nvPicPr>
          <p:cNvPr id="5" name="Picture 4">
            <a:extLst>
              <a:ext uri="{FF2B5EF4-FFF2-40B4-BE49-F238E27FC236}">
                <a16:creationId xmlns:a16="http://schemas.microsoft.com/office/drawing/2014/main" id="{0CBDCF2B-FAAC-48F3-A10F-E5F2F0FC92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187" y="3429000"/>
            <a:ext cx="6905625" cy="3429000"/>
          </a:xfrm>
          <a:prstGeom prst="rect">
            <a:avLst/>
          </a:prstGeom>
        </p:spPr>
      </p:pic>
    </p:spTree>
    <p:extLst>
      <p:ext uri="{BB962C8B-B14F-4D97-AF65-F5344CB8AC3E}">
        <p14:creationId xmlns:p14="http://schemas.microsoft.com/office/powerpoint/2010/main" val="3634060252"/>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Excel - Functions</a:t>
            </a:r>
            <a:endParaRPr lang="en-GB" sz="3200" dirty="0"/>
          </a:p>
        </p:txBody>
      </p:sp>
      <p:sp>
        <p:nvSpPr>
          <p:cNvPr id="3" name="Content Placeholder 2"/>
          <p:cNvSpPr>
            <a:spLocks noGrp="1"/>
          </p:cNvSpPr>
          <p:nvPr>
            <p:ph idx="1"/>
          </p:nvPr>
        </p:nvSpPr>
        <p:spPr>
          <a:xfrm>
            <a:off x="0" y="476672"/>
            <a:ext cx="9144000" cy="6381328"/>
          </a:xfrm>
        </p:spPr>
        <p:txBody>
          <a:bodyPr>
            <a:normAutofit lnSpcReduction="10000"/>
          </a:bodyPr>
          <a:lstStyle/>
          <a:p>
            <a:pPr algn="just" fontAlgn="base"/>
            <a:r>
              <a:rPr lang="en-US" dirty="0"/>
              <a:t>A </a:t>
            </a:r>
            <a:r>
              <a:rPr lang="en-US" b="1" dirty="0"/>
              <a:t>function</a:t>
            </a:r>
            <a:r>
              <a:rPr lang="en-US" dirty="0"/>
              <a:t> is a </a:t>
            </a:r>
            <a:r>
              <a:rPr lang="en-US" b="1" dirty="0"/>
              <a:t>predefined formula </a:t>
            </a:r>
            <a:r>
              <a:rPr lang="en-US" dirty="0"/>
              <a:t>that performs calculations using specific values in a particular order. </a:t>
            </a:r>
          </a:p>
          <a:p>
            <a:pPr algn="just" fontAlgn="base"/>
            <a:endParaRPr lang="en-US" dirty="0"/>
          </a:p>
          <a:p>
            <a:pPr algn="just" fontAlgn="base"/>
            <a:r>
              <a:rPr lang="en-US" dirty="0"/>
              <a:t>Excel includes many common functions that can be used to quickly find the </a:t>
            </a:r>
            <a:r>
              <a:rPr lang="en-US" b="1" dirty="0"/>
              <a:t>sum</a:t>
            </a:r>
            <a:r>
              <a:rPr lang="en-US" dirty="0"/>
              <a:t>, </a:t>
            </a:r>
            <a:r>
              <a:rPr lang="en-US" b="1" dirty="0"/>
              <a:t>average</a:t>
            </a:r>
            <a:r>
              <a:rPr lang="en-US" dirty="0"/>
              <a:t>, </a:t>
            </a:r>
            <a:r>
              <a:rPr lang="en-US" b="1" dirty="0"/>
              <a:t>count</a:t>
            </a:r>
            <a:r>
              <a:rPr lang="en-US" dirty="0"/>
              <a:t>, </a:t>
            </a:r>
            <a:r>
              <a:rPr lang="en-US" b="1" dirty="0"/>
              <a:t>maximum value</a:t>
            </a:r>
            <a:r>
              <a:rPr lang="en-US" dirty="0"/>
              <a:t>, and </a:t>
            </a:r>
            <a:r>
              <a:rPr lang="en-US" b="1" dirty="0"/>
              <a:t>minimum value </a:t>
            </a:r>
            <a:r>
              <a:rPr lang="en-US" dirty="0"/>
              <a:t>for a range of cells. </a:t>
            </a:r>
          </a:p>
          <a:p>
            <a:pPr algn="just" fontAlgn="base"/>
            <a:endParaRPr lang="en-US" dirty="0"/>
          </a:p>
          <a:p>
            <a:pPr algn="just" fontAlgn="base"/>
            <a:r>
              <a:rPr lang="en-US" dirty="0"/>
              <a:t>In order to use functions correctly, you'll need to understand the different </a:t>
            </a:r>
            <a:r>
              <a:rPr lang="en-US" b="1" dirty="0"/>
              <a:t>parts of a function </a:t>
            </a:r>
            <a:r>
              <a:rPr lang="en-US" dirty="0"/>
              <a:t>and how to create </a:t>
            </a:r>
            <a:r>
              <a:rPr lang="en-US" b="1" dirty="0"/>
              <a:t>arguments</a:t>
            </a:r>
            <a:r>
              <a:rPr lang="en-US" dirty="0"/>
              <a:t> to calculate values and cell references.</a:t>
            </a:r>
          </a:p>
        </p:txBody>
      </p:sp>
    </p:spTree>
    <p:extLst>
      <p:ext uri="{BB962C8B-B14F-4D97-AF65-F5344CB8AC3E}">
        <p14:creationId xmlns:p14="http://schemas.microsoft.com/office/powerpoint/2010/main" val="3448625006"/>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The parts of a function</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In order to work correctly, a function must be written a specific way, which is called the </a:t>
            </a:r>
            <a:r>
              <a:rPr lang="en-US" b="1" dirty="0"/>
              <a:t>syntax</a:t>
            </a:r>
            <a:r>
              <a:rPr lang="en-US" dirty="0"/>
              <a:t>. The basic syntax for a function is the </a:t>
            </a:r>
            <a:r>
              <a:rPr lang="en-US" b="1" dirty="0"/>
              <a:t>equals sign (=)</a:t>
            </a:r>
            <a:r>
              <a:rPr lang="en-US" dirty="0"/>
              <a:t>, the </a:t>
            </a:r>
            <a:r>
              <a:rPr lang="en-US" b="1" dirty="0"/>
              <a:t>function name </a:t>
            </a:r>
            <a:r>
              <a:rPr lang="en-US" dirty="0"/>
              <a:t>(SUM, for example), and one or more </a:t>
            </a:r>
            <a:r>
              <a:rPr lang="en-US" b="1" dirty="0"/>
              <a:t>arguments</a:t>
            </a:r>
            <a:r>
              <a:rPr lang="en-US" dirty="0"/>
              <a:t>. Arguments contain the information you want to calculate. The function in the example below would add the values of the cell range A1:A20.</a:t>
            </a:r>
          </a:p>
        </p:txBody>
      </p:sp>
      <p:pic>
        <p:nvPicPr>
          <p:cNvPr id="5" name="Picture 4">
            <a:extLst>
              <a:ext uri="{FF2B5EF4-FFF2-40B4-BE49-F238E27FC236}">
                <a16:creationId xmlns:a16="http://schemas.microsoft.com/office/drawing/2014/main" id="{5FCB99BB-9F2A-4CD9-A115-50F7A7366A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4437112"/>
            <a:ext cx="6667500" cy="2420888"/>
          </a:xfrm>
          <a:prstGeom prst="rect">
            <a:avLst/>
          </a:prstGeom>
        </p:spPr>
      </p:pic>
    </p:spTree>
    <p:extLst>
      <p:ext uri="{BB962C8B-B14F-4D97-AF65-F5344CB8AC3E}">
        <p14:creationId xmlns:p14="http://schemas.microsoft.com/office/powerpoint/2010/main" val="3639361316"/>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Working with arguments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Arguments can refer to both </a:t>
            </a:r>
            <a:r>
              <a:rPr lang="en-US" b="1" dirty="0"/>
              <a:t>individual cells </a:t>
            </a:r>
            <a:r>
              <a:rPr lang="en-US" dirty="0"/>
              <a:t>and </a:t>
            </a:r>
            <a:r>
              <a:rPr lang="en-US" b="1" dirty="0"/>
              <a:t>cell ranges </a:t>
            </a:r>
            <a:r>
              <a:rPr lang="en-US" dirty="0"/>
              <a:t>and must be enclosed within </a:t>
            </a:r>
            <a:r>
              <a:rPr lang="en-US" b="1" dirty="0"/>
              <a:t>parentheses</a:t>
            </a:r>
            <a:r>
              <a:rPr lang="en-US" dirty="0"/>
              <a:t>. You can include one argument or multiple arguments, depending on the syntax required for the function.</a:t>
            </a:r>
          </a:p>
          <a:p>
            <a:pPr algn="just" fontAlgn="base"/>
            <a:r>
              <a:rPr lang="en-US" dirty="0"/>
              <a:t>For example, the function </a:t>
            </a:r>
            <a:r>
              <a:rPr lang="en-US" b="1" dirty="0"/>
              <a:t>=AVERAGE(B1:B9) </a:t>
            </a:r>
            <a:r>
              <a:rPr lang="en-US" dirty="0"/>
              <a:t>would calculate the </a:t>
            </a:r>
            <a:r>
              <a:rPr lang="en-US" b="1" dirty="0"/>
              <a:t>average</a:t>
            </a:r>
            <a:r>
              <a:rPr lang="en-US" dirty="0"/>
              <a:t> of the values in the cell range B1:B9. This function contains only one argument.</a:t>
            </a:r>
          </a:p>
          <a:p>
            <a:pPr algn="just" fontAlgn="base"/>
            <a:endParaRPr lang="en-US" b="1" dirty="0"/>
          </a:p>
        </p:txBody>
      </p:sp>
      <p:pic>
        <p:nvPicPr>
          <p:cNvPr id="5" name="Picture 4">
            <a:extLst>
              <a:ext uri="{FF2B5EF4-FFF2-40B4-BE49-F238E27FC236}">
                <a16:creationId xmlns:a16="http://schemas.microsoft.com/office/drawing/2014/main" id="{6320BF77-16F5-4ACC-B774-F3E97DFE2C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864" y="4437112"/>
            <a:ext cx="3857625" cy="2420888"/>
          </a:xfrm>
          <a:prstGeom prst="rect">
            <a:avLst/>
          </a:prstGeom>
        </p:spPr>
      </p:pic>
    </p:spTree>
    <p:extLst>
      <p:ext uri="{BB962C8B-B14F-4D97-AF65-F5344CB8AC3E}">
        <p14:creationId xmlns:p14="http://schemas.microsoft.com/office/powerpoint/2010/main" val="1686256978"/>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Working with arguments</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Multiple arguments must be separated by a </a:t>
            </a:r>
            <a:r>
              <a:rPr lang="en-US" b="1" dirty="0"/>
              <a:t>comma</a:t>
            </a:r>
            <a:r>
              <a:rPr lang="en-US" dirty="0"/>
              <a:t>. For example, the function </a:t>
            </a:r>
            <a:r>
              <a:rPr lang="en-US" b="1" dirty="0"/>
              <a:t>=SUM(A1:A3, C1:C2, E1) </a:t>
            </a:r>
            <a:r>
              <a:rPr lang="en-US" dirty="0"/>
              <a:t>will </a:t>
            </a:r>
            <a:r>
              <a:rPr lang="en-US" b="1" dirty="0"/>
              <a:t>add</a:t>
            </a:r>
            <a:r>
              <a:rPr lang="en-US" dirty="0"/>
              <a:t> the values of all of the cells in the three arguments.</a:t>
            </a:r>
            <a:endParaRPr lang="en-US" b="1" dirty="0"/>
          </a:p>
        </p:txBody>
      </p:sp>
      <p:pic>
        <p:nvPicPr>
          <p:cNvPr id="6" name="Picture 5">
            <a:extLst>
              <a:ext uri="{FF2B5EF4-FFF2-40B4-BE49-F238E27FC236}">
                <a16:creationId xmlns:a16="http://schemas.microsoft.com/office/drawing/2014/main" id="{93FED9DD-DF6B-4326-B8A4-C7781578E4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84" y="2636912"/>
            <a:ext cx="5112568" cy="3528392"/>
          </a:xfrm>
          <a:prstGeom prst="rect">
            <a:avLst/>
          </a:prstGeom>
        </p:spPr>
      </p:pic>
    </p:spTree>
    <p:extLst>
      <p:ext uri="{BB962C8B-B14F-4D97-AF65-F5344CB8AC3E}">
        <p14:creationId xmlns:p14="http://schemas.microsoft.com/office/powerpoint/2010/main" val="4097606218"/>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Creating a function</a:t>
            </a:r>
            <a:endParaRPr lang="en-GB" sz="3200" dirty="0"/>
          </a:p>
        </p:txBody>
      </p:sp>
      <p:sp>
        <p:nvSpPr>
          <p:cNvPr id="3" name="Content Placeholder 2"/>
          <p:cNvSpPr>
            <a:spLocks noGrp="1"/>
          </p:cNvSpPr>
          <p:nvPr>
            <p:ph idx="1"/>
          </p:nvPr>
        </p:nvSpPr>
        <p:spPr>
          <a:xfrm>
            <a:off x="0" y="476672"/>
            <a:ext cx="9144000" cy="6381328"/>
          </a:xfrm>
        </p:spPr>
        <p:txBody>
          <a:bodyPr>
            <a:normAutofit fontScale="55000" lnSpcReduction="20000"/>
          </a:bodyPr>
          <a:lstStyle/>
          <a:p>
            <a:pPr algn="just" fontAlgn="base"/>
            <a:r>
              <a:rPr lang="en-US" sz="4400" dirty="0"/>
              <a:t>There are a variety of functions available in Excel. Here are some of the most common functions you'll use:</a:t>
            </a:r>
          </a:p>
          <a:p>
            <a:pPr algn="just" fontAlgn="base"/>
            <a:endParaRPr lang="en-US" dirty="0"/>
          </a:p>
          <a:p>
            <a:pPr algn="just" fontAlgn="base"/>
            <a:r>
              <a:rPr lang="en-US" sz="4400" b="1" dirty="0"/>
              <a:t>SUM</a:t>
            </a:r>
            <a:r>
              <a:rPr lang="en-US" sz="4400" dirty="0"/>
              <a:t>: This function </a:t>
            </a:r>
            <a:r>
              <a:rPr lang="en-US" sz="4400" b="1" dirty="0"/>
              <a:t>adds</a:t>
            </a:r>
            <a:r>
              <a:rPr lang="en-US" sz="4400" dirty="0"/>
              <a:t> all of the values of the cells in the argument.</a:t>
            </a:r>
          </a:p>
          <a:p>
            <a:pPr algn="just" fontAlgn="base"/>
            <a:endParaRPr lang="en-US" sz="4400" dirty="0"/>
          </a:p>
          <a:p>
            <a:pPr algn="just" fontAlgn="base"/>
            <a:r>
              <a:rPr lang="en-US" sz="4400" b="1" dirty="0"/>
              <a:t>AVERAGE</a:t>
            </a:r>
            <a:r>
              <a:rPr lang="en-US" sz="4400" dirty="0"/>
              <a:t>: This function determines the </a:t>
            </a:r>
            <a:r>
              <a:rPr lang="en-US" sz="4400" b="1" dirty="0"/>
              <a:t>average</a:t>
            </a:r>
            <a:r>
              <a:rPr lang="en-US" sz="4400" dirty="0"/>
              <a:t> of the values included in the argument. It calculates the sum of the cells and then divides that value by the number of cells in the argument.</a:t>
            </a:r>
          </a:p>
          <a:p>
            <a:pPr algn="just" fontAlgn="base"/>
            <a:endParaRPr lang="en-US" sz="4400" dirty="0"/>
          </a:p>
          <a:p>
            <a:pPr algn="just" fontAlgn="base"/>
            <a:r>
              <a:rPr lang="en-US" sz="4400" b="1" dirty="0"/>
              <a:t>COUNT</a:t>
            </a:r>
            <a:r>
              <a:rPr lang="en-US" sz="4400" dirty="0"/>
              <a:t>: This function </a:t>
            </a:r>
            <a:r>
              <a:rPr lang="en-US" sz="4400" b="1" dirty="0"/>
              <a:t>counts</a:t>
            </a:r>
            <a:r>
              <a:rPr lang="en-US" sz="4400" dirty="0"/>
              <a:t> the number of cells with numerical data in the argument. This function is useful for quickly counting items in a cell range.</a:t>
            </a:r>
          </a:p>
          <a:p>
            <a:pPr algn="just" fontAlgn="base"/>
            <a:endParaRPr lang="en-US" sz="4400" dirty="0"/>
          </a:p>
          <a:p>
            <a:pPr algn="just" fontAlgn="base"/>
            <a:r>
              <a:rPr lang="en-US" sz="4400" b="1" dirty="0"/>
              <a:t>MAX</a:t>
            </a:r>
            <a:r>
              <a:rPr lang="en-US" sz="4400" dirty="0"/>
              <a:t>: This function determines the </a:t>
            </a:r>
            <a:r>
              <a:rPr lang="en-US" sz="4400" b="1" dirty="0"/>
              <a:t>highest</a:t>
            </a:r>
            <a:r>
              <a:rPr lang="en-US" sz="4400" dirty="0"/>
              <a:t> </a:t>
            </a:r>
            <a:r>
              <a:rPr lang="en-US" sz="4400" b="1" dirty="0"/>
              <a:t>cell value</a:t>
            </a:r>
            <a:r>
              <a:rPr lang="en-US" sz="4400" dirty="0"/>
              <a:t> included in the argument.</a:t>
            </a:r>
          </a:p>
          <a:p>
            <a:pPr algn="just" fontAlgn="base"/>
            <a:endParaRPr lang="en-US" sz="4400" dirty="0"/>
          </a:p>
          <a:p>
            <a:pPr algn="just" fontAlgn="base"/>
            <a:r>
              <a:rPr lang="en-US" sz="4400" b="1" dirty="0"/>
              <a:t>MIN</a:t>
            </a:r>
            <a:r>
              <a:rPr lang="en-US" sz="4400" dirty="0"/>
              <a:t>: This function determines the</a:t>
            </a:r>
            <a:r>
              <a:rPr lang="en-US" sz="4400" b="1" dirty="0"/>
              <a:t> lowest cell value</a:t>
            </a:r>
            <a:r>
              <a:rPr lang="en-US" sz="4400" dirty="0"/>
              <a:t> included in the argument.</a:t>
            </a:r>
          </a:p>
        </p:txBody>
      </p:sp>
    </p:spTree>
    <p:extLst>
      <p:ext uri="{BB962C8B-B14F-4D97-AF65-F5344CB8AC3E}">
        <p14:creationId xmlns:p14="http://schemas.microsoft.com/office/powerpoint/2010/main" val="2585854834"/>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function using the AutoSum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The </a:t>
            </a:r>
            <a:r>
              <a:rPr lang="en-US" b="1" dirty="0"/>
              <a:t>AutoSum </a:t>
            </a:r>
            <a:r>
              <a:rPr lang="en-US" dirty="0"/>
              <a:t>command allows you to automatically insert the most common functions into your formula, including SUM, AVERAGE, COUNT, MAX, and MIN. </a:t>
            </a:r>
          </a:p>
          <a:p>
            <a:pPr algn="just" fontAlgn="base"/>
            <a:endParaRPr lang="en-US" dirty="0"/>
          </a:p>
          <a:p>
            <a:pPr algn="just" fontAlgn="base"/>
            <a:r>
              <a:rPr lang="en-US" dirty="0"/>
              <a:t>In the example below, we'll use the </a:t>
            </a:r>
            <a:r>
              <a:rPr lang="en-US" b="1" dirty="0"/>
              <a:t>SUM</a:t>
            </a:r>
            <a:r>
              <a:rPr lang="en-US" dirty="0"/>
              <a:t> function to calculate the </a:t>
            </a:r>
            <a:r>
              <a:rPr lang="en-US" b="1" dirty="0"/>
              <a:t>total cost</a:t>
            </a:r>
            <a:r>
              <a:rPr lang="en-US" dirty="0"/>
              <a:t> for a list of recently ordered items.</a:t>
            </a:r>
            <a:endParaRPr lang="en-US" sz="4400" dirty="0"/>
          </a:p>
        </p:txBody>
      </p:sp>
    </p:spTree>
    <p:extLst>
      <p:ext uri="{BB962C8B-B14F-4D97-AF65-F5344CB8AC3E}">
        <p14:creationId xmlns:p14="http://schemas.microsoft.com/office/powerpoint/2010/main" val="3498909492"/>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function using the AutoSum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Select the </a:t>
            </a:r>
            <a:r>
              <a:rPr lang="en-US" b="1" dirty="0"/>
              <a:t>cell</a:t>
            </a:r>
            <a:r>
              <a:rPr lang="en-US" dirty="0"/>
              <a:t> that will contain the function. In our example, we'll select cell </a:t>
            </a:r>
            <a:r>
              <a:rPr lang="en-US" b="1" dirty="0"/>
              <a:t>D13</a:t>
            </a:r>
            <a:r>
              <a:rPr lang="en-US" dirty="0"/>
              <a:t>.</a:t>
            </a:r>
            <a:endParaRPr lang="en-US" sz="4400" dirty="0"/>
          </a:p>
        </p:txBody>
      </p:sp>
      <p:pic>
        <p:nvPicPr>
          <p:cNvPr id="5" name="Picture 4">
            <a:extLst>
              <a:ext uri="{FF2B5EF4-FFF2-40B4-BE49-F238E27FC236}">
                <a16:creationId xmlns:a16="http://schemas.microsoft.com/office/drawing/2014/main" id="{3BC19BB6-CDB1-454C-A57C-16D1C822EC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3024" y="1844824"/>
            <a:ext cx="6685359" cy="4392488"/>
          </a:xfrm>
          <a:prstGeom prst="rect">
            <a:avLst/>
          </a:prstGeom>
        </p:spPr>
      </p:pic>
    </p:spTree>
    <p:extLst>
      <p:ext uri="{BB962C8B-B14F-4D97-AF65-F5344CB8AC3E}">
        <p14:creationId xmlns:p14="http://schemas.microsoft.com/office/powerpoint/2010/main" val="2452068870"/>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function using the AutoSum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In the </a:t>
            </a:r>
            <a:r>
              <a:rPr lang="en-US" b="1" dirty="0"/>
              <a:t>Editing </a:t>
            </a:r>
            <a:r>
              <a:rPr lang="en-US" dirty="0"/>
              <a:t>group on the </a:t>
            </a:r>
            <a:r>
              <a:rPr lang="en-US" b="1" dirty="0"/>
              <a:t>Home</a:t>
            </a:r>
            <a:r>
              <a:rPr lang="en-US" dirty="0"/>
              <a:t> tab, click the </a:t>
            </a:r>
            <a:r>
              <a:rPr lang="en-US" b="1" dirty="0"/>
              <a:t>arrow</a:t>
            </a:r>
            <a:r>
              <a:rPr lang="en-US" dirty="0"/>
              <a:t> next to the </a:t>
            </a:r>
            <a:r>
              <a:rPr lang="en-US" b="1" dirty="0"/>
              <a:t>AutoSum </a:t>
            </a:r>
            <a:r>
              <a:rPr lang="en-US" dirty="0"/>
              <a:t>command. Next, choose the </a:t>
            </a:r>
            <a:r>
              <a:rPr lang="en-US" b="1" dirty="0"/>
              <a:t>desired function</a:t>
            </a:r>
            <a:r>
              <a:rPr lang="en-US" dirty="0"/>
              <a:t> from the drop-down menu. In our example, we'll select </a:t>
            </a:r>
            <a:r>
              <a:rPr lang="en-US" b="1" dirty="0"/>
              <a:t>Sum</a:t>
            </a:r>
            <a:r>
              <a:rPr lang="en-US" dirty="0"/>
              <a:t>.</a:t>
            </a:r>
            <a:endParaRPr lang="en-US" sz="4400" dirty="0"/>
          </a:p>
        </p:txBody>
      </p:sp>
      <p:pic>
        <p:nvPicPr>
          <p:cNvPr id="6" name="Picture 5">
            <a:extLst>
              <a:ext uri="{FF2B5EF4-FFF2-40B4-BE49-F238E27FC236}">
                <a16:creationId xmlns:a16="http://schemas.microsoft.com/office/drawing/2014/main" id="{0595E9A5-42C3-445D-82F7-A940EAF002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2636912"/>
            <a:ext cx="7704856" cy="3816424"/>
          </a:xfrm>
          <a:prstGeom prst="rect">
            <a:avLst/>
          </a:prstGeom>
        </p:spPr>
      </p:pic>
    </p:spTree>
    <p:extLst>
      <p:ext uri="{BB962C8B-B14F-4D97-AF65-F5344CB8AC3E}">
        <p14:creationId xmlns:p14="http://schemas.microsoft.com/office/powerpoint/2010/main" val="1670175720"/>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function using the AutoSum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Excel will place the </a:t>
            </a:r>
            <a:r>
              <a:rPr lang="en-US" b="1" dirty="0"/>
              <a:t>function </a:t>
            </a:r>
            <a:r>
              <a:rPr lang="en-US" dirty="0"/>
              <a:t>in the cell and automatically select a </a:t>
            </a:r>
            <a:r>
              <a:rPr lang="en-US" b="1" dirty="0"/>
              <a:t>cell range</a:t>
            </a:r>
            <a:r>
              <a:rPr lang="en-US" dirty="0"/>
              <a:t> for the argument. In our example, cells </a:t>
            </a:r>
            <a:r>
              <a:rPr lang="en-US" b="1" dirty="0"/>
              <a:t>D3:D12</a:t>
            </a:r>
            <a:r>
              <a:rPr lang="en-US" dirty="0"/>
              <a:t> were selected automatically; their values will be </a:t>
            </a:r>
            <a:r>
              <a:rPr lang="en-US" b="1" dirty="0"/>
              <a:t>added</a:t>
            </a:r>
            <a:r>
              <a:rPr lang="en-US" dirty="0"/>
              <a:t> to calculate the total cost. If Excel selects the wrong cell range, you can manually enter the desired cells into the argument.</a:t>
            </a:r>
            <a:endParaRPr lang="en-US" sz="4400" dirty="0"/>
          </a:p>
        </p:txBody>
      </p:sp>
      <p:pic>
        <p:nvPicPr>
          <p:cNvPr id="5" name="Picture 4">
            <a:extLst>
              <a:ext uri="{FF2B5EF4-FFF2-40B4-BE49-F238E27FC236}">
                <a16:creationId xmlns:a16="http://schemas.microsoft.com/office/drawing/2014/main" id="{20F4DACB-90CF-48E4-801D-EBFCF06BB6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680" y="3933057"/>
            <a:ext cx="6457950" cy="2924944"/>
          </a:xfrm>
          <a:prstGeom prst="rect">
            <a:avLst/>
          </a:prstGeom>
        </p:spPr>
      </p:pic>
    </p:spTree>
    <p:extLst>
      <p:ext uri="{BB962C8B-B14F-4D97-AF65-F5344CB8AC3E}">
        <p14:creationId xmlns:p14="http://schemas.microsoft.com/office/powerpoint/2010/main" val="4289256343"/>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function using the AutoSum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Press </a:t>
            </a:r>
            <a:r>
              <a:rPr lang="en-US" b="1" dirty="0"/>
              <a:t>Enter</a:t>
            </a:r>
            <a:r>
              <a:rPr lang="en-US" dirty="0"/>
              <a:t> on your keyboard. The function will be </a:t>
            </a:r>
            <a:r>
              <a:rPr lang="en-US" b="1" dirty="0"/>
              <a:t>calculated</a:t>
            </a:r>
            <a:r>
              <a:rPr lang="en-US" dirty="0"/>
              <a:t>, and the </a:t>
            </a:r>
            <a:r>
              <a:rPr lang="en-US" b="1" dirty="0"/>
              <a:t>result</a:t>
            </a:r>
            <a:r>
              <a:rPr lang="en-US" dirty="0"/>
              <a:t> will appear in the cell. In our example, the sum of D3:D12 is </a:t>
            </a:r>
            <a:r>
              <a:rPr lang="en-US" b="1" dirty="0"/>
              <a:t>$765.29</a:t>
            </a:r>
            <a:r>
              <a:rPr lang="en-US" dirty="0"/>
              <a:t>.</a:t>
            </a:r>
            <a:br>
              <a:rPr lang="en-US" dirty="0"/>
            </a:br>
            <a:endParaRPr lang="en-US" sz="4400" dirty="0"/>
          </a:p>
        </p:txBody>
      </p:sp>
      <p:pic>
        <p:nvPicPr>
          <p:cNvPr id="6" name="Picture 5">
            <a:extLst>
              <a:ext uri="{FF2B5EF4-FFF2-40B4-BE49-F238E27FC236}">
                <a16:creationId xmlns:a16="http://schemas.microsoft.com/office/drawing/2014/main" id="{76AD4251-DE1C-4FB4-B441-190A905665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2237953"/>
            <a:ext cx="6457950" cy="4143375"/>
          </a:xfrm>
          <a:prstGeom prst="rect">
            <a:avLst/>
          </a:prstGeom>
        </p:spPr>
      </p:pic>
    </p:spTree>
    <p:extLst>
      <p:ext uri="{BB962C8B-B14F-4D97-AF65-F5344CB8AC3E}">
        <p14:creationId xmlns:p14="http://schemas.microsoft.com/office/powerpoint/2010/main" val="292566560"/>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create a function using the AutoSum command</a:t>
            </a:r>
            <a:endParaRPr lang="en-GB" sz="3200" dirty="0"/>
          </a:p>
        </p:txBody>
      </p:sp>
      <p:sp>
        <p:nvSpPr>
          <p:cNvPr id="3" name="Content Placeholder 2"/>
          <p:cNvSpPr>
            <a:spLocks noGrp="1"/>
          </p:cNvSpPr>
          <p:nvPr>
            <p:ph idx="1"/>
          </p:nvPr>
        </p:nvSpPr>
        <p:spPr>
          <a:xfrm>
            <a:off x="0" y="476672"/>
            <a:ext cx="9144000" cy="6381328"/>
          </a:xfrm>
        </p:spPr>
        <p:txBody>
          <a:bodyPr>
            <a:normAutofit fontScale="85000" lnSpcReduction="20000"/>
          </a:bodyPr>
          <a:lstStyle/>
          <a:p>
            <a:pPr fontAlgn="base"/>
            <a:r>
              <a:rPr lang="en-US" dirty="0"/>
              <a:t>The </a:t>
            </a:r>
            <a:r>
              <a:rPr lang="en-US" b="1" dirty="0"/>
              <a:t>AutoSum </a:t>
            </a:r>
            <a:r>
              <a:rPr lang="en-US" dirty="0"/>
              <a:t>command can also be accessed from the </a:t>
            </a:r>
            <a:r>
              <a:rPr lang="en-US" b="1" dirty="0"/>
              <a:t>Formulas </a:t>
            </a:r>
            <a:r>
              <a:rPr lang="en-US" dirty="0"/>
              <a:t>tab on the </a:t>
            </a:r>
            <a:r>
              <a:rPr lang="en-US" b="1" dirty="0"/>
              <a:t>Ribbon</a:t>
            </a:r>
            <a:r>
              <a:rPr lang="en-US" dirty="0"/>
              <a:t>.</a:t>
            </a:r>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r>
              <a:rPr lang="en-US" dirty="0"/>
              <a:t>You can also use the </a:t>
            </a:r>
            <a:r>
              <a:rPr lang="en-US" b="1" dirty="0"/>
              <a:t>Alt+= keyboard </a:t>
            </a:r>
            <a:r>
              <a:rPr lang="en-US" dirty="0"/>
              <a:t>shortcut instead of the AutoSum command. </a:t>
            </a:r>
          </a:p>
          <a:p>
            <a:endParaRPr lang="en-US" dirty="0"/>
          </a:p>
          <a:p>
            <a:r>
              <a:rPr lang="en-US" dirty="0"/>
              <a:t>To use this shortcut, hold down the </a:t>
            </a:r>
            <a:r>
              <a:rPr lang="en-US" b="1" dirty="0"/>
              <a:t>Alt key </a:t>
            </a:r>
            <a:r>
              <a:rPr lang="en-US" dirty="0"/>
              <a:t>and then press the </a:t>
            </a:r>
            <a:r>
              <a:rPr lang="en-US" b="1" dirty="0"/>
              <a:t>equals sign</a:t>
            </a:r>
            <a:r>
              <a:rPr lang="en-US" dirty="0"/>
              <a:t>.</a:t>
            </a:r>
            <a:br>
              <a:rPr lang="en-US" dirty="0"/>
            </a:br>
            <a:endParaRPr lang="en-US" sz="4400" dirty="0"/>
          </a:p>
        </p:txBody>
      </p:sp>
      <p:pic>
        <p:nvPicPr>
          <p:cNvPr id="5" name="Picture 4">
            <a:extLst>
              <a:ext uri="{FF2B5EF4-FFF2-40B4-BE49-F238E27FC236}">
                <a16:creationId xmlns:a16="http://schemas.microsoft.com/office/drawing/2014/main" id="{61F180A3-2CDB-41E6-B61C-38A570BE3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9320" y="1363080"/>
            <a:ext cx="6685359" cy="2376264"/>
          </a:xfrm>
          <a:prstGeom prst="rect">
            <a:avLst/>
          </a:prstGeom>
        </p:spPr>
      </p:pic>
    </p:spTree>
    <p:extLst>
      <p:ext uri="{BB962C8B-B14F-4D97-AF65-F5344CB8AC3E}">
        <p14:creationId xmlns:p14="http://schemas.microsoft.com/office/powerpoint/2010/main" val="220423684"/>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enter a function manually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If you already know the function name, you can easily type it yourself. </a:t>
            </a:r>
          </a:p>
          <a:p>
            <a:pPr algn="just" fontAlgn="base"/>
            <a:endParaRPr lang="en-US" dirty="0"/>
          </a:p>
          <a:p>
            <a:pPr algn="just" fontAlgn="base"/>
            <a:r>
              <a:rPr lang="en-US" dirty="0"/>
              <a:t>In the example below (a tally of cookie sales), we'll use the </a:t>
            </a:r>
            <a:r>
              <a:rPr lang="en-US" b="1" dirty="0"/>
              <a:t>AVERAGE</a:t>
            </a:r>
            <a:r>
              <a:rPr lang="en-US" dirty="0"/>
              <a:t> function to calculate the </a:t>
            </a:r>
            <a:r>
              <a:rPr lang="en-US" b="1" dirty="0"/>
              <a:t>average number of units sold </a:t>
            </a:r>
            <a:r>
              <a:rPr lang="en-US" dirty="0"/>
              <a:t>by each troop.</a:t>
            </a:r>
          </a:p>
        </p:txBody>
      </p:sp>
    </p:spTree>
    <p:extLst>
      <p:ext uri="{BB962C8B-B14F-4D97-AF65-F5344CB8AC3E}">
        <p14:creationId xmlns:p14="http://schemas.microsoft.com/office/powerpoint/2010/main" val="1853238005"/>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enter a function manually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Select the cell that will contain the function. In our example, we'll select cell </a:t>
            </a:r>
            <a:r>
              <a:rPr lang="en-US" b="1" dirty="0"/>
              <a:t>C10</a:t>
            </a:r>
            <a:r>
              <a:rPr lang="en-US" dirty="0"/>
              <a:t>.</a:t>
            </a:r>
          </a:p>
        </p:txBody>
      </p:sp>
      <p:pic>
        <p:nvPicPr>
          <p:cNvPr id="5" name="Picture 4">
            <a:extLst>
              <a:ext uri="{FF2B5EF4-FFF2-40B4-BE49-F238E27FC236}">
                <a16:creationId xmlns:a16="http://schemas.microsoft.com/office/drawing/2014/main" id="{2C038859-7F5A-4D95-A4C2-E2419F6A33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1187" y="1624012"/>
            <a:ext cx="6147197" cy="4109244"/>
          </a:xfrm>
          <a:prstGeom prst="rect">
            <a:avLst/>
          </a:prstGeom>
        </p:spPr>
      </p:pic>
    </p:spTree>
    <p:extLst>
      <p:ext uri="{BB962C8B-B14F-4D97-AF65-F5344CB8AC3E}">
        <p14:creationId xmlns:p14="http://schemas.microsoft.com/office/powerpoint/2010/main" val="3098500288"/>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enter a function manually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Type the </a:t>
            </a:r>
            <a:r>
              <a:rPr lang="en-US" b="1" dirty="0"/>
              <a:t>equals sign (=)</a:t>
            </a:r>
            <a:r>
              <a:rPr lang="en-US" dirty="0"/>
              <a:t>, then enter the desired </a:t>
            </a:r>
            <a:r>
              <a:rPr lang="en-US" b="1" dirty="0"/>
              <a:t>function name</a:t>
            </a:r>
            <a:r>
              <a:rPr lang="en-US" dirty="0"/>
              <a:t>. </a:t>
            </a:r>
          </a:p>
          <a:p>
            <a:pPr algn="just" fontAlgn="base"/>
            <a:r>
              <a:rPr lang="en-US" dirty="0"/>
              <a:t>You can also select the desired function from the list of </a:t>
            </a:r>
            <a:r>
              <a:rPr lang="en-US" b="1" dirty="0"/>
              <a:t>suggested functions </a:t>
            </a:r>
            <a:r>
              <a:rPr lang="en-US" dirty="0"/>
              <a:t>that appears below the cell as you type. In our example, we'll type </a:t>
            </a:r>
            <a:r>
              <a:rPr lang="en-US" b="1" dirty="0"/>
              <a:t>=AVERAGE</a:t>
            </a:r>
            <a:r>
              <a:rPr lang="en-US" dirty="0"/>
              <a:t>.</a:t>
            </a:r>
          </a:p>
        </p:txBody>
      </p:sp>
      <p:pic>
        <p:nvPicPr>
          <p:cNvPr id="6" name="Picture 5">
            <a:extLst>
              <a:ext uri="{FF2B5EF4-FFF2-40B4-BE49-F238E27FC236}">
                <a16:creationId xmlns:a16="http://schemas.microsoft.com/office/drawing/2014/main" id="{752ABB54-17D0-4D07-A62E-FD99D61094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1187" y="3140968"/>
            <a:ext cx="5381625" cy="3717032"/>
          </a:xfrm>
          <a:prstGeom prst="rect">
            <a:avLst/>
          </a:prstGeom>
        </p:spPr>
      </p:pic>
    </p:spTree>
    <p:extLst>
      <p:ext uri="{BB962C8B-B14F-4D97-AF65-F5344CB8AC3E}">
        <p14:creationId xmlns:p14="http://schemas.microsoft.com/office/powerpoint/2010/main" val="3090678813"/>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enter a function manually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Enter the </a:t>
            </a:r>
            <a:r>
              <a:rPr lang="en-US" b="1" dirty="0"/>
              <a:t>cell range </a:t>
            </a:r>
            <a:r>
              <a:rPr lang="en-US" dirty="0"/>
              <a:t>for the argument inside </a:t>
            </a:r>
            <a:r>
              <a:rPr lang="en-US" b="1" dirty="0"/>
              <a:t>parentheses</a:t>
            </a:r>
            <a:r>
              <a:rPr lang="en-US" dirty="0"/>
              <a:t>. </a:t>
            </a:r>
          </a:p>
          <a:p>
            <a:pPr algn="just" fontAlgn="base"/>
            <a:r>
              <a:rPr lang="en-US" dirty="0"/>
              <a:t>In our example, we'll type </a:t>
            </a:r>
            <a:r>
              <a:rPr lang="en-US" b="1" dirty="0"/>
              <a:t>(C3:C9). </a:t>
            </a:r>
            <a:r>
              <a:rPr lang="en-US" dirty="0"/>
              <a:t>This formula will add the values of cells C3:C9, then divide that value by the total number of values in the range.</a:t>
            </a:r>
          </a:p>
        </p:txBody>
      </p:sp>
      <p:pic>
        <p:nvPicPr>
          <p:cNvPr id="5" name="Picture 4">
            <a:extLst>
              <a:ext uri="{FF2B5EF4-FFF2-40B4-BE49-F238E27FC236}">
                <a16:creationId xmlns:a16="http://schemas.microsoft.com/office/drawing/2014/main" id="{6B8EDDCE-B39A-417C-AA23-213D82D62E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0" y="3068960"/>
            <a:ext cx="5760640" cy="3789040"/>
          </a:xfrm>
          <a:prstGeom prst="rect">
            <a:avLst/>
          </a:prstGeom>
        </p:spPr>
      </p:pic>
    </p:spTree>
    <p:extLst>
      <p:ext uri="{BB962C8B-B14F-4D97-AF65-F5344CB8AC3E}">
        <p14:creationId xmlns:p14="http://schemas.microsoft.com/office/powerpoint/2010/main" val="3623064968"/>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enter a function manually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Press </a:t>
            </a:r>
            <a:r>
              <a:rPr lang="en-US" b="1" dirty="0"/>
              <a:t>Enter</a:t>
            </a:r>
            <a:r>
              <a:rPr lang="en-US" dirty="0"/>
              <a:t> on your keyboard. The function will be calculated, and the </a:t>
            </a:r>
            <a:r>
              <a:rPr lang="en-US" b="1" dirty="0"/>
              <a:t>result </a:t>
            </a:r>
            <a:r>
              <a:rPr lang="en-US" dirty="0"/>
              <a:t>will appear in the cell. In our example, the average number of units sold by each troop is </a:t>
            </a:r>
            <a:r>
              <a:rPr lang="en-US" b="1" dirty="0"/>
              <a:t>849</a:t>
            </a:r>
            <a:r>
              <a:rPr lang="en-US" dirty="0"/>
              <a:t>.</a:t>
            </a:r>
          </a:p>
        </p:txBody>
      </p:sp>
      <p:pic>
        <p:nvPicPr>
          <p:cNvPr id="6" name="Picture 5">
            <a:extLst>
              <a:ext uri="{FF2B5EF4-FFF2-40B4-BE49-F238E27FC236}">
                <a16:creationId xmlns:a16="http://schemas.microsoft.com/office/drawing/2014/main" id="{A784D8B7-B3A5-4D57-82AC-63528EF3D1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0" y="2564904"/>
            <a:ext cx="5976664" cy="4293096"/>
          </a:xfrm>
          <a:prstGeom prst="rect">
            <a:avLst/>
          </a:prstGeom>
        </p:spPr>
      </p:pic>
    </p:spTree>
    <p:extLst>
      <p:ext uri="{BB962C8B-B14F-4D97-AF65-F5344CB8AC3E}">
        <p14:creationId xmlns:p14="http://schemas.microsoft.com/office/powerpoint/2010/main" val="2059011766"/>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The Function Library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While there are hundreds of functions in Excel, the ones you'll use the most will depend on the </a:t>
            </a:r>
            <a:r>
              <a:rPr lang="en-US" b="1" dirty="0"/>
              <a:t>type of data</a:t>
            </a:r>
            <a:r>
              <a:rPr lang="en-US" dirty="0"/>
              <a:t> your workbooks contain. </a:t>
            </a:r>
          </a:p>
          <a:p>
            <a:pPr algn="just" fontAlgn="base"/>
            <a:endParaRPr lang="en-US" dirty="0"/>
          </a:p>
          <a:p>
            <a:pPr algn="just" fontAlgn="base"/>
            <a:r>
              <a:rPr lang="en-US" dirty="0"/>
              <a:t>There's no need to learn every single function, but exploring some of the different </a:t>
            </a:r>
            <a:r>
              <a:rPr lang="en-US" b="1" dirty="0"/>
              <a:t>types</a:t>
            </a:r>
            <a:r>
              <a:rPr lang="en-US" dirty="0"/>
              <a:t> of functions will help as you create new projects. </a:t>
            </a:r>
          </a:p>
          <a:p>
            <a:pPr algn="just" fontAlgn="base"/>
            <a:endParaRPr lang="en-US" dirty="0"/>
          </a:p>
          <a:p>
            <a:pPr algn="just" fontAlgn="base"/>
            <a:r>
              <a:rPr lang="en-US" dirty="0"/>
              <a:t>You can even use the </a:t>
            </a:r>
            <a:r>
              <a:rPr lang="en-US" b="1" dirty="0"/>
              <a:t>Function Library</a:t>
            </a:r>
            <a:r>
              <a:rPr lang="en-US" dirty="0"/>
              <a:t> on the </a:t>
            </a:r>
            <a:r>
              <a:rPr lang="en-US" b="1" dirty="0"/>
              <a:t>Formulas</a:t>
            </a:r>
            <a:r>
              <a:rPr lang="en-US" dirty="0"/>
              <a:t> tab to browse functions by category, including </a:t>
            </a:r>
            <a:r>
              <a:rPr lang="en-US" b="1" dirty="0"/>
              <a:t>Financial</a:t>
            </a:r>
            <a:r>
              <a:rPr lang="en-US" dirty="0"/>
              <a:t>, </a:t>
            </a:r>
            <a:r>
              <a:rPr lang="en-US" b="1" dirty="0"/>
              <a:t>Logical</a:t>
            </a:r>
            <a:r>
              <a:rPr lang="en-US" dirty="0"/>
              <a:t>, </a:t>
            </a:r>
            <a:r>
              <a:rPr lang="en-US" b="1" dirty="0"/>
              <a:t>Text</a:t>
            </a:r>
            <a:r>
              <a:rPr lang="en-US" dirty="0"/>
              <a:t>, and </a:t>
            </a:r>
            <a:r>
              <a:rPr lang="en-US" b="1" dirty="0"/>
              <a:t>Date &amp; Time</a:t>
            </a:r>
            <a:r>
              <a:rPr lang="en-US" dirty="0"/>
              <a:t>.</a:t>
            </a:r>
          </a:p>
        </p:txBody>
      </p:sp>
    </p:spTree>
    <p:extLst>
      <p:ext uri="{BB962C8B-B14F-4D97-AF65-F5344CB8AC3E}">
        <p14:creationId xmlns:p14="http://schemas.microsoft.com/office/powerpoint/2010/main" val="3072375566"/>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The Function Library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To access the Function Library, select the </a:t>
            </a:r>
            <a:r>
              <a:rPr lang="en-US" b="1" dirty="0"/>
              <a:t>Formulas</a:t>
            </a:r>
            <a:r>
              <a:rPr lang="en-US" dirty="0"/>
              <a:t> tab on the </a:t>
            </a:r>
            <a:r>
              <a:rPr lang="en-US" b="1" dirty="0"/>
              <a:t>Ribbon</a:t>
            </a:r>
            <a:r>
              <a:rPr lang="en-US" dirty="0"/>
              <a:t>. Look for the </a:t>
            </a:r>
            <a:r>
              <a:rPr lang="en-US" b="1" dirty="0"/>
              <a:t>Function Library </a:t>
            </a:r>
            <a:r>
              <a:rPr lang="en-US" dirty="0"/>
              <a:t>group.</a:t>
            </a:r>
          </a:p>
        </p:txBody>
      </p:sp>
      <p:pic>
        <p:nvPicPr>
          <p:cNvPr id="5" name="Picture 4">
            <a:extLst>
              <a:ext uri="{FF2B5EF4-FFF2-40B4-BE49-F238E27FC236}">
                <a16:creationId xmlns:a16="http://schemas.microsoft.com/office/drawing/2014/main" id="{927369C7-162A-4132-914A-4303E6DE84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1988840"/>
            <a:ext cx="8033370" cy="4410202"/>
          </a:xfrm>
          <a:prstGeom prst="rect">
            <a:avLst/>
          </a:prstGeom>
        </p:spPr>
      </p:pic>
    </p:spTree>
    <p:extLst>
      <p:ext uri="{BB962C8B-B14F-4D97-AF65-F5344CB8AC3E}">
        <p14:creationId xmlns:p14="http://schemas.microsoft.com/office/powerpoint/2010/main" val="1281748202"/>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insert a function from the Function Library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endParaRPr lang="en-US" dirty="0"/>
          </a:p>
          <a:p>
            <a:pPr algn="just" fontAlgn="base"/>
            <a:r>
              <a:rPr lang="en-US" dirty="0"/>
              <a:t>In the example below, we'll use the COUNTA function to count the total number of items in the </a:t>
            </a:r>
            <a:r>
              <a:rPr lang="en-US" b="1" dirty="0"/>
              <a:t>Items</a:t>
            </a:r>
            <a:r>
              <a:rPr lang="en-US" dirty="0"/>
              <a:t> column. </a:t>
            </a:r>
          </a:p>
          <a:p>
            <a:pPr algn="just" fontAlgn="base"/>
            <a:endParaRPr lang="en-US" dirty="0"/>
          </a:p>
          <a:p>
            <a:pPr algn="just" fontAlgn="base"/>
            <a:r>
              <a:rPr lang="en-US" dirty="0"/>
              <a:t>Unlike COUNT, </a:t>
            </a:r>
            <a:r>
              <a:rPr lang="en-US" b="1" dirty="0"/>
              <a:t>COUNTA</a:t>
            </a:r>
            <a:r>
              <a:rPr lang="en-US" dirty="0"/>
              <a:t> can be used to tally cells that contain data of any kind, not just numerical data.</a:t>
            </a:r>
          </a:p>
        </p:txBody>
      </p:sp>
    </p:spTree>
    <p:extLst>
      <p:ext uri="{BB962C8B-B14F-4D97-AF65-F5344CB8AC3E}">
        <p14:creationId xmlns:p14="http://schemas.microsoft.com/office/powerpoint/2010/main" val="4206622795"/>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insert a function from the Function Library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Select the </a:t>
            </a:r>
            <a:r>
              <a:rPr lang="en-US" b="1" dirty="0"/>
              <a:t>cell</a:t>
            </a:r>
            <a:r>
              <a:rPr lang="en-US" dirty="0"/>
              <a:t> that will contain the function. In our example, we'll select cell </a:t>
            </a:r>
            <a:r>
              <a:rPr lang="en-US" b="1" dirty="0"/>
              <a:t>B17</a:t>
            </a:r>
            <a:r>
              <a:rPr lang="en-US" dirty="0"/>
              <a:t>.</a:t>
            </a:r>
          </a:p>
        </p:txBody>
      </p:sp>
      <p:pic>
        <p:nvPicPr>
          <p:cNvPr id="5" name="Picture 4">
            <a:extLst>
              <a:ext uri="{FF2B5EF4-FFF2-40B4-BE49-F238E27FC236}">
                <a16:creationId xmlns:a16="http://schemas.microsoft.com/office/drawing/2014/main" id="{4BC98D5D-6EA3-45B2-81C9-76F8FA3F7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6375" y="1556792"/>
            <a:ext cx="6191250" cy="5184576"/>
          </a:xfrm>
          <a:prstGeom prst="rect">
            <a:avLst/>
          </a:prstGeom>
        </p:spPr>
      </p:pic>
    </p:spTree>
    <p:extLst>
      <p:ext uri="{BB962C8B-B14F-4D97-AF65-F5344CB8AC3E}">
        <p14:creationId xmlns:p14="http://schemas.microsoft.com/office/powerpoint/2010/main" val="3996677960"/>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insert a function from the Function Library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Click the </a:t>
            </a:r>
            <a:r>
              <a:rPr lang="en-US" b="1" dirty="0"/>
              <a:t>Formulas</a:t>
            </a:r>
            <a:r>
              <a:rPr lang="en-US" dirty="0"/>
              <a:t> tab on the </a:t>
            </a:r>
            <a:r>
              <a:rPr lang="en-US" b="1" dirty="0"/>
              <a:t>Ribbon</a:t>
            </a:r>
            <a:r>
              <a:rPr lang="en-US" dirty="0"/>
              <a:t> to access the </a:t>
            </a:r>
            <a:r>
              <a:rPr lang="en-US" b="1" dirty="0"/>
              <a:t>Function Library</a:t>
            </a:r>
            <a:r>
              <a:rPr lang="en-US" dirty="0"/>
              <a:t>.</a:t>
            </a:r>
          </a:p>
          <a:p>
            <a:pPr algn="just" fontAlgn="base"/>
            <a:r>
              <a:rPr lang="en-US" dirty="0"/>
              <a:t>From the </a:t>
            </a:r>
            <a:r>
              <a:rPr lang="en-US" b="1" dirty="0"/>
              <a:t>Function Library </a:t>
            </a:r>
            <a:r>
              <a:rPr lang="en-US" dirty="0"/>
              <a:t>group, select the desired </a:t>
            </a:r>
            <a:r>
              <a:rPr lang="en-US" b="1" dirty="0"/>
              <a:t>function category</a:t>
            </a:r>
            <a:r>
              <a:rPr lang="en-US" dirty="0"/>
              <a:t>. In our example, we'll choose </a:t>
            </a:r>
            <a:r>
              <a:rPr lang="en-US" b="1" dirty="0"/>
              <a:t>More Functions</a:t>
            </a:r>
            <a:r>
              <a:rPr lang="en-US" dirty="0"/>
              <a:t>, then hover the mouse over </a:t>
            </a:r>
            <a:r>
              <a:rPr lang="en-US" b="1" dirty="0"/>
              <a:t>Statistical</a:t>
            </a:r>
            <a:r>
              <a:rPr lang="en-US" dirty="0"/>
              <a:t>.</a:t>
            </a:r>
          </a:p>
        </p:txBody>
      </p:sp>
      <p:pic>
        <p:nvPicPr>
          <p:cNvPr id="6" name="Picture 5">
            <a:extLst>
              <a:ext uri="{FF2B5EF4-FFF2-40B4-BE49-F238E27FC236}">
                <a16:creationId xmlns:a16="http://schemas.microsoft.com/office/drawing/2014/main" id="{D90ECFE0-F0BE-4C6C-BC58-FEE30EC9F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5776" y="3429000"/>
            <a:ext cx="6191250" cy="3384376"/>
          </a:xfrm>
          <a:prstGeom prst="rect">
            <a:avLst/>
          </a:prstGeom>
        </p:spPr>
      </p:pic>
    </p:spTree>
    <p:extLst>
      <p:ext uri="{BB962C8B-B14F-4D97-AF65-F5344CB8AC3E}">
        <p14:creationId xmlns:p14="http://schemas.microsoft.com/office/powerpoint/2010/main" val="1752221037"/>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insert a function from the Function Library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Select the </a:t>
            </a:r>
            <a:r>
              <a:rPr lang="en-US" b="1" dirty="0"/>
              <a:t>desired function </a:t>
            </a:r>
            <a:r>
              <a:rPr lang="en-US" dirty="0"/>
              <a:t>from the drop-down menu. In our example, we'll select the </a:t>
            </a:r>
            <a:r>
              <a:rPr lang="en-US" b="1" dirty="0"/>
              <a:t>COUNTA function</a:t>
            </a:r>
            <a:r>
              <a:rPr lang="en-US" dirty="0"/>
              <a:t>, which will count the number of cells in the </a:t>
            </a:r>
            <a:r>
              <a:rPr lang="en-US" b="1" dirty="0"/>
              <a:t>Items</a:t>
            </a:r>
            <a:r>
              <a:rPr lang="en-US" dirty="0"/>
              <a:t> column that are not empty.</a:t>
            </a:r>
          </a:p>
        </p:txBody>
      </p:sp>
      <p:pic>
        <p:nvPicPr>
          <p:cNvPr id="5" name="Picture 4">
            <a:extLst>
              <a:ext uri="{FF2B5EF4-FFF2-40B4-BE49-F238E27FC236}">
                <a16:creationId xmlns:a16="http://schemas.microsoft.com/office/drawing/2014/main" id="{B1662B6C-53EB-4096-B3C7-DAE18B3F9D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6375" y="2492896"/>
            <a:ext cx="6191250" cy="4365104"/>
          </a:xfrm>
          <a:prstGeom prst="rect">
            <a:avLst/>
          </a:prstGeom>
        </p:spPr>
      </p:pic>
    </p:spTree>
    <p:extLst>
      <p:ext uri="{BB962C8B-B14F-4D97-AF65-F5344CB8AC3E}">
        <p14:creationId xmlns:p14="http://schemas.microsoft.com/office/powerpoint/2010/main" val="1112633688"/>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insert a function from the Function Library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The </a:t>
            </a:r>
            <a:r>
              <a:rPr lang="en-US" b="1" dirty="0"/>
              <a:t>Function Arguments </a:t>
            </a:r>
            <a:r>
              <a:rPr lang="en-US" dirty="0"/>
              <a:t>dialog box will appear. Select the </a:t>
            </a:r>
            <a:r>
              <a:rPr lang="en-US" b="1" dirty="0"/>
              <a:t>Value1</a:t>
            </a:r>
            <a:r>
              <a:rPr lang="en-US" dirty="0"/>
              <a:t> field, then enter or select the desired cells. In our example, we'll enter the cell range </a:t>
            </a:r>
            <a:r>
              <a:rPr lang="en-US" b="1" dirty="0"/>
              <a:t>A3:A12</a:t>
            </a:r>
            <a:r>
              <a:rPr lang="en-US" dirty="0"/>
              <a:t>. You can continue to add arguments in the </a:t>
            </a:r>
            <a:r>
              <a:rPr lang="en-US" b="1" dirty="0"/>
              <a:t>Value2</a:t>
            </a:r>
            <a:r>
              <a:rPr lang="en-US" dirty="0"/>
              <a:t> field, but in this case we only want to count the number of cells in the cell range </a:t>
            </a:r>
            <a:r>
              <a:rPr lang="en-US" b="1" dirty="0"/>
              <a:t>A3:A12</a:t>
            </a:r>
            <a:r>
              <a:rPr lang="en-US" dirty="0"/>
              <a:t>.</a:t>
            </a:r>
          </a:p>
          <a:p>
            <a:pPr algn="just" fontAlgn="base"/>
            <a:r>
              <a:rPr lang="en-US" dirty="0"/>
              <a:t>When you're satisfied, click </a:t>
            </a:r>
            <a:r>
              <a:rPr lang="en-US" b="1" dirty="0"/>
              <a:t>OK</a:t>
            </a:r>
            <a:r>
              <a:rPr lang="en-US" dirty="0"/>
              <a:t>.</a:t>
            </a:r>
          </a:p>
        </p:txBody>
      </p:sp>
      <p:pic>
        <p:nvPicPr>
          <p:cNvPr id="6" name="Picture 5">
            <a:extLst>
              <a:ext uri="{FF2B5EF4-FFF2-40B4-BE49-F238E27FC236}">
                <a16:creationId xmlns:a16="http://schemas.microsoft.com/office/drawing/2014/main" id="{D63BA5C2-B34F-4730-9E35-9E958D7009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0" y="4288837"/>
            <a:ext cx="5667375" cy="2564904"/>
          </a:xfrm>
          <a:prstGeom prst="rect">
            <a:avLst/>
          </a:prstGeom>
        </p:spPr>
      </p:pic>
    </p:spTree>
    <p:extLst>
      <p:ext uri="{BB962C8B-B14F-4D97-AF65-F5344CB8AC3E}">
        <p14:creationId xmlns:p14="http://schemas.microsoft.com/office/powerpoint/2010/main" val="2329133817"/>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insert a function from the Function Library</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The function will be </a:t>
            </a:r>
            <a:r>
              <a:rPr lang="en-US" b="1" dirty="0"/>
              <a:t>calculated</a:t>
            </a:r>
            <a:r>
              <a:rPr lang="en-US" dirty="0"/>
              <a:t>, and the </a:t>
            </a:r>
            <a:r>
              <a:rPr lang="en-US" b="1" dirty="0"/>
              <a:t>result</a:t>
            </a:r>
            <a:r>
              <a:rPr lang="en-US" dirty="0"/>
              <a:t> will appear in the cell. In our example, the result shows that </a:t>
            </a:r>
            <a:r>
              <a:rPr lang="en-US" b="1" dirty="0"/>
              <a:t>10 items </a:t>
            </a:r>
            <a:r>
              <a:rPr lang="en-US" dirty="0"/>
              <a:t>were ordered.</a:t>
            </a:r>
          </a:p>
        </p:txBody>
      </p:sp>
      <p:pic>
        <p:nvPicPr>
          <p:cNvPr id="5" name="Picture 4">
            <a:extLst>
              <a:ext uri="{FF2B5EF4-FFF2-40B4-BE49-F238E27FC236}">
                <a16:creationId xmlns:a16="http://schemas.microsoft.com/office/drawing/2014/main" id="{70AC6BFA-4D13-4FE5-8917-E066029A5D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6375" y="2204864"/>
            <a:ext cx="6191250" cy="4653136"/>
          </a:xfrm>
          <a:prstGeom prst="rect">
            <a:avLst/>
          </a:prstGeom>
        </p:spPr>
      </p:pic>
    </p:spTree>
    <p:extLst>
      <p:ext uri="{BB962C8B-B14F-4D97-AF65-F5344CB8AC3E}">
        <p14:creationId xmlns:p14="http://schemas.microsoft.com/office/powerpoint/2010/main" val="2216990095"/>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use the Insert Function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In the example below, we want to find a function that will calculate the </a:t>
            </a:r>
            <a:r>
              <a:rPr lang="en-US" b="1" dirty="0"/>
              <a:t>number of business days </a:t>
            </a:r>
            <a:r>
              <a:rPr lang="en-US" dirty="0"/>
              <a:t>it took to receive items after they were ordered. </a:t>
            </a:r>
          </a:p>
          <a:p>
            <a:pPr algn="just" fontAlgn="base"/>
            <a:endParaRPr lang="en-US" dirty="0"/>
          </a:p>
          <a:p>
            <a:pPr algn="just" fontAlgn="base"/>
            <a:r>
              <a:rPr lang="en-US" dirty="0"/>
              <a:t>We'll use the dates in columns </a:t>
            </a:r>
            <a:r>
              <a:rPr lang="en-US" b="1" dirty="0"/>
              <a:t>E</a:t>
            </a:r>
            <a:r>
              <a:rPr lang="en-US" dirty="0"/>
              <a:t> and </a:t>
            </a:r>
            <a:r>
              <a:rPr lang="en-US" b="1" dirty="0"/>
              <a:t>F</a:t>
            </a:r>
            <a:r>
              <a:rPr lang="en-US" dirty="0"/>
              <a:t> to calculate the delivery time in column </a:t>
            </a:r>
            <a:r>
              <a:rPr lang="en-US" b="1" dirty="0"/>
              <a:t>G</a:t>
            </a:r>
            <a:r>
              <a:rPr lang="en-US" dirty="0"/>
              <a:t>.</a:t>
            </a:r>
          </a:p>
        </p:txBody>
      </p:sp>
    </p:spTree>
    <p:extLst>
      <p:ext uri="{BB962C8B-B14F-4D97-AF65-F5344CB8AC3E}">
        <p14:creationId xmlns:p14="http://schemas.microsoft.com/office/powerpoint/2010/main" val="2449865389"/>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use the Insert Function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Select the </a:t>
            </a:r>
            <a:r>
              <a:rPr lang="en-US" b="1" dirty="0"/>
              <a:t>cell</a:t>
            </a:r>
            <a:r>
              <a:rPr lang="en-US" dirty="0"/>
              <a:t> that will contain the function. In our example, we'll select cell </a:t>
            </a:r>
            <a:r>
              <a:rPr lang="en-US" b="1" dirty="0"/>
              <a:t>G3</a:t>
            </a:r>
            <a:r>
              <a:rPr lang="en-US" dirty="0"/>
              <a:t>.</a:t>
            </a:r>
          </a:p>
        </p:txBody>
      </p:sp>
      <p:pic>
        <p:nvPicPr>
          <p:cNvPr id="5" name="Picture 4">
            <a:extLst>
              <a:ext uri="{FF2B5EF4-FFF2-40B4-BE49-F238E27FC236}">
                <a16:creationId xmlns:a16="http://schemas.microsoft.com/office/drawing/2014/main" id="{9ADABAA2-751E-449F-9EE9-D58D29B7FC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1628800"/>
            <a:ext cx="7776864" cy="4248472"/>
          </a:xfrm>
          <a:prstGeom prst="rect">
            <a:avLst/>
          </a:prstGeom>
        </p:spPr>
      </p:pic>
    </p:spTree>
    <p:extLst>
      <p:ext uri="{BB962C8B-B14F-4D97-AF65-F5344CB8AC3E}">
        <p14:creationId xmlns:p14="http://schemas.microsoft.com/office/powerpoint/2010/main" val="3002240776"/>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use the Insert Function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Click the </a:t>
            </a:r>
            <a:r>
              <a:rPr lang="en-US" b="1" dirty="0"/>
              <a:t>Formulas</a:t>
            </a:r>
            <a:r>
              <a:rPr lang="en-US" dirty="0"/>
              <a:t> tab on the </a:t>
            </a:r>
            <a:r>
              <a:rPr lang="en-US" b="1" dirty="0"/>
              <a:t>Ribbon</a:t>
            </a:r>
            <a:r>
              <a:rPr lang="en-US" dirty="0"/>
              <a:t>, then click the </a:t>
            </a:r>
            <a:r>
              <a:rPr lang="en-US" b="1" dirty="0"/>
              <a:t>Insert Function </a:t>
            </a:r>
            <a:r>
              <a:rPr lang="en-US" dirty="0"/>
              <a:t>command.</a:t>
            </a:r>
          </a:p>
        </p:txBody>
      </p:sp>
      <p:pic>
        <p:nvPicPr>
          <p:cNvPr id="6" name="Picture 5">
            <a:extLst>
              <a:ext uri="{FF2B5EF4-FFF2-40B4-BE49-F238E27FC236}">
                <a16:creationId xmlns:a16="http://schemas.microsoft.com/office/drawing/2014/main" id="{C0460005-9F4F-4983-B8A5-1ACB669B5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1772816"/>
            <a:ext cx="7560840" cy="4104456"/>
          </a:xfrm>
          <a:prstGeom prst="rect">
            <a:avLst/>
          </a:prstGeom>
        </p:spPr>
      </p:pic>
    </p:spTree>
    <p:extLst>
      <p:ext uri="{BB962C8B-B14F-4D97-AF65-F5344CB8AC3E}">
        <p14:creationId xmlns:p14="http://schemas.microsoft.com/office/powerpoint/2010/main" val="329944959"/>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use the Insert Function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fontAlgn="base"/>
            <a:r>
              <a:rPr lang="en-US" dirty="0"/>
              <a:t>The </a:t>
            </a:r>
            <a:r>
              <a:rPr lang="en-US" b="1" dirty="0"/>
              <a:t>Insert Function</a:t>
            </a:r>
            <a:r>
              <a:rPr lang="en-US" dirty="0"/>
              <a:t> dialog box will appear.</a:t>
            </a:r>
          </a:p>
          <a:p>
            <a:pPr fontAlgn="base"/>
            <a:r>
              <a:rPr lang="en-US" dirty="0"/>
              <a:t>Type a few </a:t>
            </a:r>
            <a:r>
              <a:rPr lang="en-US" b="1" dirty="0"/>
              <a:t>keywords </a:t>
            </a:r>
            <a:r>
              <a:rPr lang="en-US" dirty="0"/>
              <a:t>describing the calculation you want the function to perform, then click </a:t>
            </a:r>
            <a:r>
              <a:rPr lang="en-US" b="1" dirty="0"/>
              <a:t>Go</a:t>
            </a:r>
            <a:r>
              <a:rPr lang="en-US" dirty="0"/>
              <a:t>. In our example, we'll type </a:t>
            </a:r>
            <a:r>
              <a:rPr lang="en-US" b="1" dirty="0"/>
              <a:t>count days</a:t>
            </a:r>
            <a:r>
              <a:rPr lang="en-US" dirty="0"/>
              <a:t>, but you can also search by selecting a </a:t>
            </a:r>
            <a:r>
              <a:rPr lang="en-US" b="1" dirty="0"/>
              <a:t>category</a:t>
            </a:r>
            <a:r>
              <a:rPr lang="en-US" dirty="0"/>
              <a:t> from the drop-down list.</a:t>
            </a:r>
          </a:p>
        </p:txBody>
      </p:sp>
      <p:pic>
        <p:nvPicPr>
          <p:cNvPr id="5" name="Picture 4">
            <a:extLst>
              <a:ext uri="{FF2B5EF4-FFF2-40B4-BE49-F238E27FC236}">
                <a16:creationId xmlns:a16="http://schemas.microsoft.com/office/drawing/2014/main" id="{52C5ED95-9B96-47DF-9F13-8EA6CE934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1840" y="3140968"/>
            <a:ext cx="3990975" cy="3600400"/>
          </a:xfrm>
          <a:prstGeom prst="rect">
            <a:avLst/>
          </a:prstGeom>
        </p:spPr>
      </p:pic>
    </p:spTree>
    <p:extLst>
      <p:ext uri="{BB962C8B-B14F-4D97-AF65-F5344CB8AC3E}">
        <p14:creationId xmlns:p14="http://schemas.microsoft.com/office/powerpoint/2010/main" val="3149958842"/>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use the Insert Function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fontAlgn="base"/>
            <a:r>
              <a:rPr lang="en-US" dirty="0"/>
              <a:t>Review the </a:t>
            </a:r>
            <a:r>
              <a:rPr lang="en-US" b="1" dirty="0"/>
              <a:t>results</a:t>
            </a:r>
            <a:r>
              <a:rPr lang="en-US" dirty="0"/>
              <a:t> to find the desired function, then click </a:t>
            </a:r>
            <a:r>
              <a:rPr lang="en-US" b="1" dirty="0"/>
              <a:t>OK</a:t>
            </a:r>
            <a:r>
              <a:rPr lang="en-US" dirty="0"/>
              <a:t>. </a:t>
            </a:r>
          </a:p>
          <a:p>
            <a:pPr fontAlgn="base"/>
            <a:r>
              <a:rPr lang="en-US" dirty="0"/>
              <a:t>In our example, we'll choose </a:t>
            </a:r>
            <a:r>
              <a:rPr lang="en-US" b="1" dirty="0"/>
              <a:t>NETWORKDAYS</a:t>
            </a:r>
            <a:r>
              <a:rPr lang="en-US" dirty="0"/>
              <a:t>, which will count the number of business days between the ordered date and received date.</a:t>
            </a:r>
          </a:p>
        </p:txBody>
      </p:sp>
      <p:pic>
        <p:nvPicPr>
          <p:cNvPr id="6" name="Picture 5">
            <a:extLst>
              <a:ext uri="{FF2B5EF4-FFF2-40B4-BE49-F238E27FC236}">
                <a16:creationId xmlns:a16="http://schemas.microsoft.com/office/drawing/2014/main" id="{1AB33287-DB50-4958-9133-6EDDA33883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5816" y="3212976"/>
            <a:ext cx="3990975" cy="3514725"/>
          </a:xfrm>
          <a:prstGeom prst="rect">
            <a:avLst/>
          </a:prstGeom>
        </p:spPr>
      </p:pic>
    </p:spTree>
    <p:extLst>
      <p:ext uri="{BB962C8B-B14F-4D97-AF65-F5344CB8AC3E}">
        <p14:creationId xmlns:p14="http://schemas.microsoft.com/office/powerpoint/2010/main" val="3438105009"/>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use the Insert Function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fontAlgn="base"/>
            <a:r>
              <a:rPr lang="en-US" dirty="0"/>
              <a:t>The </a:t>
            </a:r>
            <a:r>
              <a:rPr lang="en-US" b="1" dirty="0"/>
              <a:t>Function Arguments</a:t>
            </a:r>
            <a:r>
              <a:rPr lang="en-US" dirty="0"/>
              <a:t> dialog box will appear. From here, you'll be able to enter or select the cells that will make up the arguments in the function. In our example, we'll enter </a:t>
            </a:r>
            <a:r>
              <a:rPr lang="en-US" b="1" dirty="0"/>
              <a:t>E3</a:t>
            </a:r>
            <a:r>
              <a:rPr lang="en-US" dirty="0"/>
              <a:t> in the</a:t>
            </a:r>
            <a:r>
              <a:rPr lang="en-US" b="1" dirty="0"/>
              <a:t> </a:t>
            </a:r>
            <a:r>
              <a:rPr lang="en-US" b="1" dirty="0" err="1"/>
              <a:t>Start_date</a:t>
            </a:r>
            <a:r>
              <a:rPr lang="en-US" dirty="0"/>
              <a:t> field and </a:t>
            </a:r>
            <a:r>
              <a:rPr lang="en-US" b="1" dirty="0"/>
              <a:t>F3</a:t>
            </a:r>
            <a:r>
              <a:rPr lang="en-US" dirty="0"/>
              <a:t> in the </a:t>
            </a:r>
            <a:r>
              <a:rPr lang="en-US" b="1" dirty="0" err="1"/>
              <a:t>End_date</a:t>
            </a:r>
            <a:r>
              <a:rPr lang="en-US" dirty="0"/>
              <a:t> field.</a:t>
            </a:r>
          </a:p>
          <a:p>
            <a:pPr fontAlgn="base"/>
            <a:r>
              <a:rPr lang="en-US" dirty="0"/>
              <a:t>When you're satisfied, click </a:t>
            </a:r>
            <a:r>
              <a:rPr lang="en-US" b="1" dirty="0"/>
              <a:t>OK</a:t>
            </a:r>
            <a:r>
              <a:rPr lang="en-US" dirty="0"/>
              <a:t>.</a:t>
            </a:r>
          </a:p>
        </p:txBody>
      </p:sp>
      <p:pic>
        <p:nvPicPr>
          <p:cNvPr id="5" name="Picture 4">
            <a:extLst>
              <a:ext uri="{FF2B5EF4-FFF2-40B4-BE49-F238E27FC236}">
                <a16:creationId xmlns:a16="http://schemas.microsoft.com/office/drawing/2014/main" id="{F87588EC-4C1D-478C-AA16-827DACDE8D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3679416"/>
            <a:ext cx="6192688" cy="3061952"/>
          </a:xfrm>
          <a:prstGeom prst="rect">
            <a:avLst/>
          </a:prstGeom>
        </p:spPr>
      </p:pic>
    </p:spTree>
    <p:extLst>
      <p:ext uri="{BB962C8B-B14F-4D97-AF65-F5344CB8AC3E}">
        <p14:creationId xmlns:p14="http://schemas.microsoft.com/office/powerpoint/2010/main" val="3079264384"/>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use the Insert Function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fontAlgn="base"/>
            <a:r>
              <a:rPr lang="en-US" dirty="0"/>
              <a:t>The function will be</a:t>
            </a:r>
            <a:r>
              <a:rPr lang="en-US" b="1" dirty="0"/>
              <a:t> calculated</a:t>
            </a:r>
            <a:r>
              <a:rPr lang="en-US" dirty="0"/>
              <a:t>, and the </a:t>
            </a:r>
            <a:r>
              <a:rPr lang="en-US" b="1" dirty="0"/>
              <a:t>result</a:t>
            </a:r>
            <a:r>
              <a:rPr lang="en-US" dirty="0"/>
              <a:t> will appear in the cell. In our example, the result shows that it took </a:t>
            </a:r>
            <a:r>
              <a:rPr lang="en-US" b="1" dirty="0"/>
              <a:t>four business days</a:t>
            </a:r>
            <a:r>
              <a:rPr lang="en-US" dirty="0"/>
              <a:t> to receive the order.</a:t>
            </a:r>
          </a:p>
        </p:txBody>
      </p:sp>
      <p:pic>
        <p:nvPicPr>
          <p:cNvPr id="6" name="Picture 5">
            <a:extLst>
              <a:ext uri="{FF2B5EF4-FFF2-40B4-BE49-F238E27FC236}">
                <a16:creationId xmlns:a16="http://schemas.microsoft.com/office/drawing/2014/main" id="{016C8048-BB0A-4D71-B8C0-733A3F2DFB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2060848"/>
            <a:ext cx="8496944" cy="4464496"/>
          </a:xfrm>
          <a:prstGeom prst="rect">
            <a:avLst/>
          </a:prstGeom>
        </p:spPr>
      </p:pic>
    </p:spTree>
    <p:extLst>
      <p:ext uri="{BB962C8B-B14F-4D97-AF65-F5344CB8AC3E}">
        <p14:creationId xmlns:p14="http://schemas.microsoft.com/office/powerpoint/2010/main" val="55175715"/>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20688"/>
          </a:xfrm>
        </p:spPr>
        <p:txBody>
          <a:bodyPr>
            <a:normAutofit/>
          </a:bodyPr>
          <a:lstStyle/>
          <a:p>
            <a:pPr algn="ctr"/>
            <a:r>
              <a:rPr lang="en-US" sz="3200" dirty="0"/>
              <a:t>To use the Insert Function command</a:t>
            </a:r>
            <a:endParaRPr lang="en-GB" sz="3200"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Like formulas, functions can be copied to adjacent cells. Simply select the </a:t>
            </a:r>
            <a:r>
              <a:rPr lang="en-US" b="1" dirty="0"/>
              <a:t>cell</a:t>
            </a:r>
            <a:r>
              <a:rPr lang="en-US" dirty="0"/>
              <a:t> that contains the function, then click and drag the </a:t>
            </a:r>
            <a:r>
              <a:rPr lang="en-US" b="1" dirty="0"/>
              <a:t>fill handle </a:t>
            </a:r>
            <a:r>
              <a:rPr lang="en-US" dirty="0"/>
              <a:t>over the cells you want to fill. The function will be copied, and values for those cells will be calculated relative to their rows or columns.</a:t>
            </a:r>
          </a:p>
        </p:txBody>
      </p:sp>
      <p:pic>
        <p:nvPicPr>
          <p:cNvPr id="5" name="Picture 4">
            <a:extLst>
              <a:ext uri="{FF2B5EF4-FFF2-40B4-BE49-F238E27FC236}">
                <a16:creationId xmlns:a16="http://schemas.microsoft.com/office/drawing/2014/main" id="{8EFC05D0-F6F2-48DB-AF27-8215979EC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3429000"/>
            <a:ext cx="6810375" cy="3429000"/>
          </a:xfrm>
          <a:prstGeom prst="rect">
            <a:avLst/>
          </a:prstGeom>
        </p:spPr>
      </p:pic>
    </p:spTree>
    <p:extLst>
      <p:ext uri="{BB962C8B-B14F-4D97-AF65-F5344CB8AC3E}">
        <p14:creationId xmlns:p14="http://schemas.microsoft.com/office/powerpoint/2010/main" val="4027885199"/>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a:p>
          <a:p>
            <a:pPr algn="ctr">
              <a:buFont typeface="Arial" charset="0"/>
              <a:buNone/>
            </a:pPr>
            <a:endParaRPr lang="en-US" b="1"/>
          </a:p>
          <a:p>
            <a:pPr algn="ctr">
              <a:buFont typeface="Arial" charset="0"/>
              <a:buNone/>
            </a:pPr>
            <a:endParaRPr lang="en-US" sz="3200" b="1"/>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a:p>
          <a:p>
            <a:pPr algn="ctr">
              <a:buFont typeface="Arial" charset="0"/>
              <a:buNone/>
            </a:pPr>
            <a:endParaRPr lang="en-US" b="1"/>
          </a:p>
          <a:p>
            <a:pPr algn="ctr">
              <a:buFont typeface="Arial" charset="0"/>
              <a:buNone/>
            </a:pPr>
            <a:endParaRPr lang="en-US" sz="3200" b="1"/>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13899</TotalTime>
  <Words>4828</Words>
  <Application>Microsoft Office PowerPoint</Application>
  <PresentationFormat>On-screen Show (4:3)</PresentationFormat>
  <Paragraphs>451</Paragraphs>
  <Slides>98</Slides>
  <Notes>98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98</vt:i4>
      </vt:variant>
    </vt:vector>
  </HeadingPairs>
  <TitlesOfParts>
    <vt:vector size="103" baseType="lpstr">
      <vt:lpstr>Arial</vt:lpstr>
      <vt:lpstr>Arial Black</vt:lpstr>
      <vt:lpstr>Calibri</vt:lpstr>
      <vt:lpstr>Wingdings</vt:lpstr>
      <vt:lpstr>Office Theme</vt:lpstr>
      <vt:lpstr>PowerPoint Presentation</vt:lpstr>
      <vt:lpstr>PowerPoint Presentation</vt:lpstr>
      <vt:lpstr>Objectives Overview</vt:lpstr>
      <vt:lpstr>Excel - Introduction to Formulas</vt:lpstr>
      <vt:lpstr>Mathematical operators</vt:lpstr>
      <vt:lpstr>Understanding cell references</vt:lpstr>
      <vt:lpstr>Understanding cell references</vt:lpstr>
      <vt:lpstr>Understanding cell references</vt:lpstr>
      <vt:lpstr>Understanding cell references</vt:lpstr>
      <vt:lpstr>To create a formula</vt:lpstr>
      <vt:lpstr>To create a formula</vt:lpstr>
      <vt:lpstr>To create a formula</vt:lpstr>
      <vt:lpstr>To create a formula</vt:lpstr>
      <vt:lpstr>To create a formula</vt:lpstr>
      <vt:lpstr>To create a formula</vt:lpstr>
      <vt:lpstr>Modifying values with cell references</vt:lpstr>
      <vt:lpstr>To create a formula using the point-and-click method</vt:lpstr>
      <vt:lpstr>To create a formula using the point-and-click method</vt:lpstr>
      <vt:lpstr>To create a formula using the point-and-click method</vt:lpstr>
      <vt:lpstr>To create a formula using the point-and-click method</vt:lpstr>
      <vt:lpstr>To create a formula using the point-and-click method</vt:lpstr>
      <vt:lpstr>Copying formulas with the fill handle</vt:lpstr>
      <vt:lpstr>Copying formulas with the fill handle</vt:lpstr>
      <vt:lpstr>Copying formulas with the fill handle</vt:lpstr>
      <vt:lpstr>To edit a formula</vt:lpstr>
      <vt:lpstr>To edit a formula</vt:lpstr>
      <vt:lpstr>To edit a formula</vt:lpstr>
      <vt:lpstr>To edit a formula</vt:lpstr>
      <vt:lpstr>To edit a formula</vt:lpstr>
      <vt:lpstr>To edit a formula</vt:lpstr>
      <vt:lpstr>To edit a formula</vt:lpstr>
      <vt:lpstr>Excel - Creating More Complex Formulas</vt:lpstr>
      <vt:lpstr>The order of operations</vt:lpstr>
      <vt:lpstr>The order of operations</vt:lpstr>
      <vt:lpstr>The order of operations</vt:lpstr>
      <vt:lpstr>The order of operations</vt:lpstr>
      <vt:lpstr>Creating complex formulas</vt:lpstr>
      <vt:lpstr>Creating complex formulas</vt:lpstr>
      <vt:lpstr>Creating complex formulas</vt:lpstr>
      <vt:lpstr>Creating complex formulas</vt:lpstr>
      <vt:lpstr>To create a complex formula using the order of operations</vt:lpstr>
      <vt:lpstr>To create a complex formula using the order of operations</vt:lpstr>
      <vt:lpstr>To create a complex formula using the order of operations</vt:lpstr>
      <vt:lpstr>To create a complex formula using the order of operations</vt:lpstr>
      <vt:lpstr>To create a complex formula using the order of operations</vt:lpstr>
      <vt:lpstr>Excel - Relative and Absolute Cell References</vt:lpstr>
      <vt:lpstr>Relative references</vt:lpstr>
      <vt:lpstr>To create and copy a formula using relative references</vt:lpstr>
      <vt:lpstr>To create and copy a formula using relative references</vt:lpstr>
      <vt:lpstr>To create and copy a formula using relative references</vt:lpstr>
      <vt:lpstr>To create and copy a formula using relative references</vt:lpstr>
      <vt:lpstr>To create and copy a formula using relative references</vt:lpstr>
      <vt:lpstr>To create and copy a formula using relative references</vt:lpstr>
      <vt:lpstr>To create and copy a formula using relative references</vt:lpstr>
      <vt:lpstr>Absolute references</vt:lpstr>
      <vt:lpstr>Absolute references</vt:lpstr>
      <vt:lpstr>To create and copy a formula using absolute references</vt:lpstr>
      <vt:lpstr>To create and copy a formula using absolute references</vt:lpstr>
      <vt:lpstr>To create and copy a formula using absolute references</vt:lpstr>
      <vt:lpstr>To create and copy a formula using absolute references</vt:lpstr>
      <vt:lpstr>To create and copy a formula using absolute references</vt:lpstr>
      <vt:lpstr>To create and copy a formula using absolute references</vt:lpstr>
      <vt:lpstr>To create and copy a formula using absolute references</vt:lpstr>
      <vt:lpstr>To create and copy a formula using absolute references</vt:lpstr>
      <vt:lpstr>Excel - Functions</vt:lpstr>
      <vt:lpstr>The parts of a function</vt:lpstr>
      <vt:lpstr>Working with arguments</vt:lpstr>
      <vt:lpstr>Working with arguments</vt:lpstr>
      <vt:lpstr>Creating a function</vt:lpstr>
      <vt:lpstr>To create a function using the AutoSum command</vt:lpstr>
      <vt:lpstr>To create a function using the AutoSum command</vt:lpstr>
      <vt:lpstr>To create a function using the AutoSum command</vt:lpstr>
      <vt:lpstr>To create a function using the AutoSum command</vt:lpstr>
      <vt:lpstr>To create a function using the AutoSum command</vt:lpstr>
      <vt:lpstr>To create a function using the AutoSum command</vt:lpstr>
      <vt:lpstr>To enter a function manually</vt:lpstr>
      <vt:lpstr>To enter a function manually</vt:lpstr>
      <vt:lpstr>To enter a function manually</vt:lpstr>
      <vt:lpstr>To enter a function manually</vt:lpstr>
      <vt:lpstr>To enter a function manually</vt:lpstr>
      <vt:lpstr>The Function Library</vt:lpstr>
      <vt:lpstr>The Function Library</vt:lpstr>
      <vt:lpstr>To insert a function from the Function Library</vt:lpstr>
      <vt:lpstr>To insert a function from the Function Library</vt:lpstr>
      <vt:lpstr>To insert a function from the Function Library</vt:lpstr>
      <vt:lpstr>To insert a function from the Function Library</vt:lpstr>
      <vt:lpstr>To insert a function from the Function Library</vt:lpstr>
      <vt:lpstr>To insert a function from the Function Library</vt:lpstr>
      <vt:lpstr>To use the Insert Function command</vt:lpstr>
      <vt:lpstr>To use the Insert Function command</vt:lpstr>
      <vt:lpstr>To use the Insert Function command</vt:lpstr>
      <vt:lpstr>To use the Insert Function command</vt:lpstr>
      <vt:lpstr>To use the Insert Function command</vt:lpstr>
      <vt:lpstr>To use the Insert Function command</vt:lpstr>
      <vt:lpstr>To use the Insert Function command</vt:lpstr>
      <vt:lpstr>To use the Insert Function command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USER</cp:lastModifiedBy>
  <cp:revision>531</cp:revision>
  <dcterms:created xsi:type="dcterms:W3CDTF">2008-12-18T17:11:12Z</dcterms:created>
  <dcterms:modified xsi:type="dcterms:W3CDTF">2023-02-23T09:19:27Z</dcterms:modified>
</cp:coreProperties>
</file>
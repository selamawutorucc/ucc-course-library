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7"/>
  </p:notesMasterIdLst>
  <p:sldIdLst>
    <p:sldId id="260" r:id="rId2"/>
    <p:sldId id="385" r:id="rId3"/>
    <p:sldId id="294" r:id="rId4"/>
    <p:sldId id="264" r:id="rId5"/>
    <p:sldId id="962" r:id="rId6"/>
    <p:sldId id="963" r:id="rId7"/>
    <p:sldId id="964" r:id="rId8"/>
    <p:sldId id="965" r:id="rId9"/>
    <p:sldId id="966" r:id="rId10"/>
    <p:sldId id="967" r:id="rId11"/>
    <p:sldId id="968" r:id="rId12"/>
    <p:sldId id="969" r:id="rId13"/>
    <p:sldId id="970" r:id="rId14"/>
    <p:sldId id="971" r:id="rId15"/>
    <p:sldId id="972" r:id="rId16"/>
    <p:sldId id="973" r:id="rId17"/>
    <p:sldId id="974" r:id="rId18"/>
    <p:sldId id="975" r:id="rId19"/>
    <p:sldId id="976" r:id="rId20"/>
    <p:sldId id="977" r:id="rId21"/>
    <p:sldId id="978" r:id="rId22"/>
    <p:sldId id="979" r:id="rId23"/>
    <p:sldId id="980" r:id="rId24"/>
    <p:sldId id="981" r:id="rId25"/>
    <p:sldId id="982" r:id="rId26"/>
    <p:sldId id="983" r:id="rId27"/>
    <p:sldId id="984" r:id="rId28"/>
    <p:sldId id="985" r:id="rId29"/>
    <p:sldId id="986" r:id="rId30"/>
    <p:sldId id="987" r:id="rId31"/>
    <p:sldId id="988" r:id="rId32"/>
    <p:sldId id="989" r:id="rId33"/>
    <p:sldId id="990" r:id="rId34"/>
    <p:sldId id="991" r:id="rId35"/>
    <p:sldId id="992" r:id="rId36"/>
    <p:sldId id="993" r:id="rId37"/>
    <p:sldId id="994" r:id="rId38"/>
    <p:sldId id="995" r:id="rId39"/>
    <p:sldId id="996" r:id="rId40"/>
    <p:sldId id="997" r:id="rId41"/>
    <p:sldId id="998" r:id="rId42"/>
    <p:sldId id="999" r:id="rId43"/>
    <p:sldId id="1000" r:id="rId44"/>
    <p:sldId id="1001" r:id="rId45"/>
    <p:sldId id="1002" r:id="rId46"/>
    <p:sldId id="1003" r:id="rId47"/>
    <p:sldId id="1004" r:id="rId48"/>
    <p:sldId id="1005" r:id="rId49"/>
    <p:sldId id="1006" r:id="rId50"/>
    <p:sldId id="1007" r:id="rId51"/>
    <p:sldId id="1008" r:id="rId52"/>
    <p:sldId id="1009" r:id="rId53"/>
    <p:sldId id="1010" r:id="rId54"/>
    <p:sldId id="1011" r:id="rId55"/>
    <p:sldId id="1012" r:id="rId56"/>
    <p:sldId id="1013" r:id="rId57"/>
    <p:sldId id="1014" r:id="rId58"/>
    <p:sldId id="1015" r:id="rId59"/>
    <p:sldId id="1016" r:id="rId60"/>
    <p:sldId id="1017" r:id="rId61"/>
    <p:sldId id="1018" r:id="rId62"/>
    <p:sldId id="1019" r:id="rId63"/>
    <p:sldId id="1020" r:id="rId64"/>
    <p:sldId id="1021" r:id="rId65"/>
    <p:sldId id="1022" r:id="rId66"/>
    <p:sldId id="1023" r:id="rId67"/>
    <p:sldId id="1024" r:id="rId68"/>
    <p:sldId id="1025" r:id="rId69"/>
    <p:sldId id="1026" r:id="rId70"/>
    <p:sldId id="1027" r:id="rId71"/>
    <p:sldId id="1028" r:id="rId72"/>
    <p:sldId id="1029" r:id="rId73"/>
    <p:sldId id="1030" r:id="rId74"/>
    <p:sldId id="1031" r:id="rId75"/>
    <p:sldId id="1032" r:id="rId76"/>
    <p:sldId id="1033" r:id="rId77"/>
    <p:sldId id="1034" r:id="rId78"/>
    <p:sldId id="1035" r:id="rId79"/>
    <p:sldId id="1036" r:id="rId80"/>
    <p:sldId id="1037" r:id="rId81"/>
    <p:sldId id="1038" r:id="rId82"/>
    <p:sldId id="1039" r:id="rId83"/>
    <p:sldId id="1040" r:id="rId84"/>
    <p:sldId id="1041" r:id="rId85"/>
    <p:sldId id="1042" r:id="rId86"/>
    <p:sldId id="1043" r:id="rId87"/>
    <p:sldId id="1044" r:id="rId88"/>
    <p:sldId id="1045" r:id="rId89"/>
    <p:sldId id="1046" r:id="rId90"/>
    <p:sldId id="1047" r:id="rId91"/>
    <p:sldId id="1048" r:id="rId92"/>
    <p:sldId id="1049" r:id="rId93"/>
    <p:sldId id="1050" r:id="rId94"/>
    <p:sldId id="1051" r:id="rId95"/>
    <p:sldId id="1052" r:id="rId96"/>
    <p:sldId id="1053" r:id="rId97"/>
    <p:sldId id="1054" r:id="rId98"/>
    <p:sldId id="1055" r:id="rId99"/>
    <p:sldId id="1056" r:id="rId100"/>
    <p:sldId id="1057" r:id="rId101"/>
    <p:sldId id="1058" r:id="rId102"/>
    <p:sldId id="1059" r:id="rId103"/>
    <p:sldId id="1060" r:id="rId104"/>
    <p:sldId id="1061" r:id="rId105"/>
    <p:sldId id="1062" r:id="rId106"/>
    <p:sldId id="1063" r:id="rId107"/>
    <p:sldId id="1064" r:id="rId108"/>
    <p:sldId id="1065" r:id="rId109"/>
    <p:sldId id="1066" r:id="rId110"/>
    <p:sldId id="1067" r:id="rId111"/>
    <p:sldId id="1068" r:id="rId112"/>
    <p:sldId id="1069" r:id="rId113"/>
    <p:sldId id="1070" r:id="rId114"/>
    <p:sldId id="1071" r:id="rId115"/>
    <p:sldId id="1072" r:id="rId116"/>
    <p:sldId id="1073" r:id="rId117"/>
    <p:sldId id="1074" r:id="rId118"/>
    <p:sldId id="1075" r:id="rId119"/>
    <p:sldId id="1076" r:id="rId120"/>
    <p:sldId id="1077" r:id="rId121"/>
    <p:sldId id="1078" r:id="rId122"/>
    <p:sldId id="1079" r:id="rId123"/>
    <p:sldId id="1080" r:id="rId124"/>
    <p:sldId id="1081" r:id="rId125"/>
    <p:sldId id="1082" r:id="rId126"/>
    <p:sldId id="1083" r:id="rId127"/>
    <p:sldId id="1084" r:id="rId128"/>
    <p:sldId id="1085" r:id="rId129"/>
    <p:sldId id="1086" r:id="rId130"/>
    <p:sldId id="1087" r:id="rId131"/>
    <p:sldId id="1088" r:id="rId132"/>
    <p:sldId id="1089" r:id="rId133"/>
    <p:sldId id="1090" r:id="rId134"/>
    <p:sldId id="1092" r:id="rId135"/>
    <p:sldId id="1091" r:id="rId136"/>
    <p:sldId id="1093" r:id="rId137"/>
    <p:sldId id="1094" r:id="rId138"/>
    <p:sldId id="1095" r:id="rId139"/>
    <p:sldId id="1096" r:id="rId140"/>
    <p:sldId id="1097" r:id="rId141"/>
    <p:sldId id="1098" r:id="rId142"/>
    <p:sldId id="1099" r:id="rId143"/>
    <p:sldId id="1100" r:id="rId144"/>
    <p:sldId id="1101" r:id="rId145"/>
    <p:sldId id="1102" r:id="rId146"/>
    <p:sldId id="1103" r:id="rId147"/>
    <p:sldId id="1104" r:id="rId148"/>
    <p:sldId id="1105" r:id="rId149"/>
    <p:sldId id="1106" r:id="rId150"/>
    <p:sldId id="1107" r:id="rId151"/>
    <p:sldId id="1108" r:id="rId152"/>
    <p:sldId id="1109" r:id="rId153"/>
    <p:sldId id="1110" r:id="rId154"/>
    <p:sldId id="440" r:id="rId155"/>
    <p:sldId id="384" r:id="rId1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713" autoAdjust="0"/>
  </p:normalViewPr>
  <p:slideViewPr>
    <p:cSldViewPr>
      <p:cViewPr varScale="1">
        <p:scale>
          <a:sx n="66" d="100"/>
          <a:sy n="66" d="100"/>
        </p:scale>
        <p:origin x="150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7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</a:p>
        <a:p>
          <a:r>
            <a:rPr lang="en-US" dirty="0"/>
            <a:t>Microsoft Excel </a:t>
          </a:r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</dgm:pt>
  </dgm:ptLst>
  <dgm:cxnLst>
    <dgm:cxn modelId="{0B62D86B-A0DA-4B75-8C82-CC0B7B67BE45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F98F3C-4B54-499E-81E4-D4C2F1EE2959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 custT="1"/>
      <dgm:spPr/>
      <dgm:t>
        <a:bodyPr/>
        <a:lstStyle/>
        <a:p>
          <a:r>
            <a:rPr lang="en-US" sz="4800" dirty="0"/>
            <a:t>Working with Data</a:t>
          </a:r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</dgm:pt>
  </dgm:ptLst>
  <dgm:cxnLst>
    <dgm:cxn modelId="{88175D38-BFA8-4D43-90FA-3BE39FD3975D}" type="presOf" srcId="{3DE9E547-3C66-4E5D-9D07-0515EED2B913}" destId="{46A1C575-DE29-4021-A28C-E1E7FA78085E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65DCDAFD-8909-4CCC-96D3-23F19B6A2257}" type="presOf" srcId="{7D821BC7-213D-4CEC-978A-9CFFE70F3D67}" destId="{9972E4C6-FDD6-4F32-8994-B9E0115268C3}" srcOrd="0" destOrd="0" presId="urn:microsoft.com/office/officeart/2005/8/layout/default#1"/>
    <dgm:cxn modelId="{D5A03DA0-5C1B-4D49-89F3-846B63674282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/>
            <a:t>How to use basic tips for working with data</a:t>
          </a:r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/>
            <a:t>How to freeze panes and split your work sheet</a:t>
          </a:r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/>
            <a:t>How absolute and relative cell references are used in excel </a:t>
          </a:r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/>
            <a:t>How to sort data to better view and organize contents</a:t>
          </a:r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/>
            <a:t>How to filter  data in excel</a:t>
          </a:r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DD6D7DD-EDB4-49BD-B2D7-2904746F16F9}">
      <dgm:prSet/>
      <dgm:spPr/>
      <dgm:t>
        <a:bodyPr/>
        <a:lstStyle/>
        <a:p>
          <a:r>
            <a:rPr lang="en-US" dirty="0"/>
            <a:t>How to format tables in excel</a:t>
          </a:r>
        </a:p>
      </dgm:t>
    </dgm:pt>
    <dgm:pt modelId="{7DAA3B4A-706D-4CFB-93DC-D20404C2BD7E}" type="parTrans" cxnId="{755EC063-173A-4B5C-ABCC-24F3FF489A36}">
      <dgm:prSet/>
      <dgm:spPr/>
      <dgm:t>
        <a:bodyPr/>
        <a:lstStyle/>
        <a:p>
          <a:endParaRPr lang="en-US"/>
        </a:p>
      </dgm:t>
    </dgm:pt>
    <dgm:pt modelId="{8A17AD58-9530-4284-87F0-5AE4407E2671}" type="sibTrans" cxnId="{755EC063-173A-4B5C-ABCC-24F3FF489A36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E43CDCF3-D5B2-4556-A6FF-1FBA940E878F}" type="pres">
      <dgm:prSet presAssocID="{F9022B54-68C2-4973-9A00-460029290542}" presName="node" presStyleLbl="node1" presStyleIdx="0" presStyleCnt="6">
        <dgm:presLayoutVars>
          <dgm:bulletEnabled val="1"/>
        </dgm:presLayoutVars>
      </dgm:prSet>
      <dgm:spPr/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6">
        <dgm:presLayoutVars>
          <dgm:bulletEnabled val="1"/>
        </dgm:presLayoutVars>
      </dgm:prSet>
      <dgm:spPr/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6">
        <dgm:presLayoutVars>
          <dgm:bulletEnabled val="1"/>
        </dgm:presLayoutVars>
      </dgm:prSet>
      <dgm:spPr/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6">
        <dgm:presLayoutVars>
          <dgm:bulletEnabled val="1"/>
        </dgm:presLayoutVars>
      </dgm:prSet>
      <dgm:spPr/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6" custLinFactNeighborX="-2118">
        <dgm:presLayoutVars>
          <dgm:bulletEnabled val="1"/>
        </dgm:presLayoutVars>
      </dgm:prSet>
      <dgm:spPr/>
    </dgm:pt>
    <dgm:pt modelId="{0D95477D-6098-4F46-956E-7C515180A48C}" type="pres">
      <dgm:prSet presAssocID="{C692D208-6BD8-417E-A3C9-418AEBD7A4B3}" presName="sibTrans" presStyleCnt="0"/>
      <dgm:spPr/>
    </dgm:pt>
    <dgm:pt modelId="{D50D0F1F-4722-43DD-85F9-F30522F131A8}" type="pres">
      <dgm:prSet presAssocID="{0DD6D7DD-EDB4-49BD-B2D7-2904746F16F9}" presName="node" presStyleLbl="node1" presStyleIdx="5" presStyleCnt="6" custLinFactNeighborX="-2118">
        <dgm:presLayoutVars>
          <dgm:bulletEnabled val="1"/>
        </dgm:presLayoutVars>
      </dgm:prSet>
      <dgm:spPr/>
    </dgm:pt>
  </dgm:ptLst>
  <dgm:cxnLst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755EC063-173A-4B5C-ABCC-24F3FF489A36}" srcId="{3DE9E547-3C66-4E5D-9D07-0515EED2B913}" destId="{0DD6D7DD-EDB4-49BD-B2D7-2904746F16F9}" srcOrd="5" destOrd="0" parTransId="{7DAA3B4A-706D-4CFB-93DC-D20404C2BD7E}" sibTransId="{8A17AD58-9530-4284-87F0-5AE4407E2671}"/>
    <dgm:cxn modelId="{031BCA45-34A2-4E89-93EF-0C69AA13A8F0}" type="presOf" srcId="{23F2D5E2-61FA-40AD-9F7D-BF405C8CDFAE}" destId="{126D987F-03E4-4E3A-BED9-08B6BA3A15AB}" srcOrd="0" destOrd="0" presId="urn:microsoft.com/office/officeart/2005/8/layout/default#1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F069D99F-75D2-4885-9796-75E1AF8DABBC}" type="presOf" srcId="{0DD6D7DD-EDB4-49BD-B2D7-2904746F16F9}" destId="{D50D0F1F-4722-43DD-85F9-F30522F131A8}" srcOrd="0" destOrd="0" presId="urn:microsoft.com/office/officeart/2005/8/layout/default#1"/>
    <dgm:cxn modelId="{5975DE9F-9538-4AC2-A004-1F0309A49A9F}" type="presOf" srcId="{BBBB9B4E-DA71-45DE-92BC-1EF247E5F9B2}" destId="{08678D36-F832-48B7-8548-C43AEE1F6A43}" srcOrd="0" destOrd="0" presId="urn:microsoft.com/office/officeart/2005/8/layout/default#1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8C7B99DC-F8B1-492C-AD47-8DB1AB5E9999}" type="presOf" srcId="{C11B75ED-B46B-4BF2-80F2-DA583A75044E}" destId="{D32AB574-D896-42B8-809A-74BD322B19E9}" srcOrd="0" destOrd="0" presId="urn:microsoft.com/office/officeart/2005/8/layout/default#1"/>
    <dgm:cxn modelId="{FD5D13DE-A886-43C1-8176-BE8410373EBE}" type="presOf" srcId="{D032DDD3-5BE8-4773-89B2-68CD8965B3E6}" destId="{A0EFA616-1553-4077-9D32-88AE20AC0552}" srcOrd="0" destOrd="0" presId="urn:microsoft.com/office/officeart/2005/8/layout/default#1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55059F0B-6C91-4088-9340-8226AFFF946D}" type="presParOf" srcId="{46A1C575-DE29-4021-A28C-E1E7FA78085E}" destId="{08678D36-F832-48B7-8548-C43AEE1F6A43}" srcOrd="2" destOrd="0" presId="urn:microsoft.com/office/officeart/2005/8/layout/default#1"/>
    <dgm:cxn modelId="{183C0D9A-7891-4D10-9A6B-84445838AF97}" type="presParOf" srcId="{46A1C575-DE29-4021-A28C-E1E7FA78085E}" destId="{94E3CC2B-92E4-4B0C-B930-B4411572BF9F}" srcOrd="3" destOrd="0" presId="urn:microsoft.com/office/officeart/2005/8/layout/default#1"/>
    <dgm:cxn modelId="{10FB1E55-51FE-4D10-8536-2E0EBE944374}" type="presParOf" srcId="{46A1C575-DE29-4021-A28C-E1E7FA78085E}" destId="{D32AB574-D896-42B8-809A-74BD322B19E9}" srcOrd="4" destOrd="0" presId="urn:microsoft.com/office/officeart/2005/8/layout/default#1"/>
    <dgm:cxn modelId="{9EDDF9FC-F073-4434-AE22-C4716365B1A3}" type="presParOf" srcId="{46A1C575-DE29-4021-A28C-E1E7FA78085E}" destId="{8FCDC96A-B844-4560-9827-3799EB37A607}" srcOrd="5" destOrd="0" presId="urn:microsoft.com/office/officeart/2005/8/layout/default#1"/>
    <dgm:cxn modelId="{62AA1254-BAAA-4C30-915B-8E8B8D5D39B6}" type="presParOf" srcId="{46A1C575-DE29-4021-A28C-E1E7FA78085E}" destId="{126D987F-03E4-4E3A-BED9-08B6BA3A15AB}" srcOrd="6" destOrd="0" presId="urn:microsoft.com/office/officeart/2005/8/layout/default#1"/>
    <dgm:cxn modelId="{DA7D4CFB-222D-4450-8AF0-D10DC3C95EA3}" type="presParOf" srcId="{46A1C575-DE29-4021-A28C-E1E7FA78085E}" destId="{E35D6D9B-6CD2-4458-885A-62ADB7B92653}" srcOrd="7" destOrd="0" presId="urn:microsoft.com/office/officeart/2005/8/layout/default#1"/>
    <dgm:cxn modelId="{6AE59283-A23C-4A44-A8A5-3A057903230C}" type="presParOf" srcId="{46A1C575-DE29-4021-A28C-E1E7FA78085E}" destId="{A0EFA616-1553-4077-9D32-88AE20AC0552}" srcOrd="8" destOrd="0" presId="urn:microsoft.com/office/officeart/2005/8/layout/default#1"/>
    <dgm:cxn modelId="{776DB378-1808-493C-88B7-7620A603FCC8}" type="presParOf" srcId="{46A1C575-DE29-4021-A28C-E1E7FA78085E}" destId="{0D95477D-6098-4F46-956E-7C515180A48C}" srcOrd="9" destOrd="0" presId="urn:microsoft.com/office/officeart/2005/8/layout/default#1"/>
    <dgm:cxn modelId="{AB501389-F301-45A4-B978-AA80722B484B}" type="presParOf" srcId="{46A1C575-DE29-4021-A28C-E1E7FA78085E}" destId="{D50D0F1F-4722-43DD-85F9-F30522F131A8}" srcOrd="1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Introduction </a:t>
          </a:r>
        </a:p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to </a:t>
          </a:r>
        </a:p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Microsoft Excel </a:t>
          </a:r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Working with Data</a:t>
          </a:r>
        </a:p>
      </dsp:txBody>
      <dsp:txXfrm>
        <a:off x="162" y="1817"/>
        <a:ext cx="8838875" cy="4811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868833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to use basic tips for working with data</a:t>
          </a:r>
        </a:p>
      </dsp:txBody>
      <dsp:txXfrm>
        <a:off x="0" y="868833"/>
        <a:ext cx="2762250" cy="1657349"/>
      </dsp:txXfrm>
    </dsp:sp>
    <dsp:sp modelId="{08678D36-F832-48B7-8548-C43AEE1F6A43}">
      <dsp:nvSpPr>
        <dsp:cNvPr id="0" name=""/>
        <dsp:cNvSpPr/>
      </dsp:nvSpPr>
      <dsp:spPr>
        <a:xfrm>
          <a:off x="3038474" y="868833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5312"/>
                <a:satOff val="-873"/>
                <a:lumOff val="499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5312"/>
                <a:satOff val="-873"/>
                <a:lumOff val="499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5312"/>
                <a:satOff val="-873"/>
                <a:lumOff val="49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to freeze panes and split your work sheet</a:t>
          </a:r>
        </a:p>
      </dsp:txBody>
      <dsp:txXfrm>
        <a:off x="3038474" y="868833"/>
        <a:ext cx="2762250" cy="1657349"/>
      </dsp:txXfrm>
    </dsp:sp>
    <dsp:sp modelId="{D32AB574-D896-42B8-809A-74BD322B19E9}">
      <dsp:nvSpPr>
        <dsp:cNvPr id="0" name=""/>
        <dsp:cNvSpPr/>
      </dsp:nvSpPr>
      <dsp:spPr>
        <a:xfrm>
          <a:off x="6076950" y="868833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0623"/>
                <a:satOff val="-1746"/>
                <a:lumOff val="999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0623"/>
                <a:satOff val="-1746"/>
                <a:lumOff val="999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0623"/>
                <a:satOff val="-1746"/>
                <a:lumOff val="999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absolute and relative cell references are used in excel </a:t>
          </a:r>
        </a:p>
      </dsp:txBody>
      <dsp:txXfrm>
        <a:off x="6076950" y="868833"/>
        <a:ext cx="2762250" cy="1657349"/>
      </dsp:txXfrm>
    </dsp:sp>
    <dsp:sp modelId="{126D987F-03E4-4E3A-BED9-08B6BA3A15AB}">
      <dsp:nvSpPr>
        <dsp:cNvPr id="0" name=""/>
        <dsp:cNvSpPr/>
      </dsp:nvSpPr>
      <dsp:spPr>
        <a:xfrm>
          <a:off x="0" y="2802408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5935"/>
                <a:satOff val="-2619"/>
                <a:lumOff val="1499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5935"/>
                <a:satOff val="-2619"/>
                <a:lumOff val="1499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5935"/>
                <a:satOff val="-2619"/>
                <a:lumOff val="1499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to sort data to better view and organize contents</a:t>
          </a:r>
        </a:p>
      </dsp:txBody>
      <dsp:txXfrm>
        <a:off x="0" y="2802408"/>
        <a:ext cx="2762250" cy="1657349"/>
      </dsp:txXfrm>
    </dsp:sp>
    <dsp:sp modelId="{A0EFA616-1553-4077-9D32-88AE20AC0552}">
      <dsp:nvSpPr>
        <dsp:cNvPr id="0" name=""/>
        <dsp:cNvSpPr/>
      </dsp:nvSpPr>
      <dsp:spPr>
        <a:xfrm>
          <a:off x="2979970" y="2802408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1246"/>
                <a:satOff val="-3492"/>
                <a:lumOff val="1999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1246"/>
                <a:satOff val="-3492"/>
                <a:lumOff val="1999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1246"/>
                <a:satOff val="-3492"/>
                <a:lumOff val="199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to filter  data in excel</a:t>
          </a:r>
        </a:p>
      </dsp:txBody>
      <dsp:txXfrm>
        <a:off x="2979970" y="2802408"/>
        <a:ext cx="2762250" cy="1657349"/>
      </dsp:txXfrm>
    </dsp:sp>
    <dsp:sp modelId="{D50D0F1F-4722-43DD-85F9-F30522F131A8}">
      <dsp:nvSpPr>
        <dsp:cNvPr id="0" name=""/>
        <dsp:cNvSpPr/>
      </dsp:nvSpPr>
      <dsp:spPr>
        <a:xfrm>
          <a:off x="6018445" y="2802408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to format tables in excel</a:t>
          </a:r>
        </a:p>
      </dsp:txBody>
      <dsp:txXfrm>
        <a:off x="6018445" y="2802408"/>
        <a:ext cx="2762250" cy="1657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2/28/2023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012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9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89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697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354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907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852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364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1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802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019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5759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5634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1983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159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375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6818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1858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629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7142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6048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9413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3385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9669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1682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4655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9426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9392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5232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4738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5546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8819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0629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9032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2463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5580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328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305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6956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2163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1267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4370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1955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8045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5465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6396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01218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94531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4787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9048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43673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83731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12849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7357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7952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0246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07616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66230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39457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82753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70252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453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61807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23587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32636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23089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37422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54400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33804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39765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73158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41950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03686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50110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87320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17628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60665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36738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525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60258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48617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06792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33644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02871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84276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13390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3830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47686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89037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25937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95275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26987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05377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95799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64495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80588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40269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28634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62557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50812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14721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544702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53873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0199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203424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35732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31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67486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610294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77032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905204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680966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95774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316864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89619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189044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890480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196122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612052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712224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784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560670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87562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678478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206520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029449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7051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65327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690972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922989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982240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922666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3339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704864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551589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315487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97872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328769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932718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35603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66488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019653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997646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881453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47670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45819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14465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549837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00770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154</a:t>
            </a:fld>
            <a:endParaRPr lang="en-US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155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775200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553762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5109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873108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1539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50D0F1F-4722-43DD-85F9-F30522F131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50D0F1F-4722-43DD-85F9-F30522F131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Excel - Freezing Panes and View Options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Whenever you're working with a lot of data, it can be difficult to </a:t>
            </a:r>
            <a:r>
              <a:rPr lang="en-US" b="1" dirty="0"/>
              <a:t>compare</a:t>
            </a:r>
            <a:r>
              <a:rPr lang="en-US" dirty="0"/>
              <a:t> information in your workbook.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Fortunately, Excel includes several tools that make it easier to view content from different parts of your workbook at the same time, including the ability to </a:t>
            </a:r>
            <a:r>
              <a:rPr lang="en-US" b="1" dirty="0"/>
              <a:t>freeze</a:t>
            </a:r>
            <a:r>
              <a:rPr lang="en-US" dirty="0"/>
              <a:t> </a:t>
            </a:r>
            <a:r>
              <a:rPr lang="en-US" b="1" dirty="0"/>
              <a:t>panes</a:t>
            </a:r>
            <a:r>
              <a:rPr lang="en-US" dirty="0"/>
              <a:t> and </a:t>
            </a:r>
            <a:r>
              <a:rPr lang="en-US" b="1" dirty="0"/>
              <a:t>split </a:t>
            </a:r>
            <a:r>
              <a:rPr lang="en-US" dirty="0"/>
              <a:t>your worksheet.</a:t>
            </a: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freeze rows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You may want to see certain rows or columns all the time in your worksheet, especially </a:t>
            </a:r>
            <a:r>
              <a:rPr lang="en-US" b="1" dirty="0"/>
              <a:t>header cells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By </a:t>
            </a:r>
            <a:r>
              <a:rPr lang="en-US" b="1" dirty="0"/>
              <a:t>freezing</a:t>
            </a:r>
            <a:r>
              <a:rPr lang="en-US" dirty="0"/>
              <a:t> rows or columns in place, you'll be able to scroll through your content while continuing to view the frozen cells.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7031754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freeze rows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Select the </a:t>
            </a:r>
            <a:r>
              <a:rPr lang="en-US" b="1" dirty="0"/>
              <a:t>row </a:t>
            </a:r>
            <a:r>
              <a:rPr lang="en-US" dirty="0"/>
              <a:t>below the row(s) you want to </a:t>
            </a:r>
            <a:r>
              <a:rPr lang="en-US" b="1" dirty="0"/>
              <a:t>freeze</a:t>
            </a:r>
            <a:r>
              <a:rPr lang="en-US" dirty="0"/>
              <a:t>. In our example, we want to freeze rows </a:t>
            </a:r>
            <a:r>
              <a:rPr lang="en-US" b="1" dirty="0"/>
              <a:t>1</a:t>
            </a:r>
            <a:r>
              <a:rPr lang="en-US" dirty="0"/>
              <a:t> and</a:t>
            </a:r>
            <a:r>
              <a:rPr lang="en-US" b="1" dirty="0"/>
              <a:t> 2</a:t>
            </a:r>
            <a:r>
              <a:rPr lang="en-US" dirty="0"/>
              <a:t>, so we'll select row</a:t>
            </a:r>
            <a:r>
              <a:rPr lang="en-US" b="1" dirty="0"/>
              <a:t> 3</a:t>
            </a:r>
            <a:r>
              <a:rPr lang="en-US" dirty="0"/>
              <a:t>.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436D83-EFEC-4070-8B5C-256D93C0F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708920"/>
            <a:ext cx="7704856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2261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freeze rows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On the </a:t>
            </a:r>
            <a:r>
              <a:rPr lang="en-US" b="1" dirty="0"/>
              <a:t>View</a:t>
            </a:r>
            <a:r>
              <a:rPr lang="en-US" dirty="0"/>
              <a:t> tab, select the </a:t>
            </a:r>
            <a:r>
              <a:rPr lang="en-US" b="1" dirty="0"/>
              <a:t>Freeze Panes </a:t>
            </a:r>
            <a:r>
              <a:rPr lang="en-US" dirty="0"/>
              <a:t>command, then choose </a:t>
            </a:r>
            <a:r>
              <a:rPr lang="en-US" b="1" dirty="0"/>
              <a:t>Freeze Panes </a:t>
            </a:r>
            <a:r>
              <a:rPr lang="en-US" dirty="0"/>
              <a:t>from the drop-down menu.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E1163B-04EE-40B5-B04B-2E1CB1334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492896"/>
            <a:ext cx="7200800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25303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freeze rows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rows will be </a:t>
            </a:r>
            <a:r>
              <a:rPr lang="en-US" b="1" dirty="0"/>
              <a:t>frozen</a:t>
            </a:r>
            <a:r>
              <a:rPr lang="en-US" dirty="0"/>
              <a:t> in place, as indicated by the </a:t>
            </a:r>
            <a:r>
              <a:rPr lang="en-US" b="1" dirty="0"/>
              <a:t>gray</a:t>
            </a:r>
            <a:r>
              <a:rPr lang="en-US" dirty="0"/>
              <a:t> </a:t>
            </a:r>
            <a:r>
              <a:rPr lang="en-US" b="1" dirty="0"/>
              <a:t>line</a:t>
            </a:r>
            <a:r>
              <a:rPr lang="en-US" dirty="0"/>
              <a:t>. You can </a:t>
            </a:r>
            <a:r>
              <a:rPr lang="en-US" b="1" dirty="0"/>
              <a:t>scroll down</a:t>
            </a:r>
            <a:r>
              <a:rPr lang="en-US" dirty="0"/>
              <a:t> the worksheet while continuing to view the frozen rows at the top. In our example, we've scrolled down to row </a:t>
            </a:r>
            <a:r>
              <a:rPr lang="en-US" b="1" dirty="0"/>
              <a:t>18</a:t>
            </a:r>
            <a:r>
              <a:rPr lang="en-US" dirty="0"/>
              <a:t>.</a:t>
            </a:r>
            <a:br>
              <a:rPr lang="en-US" dirty="0"/>
            </a:b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70C76E-61AC-4CC1-8CCD-ED59D82087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00" y="2996952"/>
            <a:ext cx="7416824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3002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freeze columns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Select the </a:t>
            </a:r>
            <a:r>
              <a:rPr lang="en-US" b="1" dirty="0"/>
              <a:t>column</a:t>
            </a:r>
            <a:r>
              <a:rPr lang="en-US" dirty="0"/>
              <a:t> to the right of the column(s) you want to </a:t>
            </a:r>
            <a:r>
              <a:rPr lang="en-US" b="1" dirty="0"/>
              <a:t>freeze</a:t>
            </a:r>
            <a:r>
              <a:rPr lang="en-US" dirty="0"/>
              <a:t>. In our example, we want to freeze </a:t>
            </a:r>
            <a:r>
              <a:rPr lang="en-US" b="1" dirty="0"/>
              <a:t>column A</a:t>
            </a:r>
            <a:r>
              <a:rPr lang="en-US" dirty="0"/>
              <a:t>, so we'll select column </a:t>
            </a:r>
            <a:r>
              <a:rPr lang="en-US" b="1" dirty="0"/>
              <a:t>B</a:t>
            </a:r>
            <a:r>
              <a:rPr lang="en-US" dirty="0"/>
              <a:t>.</a:t>
            </a:r>
            <a:br>
              <a:rPr lang="en-US" dirty="0"/>
            </a:b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8731A4-3256-480C-B72C-64BC44F8F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600324"/>
            <a:ext cx="6912768" cy="306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3329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freeze columns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On the </a:t>
            </a:r>
            <a:r>
              <a:rPr lang="en-US" b="1" dirty="0"/>
              <a:t>View </a:t>
            </a:r>
            <a:r>
              <a:rPr lang="en-US" dirty="0"/>
              <a:t>tab, select the </a:t>
            </a:r>
            <a:r>
              <a:rPr lang="en-US" b="1" dirty="0"/>
              <a:t>Freeze Panes </a:t>
            </a:r>
            <a:r>
              <a:rPr lang="en-US" dirty="0"/>
              <a:t>command, then choose </a:t>
            </a:r>
            <a:r>
              <a:rPr lang="en-US" b="1" dirty="0"/>
              <a:t>Freeze Panes </a:t>
            </a:r>
            <a:r>
              <a:rPr lang="en-US" dirty="0"/>
              <a:t>from the drop-down menu.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A0708-46D7-4C05-9018-576DC2065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577864"/>
            <a:ext cx="7128792" cy="365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6107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freeze columns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column will be </a:t>
            </a:r>
            <a:r>
              <a:rPr lang="en-US" b="1" dirty="0"/>
              <a:t>frozen</a:t>
            </a:r>
            <a:r>
              <a:rPr lang="en-US" dirty="0"/>
              <a:t> in place, as indicated by the </a:t>
            </a:r>
            <a:r>
              <a:rPr lang="en-US" b="1" dirty="0"/>
              <a:t>gray line</a:t>
            </a:r>
            <a:r>
              <a:rPr lang="en-US" dirty="0"/>
              <a:t>. You can </a:t>
            </a:r>
            <a:r>
              <a:rPr lang="en-US" b="1" dirty="0"/>
              <a:t>scroll across</a:t>
            </a:r>
            <a:r>
              <a:rPr lang="en-US" dirty="0"/>
              <a:t> the worksheet while continuing to view the frozen column on the left. In our example, we've scrolled across to column </a:t>
            </a:r>
            <a:r>
              <a:rPr lang="en-US" b="1" dirty="0"/>
              <a:t>E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C7A3BC-42ED-4BC5-9187-7E4CDC5E1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395846"/>
            <a:ext cx="7272808" cy="320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9336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freeze columns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column will be </a:t>
            </a:r>
            <a:r>
              <a:rPr lang="en-US" b="1" dirty="0"/>
              <a:t>frozen</a:t>
            </a:r>
            <a:r>
              <a:rPr lang="en-US" dirty="0"/>
              <a:t> in place, as indicated by the </a:t>
            </a:r>
            <a:r>
              <a:rPr lang="en-US" b="1" dirty="0"/>
              <a:t>gray line</a:t>
            </a:r>
            <a:r>
              <a:rPr lang="en-US" dirty="0"/>
              <a:t>. You can </a:t>
            </a:r>
            <a:r>
              <a:rPr lang="en-US" b="1" dirty="0"/>
              <a:t>scroll across</a:t>
            </a:r>
            <a:r>
              <a:rPr lang="en-US" dirty="0"/>
              <a:t> the worksheet while continuing to view the frozen column on the left. In our example, we've scrolled across to column </a:t>
            </a:r>
            <a:r>
              <a:rPr lang="en-US" b="1" dirty="0"/>
              <a:t>E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71FCBA-13E1-4A34-9DEE-11F4948F5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453768"/>
            <a:ext cx="7424042" cy="328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1194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freeze columns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If you only need to freeze the </a:t>
            </a:r>
            <a:r>
              <a:rPr lang="en-US" b="1" dirty="0"/>
              <a:t>top row </a:t>
            </a:r>
            <a:r>
              <a:rPr lang="en-US" dirty="0"/>
              <a:t>(row 1) or </a:t>
            </a:r>
            <a:r>
              <a:rPr lang="en-US" b="1" dirty="0"/>
              <a:t>first column </a:t>
            </a:r>
            <a:r>
              <a:rPr lang="en-US" dirty="0"/>
              <a:t>(column A) in the worksheet, you can simply select </a:t>
            </a:r>
            <a:r>
              <a:rPr lang="en-US" b="1" dirty="0"/>
              <a:t>Freeze Top Row </a:t>
            </a:r>
            <a:r>
              <a:rPr lang="en-US" dirty="0"/>
              <a:t>or </a:t>
            </a:r>
            <a:r>
              <a:rPr lang="en-US" b="1" dirty="0"/>
              <a:t>Freeze First Column</a:t>
            </a:r>
            <a:r>
              <a:rPr lang="en-US" dirty="0"/>
              <a:t> from the drop-down menu.</a:t>
            </a:r>
          </a:p>
          <a:p>
            <a:pPr algn="just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5A1C2C-BCBB-47E7-9885-16DB51030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068960"/>
            <a:ext cx="7128792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81526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unfreeze panes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If you want to select a different view option, you may first need to reset the spreadsheet by unfreezing panes. To </a:t>
            </a:r>
            <a:r>
              <a:rPr lang="en-US" b="1" dirty="0"/>
              <a:t>unfreeze</a:t>
            </a:r>
            <a:r>
              <a:rPr lang="en-US" dirty="0"/>
              <a:t> rows or columns, click the </a:t>
            </a:r>
            <a:r>
              <a:rPr lang="en-US" b="1" dirty="0"/>
              <a:t>Freeze Panes</a:t>
            </a:r>
            <a:r>
              <a:rPr lang="en-US" dirty="0"/>
              <a:t> command, then select </a:t>
            </a:r>
            <a:r>
              <a:rPr lang="en-US" b="1" dirty="0"/>
              <a:t>Unfreeze Panes</a:t>
            </a:r>
            <a:r>
              <a:rPr lang="en-US" dirty="0"/>
              <a:t> from the drop-down menu.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70D275-A76E-4AE8-B2E9-A72B65A11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628" y="3429000"/>
            <a:ext cx="6696744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0513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Other view options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If your workbook contains a lot of content, it can sometimes be difficult to compare different sections.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Excel includes additional options to make your workbooks easier to view and compare.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example, you can choose to </a:t>
            </a:r>
            <a:r>
              <a:rPr lang="en-US" b="1" dirty="0"/>
              <a:t>open a</a:t>
            </a:r>
            <a:r>
              <a:rPr lang="en-US" dirty="0"/>
              <a:t> </a:t>
            </a:r>
            <a:r>
              <a:rPr lang="en-US" b="1" dirty="0"/>
              <a:t>new window</a:t>
            </a:r>
            <a:r>
              <a:rPr lang="en-US" dirty="0"/>
              <a:t> for your workbook or </a:t>
            </a:r>
            <a:r>
              <a:rPr lang="en-US" b="1" dirty="0"/>
              <a:t>split</a:t>
            </a:r>
            <a:r>
              <a:rPr lang="en-US" dirty="0"/>
              <a:t> </a:t>
            </a:r>
            <a:r>
              <a:rPr lang="en-US" b="1" dirty="0"/>
              <a:t>a worksheet</a:t>
            </a:r>
            <a:r>
              <a:rPr lang="en-US" dirty="0"/>
              <a:t> into separate panes.</a:t>
            </a:r>
          </a:p>
        </p:txBody>
      </p:sp>
    </p:spTree>
    <p:extLst>
      <p:ext uri="{BB962C8B-B14F-4D97-AF65-F5344CB8AC3E}">
        <p14:creationId xmlns:p14="http://schemas.microsoft.com/office/powerpoint/2010/main" val="226569469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open a new window for the current workbook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Excel allows you to open </a:t>
            </a:r>
            <a:r>
              <a:rPr lang="en-US" b="1" dirty="0"/>
              <a:t>multiple windows</a:t>
            </a:r>
            <a:r>
              <a:rPr lang="en-US" dirty="0"/>
              <a:t> for a single workbook at the same time.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 our example, we'll use this feature to compare two different </a:t>
            </a:r>
            <a:r>
              <a:rPr lang="en-US" b="1" dirty="0"/>
              <a:t>worksheets</a:t>
            </a:r>
            <a:r>
              <a:rPr lang="en-US" dirty="0"/>
              <a:t> from the same workbook.</a:t>
            </a:r>
          </a:p>
        </p:txBody>
      </p:sp>
    </p:spTree>
    <p:extLst>
      <p:ext uri="{BB962C8B-B14F-4D97-AF65-F5344CB8AC3E}">
        <p14:creationId xmlns:p14="http://schemas.microsoft.com/office/powerpoint/2010/main" val="395058779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open a new window for the current workbook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Click the </a:t>
            </a:r>
            <a:r>
              <a:rPr lang="en-US" b="1" dirty="0"/>
              <a:t>View</a:t>
            </a:r>
            <a:r>
              <a:rPr lang="en-US" dirty="0"/>
              <a:t> tab on the </a:t>
            </a:r>
            <a:r>
              <a:rPr lang="en-US" b="1" dirty="0"/>
              <a:t>Ribbon</a:t>
            </a:r>
            <a:r>
              <a:rPr lang="en-US" dirty="0"/>
              <a:t>, then select the 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b="1" dirty="0"/>
              <a:t>Window</a:t>
            </a:r>
            <a:r>
              <a:rPr lang="en-US" dirty="0"/>
              <a:t> command.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DFE6C-63AA-4D0F-842C-C5F3776E0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060848"/>
            <a:ext cx="6264696" cy="345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33773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open a new window for the current workbook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 </a:t>
            </a:r>
            <a:r>
              <a:rPr lang="en-US" b="1" dirty="0"/>
              <a:t>new window</a:t>
            </a:r>
            <a:r>
              <a:rPr lang="en-US" dirty="0"/>
              <a:t> for the workbook will appear.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1AB397-F515-4BD9-B717-BDCF24483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484784"/>
            <a:ext cx="7416824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001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open a new window for the current workbook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You can now compare different worksheets from the same workbook across windows. In our example, we'll select the </a:t>
            </a:r>
            <a:r>
              <a:rPr lang="en-US" b="1" dirty="0"/>
              <a:t>2013 Sales Detailed View</a:t>
            </a:r>
            <a:r>
              <a:rPr lang="en-US" dirty="0"/>
              <a:t> worksheet to compare </a:t>
            </a:r>
            <a:r>
              <a:rPr lang="en-US" b="1" dirty="0"/>
              <a:t>2012</a:t>
            </a:r>
            <a:r>
              <a:rPr lang="en-US" dirty="0"/>
              <a:t> and </a:t>
            </a:r>
            <a:r>
              <a:rPr lang="en-US" b="1" dirty="0"/>
              <a:t>2013</a:t>
            </a:r>
            <a:r>
              <a:rPr lang="en-US" dirty="0"/>
              <a:t> sales.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626B1E-8061-46B2-B953-F5506321E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2780928"/>
            <a:ext cx="6915150" cy="407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6636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open a new window for the current workbook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If you have several windows open at the same time, you can use the </a:t>
            </a:r>
            <a:r>
              <a:rPr lang="en-US" b="1" dirty="0"/>
              <a:t>Arrange All</a:t>
            </a:r>
            <a:r>
              <a:rPr lang="en-US" dirty="0"/>
              <a:t> command to rearrange them quickly.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482C00-788E-4015-AA90-AE2D3F969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519362"/>
            <a:ext cx="6480719" cy="371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3919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split a worksheet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Sometimes you may want to compare different sections of the same workbook without creating a new window.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 </a:t>
            </a:r>
            <a:r>
              <a:rPr lang="en-US" b="1" dirty="0"/>
              <a:t>Split</a:t>
            </a:r>
            <a:r>
              <a:rPr lang="en-US" dirty="0"/>
              <a:t> command allows you to </a:t>
            </a:r>
            <a:r>
              <a:rPr lang="en-US" b="1" dirty="0"/>
              <a:t>divide</a:t>
            </a:r>
            <a:r>
              <a:rPr lang="en-US" dirty="0"/>
              <a:t> the worksheet into multiple panes that scroll separately.</a:t>
            </a:r>
          </a:p>
        </p:txBody>
      </p:sp>
    </p:spTree>
    <p:extLst>
      <p:ext uri="{BB962C8B-B14F-4D97-AF65-F5344CB8AC3E}">
        <p14:creationId xmlns:p14="http://schemas.microsoft.com/office/powerpoint/2010/main" val="275462430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split a worksheet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Select the </a:t>
            </a:r>
            <a:r>
              <a:rPr lang="en-US" b="1" dirty="0"/>
              <a:t>cell</a:t>
            </a:r>
            <a:r>
              <a:rPr lang="en-US" dirty="0"/>
              <a:t> where you want to split the worksheet. In our example, we'll select cell </a:t>
            </a:r>
            <a:r>
              <a:rPr lang="en-US" b="1" dirty="0"/>
              <a:t>D6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5AB48-0FF8-4B40-A522-62A28F91F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028824"/>
            <a:ext cx="7200800" cy="363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1339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split a worksheet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Click the </a:t>
            </a:r>
            <a:r>
              <a:rPr lang="en-US" b="1" dirty="0"/>
              <a:t>View</a:t>
            </a:r>
            <a:r>
              <a:rPr lang="en-US" dirty="0"/>
              <a:t> tab on the </a:t>
            </a:r>
            <a:r>
              <a:rPr lang="en-US" b="1" dirty="0"/>
              <a:t>Ribbon</a:t>
            </a:r>
            <a:r>
              <a:rPr lang="en-US" dirty="0"/>
              <a:t>, then select the </a:t>
            </a:r>
            <a:r>
              <a:rPr lang="en-US" b="1" dirty="0"/>
              <a:t>Split </a:t>
            </a:r>
            <a:r>
              <a:rPr lang="en-US" dirty="0"/>
              <a:t>command.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016FB9-14D2-4C3F-BC8F-7409F6319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3" y="1988840"/>
            <a:ext cx="7272808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0167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split a worksheet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The workbook will be </a:t>
            </a:r>
            <a:r>
              <a:rPr lang="en-US" b="1" dirty="0"/>
              <a:t>split</a:t>
            </a:r>
            <a:r>
              <a:rPr lang="en-US" dirty="0"/>
              <a:t> into different </a:t>
            </a:r>
            <a:r>
              <a:rPr lang="en-US" b="1" dirty="0"/>
              <a:t>panes</a:t>
            </a:r>
            <a:r>
              <a:rPr lang="en-US" dirty="0"/>
              <a:t>. You can scroll through each pane separately using the </a:t>
            </a:r>
            <a:r>
              <a:rPr lang="en-US" b="1" dirty="0"/>
              <a:t>scroll bars</a:t>
            </a:r>
            <a:r>
              <a:rPr lang="en-US" dirty="0"/>
              <a:t>, allowing you to compare different sections of the workbook.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fontAlgn="base"/>
            <a:r>
              <a:rPr lang="en-US" dirty="0"/>
              <a:t>After creating a split, you can click and drag the vertical and horizontal dividers to change the size of each section.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To remove the split, click the </a:t>
            </a:r>
            <a:r>
              <a:rPr lang="en-US" b="1" dirty="0"/>
              <a:t>Split</a:t>
            </a:r>
            <a:r>
              <a:rPr lang="en-US" dirty="0"/>
              <a:t> command again.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9D928-4824-40F0-8302-ACD3CEB26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096852"/>
            <a:ext cx="7632848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9145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Excel - Sorting Data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As you add more content to a worksheet, organizing this information becomes especially important.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 can quickly </a:t>
            </a:r>
            <a:r>
              <a:rPr lang="en-US" b="1" dirty="0"/>
              <a:t>reorganize</a:t>
            </a:r>
            <a:r>
              <a:rPr lang="en-US" dirty="0"/>
              <a:t> a worksheet by </a:t>
            </a:r>
            <a:r>
              <a:rPr lang="en-US" b="1" dirty="0"/>
              <a:t>sorting</a:t>
            </a:r>
            <a:r>
              <a:rPr lang="en-US" dirty="0"/>
              <a:t> your data.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example, you can organize a list of contact information by last name.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Content can be sorted alphabetically, numerically, and in several other ways.</a:t>
            </a:r>
          </a:p>
        </p:txBody>
      </p:sp>
    </p:spTree>
    <p:extLst>
      <p:ext uri="{BB962C8B-B14F-4D97-AF65-F5344CB8AC3E}">
        <p14:creationId xmlns:p14="http://schemas.microsoft.com/office/powerpoint/2010/main" val="3135875465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Types of sorting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Sort sheet: </a:t>
            </a:r>
            <a:r>
              <a:rPr lang="en-US" dirty="0"/>
              <a:t>organizes all of the data in your worksheet by one column. Related information across each row is kept together when the sort is applied. In the example below, the </a:t>
            </a:r>
            <a:r>
              <a:rPr lang="en-US" b="1" dirty="0"/>
              <a:t>Contact Name </a:t>
            </a:r>
            <a:r>
              <a:rPr lang="en-US" dirty="0"/>
              <a:t>column (column </a:t>
            </a:r>
            <a:r>
              <a:rPr lang="en-US" b="1" dirty="0"/>
              <a:t>A</a:t>
            </a:r>
            <a:r>
              <a:rPr lang="en-US" dirty="0"/>
              <a:t>) has been sorted to display the names in alphabetical order.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FFC35-1DF5-4A71-B2AC-31C3EC986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912" y="3645024"/>
            <a:ext cx="6734175" cy="321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83245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Types of sorting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Sort range:</a:t>
            </a:r>
            <a:r>
              <a:rPr lang="en-US" dirty="0"/>
              <a:t> sorts the data in a range of cells, which can be helpful when working with a sheet that contains several tables. Sorting a range will not affect other content in the worksheet.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BE1728-CD38-431F-92EA-6719B4E4C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780928"/>
            <a:ext cx="5924550" cy="407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2267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sort a sheet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our example, we'll sort a T-shirt order form alphabetically by </a:t>
            </a:r>
            <a:r>
              <a:rPr lang="en-US" b="1" dirty="0"/>
              <a:t>Last Name </a:t>
            </a:r>
            <a:r>
              <a:rPr lang="en-US" dirty="0"/>
              <a:t>(column C).</a:t>
            </a:r>
          </a:p>
          <a:p>
            <a:pPr algn="just"/>
            <a:r>
              <a:rPr lang="en-US" dirty="0"/>
              <a:t>Select a </a:t>
            </a:r>
            <a:r>
              <a:rPr lang="en-US" b="1" dirty="0"/>
              <a:t>cell</a:t>
            </a:r>
            <a:r>
              <a:rPr lang="en-US" dirty="0"/>
              <a:t> in the column you want to sort. In our example, we'll select cell </a:t>
            </a:r>
            <a:r>
              <a:rPr lang="en-US" b="1" dirty="0"/>
              <a:t>C2</a:t>
            </a:r>
            <a:r>
              <a:rPr lang="en-US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75130C-4498-422B-AF71-D81E401A3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852936"/>
            <a:ext cx="7488832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7612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sort a sheet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Select the </a:t>
            </a:r>
            <a:r>
              <a:rPr lang="en-US" b="1" dirty="0"/>
              <a:t>Data</a:t>
            </a:r>
            <a:r>
              <a:rPr lang="en-US" dirty="0"/>
              <a:t> tab on the </a:t>
            </a:r>
            <a:r>
              <a:rPr lang="en-US" b="1" dirty="0"/>
              <a:t>Ribbon</a:t>
            </a:r>
            <a:r>
              <a:rPr lang="en-US" dirty="0"/>
              <a:t>, then click the </a:t>
            </a:r>
            <a:r>
              <a:rPr lang="en-US" b="1" dirty="0"/>
              <a:t>A-Z command</a:t>
            </a:r>
            <a:r>
              <a:rPr lang="en-US" dirty="0"/>
              <a:t> to sort A to Z, or the </a:t>
            </a:r>
            <a:r>
              <a:rPr lang="en-US" b="1" dirty="0"/>
              <a:t>Z-A command</a:t>
            </a:r>
            <a:r>
              <a:rPr lang="en-US" dirty="0"/>
              <a:t> to sort Z to A. In our example, we'll sort A to Z.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0C2A78-9C3A-4527-B795-4C1FD65BE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452687"/>
            <a:ext cx="6984776" cy="400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28644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sort a sheet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worksheet will be </a:t>
            </a:r>
            <a:r>
              <a:rPr lang="en-US" b="1" dirty="0"/>
              <a:t>sorted</a:t>
            </a:r>
            <a:r>
              <a:rPr lang="en-US" dirty="0"/>
              <a:t> by the selected column. In our example, the worksheet is now sorted by </a:t>
            </a:r>
            <a:r>
              <a:rPr lang="en-US" b="1" dirty="0"/>
              <a:t>last name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814BC6-68E3-4EFF-A869-6B519A588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352674"/>
            <a:ext cx="7704856" cy="388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8917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sort a range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In our example, we'll select a </a:t>
            </a:r>
            <a:r>
              <a:rPr lang="en-US" b="1" dirty="0"/>
              <a:t>separate table</a:t>
            </a:r>
            <a:r>
              <a:rPr lang="en-US" dirty="0"/>
              <a:t> in our T-shirt order form to sort the number of shirts that were ordered in each grade.</a:t>
            </a:r>
          </a:p>
          <a:p>
            <a:pPr algn="just" fontAlgn="base"/>
            <a:r>
              <a:rPr lang="en-US" dirty="0"/>
              <a:t>Select the </a:t>
            </a:r>
            <a:r>
              <a:rPr lang="en-US" b="1" dirty="0"/>
              <a:t>cell range</a:t>
            </a:r>
            <a:r>
              <a:rPr lang="en-US" dirty="0"/>
              <a:t> you want to sort. In our example, we'll select cell range </a:t>
            </a:r>
            <a:r>
              <a:rPr lang="en-US" b="1" dirty="0"/>
              <a:t>G2:H6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A90C1-D652-4A1D-BA04-FDCD5AA50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429000"/>
            <a:ext cx="5544616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0483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sort a range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 </a:t>
            </a:r>
            <a:r>
              <a:rPr lang="en-US" b="1" dirty="0"/>
              <a:t>Data</a:t>
            </a:r>
            <a:r>
              <a:rPr lang="en-US" dirty="0"/>
              <a:t> tab on the </a:t>
            </a:r>
            <a:r>
              <a:rPr lang="en-US" b="1" dirty="0"/>
              <a:t>Ribbon</a:t>
            </a:r>
            <a:r>
              <a:rPr lang="en-US" dirty="0"/>
              <a:t>, then click the </a:t>
            </a:r>
            <a:r>
              <a:rPr lang="en-US" b="1" dirty="0"/>
              <a:t>Sort</a:t>
            </a:r>
            <a:r>
              <a:rPr lang="en-US" dirty="0"/>
              <a:t> command.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B54885-06FA-48C7-9C3D-9F5AF2BD8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988840"/>
            <a:ext cx="5400600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8858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sort a range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 </a:t>
            </a:r>
            <a:r>
              <a:rPr lang="en-US" b="1" dirty="0"/>
              <a:t>Sort</a:t>
            </a:r>
            <a:r>
              <a:rPr lang="en-US" dirty="0"/>
              <a:t> dialog box will appear. Choose the </a:t>
            </a:r>
            <a:r>
              <a:rPr lang="en-US" b="1" dirty="0"/>
              <a:t>column</a:t>
            </a:r>
            <a:r>
              <a:rPr lang="en-US" dirty="0"/>
              <a:t> you want to sort. In our example, we want to sort the data by the number of T-shirt orders, so we'll select </a:t>
            </a:r>
            <a:r>
              <a:rPr lang="en-US" b="1" dirty="0"/>
              <a:t>Orders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0B187C-A80D-459F-A0A4-731ACB639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924944"/>
            <a:ext cx="6768751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91370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sort a range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Decide the </a:t>
            </a:r>
            <a:r>
              <a:rPr lang="en-US" b="1" dirty="0"/>
              <a:t>sorting order</a:t>
            </a:r>
            <a:r>
              <a:rPr lang="en-US" dirty="0"/>
              <a:t> (either ascending or descending). In our example, we'll use </a:t>
            </a:r>
            <a:r>
              <a:rPr lang="en-US" b="1" dirty="0"/>
              <a:t>Largest to Smallest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Once you're satisfied with your selection, click </a:t>
            </a:r>
            <a:r>
              <a:rPr lang="en-US" b="1" dirty="0"/>
              <a:t>OK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442A7B-B7A2-474B-876F-B79C3EF34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212976"/>
            <a:ext cx="7488832" cy="276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95492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sort a range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cell range will be </a:t>
            </a:r>
            <a:r>
              <a:rPr lang="en-US" b="1" dirty="0"/>
              <a:t>sorted</a:t>
            </a:r>
            <a:r>
              <a:rPr lang="en-US" dirty="0"/>
              <a:t> by the selected column. In our example, the Orders column will be sorted from </a:t>
            </a:r>
            <a:r>
              <a:rPr lang="en-US" b="1" dirty="0"/>
              <a:t>highest to lowest</a:t>
            </a:r>
            <a:r>
              <a:rPr lang="en-US" dirty="0"/>
              <a:t>. Notice that the other content in the worksheet was not affected by the sort.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241E4-1672-4C6D-A6EC-F86915975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3284984"/>
            <a:ext cx="6192688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29444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Custom sorting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Sometimes you may find that the default sorting options can't sort data in the order you need.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Fortunately, Excel allows you to create a </a:t>
            </a:r>
            <a:r>
              <a:rPr lang="en-US" b="1" dirty="0"/>
              <a:t>custom list</a:t>
            </a:r>
            <a:r>
              <a:rPr lang="en-US" dirty="0"/>
              <a:t> to define your own sorting order.</a:t>
            </a:r>
          </a:p>
        </p:txBody>
      </p:sp>
    </p:spTree>
    <p:extLst>
      <p:ext uri="{BB962C8B-B14F-4D97-AF65-F5344CB8AC3E}">
        <p14:creationId xmlns:p14="http://schemas.microsoft.com/office/powerpoint/2010/main" val="3699337387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custom sort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In our example, we want to sort the worksheet by </a:t>
            </a:r>
            <a:r>
              <a:rPr lang="en-US" b="1" dirty="0"/>
              <a:t>T-Shirt Size </a:t>
            </a:r>
            <a:r>
              <a:rPr lang="en-US" dirty="0"/>
              <a:t>(column </a:t>
            </a:r>
            <a:r>
              <a:rPr lang="en-US" b="1" dirty="0"/>
              <a:t>D</a:t>
            </a:r>
            <a:r>
              <a:rPr lang="en-US" dirty="0"/>
              <a:t>).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A regular sort would organize the sizes alphabetically, which would be incorrect.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Instead, we'll create a custom list to sort from smallest to largest.</a:t>
            </a:r>
          </a:p>
        </p:txBody>
      </p:sp>
    </p:spTree>
    <p:extLst>
      <p:ext uri="{BB962C8B-B14F-4D97-AF65-F5344CB8AC3E}">
        <p14:creationId xmlns:p14="http://schemas.microsoft.com/office/powerpoint/2010/main" val="3912423752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custom sort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a </a:t>
            </a:r>
            <a:r>
              <a:rPr lang="en-US" b="1" dirty="0"/>
              <a:t>cell</a:t>
            </a:r>
            <a:r>
              <a:rPr lang="en-US" dirty="0"/>
              <a:t> in the column you want to sort. In our example, we'll select cell </a:t>
            </a:r>
            <a:r>
              <a:rPr lang="en-US" b="1" dirty="0"/>
              <a:t>D2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178AB-E62F-4144-A7A7-99F1393CA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247900"/>
            <a:ext cx="7200800" cy="362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21760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custom sort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 </a:t>
            </a:r>
            <a:r>
              <a:rPr lang="en-US" b="1" dirty="0"/>
              <a:t>Data</a:t>
            </a:r>
            <a:r>
              <a:rPr lang="en-US" dirty="0"/>
              <a:t> tab, then click the </a:t>
            </a:r>
            <a:r>
              <a:rPr lang="en-US" b="1" dirty="0"/>
              <a:t>Sort</a:t>
            </a:r>
            <a:r>
              <a:rPr lang="en-US" dirty="0"/>
              <a:t> command.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A3A631-062A-4592-A4A8-E68BADB7A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700808"/>
            <a:ext cx="4608512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25155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custom sort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</a:t>
            </a:r>
            <a:r>
              <a:rPr lang="en-US" b="1" dirty="0"/>
              <a:t> Sort </a:t>
            </a:r>
            <a:r>
              <a:rPr lang="en-US" dirty="0"/>
              <a:t>dialog box will appear. Select the </a:t>
            </a:r>
            <a:r>
              <a:rPr lang="en-US" b="1" dirty="0"/>
              <a:t>column</a:t>
            </a:r>
            <a:r>
              <a:rPr lang="en-US" dirty="0"/>
              <a:t> you want to sort, then choose </a:t>
            </a:r>
            <a:r>
              <a:rPr lang="en-US" b="1" dirty="0"/>
              <a:t>Custom List... </a:t>
            </a:r>
            <a:r>
              <a:rPr lang="en-US" dirty="0"/>
              <a:t>from the </a:t>
            </a:r>
            <a:r>
              <a:rPr lang="en-US" b="1" dirty="0"/>
              <a:t>Order</a:t>
            </a:r>
            <a:r>
              <a:rPr lang="en-US" dirty="0"/>
              <a:t> field. In our example, we will choose to sort by </a:t>
            </a:r>
            <a:r>
              <a:rPr lang="en-US" b="1" dirty="0"/>
              <a:t>T-Shirt Size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8A5614-EB15-4ADD-86FC-761109703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852936"/>
            <a:ext cx="7416824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87634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custom sort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</a:t>
            </a:r>
            <a:r>
              <a:rPr lang="en-US" b="1" dirty="0"/>
              <a:t>Custom Lists </a:t>
            </a:r>
            <a:r>
              <a:rPr lang="en-US" dirty="0"/>
              <a:t>dialog box will appear. Select </a:t>
            </a:r>
            <a:r>
              <a:rPr lang="en-US" b="1" dirty="0"/>
              <a:t>NEW LIST</a:t>
            </a:r>
            <a:r>
              <a:rPr lang="en-US" dirty="0"/>
              <a:t> from the </a:t>
            </a:r>
            <a:r>
              <a:rPr lang="en-US" b="1" dirty="0"/>
              <a:t>Custom Lists</a:t>
            </a:r>
            <a:r>
              <a:rPr lang="en-US" dirty="0"/>
              <a:t>: box.</a:t>
            </a:r>
          </a:p>
          <a:p>
            <a:pPr algn="just" fontAlgn="base"/>
            <a:r>
              <a:rPr lang="en-US" dirty="0"/>
              <a:t>Type the items in the desired custom order in the </a:t>
            </a:r>
            <a:r>
              <a:rPr lang="en-US" b="1" dirty="0"/>
              <a:t>List entries</a:t>
            </a:r>
            <a:r>
              <a:rPr lang="en-US" dirty="0"/>
              <a:t>: box. In our example, we want to sort our data by T-shirt size from </a:t>
            </a:r>
            <a:r>
              <a:rPr lang="en-US" b="1" dirty="0"/>
              <a:t>smallest</a:t>
            </a:r>
            <a:r>
              <a:rPr lang="en-US" dirty="0"/>
              <a:t> to </a:t>
            </a:r>
            <a:r>
              <a:rPr lang="en-US" b="1" dirty="0"/>
              <a:t>largest</a:t>
            </a:r>
            <a:r>
              <a:rPr lang="en-US" dirty="0"/>
              <a:t>, so we'll type </a:t>
            </a:r>
            <a:r>
              <a:rPr lang="en-US" b="1" dirty="0"/>
              <a:t>Small</a:t>
            </a:r>
            <a:r>
              <a:rPr lang="en-US" dirty="0"/>
              <a:t>, </a:t>
            </a:r>
            <a:r>
              <a:rPr lang="en-US" b="1" dirty="0"/>
              <a:t>Medium</a:t>
            </a:r>
            <a:r>
              <a:rPr lang="en-US" dirty="0"/>
              <a:t>, </a:t>
            </a:r>
            <a:r>
              <a:rPr lang="en-US" b="1" dirty="0"/>
              <a:t>Large</a:t>
            </a:r>
            <a:r>
              <a:rPr lang="en-US" dirty="0"/>
              <a:t>, and </a:t>
            </a:r>
            <a:r>
              <a:rPr lang="en-US" b="1" dirty="0"/>
              <a:t>X-Large</a:t>
            </a:r>
            <a:r>
              <a:rPr lang="en-US" dirty="0"/>
              <a:t>, pressing Enter on the keyboard after each item.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164866-2551-4F0C-B8D9-52C5A67BE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4305300"/>
            <a:ext cx="558165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75943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custom sort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Click </a:t>
            </a:r>
            <a:r>
              <a:rPr lang="en-US" b="1" dirty="0"/>
              <a:t>Add</a:t>
            </a:r>
            <a:r>
              <a:rPr lang="en-US" dirty="0"/>
              <a:t> to save the new sort order. The new list will be added to the </a:t>
            </a:r>
            <a:r>
              <a:rPr lang="en-US" b="1" dirty="0"/>
              <a:t>Custom lists:</a:t>
            </a:r>
            <a:r>
              <a:rPr lang="en-US" dirty="0"/>
              <a:t> box. Make sure the new list is </a:t>
            </a:r>
            <a:r>
              <a:rPr lang="en-US" b="1" dirty="0"/>
              <a:t>selected</a:t>
            </a:r>
            <a:r>
              <a:rPr lang="en-US" dirty="0"/>
              <a:t>, then click </a:t>
            </a:r>
            <a:r>
              <a:rPr lang="en-US" b="1" dirty="0"/>
              <a:t>OK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AC246-5798-4961-B57C-572BE6F7E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348880"/>
            <a:ext cx="5760640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40250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custom sort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 </a:t>
            </a:r>
            <a:r>
              <a:rPr lang="en-US" b="1" dirty="0"/>
              <a:t>Custom Lists</a:t>
            </a:r>
            <a:r>
              <a:rPr lang="en-US" dirty="0"/>
              <a:t> dialog box will close. Click </a:t>
            </a:r>
            <a:r>
              <a:rPr lang="en-US" b="1" dirty="0"/>
              <a:t>OK</a:t>
            </a:r>
            <a:r>
              <a:rPr lang="en-US" dirty="0"/>
              <a:t> in the </a:t>
            </a:r>
            <a:r>
              <a:rPr lang="en-US" b="1" dirty="0"/>
              <a:t>Sort</a:t>
            </a:r>
            <a:r>
              <a:rPr lang="en-US" dirty="0"/>
              <a:t> dialog box to perform the custom sort.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2948EE-D36B-4B62-8E94-DE93C2E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152650"/>
            <a:ext cx="6552728" cy="336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64734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custom sort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worksheet will be </a:t>
            </a:r>
            <a:r>
              <a:rPr lang="en-US" b="1" dirty="0"/>
              <a:t>sorted</a:t>
            </a:r>
            <a:r>
              <a:rPr lang="en-US" dirty="0"/>
              <a:t> by the custom order. In our example, the worksheet is now organized by T-shirt size from smallest to largest.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AED0E-D8DC-4E6C-82F6-7767783D0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2132856"/>
            <a:ext cx="5981700" cy="4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519071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Sorting levels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If you need more control over how your data is sorted, you can add multiple </a:t>
            </a:r>
            <a:r>
              <a:rPr lang="en-US" b="1" dirty="0"/>
              <a:t>levels</a:t>
            </a:r>
            <a:r>
              <a:rPr lang="en-US" dirty="0"/>
              <a:t> to any sort.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This allows you to sort your data by </a:t>
            </a:r>
            <a:r>
              <a:rPr lang="en-US" b="1" dirty="0"/>
              <a:t>more than one column</a:t>
            </a:r>
            <a:r>
              <a:rPr lang="en-US" dirty="0"/>
              <a:t>.</a:t>
            </a:r>
          </a:p>
          <a:p>
            <a:pPr algn="just"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349033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add a level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In our example below, we'll sort the worksheet by </a:t>
            </a:r>
            <a:r>
              <a:rPr lang="en-US" b="1" dirty="0"/>
              <a:t>T-Shirt Size</a:t>
            </a:r>
            <a:r>
              <a:rPr lang="en-US" dirty="0"/>
              <a:t> (Column </a:t>
            </a:r>
            <a:r>
              <a:rPr lang="en-US" b="1" dirty="0"/>
              <a:t>D</a:t>
            </a:r>
            <a:r>
              <a:rPr lang="en-US" dirty="0"/>
              <a:t>), then by </a:t>
            </a:r>
            <a:r>
              <a:rPr lang="en-US" b="1" dirty="0"/>
              <a:t>Homeroom #</a:t>
            </a:r>
            <a:r>
              <a:rPr lang="en-US" dirty="0"/>
              <a:t> (column </a:t>
            </a:r>
            <a:r>
              <a:rPr lang="en-US" b="1" dirty="0"/>
              <a:t>A</a:t>
            </a:r>
            <a:r>
              <a:rPr lang="en-US" dirty="0"/>
              <a:t>).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Select a </a:t>
            </a:r>
            <a:r>
              <a:rPr lang="en-US" b="1" dirty="0"/>
              <a:t>cell</a:t>
            </a:r>
            <a:r>
              <a:rPr lang="en-US" dirty="0"/>
              <a:t> in the column you want to sort. In our example, we'll select cell </a:t>
            </a:r>
            <a:r>
              <a:rPr lang="en-US" b="1" dirty="0"/>
              <a:t>A2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709F6F-7657-47E2-A2F7-02A5197F2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005064"/>
            <a:ext cx="7056784" cy="285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347608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add a level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Click the </a:t>
            </a:r>
            <a:r>
              <a:rPr lang="en-US" b="1" dirty="0"/>
              <a:t>Data</a:t>
            </a:r>
            <a:r>
              <a:rPr lang="en-US" dirty="0"/>
              <a:t> tab, then select the </a:t>
            </a:r>
            <a:r>
              <a:rPr lang="en-US" b="1" dirty="0"/>
              <a:t>Sort</a:t>
            </a:r>
            <a:r>
              <a:rPr lang="en-US" dirty="0"/>
              <a:t> command.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AEBA87-438F-4953-B93B-7A1441C9D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628800"/>
            <a:ext cx="5040560" cy="28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21267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add a level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</a:t>
            </a:r>
            <a:r>
              <a:rPr lang="en-US" b="1" dirty="0"/>
              <a:t> Sort </a:t>
            </a:r>
            <a:r>
              <a:rPr lang="en-US" dirty="0"/>
              <a:t>dialog box will appear. Select the first column you want to sort. In this example, we will sort by </a:t>
            </a:r>
            <a:r>
              <a:rPr lang="en-US" b="1" dirty="0"/>
              <a:t>T-Shirt Size</a:t>
            </a:r>
            <a:r>
              <a:rPr lang="en-US" dirty="0"/>
              <a:t> (column </a:t>
            </a:r>
            <a:r>
              <a:rPr lang="en-US" b="1" dirty="0"/>
              <a:t>D</a:t>
            </a:r>
            <a:r>
              <a:rPr lang="en-US" dirty="0"/>
              <a:t>) with the custom list we previously created for the Order field.</a:t>
            </a:r>
          </a:p>
          <a:p>
            <a:pPr algn="just" fontAlgn="base"/>
            <a:r>
              <a:rPr lang="en-US" dirty="0"/>
              <a:t>Click </a:t>
            </a:r>
            <a:r>
              <a:rPr lang="en-US" b="1" dirty="0"/>
              <a:t>Add Level</a:t>
            </a:r>
            <a:r>
              <a:rPr lang="en-US" dirty="0"/>
              <a:t> to add another column to sort.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8D220-EB46-49BF-AC9C-3997C6C11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286" y="3413178"/>
            <a:ext cx="6292105" cy="296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584600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add a level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 next column you want to sort, then click </a:t>
            </a:r>
            <a:r>
              <a:rPr lang="en-US" b="1" dirty="0"/>
              <a:t>OK</a:t>
            </a:r>
            <a:r>
              <a:rPr lang="en-US" dirty="0"/>
              <a:t>. In our example, we'll sort by </a:t>
            </a:r>
            <a:r>
              <a:rPr lang="en-US" b="1" dirty="0"/>
              <a:t>Homeroom #</a:t>
            </a:r>
            <a:r>
              <a:rPr lang="en-US" dirty="0"/>
              <a:t> (column </a:t>
            </a:r>
            <a:r>
              <a:rPr lang="en-US" b="1" dirty="0"/>
              <a:t>A</a:t>
            </a:r>
            <a:r>
              <a:rPr lang="en-US" dirty="0"/>
              <a:t>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8469BA-DA8E-4F02-B772-CB17B7651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431530"/>
            <a:ext cx="6624735" cy="294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19468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add a level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worksheet will be </a:t>
            </a:r>
            <a:r>
              <a:rPr lang="en-US" b="1" dirty="0"/>
              <a:t>sorted </a:t>
            </a:r>
            <a:r>
              <a:rPr lang="en-US" dirty="0"/>
              <a:t>according to the selected order. In our example, the orders are sorted by T-shirt size. Within each group of T-shirt sizes, students are sorted by homeroom number.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01769B-FFC1-43CA-9D91-EAE2D43BC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2708920"/>
            <a:ext cx="5981700" cy="414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45284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add a level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If you need to change the order of a multilevel sort, it's easy to control which column is sorted first. Simply select the desired </a:t>
            </a:r>
            <a:r>
              <a:rPr lang="en-US" b="1" dirty="0"/>
              <a:t>column</a:t>
            </a:r>
            <a:r>
              <a:rPr lang="en-US" dirty="0"/>
              <a:t>, then click the </a:t>
            </a:r>
            <a:r>
              <a:rPr lang="en-US" b="1" dirty="0"/>
              <a:t>Move Up </a:t>
            </a:r>
            <a:r>
              <a:rPr lang="en-US" dirty="0"/>
              <a:t>or </a:t>
            </a:r>
            <a:r>
              <a:rPr lang="en-US" b="1" dirty="0"/>
              <a:t>Move Down</a:t>
            </a:r>
            <a:r>
              <a:rPr lang="en-US" dirty="0"/>
              <a:t> arrow to adjust its priority.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2D66E7-D744-4D59-96BC-A46749A77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425867"/>
            <a:ext cx="6552728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95831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Excel - Filtering Data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If your worksheet contains a lot of content, it can be difficult to find information quickly. </a:t>
            </a:r>
          </a:p>
          <a:p>
            <a:pPr algn="just" fontAlgn="base"/>
            <a:endParaRPr lang="en-US" b="1" dirty="0"/>
          </a:p>
          <a:p>
            <a:pPr algn="just" fontAlgn="base"/>
            <a:r>
              <a:rPr lang="en-US" b="1" dirty="0"/>
              <a:t>Filters</a:t>
            </a:r>
            <a:r>
              <a:rPr lang="en-US" dirty="0"/>
              <a:t> can be used to </a:t>
            </a:r>
            <a:r>
              <a:rPr lang="en-US" b="1" dirty="0"/>
              <a:t>narrow down</a:t>
            </a:r>
            <a:r>
              <a:rPr lang="en-US" dirty="0"/>
              <a:t> the data in your worksheet, allowing you to view only the information you need.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In our example, we'll apply a filter to an equipment log worksheet to display only the laptops and projectors that are available for checkout.</a:t>
            </a:r>
          </a:p>
        </p:txBody>
      </p:sp>
    </p:spTree>
    <p:extLst>
      <p:ext uri="{BB962C8B-B14F-4D97-AF65-F5344CB8AC3E}">
        <p14:creationId xmlns:p14="http://schemas.microsoft.com/office/powerpoint/2010/main" val="2522074893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filter data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In order for filtering to work correctly, your worksheet should include a</a:t>
            </a:r>
            <a:r>
              <a:rPr lang="en-US" b="1" dirty="0"/>
              <a:t> header row</a:t>
            </a:r>
            <a:r>
              <a:rPr lang="en-US" dirty="0"/>
              <a:t>, which is used to identify the name of each column. In our example, our worksheet is organized into different columns identified by the header cells in row 1: </a:t>
            </a:r>
            <a:r>
              <a:rPr lang="en-US" b="1" dirty="0"/>
              <a:t>ID#</a:t>
            </a:r>
            <a:r>
              <a:rPr lang="en-US" dirty="0"/>
              <a:t>, </a:t>
            </a:r>
            <a:r>
              <a:rPr lang="en-US" b="1" dirty="0"/>
              <a:t>Type</a:t>
            </a:r>
            <a:r>
              <a:rPr lang="en-US" dirty="0"/>
              <a:t>, </a:t>
            </a:r>
            <a:r>
              <a:rPr lang="en-US" b="1" dirty="0"/>
              <a:t>Equipment</a:t>
            </a:r>
            <a:r>
              <a:rPr lang="en-US" dirty="0"/>
              <a:t> </a:t>
            </a:r>
            <a:r>
              <a:rPr lang="en-US" b="1" dirty="0"/>
              <a:t>Detail</a:t>
            </a:r>
            <a:r>
              <a:rPr lang="en-US" dirty="0"/>
              <a:t>, and so 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E20D2-0EA9-414A-B414-169731DE4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7" y="3739344"/>
            <a:ext cx="8353425" cy="292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32559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filter data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 </a:t>
            </a:r>
            <a:r>
              <a:rPr lang="en-US" b="1" dirty="0"/>
              <a:t>Data</a:t>
            </a:r>
            <a:r>
              <a:rPr lang="en-US" dirty="0"/>
              <a:t> tab, then click the </a:t>
            </a:r>
            <a:r>
              <a:rPr lang="en-US" b="1" dirty="0"/>
              <a:t>Filter</a:t>
            </a:r>
            <a:r>
              <a:rPr lang="en-US" dirty="0"/>
              <a:t> command.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81816-2F02-4066-A1F0-42A19E1BC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772816"/>
            <a:ext cx="6192688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17499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filter data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A</a:t>
            </a:r>
            <a:r>
              <a:rPr lang="en-US" b="1" dirty="0"/>
              <a:t> drop-down arrow</a:t>
            </a:r>
            <a:r>
              <a:rPr lang="en-US" dirty="0"/>
              <a:t> will appear in the header cell for each column.</a:t>
            </a:r>
          </a:p>
          <a:p>
            <a:pPr fontAlgn="base"/>
            <a:r>
              <a:rPr lang="en-US" dirty="0"/>
              <a:t>Click the </a:t>
            </a:r>
            <a:r>
              <a:rPr lang="en-US" b="1" dirty="0"/>
              <a:t>drop-down arrow</a:t>
            </a:r>
            <a:r>
              <a:rPr lang="en-US" dirty="0"/>
              <a:t> for the column you want to filter. In our example, we will filter column </a:t>
            </a:r>
            <a:r>
              <a:rPr lang="en-US" b="1" dirty="0"/>
              <a:t>B</a:t>
            </a:r>
            <a:r>
              <a:rPr lang="en-US" dirty="0"/>
              <a:t> to view only certain types of equipment.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C9A906-2C4D-4CD8-A364-D9A31FFDA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3573016"/>
            <a:ext cx="5616624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216327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filter data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The </a:t>
            </a:r>
            <a:r>
              <a:rPr lang="en-US" b="1" dirty="0"/>
              <a:t>Filter</a:t>
            </a:r>
            <a:r>
              <a:rPr lang="en-US" dirty="0"/>
              <a:t> </a:t>
            </a:r>
            <a:r>
              <a:rPr lang="en-US" b="1" dirty="0"/>
              <a:t>menu</a:t>
            </a:r>
            <a:r>
              <a:rPr lang="en-US" dirty="0"/>
              <a:t> will appear.</a:t>
            </a:r>
          </a:p>
          <a:p>
            <a:pPr fontAlgn="base"/>
            <a:r>
              <a:rPr lang="en-US" b="1" dirty="0"/>
              <a:t>Uncheck </a:t>
            </a:r>
            <a:r>
              <a:rPr lang="en-US" dirty="0"/>
              <a:t>the box next to </a:t>
            </a:r>
            <a:r>
              <a:rPr lang="en-US" b="1" dirty="0"/>
              <a:t>Select All</a:t>
            </a:r>
            <a:r>
              <a:rPr lang="en-US" dirty="0"/>
              <a:t> to quickly deselect all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A63320-6EC8-4B46-8530-B52738C65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062" y="2276872"/>
            <a:ext cx="5407298" cy="458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99686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filter data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b="1" dirty="0"/>
              <a:t>Check</a:t>
            </a:r>
            <a:r>
              <a:rPr lang="en-US" dirty="0"/>
              <a:t> the boxes next to the data you want to filter, then click </a:t>
            </a:r>
            <a:r>
              <a:rPr lang="en-US" b="1" dirty="0"/>
              <a:t>OK</a:t>
            </a:r>
            <a:r>
              <a:rPr lang="en-US" dirty="0"/>
              <a:t>. In this example, we will check </a:t>
            </a:r>
            <a:r>
              <a:rPr lang="en-US" b="1" dirty="0"/>
              <a:t>Laptop</a:t>
            </a:r>
            <a:r>
              <a:rPr lang="en-US" dirty="0"/>
              <a:t> and </a:t>
            </a:r>
            <a:r>
              <a:rPr lang="en-US" b="1" dirty="0"/>
              <a:t>Projector </a:t>
            </a:r>
            <a:r>
              <a:rPr lang="en-US" dirty="0"/>
              <a:t>to view only these types of equipment.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039B0-9082-4DF1-9751-C07F42EEF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062" y="2636913"/>
            <a:ext cx="5767338" cy="42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16447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filter data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data will be </a:t>
            </a:r>
            <a:r>
              <a:rPr lang="en-US" b="1" dirty="0"/>
              <a:t>filtered</a:t>
            </a:r>
            <a:r>
              <a:rPr lang="en-US" dirty="0"/>
              <a:t>, temporarily hiding any content that doesn't match the criteria. In our example, only laptops and projectors are visible.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7C81FB-A74A-4C3C-8213-409FD581F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2276871"/>
            <a:ext cx="8334375" cy="458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75541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filter data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Filtering options can also be accessed from the </a:t>
            </a:r>
            <a:r>
              <a:rPr lang="en-US" b="1" dirty="0"/>
              <a:t>Sort &amp; Filter</a:t>
            </a:r>
            <a:r>
              <a:rPr lang="en-US" dirty="0"/>
              <a:t> command on the </a:t>
            </a:r>
            <a:r>
              <a:rPr lang="en-US" b="1" dirty="0"/>
              <a:t>Home</a:t>
            </a:r>
            <a:r>
              <a:rPr lang="en-US" dirty="0"/>
              <a:t> tab.</a:t>
            </a:r>
          </a:p>
          <a:p>
            <a:pPr algn="just" fontAlgn="base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E5E98-CA46-4468-9FC7-C5B064B8F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916832"/>
            <a:ext cx="5688632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85093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apply multiple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Filters are </a:t>
            </a:r>
            <a:r>
              <a:rPr lang="en-US" b="1" dirty="0"/>
              <a:t>cumulative</a:t>
            </a:r>
            <a:r>
              <a:rPr lang="en-US" dirty="0"/>
              <a:t>, which means you can apply </a:t>
            </a:r>
            <a:r>
              <a:rPr lang="en-US" b="1" dirty="0"/>
              <a:t>multiple</a:t>
            </a:r>
            <a:r>
              <a:rPr lang="en-US" dirty="0"/>
              <a:t> </a:t>
            </a:r>
            <a:r>
              <a:rPr lang="en-US" b="1" dirty="0"/>
              <a:t>filters </a:t>
            </a:r>
            <a:r>
              <a:rPr lang="en-US" dirty="0"/>
              <a:t>to help narrow down your results.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In this example, we've already filtered our worksheet to show laptops and projectors, and we'd like to narrow it down further to only show </a:t>
            </a:r>
            <a:r>
              <a:rPr lang="en-US" b="1" dirty="0"/>
              <a:t>laptops </a:t>
            </a:r>
            <a:r>
              <a:rPr lang="en-US" dirty="0"/>
              <a:t>and </a:t>
            </a:r>
            <a:r>
              <a:rPr lang="en-US" b="1" dirty="0"/>
              <a:t>projectors</a:t>
            </a:r>
            <a:r>
              <a:rPr lang="en-US" dirty="0"/>
              <a:t> that were checked out in </a:t>
            </a:r>
            <a:r>
              <a:rPr lang="en-US" b="1" dirty="0"/>
              <a:t>August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7599338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apply multiple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Click the </a:t>
            </a:r>
            <a:r>
              <a:rPr lang="en-US" b="1" dirty="0"/>
              <a:t>drop-down arrow</a:t>
            </a:r>
            <a:r>
              <a:rPr lang="en-US" dirty="0"/>
              <a:t> for the column you want to filter. In this example, we will add a filter to column </a:t>
            </a:r>
            <a:r>
              <a:rPr lang="en-US" b="1" dirty="0"/>
              <a:t>D </a:t>
            </a:r>
            <a:r>
              <a:rPr lang="en-US" dirty="0"/>
              <a:t>to view information by date.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D89F83-DF64-41D7-B48B-444F7B0C5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2297785"/>
            <a:ext cx="8334375" cy="453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10037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apply multiple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 </a:t>
            </a:r>
            <a:r>
              <a:rPr lang="en-US" b="1" dirty="0"/>
              <a:t>Filter menu</a:t>
            </a:r>
            <a:r>
              <a:rPr lang="en-US" dirty="0"/>
              <a:t> will appear.</a:t>
            </a:r>
          </a:p>
          <a:p>
            <a:pPr algn="just" fontAlgn="base"/>
            <a:r>
              <a:rPr lang="en-US" b="1" dirty="0"/>
              <a:t>Check</a:t>
            </a:r>
            <a:r>
              <a:rPr lang="en-US" dirty="0"/>
              <a:t> or </a:t>
            </a:r>
            <a:r>
              <a:rPr lang="en-US" b="1" dirty="0"/>
              <a:t>uncheck</a:t>
            </a:r>
            <a:r>
              <a:rPr lang="en-US" dirty="0"/>
              <a:t> the boxes depending on the data you want to filter, then click </a:t>
            </a:r>
            <a:r>
              <a:rPr lang="en-US" b="1" dirty="0"/>
              <a:t>OK</a:t>
            </a:r>
            <a:r>
              <a:rPr lang="en-US" dirty="0"/>
              <a:t>. In our example, we'll uncheck everything except for </a:t>
            </a:r>
            <a:r>
              <a:rPr lang="en-US" b="1" dirty="0"/>
              <a:t>August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79C373-25F4-4108-B862-27DF49FAE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924944"/>
            <a:ext cx="5112567" cy="393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46186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apply multiple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new filter will be applied. In our example, the worksheet is now filtered to show only laptops and projectors that were checked out in August.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8E618-0747-490C-ACD9-57AA4A04B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2314574"/>
            <a:ext cx="8334375" cy="37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01108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clear a filter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After applying a filter, you may want to remove—or </a:t>
            </a:r>
            <a:r>
              <a:rPr lang="en-US" b="1" dirty="0"/>
              <a:t>clear</a:t>
            </a:r>
            <a:r>
              <a:rPr lang="en-US" dirty="0"/>
              <a:t>—it from your worksheet so you'll be able to filter content in different ways.</a:t>
            </a:r>
          </a:p>
          <a:p>
            <a:pPr fontAlgn="base"/>
            <a:r>
              <a:rPr lang="en-US" dirty="0"/>
              <a:t>Click the </a:t>
            </a:r>
            <a:r>
              <a:rPr lang="en-US" b="1" dirty="0"/>
              <a:t>drop-down arrow </a:t>
            </a:r>
            <a:r>
              <a:rPr lang="en-US" dirty="0"/>
              <a:t>for the filter you want to clear. In our example, we'll clear the filter in column </a:t>
            </a:r>
            <a:r>
              <a:rPr lang="en-US" b="1" dirty="0"/>
              <a:t>D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E40235-B520-46DC-974E-84BB6DEA2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0" y="4008462"/>
            <a:ext cx="8622502" cy="258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557335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clear a filter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The </a:t>
            </a:r>
            <a:r>
              <a:rPr lang="en-US" b="1" dirty="0"/>
              <a:t>Filter menu</a:t>
            </a:r>
            <a:r>
              <a:rPr lang="en-US" dirty="0"/>
              <a:t> will appear.</a:t>
            </a:r>
          </a:p>
          <a:p>
            <a:pPr fontAlgn="base"/>
            <a:r>
              <a:rPr lang="en-US" dirty="0"/>
              <a:t>Choose </a:t>
            </a:r>
            <a:r>
              <a:rPr lang="en-US" b="1" dirty="0"/>
              <a:t>Clear Filter From [COLUMN NAME] </a:t>
            </a:r>
            <a:r>
              <a:rPr lang="en-US" dirty="0"/>
              <a:t>from the Filter menu. In our example, we'll select </a:t>
            </a:r>
            <a:r>
              <a:rPr lang="en-US" b="1" dirty="0"/>
              <a:t>Clear Filter From "Checked Out</a:t>
            </a:r>
            <a:r>
              <a:rPr lang="en-US" dirty="0"/>
              <a:t>".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24D6D4-945F-45D8-90DD-51392B5FE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5" y="2708920"/>
            <a:ext cx="5112568" cy="414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4265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clear a filter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The filter will be cleared from the column. The previously hidden data will be displayed.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222C21-C530-48C3-B8F1-EE3B7DA4B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73" y="1916832"/>
            <a:ext cx="833437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93204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clear a filter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To remove all filters from your worksheet, click the </a:t>
            </a:r>
            <a:r>
              <a:rPr lang="en-US" b="1" dirty="0"/>
              <a:t>Filter</a:t>
            </a:r>
            <a:r>
              <a:rPr lang="en-US" dirty="0"/>
              <a:t> command on the </a:t>
            </a:r>
            <a:r>
              <a:rPr lang="en-US" b="1" dirty="0"/>
              <a:t>Data</a:t>
            </a:r>
            <a:r>
              <a:rPr lang="en-US" dirty="0"/>
              <a:t> tab.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B5B95D-13DF-40C7-8945-8508D2F89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132856"/>
            <a:ext cx="5112568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850007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Advanced filtering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If you need a filter for something specific, basic filtering may not give you enough options.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Fortunately, Excel includes several </a:t>
            </a:r>
            <a:r>
              <a:rPr lang="en-US" b="1" dirty="0"/>
              <a:t>advanced filtering tools</a:t>
            </a:r>
            <a:r>
              <a:rPr lang="en-US" dirty="0"/>
              <a:t>, including </a:t>
            </a:r>
            <a:r>
              <a:rPr lang="en-US" b="1" dirty="0"/>
              <a:t>search</a:t>
            </a:r>
            <a:r>
              <a:rPr lang="en-US" dirty="0"/>
              <a:t>, </a:t>
            </a:r>
            <a:r>
              <a:rPr lang="en-US" b="1" dirty="0"/>
              <a:t>text</a:t>
            </a:r>
            <a:r>
              <a:rPr lang="en-US" dirty="0"/>
              <a:t>, </a:t>
            </a:r>
            <a:r>
              <a:rPr lang="en-US" b="1" dirty="0"/>
              <a:t>date</a:t>
            </a:r>
            <a:r>
              <a:rPr lang="en-US" dirty="0"/>
              <a:t>, and number filtering, which can narrow your results to help find exactly what you need.</a:t>
            </a:r>
          </a:p>
        </p:txBody>
      </p:sp>
    </p:spTree>
    <p:extLst>
      <p:ext uri="{BB962C8B-B14F-4D97-AF65-F5344CB8AC3E}">
        <p14:creationId xmlns:p14="http://schemas.microsoft.com/office/powerpoint/2010/main" val="2356647198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filter with search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Excel allows you to </a:t>
            </a:r>
            <a:r>
              <a:rPr lang="en-US" b="1" dirty="0"/>
              <a:t>search</a:t>
            </a:r>
            <a:r>
              <a:rPr lang="en-US" dirty="0"/>
              <a:t> for data that contains an exact phrase, number, date, and more.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In our example, we'll use this feature to show only </a:t>
            </a:r>
            <a:r>
              <a:rPr lang="en-US" b="1" dirty="0"/>
              <a:t>Saris</a:t>
            </a:r>
            <a:r>
              <a:rPr lang="en-US" dirty="0"/>
              <a:t> brand products in our equipment log.</a:t>
            </a:r>
          </a:p>
        </p:txBody>
      </p:sp>
    </p:spTree>
    <p:extLst>
      <p:ext uri="{BB962C8B-B14F-4D97-AF65-F5344CB8AC3E}">
        <p14:creationId xmlns:p14="http://schemas.microsoft.com/office/powerpoint/2010/main" val="1577893933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filter with search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 </a:t>
            </a:r>
            <a:r>
              <a:rPr lang="en-US" b="1" dirty="0"/>
              <a:t>Data</a:t>
            </a:r>
            <a:r>
              <a:rPr lang="en-US" dirty="0"/>
              <a:t> tab, then click the </a:t>
            </a:r>
            <a:r>
              <a:rPr lang="en-US" b="1" dirty="0"/>
              <a:t>Filter</a:t>
            </a:r>
            <a:r>
              <a:rPr lang="en-US" dirty="0"/>
              <a:t> command. A</a:t>
            </a:r>
            <a:r>
              <a:rPr lang="en-US" b="1" dirty="0"/>
              <a:t> drop-down arrow</a:t>
            </a:r>
            <a:r>
              <a:rPr lang="en-US" dirty="0"/>
              <a:t> will appear in the header cell for each column. </a:t>
            </a:r>
            <a:r>
              <a:rPr lang="en-US" b="1" dirty="0"/>
              <a:t>Note</a:t>
            </a:r>
            <a:r>
              <a:rPr lang="en-US" dirty="0"/>
              <a:t>: If you've already added filters to your worksheet, you can skip this step.</a:t>
            </a:r>
          </a:p>
          <a:p>
            <a:pPr algn="just" fontAlgn="base"/>
            <a:r>
              <a:rPr lang="en-US" dirty="0"/>
              <a:t>Click the </a:t>
            </a:r>
            <a:r>
              <a:rPr lang="en-US" b="1" dirty="0"/>
              <a:t>drop-down arrow</a:t>
            </a:r>
            <a:r>
              <a:rPr lang="en-US" dirty="0"/>
              <a:t> for the column you want to filter. In our example, we'll filter column </a:t>
            </a:r>
            <a:r>
              <a:rPr lang="en-US" b="1" dirty="0"/>
              <a:t>C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E759B-7E1A-4943-AFDD-F34BE4F6A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19559"/>
            <a:ext cx="835342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89361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filter with search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 </a:t>
            </a:r>
            <a:r>
              <a:rPr lang="en-US" b="1" dirty="0"/>
              <a:t>Filter menu</a:t>
            </a:r>
            <a:r>
              <a:rPr lang="en-US" dirty="0"/>
              <a:t> will appear. Enter a </a:t>
            </a:r>
            <a:r>
              <a:rPr lang="en-US" b="1" dirty="0"/>
              <a:t>search term</a:t>
            </a:r>
            <a:r>
              <a:rPr lang="en-US" dirty="0"/>
              <a:t> into the </a:t>
            </a:r>
            <a:r>
              <a:rPr lang="en-US" b="1" dirty="0"/>
              <a:t>search box</a:t>
            </a:r>
            <a:r>
              <a:rPr lang="en-US" dirty="0"/>
              <a:t>. Search results will appear automatically below the </a:t>
            </a:r>
            <a:r>
              <a:rPr lang="en-US" b="1" dirty="0"/>
              <a:t>Text</a:t>
            </a:r>
            <a:r>
              <a:rPr lang="en-US" dirty="0"/>
              <a:t> </a:t>
            </a:r>
            <a:r>
              <a:rPr lang="en-US" b="1" dirty="0"/>
              <a:t>Filters</a:t>
            </a:r>
            <a:r>
              <a:rPr lang="en-US" dirty="0"/>
              <a:t> field as you type. In our example, we'll type </a:t>
            </a:r>
            <a:r>
              <a:rPr lang="en-US" b="1" dirty="0"/>
              <a:t>saris</a:t>
            </a:r>
            <a:r>
              <a:rPr lang="en-US" dirty="0"/>
              <a:t> to find all Saris brand equipment. When you're done, click </a:t>
            </a:r>
            <a:r>
              <a:rPr lang="en-US" b="1" dirty="0"/>
              <a:t>OK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EC148-C1B0-4F65-9E33-5200ADCCDB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212976"/>
            <a:ext cx="4752528" cy="36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69553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filter with search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worksheet will be </a:t>
            </a:r>
            <a:r>
              <a:rPr lang="en-US" b="1" dirty="0"/>
              <a:t>filtered</a:t>
            </a:r>
            <a:r>
              <a:rPr lang="en-US" dirty="0"/>
              <a:t> according to your search term. In our example, the worksheet is now filtered to show only Saris brand equipment.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9C8389-E9C1-4EE6-B7DE-3E3DE693E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7" y="2276872"/>
            <a:ext cx="835342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55512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text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b="1" dirty="0"/>
              <a:t>Advanced text filters</a:t>
            </a:r>
            <a:r>
              <a:rPr lang="en-US" dirty="0"/>
              <a:t> can be used to display more specific information, like cells that contain a certain number of characters or data that excludes a specific word or number. </a:t>
            </a:r>
          </a:p>
          <a:p>
            <a:pPr algn="just" fontAlgn="base"/>
            <a:endParaRPr lang="en-US" dirty="0"/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In our example, we'd like to exclude any item containing the word </a:t>
            </a:r>
            <a:r>
              <a:rPr lang="en-US" b="1" dirty="0"/>
              <a:t>laptop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1425163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text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 </a:t>
            </a:r>
            <a:r>
              <a:rPr lang="en-US" b="1" dirty="0"/>
              <a:t>Data</a:t>
            </a:r>
            <a:r>
              <a:rPr lang="en-US" dirty="0"/>
              <a:t> tab, then click the </a:t>
            </a:r>
            <a:r>
              <a:rPr lang="en-US" b="1" dirty="0"/>
              <a:t>Filter</a:t>
            </a:r>
            <a:r>
              <a:rPr lang="en-US" dirty="0"/>
              <a:t> command. A</a:t>
            </a:r>
            <a:r>
              <a:rPr lang="en-US" b="1" dirty="0"/>
              <a:t> drop-down arrow</a:t>
            </a:r>
            <a:r>
              <a:rPr lang="en-US" dirty="0"/>
              <a:t> will appear in the header cell for each column. </a:t>
            </a:r>
            <a:r>
              <a:rPr lang="en-US" b="1" dirty="0"/>
              <a:t>Note</a:t>
            </a:r>
            <a:r>
              <a:rPr lang="en-US" dirty="0"/>
              <a:t>: If you've already added filters to your worksheet, you can skip this step.</a:t>
            </a:r>
          </a:p>
          <a:p>
            <a:pPr algn="just" fontAlgn="base"/>
            <a:r>
              <a:rPr lang="en-US" dirty="0"/>
              <a:t>Click the </a:t>
            </a:r>
            <a:r>
              <a:rPr lang="en-US" b="1" dirty="0"/>
              <a:t>drop-down arrow</a:t>
            </a:r>
            <a:r>
              <a:rPr lang="en-US" dirty="0"/>
              <a:t> for the column you want to filter. In our example, we'll filter column </a:t>
            </a:r>
            <a:r>
              <a:rPr lang="en-US" b="1" dirty="0"/>
              <a:t>C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679A24-1356-4FF5-988F-B7BBF45BE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7" y="3933825"/>
            <a:ext cx="835342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3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text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 </a:t>
            </a:r>
            <a:r>
              <a:rPr lang="en-US" b="1" dirty="0"/>
              <a:t>Filter menu</a:t>
            </a:r>
            <a:r>
              <a:rPr lang="en-US" dirty="0"/>
              <a:t> will appear. Hover the mouse over</a:t>
            </a:r>
            <a:r>
              <a:rPr lang="en-US" b="1" dirty="0"/>
              <a:t> Text Filters</a:t>
            </a:r>
            <a:r>
              <a:rPr lang="en-US" dirty="0"/>
              <a:t>, then select the desired text filter from the drop-down menu. In our example, we'll choose </a:t>
            </a:r>
            <a:r>
              <a:rPr lang="en-US" b="1" dirty="0"/>
              <a:t>Does Not Contain...</a:t>
            </a:r>
            <a:r>
              <a:rPr lang="en-US" dirty="0"/>
              <a:t> to view data that does not contain specific text.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89372-CE88-4A92-8DB3-25DD89E53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925" y="3212976"/>
            <a:ext cx="5772150" cy="36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99339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text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 </a:t>
            </a:r>
            <a:r>
              <a:rPr lang="en-US" b="1" dirty="0"/>
              <a:t>Custom AutoFilter</a:t>
            </a:r>
            <a:r>
              <a:rPr lang="en-US" dirty="0"/>
              <a:t> dialog box will appear. Enter the</a:t>
            </a:r>
            <a:r>
              <a:rPr lang="en-US" b="1" dirty="0"/>
              <a:t> desired text </a:t>
            </a:r>
            <a:r>
              <a:rPr lang="en-US" dirty="0"/>
              <a:t>to the right of the filter, then click </a:t>
            </a:r>
            <a:r>
              <a:rPr lang="en-US" b="1" dirty="0"/>
              <a:t>OK</a:t>
            </a:r>
            <a:r>
              <a:rPr lang="en-US" dirty="0"/>
              <a:t>. In our example, we'll type </a:t>
            </a:r>
            <a:r>
              <a:rPr lang="en-US" b="1" dirty="0"/>
              <a:t>laptop</a:t>
            </a:r>
            <a:r>
              <a:rPr lang="en-US" dirty="0"/>
              <a:t> to exclude any items containing this word.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148C1-5AD0-40A2-8DF9-8CC0C020C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852936"/>
            <a:ext cx="6840760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93336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text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data will be filtered by the selected text filter. In our example, our worksheet now displays items that do not contain the word </a:t>
            </a:r>
            <a:r>
              <a:rPr lang="en-US" b="1" dirty="0"/>
              <a:t>laptop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314BC2-E9AE-4962-8A2B-7E8249717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99" y="2420888"/>
            <a:ext cx="8353425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16491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number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b="1" dirty="0"/>
              <a:t>Advanced number filters</a:t>
            </a:r>
            <a:r>
              <a:rPr lang="en-US" dirty="0"/>
              <a:t> allow you to manipulate numbered data in different ways.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In this example, we'll display only certain types of equipment based on the range of ID numbers.</a:t>
            </a:r>
          </a:p>
        </p:txBody>
      </p:sp>
    </p:spTree>
    <p:extLst>
      <p:ext uri="{BB962C8B-B14F-4D97-AF65-F5344CB8AC3E}">
        <p14:creationId xmlns:p14="http://schemas.microsoft.com/office/powerpoint/2010/main" val="1963049620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number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sz="2800" dirty="0"/>
              <a:t>Select the </a:t>
            </a:r>
            <a:r>
              <a:rPr lang="en-US" sz="2800" b="1" dirty="0"/>
              <a:t>Data</a:t>
            </a:r>
            <a:r>
              <a:rPr lang="en-US" sz="2800" dirty="0"/>
              <a:t> tab on the Ribbon, then click the </a:t>
            </a:r>
            <a:r>
              <a:rPr lang="en-US" sz="2800" b="1" dirty="0"/>
              <a:t>Filter</a:t>
            </a:r>
            <a:r>
              <a:rPr lang="en-US" sz="2800" dirty="0"/>
              <a:t> command. A </a:t>
            </a:r>
            <a:r>
              <a:rPr lang="en-US" sz="2800" b="1" dirty="0"/>
              <a:t>drop-down arrow</a:t>
            </a:r>
            <a:r>
              <a:rPr lang="en-US" sz="2800" dirty="0"/>
              <a:t> will appear in the header cell for each column. </a:t>
            </a:r>
            <a:r>
              <a:rPr lang="en-US" sz="2800" b="1" dirty="0"/>
              <a:t>Note</a:t>
            </a:r>
            <a:r>
              <a:rPr lang="en-US" sz="2800" dirty="0"/>
              <a:t>: If you've already added filters to your worksheet, you can skip this step.</a:t>
            </a:r>
          </a:p>
          <a:p>
            <a:pPr algn="just" fontAlgn="base"/>
            <a:r>
              <a:rPr lang="en-US" sz="2800" dirty="0"/>
              <a:t>Click the </a:t>
            </a:r>
            <a:r>
              <a:rPr lang="en-US" sz="2800" b="1" dirty="0"/>
              <a:t>drop-down arrow</a:t>
            </a:r>
            <a:r>
              <a:rPr lang="en-US" sz="2800" dirty="0"/>
              <a:t> for the column you want to filter. In our example, we'll filter column </a:t>
            </a:r>
            <a:r>
              <a:rPr lang="en-US" sz="2800" b="1" dirty="0"/>
              <a:t>A</a:t>
            </a:r>
            <a:r>
              <a:rPr lang="en-US" sz="2800" dirty="0"/>
              <a:t> to view only a certain range of ID numbers.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92FDC-5DC5-4838-9280-E11994F21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840021"/>
            <a:ext cx="8353425" cy="29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75338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number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 </a:t>
            </a:r>
            <a:r>
              <a:rPr lang="en-US" b="1" dirty="0"/>
              <a:t>Filter menu</a:t>
            </a:r>
            <a:r>
              <a:rPr lang="en-US" dirty="0"/>
              <a:t> will appear. Hover the mouse over </a:t>
            </a:r>
            <a:r>
              <a:rPr lang="en-US" b="1" dirty="0"/>
              <a:t>Number Filters</a:t>
            </a:r>
            <a:r>
              <a:rPr lang="en-US" dirty="0"/>
              <a:t>, then select the desired number filter from the drop-down menu. In our example, we'll choose </a:t>
            </a:r>
            <a:r>
              <a:rPr lang="en-US" b="1" dirty="0"/>
              <a:t>Between</a:t>
            </a:r>
            <a:r>
              <a:rPr lang="en-US" dirty="0"/>
              <a:t> to view ID numbers between a specific number range.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64D4F-B4E0-4235-847E-96BE77A184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284984"/>
            <a:ext cx="5400600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3827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number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 </a:t>
            </a:r>
            <a:r>
              <a:rPr lang="en-US" b="1" dirty="0"/>
              <a:t>Custom AutoFilter</a:t>
            </a:r>
            <a:r>
              <a:rPr lang="en-US" dirty="0"/>
              <a:t> dialog box will appear. Enter the desired</a:t>
            </a:r>
            <a:r>
              <a:rPr lang="en-US" b="1" dirty="0"/>
              <a:t> number(s) </a:t>
            </a:r>
            <a:r>
              <a:rPr lang="en-US" dirty="0"/>
              <a:t>to the right of each filter, then click </a:t>
            </a:r>
            <a:r>
              <a:rPr lang="en-US" b="1" dirty="0"/>
              <a:t>OK</a:t>
            </a:r>
            <a:r>
              <a:rPr lang="en-US" dirty="0"/>
              <a:t>. In our example, we want to filter for ID numbers greater than or equal to </a:t>
            </a:r>
            <a:r>
              <a:rPr lang="en-US" b="1" dirty="0"/>
              <a:t>3000</a:t>
            </a:r>
            <a:r>
              <a:rPr lang="en-US" dirty="0"/>
              <a:t> but less than or equal to </a:t>
            </a:r>
            <a:r>
              <a:rPr lang="en-US" b="1" dirty="0"/>
              <a:t>6000</a:t>
            </a:r>
            <a:r>
              <a:rPr lang="en-US" dirty="0"/>
              <a:t>, which will display ID numbers in the 3000-6000 range.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89CCB-8477-4BDB-945E-67AB80EEF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750297"/>
            <a:ext cx="5832648" cy="299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90429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number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data will be filtered by the selected number filter. In our example, only items with an ID number between </a:t>
            </a:r>
            <a:r>
              <a:rPr lang="en-US" b="1" dirty="0"/>
              <a:t>3000 </a:t>
            </a:r>
            <a:r>
              <a:rPr lang="en-US" dirty="0"/>
              <a:t>and </a:t>
            </a:r>
            <a:r>
              <a:rPr lang="en-US" b="1" dirty="0"/>
              <a:t>6000</a:t>
            </a:r>
            <a:r>
              <a:rPr lang="en-US" dirty="0"/>
              <a:t> are visible.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460AF-4797-40B6-A352-1B97941FB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99" y="2420888"/>
            <a:ext cx="835342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41033"/>
      </p:ext>
    </p:extLst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date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b="1" dirty="0"/>
              <a:t>Advanced date filters</a:t>
            </a:r>
            <a:r>
              <a:rPr lang="en-US" dirty="0"/>
              <a:t> can be used to view information from a certain time period, such as last year, next quarter, or between two dates.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In this example, we'll use advanced date filters to view only equipment that has been checked out between July 15 and August 15.</a:t>
            </a:r>
          </a:p>
        </p:txBody>
      </p:sp>
    </p:spTree>
    <p:extLst>
      <p:ext uri="{BB962C8B-B14F-4D97-AF65-F5344CB8AC3E}">
        <p14:creationId xmlns:p14="http://schemas.microsoft.com/office/powerpoint/2010/main" val="3961664272"/>
      </p:ext>
    </p:extLst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date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 </a:t>
            </a:r>
            <a:r>
              <a:rPr lang="en-US" b="1" dirty="0"/>
              <a:t>Data</a:t>
            </a:r>
            <a:r>
              <a:rPr lang="en-US" dirty="0"/>
              <a:t> tab, then click the </a:t>
            </a:r>
            <a:r>
              <a:rPr lang="en-US" b="1" dirty="0"/>
              <a:t>Filter</a:t>
            </a:r>
            <a:r>
              <a:rPr lang="en-US" dirty="0"/>
              <a:t> command. A </a:t>
            </a:r>
            <a:r>
              <a:rPr lang="en-US" b="1" dirty="0"/>
              <a:t>drop-down arrow </a:t>
            </a:r>
            <a:r>
              <a:rPr lang="en-US" dirty="0"/>
              <a:t>will appear in the header cell for each column. </a:t>
            </a:r>
          </a:p>
          <a:p>
            <a:pPr algn="just" fontAlgn="base"/>
            <a:r>
              <a:rPr lang="en-US" b="1" dirty="0"/>
              <a:t>Note</a:t>
            </a:r>
            <a:r>
              <a:rPr lang="en-US" dirty="0"/>
              <a:t>: If you've already added filters to your worksheet, you can skip this step.</a:t>
            </a:r>
          </a:p>
          <a:p>
            <a:pPr algn="just" fontAlgn="base"/>
            <a:r>
              <a:rPr lang="en-US" dirty="0"/>
              <a:t>Click the </a:t>
            </a:r>
            <a:r>
              <a:rPr lang="en-US" b="1" dirty="0"/>
              <a:t>drop-down arrow </a:t>
            </a:r>
            <a:r>
              <a:rPr lang="en-US" dirty="0"/>
              <a:t>for the column you want to filter. In our example, we'll filter column </a:t>
            </a:r>
            <a:r>
              <a:rPr lang="en-US" b="1" dirty="0"/>
              <a:t>D</a:t>
            </a:r>
            <a:r>
              <a:rPr lang="en-US" dirty="0"/>
              <a:t> to view only a certain range of dates.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0935EC-553A-4E6D-BBCE-3EC2E1BD1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7" y="4221088"/>
            <a:ext cx="8353425" cy="263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59052"/>
      </p:ext>
    </p:extLst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date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 </a:t>
            </a:r>
            <a:r>
              <a:rPr lang="en-US" b="1" dirty="0"/>
              <a:t>Filter menu</a:t>
            </a:r>
            <a:r>
              <a:rPr lang="en-US" dirty="0"/>
              <a:t> will appear. Hover the mouse over </a:t>
            </a:r>
            <a:r>
              <a:rPr lang="en-US" b="1" dirty="0"/>
              <a:t>Date Filters</a:t>
            </a:r>
            <a:r>
              <a:rPr lang="en-US" dirty="0"/>
              <a:t>, then select the desired date filter from the drop-down menu. In our example, we'll select </a:t>
            </a:r>
            <a:r>
              <a:rPr lang="en-US" b="1" dirty="0"/>
              <a:t>Between...</a:t>
            </a:r>
            <a:r>
              <a:rPr lang="en-US" dirty="0"/>
              <a:t> to view equipment that has been checked out between July 15 and August 15.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3C868-2DDF-4F4C-82B6-95B3A6A69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3140968"/>
            <a:ext cx="5372100" cy="371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008586"/>
      </p:ext>
    </p:extLst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date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 </a:t>
            </a:r>
            <a:r>
              <a:rPr lang="en-US" b="1" dirty="0"/>
              <a:t>Custom AutoFilter</a:t>
            </a:r>
            <a:r>
              <a:rPr lang="en-US" dirty="0"/>
              <a:t> dialog box will appear. Enter the desired</a:t>
            </a:r>
            <a:r>
              <a:rPr lang="en-US" b="1" dirty="0"/>
              <a:t> date(s) </a:t>
            </a:r>
            <a:r>
              <a:rPr lang="en-US" dirty="0"/>
              <a:t>to the right of each filter, then click </a:t>
            </a:r>
            <a:r>
              <a:rPr lang="en-US" b="1" dirty="0"/>
              <a:t>OK</a:t>
            </a:r>
            <a:r>
              <a:rPr lang="en-US" dirty="0"/>
              <a:t>. In our example, we want to filter for dates after or equal to </a:t>
            </a:r>
            <a:r>
              <a:rPr lang="en-US" b="1" dirty="0"/>
              <a:t>July 15, 2015</a:t>
            </a:r>
            <a:r>
              <a:rPr lang="en-US" dirty="0"/>
              <a:t>, and before or equal to </a:t>
            </a:r>
            <a:r>
              <a:rPr lang="en-US" b="1" dirty="0"/>
              <a:t>August 15, 2015</a:t>
            </a:r>
            <a:r>
              <a:rPr lang="en-US" dirty="0"/>
              <a:t>, which will display a range between these dates.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94400D-C0B0-4A55-A6FE-F9E43E435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706191"/>
            <a:ext cx="5112568" cy="303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15041"/>
      </p:ext>
    </p:extLst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date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worksheet will be filtered by the selected date filter. In our example, we can now see which items have been checked out </a:t>
            </a:r>
            <a:r>
              <a:rPr lang="en-US" b="1" dirty="0"/>
              <a:t>between July 15 and August 15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82B5A4-04E2-44EB-8A26-5EE808540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99" y="2924944"/>
            <a:ext cx="8353425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59393"/>
      </p:ext>
    </p:extLst>
  </p:cSld>
  <p:clrMapOvr>
    <a:masterClrMapping/>
  </p:clrMapOvr>
  <p:transition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use advanced date filters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worksheet will be filtered by the selected date filter. In our example, we can now see which items have been checked out </a:t>
            </a:r>
            <a:r>
              <a:rPr lang="en-US" b="1" dirty="0"/>
              <a:t>between July 15 and August 15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82B5A4-04E2-44EB-8A26-5EE808540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99" y="2924944"/>
            <a:ext cx="8353425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90529"/>
      </p:ext>
    </p:extLst>
  </p:cSld>
  <p:clrMapOvr>
    <a:masterClrMapping/>
  </p:clrMapOvr>
  <p:transition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Excel - Groups and Subtotals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Worksheets with a lot of content can sometimes feel overwhelming and can even become difficult to read.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Fortunately, Excel can organize data into </a:t>
            </a:r>
            <a:r>
              <a:rPr lang="en-US" b="1" dirty="0"/>
              <a:t>groups</a:t>
            </a:r>
            <a:r>
              <a:rPr lang="en-US" dirty="0"/>
              <a:t>, allowing you to easily </a:t>
            </a:r>
            <a:r>
              <a:rPr lang="en-US" b="1" dirty="0"/>
              <a:t>show</a:t>
            </a:r>
            <a:r>
              <a:rPr lang="en-US" dirty="0"/>
              <a:t> and </a:t>
            </a:r>
            <a:r>
              <a:rPr lang="en-US" b="1" dirty="0"/>
              <a:t>hide</a:t>
            </a:r>
            <a:r>
              <a:rPr lang="en-US" dirty="0"/>
              <a:t> different sections of your worksheet.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You can also summarize different groups using the </a:t>
            </a:r>
            <a:r>
              <a:rPr lang="en-US" b="1" dirty="0"/>
              <a:t>Subtotal</a:t>
            </a:r>
            <a:r>
              <a:rPr lang="en-US" dirty="0"/>
              <a:t> command and create an </a:t>
            </a:r>
            <a:r>
              <a:rPr lang="en-US" b="1" dirty="0"/>
              <a:t>outline</a:t>
            </a:r>
            <a:r>
              <a:rPr lang="en-US" dirty="0"/>
              <a:t> for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3056069283"/>
      </p:ext>
    </p:extLst>
  </p:cSld>
  <p:clrMapOvr>
    <a:masterClrMapping/>
  </p:clrMapOvr>
  <p:transition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group rows or columns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 </a:t>
            </a:r>
            <a:r>
              <a:rPr lang="en-US" b="1" dirty="0"/>
              <a:t>rows </a:t>
            </a:r>
            <a:r>
              <a:rPr lang="en-US" dirty="0"/>
              <a:t>or</a:t>
            </a:r>
            <a:r>
              <a:rPr lang="en-US" b="1" dirty="0"/>
              <a:t> columns</a:t>
            </a:r>
            <a:r>
              <a:rPr lang="en-US" dirty="0"/>
              <a:t> you want to group. In this example, we'll select columns </a:t>
            </a:r>
            <a:r>
              <a:rPr lang="en-US" b="1" dirty="0"/>
              <a:t>B</a:t>
            </a:r>
            <a:r>
              <a:rPr lang="en-US" dirty="0"/>
              <a:t>, </a:t>
            </a:r>
            <a:r>
              <a:rPr lang="en-US" b="1" dirty="0"/>
              <a:t>C</a:t>
            </a:r>
            <a:r>
              <a:rPr lang="en-US" dirty="0"/>
              <a:t>, and </a:t>
            </a:r>
            <a:r>
              <a:rPr lang="en-US" b="1" dirty="0"/>
              <a:t>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50E7DC-F55A-43DC-84BE-B50FAEBDC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25" y="1916832"/>
            <a:ext cx="744855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65815"/>
      </p:ext>
    </p:extLst>
  </p:cSld>
  <p:clrMapOvr>
    <a:masterClrMapping/>
  </p:clrMapOvr>
  <p:transition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group rows or columns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 </a:t>
            </a:r>
            <a:r>
              <a:rPr lang="en-US" b="1" dirty="0"/>
              <a:t>Data</a:t>
            </a:r>
            <a:r>
              <a:rPr lang="en-US" dirty="0"/>
              <a:t> tab on the </a:t>
            </a:r>
            <a:r>
              <a:rPr lang="en-US" b="1" dirty="0"/>
              <a:t>Ribbon</a:t>
            </a:r>
            <a:r>
              <a:rPr lang="en-US" dirty="0"/>
              <a:t>, then click the </a:t>
            </a:r>
            <a:r>
              <a:rPr lang="en-US" b="1" dirty="0"/>
              <a:t>Group</a:t>
            </a:r>
            <a:r>
              <a:rPr lang="en-US" dirty="0"/>
              <a:t> command.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B2E50-4976-4C77-92D2-709DBD332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916832"/>
            <a:ext cx="6408711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17009"/>
      </p:ext>
    </p:extLst>
  </p:cSld>
  <p:clrMapOvr>
    <a:masterClrMapping/>
  </p:clrMapOvr>
  <p:transition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group rows or columns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selected rows or columns will be </a:t>
            </a:r>
            <a:r>
              <a:rPr lang="en-US" b="1" dirty="0"/>
              <a:t>grouped</a:t>
            </a:r>
            <a:r>
              <a:rPr lang="en-US" dirty="0"/>
              <a:t>. In our example, columns </a:t>
            </a:r>
            <a:r>
              <a:rPr lang="en-US" b="1" dirty="0"/>
              <a:t>B</a:t>
            </a:r>
            <a:r>
              <a:rPr lang="en-US" dirty="0"/>
              <a:t>, </a:t>
            </a:r>
            <a:r>
              <a:rPr lang="en-US" b="1" dirty="0"/>
              <a:t>C</a:t>
            </a:r>
            <a:r>
              <a:rPr lang="en-US" dirty="0"/>
              <a:t>, and </a:t>
            </a:r>
            <a:r>
              <a:rPr lang="en-US" b="1" dirty="0"/>
              <a:t>D</a:t>
            </a:r>
            <a:r>
              <a:rPr lang="en-US" dirty="0"/>
              <a:t> are grouped.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BA43C1-118A-4665-AFE5-9E476FB95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25" y="2132856"/>
            <a:ext cx="744855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02029"/>
      </p:ext>
    </p:extLst>
  </p:cSld>
  <p:clrMapOvr>
    <a:masterClrMapping/>
  </p:clrMapOvr>
  <p:transition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group rows or columns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To ungroup data, select the grouped rows or columns, then click the Ungroup command.</a:t>
            </a:r>
          </a:p>
          <a:p>
            <a:pPr algn="just" fontAlgn="base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B1555E-D465-473D-81E6-73CCB5747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060848"/>
            <a:ext cx="6768752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82561"/>
      </p:ext>
    </p:extLst>
  </p:cSld>
  <p:clrMapOvr>
    <a:masterClrMapping/>
  </p:clrMapOvr>
  <p:transition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hide and show groups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To hide a group, click the minus sign, also known as the </a:t>
            </a:r>
            <a:r>
              <a:rPr lang="en-US" b="1" dirty="0"/>
              <a:t>Hide Detail</a:t>
            </a:r>
            <a:r>
              <a:rPr lang="en-US" dirty="0"/>
              <a:t> button.</a:t>
            </a:r>
          </a:p>
          <a:p>
            <a:pPr algn="just" fontAlgn="base"/>
            <a:endParaRPr lang="en-US" dirty="0"/>
          </a:p>
          <a:p>
            <a:pPr algn="just" fontAlgn="base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4635F-E924-478F-AC87-0657F097AF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37" y="2132856"/>
            <a:ext cx="74485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54247"/>
      </p:ext>
    </p:extLst>
  </p:cSld>
  <p:clrMapOvr>
    <a:masterClrMapping/>
  </p:clrMapOvr>
  <p:transition>
    <p:fad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hide and show groups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group will be </a:t>
            </a:r>
            <a:r>
              <a:rPr lang="en-US" b="1" dirty="0"/>
              <a:t>hidden</a:t>
            </a:r>
            <a:r>
              <a:rPr lang="en-US" dirty="0"/>
              <a:t>. To show a hidden group, click the plus sign, also known as the </a:t>
            </a:r>
            <a:r>
              <a:rPr lang="en-US" b="1" dirty="0"/>
              <a:t>Show Detail</a:t>
            </a:r>
            <a:r>
              <a:rPr lang="en-US" dirty="0"/>
              <a:t> button.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5C030F-AF42-4021-AE0A-CE16A7B89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389212"/>
            <a:ext cx="5112568" cy="413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19698"/>
      </p:ext>
    </p:extLst>
  </p:cSld>
  <p:clrMapOvr>
    <a:masterClrMapping/>
  </p:clrMapOvr>
  <p:transition>
    <p:fad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Creating subtotals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 </a:t>
            </a:r>
            <a:r>
              <a:rPr lang="en-US" b="1" dirty="0"/>
              <a:t>Subtotal</a:t>
            </a:r>
            <a:r>
              <a:rPr lang="en-US" dirty="0"/>
              <a:t> command allows you to automatically </a:t>
            </a:r>
            <a:r>
              <a:rPr lang="en-US" b="1" dirty="0"/>
              <a:t>create groups </a:t>
            </a:r>
            <a:r>
              <a:rPr lang="en-US" dirty="0"/>
              <a:t>and use common functions like </a:t>
            </a:r>
            <a:r>
              <a:rPr lang="en-US" b="1" dirty="0"/>
              <a:t>SUM</a:t>
            </a:r>
            <a:r>
              <a:rPr lang="en-US" dirty="0"/>
              <a:t>, </a:t>
            </a:r>
            <a:r>
              <a:rPr lang="en-US" b="1" dirty="0"/>
              <a:t>COUNT</a:t>
            </a:r>
            <a:r>
              <a:rPr lang="en-US" dirty="0"/>
              <a:t>, and </a:t>
            </a:r>
            <a:r>
              <a:rPr lang="en-US" b="1" dirty="0"/>
              <a:t>AVERAGE</a:t>
            </a:r>
            <a:r>
              <a:rPr lang="en-US" dirty="0"/>
              <a:t> to help </a:t>
            </a:r>
            <a:r>
              <a:rPr lang="en-US" b="1" dirty="0"/>
              <a:t>summarize </a:t>
            </a:r>
            <a:r>
              <a:rPr lang="en-US" dirty="0"/>
              <a:t>your data.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For example, the </a:t>
            </a:r>
            <a:r>
              <a:rPr lang="en-US" b="1" dirty="0"/>
              <a:t>Subtotal</a:t>
            </a:r>
            <a:r>
              <a:rPr lang="en-US" dirty="0"/>
              <a:t> command could help to calculate the cost of office supplies by type from a large inventory order.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It will create a hierarchy of groups, known as an </a:t>
            </a:r>
            <a:r>
              <a:rPr lang="en-US" b="1" dirty="0"/>
              <a:t>outline</a:t>
            </a:r>
            <a:r>
              <a:rPr lang="en-US" dirty="0"/>
              <a:t>, to help organize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3773458462"/>
      </p:ext>
    </p:extLst>
  </p:cSld>
  <p:clrMapOvr>
    <a:masterClrMapping/>
  </p:clrMapOvr>
  <p:transition>
    <p:fad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subtotal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In our example, we'll use the Subtotal command with a T-shirt order form to determine how many T-shirts were ordered in each size (Small, Medium, Large, and X-Large).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This will create an </a:t>
            </a:r>
            <a:r>
              <a:rPr lang="en-US" b="1" dirty="0"/>
              <a:t>outline</a:t>
            </a:r>
            <a:r>
              <a:rPr lang="en-US" dirty="0"/>
              <a:t> for our worksheet with a </a:t>
            </a:r>
            <a:r>
              <a:rPr lang="en-US" b="1" dirty="0"/>
              <a:t>group</a:t>
            </a:r>
            <a:r>
              <a:rPr lang="en-US" dirty="0"/>
              <a:t> for each T-shirt size and then </a:t>
            </a:r>
            <a:r>
              <a:rPr lang="en-US" b="1" dirty="0"/>
              <a:t>count</a:t>
            </a:r>
            <a:r>
              <a:rPr lang="en-US" dirty="0"/>
              <a:t> the total number of shirts in each group.</a:t>
            </a:r>
          </a:p>
        </p:txBody>
      </p:sp>
    </p:spTree>
    <p:extLst>
      <p:ext uri="{BB962C8B-B14F-4D97-AF65-F5344CB8AC3E}">
        <p14:creationId xmlns:p14="http://schemas.microsoft.com/office/powerpoint/2010/main" val="2093195473"/>
      </p:ext>
    </p:extLst>
  </p:cSld>
  <p:clrMapOvr>
    <a:masterClrMapping/>
  </p:clrMapOvr>
  <p:transition>
    <p:fade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subtotal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First, </a:t>
            </a:r>
            <a:r>
              <a:rPr lang="en-US" b="1" dirty="0"/>
              <a:t>sort</a:t>
            </a:r>
            <a:r>
              <a:rPr lang="en-US" dirty="0"/>
              <a:t> your worksheet by the data you want to subtotal. In this example, we'll create a subtotal for each T-shirt size, so our worksheet has been sorted by T-shirt size from smallest to largest.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E49A0-2780-4E97-974E-896E2A7C4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36" y="2708920"/>
            <a:ext cx="7873627" cy="405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79641"/>
      </p:ext>
    </p:extLst>
  </p:cSld>
  <p:clrMapOvr>
    <a:masterClrMapping/>
  </p:clrMapOvr>
  <p:transition>
    <p:fad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subtotal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 </a:t>
            </a:r>
            <a:r>
              <a:rPr lang="en-US" b="1" dirty="0"/>
              <a:t>Data</a:t>
            </a:r>
            <a:r>
              <a:rPr lang="en-US" dirty="0"/>
              <a:t> tab, then click the </a:t>
            </a:r>
            <a:r>
              <a:rPr lang="en-US" b="1" dirty="0"/>
              <a:t>Subtotal</a:t>
            </a:r>
            <a:r>
              <a:rPr lang="en-US" dirty="0"/>
              <a:t> command.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28A18D-BAF3-4BB4-B4CF-AF8F4979F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844824"/>
            <a:ext cx="6048672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82727"/>
      </p:ext>
    </p:extLst>
  </p:cSld>
  <p:clrMapOvr>
    <a:masterClrMapping/>
  </p:clrMapOvr>
  <p:transition>
    <p:fade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subtotal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</a:t>
            </a:r>
            <a:r>
              <a:rPr lang="en-US" b="1" dirty="0"/>
              <a:t>Subtotal </a:t>
            </a:r>
            <a:r>
              <a:rPr lang="en-US" dirty="0"/>
              <a:t>dialog box will appear. Click the drop-down arrow for the </a:t>
            </a:r>
            <a:r>
              <a:rPr lang="en-US" b="1" dirty="0"/>
              <a:t>At each change in</a:t>
            </a:r>
            <a:r>
              <a:rPr lang="en-US" dirty="0"/>
              <a:t>: field to select the </a:t>
            </a:r>
            <a:r>
              <a:rPr lang="en-US" b="1" dirty="0"/>
              <a:t>column</a:t>
            </a:r>
            <a:r>
              <a:rPr lang="en-US" dirty="0"/>
              <a:t> you want to subtotal. In our example, we'll select </a:t>
            </a:r>
            <a:r>
              <a:rPr lang="en-US" b="1" dirty="0"/>
              <a:t>T-Shirt Size</a:t>
            </a:r>
            <a:r>
              <a:rPr lang="en-US" dirty="0"/>
              <a:t>.</a:t>
            </a:r>
          </a:p>
          <a:p>
            <a:pPr algn="just" fontAlgn="base"/>
            <a:r>
              <a:rPr lang="en-US" dirty="0"/>
              <a:t>Click the drop-down arrow for the </a:t>
            </a:r>
            <a:r>
              <a:rPr lang="en-US" b="1" dirty="0"/>
              <a:t>Use function</a:t>
            </a:r>
            <a:r>
              <a:rPr lang="en-US" dirty="0"/>
              <a:t>: field to select the </a:t>
            </a:r>
            <a:r>
              <a:rPr lang="en-US" b="1" dirty="0"/>
              <a:t>function</a:t>
            </a:r>
            <a:r>
              <a:rPr lang="en-US" dirty="0"/>
              <a:t> you want to use. In our example, we'll select </a:t>
            </a:r>
            <a:r>
              <a:rPr lang="en-US" b="1" dirty="0"/>
              <a:t>COUNT</a:t>
            </a:r>
            <a:r>
              <a:rPr lang="en-US" dirty="0"/>
              <a:t> to count the number of shirts ordered in each size.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F3356-2575-449C-BC8A-E4DF6A310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4653136"/>
            <a:ext cx="3816424" cy="220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89340"/>
      </p:ext>
    </p:extLst>
  </p:cSld>
  <p:clrMapOvr>
    <a:masterClrMapping/>
  </p:clrMapOvr>
  <p:transition>
    <p:fad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subtotal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In the </a:t>
            </a:r>
            <a:r>
              <a:rPr lang="en-US" b="1" dirty="0"/>
              <a:t>Add subtotal to:</a:t>
            </a:r>
            <a:r>
              <a:rPr lang="en-US" dirty="0"/>
              <a:t> field, select the </a:t>
            </a:r>
            <a:r>
              <a:rPr lang="en-US" b="1" dirty="0"/>
              <a:t>column </a:t>
            </a:r>
            <a:r>
              <a:rPr lang="en-US" dirty="0"/>
              <a:t>where you want the </a:t>
            </a:r>
            <a:r>
              <a:rPr lang="en-US" b="1" dirty="0"/>
              <a:t>calculated subtotal</a:t>
            </a:r>
            <a:r>
              <a:rPr lang="en-US" dirty="0"/>
              <a:t> to appear. In our example, we'll select </a:t>
            </a:r>
            <a:r>
              <a:rPr lang="en-US" b="1" dirty="0"/>
              <a:t>T-Shirt Size</a:t>
            </a:r>
            <a:r>
              <a:rPr lang="en-US" dirty="0"/>
              <a:t>. When you're satisfied with your selections, click </a:t>
            </a:r>
            <a:r>
              <a:rPr lang="en-US" b="1" dirty="0"/>
              <a:t>OK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5AF5B-518E-4CAA-8588-2A10FEF4F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3099434"/>
            <a:ext cx="3960440" cy="375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433658"/>
      </p:ext>
    </p:extLst>
  </p:cSld>
  <p:clrMapOvr>
    <a:masterClrMapping/>
  </p:clrMapOvr>
  <p:transition>
    <p:fade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create a subtotal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worksheet will be </a:t>
            </a:r>
            <a:r>
              <a:rPr lang="en-US" b="1" dirty="0"/>
              <a:t>outlined</a:t>
            </a:r>
            <a:r>
              <a:rPr lang="en-US" dirty="0"/>
              <a:t> into </a:t>
            </a:r>
            <a:r>
              <a:rPr lang="en-US" b="1" dirty="0"/>
              <a:t>groups</a:t>
            </a:r>
            <a:r>
              <a:rPr lang="en-US" dirty="0"/>
              <a:t>, and the </a:t>
            </a:r>
            <a:r>
              <a:rPr lang="en-US" b="1" dirty="0"/>
              <a:t>subtotal</a:t>
            </a:r>
            <a:r>
              <a:rPr lang="en-US" dirty="0"/>
              <a:t> will be listed below each group. In our example, the data is now grouped by T-shirt size, and the number of shirts ordered in that size appears below each group.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C513DB-5E57-4586-9F47-7EF96319A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3140967"/>
            <a:ext cx="8267700" cy="371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31791"/>
      </p:ext>
    </p:extLst>
  </p:cSld>
  <p:clrMapOvr>
    <a:masterClrMapping/>
  </p:clrMapOvr>
  <p:transition>
    <p:fad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remove subtotals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Sometimes you may not want to keep subtotals in your worksheet, especially if you want to reorganize data in different ways.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If you no longer want to use subtotaling, you'll need </a:t>
            </a:r>
            <a:r>
              <a:rPr lang="en-US" b="1" dirty="0"/>
              <a:t>remove</a:t>
            </a:r>
            <a:r>
              <a:rPr lang="en-US" dirty="0"/>
              <a:t> </a:t>
            </a:r>
            <a:r>
              <a:rPr lang="en-US" b="1" dirty="0"/>
              <a:t>it</a:t>
            </a:r>
            <a:r>
              <a:rPr lang="en-US" dirty="0"/>
              <a:t> from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3747562854"/>
      </p:ext>
    </p:extLst>
  </p:cSld>
  <p:clrMapOvr>
    <a:masterClrMapping/>
  </p:clrMapOvr>
  <p:transition>
    <p:fade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remove subtotals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 </a:t>
            </a:r>
            <a:r>
              <a:rPr lang="en-US" b="1" dirty="0"/>
              <a:t>Data</a:t>
            </a:r>
            <a:r>
              <a:rPr lang="en-US" dirty="0"/>
              <a:t> tab, then click the </a:t>
            </a:r>
            <a:r>
              <a:rPr lang="en-US" b="1" dirty="0"/>
              <a:t>Subtotal</a:t>
            </a:r>
            <a:r>
              <a:rPr lang="en-US" dirty="0"/>
              <a:t> command.</a:t>
            </a:r>
          </a:p>
          <a:p>
            <a:pPr algn="just" fontAlgn="base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460C2-F6C3-403D-B320-B97A65ED7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7" y="1916832"/>
            <a:ext cx="5184576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51326"/>
      </p:ext>
    </p:extLst>
  </p:cSld>
  <p:clrMapOvr>
    <a:masterClrMapping/>
  </p:clrMapOvr>
  <p:transition>
    <p:fade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remove subtotals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</a:t>
            </a:r>
            <a:r>
              <a:rPr lang="en-US" b="1" dirty="0"/>
              <a:t>Subtotal</a:t>
            </a:r>
            <a:r>
              <a:rPr lang="en-US" dirty="0"/>
              <a:t> dialog box will appear. Click </a:t>
            </a:r>
            <a:r>
              <a:rPr lang="en-US" b="1" dirty="0"/>
              <a:t>Remove All</a:t>
            </a:r>
            <a:r>
              <a:rPr lang="en-US" dirty="0"/>
              <a:t>.</a:t>
            </a:r>
          </a:p>
          <a:p>
            <a:pPr algn="just" fontAlgn="base"/>
            <a:endParaRPr lang="en-US" dirty="0"/>
          </a:p>
          <a:p>
            <a:pPr algn="just" fontAlgn="base"/>
            <a:endParaRPr lang="en-US" dirty="0"/>
          </a:p>
          <a:p>
            <a:pPr algn="just" fontAlgn="base"/>
            <a:endParaRPr lang="en-US" dirty="0"/>
          </a:p>
          <a:p>
            <a:pPr algn="just" fontAlgn="base"/>
            <a:endParaRPr lang="en-US" dirty="0"/>
          </a:p>
          <a:p>
            <a:pPr algn="just" fontAlgn="base"/>
            <a:endParaRPr lang="en-US" dirty="0"/>
          </a:p>
          <a:p>
            <a:pPr marL="0" indent="0" algn="just" fontAlgn="base">
              <a:buNone/>
            </a:pPr>
            <a:endParaRPr lang="en-US" dirty="0"/>
          </a:p>
          <a:p>
            <a:pPr algn="just" fontAlgn="base"/>
            <a:r>
              <a:rPr lang="en-US" dirty="0"/>
              <a:t>All worksheet data will be </a:t>
            </a:r>
            <a:r>
              <a:rPr lang="en-US" b="1" dirty="0"/>
              <a:t>ungrouped</a:t>
            </a:r>
            <a:r>
              <a:rPr lang="en-US" dirty="0"/>
              <a:t>, and the subtotals will be </a:t>
            </a:r>
            <a:r>
              <a:rPr lang="en-US" b="1" dirty="0"/>
              <a:t>removed</a:t>
            </a:r>
            <a:r>
              <a:rPr lang="en-US" dirty="0"/>
              <a:t>.</a:t>
            </a:r>
          </a:p>
          <a:p>
            <a:pPr algn="just" fontAlgn="base"/>
            <a:endParaRPr lang="en-US" dirty="0"/>
          </a:p>
          <a:p>
            <a:pPr algn="just" fontAlgn="base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6686CC-EC9F-4970-9301-E3B36DB13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1241376"/>
            <a:ext cx="3672235" cy="373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55429"/>
      </p:ext>
    </p:extLst>
  </p:cSld>
  <p:clrMapOvr>
    <a:masterClrMapping/>
  </p:clrMapOvr>
  <p:transition>
    <p:fad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Excel - Tables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 lnSpcReduction="10000"/>
          </a:bodyPr>
          <a:lstStyle/>
          <a:p>
            <a:pPr algn="just" fontAlgn="base"/>
            <a:r>
              <a:rPr lang="en-US" dirty="0"/>
              <a:t>Once you've entered information into your worksheet, you may want to format your data as a </a:t>
            </a:r>
            <a:r>
              <a:rPr lang="en-US" b="1" dirty="0"/>
              <a:t>table</a:t>
            </a:r>
            <a:r>
              <a:rPr lang="en-US" dirty="0"/>
              <a:t>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Just like regular formatting, tables can improve the </a:t>
            </a:r>
            <a:r>
              <a:rPr lang="en-US" b="1" dirty="0"/>
              <a:t>look and feel</a:t>
            </a:r>
            <a:r>
              <a:rPr lang="en-US" dirty="0"/>
              <a:t> of your workbook, and they'll also help </a:t>
            </a:r>
            <a:r>
              <a:rPr lang="en-US" b="1" dirty="0"/>
              <a:t>organize</a:t>
            </a:r>
            <a:r>
              <a:rPr lang="en-US" dirty="0"/>
              <a:t> your content and make your data easier to use.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Excel includes several </a:t>
            </a:r>
            <a:r>
              <a:rPr lang="en-US" b="1" dirty="0"/>
              <a:t>tools</a:t>
            </a:r>
            <a:r>
              <a:rPr lang="en-US" dirty="0"/>
              <a:t> and </a:t>
            </a:r>
            <a:r>
              <a:rPr lang="en-US" b="1" dirty="0"/>
              <a:t>predefined table styles</a:t>
            </a:r>
            <a:r>
              <a:rPr lang="en-US" dirty="0"/>
              <a:t>, allowing you to create tables quickly and easily.</a:t>
            </a:r>
          </a:p>
        </p:txBody>
      </p:sp>
    </p:spTree>
    <p:extLst>
      <p:ext uri="{BB962C8B-B14F-4D97-AF65-F5344CB8AC3E}">
        <p14:creationId xmlns:p14="http://schemas.microsoft.com/office/powerpoint/2010/main" val="4019970576"/>
      </p:ext>
    </p:extLst>
  </p:cSld>
  <p:clrMapOvr>
    <a:masterClrMapping/>
  </p:clrMapOvr>
  <p:transition>
    <p:fad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format data as a table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 </a:t>
            </a:r>
            <a:r>
              <a:rPr lang="en-US" b="1" dirty="0"/>
              <a:t>cells</a:t>
            </a:r>
            <a:r>
              <a:rPr lang="en-US" dirty="0"/>
              <a:t> you want to format as a table. In our example, we'll select the cell range </a:t>
            </a:r>
            <a:r>
              <a:rPr lang="en-US" b="1" dirty="0"/>
              <a:t>A2:D9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D8D73-1F97-4362-AAB8-C68142FDD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87" y="1988840"/>
            <a:ext cx="695325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79185"/>
      </p:ext>
    </p:extLst>
  </p:cSld>
  <p:clrMapOvr>
    <a:masterClrMapping/>
  </p:clrMapOvr>
  <p:transition>
    <p:fade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format data as a table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From the </a:t>
            </a:r>
            <a:r>
              <a:rPr lang="en-US" b="1" dirty="0"/>
              <a:t>Home</a:t>
            </a:r>
            <a:r>
              <a:rPr lang="en-US" dirty="0"/>
              <a:t> tab, click the </a:t>
            </a:r>
            <a:r>
              <a:rPr lang="en-US" b="1" dirty="0"/>
              <a:t>Format as Table</a:t>
            </a:r>
            <a:r>
              <a:rPr lang="en-US" dirty="0"/>
              <a:t> command in the </a:t>
            </a:r>
            <a:r>
              <a:rPr lang="en-US" b="1" dirty="0"/>
              <a:t>Styles</a:t>
            </a:r>
            <a:r>
              <a:rPr lang="en-US" dirty="0"/>
              <a:t> group.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D6A537-0187-4DE3-ADEF-572521CED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204864"/>
            <a:ext cx="7416824" cy="185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94287"/>
      </p:ext>
    </p:extLst>
  </p:cSld>
  <p:clrMapOvr>
    <a:masterClrMapping/>
  </p:clrMapOvr>
  <p:transition>
    <p:fade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format data as a table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a</a:t>
            </a:r>
            <a:r>
              <a:rPr lang="en-US" b="1" dirty="0"/>
              <a:t> table style</a:t>
            </a:r>
            <a:r>
              <a:rPr lang="en-US" dirty="0"/>
              <a:t> from the drop-down menu.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22B10-9A9B-44B6-AD83-1EAE9D815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556792"/>
            <a:ext cx="695325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12935"/>
      </p:ext>
    </p:extLst>
  </p:cSld>
  <p:clrMapOvr>
    <a:masterClrMapping/>
  </p:clrMapOvr>
  <p:transition>
    <p:fade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format data as a table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A dialog box will appear, confirming the selected </a:t>
            </a:r>
            <a:r>
              <a:rPr lang="en-US" b="1" dirty="0"/>
              <a:t>cell range </a:t>
            </a:r>
            <a:r>
              <a:rPr lang="en-US" dirty="0"/>
              <a:t>for the table.</a:t>
            </a:r>
          </a:p>
          <a:p>
            <a:pPr algn="just" fontAlgn="base"/>
            <a:r>
              <a:rPr lang="en-US" dirty="0"/>
              <a:t>If your table has </a:t>
            </a:r>
            <a:r>
              <a:rPr lang="en-US" b="1" dirty="0"/>
              <a:t>headers</a:t>
            </a:r>
            <a:r>
              <a:rPr lang="en-US" dirty="0"/>
              <a:t>, check the box next to My </a:t>
            </a:r>
            <a:r>
              <a:rPr lang="en-US" b="1" dirty="0"/>
              <a:t>table has headers</a:t>
            </a:r>
            <a:r>
              <a:rPr lang="en-US" dirty="0"/>
              <a:t>, then click </a:t>
            </a:r>
            <a:r>
              <a:rPr lang="en-US" b="1" dirty="0"/>
              <a:t>OK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9E3D8-E8AE-45A3-9C5A-82745E018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87" y="2780927"/>
            <a:ext cx="6953250" cy="396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19785"/>
      </p:ext>
    </p:extLst>
  </p:cSld>
  <p:clrMapOvr>
    <a:masterClrMapping/>
  </p:clrMapOvr>
  <p:transition>
    <p:fade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format data as a table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cell range will be formatted in the selected </a:t>
            </a:r>
            <a:r>
              <a:rPr lang="en-US" b="1" dirty="0"/>
              <a:t>table style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DDE316-66DC-40AB-82E7-6307FFE16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916832"/>
            <a:ext cx="6953250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21937"/>
      </p:ext>
    </p:extLst>
  </p:cSld>
  <p:clrMapOvr>
    <a:masterClrMapping/>
  </p:clrMapOvr>
  <p:transition>
    <p:fade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Modifying tables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It's easy to modify the look and feel of any table after adding it to a worksheet.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Excel includes several options for customizing tables, including </a:t>
            </a:r>
            <a:r>
              <a:rPr lang="en-US" b="1" dirty="0"/>
              <a:t>adding rows or columns</a:t>
            </a:r>
            <a:r>
              <a:rPr lang="en-US" dirty="0"/>
              <a:t> and changing the </a:t>
            </a:r>
            <a:r>
              <a:rPr lang="en-US" b="1" dirty="0"/>
              <a:t>table style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3760950"/>
      </p:ext>
    </p:extLst>
  </p:cSld>
  <p:clrMapOvr>
    <a:masterClrMapping/>
  </p:clrMapOvr>
  <p:transition>
    <p:fade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add rows or columns to a table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If you need to fit more content into your table, you can modify the </a:t>
            </a:r>
            <a:r>
              <a:rPr lang="en-US" b="1" dirty="0"/>
              <a:t>table size</a:t>
            </a:r>
            <a:r>
              <a:rPr lang="en-US" dirty="0"/>
              <a:t> by including additional rows and columns.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There are two simple ways to change the table size:</a:t>
            </a:r>
          </a:p>
          <a:p>
            <a:pPr algn="just" fontAlgn="base"/>
            <a:endParaRPr lang="en-US" dirty="0"/>
          </a:p>
          <a:p>
            <a:pPr algn="just"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906011"/>
      </p:ext>
    </p:extLst>
  </p:cSld>
  <p:clrMapOvr>
    <a:masterClrMapping/>
  </p:clrMapOvr>
  <p:transition>
    <p:fade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add rows or columns to a table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Enter </a:t>
            </a:r>
            <a:r>
              <a:rPr lang="en-US" b="1" dirty="0"/>
              <a:t>new content </a:t>
            </a:r>
            <a:r>
              <a:rPr lang="en-US" dirty="0"/>
              <a:t>into any adjacent row or column. The row or column will be roped into the table automatically.</a:t>
            </a:r>
          </a:p>
          <a:p>
            <a:pPr algn="just" fontAlgn="base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E44B0-39B5-4D7C-A6F8-C70572773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49" y="2276872"/>
            <a:ext cx="70961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66911"/>
      </p:ext>
    </p:extLst>
  </p:cSld>
  <p:clrMapOvr>
    <a:masterClrMapping/>
  </p:clrMapOvr>
  <p:transition>
    <p:fade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add rows or columns to a table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Click and drag the </a:t>
            </a:r>
            <a:r>
              <a:rPr lang="en-US" b="1" dirty="0"/>
              <a:t>bottom-right corner</a:t>
            </a:r>
            <a:r>
              <a:rPr lang="en-US" dirty="0"/>
              <a:t> of the table to create additional rows or columns.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40744E-F1C1-478E-9CC6-3DB53281D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49" y="1628800"/>
            <a:ext cx="709612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127169"/>
      </p:ext>
    </p:extLst>
  </p:cSld>
  <p:clrMapOvr>
    <a:masterClrMapping/>
  </p:clrMapOvr>
  <p:transition>
    <p:fade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change the table style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</a:t>
            </a:r>
            <a:r>
              <a:rPr lang="en-US" b="1" dirty="0"/>
              <a:t>any cell </a:t>
            </a:r>
            <a:r>
              <a:rPr lang="en-US" dirty="0"/>
              <a:t>in your table, then click the </a:t>
            </a:r>
            <a:r>
              <a:rPr lang="en-US" b="1" dirty="0"/>
              <a:t>Design</a:t>
            </a:r>
            <a:r>
              <a:rPr lang="en-US" dirty="0"/>
              <a:t> tab.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4DBA44-B47E-495F-AFB0-A5DB8AE64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5" y="2277219"/>
            <a:ext cx="6953250" cy="396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979649"/>
      </p:ext>
    </p:extLst>
  </p:cSld>
  <p:clrMapOvr>
    <a:masterClrMapping/>
  </p:clrMapOvr>
  <p:transition>
    <p:fade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change the table style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Locate the </a:t>
            </a:r>
            <a:r>
              <a:rPr lang="en-US" b="1" dirty="0"/>
              <a:t>Table Styles </a:t>
            </a:r>
            <a:r>
              <a:rPr lang="en-US" dirty="0"/>
              <a:t>group, then click the </a:t>
            </a:r>
            <a:r>
              <a:rPr lang="en-US" b="1" dirty="0"/>
              <a:t>More</a:t>
            </a:r>
            <a:r>
              <a:rPr lang="en-US" dirty="0"/>
              <a:t> drop-down arrow to see all available table styles.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8A119-55FF-454E-802F-0A5C58CC3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87" y="2224670"/>
            <a:ext cx="6953250" cy="240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54742"/>
      </p:ext>
    </p:extLst>
  </p:cSld>
  <p:clrMapOvr>
    <a:masterClrMapping/>
  </p:clrMapOvr>
  <p:transition>
    <p:fade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change the table style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 desired </a:t>
            </a:r>
            <a:r>
              <a:rPr lang="en-US" b="1" dirty="0"/>
              <a:t>table style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979BE-2FAC-4312-9ACE-56B95AB3B3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412776"/>
            <a:ext cx="7149033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68002"/>
      </p:ext>
    </p:extLst>
  </p:cSld>
  <p:clrMapOvr>
    <a:masterClrMapping/>
  </p:clrMapOvr>
  <p:transition>
    <p:fade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change the table style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</a:t>
            </a:r>
            <a:r>
              <a:rPr lang="en-US" b="1" dirty="0"/>
              <a:t>table style </a:t>
            </a:r>
            <a:r>
              <a:rPr lang="en-US" dirty="0"/>
              <a:t>will be applied.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DCE941-5B6E-4E0A-8CF1-AB52C60F1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5" y="1628799"/>
            <a:ext cx="6953250" cy="417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14895"/>
      </p:ext>
    </p:extLst>
  </p:cSld>
  <p:clrMapOvr>
    <a:masterClrMapping/>
  </p:clrMapOvr>
  <p:transition>
    <p:fade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modify table style options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You can turn various options </a:t>
            </a:r>
            <a:r>
              <a:rPr lang="en-US" b="1" dirty="0"/>
              <a:t>on</a:t>
            </a:r>
            <a:r>
              <a:rPr lang="en-US" dirty="0"/>
              <a:t> or </a:t>
            </a:r>
            <a:r>
              <a:rPr lang="en-US" b="1" dirty="0"/>
              <a:t>off</a:t>
            </a:r>
            <a:r>
              <a:rPr lang="en-US" dirty="0"/>
              <a:t> to change the appearance of any table. </a:t>
            </a:r>
          </a:p>
          <a:p>
            <a:pPr algn="just" fontAlgn="base"/>
            <a:endParaRPr lang="en-US" dirty="0"/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There are several options: </a:t>
            </a:r>
            <a:r>
              <a:rPr lang="en-US" b="1" dirty="0"/>
              <a:t>Header Row</a:t>
            </a:r>
            <a:r>
              <a:rPr lang="en-US" dirty="0"/>
              <a:t>, </a:t>
            </a:r>
            <a:r>
              <a:rPr lang="en-US" b="1" dirty="0"/>
              <a:t>Total Row</a:t>
            </a:r>
            <a:r>
              <a:rPr lang="en-US" dirty="0"/>
              <a:t>, </a:t>
            </a:r>
            <a:r>
              <a:rPr lang="en-US" b="1" dirty="0"/>
              <a:t>Banded Rows</a:t>
            </a:r>
            <a:r>
              <a:rPr lang="en-US" dirty="0"/>
              <a:t>, </a:t>
            </a:r>
            <a:r>
              <a:rPr lang="en-US" b="1" dirty="0"/>
              <a:t>First Column</a:t>
            </a:r>
            <a:r>
              <a:rPr lang="en-US" dirty="0"/>
              <a:t>, </a:t>
            </a:r>
            <a:r>
              <a:rPr lang="en-US" b="1" dirty="0"/>
              <a:t>Last Column</a:t>
            </a:r>
            <a:r>
              <a:rPr lang="en-US" dirty="0"/>
              <a:t>, </a:t>
            </a:r>
            <a:r>
              <a:rPr lang="en-US" b="1" dirty="0"/>
              <a:t>Banded Columns</a:t>
            </a:r>
            <a:r>
              <a:rPr lang="en-US" dirty="0"/>
              <a:t>, and </a:t>
            </a:r>
            <a:r>
              <a:rPr lang="en-US" b="1" dirty="0"/>
              <a:t>Filter Button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1814970"/>
      </p:ext>
    </p:extLst>
  </p:cSld>
  <p:clrMapOvr>
    <a:masterClrMapping/>
  </p:clrMapOvr>
  <p:transition>
    <p:fade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modify table style options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</a:t>
            </a:r>
            <a:r>
              <a:rPr lang="en-US" b="1" dirty="0"/>
              <a:t>any cell </a:t>
            </a:r>
            <a:r>
              <a:rPr lang="en-US" dirty="0"/>
              <a:t>in your table, then click the </a:t>
            </a:r>
            <a:r>
              <a:rPr lang="en-US" b="1" dirty="0"/>
              <a:t>Design tab</a:t>
            </a:r>
            <a:r>
              <a:rPr lang="en-US" dirty="0"/>
              <a:t>.</a:t>
            </a:r>
          </a:p>
          <a:p>
            <a:pPr algn="just" fontAlgn="base"/>
            <a:r>
              <a:rPr lang="en-US" b="1" dirty="0"/>
              <a:t>Check</a:t>
            </a:r>
            <a:r>
              <a:rPr lang="en-US" dirty="0"/>
              <a:t> or </a:t>
            </a:r>
            <a:r>
              <a:rPr lang="en-US" b="1" dirty="0"/>
              <a:t>uncheck</a:t>
            </a:r>
            <a:r>
              <a:rPr lang="en-US" dirty="0"/>
              <a:t> the desired options in the Table Style Options group. In our example, we'll check </a:t>
            </a:r>
            <a:r>
              <a:rPr lang="en-US" b="1" dirty="0"/>
              <a:t>Total Row </a:t>
            </a:r>
            <a:r>
              <a:rPr lang="en-US" dirty="0"/>
              <a:t>to automatically include a </a:t>
            </a:r>
            <a:r>
              <a:rPr lang="en-US" b="1" dirty="0"/>
              <a:t>total</a:t>
            </a:r>
            <a:r>
              <a:rPr lang="en-US" dirty="0"/>
              <a:t> for our table.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DF26B3-210A-4A1B-B4DA-5E75C19E2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4005064"/>
            <a:ext cx="695325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69570"/>
      </p:ext>
    </p:extLst>
  </p:cSld>
  <p:clrMapOvr>
    <a:masterClrMapping/>
  </p:clrMapOvr>
  <p:transition>
    <p:fade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modify table style options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table style will be modified. In our example, a 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b="1" dirty="0"/>
              <a:t>row</a:t>
            </a:r>
            <a:r>
              <a:rPr lang="en-US" dirty="0"/>
              <a:t> has been added to the table with a </a:t>
            </a:r>
            <a:r>
              <a:rPr lang="en-US" b="1" dirty="0"/>
              <a:t>formula</a:t>
            </a:r>
            <a:r>
              <a:rPr lang="en-US" dirty="0"/>
              <a:t> that automatically calculates the total value of the cells in column 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17DC9-354E-4D42-81E6-A41360D43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636912"/>
            <a:ext cx="6953250" cy="410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678646"/>
      </p:ext>
    </p:extLst>
  </p:cSld>
  <p:clrMapOvr>
    <a:masterClrMapping/>
  </p:clrMapOvr>
  <p:transition>
    <p:fade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remove a table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It's possible to remove a table from your workbook without losing any of your data.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However, this can cause issues with certain types of </a:t>
            </a:r>
            <a:r>
              <a:rPr lang="en-US" b="1" dirty="0"/>
              <a:t>formatting</a:t>
            </a:r>
            <a:r>
              <a:rPr lang="en-US" dirty="0"/>
              <a:t>, including colors, fonts, and banded rows.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Before using this option, be prepared to reformat your cells if necessary.</a:t>
            </a:r>
          </a:p>
        </p:txBody>
      </p:sp>
    </p:spTree>
    <p:extLst>
      <p:ext uri="{BB962C8B-B14F-4D97-AF65-F5344CB8AC3E}">
        <p14:creationId xmlns:p14="http://schemas.microsoft.com/office/powerpoint/2010/main" val="2128255844"/>
      </p:ext>
    </p:extLst>
  </p:cSld>
  <p:clrMapOvr>
    <a:masterClrMapping/>
  </p:clrMapOvr>
  <p:transition>
    <p:fade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remove a table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</a:t>
            </a:r>
            <a:r>
              <a:rPr lang="en-US" b="1" dirty="0"/>
              <a:t>any cell</a:t>
            </a:r>
            <a:r>
              <a:rPr lang="en-US" dirty="0"/>
              <a:t> in your table, then click the </a:t>
            </a:r>
            <a:r>
              <a:rPr lang="en-US" b="1" dirty="0"/>
              <a:t>Design</a:t>
            </a:r>
            <a:r>
              <a:rPr lang="en-US" dirty="0"/>
              <a:t> tab.</a:t>
            </a:r>
          </a:p>
          <a:p>
            <a:pPr algn="just" fontAlgn="base"/>
            <a:r>
              <a:rPr lang="en-US" dirty="0"/>
              <a:t>Click the </a:t>
            </a:r>
            <a:r>
              <a:rPr lang="en-US" b="1" dirty="0"/>
              <a:t>Convert to Range </a:t>
            </a:r>
            <a:r>
              <a:rPr lang="en-US" dirty="0"/>
              <a:t>command in the </a:t>
            </a:r>
            <a:r>
              <a:rPr lang="en-US" b="1" dirty="0"/>
              <a:t>Tools</a:t>
            </a:r>
            <a:r>
              <a:rPr lang="en-US" dirty="0"/>
              <a:t> group.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5D87C1-2FA1-48FD-BCA3-1881FB0D5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068960"/>
            <a:ext cx="7488832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75834"/>
      </p:ext>
    </p:extLst>
  </p:cSld>
  <p:clrMapOvr>
    <a:masterClrMapping/>
  </p:clrMapOvr>
  <p:transition>
    <p:fade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remove a table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A dialog box will appear. Click </a:t>
            </a:r>
            <a:r>
              <a:rPr lang="en-US" b="1" dirty="0"/>
              <a:t>Yes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5899F6-8757-4BAA-ABD1-698FAD685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87" y="1548594"/>
            <a:ext cx="695325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874775"/>
      </p:ext>
    </p:extLst>
  </p:cSld>
  <p:clrMapOvr>
    <a:masterClrMapping/>
  </p:clrMapOvr>
  <p:transition>
    <p:fade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remove a table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range will no longer be a table, but the cells will retain their data and formatting.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CFAFB4-3A1E-4589-BCCA-AEDB97280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5" y="1855812"/>
            <a:ext cx="695325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89061"/>
      </p:ext>
    </p:extLst>
  </p:cSld>
  <p:clrMapOvr>
    <a:masterClrMapping/>
  </p:clrMapOvr>
  <p:transition>
    <p:fade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Excel - Charts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It can be difficult to interpret Excel workbooks that contain a lot of data. </a:t>
            </a:r>
          </a:p>
          <a:p>
            <a:pPr algn="just" fontAlgn="base"/>
            <a:endParaRPr lang="en-US" b="1" dirty="0"/>
          </a:p>
          <a:p>
            <a:pPr algn="just" fontAlgn="base"/>
            <a:r>
              <a:rPr lang="en-US" b="1" dirty="0"/>
              <a:t>Charts</a:t>
            </a:r>
            <a:r>
              <a:rPr lang="en-US" dirty="0"/>
              <a:t> allow you to illustrate your workbook data </a:t>
            </a:r>
            <a:r>
              <a:rPr lang="en-US" b="1" dirty="0"/>
              <a:t>graphically</a:t>
            </a:r>
            <a:r>
              <a:rPr lang="en-US" dirty="0"/>
              <a:t>, which makes it easy to visualize </a:t>
            </a:r>
            <a:r>
              <a:rPr lang="en-US" b="1" dirty="0"/>
              <a:t>comparisons</a:t>
            </a:r>
            <a:r>
              <a:rPr lang="en-US" dirty="0"/>
              <a:t> and </a:t>
            </a:r>
            <a:r>
              <a:rPr lang="en-US" b="1" dirty="0"/>
              <a:t>trends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8849194"/>
      </p:ext>
    </p:extLst>
  </p:cSld>
  <p:clrMapOvr>
    <a:masterClrMapping/>
  </p:clrMapOvr>
  <p:transition>
    <p:fade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insert a chart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 </a:t>
            </a:r>
            <a:r>
              <a:rPr lang="en-US" b="1" dirty="0"/>
              <a:t>cells</a:t>
            </a:r>
            <a:r>
              <a:rPr lang="en-US" dirty="0"/>
              <a:t> you want to chart, including the </a:t>
            </a:r>
            <a:r>
              <a:rPr lang="en-US" b="1" dirty="0"/>
              <a:t>column titles</a:t>
            </a:r>
            <a:r>
              <a:rPr lang="en-US" dirty="0"/>
              <a:t> and </a:t>
            </a:r>
            <a:r>
              <a:rPr lang="en-US" b="1" dirty="0"/>
              <a:t>row labels</a:t>
            </a:r>
            <a:r>
              <a:rPr lang="en-US" dirty="0"/>
              <a:t>. These cells will be the source data for the chart. In our example, we'll select cells A1:F6.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DBA9F-FA83-47AD-BD98-EBE30AEC0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56" y="2996952"/>
            <a:ext cx="9144000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86939"/>
      </p:ext>
    </p:extLst>
  </p:cSld>
  <p:clrMapOvr>
    <a:masterClrMapping/>
  </p:clrMapOvr>
  <p:transition>
    <p:fade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insert a chart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From the </a:t>
            </a:r>
            <a:r>
              <a:rPr lang="en-US" b="1" dirty="0"/>
              <a:t>Insert</a:t>
            </a:r>
            <a:r>
              <a:rPr lang="en-US" dirty="0"/>
              <a:t> tab, click the desired </a:t>
            </a:r>
            <a:r>
              <a:rPr lang="en-US" b="1" dirty="0"/>
              <a:t>Chart</a:t>
            </a:r>
            <a:r>
              <a:rPr lang="en-US" dirty="0"/>
              <a:t> command. In our example, we'll select </a:t>
            </a:r>
            <a:r>
              <a:rPr lang="en-US" b="1" dirty="0"/>
              <a:t>Column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2D0B51-925F-436D-AA98-1B230DB0F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2060849"/>
            <a:ext cx="8820150" cy="245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401553"/>
      </p:ext>
    </p:extLst>
  </p:cSld>
  <p:clrMapOvr>
    <a:masterClrMapping/>
  </p:clrMapOvr>
  <p:transition>
    <p:fade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insert a chart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Choose the desired </a:t>
            </a:r>
            <a:r>
              <a:rPr lang="en-US" b="1" dirty="0"/>
              <a:t>chart type</a:t>
            </a:r>
            <a:r>
              <a:rPr lang="en-US" dirty="0"/>
              <a:t> from the drop-down menu.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ADF47-9412-4192-909F-5B6552BB78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844824"/>
            <a:ext cx="6038850" cy="48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15498"/>
      </p:ext>
    </p:extLst>
  </p:cSld>
  <p:clrMapOvr>
    <a:masterClrMapping/>
  </p:clrMapOvr>
  <p:transition>
    <p:fade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insert a chart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Selected chart will be inserted into the worksheet.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9D61A5-507B-4A11-9F20-FC66449D7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2816"/>
            <a:ext cx="9144000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607300"/>
      </p:ext>
    </p:extLst>
  </p:cSld>
  <p:clrMapOvr>
    <a:masterClrMapping/>
  </p:clrMapOvr>
  <p:transition>
    <p:fade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Chart and layout style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After inserting a chart, there are several things you may want to change about the way your data is displayed.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It's easy to edit a chart's </a:t>
            </a:r>
            <a:r>
              <a:rPr lang="en-US" b="1" dirty="0"/>
              <a:t>layout</a:t>
            </a:r>
            <a:r>
              <a:rPr lang="en-US" dirty="0"/>
              <a:t> and </a:t>
            </a:r>
            <a:r>
              <a:rPr lang="en-US" b="1" dirty="0"/>
              <a:t>style</a:t>
            </a:r>
            <a:r>
              <a:rPr lang="en-US" dirty="0"/>
              <a:t> from the </a:t>
            </a:r>
            <a:r>
              <a:rPr lang="en-US" b="1" dirty="0"/>
              <a:t>Design</a:t>
            </a:r>
            <a:r>
              <a:rPr lang="en-US" dirty="0"/>
              <a:t> tab.</a:t>
            </a:r>
          </a:p>
        </p:txBody>
      </p:sp>
    </p:spTree>
    <p:extLst>
      <p:ext uri="{BB962C8B-B14F-4D97-AF65-F5344CB8AC3E}">
        <p14:creationId xmlns:p14="http://schemas.microsoft.com/office/powerpoint/2010/main" val="1776291457"/>
      </p:ext>
    </p:extLst>
  </p:cSld>
  <p:clrMapOvr>
    <a:masterClrMapping/>
  </p:clrMapOvr>
  <p:transition>
    <p:fade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Chart and layout style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Excel allows you to add </a:t>
            </a:r>
            <a:r>
              <a:rPr lang="en-US" b="1" dirty="0"/>
              <a:t>chart elements</a:t>
            </a:r>
            <a:r>
              <a:rPr lang="en-US" dirty="0"/>
              <a:t>—including </a:t>
            </a:r>
            <a:r>
              <a:rPr lang="en-US" b="1" dirty="0"/>
              <a:t>chart titles</a:t>
            </a:r>
            <a:r>
              <a:rPr lang="en-US" dirty="0"/>
              <a:t>, </a:t>
            </a:r>
            <a:r>
              <a:rPr lang="en-US" b="1" dirty="0"/>
              <a:t>legends</a:t>
            </a:r>
            <a:r>
              <a:rPr lang="en-US" dirty="0"/>
              <a:t>, and </a:t>
            </a:r>
            <a:r>
              <a:rPr lang="en-US" b="1" dirty="0"/>
              <a:t>data labels</a:t>
            </a:r>
            <a:r>
              <a:rPr lang="en-US" dirty="0"/>
              <a:t>—to make your chart easier to read. To add a chart element, click the </a:t>
            </a:r>
            <a:r>
              <a:rPr lang="en-US" b="1" dirty="0"/>
              <a:t>Add Chart Element</a:t>
            </a:r>
            <a:r>
              <a:rPr lang="en-US" dirty="0"/>
              <a:t> command on the </a:t>
            </a:r>
            <a:r>
              <a:rPr lang="en-US" b="1" dirty="0"/>
              <a:t>Design</a:t>
            </a:r>
            <a:r>
              <a:rPr lang="en-US" dirty="0"/>
              <a:t> tab, then choose the </a:t>
            </a:r>
            <a:r>
              <a:rPr lang="en-US" b="1" dirty="0"/>
              <a:t>desired element</a:t>
            </a:r>
            <a:r>
              <a:rPr lang="en-US" dirty="0"/>
              <a:t> from the drop-down menu.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8AA2C-CC75-432B-8E46-BBDC45EB9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739344"/>
            <a:ext cx="5429250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62178"/>
      </p:ext>
    </p:extLst>
  </p:cSld>
  <p:clrMapOvr>
    <a:masterClrMapping/>
  </p:clrMapOvr>
  <p:transition>
    <p:fade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Chart and layout style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To </a:t>
            </a:r>
            <a:r>
              <a:rPr lang="en-US" b="1" dirty="0"/>
              <a:t>edit</a:t>
            </a:r>
            <a:r>
              <a:rPr lang="en-US" dirty="0"/>
              <a:t> a chart element, like a </a:t>
            </a:r>
            <a:r>
              <a:rPr lang="en-US" b="1" dirty="0"/>
              <a:t>chart title</a:t>
            </a:r>
            <a:r>
              <a:rPr lang="en-US" dirty="0"/>
              <a:t>, simply double-click the </a:t>
            </a:r>
            <a:r>
              <a:rPr lang="en-US" b="1" dirty="0"/>
              <a:t>placeholder</a:t>
            </a:r>
            <a:r>
              <a:rPr lang="en-US" dirty="0"/>
              <a:t> and begin typing.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E15E33-5D41-4444-9CDD-585052429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2816"/>
            <a:ext cx="9144000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52825"/>
      </p:ext>
    </p:extLst>
  </p:cSld>
  <p:clrMapOvr>
    <a:masterClrMapping/>
  </p:clrMapOvr>
  <p:transition>
    <p:fade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Chart and layout style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If you don't want to add chart elements individually, you can use one of Excel's predefined layouts. Simply click the </a:t>
            </a:r>
            <a:r>
              <a:rPr lang="en-US" b="1" dirty="0"/>
              <a:t>Quick Layout</a:t>
            </a:r>
            <a:r>
              <a:rPr lang="en-US" dirty="0"/>
              <a:t> command, then choose the </a:t>
            </a:r>
            <a:r>
              <a:rPr lang="en-US" b="1" dirty="0"/>
              <a:t>desired layout</a:t>
            </a:r>
            <a:r>
              <a:rPr lang="en-US" dirty="0"/>
              <a:t> from the drop-down menu.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AD2C11-D605-437F-9123-BD6EE7C27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787" y="2924944"/>
            <a:ext cx="4924425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44281"/>
      </p:ext>
    </p:extLst>
  </p:cSld>
  <p:clrMapOvr>
    <a:masterClrMapping/>
  </p:clrMapOvr>
  <p:transition>
    <p:fade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Chart and layout style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Excel also includes several </a:t>
            </a:r>
            <a:r>
              <a:rPr lang="en-US" b="1" dirty="0"/>
              <a:t>chart styles</a:t>
            </a:r>
            <a:r>
              <a:rPr lang="en-US" dirty="0"/>
              <a:t>, which allow you to quickly modify the look and feel of your chart. To change the chart style, select the </a:t>
            </a:r>
            <a:r>
              <a:rPr lang="en-US" b="1" dirty="0"/>
              <a:t>desired style</a:t>
            </a:r>
            <a:r>
              <a:rPr lang="en-US" dirty="0"/>
              <a:t> from the </a:t>
            </a:r>
            <a:r>
              <a:rPr lang="en-US" b="1" dirty="0"/>
              <a:t>Chart styles</a:t>
            </a:r>
            <a:r>
              <a:rPr lang="en-US" dirty="0"/>
              <a:t> group. You can also click the drop-down arrow on the right to see more styles.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AC2AD-DDDC-484F-9E48-FC9E07B05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" y="3933056"/>
            <a:ext cx="9116888" cy="259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35957"/>
      </p:ext>
    </p:extLst>
  </p:cSld>
  <p:clrMapOvr>
    <a:masterClrMapping/>
  </p:clrMapOvr>
  <p:transition>
    <p:fade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switch row and column data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Sometimes you may want to change the way charts </a:t>
            </a:r>
            <a:r>
              <a:rPr lang="en-US" b="1" dirty="0"/>
              <a:t>group</a:t>
            </a:r>
            <a:r>
              <a:rPr lang="en-US" dirty="0"/>
              <a:t> your data. For example, in the chart below Book Sales data is grouped by </a:t>
            </a:r>
            <a:r>
              <a:rPr lang="en-US" b="1" dirty="0"/>
              <a:t>genre</a:t>
            </a:r>
            <a:r>
              <a:rPr lang="en-US" dirty="0"/>
              <a:t>, with columns for </a:t>
            </a:r>
            <a:r>
              <a:rPr lang="en-US" b="1" dirty="0"/>
              <a:t>each month</a:t>
            </a:r>
            <a:r>
              <a:rPr lang="en-US" dirty="0"/>
              <a:t>. However, we could switch the rows and columns so the chart will group the data by </a:t>
            </a:r>
            <a:r>
              <a:rPr lang="en-US" b="1" dirty="0"/>
              <a:t>month</a:t>
            </a:r>
            <a:r>
              <a:rPr lang="en-US" dirty="0"/>
              <a:t>, with columns for </a:t>
            </a:r>
            <a:r>
              <a:rPr lang="en-US" b="1" dirty="0"/>
              <a:t>each genre</a:t>
            </a:r>
            <a:r>
              <a:rPr lang="en-US" dirty="0"/>
              <a:t>. In both cases, the chart contains the same data—it's just organized differently.</a:t>
            </a:r>
          </a:p>
          <a:p>
            <a:pPr algn="just" fontAlgn="base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F3F9DB-916C-42F2-8E39-D6976C41D1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81127"/>
            <a:ext cx="9144000" cy="227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52379"/>
      </p:ext>
    </p:extLst>
  </p:cSld>
  <p:clrMapOvr>
    <a:masterClrMapping/>
  </p:clrMapOvr>
  <p:transition>
    <p:fade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switch row and column data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 </a:t>
            </a:r>
            <a:r>
              <a:rPr lang="en-US" b="1" dirty="0"/>
              <a:t>chart</a:t>
            </a:r>
            <a:r>
              <a:rPr lang="en-US" dirty="0"/>
              <a:t> you want to modify.</a:t>
            </a:r>
          </a:p>
          <a:p>
            <a:pPr algn="just" fontAlgn="base"/>
            <a:r>
              <a:rPr lang="en-US" dirty="0"/>
              <a:t>From the </a:t>
            </a:r>
            <a:r>
              <a:rPr lang="en-US" b="1" dirty="0"/>
              <a:t>Design</a:t>
            </a:r>
            <a:r>
              <a:rPr lang="en-US" dirty="0"/>
              <a:t> tab, select the </a:t>
            </a:r>
            <a:r>
              <a:rPr lang="en-US" b="1" dirty="0"/>
              <a:t>Switch Row/Column </a:t>
            </a:r>
            <a:r>
              <a:rPr lang="en-US" dirty="0"/>
              <a:t>command.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404D4-29FE-4990-AB11-A45DBDFF1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14" y="2708920"/>
            <a:ext cx="9144000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90674"/>
      </p:ext>
    </p:extLst>
  </p:cSld>
  <p:clrMapOvr>
    <a:masterClrMapping/>
  </p:clrMapOvr>
  <p:transition>
    <p:fade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switch row and column data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rows and columns will be </a:t>
            </a:r>
            <a:r>
              <a:rPr lang="en-US" b="1" dirty="0"/>
              <a:t>switched</a:t>
            </a:r>
            <a:r>
              <a:rPr lang="en-US" dirty="0"/>
              <a:t>. In our example, the data is now grouped by month, with columns for each genre.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9B169-9EB9-4680-B626-F10219A36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" y="2348880"/>
            <a:ext cx="9096375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04903"/>
      </p:ext>
    </p:extLst>
  </p:cSld>
  <p:clrMapOvr>
    <a:masterClrMapping/>
  </p:clrMapOvr>
  <p:transition>
    <p:fade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Excel - Conditional Formatting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Let's say you have a worksheet with thousands of rows of data. </a:t>
            </a:r>
          </a:p>
          <a:p>
            <a:pPr algn="just" fontAlgn="base"/>
            <a:endParaRPr lang="en-US" dirty="0"/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It would be extremely difficult to see patterns and trends just from examining the raw information. </a:t>
            </a:r>
          </a:p>
          <a:p>
            <a:pPr marL="0" indent="0" algn="just" fontAlgn="base">
              <a:buNone/>
            </a:pPr>
            <a:endParaRPr lang="en-US" dirty="0"/>
          </a:p>
          <a:p>
            <a:pPr algn="just" fontAlgn="base"/>
            <a:r>
              <a:rPr lang="en-US" dirty="0"/>
              <a:t>Similar to charts and sparklines, </a:t>
            </a:r>
            <a:r>
              <a:rPr lang="en-US" b="1" dirty="0"/>
              <a:t>conditional formatting </a:t>
            </a:r>
            <a:r>
              <a:rPr lang="en-US" dirty="0"/>
              <a:t>provides a way to visualize data and make worksheets easier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1079756662"/>
      </p:ext>
    </p:extLst>
  </p:cSld>
  <p:clrMapOvr>
    <a:masterClrMapping/>
  </p:clrMapOvr>
  <p:transition>
    <p:fade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Understanding conditional formatting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Conditional formatting allows you to automatically apply formatting—such as </a:t>
            </a:r>
            <a:r>
              <a:rPr lang="en-US" b="1" dirty="0"/>
              <a:t>colors</a:t>
            </a:r>
            <a:r>
              <a:rPr lang="en-US" dirty="0"/>
              <a:t>, </a:t>
            </a:r>
            <a:r>
              <a:rPr lang="en-US" b="1" dirty="0"/>
              <a:t>icons</a:t>
            </a:r>
            <a:r>
              <a:rPr lang="en-US" dirty="0"/>
              <a:t>, and </a:t>
            </a:r>
            <a:r>
              <a:rPr lang="en-US" b="1" dirty="0"/>
              <a:t>data bars</a:t>
            </a:r>
            <a:r>
              <a:rPr lang="en-US" dirty="0"/>
              <a:t>—to one or more cells based on the </a:t>
            </a:r>
            <a:r>
              <a:rPr lang="en-US" b="1" dirty="0"/>
              <a:t>cell</a:t>
            </a:r>
            <a:r>
              <a:rPr lang="en-US" dirty="0"/>
              <a:t> </a:t>
            </a:r>
            <a:r>
              <a:rPr lang="en-US" b="1" dirty="0"/>
              <a:t>value</a:t>
            </a:r>
            <a:r>
              <a:rPr lang="en-US" dirty="0"/>
              <a:t>. To do this, you'll need to create a </a:t>
            </a:r>
            <a:r>
              <a:rPr lang="en-US" b="1" dirty="0"/>
              <a:t>conditional formatting</a:t>
            </a:r>
            <a:r>
              <a:rPr lang="en-US" dirty="0"/>
              <a:t> </a:t>
            </a:r>
            <a:r>
              <a:rPr lang="en-US" b="1" dirty="0"/>
              <a:t>rule</a:t>
            </a:r>
            <a:r>
              <a:rPr lang="en-US" dirty="0"/>
              <a:t>. For example, a conditional formatting rule might be: </a:t>
            </a:r>
            <a:r>
              <a:rPr lang="en-US" b="1" dirty="0"/>
              <a:t>If the value is less than $2000, color the cell red</a:t>
            </a:r>
            <a:r>
              <a:rPr lang="en-US" dirty="0"/>
              <a:t>. By applying this rule, you'd be able to quickly see which cells contain values less than $2000.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49E0C-1AA9-48D8-B9D5-48ED12499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4757918"/>
            <a:ext cx="7128792" cy="210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440186"/>
      </p:ext>
    </p:extLst>
  </p:cSld>
  <p:clrMapOvr>
    <a:masterClrMapping/>
  </p:clrMapOvr>
  <p:transition>
    <p:fade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To create a conditional formatting rule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In our example, we have a worksheet containing sales data, and we'd like to see which salespeople are meeting their monthly sales goals.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The sales goal is $4000 per month, so we'll create a conditional formatting rule for any cells containing a value higher than 4000.</a:t>
            </a:r>
          </a:p>
        </p:txBody>
      </p:sp>
    </p:spTree>
    <p:extLst>
      <p:ext uri="{BB962C8B-B14F-4D97-AF65-F5344CB8AC3E}">
        <p14:creationId xmlns:p14="http://schemas.microsoft.com/office/powerpoint/2010/main" val="1870319455"/>
      </p:ext>
    </p:extLst>
  </p:cSld>
  <p:clrMapOvr>
    <a:masterClrMapping/>
  </p:clrMapOvr>
  <p:transition>
    <p:fade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To create a conditional formatting rule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 </a:t>
            </a:r>
            <a:r>
              <a:rPr lang="en-US" b="1" dirty="0"/>
              <a:t>desired cells</a:t>
            </a:r>
            <a:r>
              <a:rPr lang="en-US" dirty="0"/>
              <a:t> for the conditional formatting rule.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7233D-C71C-4746-B594-D1E508E94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1484784"/>
            <a:ext cx="8524875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96052"/>
      </p:ext>
    </p:extLst>
  </p:cSld>
  <p:clrMapOvr>
    <a:masterClrMapping/>
  </p:clrMapOvr>
  <p:transition>
    <p:fade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To create a conditional formatting rule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From the </a:t>
            </a:r>
            <a:r>
              <a:rPr lang="en-US" b="1" dirty="0"/>
              <a:t>Home</a:t>
            </a:r>
            <a:r>
              <a:rPr lang="en-US" dirty="0"/>
              <a:t> tab, click the </a:t>
            </a:r>
            <a:r>
              <a:rPr lang="en-US" b="1" dirty="0"/>
              <a:t>Conditional Formatting</a:t>
            </a:r>
            <a:r>
              <a:rPr lang="en-US" dirty="0"/>
              <a:t> command. A drop-down menu will appear.</a:t>
            </a:r>
          </a:p>
          <a:p>
            <a:pPr algn="just" fontAlgn="base"/>
            <a:r>
              <a:rPr lang="en-US" dirty="0"/>
              <a:t>Hover the mouse over the desired </a:t>
            </a:r>
            <a:r>
              <a:rPr lang="en-US" b="1" dirty="0"/>
              <a:t>conditional formatting</a:t>
            </a:r>
            <a:r>
              <a:rPr lang="en-US" dirty="0"/>
              <a:t> </a:t>
            </a:r>
            <a:r>
              <a:rPr lang="en-US" b="1" dirty="0"/>
              <a:t>type</a:t>
            </a:r>
            <a:r>
              <a:rPr lang="en-US" dirty="0"/>
              <a:t>, then select the </a:t>
            </a:r>
            <a:r>
              <a:rPr lang="en-US" b="1" dirty="0"/>
              <a:t>desired rule </a:t>
            </a:r>
            <a:r>
              <a:rPr lang="en-US" dirty="0"/>
              <a:t>from the menu that appears. In our example, we want to </a:t>
            </a:r>
            <a:r>
              <a:rPr lang="en-US" b="1" dirty="0"/>
              <a:t>highlight cells </a:t>
            </a:r>
            <a:r>
              <a:rPr lang="en-US" dirty="0"/>
              <a:t>that are </a:t>
            </a:r>
            <a:r>
              <a:rPr lang="en-US" b="1" dirty="0"/>
              <a:t>greater than $4000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0C19C-17F0-445B-A194-B42A61C05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3914800"/>
            <a:ext cx="4392488" cy="285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89680"/>
      </p:ext>
    </p:extLst>
  </p:cSld>
  <p:clrMapOvr>
    <a:masterClrMapping/>
  </p:clrMapOvr>
  <p:transition>
    <p:fade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To create a conditional formatting rule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A dialog box will appear. Enter the </a:t>
            </a:r>
            <a:r>
              <a:rPr lang="en-US" b="1" dirty="0"/>
              <a:t>desired value(s) </a:t>
            </a:r>
            <a:r>
              <a:rPr lang="en-US" dirty="0"/>
              <a:t>into the blank field. In our example, we'll enter 4000 as our value.</a:t>
            </a:r>
          </a:p>
          <a:p>
            <a:pPr algn="just" fontAlgn="base"/>
            <a:r>
              <a:rPr lang="en-US" dirty="0"/>
              <a:t>Select a </a:t>
            </a:r>
            <a:r>
              <a:rPr lang="en-US" b="1" dirty="0"/>
              <a:t>formatting style </a:t>
            </a:r>
            <a:r>
              <a:rPr lang="en-US" dirty="0"/>
              <a:t>from the drop-down menu. In our example, we'll choose </a:t>
            </a:r>
            <a:r>
              <a:rPr lang="en-US" b="1" dirty="0"/>
              <a:t>Green Fill with Dark Green Text</a:t>
            </a:r>
            <a:r>
              <a:rPr lang="en-US" dirty="0"/>
              <a:t>, then click </a:t>
            </a:r>
            <a:r>
              <a:rPr lang="en-US" b="1" dirty="0"/>
              <a:t>OK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DF417-9B06-4776-B4D7-5FAE4CD55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861048"/>
            <a:ext cx="6192688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557740"/>
      </p:ext>
    </p:extLst>
  </p:cSld>
  <p:clrMapOvr>
    <a:masterClrMapping/>
  </p:clrMapOvr>
  <p:transition>
    <p:fade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To create a conditional formatting rule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The conditional formatting will be applied to the selected cells. In our example, it's easy to see which salespeople reached the $4000 sales goal for each month.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C59EA-DB75-42E1-B1A4-E7A6F3C4A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2492896"/>
            <a:ext cx="8524875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64590"/>
      </p:ext>
    </p:extLst>
  </p:cSld>
  <p:clrMapOvr>
    <a:masterClrMapping/>
  </p:clrMapOvr>
  <p:transition>
    <p:fade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To create a conditional formatting rule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You can apply multiple conditional formatting rules to a cell range or worksheet, allowing you to visualize different trends and patterns in your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52E5F-0CC6-482D-90A2-0FD1AD39E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2060848"/>
            <a:ext cx="8524875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14128"/>
      </p:ext>
    </p:extLst>
  </p:cSld>
  <p:clrMapOvr>
    <a:masterClrMapping/>
  </p:clrMapOvr>
  <p:transition>
    <p:fade/>
  </p:transition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Conditional formatting presets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Excel has several predefined styles—or </a:t>
            </a:r>
            <a:r>
              <a:rPr lang="en-US" b="1" dirty="0"/>
              <a:t>presets</a:t>
            </a:r>
            <a:r>
              <a:rPr lang="en-US" dirty="0"/>
              <a:t>—you can use to quickly apply conditional formatting to your data. They are grouped into three categories: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b="1" dirty="0"/>
              <a:t>Data Bars </a:t>
            </a:r>
            <a:r>
              <a:rPr lang="en-US" dirty="0"/>
              <a:t>are horizontal bars added to each cell, much like a bar graph.</a:t>
            </a:r>
          </a:p>
          <a:p>
            <a:pPr algn="just" fontAlgn="base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113641-7402-4BC6-8C47-1B1664B08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293096"/>
            <a:ext cx="6984775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350723"/>
      </p:ext>
    </p:extLst>
  </p:cSld>
  <p:clrMapOvr>
    <a:masterClrMapping/>
  </p:clrMapOvr>
  <p:transition>
    <p:fade/>
  </p:transition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Conditional formatting presets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Color Scales change the color of each cell based on its value. Each color scale uses a </a:t>
            </a:r>
            <a:r>
              <a:rPr lang="en-US" b="1" dirty="0"/>
              <a:t>two- or three-color gradient</a:t>
            </a:r>
            <a:r>
              <a:rPr lang="en-US" dirty="0"/>
              <a:t>. For example, in the </a:t>
            </a:r>
            <a:r>
              <a:rPr lang="en-US" b="1" dirty="0"/>
              <a:t>Green-Yellow-Red</a:t>
            </a:r>
            <a:r>
              <a:rPr lang="en-US" dirty="0"/>
              <a:t> color scale, the </a:t>
            </a:r>
            <a:r>
              <a:rPr lang="en-US" b="1" dirty="0"/>
              <a:t>highest</a:t>
            </a:r>
            <a:r>
              <a:rPr lang="en-US" dirty="0"/>
              <a:t> values are green, the </a:t>
            </a:r>
            <a:r>
              <a:rPr lang="en-US" b="1" dirty="0"/>
              <a:t>average</a:t>
            </a:r>
            <a:r>
              <a:rPr lang="en-US" dirty="0"/>
              <a:t> values are yellow, and the </a:t>
            </a:r>
            <a:r>
              <a:rPr lang="en-US" b="1" dirty="0"/>
              <a:t>lowest</a:t>
            </a:r>
            <a:r>
              <a:rPr lang="en-US" dirty="0"/>
              <a:t> values are 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812AA-D6F5-4DB9-907A-6A926CEA7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789040"/>
            <a:ext cx="7344816" cy="213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24238"/>
      </p:ext>
    </p:extLst>
  </p:cSld>
  <p:clrMapOvr>
    <a:masterClrMapping/>
  </p:clrMapOvr>
  <p:transition>
    <p:fade/>
  </p:transition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Conditional formatting presets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 fontAlgn="base"/>
            <a:r>
              <a:rPr lang="en-US" b="1" dirty="0"/>
              <a:t>Icon Sets</a:t>
            </a:r>
            <a:r>
              <a:rPr lang="en-US" dirty="0"/>
              <a:t> add a specific icon to each cell based on its value.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8D9C5-E797-4719-A8B4-5AF1DFFE3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916832"/>
            <a:ext cx="7776863" cy="19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09354"/>
      </p:ext>
    </p:extLst>
  </p:cSld>
  <p:clrMapOvr>
    <a:masterClrMapping/>
  </p:clrMapOvr>
  <p:transition>
    <p:fade/>
  </p:transition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To use preset conditional formatting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Select the </a:t>
            </a:r>
            <a:r>
              <a:rPr lang="en-US" b="1" dirty="0"/>
              <a:t>desired cells </a:t>
            </a:r>
            <a:r>
              <a:rPr lang="en-US" dirty="0"/>
              <a:t>for the conditional formatting rule</a:t>
            </a:r>
            <a:r>
              <a:rPr lang="en-US" b="1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05D18-C02C-45BC-9471-8B82445BF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1844824"/>
            <a:ext cx="8524875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85259"/>
      </p:ext>
    </p:extLst>
  </p:cSld>
  <p:clrMapOvr>
    <a:masterClrMapping/>
  </p:clrMapOvr>
  <p:transition>
    <p:fade/>
  </p:transition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To use preset conditional formatting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Click the </a:t>
            </a:r>
            <a:r>
              <a:rPr lang="en-US" b="1" dirty="0"/>
              <a:t>Conditional Formatting</a:t>
            </a:r>
            <a:r>
              <a:rPr lang="en-US" dirty="0"/>
              <a:t> command. A drop-down menu will appear.</a:t>
            </a:r>
          </a:p>
          <a:p>
            <a:pPr fontAlgn="base"/>
            <a:r>
              <a:rPr lang="en-US" dirty="0"/>
              <a:t>Hover the mouse over the</a:t>
            </a:r>
            <a:r>
              <a:rPr lang="en-US" b="1" dirty="0"/>
              <a:t> desired preset</a:t>
            </a:r>
            <a:r>
              <a:rPr lang="en-US" dirty="0"/>
              <a:t>, then choose a </a:t>
            </a:r>
            <a:r>
              <a:rPr lang="en-US" b="1" dirty="0"/>
              <a:t>preset style </a:t>
            </a:r>
            <a:r>
              <a:rPr lang="en-US" dirty="0"/>
              <a:t>from the menu that appears.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967BF9-3F52-4749-B016-844564112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975" y="2852935"/>
            <a:ext cx="4210050" cy="388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668771"/>
      </p:ext>
    </p:extLst>
  </p:cSld>
  <p:clrMapOvr>
    <a:masterClrMapping/>
  </p:clrMapOvr>
  <p:transition>
    <p:fade/>
  </p:transition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To use preset conditional formatting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The conditional formatting will be applied to the selected cells.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E4ADF-195F-4A2D-A212-C80D6181C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1844824"/>
            <a:ext cx="8524875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56849"/>
      </p:ext>
    </p:extLst>
  </p:cSld>
  <p:clrMapOvr>
    <a:masterClrMapping/>
  </p:clrMapOvr>
  <p:transition>
    <p:fade/>
  </p:transition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/>
          </a:p>
          <a:p>
            <a:pPr algn="ctr">
              <a:buFont typeface="Arial" charset="0"/>
              <a:buNone/>
            </a:pPr>
            <a:endParaRPr lang="en-US" b="1"/>
          </a:p>
          <a:p>
            <a:pPr algn="ctr">
              <a:buFont typeface="Arial" charset="0"/>
              <a:buNone/>
            </a:pPr>
            <a:endParaRPr lang="en-US" sz="3200" b="1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2339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/>
          </a:p>
          <a:p>
            <a:pPr algn="ctr">
              <a:buFont typeface="Arial" charset="0"/>
              <a:buNone/>
            </a:pPr>
            <a:endParaRPr lang="en-US" b="1"/>
          </a:p>
          <a:p>
            <a:pPr algn="ctr">
              <a:buFont typeface="Arial" charset="0"/>
              <a:buNone/>
            </a:pPr>
            <a:endParaRPr lang="en-US" sz="3200" b="1"/>
          </a:p>
        </p:txBody>
      </p:sp>
      <p:sp>
        <p:nvSpPr>
          <p:cNvPr id="5" name="Rectangle 4"/>
          <p:cNvSpPr/>
          <p:nvPr/>
        </p:nvSpPr>
        <p:spPr>
          <a:xfrm>
            <a:off x="2071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14396</TotalTime>
  <Words>6704</Words>
  <Application>Microsoft Office PowerPoint</Application>
  <PresentationFormat>On-screen Show (4:3)</PresentationFormat>
  <Paragraphs>596</Paragraphs>
  <Slides>155</Slides>
  <Notes>155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60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Objectives Overview</vt:lpstr>
      <vt:lpstr>Excel - Freezing Panes and View Options</vt:lpstr>
      <vt:lpstr>To freeze rows</vt:lpstr>
      <vt:lpstr>To freeze rows</vt:lpstr>
      <vt:lpstr>To freeze rows</vt:lpstr>
      <vt:lpstr>To freeze rows</vt:lpstr>
      <vt:lpstr>To freeze columns</vt:lpstr>
      <vt:lpstr>To freeze columns</vt:lpstr>
      <vt:lpstr>To freeze columns</vt:lpstr>
      <vt:lpstr>To freeze columns</vt:lpstr>
      <vt:lpstr>To freeze columns</vt:lpstr>
      <vt:lpstr>To unfreeze panes</vt:lpstr>
      <vt:lpstr>Other view options</vt:lpstr>
      <vt:lpstr>To open a new window for the current workbook</vt:lpstr>
      <vt:lpstr>To open a new window for the current workbook</vt:lpstr>
      <vt:lpstr>To open a new window for the current workbook</vt:lpstr>
      <vt:lpstr>To open a new window for the current workbook</vt:lpstr>
      <vt:lpstr>To open a new window for the current workbook</vt:lpstr>
      <vt:lpstr>To split a worksheet</vt:lpstr>
      <vt:lpstr>To split a worksheet</vt:lpstr>
      <vt:lpstr>To split a worksheet</vt:lpstr>
      <vt:lpstr>To split a worksheet</vt:lpstr>
      <vt:lpstr>Excel - Sorting Data</vt:lpstr>
      <vt:lpstr>Types of sorting</vt:lpstr>
      <vt:lpstr>Types of sorting</vt:lpstr>
      <vt:lpstr>To sort a sheet</vt:lpstr>
      <vt:lpstr>To sort a sheet</vt:lpstr>
      <vt:lpstr>To sort a sheet</vt:lpstr>
      <vt:lpstr>To sort a range</vt:lpstr>
      <vt:lpstr>To sort a range</vt:lpstr>
      <vt:lpstr>To sort a range</vt:lpstr>
      <vt:lpstr>To sort a range</vt:lpstr>
      <vt:lpstr>To sort a range</vt:lpstr>
      <vt:lpstr>Custom sorting</vt:lpstr>
      <vt:lpstr>To create a custom sort</vt:lpstr>
      <vt:lpstr>To create a custom sort</vt:lpstr>
      <vt:lpstr>To create a custom sort</vt:lpstr>
      <vt:lpstr>To create a custom sort</vt:lpstr>
      <vt:lpstr>To create a custom sort</vt:lpstr>
      <vt:lpstr>To create a custom sort</vt:lpstr>
      <vt:lpstr>To create a custom sort</vt:lpstr>
      <vt:lpstr>To create a custom sort</vt:lpstr>
      <vt:lpstr>Sorting levels</vt:lpstr>
      <vt:lpstr>To add a level</vt:lpstr>
      <vt:lpstr>To add a level</vt:lpstr>
      <vt:lpstr>To add a level</vt:lpstr>
      <vt:lpstr>To add a level</vt:lpstr>
      <vt:lpstr>To add a level</vt:lpstr>
      <vt:lpstr>To add a level</vt:lpstr>
      <vt:lpstr>Excel - Filtering Data</vt:lpstr>
      <vt:lpstr>To filter data</vt:lpstr>
      <vt:lpstr>To filter data</vt:lpstr>
      <vt:lpstr>To filter data</vt:lpstr>
      <vt:lpstr>To filter data</vt:lpstr>
      <vt:lpstr>To filter data</vt:lpstr>
      <vt:lpstr>To filter data</vt:lpstr>
      <vt:lpstr>To filter data</vt:lpstr>
      <vt:lpstr>To apply multiple filters</vt:lpstr>
      <vt:lpstr>To apply multiple filters</vt:lpstr>
      <vt:lpstr>To apply multiple filters</vt:lpstr>
      <vt:lpstr>To apply multiple filters</vt:lpstr>
      <vt:lpstr>To clear a filter</vt:lpstr>
      <vt:lpstr>To clear a filter</vt:lpstr>
      <vt:lpstr>To clear a filter</vt:lpstr>
      <vt:lpstr>To clear a filter</vt:lpstr>
      <vt:lpstr>Advanced filtering</vt:lpstr>
      <vt:lpstr>To filter with search</vt:lpstr>
      <vt:lpstr>To filter with search</vt:lpstr>
      <vt:lpstr>To filter with search</vt:lpstr>
      <vt:lpstr>To filter with search</vt:lpstr>
      <vt:lpstr>To use advanced text filters</vt:lpstr>
      <vt:lpstr>To use advanced text filters</vt:lpstr>
      <vt:lpstr>To use advanced text filters</vt:lpstr>
      <vt:lpstr>To use advanced text filters</vt:lpstr>
      <vt:lpstr>To use advanced text filters</vt:lpstr>
      <vt:lpstr>To use advanced number filters</vt:lpstr>
      <vt:lpstr>To use advanced number filters</vt:lpstr>
      <vt:lpstr>To use advanced number filters</vt:lpstr>
      <vt:lpstr>To use advanced number filters</vt:lpstr>
      <vt:lpstr>To use advanced number filters</vt:lpstr>
      <vt:lpstr>To use advanced date filters</vt:lpstr>
      <vt:lpstr>To use advanced date filters</vt:lpstr>
      <vt:lpstr>To use advanced date filters</vt:lpstr>
      <vt:lpstr>To use advanced date filters</vt:lpstr>
      <vt:lpstr>To use advanced date filters</vt:lpstr>
      <vt:lpstr>To use advanced date filters</vt:lpstr>
      <vt:lpstr>Excel - Groups and Subtotals</vt:lpstr>
      <vt:lpstr>To group rows or columns</vt:lpstr>
      <vt:lpstr>To group rows or columns</vt:lpstr>
      <vt:lpstr>To group rows or columns</vt:lpstr>
      <vt:lpstr>To group rows or columns</vt:lpstr>
      <vt:lpstr>To hide and show groups</vt:lpstr>
      <vt:lpstr>To hide and show groups</vt:lpstr>
      <vt:lpstr>Creating subtotals</vt:lpstr>
      <vt:lpstr>To create a subtotal</vt:lpstr>
      <vt:lpstr>To create a subtotal</vt:lpstr>
      <vt:lpstr>To create a subtotal</vt:lpstr>
      <vt:lpstr>To create a subtotal</vt:lpstr>
      <vt:lpstr>To create a subtotal</vt:lpstr>
      <vt:lpstr>To create a subtotal</vt:lpstr>
      <vt:lpstr>To remove subtotals</vt:lpstr>
      <vt:lpstr>To remove subtotals</vt:lpstr>
      <vt:lpstr>To remove subtotals</vt:lpstr>
      <vt:lpstr>Excel - Tables</vt:lpstr>
      <vt:lpstr>To format data as a table</vt:lpstr>
      <vt:lpstr>To format data as a table</vt:lpstr>
      <vt:lpstr>To format data as a table</vt:lpstr>
      <vt:lpstr>To format data as a table</vt:lpstr>
      <vt:lpstr>To format data as a table</vt:lpstr>
      <vt:lpstr>Modifying tables</vt:lpstr>
      <vt:lpstr>To add rows or columns to a table</vt:lpstr>
      <vt:lpstr>To add rows or columns to a table</vt:lpstr>
      <vt:lpstr>To add rows or columns to a table</vt:lpstr>
      <vt:lpstr>To change the table style</vt:lpstr>
      <vt:lpstr>To change the table style</vt:lpstr>
      <vt:lpstr>To change the table style</vt:lpstr>
      <vt:lpstr>To change the table style</vt:lpstr>
      <vt:lpstr>To modify table style options</vt:lpstr>
      <vt:lpstr>To modify table style options</vt:lpstr>
      <vt:lpstr>To modify table style options</vt:lpstr>
      <vt:lpstr>To remove a table</vt:lpstr>
      <vt:lpstr>To remove a table</vt:lpstr>
      <vt:lpstr>To remove a table</vt:lpstr>
      <vt:lpstr>To remove a table</vt:lpstr>
      <vt:lpstr>Excel - Charts</vt:lpstr>
      <vt:lpstr>To insert a chart</vt:lpstr>
      <vt:lpstr>To insert a chart</vt:lpstr>
      <vt:lpstr>To insert a chart</vt:lpstr>
      <vt:lpstr>To insert a chart</vt:lpstr>
      <vt:lpstr>Chart and layout style</vt:lpstr>
      <vt:lpstr>Chart and layout style</vt:lpstr>
      <vt:lpstr>Chart and layout style</vt:lpstr>
      <vt:lpstr>Chart and layout style</vt:lpstr>
      <vt:lpstr>Chart and layout style</vt:lpstr>
      <vt:lpstr>To switch row and column data</vt:lpstr>
      <vt:lpstr>To switch row and column data</vt:lpstr>
      <vt:lpstr>To switch row and column data</vt:lpstr>
      <vt:lpstr>Excel - Conditional Formatting</vt:lpstr>
      <vt:lpstr>Understanding conditional formatting</vt:lpstr>
      <vt:lpstr>To create a conditional formatting rule</vt:lpstr>
      <vt:lpstr>To create a conditional formatting rule</vt:lpstr>
      <vt:lpstr>To create a conditional formatting rule</vt:lpstr>
      <vt:lpstr>To create a conditional formatting rule</vt:lpstr>
      <vt:lpstr>To create a conditional formatting rule</vt:lpstr>
      <vt:lpstr>To create a conditional formatting rule</vt:lpstr>
      <vt:lpstr>Conditional formatting presets</vt:lpstr>
      <vt:lpstr>Conditional formatting presets</vt:lpstr>
      <vt:lpstr>Conditional formatting presets</vt:lpstr>
      <vt:lpstr>To use preset conditional formatting</vt:lpstr>
      <vt:lpstr>To use preset conditional formatting</vt:lpstr>
      <vt:lpstr>To use preset conditional formatting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USER</cp:lastModifiedBy>
  <cp:revision>638</cp:revision>
  <dcterms:created xsi:type="dcterms:W3CDTF">2008-12-18T17:11:12Z</dcterms:created>
  <dcterms:modified xsi:type="dcterms:W3CDTF">2023-02-28T13:23:17Z</dcterms:modified>
</cp:coreProperties>
</file>
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60" r:id="rId2"/>
    <p:sldId id="385" r:id="rId3"/>
    <p:sldId id="294" r:id="rId4"/>
    <p:sldId id="264" r:id="rId5"/>
    <p:sldId id="828" r:id="rId6"/>
    <p:sldId id="829" r:id="rId7"/>
    <p:sldId id="737" r:id="rId8"/>
    <p:sldId id="830" r:id="rId9"/>
    <p:sldId id="831" r:id="rId10"/>
    <p:sldId id="832" r:id="rId11"/>
    <p:sldId id="833" r:id="rId12"/>
    <p:sldId id="834" r:id="rId13"/>
    <p:sldId id="835" r:id="rId14"/>
    <p:sldId id="836" r:id="rId15"/>
    <p:sldId id="837" r:id="rId16"/>
    <p:sldId id="838" r:id="rId17"/>
    <p:sldId id="839" r:id="rId18"/>
    <p:sldId id="840" r:id="rId19"/>
    <p:sldId id="841" r:id="rId20"/>
    <p:sldId id="842" r:id="rId21"/>
    <p:sldId id="843" r:id="rId22"/>
    <p:sldId id="844" r:id="rId23"/>
    <p:sldId id="845" r:id="rId24"/>
    <p:sldId id="846" r:id="rId25"/>
    <p:sldId id="847" r:id="rId26"/>
    <p:sldId id="848" r:id="rId27"/>
    <p:sldId id="849" r:id="rId28"/>
    <p:sldId id="850" r:id="rId29"/>
    <p:sldId id="440" r:id="rId30"/>
    <p:sldId id="384"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8" d="100"/>
          <a:sy n="68" d="100"/>
        </p:scale>
        <p:origin x="-1446" y="-12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Excel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r>
            <a:rPr lang="en-GB" sz="4000" dirty="0" smtClean="0"/>
            <a:t>Formatting Worksheets</a:t>
          </a:r>
          <a:endParaRPr lang="en-US" sz="4000"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set </a:t>
          </a:r>
          <a:r>
            <a:rPr lang="en-US" dirty="0" smtClean="0"/>
            <a:t>sheet options</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a:t>
          </a:r>
          <a:r>
            <a:rPr lang="en-US" dirty="0" smtClean="0"/>
            <a:t>set adjust margins</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a:t>
          </a:r>
          <a:r>
            <a:rPr lang="en-US" dirty="0" smtClean="0"/>
            <a:t>set Page orientation</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a:t>
          </a:r>
          <a:r>
            <a:rPr lang="en-US" dirty="0" smtClean="0"/>
            <a:t>insert header and footer</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a:t>
          </a:r>
          <a:r>
            <a:rPr lang="en-US" dirty="0" smtClean="0"/>
            <a:t>insert page breaks</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a:t>
          </a:r>
          <a:r>
            <a:rPr lang="en-US" dirty="0" smtClean="0"/>
            <a:t>to set background</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B9D2FC92-ECB4-4D54-9508-F43A91E7E65C}">
      <dgm:prSet/>
      <dgm:spPr/>
      <dgm:t>
        <a:bodyPr/>
        <a:lstStyle/>
        <a:p>
          <a:r>
            <a:rPr lang="en-GB" dirty="0"/>
            <a:t>How </a:t>
          </a:r>
          <a:r>
            <a:rPr lang="en-GB" dirty="0" smtClean="0"/>
            <a:t>to </a:t>
          </a:r>
          <a:r>
            <a:rPr lang="en-GB" dirty="0" smtClean="0"/>
            <a:t>freeze  panes</a:t>
          </a:r>
          <a:endParaRPr lang="en-GB" dirty="0"/>
        </a:p>
      </dgm:t>
    </dgm:pt>
    <dgm:pt modelId="{78D7DF5E-40D2-4C2E-A6D8-113A5982009C}" type="parTrans" cxnId="{7F547AE8-3119-406B-94F9-F606AA7491D7}">
      <dgm:prSet/>
      <dgm:spPr/>
      <dgm:t>
        <a:bodyPr/>
        <a:lstStyle/>
        <a:p>
          <a:endParaRPr lang="en-GB"/>
        </a:p>
      </dgm:t>
    </dgm:pt>
    <dgm:pt modelId="{E2B3D82B-B21B-4F72-B2BC-78A1696AD170}" type="sibTrans" cxnId="{7F547AE8-3119-406B-94F9-F606AA7491D7}">
      <dgm:prSet/>
      <dgm:spPr/>
      <dgm:t>
        <a:bodyPr/>
        <a:lstStyle/>
        <a:p>
          <a:endParaRPr lang="en-GB"/>
        </a:p>
      </dgm:t>
    </dgm:pt>
    <dgm:pt modelId="{476A1A6D-9E32-412F-852C-EA036D2EA443}">
      <dgm:prSet/>
      <dgm:spPr/>
      <dgm:t>
        <a:bodyPr/>
        <a:lstStyle/>
        <a:p>
          <a:r>
            <a:rPr lang="en-GB" dirty="0"/>
            <a:t>How </a:t>
          </a:r>
          <a:r>
            <a:rPr lang="en-GB" dirty="0" smtClean="0"/>
            <a:t>to </a:t>
          </a:r>
          <a:r>
            <a:rPr lang="en-GB" dirty="0" smtClean="0"/>
            <a:t>do conditional format</a:t>
          </a:r>
          <a:endParaRPr lang="en-GB" dirty="0"/>
        </a:p>
      </dgm:t>
    </dgm:pt>
    <dgm:pt modelId="{A6D156B3-65C8-4D8D-9BA4-CBE69004882B}" type="parTrans" cxnId="{9F622BE6-A9AE-4059-9547-F4054D63F899}">
      <dgm:prSet/>
      <dgm:spPr/>
      <dgm:t>
        <a:bodyPr/>
        <a:lstStyle/>
        <a:p>
          <a:endParaRPr lang="en-GB"/>
        </a:p>
      </dgm:t>
    </dgm:pt>
    <dgm:pt modelId="{3C054B08-0B7E-409B-8D87-F73633A89691}" type="sibTrans" cxnId="{9F622BE6-A9AE-4059-9547-F4054D63F899}">
      <dgm:prSet/>
      <dgm:spPr/>
      <dgm:t>
        <a:bodyPr/>
        <a:lstStyle/>
        <a:p>
          <a:endParaRPr lang="en-GB"/>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8">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8">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8">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8">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8">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8">
        <dgm:presLayoutVars>
          <dgm:bulletEnabled val="1"/>
        </dgm:presLayoutVars>
      </dgm:prSet>
      <dgm:spPr/>
      <dgm:t>
        <a:bodyPr/>
        <a:lstStyle/>
        <a:p>
          <a:endParaRPr lang="en-GB"/>
        </a:p>
      </dgm:t>
    </dgm:pt>
    <dgm:pt modelId="{78CB8F77-3CF7-4A24-AB1C-13517BFF6342}" type="pres">
      <dgm:prSet presAssocID="{C25ACD3C-6ADA-4FCF-83F9-C46AF1053BB7}" presName="sibTrans" presStyleCnt="0"/>
      <dgm:spPr/>
    </dgm:pt>
    <dgm:pt modelId="{4F3BB94F-726F-42B1-B2C9-9077543F3D05}" type="pres">
      <dgm:prSet presAssocID="{B9D2FC92-ECB4-4D54-9508-F43A91E7E65C}" presName="node" presStyleLbl="node1" presStyleIdx="6" presStyleCnt="8">
        <dgm:presLayoutVars>
          <dgm:bulletEnabled val="1"/>
        </dgm:presLayoutVars>
      </dgm:prSet>
      <dgm:spPr/>
      <dgm:t>
        <a:bodyPr/>
        <a:lstStyle/>
        <a:p>
          <a:endParaRPr lang="en-GB"/>
        </a:p>
      </dgm:t>
    </dgm:pt>
    <dgm:pt modelId="{A5408A91-DCB4-4486-8086-1187B0570DB1}" type="pres">
      <dgm:prSet presAssocID="{E2B3D82B-B21B-4F72-B2BC-78A1696AD170}" presName="sibTrans" presStyleCnt="0"/>
      <dgm:spPr/>
    </dgm:pt>
    <dgm:pt modelId="{31EA35DB-A737-45B2-AEA8-3AC4C64F3EDA}" type="pres">
      <dgm:prSet presAssocID="{476A1A6D-9E32-412F-852C-EA036D2EA443}" presName="node" presStyleLbl="node1" presStyleIdx="7" presStyleCnt="8">
        <dgm:presLayoutVars>
          <dgm:bulletEnabled val="1"/>
        </dgm:presLayoutVars>
      </dgm:prSet>
      <dgm:spPr/>
      <dgm:t>
        <a:bodyPr/>
        <a:lstStyle/>
        <a:p>
          <a:endParaRPr lang="en-GB"/>
        </a:p>
      </dgm:t>
    </dgm:pt>
  </dgm:ptLst>
  <dgm:cxnLst>
    <dgm:cxn modelId="{83122414-9691-4F6C-BC60-0171D826C93D}" type="presOf" srcId="{476A1A6D-9E32-412F-852C-EA036D2EA443}" destId="{31EA35DB-A737-45B2-AEA8-3AC4C64F3EDA}" srcOrd="0" destOrd="0" presId="urn:microsoft.com/office/officeart/2005/8/layout/default#1"/>
    <dgm:cxn modelId="{031BCA45-34A2-4E89-93EF-0C69AA13A8F0}" type="presOf" srcId="{23F2D5E2-61FA-40AD-9F7D-BF405C8CDFAE}" destId="{126D987F-03E4-4E3A-BED9-08B6BA3A15AB}"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8C7B99DC-F8B1-492C-AD47-8DB1AB5E9999}" type="presOf" srcId="{C11B75ED-B46B-4BF2-80F2-DA583A75044E}" destId="{D32AB574-D896-42B8-809A-74BD322B19E9}"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0DB3BCB8-BFA0-457C-84E0-1D03CDEA15BA}" srcId="{3DE9E547-3C66-4E5D-9D07-0515EED2B913}" destId="{C11B75ED-B46B-4BF2-80F2-DA583A75044E}" srcOrd="2" destOrd="0" parTransId="{5645C486-8F55-4C5D-BAFE-57B0FB9C1457}" sibTransId="{0F8F958D-95B3-4287-AB04-371DBF737C1C}"/>
    <dgm:cxn modelId="{A8B40AA2-278C-4338-99E0-4615B7D73CD9}" type="presOf" srcId="{B9D2FC92-ECB4-4D54-9508-F43A91E7E65C}" destId="{4F3BB94F-726F-42B1-B2C9-9077543F3D05}" srcOrd="0" destOrd="0" presId="urn:microsoft.com/office/officeart/2005/8/layout/default#1"/>
    <dgm:cxn modelId="{8294D506-3CCF-46C3-9D45-09DDBBAFC9A2}" srcId="{3DE9E547-3C66-4E5D-9D07-0515EED2B913}" destId="{BBBB9B4E-DA71-45DE-92BC-1EF247E5F9B2}" srcOrd="1" destOrd="0" parTransId="{A9ED417C-F968-4650-A07D-E6C8B9F80C83}" sibTransId="{8B37F55B-F450-4B0B-98F7-A2B490DAC81A}"/>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9F622BE6-A9AE-4059-9547-F4054D63F899}" srcId="{3DE9E547-3C66-4E5D-9D07-0515EED2B913}" destId="{476A1A6D-9E32-412F-852C-EA036D2EA443}" srcOrd="7" destOrd="0" parTransId="{A6D156B3-65C8-4D8D-9BA4-CBE69004882B}" sibTransId="{3C054B08-0B7E-409B-8D87-F73633A89691}"/>
    <dgm:cxn modelId="{DB5CF76F-016D-4F32-AE1E-423FE30EF2F6}" type="presOf" srcId="{F9022B54-68C2-4973-9A00-460029290542}" destId="{E43CDCF3-D5B2-4556-A6FF-1FBA940E878F}" srcOrd="0" destOrd="0" presId="urn:microsoft.com/office/officeart/2005/8/layout/default#1"/>
    <dgm:cxn modelId="{7F547AE8-3119-406B-94F9-F606AA7491D7}" srcId="{3DE9E547-3C66-4E5D-9D07-0515EED2B913}" destId="{B9D2FC92-ECB4-4D54-9508-F43A91E7E65C}" srcOrd="6" destOrd="0" parTransId="{78D7DF5E-40D2-4C2E-A6D8-113A5982009C}" sibTransId="{E2B3D82B-B21B-4F72-B2BC-78A1696AD170}"/>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 modelId="{3F5A64F1-66F4-44C1-BF95-02D94C0DFAD0}" type="presParOf" srcId="{46A1C575-DE29-4021-A28C-E1E7FA78085E}" destId="{78CB8F77-3CF7-4A24-AB1C-13517BFF6342}" srcOrd="11" destOrd="0" presId="urn:microsoft.com/office/officeart/2005/8/layout/default#1"/>
    <dgm:cxn modelId="{A0309069-2853-4FAA-AC09-2E967F751159}" type="presParOf" srcId="{46A1C575-DE29-4021-A28C-E1E7FA78085E}" destId="{4F3BB94F-726F-42B1-B2C9-9077543F3D05}" srcOrd="12" destOrd="0" presId="urn:microsoft.com/office/officeart/2005/8/layout/default#1"/>
    <dgm:cxn modelId="{B6D090FA-77F1-4532-850C-6322F5F68B9B}" type="presParOf" srcId="{46A1C575-DE29-4021-A28C-E1E7FA78085E}" destId="{A5408A91-DCB4-4486-8086-1187B0570DB1}" srcOrd="13" destOrd="0" presId="urn:microsoft.com/office/officeart/2005/8/layout/default#1"/>
    <dgm:cxn modelId="{07999851-A652-4497-BD02-78B00D8DF8BA}" type="presParOf" srcId="{46A1C575-DE29-4021-A28C-E1E7FA78085E}" destId="{31EA35DB-A737-45B2-AEA8-3AC4C64F3EDA}"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a:t>Introduction </a:t>
          </a:r>
        </a:p>
        <a:p>
          <a:pPr lvl="0" algn="ctr" defTabSz="2889250">
            <a:lnSpc>
              <a:spcPct val="90000"/>
            </a:lnSpc>
            <a:spcBef>
              <a:spcPct val="0"/>
            </a:spcBef>
            <a:spcAft>
              <a:spcPct val="35000"/>
            </a:spcAft>
          </a:pPr>
          <a:r>
            <a:rPr lang="en-US" sz="6500" kern="1200" dirty="0"/>
            <a:t>to </a:t>
          </a:r>
          <a:endParaRPr lang="en-US" sz="6500" kern="1200" dirty="0" smtClean="0"/>
        </a:p>
        <a:p>
          <a:pPr lvl="0" algn="ctr" defTabSz="2889250">
            <a:lnSpc>
              <a:spcPct val="90000"/>
            </a:lnSpc>
            <a:spcBef>
              <a:spcPct val="0"/>
            </a:spcBef>
            <a:spcAft>
              <a:spcPct val="35000"/>
            </a:spcAft>
          </a:pPr>
          <a:r>
            <a:rPr lang="en-US" sz="6500" kern="1200" dirty="0" smtClean="0"/>
            <a:t>Excel 2010</a:t>
          </a:r>
          <a:endParaRPr lang="en-US" sz="65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GB" sz="4000" kern="1200" dirty="0" smtClean="0"/>
            <a:t>Formatting Worksheets</a:t>
          </a:r>
          <a:endParaRPr lang="en-US" sz="40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158829" y="1314"/>
          <a:ext cx="2662981" cy="1597788"/>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set </a:t>
          </a:r>
          <a:r>
            <a:rPr lang="en-US" sz="3200" kern="1200" dirty="0" smtClean="0"/>
            <a:t>sheet options</a:t>
          </a:r>
          <a:endParaRPr lang="en-US" sz="3200" kern="1200" dirty="0"/>
        </a:p>
      </dsp:txBody>
      <dsp:txXfrm>
        <a:off x="158829" y="1314"/>
        <a:ext cx="2662981" cy="1597788"/>
      </dsp:txXfrm>
    </dsp:sp>
    <dsp:sp modelId="{08678D36-F832-48B7-8548-C43AEE1F6A43}">
      <dsp:nvSpPr>
        <dsp:cNvPr id="0" name=""/>
        <dsp:cNvSpPr/>
      </dsp:nvSpPr>
      <dsp:spPr>
        <a:xfrm>
          <a:off x="3088109" y="1314"/>
          <a:ext cx="2662981" cy="1597788"/>
        </a:xfrm>
        <a:prstGeom prst="rect">
          <a:avLst/>
        </a:prstGeom>
        <a:gradFill rotWithShape="0">
          <a:gsLst>
            <a:gs pos="0">
              <a:schemeClr val="accent4">
                <a:shade val="80000"/>
                <a:hueOff val="-25223"/>
                <a:satOff val="-624"/>
                <a:lumOff val="3570"/>
                <a:alphaOff val="0"/>
                <a:shade val="51000"/>
                <a:satMod val="130000"/>
              </a:schemeClr>
            </a:gs>
            <a:gs pos="80000">
              <a:schemeClr val="accent4">
                <a:shade val="80000"/>
                <a:hueOff val="-25223"/>
                <a:satOff val="-624"/>
                <a:lumOff val="3570"/>
                <a:alphaOff val="0"/>
                <a:shade val="93000"/>
                <a:satMod val="130000"/>
              </a:schemeClr>
            </a:gs>
            <a:gs pos="100000">
              <a:schemeClr val="accent4">
                <a:shade val="80000"/>
                <a:hueOff val="-25223"/>
                <a:satOff val="-624"/>
                <a:lumOff val="357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a:t>
          </a:r>
          <a:r>
            <a:rPr lang="en-US" sz="3200" kern="1200" dirty="0" smtClean="0"/>
            <a:t>set adjust margins</a:t>
          </a:r>
          <a:endParaRPr lang="en-US" sz="3200" kern="1200" dirty="0"/>
        </a:p>
      </dsp:txBody>
      <dsp:txXfrm>
        <a:off x="3088109" y="1314"/>
        <a:ext cx="2662981" cy="1597788"/>
      </dsp:txXfrm>
    </dsp:sp>
    <dsp:sp modelId="{D32AB574-D896-42B8-809A-74BD322B19E9}">
      <dsp:nvSpPr>
        <dsp:cNvPr id="0" name=""/>
        <dsp:cNvSpPr/>
      </dsp:nvSpPr>
      <dsp:spPr>
        <a:xfrm>
          <a:off x="6017388" y="1314"/>
          <a:ext cx="2662981" cy="1597788"/>
        </a:xfrm>
        <a:prstGeom prst="rect">
          <a:avLst/>
        </a:prstGeom>
        <a:gradFill rotWithShape="0">
          <a:gsLst>
            <a:gs pos="0">
              <a:schemeClr val="accent4">
                <a:shade val="80000"/>
                <a:hueOff val="-50445"/>
                <a:satOff val="-1247"/>
                <a:lumOff val="7139"/>
                <a:alphaOff val="0"/>
                <a:shade val="51000"/>
                <a:satMod val="130000"/>
              </a:schemeClr>
            </a:gs>
            <a:gs pos="80000">
              <a:schemeClr val="accent4">
                <a:shade val="80000"/>
                <a:hueOff val="-50445"/>
                <a:satOff val="-1247"/>
                <a:lumOff val="7139"/>
                <a:alphaOff val="0"/>
                <a:shade val="93000"/>
                <a:satMod val="130000"/>
              </a:schemeClr>
            </a:gs>
            <a:gs pos="100000">
              <a:schemeClr val="accent4">
                <a:shade val="80000"/>
                <a:hueOff val="-50445"/>
                <a:satOff val="-1247"/>
                <a:lumOff val="71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a:t>
          </a:r>
          <a:r>
            <a:rPr lang="en-US" sz="3200" kern="1200" dirty="0" smtClean="0"/>
            <a:t>set Page orientation</a:t>
          </a:r>
          <a:endParaRPr lang="en-US" sz="3200" kern="1200" dirty="0"/>
        </a:p>
      </dsp:txBody>
      <dsp:txXfrm>
        <a:off x="6017388" y="1314"/>
        <a:ext cx="2662981" cy="1597788"/>
      </dsp:txXfrm>
    </dsp:sp>
    <dsp:sp modelId="{126D987F-03E4-4E3A-BED9-08B6BA3A15AB}">
      <dsp:nvSpPr>
        <dsp:cNvPr id="0" name=""/>
        <dsp:cNvSpPr/>
      </dsp:nvSpPr>
      <dsp:spPr>
        <a:xfrm>
          <a:off x="158829" y="1865401"/>
          <a:ext cx="2662981" cy="1597788"/>
        </a:xfrm>
        <a:prstGeom prst="rect">
          <a:avLst/>
        </a:prstGeom>
        <a:gradFill rotWithShape="0">
          <a:gsLst>
            <a:gs pos="0">
              <a:schemeClr val="accent4">
                <a:shade val="80000"/>
                <a:hueOff val="-75668"/>
                <a:satOff val="-1871"/>
                <a:lumOff val="10709"/>
                <a:alphaOff val="0"/>
                <a:shade val="51000"/>
                <a:satMod val="130000"/>
              </a:schemeClr>
            </a:gs>
            <a:gs pos="80000">
              <a:schemeClr val="accent4">
                <a:shade val="80000"/>
                <a:hueOff val="-75668"/>
                <a:satOff val="-1871"/>
                <a:lumOff val="10709"/>
                <a:alphaOff val="0"/>
                <a:shade val="93000"/>
                <a:satMod val="130000"/>
              </a:schemeClr>
            </a:gs>
            <a:gs pos="100000">
              <a:schemeClr val="accent4">
                <a:shade val="80000"/>
                <a:hueOff val="-75668"/>
                <a:satOff val="-1871"/>
                <a:lumOff val="1070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a:t>
          </a:r>
          <a:r>
            <a:rPr lang="en-US" sz="3200" kern="1200" dirty="0" smtClean="0"/>
            <a:t>insert header and footer</a:t>
          </a:r>
          <a:endParaRPr lang="en-US" sz="3200" kern="1200" dirty="0"/>
        </a:p>
      </dsp:txBody>
      <dsp:txXfrm>
        <a:off x="158829" y="1865401"/>
        <a:ext cx="2662981" cy="1597788"/>
      </dsp:txXfrm>
    </dsp:sp>
    <dsp:sp modelId="{A0EFA616-1553-4077-9D32-88AE20AC0552}">
      <dsp:nvSpPr>
        <dsp:cNvPr id="0" name=""/>
        <dsp:cNvSpPr/>
      </dsp:nvSpPr>
      <dsp:spPr>
        <a:xfrm>
          <a:off x="3088109" y="1865401"/>
          <a:ext cx="2662981" cy="1597788"/>
        </a:xfrm>
        <a:prstGeom prst="rect">
          <a:avLst/>
        </a:prstGeom>
        <a:gradFill rotWithShape="0">
          <a:gsLst>
            <a:gs pos="0">
              <a:schemeClr val="accent4">
                <a:shade val="80000"/>
                <a:hueOff val="-100890"/>
                <a:satOff val="-2494"/>
                <a:lumOff val="14279"/>
                <a:alphaOff val="0"/>
                <a:shade val="51000"/>
                <a:satMod val="130000"/>
              </a:schemeClr>
            </a:gs>
            <a:gs pos="80000">
              <a:schemeClr val="accent4">
                <a:shade val="80000"/>
                <a:hueOff val="-100890"/>
                <a:satOff val="-2494"/>
                <a:lumOff val="14279"/>
                <a:alphaOff val="0"/>
                <a:shade val="93000"/>
                <a:satMod val="130000"/>
              </a:schemeClr>
            </a:gs>
            <a:gs pos="100000">
              <a:schemeClr val="accent4">
                <a:shade val="80000"/>
                <a:hueOff val="-100890"/>
                <a:satOff val="-2494"/>
                <a:lumOff val="1427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to </a:t>
          </a:r>
          <a:r>
            <a:rPr lang="en-US" sz="3200" kern="1200" dirty="0" smtClean="0"/>
            <a:t>insert page breaks</a:t>
          </a:r>
          <a:endParaRPr lang="en-US" sz="3200" kern="1200" dirty="0"/>
        </a:p>
      </dsp:txBody>
      <dsp:txXfrm>
        <a:off x="3088109" y="1865401"/>
        <a:ext cx="2662981" cy="1597788"/>
      </dsp:txXfrm>
    </dsp:sp>
    <dsp:sp modelId="{D944875E-4200-44D3-9F4D-D995865E5F68}">
      <dsp:nvSpPr>
        <dsp:cNvPr id="0" name=""/>
        <dsp:cNvSpPr/>
      </dsp:nvSpPr>
      <dsp:spPr>
        <a:xfrm>
          <a:off x="6017388" y="1865401"/>
          <a:ext cx="2662981" cy="1597788"/>
        </a:xfrm>
        <a:prstGeom prst="rect">
          <a:avLst/>
        </a:prstGeom>
        <a:gradFill rotWithShape="0">
          <a:gsLst>
            <a:gs pos="0">
              <a:schemeClr val="accent4">
                <a:shade val="80000"/>
                <a:hueOff val="-126113"/>
                <a:satOff val="-3118"/>
                <a:lumOff val="17849"/>
                <a:alphaOff val="0"/>
                <a:shade val="51000"/>
                <a:satMod val="130000"/>
              </a:schemeClr>
            </a:gs>
            <a:gs pos="80000">
              <a:schemeClr val="accent4">
                <a:shade val="80000"/>
                <a:hueOff val="-126113"/>
                <a:satOff val="-3118"/>
                <a:lumOff val="17849"/>
                <a:alphaOff val="0"/>
                <a:shade val="93000"/>
                <a:satMod val="130000"/>
              </a:schemeClr>
            </a:gs>
            <a:gs pos="100000">
              <a:schemeClr val="accent4">
                <a:shade val="80000"/>
                <a:hueOff val="-126113"/>
                <a:satOff val="-3118"/>
                <a:lumOff val="17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How </a:t>
          </a:r>
          <a:r>
            <a:rPr lang="en-US" sz="3200" kern="1200" dirty="0" smtClean="0"/>
            <a:t>to set background</a:t>
          </a:r>
          <a:endParaRPr lang="en-US" sz="3200" kern="1200" dirty="0"/>
        </a:p>
      </dsp:txBody>
      <dsp:txXfrm>
        <a:off x="6017388" y="1865401"/>
        <a:ext cx="2662981" cy="1597788"/>
      </dsp:txXfrm>
    </dsp:sp>
    <dsp:sp modelId="{4F3BB94F-726F-42B1-B2C9-9077543F3D05}">
      <dsp:nvSpPr>
        <dsp:cNvPr id="0" name=""/>
        <dsp:cNvSpPr/>
      </dsp:nvSpPr>
      <dsp:spPr>
        <a:xfrm>
          <a:off x="1623469" y="3729488"/>
          <a:ext cx="2662981" cy="1597788"/>
        </a:xfrm>
        <a:prstGeom prst="rect">
          <a:avLst/>
        </a:prstGeom>
        <a:gradFill rotWithShape="0">
          <a:gsLst>
            <a:gs pos="0">
              <a:schemeClr val="accent4">
                <a:shade val="80000"/>
                <a:hueOff val="-151335"/>
                <a:satOff val="-3741"/>
                <a:lumOff val="21418"/>
                <a:alphaOff val="0"/>
                <a:shade val="51000"/>
                <a:satMod val="130000"/>
              </a:schemeClr>
            </a:gs>
            <a:gs pos="80000">
              <a:schemeClr val="accent4">
                <a:shade val="80000"/>
                <a:hueOff val="-151335"/>
                <a:satOff val="-3741"/>
                <a:lumOff val="21418"/>
                <a:alphaOff val="0"/>
                <a:shade val="93000"/>
                <a:satMod val="130000"/>
              </a:schemeClr>
            </a:gs>
            <a:gs pos="100000">
              <a:schemeClr val="accent4">
                <a:shade val="80000"/>
                <a:hueOff val="-151335"/>
                <a:satOff val="-3741"/>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GB" sz="3200" kern="1200" dirty="0"/>
            <a:t>How </a:t>
          </a:r>
          <a:r>
            <a:rPr lang="en-GB" sz="3200" kern="1200" dirty="0" smtClean="0"/>
            <a:t>to </a:t>
          </a:r>
          <a:r>
            <a:rPr lang="en-GB" sz="3200" kern="1200" dirty="0" smtClean="0"/>
            <a:t>freeze  panes</a:t>
          </a:r>
          <a:endParaRPr lang="en-GB" sz="3200" kern="1200" dirty="0"/>
        </a:p>
      </dsp:txBody>
      <dsp:txXfrm>
        <a:off x="1623469" y="3729488"/>
        <a:ext cx="2662981" cy="1597788"/>
      </dsp:txXfrm>
    </dsp:sp>
    <dsp:sp modelId="{31EA35DB-A737-45B2-AEA8-3AC4C64F3EDA}">
      <dsp:nvSpPr>
        <dsp:cNvPr id="0" name=""/>
        <dsp:cNvSpPr/>
      </dsp:nvSpPr>
      <dsp:spPr>
        <a:xfrm>
          <a:off x="4552749" y="3729488"/>
          <a:ext cx="2662981" cy="1597788"/>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GB" sz="3200" kern="1200" dirty="0"/>
            <a:t>How </a:t>
          </a:r>
          <a:r>
            <a:rPr lang="en-GB" sz="3200" kern="1200" dirty="0" smtClean="0"/>
            <a:t>to </a:t>
          </a:r>
          <a:r>
            <a:rPr lang="en-GB" sz="3200" kern="1200" dirty="0" smtClean="0"/>
            <a:t>do conditional format</a:t>
          </a:r>
          <a:endParaRPr lang="en-GB" sz="3200" kern="1200" dirty="0"/>
        </a:p>
      </dsp:txBody>
      <dsp:txXfrm>
        <a:off x="4552749" y="3729488"/>
        <a:ext cx="2662981" cy="1597788"/>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3/29/2021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dirty="0"/>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dirty="0">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dirty="0">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dirty="0">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dirty="0">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dirty="0">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dirty="0">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dirty="0">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dirty="0">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dirty="0">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dirty="0">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dirty="0">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dirty="0">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dirty="0">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dirty="0">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dirty="0">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dirty="0">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dirty="0">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dirty="0">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29</a:t>
            </a:fld>
            <a:endParaRPr lang="en-US" smtClean="0">
              <a:solidFill>
                <a:prstClr val="black"/>
              </a:solidFill>
              <a:latin typeface="Calibri"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30</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07350772"/>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196529539"/>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526003800"/>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32" dur="500"/>
                                        <p:tgtEl>
                                          <p:spTgt spid="7">
                                            <p:graphicEl>
                                              <a:dgm id="{D944875E-4200-44D3-9F4D-D995865E5F6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2000"/>
                                  </p:stCondLst>
                                  <p:childTnLst>
                                    <p:set>
                                      <p:cBhvr>
                                        <p:cTn id="36" dur="1" fill="hold">
                                          <p:stCondLst>
                                            <p:cond delay="0"/>
                                          </p:stCondLst>
                                        </p:cTn>
                                        <p:tgtEl>
                                          <p:spTgt spid="7">
                                            <p:graphicEl>
                                              <a:dgm id="{4F3BB94F-726F-42B1-B2C9-9077543F3D05}"/>
                                            </p:graphicEl>
                                          </p:spTgt>
                                        </p:tgtEl>
                                        <p:attrNameLst>
                                          <p:attrName>style.visibility</p:attrName>
                                        </p:attrNameLst>
                                      </p:cBhvr>
                                      <p:to>
                                        <p:strVal val="visible"/>
                                      </p:to>
                                    </p:set>
                                    <p:animEffect transition="in" filter="dissolve">
                                      <p:cBhvr>
                                        <p:cTn id="37" dur="500"/>
                                        <p:tgtEl>
                                          <p:spTgt spid="7">
                                            <p:graphicEl>
                                              <a:dgm id="{4F3BB94F-726F-42B1-B2C9-9077543F3D0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2000"/>
                                  </p:stCondLst>
                                  <p:childTnLst>
                                    <p:set>
                                      <p:cBhvr>
                                        <p:cTn id="41" dur="1" fill="hold">
                                          <p:stCondLst>
                                            <p:cond delay="0"/>
                                          </p:stCondLst>
                                        </p:cTn>
                                        <p:tgtEl>
                                          <p:spTgt spid="7">
                                            <p:graphicEl>
                                              <a:dgm id="{31EA35DB-A737-45B2-AEA8-3AC4C64F3EDA}"/>
                                            </p:graphicEl>
                                          </p:spTgt>
                                        </p:tgtEl>
                                        <p:attrNameLst>
                                          <p:attrName>style.visibility</p:attrName>
                                        </p:attrNameLst>
                                      </p:cBhvr>
                                      <p:to>
                                        <p:strVal val="visible"/>
                                      </p:to>
                                    </p:set>
                                    <p:animEffect transition="in" filter="dissolve">
                                      <p:cBhvr>
                                        <p:cTn id="42" dur="500"/>
                                        <p:tgtEl>
                                          <p:spTgt spid="7">
                                            <p:graphicEl>
                                              <a:dgm id="{31EA35DB-A737-45B2-AEA8-3AC4C64F3ED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Sheet Options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algn="just"/>
            <a:r>
              <a:rPr lang="en-GB" sz="2800" dirty="0"/>
              <a:t>If you want your printout to include the gridlines, Choose </a:t>
            </a:r>
            <a:r>
              <a:rPr lang="en-GB" sz="2800" b="1" dirty="0"/>
              <a:t>Page Layout </a:t>
            </a:r>
            <a:r>
              <a:rPr lang="en-GB" sz="2800" dirty="0"/>
              <a:t>» </a:t>
            </a:r>
            <a:r>
              <a:rPr lang="en-GB" sz="2800" b="1" dirty="0"/>
              <a:t>Sheet Options group </a:t>
            </a:r>
            <a:r>
              <a:rPr lang="en-GB" sz="2800" dirty="0"/>
              <a:t>» </a:t>
            </a:r>
            <a:r>
              <a:rPr lang="en-GB" sz="2800" b="1" dirty="0"/>
              <a:t>Gridlines</a:t>
            </a:r>
            <a:r>
              <a:rPr lang="en-GB" sz="2800" dirty="0"/>
              <a:t> » </a:t>
            </a:r>
            <a:r>
              <a:rPr lang="en-GB" sz="2800" b="1" dirty="0"/>
              <a:t>Check Print</a:t>
            </a:r>
            <a:r>
              <a:rPr lang="en-GB" sz="2800" dirty="0"/>
              <a:t>.</a:t>
            </a:r>
            <a:endParaRPr lang="en-US" sz="2800" dirty="0"/>
          </a:p>
        </p:txBody>
      </p:sp>
      <p:pic>
        <p:nvPicPr>
          <p:cNvPr id="4" name="Picture 2" descr="C:\Users\UCCSMS1\Desktop\images\sheet_op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060848"/>
            <a:ext cx="7272808" cy="46085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Options in Sheet Options Dialogue</a:t>
            </a:r>
            <a:endParaRPr lang="en-GB" dirty="0"/>
          </a:p>
        </p:txBody>
      </p:sp>
      <p:sp>
        <p:nvSpPr>
          <p:cNvPr id="3" name="Content Placeholder 2"/>
          <p:cNvSpPr>
            <a:spLocks noGrp="1"/>
          </p:cNvSpPr>
          <p:nvPr>
            <p:ph idx="1"/>
          </p:nvPr>
        </p:nvSpPr>
        <p:spPr>
          <a:xfrm>
            <a:off x="107504" y="620688"/>
            <a:ext cx="8884096" cy="6120680"/>
          </a:xfrm>
        </p:spPr>
        <p:txBody>
          <a:bodyPr>
            <a:normAutofit/>
          </a:bodyPr>
          <a:lstStyle/>
          <a:p>
            <a:pPr algn="just"/>
            <a:r>
              <a:rPr lang="en-GB" sz="2800" b="1" dirty="0">
                <a:solidFill>
                  <a:srgbClr val="FF0000"/>
                </a:solidFill>
              </a:rPr>
              <a:t>Print Area </a:t>
            </a:r>
            <a:r>
              <a:rPr lang="en-GB" sz="2800" dirty="0"/>
              <a:t>− You can set the print area with this option.</a:t>
            </a:r>
          </a:p>
          <a:p>
            <a:pPr algn="just"/>
            <a:endParaRPr lang="en-GB" sz="2800" dirty="0"/>
          </a:p>
          <a:p>
            <a:pPr algn="just"/>
            <a:r>
              <a:rPr lang="en-GB" sz="2800" b="1" dirty="0">
                <a:solidFill>
                  <a:srgbClr val="FF0000"/>
                </a:solidFill>
              </a:rPr>
              <a:t>Print Titles</a:t>
            </a:r>
            <a:r>
              <a:rPr lang="en-GB" sz="2800" dirty="0"/>
              <a:t> − You can set titles to appear at the top for rows and at the </a:t>
            </a:r>
            <a:r>
              <a:rPr lang="en-GB" sz="2800" dirty="0" smtClean="0"/>
              <a:t>left </a:t>
            </a:r>
            <a:r>
              <a:rPr lang="en-GB" sz="2800" dirty="0"/>
              <a:t>for columns</a:t>
            </a:r>
            <a:r>
              <a:rPr lang="en-GB" sz="2800" dirty="0" smtClean="0"/>
              <a:t>.</a:t>
            </a:r>
          </a:p>
          <a:p>
            <a:pPr algn="just"/>
            <a:endParaRPr lang="en-GB" sz="2800" dirty="0"/>
          </a:p>
          <a:p>
            <a:pPr marL="0" indent="0" algn="just">
              <a:buNone/>
            </a:pPr>
            <a:r>
              <a:rPr lang="en-GB" sz="2800" b="1" dirty="0"/>
              <a:t>Page Order </a:t>
            </a:r>
            <a:endParaRPr lang="en-GB" sz="2800" dirty="0"/>
          </a:p>
          <a:p>
            <a:pPr algn="just"/>
            <a:r>
              <a:rPr lang="en-GB" sz="2800" b="1" dirty="0" smtClean="0">
                <a:solidFill>
                  <a:srgbClr val="FF0000"/>
                </a:solidFill>
              </a:rPr>
              <a:t>Down</a:t>
            </a:r>
            <a:r>
              <a:rPr lang="en-GB" sz="2800" b="1" dirty="0">
                <a:solidFill>
                  <a:srgbClr val="FF0000"/>
                </a:solidFill>
              </a:rPr>
              <a:t>, then Over </a:t>
            </a:r>
            <a:r>
              <a:rPr lang="en-GB" sz="2800" dirty="0"/>
              <a:t>− It prints the down pages first and then the right pages.</a:t>
            </a:r>
          </a:p>
          <a:p>
            <a:pPr algn="just"/>
            <a:endParaRPr lang="en-GB" sz="2800" dirty="0"/>
          </a:p>
          <a:p>
            <a:pPr algn="just"/>
            <a:r>
              <a:rPr lang="en-GB" sz="2800" b="1" dirty="0" smtClean="0">
                <a:solidFill>
                  <a:srgbClr val="FF0000"/>
                </a:solidFill>
              </a:rPr>
              <a:t>Over</a:t>
            </a:r>
            <a:r>
              <a:rPr lang="en-GB" sz="2800" b="1" dirty="0">
                <a:solidFill>
                  <a:srgbClr val="FF0000"/>
                </a:solidFill>
              </a:rPr>
              <a:t>, then Down </a:t>
            </a:r>
            <a:r>
              <a:rPr lang="en-GB" sz="2800" dirty="0"/>
              <a:t>− It prints right pages first and then comes to print the down pages.</a:t>
            </a:r>
          </a:p>
          <a:p>
            <a:pPr algn="just"/>
            <a:endParaRPr lang="en-GB" sz="2800" dirty="0"/>
          </a:p>
          <a:p>
            <a:pPr algn="just"/>
            <a:endParaRPr lang="en-US" sz="2800" dirty="0"/>
          </a:p>
        </p:txBody>
      </p:sp>
    </p:spTree>
    <p:extLst>
      <p:ext uri="{BB962C8B-B14F-4D97-AF65-F5344CB8AC3E}">
        <p14:creationId xmlns:p14="http://schemas.microsoft.com/office/powerpoint/2010/main" val="1937740755"/>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Options in Sheet Options Dialogue</a:t>
            </a:r>
            <a:endParaRPr lang="en-GB" dirty="0"/>
          </a:p>
        </p:txBody>
      </p:sp>
      <p:sp>
        <p:nvSpPr>
          <p:cNvPr id="3" name="Content Placeholder 2"/>
          <p:cNvSpPr>
            <a:spLocks noGrp="1"/>
          </p:cNvSpPr>
          <p:nvPr>
            <p:ph idx="1"/>
          </p:nvPr>
        </p:nvSpPr>
        <p:spPr>
          <a:xfrm>
            <a:off x="107504" y="620688"/>
            <a:ext cx="8884096" cy="6120680"/>
          </a:xfrm>
        </p:spPr>
        <p:txBody>
          <a:bodyPr>
            <a:normAutofit/>
          </a:bodyPr>
          <a:lstStyle/>
          <a:p>
            <a:pPr marL="0" indent="0" algn="just">
              <a:buNone/>
            </a:pPr>
            <a:r>
              <a:rPr lang="en-GB" sz="2800" b="1" dirty="0"/>
              <a:t>Print </a:t>
            </a:r>
            <a:endParaRPr lang="en-GB" sz="2800" dirty="0"/>
          </a:p>
          <a:p>
            <a:pPr algn="just"/>
            <a:r>
              <a:rPr lang="en-GB" sz="2800" b="1" dirty="0" smtClean="0">
                <a:solidFill>
                  <a:srgbClr val="FF0000"/>
                </a:solidFill>
              </a:rPr>
              <a:t>Gridlines</a:t>
            </a:r>
            <a:r>
              <a:rPr lang="en-GB" sz="2800" dirty="0" smtClean="0"/>
              <a:t> </a:t>
            </a:r>
            <a:r>
              <a:rPr lang="en-GB" sz="2800" dirty="0"/>
              <a:t>− Gridlines to appear while printing worksheet.</a:t>
            </a:r>
          </a:p>
          <a:p>
            <a:pPr algn="just"/>
            <a:endParaRPr lang="en-GB" sz="2800" dirty="0"/>
          </a:p>
          <a:p>
            <a:pPr algn="just"/>
            <a:r>
              <a:rPr lang="en-GB" sz="2800" b="1" dirty="0" smtClean="0">
                <a:solidFill>
                  <a:srgbClr val="FF0000"/>
                </a:solidFill>
              </a:rPr>
              <a:t>Black </a:t>
            </a:r>
            <a:r>
              <a:rPr lang="en-GB" sz="2800" b="1" dirty="0">
                <a:solidFill>
                  <a:srgbClr val="FF0000"/>
                </a:solidFill>
              </a:rPr>
              <a:t>&amp; White </a:t>
            </a:r>
            <a:r>
              <a:rPr lang="en-GB" sz="2800" dirty="0"/>
              <a:t>− Select this check box to have your </a:t>
            </a:r>
            <a:r>
              <a:rPr lang="en-GB" sz="2800" dirty="0" err="1"/>
              <a:t>color</a:t>
            </a:r>
            <a:r>
              <a:rPr lang="en-GB" sz="2800" dirty="0"/>
              <a:t> printer print the chart in black and white.</a:t>
            </a:r>
          </a:p>
          <a:p>
            <a:pPr algn="just"/>
            <a:endParaRPr lang="en-GB" sz="2800" dirty="0"/>
          </a:p>
          <a:p>
            <a:pPr algn="just"/>
            <a:r>
              <a:rPr lang="en-GB" sz="2800" b="1" dirty="0" smtClean="0">
                <a:solidFill>
                  <a:srgbClr val="FF0000"/>
                </a:solidFill>
              </a:rPr>
              <a:t>Draft </a:t>
            </a:r>
            <a:r>
              <a:rPr lang="en-GB" sz="2800" b="1" dirty="0">
                <a:solidFill>
                  <a:srgbClr val="FF0000"/>
                </a:solidFill>
              </a:rPr>
              <a:t>quality</a:t>
            </a:r>
            <a:r>
              <a:rPr lang="en-GB" sz="2800" b="1" dirty="0"/>
              <a:t> </a:t>
            </a:r>
            <a:r>
              <a:rPr lang="en-GB" sz="2800" dirty="0"/>
              <a:t>− Select this check box to print the chart using your printer’s draft-quality setting.</a:t>
            </a:r>
          </a:p>
          <a:p>
            <a:pPr algn="just"/>
            <a:endParaRPr lang="en-GB" sz="2800" dirty="0"/>
          </a:p>
          <a:p>
            <a:pPr algn="just"/>
            <a:r>
              <a:rPr lang="en-GB" sz="2800" b="1" dirty="0" smtClean="0">
                <a:solidFill>
                  <a:srgbClr val="FF0000"/>
                </a:solidFill>
              </a:rPr>
              <a:t>Rows </a:t>
            </a:r>
            <a:r>
              <a:rPr lang="en-GB" sz="2800" b="1" dirty="0">
                <a:solidFill>
                  <a:srgbClr val="FF0000"/>
                </a:solidFill>
              </a:rPr>
              <a:t>&amp; Column Heading </a:t>
            </a:r>
            <a:r>
              <a:rPr lang="en-GB" sz="2800" dirty="0"/>
              <a:t>− Select this check box to have rows and column heading to print.</a:t>
            </a:r>
          </a:p>
          <a:p>
            <a:pPr algn="just"/>
            <a:endParaRPr lang="en-GB" sz="2800" dirty="0"/>
          </a:p>
          <a:p>
            <a:pPr algn="just"/>
            <a:endParaRPr lang="en-GB" sz="2800" dirty="0"/>
          </a:p>
          <a:p>
            <a:pPr algn="just"/>
            <a:endParaRPr lang="en-US" sz="2800" dirty="0"/>
          </a:p>
        </p:txBody>
      </p:sp>
    </p:spTree>
    <p:extLst>
      <p:ext uri="{BB962C8B-B14F-4D97-AF65-F5344CB8AC3E}">
        <p14:creationId xmlns:p14="http://schemas.microsoft.com/office/powerpoint/2010/main" val="8838041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Adjust Margins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buNone/>
            </a:pPr>
            <a:r>
              <a:rPr lang="en-GB" sz="2800" b="1" dirty="0" smtClean="0">
                <a:solidFill>
                  <a:srgbClr val="FF0000"/>
                </a:solidFill>
              </a:rPr>
              <a:t> </a:t>
            </a:r>
            <a:r>
              <a:rPr lang="en-GB" sz="2800" dirty="0"/>
              <a:t>You can set margins by various ways as explained below</a:t>
            </a:r>
            <a:r>
              <a:rPr lang="en-GB" sz="2800" dirty="0" smtClean="0"/>
              <a:t>.</a:t>
            </a:r>
            <a:endParaRPr lang="en-GB" sz="2800" dirty="0"/>
          </a:p>
          <a:p>
            <a:pPr marL="0" indent="0">
              <a:buNone/>
            </a:pPr>
            <a:r>
              <a:rPr lang="en-GB" sz="2800" dirty="0"/>
              <a:t> </a:t>
            </a:r>
            <a:r>
              <a:rPr lang="en-GB" sz="2800" b="1" dirty="0" smtClean="0"/>
              <a:t>Choose </a:t>
            </a:r>
            <a:r>
              <a:rPr lang="en-GB" sz="2800" b="1" dirty="0"/>
              <a:t>Page Layout </a:t>
            </a:r>
            <a:r>
              <a:rPr lang="en-GB" sz="2800" dirty="0"/>
              <a:t>» </a:t>
            </a:r>
            <a:r>
              <a:rPr lang="en-GB" sz="2800" b="1" dirty="0"/>
              <a:t>Page Setup </a:t>
            </a:r>
            <a:r>
              <a:rPr lang="en-GB" sz="2800" dirty="0"/>
              <a:t>» </a:t>
            </a:r>
            <a:r>
              <a:rPr lang="en-GB" sz="2800" b="1" dirty="0"/>
              <a:t>Margins drop-down list</a:t>
            </a:r>
            <a:r>
              <a:rPr lang="en-GB" sz="2800" dirty="0"/>
              <a:t>, you can select </a:t>
            </a:r>
            <a:r>
              <a:rPr lang="en-GB" sz="2800" b="1" dirty="0"/>
              <a:t>Normal</a:t>
            </a:r>
            <a:r>
              <a:rPr lang="en-GB" sz="2800" dirty="0"/>
              <a:t>, </a:t>
            </a:r>
            <a:r>
              <a:rPr lang="en-GB" sz="2800" b="1" dirty="0"/>
              <a:t>Wide</a:t>
            </a:r>
            <a:r>
              <a:rPr lang="en-GB" sz="2800" dirty="0"/>
              <a:t>, </a:t>
            </a:r>
            <a:r>
              <a:rPr lang="en-GB" sz="2800" b="1" dirty="0"/>
              <a:t>Narrow</a:t>
            </a:r>
            <a:r>
              <a:rPr lang="en-GB" sz="2800" dirty="0"/>
              <a:t>, or the custom Setting.</a:t>
            </a:r>
          </a:p>
          <a:p>
            <a:pPr marL="0" indent="0">
              <a:buNone/>
            </a:pPr>
            <a:endParaRPr lang="en-GB" sz="2800" dirty="0"/>
          </a:p>
        </p:txBody>
      </p:sp>
      <p:pic>
        <p:nvPicPr>
          <p:cNvPr id="2050" name="Picture 2" descr="C:\Users\UCCSMS1\Desktop\images\margin_from_page_layou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564904"/>
            <a:ext cx="7056784"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88773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Adjust Margins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buNone/>
            </a:pPr>
            <a:r>
              <a:rPr lang="en-GB" sz="2800" b="1" dirty="0" smtClean="0">
                <a:solidFill>
                  <a:srgbClr val="FF0000"/>
                </a:solidFill>
              </a:rPr>
              <a:t> </a:t>
            </a:r>
            <a:r>
              <a:rPr lang="en-GB" sz="2800" dirty="0"/>
              <a:t>These options are also available when you choose </a:t>
            </a:r>
            <a:r>
              <a:rPr lang="en-GB" sz="2800" b="1" dirty="0"/>
              <a:t>File</a:t>
            </a:r>
            <a:r>
              <a:rPr lang="en-GB" sz="2800" dirty="0"/>
              <a:t> » </a:t>
            </a:r>
            <a:r>
              <a:rPr lang="en-GB" sz="2800" b="1" dirty="0"/>
              <a:t>Print</a:t>
            </a:r>
            <a:r>
              <a:rPr lang="en-GB" sz="2800" dirty="0"/>
              <a:t>.</a:t>
            </a:r>
            <a:endParaRPr lang="en-GB" sz="2800" dirty="0"/>
          </a:p>
        </p:txBody>
      </p:sp>
      <p:pic>
        <p:nvPicPr>
          <p:cNvPr id="3074" name="Picture 2" descr="C:\Users\UCCSMS1\Desktop\images\margin_from_file_menu.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584090"/>
            <a:ext cx="7488831" cy="486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06773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Adjust Margins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800" dirty="0"/>
              <a:t>If none of these settings does the job, choose Custom Margins to display the Margins tab of the Page Setup dialog box, as shown below.</a:t>
            </a:r>
            <a:endParaRPr lang="en-GB" sz="2800" dirty="0"/>
          </a:p>
        </p:txBody>
      </p:sp>
      <p:pic>
        <p:nvPicPr>
          <p:cNvPr id="4098" name="Picture 2" descr="C:\Users\UCCSMS1\Desktop\images\margin_setu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060848"/>
            <a:ext cx="7920879" cy="4653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10990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smtClean="0"/>
              <a:t>Centre </a:t>
            </a:r>
            <a:r>
              <a:rPr lang="en-GB" dirty="0"/>
              <a:t>on Page</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By default, Excel aligns the printed page at the </a:t>
            </a:r>
            <a:r>
              <a:rPr lang="en-GB" sz="2400" b="1" dirty="0">
                <a:solidFill>
                  <a:srgbClr val="FF0000"/>
                </a:solidFill>
              </a:rPr>
              <a:t>top</a:t>
            </a:r>
            <a:r>
              <a:rPr lang="en-GB" sz="2400" dirty="0"/>
              <a:t> and </a:t>
            </a:r>
            <a:r>
              <a:rPr lang="en-GB" sz="2400" b="1" dirty="0">
                <a:solidFill>
                  <a:srgbClr val="FF0000"/>
                </a:solidFill>
              </a:rPr>
              <a:t>left margins</a:t>
            </a:r>
            <a:r>
              <a:rPr lang="en-GB" sz="2400" dirty="0" smtClean="0"/>
              <a:t>.</a:t>
            </a:r>
          </a:p>
          <a:p>
            <a:pPr marL="0" indent="0" algn="just">
              <a:buNone/>
            </a:pPr>
            <a:r>
              <a:rPr lang="en-GB" sz="2400" dirty="0"/>
              <a:t>If you want the output to be </a:t>
            </a:r>
            <a:r>
              <a:rPr lang="en-GB" sz="2400" dirty="0" smtClean="0"/>
              <a:t>centred </a:t>
            </a:r>
            <a:r>
              <a:rPr lang="en-GB" sz="2400" dirty="0"/>
              <a:t>vertically or horizontally, select the appropriate check box in the </a:t>
            </a:r>
            <a:r>
              <a:rPr lang="en-GB" sz="2400" dirty="0" smtClean="0"/>
              <a:t>Centre </a:t>
            </a:r>
            <a:r>
              <a:rPr lang="en-GB" sz="2400" dirty="0"/>
              <a:t>on Page section of the Margins tab as shown in the </a:t>
            </a:r>
            <a:r>
              <a:rPr lang="en-GB" sz="2400" dirty="0" smtClean="0"/>
              <a:t> screenshot below.</a:t>
            </a:r>
            <a:endParaRPr lang="en-GB" sz="24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564904"/>
            <a:ext cx="7920037"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544774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Page Orientation</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Page orientation refers </a:t>
            </a:r>
            <a:r>
              <a:rPr lang="en-GB" sz="2400" dirty="0" smtClean="0"/>
              <a:t>to </a:t>
            </a:r>
            <a:r>
              <a:rPr lang="en-GB" sz="2400" dirty="0"/>
              <a:t>how output is printed on the page</a:t>
            </a:r>
            <a:r>
              <a:rPr lang="en-GB" sz="2400" dirty="0" smtClean="0"/>
              <a:t>.</a:t>
            </a:r>
          </a:p>
          <a:p>
            <a:pPr marL="0" indent="0" algn="just">
              <a:buNone/>
            </a:pPr>
            <a:endParaRPr lang="en-GB" sz="2400" dirty="0"/>
          </a:p>
          <a:p>
            <a:pPr marL="0" indent="0" algn="ctr">
              <a:buNone/>
            </a:pPr>
            <a:r>
              <a:rPr lang="en-GB" sz="2400" b="1" dirty="0"/>
              <a:t>Types of Page Orientation</a:t>
            </a:r>
          </a:p>
          <a:p>
            <a:pPr marL="0" indent="0" algn="just">
              <a:buNone/>
            </a:pPr>
            <a:endParaRPr lang="en-GB" sz="2400" dirty="0"/>
          </a:p>
          <a:p>
            <a:pPr marL="0" indent="0" algn="just">
              <a:buNone/>
            </a:pPr>
            <a:r>
              <a:rPr lang="en-GB" sz="2400" b="1" dirty="0"/>
              <a:t> </a:t>
            </a:r>
            <a:r>
              <a:rPr lang="en-GB" sz="2400" b="1" dirty="0" smtClean="0">
                <a:solidFill>
                  <a:srgbClr val="FF0000"/>
                </a:solidFill>
              </a:rPr>
              <a:t>Portrait </a:t>
            </a:r>
            <a:r>
              <a:rPr lang="en-GB" sz="2400" dirty="0"/>
              <a:t>− Portrait to print tall pages (the default).</a:t>
            </a:r>
          </a:p>
          <a:p>
            <a:pPr marL="0" indent="0" algn="just">
              <a:buNone/>
            </a:pPr>
            <a:endParaRPr lang="en-GB" sz="2400" dirty="0"/>
          </a:p>
          <a:p>
            <a:pPr marL="0" indent="0" algn="just">
              <a:buNone/>
            </a:pPr>
            <a:r>
              <a:rPr lang="en-GB" sz="2400" dirty="0"/>
              <a:t> </a:t>
            </a:r>
            <a:r>
              <a:rPr lang="en-GB" sz="2400" b="1" dirty="0" smtClean="0">
                <a:solidFill>
                  <a:srgbClr val="FF0000"/>
                </a:solidFill>
              </a:rPr>
              <a:t>Landscape</a:t>
            </a:r>
            <a:r>
              <a:rPr lang="en-GB" sz="2400" dirty="0" smtClean="0"/>
              <a:t> </a:t>
            </a:r>
            <a:r>
              <a:rPr lang="en-GB" sz="2400" dirty="0"/>
              <a:t>− Landscape to print wide pages. Landscape orientation is useful when you have a wide range that doesn’t fit on a vertically oriented page.</a:t>
            </a:r>
          </a:p>
          <a:p>
            <a:pPr marL="0" indent="0" algn="just">
              <a:buNone/>
            </a:pPr>
            <a:endParaRPr lang="en-GB" sz="2400" dirty="0"/>
          </a:p>
        </p:txBody>
      </p:sp>
    </p:spTree>
    <p:extLst>
      <p:ext uri="{BB962C8B-B14F-4D97-AF65-F5344CB8AC3E}">
        <p14:creationId xmlns:p14="http://schemas.microsoft.com/office/powerpoint/2010/main" val="3362113341"/>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Changing Page Orientation</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fr-FR" sz="2400" dirty="0" err="1"/>
              <a:t>Choose</a:t>
            </a:r>
            <a:r>
              <a:rPr lang="fr-FR" sz="2400" dirty="0"/>
              <a:t> </a:t>
            </a:r>
            <a:r>
              <a:rPr lang="fr-FR" sz="2400" b="1" dirty="0"/>
              <a:t>Page </a:t>
            </a:r>
            <a:r>
              <a:rPr lang="fr-FR" sz="2400" b="1" dirty="0" err="1"/>
              <a:t>Layout</a:t>
            </a:r>
            <a:r>
              <a:rPr lang="fr-FR" sz="2400" b="1" dirty="0"/>
              <a:t> </a:t>
            </a:r>
            <a:r>
              <a:rPr lang="fr-FR" sz="2400" dirty="0"/>
              <a:t>» </a:t>
            </a:r>
            <a:r>
              <a:rPr lang="fr-FR" sz="2400" b="1" dirty="0"/>
              <a:t>Page Setup </a:t>
            </a:r>
            <a:r>
              <a:rPr lang="fr-FR" sz="2400" dirty="0"/>
              <a:t>» </a:t>
            </a:r>
            <a:r>
              <a:rPr lang="fr-FR" sz="2400" b="1" dirty="0"/>
              <a:t>Orientation</a:t>
            </a:r>
            <a:r>
              <a:rPr lang="fr-FR" sz="2400" dirty="0"/>
              <a:t> » </a:t>
            </a:r>
            <a:r>
              <a:rPr lang="fr-FR" sz="2400" b="1" dirty="0"/>
              <a:t>Portrait</a:t>
            </a:r>
            <a:r>
              <a:rPr lang="fr-FR" sz="2400" dirty="0"/>
              <a:t> or </a:t>
            </a:r>
            <a:r>
              <a:rPr lang="fr-FR" sz="2400" b="1" dirty="0" err="1"/>
              <a:t>Landscape</a:t>
            </a:r>
            <a:r>
              <a:rPr lang="fr-FR" sz="2400" dirty="0"/>
              <a:t>.</a:t>
            </a:r>
            <a:endParaRPr lang="en-GB" sz="2400" dirty="0"/>
          </a:p>
        </p:txBody>
      </p:sp>
      <p:pic>
        <p:nvPicPr>
          <p:cNvPr id="6146" name="Picture 2" descr="C:\Users\UCCSMS1\Desktop\images\set_page_orient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676400"/>
            <a:ext cx="6984776" cy="4632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403791"/>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Header and Footer</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Adding Header and </a:t>
            </a:r>
            <a:r>
              <a:rPr lang="en-GB" sz="2400" b="1" dirty="0" smtClean="0"/>
              <a:t>Footer</a:t>
            </a:r>
            <a:endParaRPr lang="en-GB" sz="2400" dirty="0"/>
          </a:p>
          <a:p>
            <a:pPr marL="0" indent="0" algn="just">
              <a:buNone/>
            </a:pPr>
            <a:r>
              <a:rPr lang="en-GB" sz="2400" dirty="0"/>
              <a:t>    Choose </a:t>
            </a:r>
            <a:r>
              <a:rPr lang="en-GB" sz="2400" b="1" dirty="0" smtClean="0"/>
              <a:t>Page layout</a:t>
            </a:r>
            <a:r>
              <a:rPr lang="en-GB" sz="2400" dirty="0" smtClean="0"/>
              <a:t>» click on the </a:t>
            </a:r>
            <a:r>
              <a:rPr lang="en-GB" sz="2400" b="1" dirty="0" smtClean="0"/>
              <a:t>dialogue box launcher </a:t>
            </a:r>
            <a:r>
              <a:rPr lang="en-GB" sz="2400" dirty="0"/>
              <a:t>» </a:t>
            </a:r>
            <a:r>
              <a:rPr lang="en-GB" sz="2400" b="1" dirty="0"/>
              <a:t>Header or Footer</a:t>
            </a:r>
            <a:r>
              <a:rPr lang="en-GB" sz="2400" dirty="0"/>
              <a:t> </a:t>
            </a:r>
            <a:r>
              <a:rPr lang="en-GB" sz="2400" dirty="0" smtClean="0"/>
              <a:t>tab.</a:t>
            </a:r>
            <a:endParaRPr lang="en-GB" sz="2400" dirty="0"/>
          </a:p>
        </p:txBody>
      </p:sp>
      <p:pic>
        <p:nvPicPr>
          <p:cNvPr id="7170" name="Picture 2" descr="C:\Users\UCCSMS1\Desktop\images\set_header_foo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916832"/>
            <a:ext cx="7272808"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484479"/>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Insert Page Break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Insert Horizontal Page Break − </a:t>
            </a:r>
            <a:endParaRPr lang="en-GB" sz="2400" b="1" dirty="0" smtClean="0"/>
          </a:p>
          <a:p>
            <a:pPr marL="0" indent="0" algn="just">
              <a:buNone/>
            </a:pPr>
            <a:r>
              <a:rPr lang="en-GB" sz="2400" dirty="0" smtClean="0"/>
              <a:t>For </a:t>
            </a:r>
            <a:r>
              <a:rPr lang="en-GB" sz="2400" dirty="0"/>
              <a:t>example, if you want row 14 to be the first row of a new page, select cell A14. Then choose </a:t>
            </a:r>
            <a:r>
              <a:rPr lang="en-GB" sz="2400" b="1" dirty="0"/>
              <a:t>Page Layout </a:t>
            </a:r>
            <a:r>
              <a:rPr lang="en-GB" sz="2400" dirty="0"/>
              <a:t>» </a:t>
            </a:r>
            <a:r>
              <a:rPr lang="en-GB" sz="2400" b="1" dirty="0"/>
              <a:t>Page Setup Group</a:t>
            </a:r>
            <a:r>
              <a:rPr lang="en-GB" sz="2400" dirty="0"/>
              <a:t> » </a:t>
            </a:r>
            <a:r>
              <a:rPr lang="en-GB" sz="2400" b="1" dirty="0"/>
              <a:t>Breaks</a:t>
            </a:r>
            <a:r>
              <a:rPr lang="en-GB" sz="2400" dirty="0"/>
              <a:t> » </a:t>
            </a:r>
            <a:r>
              <a:rPr lang="en-GB" sz="2400" b="1" dirty="0"/>
              <a:t>Insert Page Break</a:t>
            </a:r>
            <a:r>
              <a:rPr lang="en-GB" sz="2400" dirty="0"/>
              <a:t>.</a:t>
            </a:r>
          </a:p>
        </p:txBody>
      </p:sp>
      <p:pic>
        <p:nvPicPr>
          <p:cNvPr id="8194" name="Picture 2" descr="C:\Users\UCCSMS1\Desktop\images\insert_horiztal_page_brea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492896"/>
            <a:ext cx="6696744"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87400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Insert Page Break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Insert vertical Page break − </a:t>
            </a:r>
            <a:endParaRPr lang="en-GB" sz="2400" b="1" dirty="0" smtClean="0"/>
          </a:p>
          <a:p>
            <a:pPr marL="0" indent="0" algn="just">
              <a:buNone/>
            </a:pPr>
            <a:r>
              <a:rPr lang="en-GB" sz="2400" dirty="0" smtClean="0"/>
              <a:t>In </a:t>
            </a:r>
            <a:r>
              <a:rPr lang="en-GB" sz="2400" dirty="0"/>
              <a:t>this case, make sure to place the pointer in row 1</a:t>
            </a:r>
            <a:r>
              <a:rPr lang="en-GB" sz="2400" b="1" dirty="0"/>
              <a:t>. </a:t>
            </a:r>
            <a:r>
              <a:rPr lang="en-GB" sz="2400" dirty="0"/>
              <a:t>Choose</a:t>
            </a:r>
            <a:r>
              <a:rPr lang="en-GB" sz="2400" b="1" dirty="0"/>
              <a:t> Page Layout » Page Setup » Breaks » Insert Page Break </a:t>
            </a:r>
            <a:r>
              <a:rPr lang="en-GB" sz="2400" dirty="0"/>
              <a:t>to create the page break</a:t>
            </a:r>
            <a:r>
              <a:rPr lang="en-GB" sz="2400" b="1" dirty="0"/>
              <a:t>.</a:t>
            </a:r>
            <a:endParaRPr lang="en-GB" sz="2400" dirty="0"/>
          </a:p>
        </p:txBody>
      </p:sp>
      <p:pic>
        <p:nvPicPr>
          <p:cNvPr id="9218" name="Picture 2" descr="C:\Users\UCCSMS1\Desktop\images\insert_vertical_page_brea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5" y="2204864"/>
            <a:ext cx="6696744"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437231"/>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Insert Page Break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Removing Page </a:t>
            </a:r>
            <a:r>
              <a:rPr lang="en-GB" sz="2400" b="1" dirty="0" smtClean="0"/>
              <a:t>Breaks</a:t>
            </a:r>
          </a:p>
          <a:p>
            <a:pPr marL="0" indent="0" algn="just">
              <a:buNone/>
            </a:pPr>
            <a:endParaRPr lang="en-GB" sz="2400" b="1" dirty="0"/>
          </a:p>
          <a:p>
            <a:pPr marL="0" indent="0" algn="just">
              <a:buNone/>
            </a:pPr>
            <a:r>
              <a:rPr lang="en-GB" sz="2400" b="1" dirty="0" smtClean="0"/>
              <a:t>Remove </a:t>
            </a:r>
            <a:r>
              <a:rPr lang="en-GB" sz="2400" b="1" dirty="0"/>
              <a:t>a page break you’ve added − </a:t>
            </a:r>
            <a:r>
              <a:rPr lang="en-GB" sz="2400" dirty="0"/>
              <a:t>Move the cell pointer to the first row beneath the manual page break and then choose Page Layout » Page Setup » Breaks » Remove Page Break</a:t>
            </a:r>
            <a:r>
              <a:rPr lang="en-GB" sz="2400" b="1" dirty="0"/>
              <a:t>.</a:t>
            </a:r>
          </a:p>
          <a:p>
            <a:pPr marL="0" indent="0" algn="just">
              <a:buNone/>
            </a:pPr>
            <a:endParaRPr lang="en-GB" sz="2400" b="1" dirty="0"/>
          </a:p>
          <a:p>
            <a:pPr marL="0" indent="0" algn="just">
              <a:buNone/>
            </a:pPr>
            <a:r>
              <a:rPr lang="en-GB" sz="2400" b="1" dirty="0" smtClean="0"/>
              <a:t>Remove </a:t>
            </a:r>
            <a:r>
              <a:rPr lang="en-GB" sz="2400" b="1" dirty="0"/>
              <a:t>all manual page breaks − </a:t>
            </a:r>
            <a:r>
              <a:rPr lang="en-GB" sz="2400" dirty="0"/>
              <a:t>Choose Page Layout » Page Setup » Breaks » Reset All Page Breaks</a:t>
            </a:r>
            <a:r>
              <a:rPr lang="en-GB" sz="2400" b="1" dirty="0"/>
              <a:t>.</a:t>
            </a:r>
          </a:p>
        </p:txBody>
      </p:sp>
    </p:spTree>
    <p:extLst>
      <p:ext uri="{BB962C8B-B14F-4D97-AF65-F5344CB8AC3E}">
        <p14:creationId xmlns:p14="http://schemas.microsoft.com/office/powerpoint/2010/main" val="215832990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 Background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You may have noticed the </a:t>
            </a:r>
            <a:r>
              <a:rPr lang="en-GB" sz="2400" b="1" dirty="0"/>
              <a:t>Page Layout </a:t>
            </a:r>
            <a:r>
              <a:rPr lang="en-GB" sz="2400" dirty="0"/>
              <a:t>» </a:t>
            </a:r>
            <a:r>
              <a:rPr lang="en-GB" sz="2400" b="1" dirty="0"/>
              <a:t>Page Setup </a:t>
            </a:r>
            <a:r>
              <a:rPr lang="en-GB" sz="2400" dirty="0"/>
              <a:t>» </a:t>
            </a:r>
            <a:r>
              <a:rPr lang="en-GB" sz="2400" b="1" dirty="0"/>
              <a:t>Background command</a:t>
            </a:r>
            <a:r>
              <a:rPr lang="en-GB" sz="2400" dirty="0"/>
              <a:t>. </a:t>
            </a:r>
            <a:endParaRPr lang="en-GB" sz="2400" dirty="0" smtClean="0"/>
          </a:p>
          <a:p>
            <a:pPr marL="0" indent="0" algn="just">
              <a:buNone/>
            </a:pPr>
            <a:r>
              <a:rPr lang="en-GB" sz="2400" dirty="0" smtClean="0"/>
              <a:t>This </a:t>
            </a:r>
            <a:r>
              <a:rPr lang="en-GB" sz="2400" dirty="0"/>
              <a:t>button displays a dialogue box that lets you select an image to display as a background. </a:t>
            </a:r>
            <a:endParaRPr lang="en-GB" sz="2400" b="1" dirty="0"/>
          </a:p>
        </p:txBody>
      </p:sp>
      <p:pic>
        <p:nvPicPr>
          <p:cNvPr id="10242" name="Picture 2" descr="C:\Users\UCCSMS1\Desktop\images\set_backgroun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97" y="2492896"/>
            <a:ext cx="7488832"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25491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Freeze Panes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a:t>Follow the steps mentioned below to freeze panes</a:t>
            </a:r>
            <a:r>
              <a:rPr lang="en-GB" sz="2400" dirty="0" smtClean="0"/>
              <a:t>.</a:t>
            </a:r>
            <a:endParaRPr lang="en-GB" sz="2400" dirty="0"/>
          </a:p>
          <a:p>
            <a:pPr marL="0" indent="0" algn="just">
              <a:buNone/>
            </a:pPr>
            <a:r>
              <a:rPr lang="en-GB" sz="2400" dirty="0" smtClean="0"/>
              <a:t>Select </a:t>
            </a:r>
            <a:r>
              <a:rPr lang="en-GB" sz="2400" dirty="0"/>
              <a:t>the </a:t>
            </a:r>
            <a:r>
              <a:rPr lang="en-GB" sz="2400" b="1" dirty="0"/>
              <a:t>First row or First Column </a:t>
            </a:r>
            <a:r>
              <a:rPr lang="en-GB" sz="2400" dirty="0"/>
              <a:t>or the row Below, which you want to freeze, or Column right to area, which you want to freeze</a:t>
            </a:r>
            <a:r>
              <a:rPr lang="en-GB" sz="2400" dirty="0" smtClean="0"/>
              <a:t>.</a:t>
            </a:r>
            <a:endParaRPr lang="en-GB" sz="2400" dirty="0"/>
          </a:p>
          <a:p>
            <a:pPr marL="0" indent="0" algn="just">
              <a:buNone/>
            </a:pPr>
            <a:r>
              <a:rPr lang="en-GB" sz="2400" b="1" dirty="0" smtClean="0"/>
              <a:t> </a:t>
            </a:r>
            <a:r>
              <a:rPr lang="en-GB" sz="2400" dirty="0"/>
              <a:t>Choose</a:t>
            </a:r>
            <a:r>
              <a:rPr lang="en-GB" sz="2400" b="1" dirty="0"/>
              <a:t> View Tab</a:t>
            </a:r>
            <a:r>
              <a:rPr lang="en-GB" sz="2400" dirty="0"/>
              <a:t> » </a:t>
            </a:r>
            <a:r>
              <a:rPr lang="en-GB" sz="2400" b="1" dirty="0"/>
              <a:t>Freeze Panes</a:t>
            </a:r>
            <a:r>
              <a:rPr lang="en-GB" sz="2400" dirty="0"/>
              <a:t>.</a:t>
            </a:r>
            <a:endParaRPr lang="en-GB" sz="2400" b="1" dirty="0"/>
          </a:p>
        </p:txBody>
      </p:sp>
      <p:pic>
        <p:nvPicPr>
          <p:cNvPr id="11266" name="Picture 2" descr="C:\Users\UCCSMS1\Desktop\images\freeze_pane_intr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636912"/>
            <a:ext cx="7272808"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63296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Freeze Panes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b="1" dirty="0"/>
              <a:t> </a:t>
            </a:r>
            <a:r>
              <a:rPr lang="en-GB" sz="2400" dirty="0"/>
              <a:t>Select the suitable option −</a:t>
            </a:r>
          </a:p>
          <a:p>
            <a:pPr marL="0" indent="0" algn="just">
              <a:buNone/>
            </a:pPr>
            <a:endParaRPr lang="en-GB" sz="2400" b="1" dirty="0"/>
          </a:p>
          <a:p>
            <a:pPr marL="0" indent="0" algn="just">
              <a:buNone/>
            </a:pPr>
            <a:r>
              <a:rPr lang="en-GB" sz="2400" b="1" dirty="0"/>
              <a:t>        Freeze Panes − </a:t>
            </a:r>
            <a:r>
              <a:rPr lang="en-GB" sz="2400" dirty="0"/>
              <a:t>To freeze area of cells</a:t>
            </a:r>
            <a:r>
              <a:rPr lang="en-GB" sz="2400" b="1" dirty="0"/>
              <a:t>.</a:t>
            </a:r>
          </a:p>
          <a:p>
            <a:pPr marL="0" indent="0" algn="just">
              <a:buNone/>
            </a:pPr>
            <a:endParaRPr lang="en-GB" sz="2400" b="1" dirty="0"/>
          </a:p>
          <a:p>
            <a:pPr marL="0" indent="0" algn="just">
              <a:buNone/>
            </a:pPr>
            <a:r>
              <a:rPr lang="en-GB" sz="2400" b="1" dirty="0"/>
              <a:t>        Freeze Top Row − </a:t>
            </a:r>
            <a:r>
              <a:rPr lang="en-GB" sz="2400" dirty="0"/>
              <a:t>To freeze first row of worksheet</a:t>
            </a:r>
            <a:r>
              <a:rPr lang="en-GB" sz="2400" b="1" dirty="0"/>
              <a:t>.</a:t>
            </a:r>
          </a:p>
          <a:p>
            <a:pPr marL="0" indent="0" algn="just">
              <a:buNone/>
            </a:pPr>
            <a:endParaRPr lang="en-GB" sz="2400" b="1" dirty="0"/>
          </a:p>
          <a:p>
            <a:pPr marL="0" indent="0" algn="just">
              <a:buNone/>
            </a:pPr>
            <a:r>
              <a:rPr lang="en-GB" sz="2400" b="1" dirty="0"/>
              <a:t>        Freeze First Column − </a:t>
            </a:r>
            <a:r>
              <a:rPr lang="en-GB" sz="2400" dirty="0"/>
              <a:t>To freeze first Column of worksheet</a:t>
            </a:r>
            <a:r>
              <a:rPr lang="en-GB" sz="2400" b="1" dirty="0" smtClean="0"/>
              <a:t>.</a:t>
            </a:r>
          </a:p>
          <a:p>
            <a:pPr marL="0" indent="0" algn="just">
              <a:buNone/>
            </a:pPr>
            <a:endParaRPr lang="en-GB" sz="2400" b="1" dirty="0"/>
          </a:p>
          <a:p>
            <a:pPr marL="0" indent="0" algn="just">
              <a:buNone/>
            </a:pPr>
            <a:r>
              <a:rPr lang="en-GB" sz="2400" b="1" dirty="0">
                <a:solidFill>
                  <a:srgbClr val="FF0000"/>
                </a:solidFill>
              </a:rPr>
              <a:t>Unfreeze Panes</a:t>
            </a:r>
          </a:p>
          <a:p>
            <a:pPr marL="0" indent="0" algn="just">
              <a:buNone/>
            </a:pPr>
            <a:endParaRPr lang="en-GB" sz="2400" b="1" dirty="0"/>
          </a:p>
          <a:p>
            <a:pPr marL="0" indent="0" algn="just">
              <a:buNone/>
            </a:pPr>
            <a:r>
              <a:rPr lang="en-GB" sz="2400" dirty="0"/>
              <a:t>To unfreeze Panes</a:t>
            </a:r>
            <a:r>
              <a:rPr lang="en-GB" sz="2400" b="1" dirty="0"/>
              <a:t>, </a:t>
            </a:r>
            <a:r>
              <a:rPr lang="en-GB" sz="2400" dirty="0"/>
              <a:t>choose</a:t>
            </a:r>
            <a:r>
              <a:rPr lang="en-GB" sz="2400" b="1" dirty="0"/>
              <a:t> View Tab » Unfreeze Panes.</a:t>
            </a:r>
          </a:p>
        </p:txBody>
      </p:sp>
    </p:spTree>
    <p:extLst>
      <p:ext uri="{BB962C8B-B14F-4D97-AF65-F5344CB8AC3E}">
        <p14:creationId xmlns:p14="http://schemas.microsoft.com/office/powerpoint/2010/main" val="2488610294"/>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Freeze Panes in Excel 2010</a:t>
            </a:r>
            <a:endParaRPr lang="en-GB" dirty="0"/>
          </a:p>
        </p:txBody>
      </p:sp>
      <p:sp>
        <p:nvSpPr>
          <p:cNvPr id="3" name="Content Placeholder 2"/>
          <p:cNvSpPr>
            <a:spLocks noGrp="1"/>
          </p:cNvSpPr>
          <p:nvPr>
            <p:ph idx="1"/>
          </p:nvPr>
        </p:nvSpPr>
        <p:spPr>
          <a:xfrm>
            <a:off x="107504" y="764704"/>
            <a:ext cx="8884096" cy="5976664"/>
          </a:xfrm>
        </p:spPr>
        <p:txBody>
          <a:bodyPr>
            <a:normAutofit/>
          </a:bodyPr>
          <a:lstStyle/>
          <a:p>
            <a:pPr marL="0" indent="0" algn="just">
              <a:buNone/>
            </a:pPr>
            <a:r>
              <a:rPr lang="en-GB" sz="2400" dirty="0" smtClean="0"/>
              <a:t>If </a:t>
            </a:r>
            <a:r>
              <a:rPr lang="en-GB" sz="2400" dirty="0"/>
              <a:t>you have selected Freeze top row you can see the first row appears at the top, after scrolling also. See the below screen-shot.</a:t>
            </a:r>
          </a:p>
          <a:p>
            <a:pPr marL="0" indent="0" algn="just">
              <a:buNone/>
            </a:pPr>
            <a:endParaRPr lang="en-GB" sz="2400" dirty="0"/>
          </a:p>
        </p:txBody>
      </p:sp>
      <p:pic>
        <p:nvPicPr>
          <p:cNvPr id="12290" name="Picture 2" descr="C:\Users\UCCSMS1\Desktop\images\freezing_first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5" y="1844824"/>
            <a:ext cx="7560840"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60651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Conditional Format in Excel 2010</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dirty="0"/>
              <a:t>MS Excel 2010 Conditional Formatting feature enables you to format a range of values so that the values outside certain limits, are automatically formatted</a:t>
            </a:r>
            <a:r>
              <a:rPr lang="en-GB" sz="2400" dirty="0" smtClean="0"/>
              <a:t>.</a:t>
            </a:r>
          </a:p>
          <a:p>
            <a:pPr marL="0" indent="0" algn="just">
              <a:buNone/>
            </a:pPr>
            <a:endParaRPr lang="en-GB" sz="2400" dirty="0"/>
          </a:p>
          <a:p>
            <a:pPr marL="0" indent="0" algn="just">
              <a:buNone/>
            </a:pPr>
            <a:r>
              <a:rPr lang="en-GB" sz="2400" dirty="0"/>
              <a:t>Choose </a:t>
            </a:r>
            <a:r>
              <a:rPr lang="en-GB" sz="2400" b="1" dirty="0"/>
              <a:t>Home Tab</a:t>
            </a:r>
            <a:r>
              <a:rPr lang="en-GB" sz="2400" dirty="0"/>
              <a:t> » </a:t>
            </a:r>
            <a:r>
              <a:rPr lang="en-GB" sz="2400" b="1" dirty="0"/>
              <a:t>Style group </a:t>
            </a:r>
            <a:r>
              <a:rPr lang="en-GB" sz="2400" dirty="0"/>
              <a:t>» </a:t>
            </a:r>
            <a:r>
              <a:rPr lang="en-GB" sz="2400" b="1" dirty="0"/>
              <a:t>Conditional Formatting </a:t>
            </a:r>
            <a:r>
              <a:rPr lang="en-GB" sz="2400" dirty="0"/>
              <a:t>dropdown.</a:t>
            </a:r>
          </a:p>
        </p:txBody>
      </p:sp>
    </p:spTree>
    <p:extLst>
      <p:ext uri="{BB962C8B-B14F-4D97-AF65-F5344CB8AC3E}">
        <p14:creationId xmlns:p14="http://schemas.microsoft.com/office/powerpoint/2010/main" val="4151179094"/>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solidFill>
                  <a:srgbClr val="FF0000"/>
                </a:solidFill>
              </a:rPr>
              <a:t>Highlight Cells Rules </a:t>
            </a:r>
            <a:r>
              <a:rPr lang="en-GB" sz="2400" dirty="0"/>
              <a:t>− </a:t>
            </a:r>
            <a:endParaRPr lang="en-GB" sz="2400" dirty="0" smtClean="0"/>
          </a:p>
          <a:p>
            <a:pPr marL="0" indent="0" algn="just">
              <a:buNone/>
            </a:pPr>
            <a:r>
              <a:rPr lang="en-GB" sz="2400" dirty="0" smtClean="0"/>
              <a:t>Suppose </a:t>
            </a:r>
            <a:r>
              <a:rPr lang="en-GB" sz="2400" dirty="0"/>
              <a:t>you want to find cell with Amount </a:t>
            </a:r>
            <a:r>
              <a:rPr lang="en-GB" sz="2400" b="1" dirty="0"/>
              <a:t>0</a:t>
            </a:r>
            <a:r>
              <a:rPr lang="en-GB" sz="2400" dirty="0"/>
              <a:t> and Mark them as </a:t>
            </a:r>
            <a:r>
              <a:rPr lang="en-GB" sz="2400" b="1" dirty="0"/>
              <a:t>red</a:t>
            </a:r>
            <a:r>
              <a:rPr lang="en-GB" sz="2400" dirty="0" smtClean="0"/>
              <a:t>. </a:t>
            </a:r>
          </a:p>
          <a:p>
            <a:pPr marL="0" indent="0" algn="just">
              <a:buNone/>
            </a:pPr>
            <a:r>
              <a:rPr lang="en-GB" sz="2400" dirty="0" smtClean="0"/>
              <a:t>Choose </a:t>
            </a:r>
            <a:r>
              <a:rPr lang="en-GB" sz="2400" b="1" dirty="0"/>
              <a:t>Range of cell </a:t>
            </a:r>
            <a:r>
              <a:rPr lang="en-GB" sz="2400" dirty="0"/>
              <a:t>» </a:t>
            </a:r>
            <a:r>
              <a:rPr lang="en-GB" sz="2400" b="1" dirty="0"/>
              <a:t>Home Tab </a:t>
            </a:r>
            <a:r>
              <a:rPr lang="en-GB" sz="2400" dirty="0"/>
              <a:t>» </a:t>
            </a:r>
            <a:r>
              <a:rPr lang="en-GB" sz="2400" b="1" dirty="0"/>
              <a:t>Conditional Formatting </a:t>
            </a:r>
            <a:r>
              <a:rPr lang="en-GB" sz="2400" b="1" dirty="0" err="1"/>
              <a:t>DropDown</a:t>
            </a:r>
            <a:r>
              <a:rPr lang="en-GB" sz="2400" b="1" dirty="0"/>
              <a:t> </a:t>
            </a:r>
            <a:r>
              <a:rPr lang="en-GB" sz="2400" dirty="0"/>
              <a:t>» </a:t>
            </a:r>
            <a:r>
              <a:rPr lang="en-GB" sz="2400" b="1" dirty="0"/>
              <a:t>Highlight Cell Rules </a:t>
            </a:r>
            <a:r>
              <a:rPr lang="en-GB" sz="2400" dirty="0"/>
              <a:t>» </a:t>
            </a:r>
            <a:r>
              <a:rPr lang="en-GB" sz="2400" b="1" dirty="0"/>
              <a:t>Equal To</a:t>
            </a:r>
            <a:r>
              <a:rPr lang="en-GB" sz="2400" dirty="0"/>
              <a:t>.</a:t>
            </a:r>
          </a:p>
        </p:txBody>
      </p:sp>
      <p:pic>
        <p:nvPicPr>
          <p:cNvPr id="13314" name="Picture 2" descr="C:\Users\UCCSMS1\Desktop\images\apply_condition_formatt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420888"/>
            <a:ext cx="7200800"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43327"/>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solidFill>
                  <a:srgbClr val="FF0000"/>
                </a:solidFill>
              </a:rPr>
              <a:t>Highlight Cells Rules </a:t>
            </a:r>
            <a:r>
              <a:rPr lang="en-GB" sz="2400" dirty="0"/>
              <a:t>− </a:t>
            </a:r>
            <a:endParaRPr lang="en-GB" sz="2400" dirty="0" smtClean="0"/>
          </a:p>
          <a:p>
            <a:pPr marL="0" indent="0" algn="just">
              <a:buNone/>
            </a:pPr>
            <a:r>
              <a:rPr lang="en-GB" sz="2400" dirty="0"/>
              <a:t>After Clicking ok, the cells with value zero are marked as red.</a:t>
            </a:r>
          </a:p>
        </p:txBody>
      </p:sp>
      <p:pic>
        <p:nvPicPr>
          <p:cNvPr id="14338" name="Picture 2" descr="C:\Users\UCCSMS1\Desktop\images\conditional_formatting_appli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772816"/>
            <a:ext cx="6768752"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146203"/>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solidFill>
                  <a:srgbClr val="FF0000"/>
                </a:solidFill>
              </a:rPr>
              <a:t>Top/Bottom Rules</a:t>
            </a:r>
            <a:r>
              <a:rPr lang="en-GB" sz="2400" dirty="0" smtClean="0">
                <a:solidFill>
                  <a:srgbClr val="FF0000"/>
                </a:solidFill>
              </a:rPr>
              <a:t>− </a:t>
            </a:r>
          </a:p>
          <a:p>
            <a:pPr marL="0" indent="0" algn="just">
              <a:buNone/>
            </a:pPr>
            <a:r>
              <a:rPr lang="en-GB" sz="2400" dirty="0"/>
              <a:t>Suppose you want to highlight the top 10% rows you can do this with these Top/Bottom rules.</a:t>
            </a:r>
          </a:p>
        </p:txBody>
      </p:sp>
      <p:pic>
        <p:nvPicPr>
          <p:cNvPr id="15362" name="Picture 2" descr="C:\Users\UCCSMS1\Desktop\images\conditional_format_top1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2060848"/>
            <a:ext cx="7779568"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514336"/>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solidFill>
                  <a:srgbClr val="FF0000"/>
                </a:solidFill>
              </a:rPr>
              <a:t>Data Bars</a:t>
            </a:r>
            <a:r>
              <a:rPr lang="en-GB" sz="2400" dirty="0" smtClean="0">
                <a:solidFill>
                  <a:srgbClr val="FF0000"/>
                </a:solidFill>
              </a:rPr>
              <a:t>− </a:t>
            </a:r>
          </a:p>
          <a:p>
            <a:pPr marL="0" indent="0" algn="just">
              <a:buNone/>
            </a:pPr>
            <a:r>
              <a:rPr lang="en-GB" sz="2400" dirty="0"/>
              <a:t>With this conditional Formatting data Bars will appear in each </a:t>
            </a:r>
            <a:r>
              <a:rPr lang="en-GB" sz="2400" dirty="0" smtClean="0"/>
              <a:t>cell.</a:t>
            </a:r>
            <a:endParaRPr lang="en-GB" sz="2400" dirty="0"/>
          </a:p>
        </p:txBody>
      </p:sp>
      <p:pic>
        <p:nvPicPr>
          <p:cNvPr id="16386" name="Picture 2" descr="C:\Users\UCCSMS1\Desktop\images\data_bar_condi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71663"/>
            <a:ext cx="7848872" cy="458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520298"/>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smtClean="0">
                <a:solidFill>
                  <a:srgbClr val="FF0000"/>
                </a:solidFill>
              </a:rPr>
              <a:t>Colour </a:t>
            </a:r>
            <a:r>
              <a:rPr lang="en-GB" sz="2400" b="1" dirty="0">
                <a:solidFill>
                  <a:srgbClr val="FF0000"/>
                </a:solidFill>
              </a:rPr>
              <a:t>Scales</a:t>
            </a:r>
            <a:r>
              <a:rPr lang="en-GB" sz="2400" dirty="0" smtClean="0">
                <a:solidFill>
                  <a:srgbClr val="FF0000"/>
                </a:solidFill>
              </a:rPr>
              <a:t>− </a:t>
            </a:r>
          </a:p>
          <a:p>
            <a:pPr marL="0" indent="0" algn="just">
              <a:buNone/>
            </a:pPr>
            <a:r>
              <a:rPr lang="en-GB" sz="2400" dirty="0"/>
              <a:t>See the below screenshot with </a:t>
            </a:r>
            <a:r>
              <a:rPr lang="en-GB" sz="2400" dirty="0" smtClean="0"/>
              <a:t>Colour </a:t>
            </a:r>
            <a:r>
              <a:rPr lang="en-GB" sz="2400" dirty="0"/>
              <a:t>Scales, conditional formatting applied</a:t>
            </a:r>
            <a:r>
              <a:rPr lang="en-GB" sz="2400" dirty="0" smtClean="0"/>
              <a:t>.</a:t>
            </a:r>
            <a:endParaRPr lang="en-GB" sz="2400" dirty="0"/>
          </a:p>
        </p:txBody>
      </p:sp>
      <p:pic>
        <p:nvPicPr>
          <p:cNvPr id="17410" name="Picture 2" descr="C:\Users\UCCSMS1\Desktop\images\color_scal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775276"/>
            <a:ext cx="7704856" cy="4894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64616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solidFill>
                  <a:srgbClr val="FF0000"/>
                </a:solidFill>
              </a:rPr>
              <a:t>Icon Sets</a:t>
            </a:r>
            <a:r>
              <a:rPr lang="en-GB" sz="2400" dirty="0" smtClean="0">
                <a:solidFill>
                  <a:srgbClr val="FF0000"/>
                </a:solidFill>
              </a:rPr>
              <a:t>− </a:t>
            </a:r>
          </a:p>
          <a:p>
            <a:pPr marL="0" indent="0" algn="just">
              <a:buNone/>
            </a:pPr>
            <a:r>
              <a:rPr lang="en-GB" sz="2400" dirty="0"/>
              <a:t>See the below screenshot with Icon Sets conditional formatting applied.</a:t>
            </a:r>
          </a:p>
        </p:txBody>
      </p:sp>
      <p:pic>
        <p:nvPicPr>
          <p:cNvPr id="18434" name="Picture 2" descr="C:\Users\UCCSMS1\Desktop\images\icon_se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772816"/>
            <a:ext cx="6984776"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68320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Various Conditional Formatting Options</a:t>
            </a:r>
            <a:endParaRPr lang="en-GB" dirty="0"/>
          </a:p>
        </p:txBody>
      </p:sp>
      <p:sp>
        <p:nvSpPr>
          <p:cNvPr id="3" name="Content Placeholder 2"/>
          <p:cNvSpPr>
            <a:spLocks noGrp="1"/>
          </p:cNvSpPr>
          <p:nvPr>
            <p:ph idx="1"/>
          </p:nvPr>
        </p:nvSpPr>
        <p:spPr>
          <a:xfrm>
            <a:off x="107504" y="692696"/>
            <a:ext cx="8884096" cy="6048672"/>
          </a:xfrm>
        </p:spPr>
        <p:txBody>
          <a:bodyPr>
            <a:normAutofit/>
          </a:bodyPr>
          <a:lstStyle/>
          <a:p>
            <a:pPr marL="0" indent="0" algn="just">
              <a:buNone/>
            </a:pPr>
            <a:r>
              <a:rPr lang="en-GB" sz="2400" b="1" dirty="0"/>
              <a:t>New Rule </a:t>
            </a:r>
            <a:endParaRPr lang="en-GB" sz="2400" dirty="0" smtClean="0"/>
          </a:p>
          <a:p>
            <a:pPr marL="0" indent="0" algn="just">
              <a:buNone/>
            </a:pPr>
            <a:r>
              <a:rPr lang="en-GB" sz="2400" dirty="0" smtClean="0"/>
              <a:t>It </a:t>
            </a:r>
            <a:r>
              <a:rPr lang="en-GB" sz="2400" dirty="0"/>
              <a:t>opens the New Formatting Rule dialog box, where you define a custom conditional formatting rule to apply to the cell selection</a:t>
            </a:r>
            <a:r>
              <a:rPr lang="en-GB" sz="2400" dirty="0" smtClean="0"/>
              <a:t>.</a:t>
            </a:r>
          </a:p>
          <a:p>
            <a:pPr marL="0" indent="0" algn="just">
              <a:buNone/>
            </a:pPr>
            <a:endParaRPr lang="en-GB" sz="2400" dirty="0"/>
          </a:p>
          <a:p>
            <a:pPr marL="0" indent="0" algn="just">
              <a:buNone/>
            </a:pPr>
            <a:r>
              <a:rPr lang="en-GB" sz="2400" b="1" dirty="0"/>
              <a:t>Clear Rules </a:t>
            </a:r>
            <a:endParaRPr lang="en-GB" sz="2400" dirty="0" smtClean="0"/>
          </a:p>
          <a:p>
            <a:pPr marL="0" indent="0" algn="just">
              <a:buNone/>
            </a:pPr>
            <a:r>
              <a:rPr lang="en-GB" sz="2400" dirty="0" smtClean="0"/>
              <a:t>It </a:t>
            </a:r>
            <a:r>
              <a:rPr lang="en-GB" sz="2400" dirty="0"/>
              <a:t>opens a continuation menu, where you can remove the conditional formatting rules for the cell selection by clicking the Selected Cells option, for the entire worksheet by clicking the Entire Sheet option, or for just the </a:t>
            </a:r>
            <a:r>
              <a:rPr lang="en-GB" sz="2400" dirty="0" smtClean="0"/>
              <a:t>current </a:t>
            </a:r>
            <a:r>
              <a:rPr lang="en-GB" sz="2400" dirty="0"/>
              <a:t>data table by clicking the This Table </a:t>
            </a:r>
            <a:r>
              <a:rPr lang="en-GB" sz="2400"/>
              <a:t>option</a:t>
            </a:r>
            <a:r>
              <a:rPr lang="en-GB" sz="2400" smtClean="0"/>
              <a:t>.</a:t>
            </a:r>
          </a:p>
          <a:p>
            <a:pPr marL="0" indent="0" algn="just">
              <a:buNone/>
            </a:pPr>
            <a:endParaRPr lang="en-GB" sz="2400" dirty="0" smtClean="0"/>
          </a:p>
          <a:p>
            <a:pPr marL="0" indent="0" algn="just">
              <a:buNone/>
            </a:pPr>
            <a:r>
              <a:rPr lang="en-GB" sz="2400" b="1" dirty="0"/>
              <a:t>Manage Rules </a:t>
            </a:r>
            <a:endParaRPr lang="en-GB" sz="2400" b="1" dirty="0" smtClean="0"/>
          </a:p>
          <a:p>
            <a:pPr marL="0" indent="0" algn="just">
              <a:buNone/>
            </a:pPr>
            <a:r>
              <a:rPr lang="en-GB" sz="2400" dirty="0" smtClean="0"/>
              <a:t>It </a:t>
            </a:r>
            <a:r>
              <a:rPr lang="en-GB" sz="2400" dirty="0"/>
              <a:t>opens the Conditional Formatting Rules Manager dialog box, where you edit and delete particular rules as well as adjust their rule precedence by moving them up or down in the Rules list box.</a:t>
            </a:r>
          </a:p>
        </p:txBody>
      </p:sp>
    </p:spTree>
    <p:extLst>
      <p:ext uri="{BB962C8B-B14F-4D97-AF65-F5344CB8AC3E}">
        <p14:creationId xmlns:p14="http://schemas.microsoft.com/office/powerpoint/2010/main" val="2569068614"/>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13569</TotalTime>
  <Words>1141</Words>
  <Application>Microsoft Office PowerPoint</Application>
  <PresentationFormat>On-screen Show (4:3)</PresentationFormat>
  <Paragraphs>155</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Objectives Overview</vt:lpstr>
      <vt:lpstr>Sheet Options in Excel 2010</vt:lpstr>
      <vt:lpstr>Options in Sheet Options Dialogue</vt:lpstr>
      <vt:lpstr>Options in Sheet Options Dialogue</vt:lpstr>
      <vt:lpstr>Adjust Margins in Excel 2010</vt:lpstr>
      <vt:lpstr>Adjust Margins in Excel 2010</vt:lpstr>
      <vt:lpstr>Adjust Margins in Excel 2010</vt:lpstr>
      <vt:lpstr>Centre on Page</vt:lpstr>
      <vt:lpstr>Page Orientation</vt:lpstr>
      <vt:lpstr>Changing Page Orientation</vt:lpstr>
      <vt:lpstr>Header and Footer</vt:lpstr>
      <vt:lpstr>Insert Page Break in Excel 2010</vt:lpstr>
      <vt:lpstr>Insert Page Break in Excel 2010</vt:lpstr>
      <vt:lpstr>Insert Page Break in Excel 2010</vt:lpstr>
      <vt:lpstr>Set Background in Excel 2010</vt:lpstr>
      <vt:lpstr>Freeze Panes in Excel 2010</vt:lpstr>
      <vt:lpstr>Freeze Panes in Excel 2010</vt:lpstr>
      <vt:lpstr>Freeze Panes in Excel 2010</vt:lpstr>
      <vt:lpstr>Conditional Format in Excel 2010</vt:lpstr>
      <vt:lpstr>Various Conditional Formatting Options</vt:lpstr>
      <vt:lpstr>Various Conditional Formatting Options</vt:lpstr>
      <vt:lpstr>Various Conditional Formatting Options</vt:lpstr>
      <vt:lpstr>Various Conditional Formatting Options</vt:lpstr>
      <vt:lpstr>Various Conditional Formatting Options</vt:lpstr>
      <vt:lpstr>Various Conditional Formatting Options</vt:lpstr>
      <vt:lpstr>Various Conditional Formatting Options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425</cp:revision>
  <dcterms:created xsi:type="dcterms:W3CDTF">2008-12-18T17:11:12Z</dcterms:created>
  <dcterms:modified xsi:type="dcterms:W3CDTF">2021-03-29T13:48:07Z</dcterms:modified>
</cp:coreProperties>
</file>
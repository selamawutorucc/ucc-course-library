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60" r:id="rId2"/>
    <p:sldId id="385" r:id="rId3"/>
    <p:sldId id="294" r:id="rId4"/>
    <p:sldId id="736" r:id="rId5"/>
    <p:sldId id="264" r:id="rId6"/>
    <p:sldId id="737" r:id="rId7"/>
    <p:sldId id="738" r:id="rId8"/>
    <p:sldId id="739" r:id="rId9"/>
    <p:sldId id="740" r:id="rId10"/>
    <p:sldId id="741" r:id="rId11"/>
    <p:sldId id="781" r:id="rId12"/>
    <p:sldId id="782" r:id="rId13"/>
    <p:sldId id="783" r:id="rId14"/>
    <p:sldId id="784" r:id="rId15"/>
    <p:sldId id="785" r:id="rId16"/>
    <p:sldId id="786" r:id="rId17"/>
    <p:sldId id="787" r:id="rId18"/>
    <p:sldId id="788" r:id="rId19"/>
    <p:sldId id="789" r:id="rId20"/>
    <p:sldId id="790" r:id="rId21"/>
    <p:sldId id="791" r:id="rId22"/>
    <p:sldId id="792" r:id="rId23"/>
    <p:sldId id="793" r:id="rId24"/>
    <p:sldId id="794" r:id="rId25"/>
    <p:sldId id="795" r:id="rId26"/>
    <p:sldId id="796" r:id="rId27"/>
    <p:sldId id="797" r:id="rId28"/>
    <p:sldId id="798" r:id="rId29"/>
    <p:sldId id="799" r:id="rId30"/>
    <p:sldId id="800" r:id="rId31"/>
    <p:sldId id="801" r:id="rId32"/>
    <p:sldId id="802" r:id="rId33"/>
    <p:sldId id="803" r:id="rId34"/>
    <p:sldId id="804" r:id="rId35"/>
    <p:sldId id="805" r:id="rId36"/>
    <p:sldId id="806" r:id="rId37"/>
    <p:sldId id="440" r:id="rId38"/>
    <p:sldId id="384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8" d="100"/>
          <a:sy n="68" d="100"/>
        </p:scale>
        <p:origin x="-1446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7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Introduction </a:t>
          </a:r>
        </a:p>
        <a:p>
          <a:r>
            <a:rPr lang="en-US" dirty="0"/>
            <a:t>to </a:t>
          </a:r>
          <a:endParaRPr lang="en-US" dirty="0" smtClean="0"/>
        </a:p>
        <a:p>
          <a:r>
            <a:rPr lang="en-US" dirty="0" smtClean="0"/>
            <a:t>Excel 2010</a:t>
          </a:r>
          <a:endParaRPr lang="en-US" dirty="0"/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B62D86B-A0DA-4B75-8C82-CC0B7B67BE45}" type="presOf" srcId="{7D821BC7-213D-4CEC-978A-9CFFE70F3D67}" destId="{9972E4C6-FDD6-4F32-8994-B9E0115268C3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9FF98F3C-4B54-499E-81E4-D4C2F1EE2959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 custT="1"/>
      <dgm:spPr/>
      <dgm:t>
        <a:bodyPr/>
        <a:lstStyle/>
        <a:p>
          <a:r>
            <a:rPr lang="en-US" sz="3600" dirty="0" smtClean="0"/>
            <a:t>EDITING WORKSHEET</a:t>
          </a:r>
          <a:endParaRPr lang="en-US" sz="3600" dirty="0"/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65DCDAFD-8909-4CCC-96D3-23F19B6A2257}" type="presOf" srcId="{7D821BC7-213D-4CEC-978A-9CFFE70F3D67}" destId="{9972E4C6-FDD6-4F32-8994-B9E0115268C3}" srcOrd="0" destOrd="0" presId="urn:microsoft.com/office/officeart/2005/8/layout/default#1"/>
    <dgm:cxn modelId="{88175D38-BFA8-4D43-90FA-3BE39FD3975D}" type="presOf" srcId="{3DE9E547-3C66-4E5D-9D07-0515EED2B913}" destId="{46A1C575-DE29-4021-A28C-E1E7FA78085E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D5A03DA0-5C1B-4D49-89F3-846B63674282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How to insert data in excel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 smtClean="0"/>
            <a:t>How to select data in excel</a:t>
          </a:r>
          <a:endParaRPr lang="en-US" dirty="0"/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 smtClean="0"/>
            <a:t>How to delete data in excel</a:t>
          </a:r>
          <a:endParaRPr lang="en-US" dirty="0"/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 smtClean="0"/>
            <a:t>How to move data in excel</a:t>
          </a:r>
          <a:endParaRPr lang="en-US" dirty="0"/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D032DDD3-5BE8-4773-89B2-68CD8965B3E6}">
      <dgm:prSet/>
      <dgm:spPr/>
      <dgm:t>
        <a:bodyPr/>
        <a:lstStyle/>
        <a:p>
          <a:r>
            <a:rPr lang="en-US" dirty="0" smtClean="0"/>
            <a:t>How to identify rows and columns</a:t>
          </a:r>
          <a:endParaRPr lang="en-US" dirty="0"/>
        </a:p>
      </dgm:t>
    </dgm:pt>
    <dgm:pt modelId="{81D33D49-3010-4917-BC50-D44BA8B22DF2}" type="parTrans" cxnId="{864161E3-D902-466F-A23C-0B9201C3B39B}">
      <dgm:prSet/>
      <dgm:spPr/>
      <dgm:t>
        <a:bodyPr/>
        <a:lstStyle/>
        <a:p>
          <a:endParaRPr lang="en-US"/>
        </a:p>
      </dgm:t>
    </dgm:pt>
    <dgm:pt modelId="{C692D208-6BD8-417E-A3C9-418AEBD7A4B3}" type="sibTrans" cxnId="{864161E3-D902-466F-A23C-0B9201C3B39B}">
      <dgm:prSet/>
      <dgm:spPr/>
      <dgm:t>
        <a:bodyPr/>
        <a:lstStyle/>
        <a:p>
          <a:endParaRPr lang="en-US"/>
        </a:p>
      </dgm:t>
    </dgm:pt>
    <dgm:pt modelId="{0C2A3C5A-0AE4-41C1-AA5D-5BC4E760C57F}">
      <dgm:prSet/>
      <dgm:spPr/>
      <dgm:t>
        <a:bodyPr/>
        <a:lstStyle/>
        <a:p>
          <a:r>
            <a:rPr lang="en-US" dirty="0" smtClean="0"/>
            <a:t>How to copy and paste in excel</a:t>
          </a:r>
          <a:endParaRPr lang="en-US" dirty="0"/>
        </a:p>
      </dgm:t>
    </dgm:pt>
    <dgm:pt modelId="{C63CDA1C-7537-4175-AE85-DCCC8B9595D5}" type="parTrans" cxnId="{86E31C76-0D62-4F6E-AF30-DF0CF87F6868}">
      <dgm:prSet/>
      <dgm:spPr/>
      <dgm:t>
        <a:bodyPr/>
        <a:lstStyle/>
        <a:p>
          <a:endParaRPr lang="en-US"/>
        </a:p>
      </dgm:t>
    </dgm:pt>
    <dgm:pt modelId="{C25ACD3C-6ADA-4FCF-83F9-C46AF1053BB7}" type="sibTrans" cxnId="{86E31C76-0D62-4F6E-AF30-DF0CF87F6868}">
      <dgm:prSet/>
      <dgm:spPr/>
      <dgm:t>
        <a:bodyPr/>
        <a:lstStyle/>
        <a:p>
          <a:endParaRPr lang="en-US"/>
        </a:p>
      </dgm:t>
    </dgm:pt>
    <dgm:pt modelId="{B9D2FC92-ECB4-4D54-9508-F43A91E7E65C}">
      <dgm:prSet/>
      <dgm:spPr/>
      <dgm:t>
        <a:bodyPr/>
        <a:lstStyle/>
        <a:p>
          <a:r>
            <a:rPr lang="en-GB" dirty="0"/>
            <a:t>How </a:t>
          </a:r>
          <a:r>
            <a:rPr lang="en-GB" dirty="0" smtClean="0"/>
            <a:t>to find and replace</a:t>
          </a:r>
          <a:endParaRPr lang="en-GB" dirty="0"/>
        </a:p>
      </dgm:t>
    </dgm:pt>
    <dgm:pt modelId="{78D7DF5E-40D2-4C2E-A6D8-113A5982009C}" type="parTrans" cxnId="{7F547AE8-3119-406B-94F9-F606AA7491D7}">
      <dgm:prSet/>
      <dgm:spPr/>
      <dgm:t>
        <a:bodyPr/>
        <a:lstStyle/>
        <a:p>
          <a:endParaRPr lang="en-GB"/>
        </a:p>
      </dgm:t>
    </dgm:pt>
    <dgm:pt modelId="{E2B3D82B-B21B-4F72-B2BC-78A1696AD170}" type="sibTrans" cxnId="{7F547AE8-3119-406B-94F9-F606AA7491D7}">
      <dgm:prSet/>
      <dgm:spPr/>
      <dgm:t>
        <a:bodyPr/>
        <a:lstStyle/>
        <a:p>
          <a:endParaRPr lang="en-GB"/>
        </a:p>
      </dgm:t>
    </dgm:pt>
    <dgm:pt modelId="{476A1A6D-9E32-412F-852C-EA036D2EA443}">
      <dgm:prSet/>
      <dgm:spPr/>
      <dgm:t>
        <a:bodyPr/>
        <a:lstStyle/>
        <a:p>
          <a:r>
            <a:rPr lang="en-GB" dirty="0"/>
            <a:t>How </a:t>
          </a:r>
          <a:r>
            <a:rPr lang="en-GB" dirty="0" smtClean="0"/>
            <a:t>to do spell check</a:t>
          </a:r>
          <a:endParaRPr lang="en-GB" dirty="0"/>
        </a:p>
      </dgm:t>
    </dgm:pt>
    <dgm:pt modelId="{A6D156B3-65C8-4D8D-9BA4-CBE69004882B}" type="parTrans" cxnId="{9F622BE6-A9AE-4059-9547-F4054D63F899}">
      <dgm:prSet/>
      <dgm:spPr/>
      <dgm:t>
        <a:bodyPr/>
        <a:lstStyle/>
        <a:p>
          <a:endParaRPr lang="en-GB"/>
        </a:p>
      </dgm:t>
    </dgm:pt>
    <dgm:pt modelId="{3C054B08-0B7E-409B-8D87-F73633A89691}" type="sibTrans" cxnId="{9F622BE6-A9AE-4059-9547-F4054D63F899}">
      <dgm:prSet/>
      <dgm:spPr/>
      <dgm:t>
        <a:bodyPr/>
        <a:lstStyle/>
        <a:p>
          <a:endParaRPr lang="en-GB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43CDCF3-D5B2-4556-A6FF-1FBA940E878F}" type="pres">
      <dgm:prSet presAssocID="{F9022B54-68C2-4973-9A00-460029290542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35D6D9B-6CD2-4458-885A-62ADB7B92653}" type="pres">
      <dgm:prSet presAssocID="{2155DDCB-A76B-4506-AD94-A2E4AE9F6F2F}" presName="sibTrans" presStyleCnt="0"/>
      <dgm:spPr/>
    </dgm:pt>
    <dgm:pt modelId="{A0EFA616-1553-4077-9D32-88AE20AC0552}" type="pres">
      <dgm:prSet presAssocID="{D032DDD3-5BE8-4773-89B2-68CD8965B3E6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543EDFD-DAD7-4CC1-8700-DF379CC38E62}" type="pres">
      <dgm:prSet presAssocID="{C692D208-6BD8-417E-A3C9-418AEBD7A4B3}" presName="sibTrans" presStyleCnt="0"/>
      <dgm:spPr/>
    </dgm:pt>
    <dgm:pt modelId="{D944875E-4200-44D3-9F4D-D995865E5F68}" type="pres">
      <dgm:prSet presAssocID="{0C2A3C5A-0AE4-41C1-AA5D-5BC4E760C57F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8CB8F77-3CF7-4A24-AB1C-13517BFF6342}" type="pres">
      <dgm:prSet presAssocID="{C25ACD3C-6ADA-4FCF-83F9-C46AF1053BB7}" presName="sibTrans" presStyleCnt="0"/>
      <dgm:spPr/>
    </dgm:pt>
    <dgm:pt modelId="{4F3BB94F-726F-42B1-B2C9-9077543F3D05}" type="pres">
      <dgm:prSet presAssocID="{B9D2FC92-ECB4-4D54-9508-F43A91E7E65C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5408A91-DCB4-4486-8086-1187B0570DB1}" type="pres">
      <dgm:prSet presAssocID="{E2B3D82B-B21B-4F72-B2BC-78A1696AD170}" presName="sibTrans" presStyleCnt="0"/>
      <dgm:spPr/>
    </dgm:pt>
    <dgm:pt modelId="{31EA35DB-A737-45B2-AEA8-3AC4C64F3EDA}" type="pres">
      <dgm:prSet presAssocID="{476A1A6D-9E32-412F-852C-EA036D2EA443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83122414-9691-4F6C-BC60-0171D826C93D}" type="presOf" srcId="{476A1A6D-9E32-412F-852C-EA036D2EA443}" destId="{31EA35DB-A737-45B2-AEA8-3AC4C64F3EDA}" srcOrd="0" destOrd="0" presId="urn:microsoft.com/office/officeart/2005/8/layout/default#1"/>
    <dgm:cxn modelId="{031BCA45-34A2-4E89-93EF-0C69AA13A8F0}" type="presOf" srcId="{23F2D5E2-61FA-40AD-9F7D-BF405C8CDFAE}" destId="{126D987F-03E4-4E3A-BED9-08B6BA3A15AB}" srcOrd="0" destOrd="0" presId="urn:microsoft.com/office/officeart/2005/8/layout/default#1"/>
    <dgm:cxn modelId="{6AAA590D-29DC-4E4C-8B98-98C454876ACA}" type="presOf" srcId="{0C2A3C5A-0AE4-41C1-AA5D-5BC4E760C57F}" destId="{D944875E-4200-44D3-9F4D-D995865E5F68}" srcOrd="0" destOrd="0" presId="urn:microsoft.com/office/officeart/2005/8/layout/default#1"/>
    <dgm:cxn modelId="{8C7B99DC-F8B1-492C-AD47-8DB1AB5E9999}" type="presOf" srcId="{C11B75ED-B46B-4BF2-80F2-DA583A75044E}" destId="{D32AB574-D896-42B8-809A-74BD322B19E9}" srcOrd="0" destOrd="0" presId="urn:microsoft.com/office/officeart/2005/8/layout/default#1"/>
    <dgm:cxn modelId="{86E31C76-0D62-4F6E-AF30-DF0CF87F6868}" srcId="{3DE9E547-3C66-4E5D-9D07-0515EED2B913}" destId="{0C2A3C5A-0AE4-41C1-AA5D-5BC4E760C57F}" srcOrd="5" destOrd="0" parTransId="{C63CDA1C-7537-4175-AE85-DCCC8B9595D5}" sibTransId="{C25ACD3C-6ADA-4FCF-83F9-C46AF1053BB7}"/>
    <dgm:cxn modelId="{5975DE9F-9538-4AC2-A004-1F0309A49A9F}" type="presOf" srcId="{BBBB9B4E-DA71-45DE-92BC-1EF247E5F9B2}" destId="{08678D36-F832-48B7-8548-C43AEE1F6A43}" srcOrd="0" destOrd="0" presId="urn:microsoft.com/office/officeart/2005/8/layout/default#1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A8B40AA2-278C-4338-99E0-4615B7D73CD9}" type="presOf" srcId="{B9D2FC92-ECB4-4D54-9508-F43A91E7E65C}" destId="{4F3BB94F-726F-42B1-B2C9-9077543F3D05}" srcOrd="0" destOrd="0" presId="urn:microsoft.com/office/officeart/2005/8/layout/default#1"/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FD5D13DE-A886-43C1-8176-BE8410373EBE}" type="presOf" srcId="{D032DDD3-5BE8-4773-89B2-68CD8965B3E6}" destId="{A0EFA616-1553-4077-9D32-88AE20AC0552}" srcOrd="0" destOrd="0" presId="urn:microsoft.com/office/officeart/2005/8/layout/default#1"/>
    <dgm:cxn modelId="{864161E3-D902-466F-A23C-0B9201C3B39B}" srcId="{3DE9E547-3C66-4E5D-9D07-0515EED2B913}" destId="{D032DDD3-5BE8-4773-89B2-68CD8965B3E6}" srcOrd="4" destOrd="0" parTransId="{81D33D49-3010-4917-BC50-D44BA8B22DF2}" sibTransId="{C692D208-6BD8-417E-A3C9-418AEBD7A4B3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9F622BE6-A9AE-4059-9547-F4054D63F899}" srcId="{3DE9E547-3C66-4E5D-9D07-0515EED2B913}" destId="{476A1A6D-9E32-412F-852C-EA036D2EA443}" srcOrd="7" destOrd="0" parTransId="{A6D156B3-65C8-4D8D-9BA4-CBE69004882B}" sibTransId="{3C054B08-0B7E-409B-8D87-F73633A89691}"/>
    <dgm:cxn modelId="{DB5CF76F-016D-4F32-AE1E-423FE30EF2F6}" type="presOf" srcId="{F9022B54-68C2-4973-9A00-460029290542}" destId="{E43CDCF3-D5B2-4556-A6FF-1FBA940E878F}" srcOrd="0" destOrd="0" presId="urn:microsoft.com/office/officeart/2005/8/layout/default#1"/>
    <dgm:cxn modelId="{7F547AE8-3119-406B-94F9-F606AA7491D7}" srcId="{3DE9E547-3C66-4E5D-9D07-0515EED2B913}" destId="{B9D2FC92-ECB4-4D54-9508-F43A91E7E65C}" srcOrd="6" destOrd="0" parTransId="{78D7DF5E-40D2-4C2E-A6D8-113A5982009C}" sibTransId="{E2B3D82B-B21B-4F72-B2BC-78A1696AD170}"/>
    <dgm:cxn modelId="{C6831F33-A671-4D3A-9651-E6901DF4D6AC}" type="presParOf" srcId="{46A1C575-DE29-4021-A28C-E1E7FA78085E}" destId="{E43CDCF3-D5B2-4556-A6FF-1FBA940E878F}" srcOrd="0" destOrd="0" presId="urn:microsoft.com/office/officeart/2005/8/layout/default#1"/>
    <dgm:cxn modelId="{23A16BBC-1098-40CF-A0D5-9C900233786D}" type="presParOf" srcId="{46A1C575-DE29-4021-A28C-E1E7FA78085E}" destId="{54066D3B-676A-41CA-98B3-C0905E22B6EF}" srcOrd="1" destOrd="0" presId="urn:microsoft.com/office/officeart/2005/8/layout/default#1"/>
    <dgm:cxn modelId="{55059F0B-6C91-4088-9340-8226AFFF946D}" type="presParOf" srcId="{46A1C575-DE29-4021-A28C-E1E7FA78085E}" destId="{08678D36-F832-48B7-8548-C43AEE1F6A43}" srcOrd="2" destOrd="0" presId="urn:microsoft.com/office/officeart/2005/8/layout/default#1"/>
    <dgm:cxn modelId="{183C0D9A-7891-4D10-9A6B-84445838AF97}" type="presParOf" srcId="{46A1C575-DE29-4021-A28C-E1E7FA78085E}" destId="{94E3CC2B-92E4-4B0C-B930-B4411572BF9F}" srcOrd="3" destOrd="0" presId="urn:microsoft.com/office/officeart/2005/8/layout/default#1"/>
    <dgm:cxn modelId="{10FB1E55-51FE-4D10-8536-2E0EBE944374}" type="presParOf" srcId="{46A1C575-DE29-4021-A28C-E1E7FA78085E}" destId="{D32AB574-D896-42B8-809A-74BD322B19E9}" srcOrd="4" destOrd="0" presId="urn:microsoft.com/office/officeart/2005/8/layout/default#1"/>
    <dgm:cxn modelId="{9EDDF9FC-F073-4434-AE22-C4716365B1A3}" type="presParOf" srcId="{46A1C575-DE29-4021-A28C-E1E7FA78085E}" destId="{8FCDC96A-B844-4560-9827-3799EB37A607}" srcOrd="5" destOrd="0" presId="urn:microsoft.com/office/officeart/2005/8/layout/default#1"/>
    <dgm:cxn modelId="{62AA1254-BAAA-4C30-915B-8E8B8D5D39B6}" type="presParOf" srcId="{46A1C575-DE29-4021-A28C-E1E7FA78085E}" destId="{126D987F-03E4-4E3A-BED9-08B6BA3A15AB}" srcOrd="6" destOrd="0" presId="urn:microsoft.com/office/officeart/2005/8/layout/default#1"/>
    <dgm:cxn modelId="{DA7D4CFB-222D-4450-8AF0-D10DC3C95EA3}" type="presParOf" srcId="{46A1C575-DE29-4021-A28C-E1E7FA78085E}" destId="{E35D6D9B-6CD2-4458-885A-62ADB7B92653}" srcOrd="7" destOrd="0" presId="urn:microsoft.com/office/officeart/2005/8/layout/default#1"/>
    <dgm:cxn modelId="{6AE59283-A23C-4A44-A8A5-3A057903230C}" type="presParOf" srcId="{46A1C575-DE29-4021-A28C-E1E7FA78085E}" destId="{A0EFA616-1553-4077-9D32-88AE20AC0552}" srcOrd="8" destOrd="0" presId="urn:microsoft.com/office/officeart/2005/8/layout/default#1"/>
    <dgm:cxn modelId="{429B9619-7928-43DC-A3FE-1E9D2DB4D886}" type="presParOf" srcId="{46A1C575-DE29-4021-A28C-E1E7FA78085E}" destId="{4543EDFD-DAD7-4CC1-8700-DF379CC38E62}" srcOrd="9" destOrd="0" presId="urn:microsoft.com/office/officeart/2005/8/layout/default#1"/>
    <dgm:cxn modelId="{704D0315-1C8A-4D5F-A07E-7D3763651A72}" type="presParOf" srcId="{46A1C575-DE29-4021-A28C-E1E7FA78085E}" destId="{D944875E-4200-44D3-9F4D-D995865E5F68}" srcOrd="10" destOrd="0" presId="urn:microsoft.com/office/officeart/2005/8/layout/default#1"/>
    <dgm:cxn modelId="{3F5A64F1-66F4-44C1-BF95-02D94C0DFAD0}" type="presParOf" srcId="{46A1C575-DE29-4021-A28C-E1E7FA78085E}" destId="{78CB8F77-3CF7-4A24-AB1C-13517BFF6342}" srcOrd="11" destOrd="0" presId="urn:microsoft.com/office/officeart/2005/8/layout/default#1"/>
    <dgm:cxn modelId="{A0309069-2853-4FAA-AC09-2E967F751159}" type="presParOf" srcId="{46A1C575-DE29-4021-A28C-E1E7FA78085E}" destId="{4F3BB94F-726F-42B1-B2C9-9077543F3D05}" srcOrd="12" destOrd="0" presId="urn:microsoft.com/office/officeart/2005/8/layout/default#1"/>
    <dgm:cxn modelId="{B6D090FA-77F1-4532-850C-6322F5F68B9B}" type="presParOf" srcId="{46A1C575-DE29-4021-A28C-E1E7FA78085E}" destId="{A5408A91-DCB4-4486-8086-1187B0570DB1}" srcOrd="13" destOrd="0" presId="urn:microsoft.com/office/officeart/2005/8/layout/default#1"/>
    <dgm:cxn modelId="{07999851-A652-4497-BD02-78B00D8DF8BA}" type="presParOf" srcId="{46A1C575-DE29-4021-A28C-E1E7FA78085E}" destId="{31EA35DB-A737-45B2-AEA8-3AC4C64F3EDA}" srcOrd="14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How to zoom in-out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 smtClean="0"/>
            <a:t>How to insert special symbols</a:t>
          </a:r>
          <a:endParaRPr lang="en-US" dirty="0"/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 smtClean="0"/>
            <a:t>How to insert comments</a:t>
          </a:r>
          <a:endParaRPr lang="en-US" dirty="0"/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 smtClean="0"/>
            <a:t>How to add text box</a:t>
          </a:r>
          <a:endParaRPr lang="en-US" dirty="0"/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43CDCF3-D5B2-4556-A6FF-1FBA940E878F}" type="pres">
      <dgm:prSet presAssocID="{F9022B54-68C2-4973-9A00-460029290542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29C2BAEC-ED4D-4373-A7AC-67C709E24E0D}" type="presOf" srcId="{23F2D5E2-61FA-40AD-9F7D-BF405C8CDFAE}" destId="{126D987F-03E4-4E3A-BED9-08B6BA3A15AB}" srcOrd="0" destOrd="0" presId="urn:microsoft.com/office/officeart/2005/8/layout/default#1"/>
    <dgm:cxn modelId="{DDEACEAE-9F22-4876-8BE4-E9A2722E6E0E}" type="presOf" srcId="{F9022B54-68C2-4973-9A00-460029290542}" destId="{E43CDCF3-D5B2-4556-A6FF-1FBA940E878F}" srcOrd="0" destOrd="0" presId="urn:microsoft.com/office/officeart/2005/8/layout/default#1"/>
    <dgm:cxn modelId="{31217294-24E0-4BEF-8232-945035A8AD4E}" type="presOf" srcId="{3DE9E547-3C66-4E5D-9D07-0515EED2B913}" destId="{46A1C575-DE29-4021-A28C-E1E7FA78085E}" srcOrd="0" destOrd="0" presId="urn:microsoft.com/office/officeart/2005/8/layout/default#1"/>
    <dgm:cxn modelId="{0F3B32EC-7063-4445-BBBA-595449906008}" type="presOf" srcId="{BBBB9B4E-DA71-45DE-92BC-1EF247E5F9B2}" destId="{08678D36-F832-48B7-8548-C43AEE1F6A43}" srcOrd="0" destOrd="0" presId="urn:microsoft.com/office/officeart/2005/8/layout/default#1"/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B22B4283-A279-4AFB-A3E5-2A46ADDA7FE6}" type="presOf" srcId="{C11B75ED-B46B-4BF2-80F2-DA583A75044E}" destId="{D32AB574-D896-42B8-809A-74BD322B19E9}" srcOrd="0" destOrd="0" presId="urn:microsoft.com/office/officeart/2005/8/layout/default#1"/>
    <dgm:cxn modelId="{3DE9520B-3D7C-4FAB-906B-2D897AC21341}" type="presParOf" srcId="{46A1C575-DE29-4021-A28C-E1E7FA78085E}" destId="{E43CDCF3-D5B2-4556-A6FF-1FBA940E878F}" srcOrd="0" destOrd="0" presId="urn:microsoft.com/office/officeart/2005/8/layout/default#1"/>
    <dgm:cxn modelId="{AF2798AA-4FB0-4832-B5A8-F1B505E63B91}" type="presParOf" srcId="{46A1C575-DE29-4021-A28C-E1E7FA78085E}" destId="{54066D3B-676A-41CA-98B3-C0905E22B6EF}" srcOrd="1" destOrd="0" presId="urn:microsoft.com/office/officeart/2005/8/layout/default#1"/>
    <dgm:cxn modelId="{1B20A3D1-3449-4A00-ABFC-5DE469169C01}" type="presParOf" srcId="{46A1C575-DE29-4021-A28C-E1E7FA78085E}" destId="{08678D36-F832-48B7-8548-C43AEE1F6A43}" srcOrd="2" destOrd="0" presId="urn:microsoft.com/office/officeart/2005/8/layout/default#1"/>
    <dgm:cxn modelId="{F4F3D9FF-1A46-441C-814B-3A219E73A9FE}" type="presParOf" srcId="{46A1C575-DE29-4021-A28C-E1E7FA78085E}" destId="{94E3CC2B-92E4-4B0C-B930-B4411572BF9F}" srcOrd="3" destOrd="0" presId="urn:microsoft.com/office/officeart/2005/8/layout/default#1"/>
    <dgm:cxn modelId="{21457D86-0AB0-45E6-A240-35A619C7B1E5}" type="presParOf" srcId="{46A1C575-DE29-4021-A28C-E1E7FA78085E}" destId="{D32AB574-D896-42B8-809A-74BD322B19E9}" srcOrd="4" destOrd="0" presId="urn:microsoft.com/office/officeart/2005/8/layout/default#1"/>
    <dgm:cxn modelId="{C2232D43-9AA5-4C16-89DF-16B287F5E19F}" type="presParOf" srcId="{46A1C575-DE29-4021-A28C-E1E7FA78085E}" destId="{8FCDC96A-B844-4560-9827-3799EB37A607}" srcOrd="5" destOrd="0" presId="urn:microsoft.com/office/officeart/2005/8/layout/default#1"/>
    <dgm:cxn modelId="{9D77DE52-1789-4328-AE9A-C35529B7A16D}" type="presParOf" srcId="{46A1C575-DE29-4021-A28C-E1E7FA78085E}" destId="{126D987F-03E4-4E3A-BED9-08B6BA3A15AB}" srcOrd="6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/>
            <a:t>Introduction </a:t>
          </a:r>
        </a:p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/>
            <a:t>to </a:t>
          </a:r>
          <a:endParaRPr lang="en-US" sz="6500" kern="1200" dirty="0" smtClean="0"/>
        </a:p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Excel 2010</a:t>
          </a:r>
          <a:endParaRPr lang="en-US" sz="6500" kern="1200" dirty="0"/>
        </a:p>
      </dsp:txBody>
      <dsp:txXfrm>
        <a:off x="162" y="1817"/>
        <a:ext cx="8838875" cy="4811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EDITING WORKSHEET</a:t>
          </a:r>
          <a:endParaRPr lang="en-US" sz="3600" kern="1200" dirty="0"/>
        </a:p>
      </dsp:txBody>
      <dsp:txXfrm>
        <a:off x="162" y="1817"/>
        <a:ext cx="8838875" cy="48114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158829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How to insert data in excel</a:t>
          </a:r>
          <a:endParaRPr lang="en-US" sz="3200" kern="1200" dirty="0"/>
        </a:p>
      </dsp:txBody>
      <dsp:txXfrm>
        <a:off x="158829" y="1314"/>
        <a:ext cx="2662981" cy="1597788"/>
      </dsp:txXfrm>
    </dsp:sp>
    <dsp:sp modelId="{08678D36-F832-48B7-8548-C43AEE1F6A43}">
      <dsp:nvSpPr>
        <dsp:cNvPr id="0" name=""/>
        <dsp:cNvSpPr/>
      </dsp:nvSpPr>
      <dsp:spPr>
        <a:xfrm>
          <a:off x="3088109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25223"/>
                <a:satOff val="-624"/>
                <a:lumOff val="357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25223"/>
                <a:satOff val="-624"/>
                <a:lumOff val="357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25223"/>
                <a:satOff val="-624"/>
                <a:lumOff val="357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How to select data in excel</a:t>
          </a:r>
          <a:endParaRPr lang="en-US" sz="3200" kern="1200" dirty="0"/>
        </a:p>
      </dsp:txBody>
      <dsp:txXfrm>
        <a:off x="3088109" y="1314"/>
        <a:ext cx="2662981" cy="1597788"/>
      </dsp:txXfrm>
    </dsp:sp>
    <dsp:sp modelId="{D32AB574-D896-42B8-809A-74BD322B19E9}">
      <dsp:nvSpPr>
        <dsp:cNvPr id="0" name=""/>
        <dsp:cNvSpPr/>
      </dsp:nvSpPr>
      <dsp:spPr>
        <a:xfrm>
          <a:off x="6017388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0445"/>
                <a:satOff val="-1247"/>
                <a:lumOff val="713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0445"/>
                <a:satOff val="-1247"/>
                <a:lumOff val="713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0445"/>
                <a:satOff val="-1247"/>
                <a:lumOff val="71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How to delete data in excel</a:t>
          </a:r>
          <a:endParaRPr lang="en-US" sz="3200" kern="1200" dirty="0"/>
        </a:p>
      </dsp:txBody>
      <dsp:txXfrm>
        <a:off x="6017388" y="1314"/>
        <a:ext cx="2662981" cy="1597788"/>
      </dsp:txXfrm>
    </dsp:sp>
    <dsp:sp modelId="{126D987F-03E4-4E3A-BED9-08B6BA3A15AB}">
      <dsp:nvSpPr>
        <dsp:cNvPr id="0" name=""/>
        <dsp:cNvSpPr/>
      </dsp:nvSpPr>
      <dsp:spPr>
        <a:xfrm>
          <a:off x="158829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5668"/>
                <a:satOff val="-1871"/>
                <a:lumOff val="1070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5668"/>
                <a:satOff val="-1871"/>
                <a:lumOff val="1070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5668"/>
                <a:satOff val="-1871"/>
                <a:lumOff val="1070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How to move data in excel</a:t>
          </a:r>
          <a:endParaRPr lang="en-US" sz="3200" kern="1200" dirty="0"/>
        </a:p>
      </dsp:txBody>
      <dsp:txXfrm>
        <a:off x="158829" y="1865401"/>
        <a:ext cx="2662981" cy="1597788"/>
      </dsp:txXfrm>
    </dsp:sp>
    <dsp:sp modelId="{A0EFA616-1553-4077-9D32-88AE20AC0552}">
      <dsp:nvSpPr>
        <dsp:cNvPr id="0" name=""/>
        <dsp:cNvSpPr/>
      </dsp:nvSpPr>
      <dsp:spPr>
        <a:xfrm>
          <a:off x="3088109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00890"/>
                <a:satOff val="-2494"/>
                <a:lumOff val="1427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0890"/>
                <a:satOff val="-2494"/>
                <a:lumOff val="1427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0890"/>
                <a:satOff val="-2494"/>
                <a:lumOff val="1427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How to identify rows and columns</a:t>
          </a:r>
          <a:endParaRPr lang="en-US" sz="3200" kern="1200" dirty="0"/>
        </a:p>
      </dsp:txBody>
      <dsp:txXfrm>
        <a:off x="3088109" y="1865401"/>
        <a:ext cx="2662981" cy="1597788"/>
      </dsp:txXfrm>
    </dsp:sp>
    <dsp:sp modelId="{D944875E-4200-44D3-9F4D-D995865E5F68}">
      <dsp:nvSpPr>
        <dsp:cNvPr id="0" name=""/>
        <dsp:cNvSpPr/>
      </dsp:nvSpPr>
      <dsp:spPr>
        <a:xfrm>
          <a:off x="6017388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26113"/>
                <a:satOff val="-3118"/>
                <a:lumOff val="1784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26113"/>
                <a:satOff val="-3118"/>
                <a:lumOff val="1784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26113"/>
                <a:satOff val="-3118"/>
                <a:lumOff val="178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How to copy and paste in excel</a:t>
          </a:r>
          <a:endParaRPr lang="en-US" sz="3200" kern="1200" dirty="0"/>
        </a:p>
      </dsp:txBody>
      <dsp:txXfrm>
        <a:off x="6017388" y="1865401"/>
        <a:ext cx="2662981" cy="1597788"/>
      </dsp:txXfrm>
    </dsp:sp>
    <dsp:sp modelId="{4F3BB94F-726F-42B1-B2C9-9077543F3D05}">
      <dsp:nvSpPr>
        <dsp:cNvPr id="0" name=""/>
        <dsp:cNvSpPr/>
      </dsp:nvSpPr>
      <dsp:spPr>
        <a:xfrm>
          <a:off x="1623469" y="3729488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51335"/>
                <a:satOff val="-3741"/>
                <a:lumOff val="2141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51335"/>
                <a:satOff val="-3741"/>
                <a:lumOff val="2141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51335"/>
                <a:satOff val="-3741"/>
                <a:lumOff val="2141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200" kern="1200" dirty="0"/>
            <a:t>How </a:t>
          </a:r>
          <a:r>
            <a:rPr lang="en-GB" sz="3200" kern="1200" dirty="0" smtClean="0"/>
            <a:t>to find and replace</a:t>
          </a:r>
          <a:endParaRPr lang="en-GB" sz="3200" kern="1200" dirty="0"/>
        </a:p>
      </dsp:txBody>
      <dsp:txXfrm>
        <a:off x="1623469" y="3729488"/>
        <a:ext cx="2662981" cy="1597788"/>
      </dsp:txXfrm>
    </dsp:sp>
    <dsp:sp modelId="{31EA35DB-A737-45B2-AEA8-3AC4C64F3EDA}">
      <dsp:nvSpPr>
        <dsp:cNvPr id="0" name=""/>
        <dsp:cNvSpPr/>
      </dsp:nvSpPr>
      <dsp:spPr>
        <a:xfrm>
          <a:off x="4552749" y="3729488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200" kern="1200" dirty="0"/>
            <a:t>How </a:t>
          </a:r>
          <a:r>
            <a:rPr lang="en-GB" sz="3200" kern="1200" dirty="0" smtClean="0"/>
            <a:t>to do spell check</a:t>
          </a:r>
          <a:endParaRPr lang="en-GB" sz="3200" kern="1200" dirty="0"/>
        </a:p>
      </dsp:txBody>
      <dsp:txXfrm>
        <a:off x="4552749" y="3729488"/>
        <a:ext cx="2662981" cy="15977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118906" y="1961"/>
          <a:ext cx="4095898" cy="245753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900" kern="1200" dirty="0" smtClean="0"/>
            <a:t>How to zoom in-out</a:t>
          </a:r>
          <a:endParaRPr lang="en-US" sz="4900" kern="1200" dirty="0"/>
        </a:p>
      </dsp:txBody>
      <dsp:txXfrm>
        <a:off x="118906" y="1961"/>
        <a:ext cx="4095898" cy="2457539"/>
      </dsp:txXfrm>
    </dsp:sp>
    <dsp:sp modelId="{08678D36-F832-48B7-8548-C43AEE1F6A43}">
      <dsp:nvSpPr>
        <dsp:cNvPr id="0" name=""/>
        <dsp:cNvSpPr/>
      </dsp:nvSpPr>
      <dsp:spPr>
        <a:xfrm>
          <a:off x="4624394" y="1961"/>
          <a:ext cx="4095898" cy="245753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900" kern="1200" dirty="0" smtClean="0"/>
            <a:t>How to insert special symbols</a:t>
          </a:r>
          <a:endParaRPr lang="en-US" sz="4900" kern="1200" dirty="0"/>
        </a:p>
      </dsp:txBody>
      <dsp:txXfrm>
        <a:off x="4624394" y="1961"/>
        <a:ext cx="4095898" cy="2457539"/>
      </dsp:txXfrm>
    </dsp:sp>
    <dsp:sp modelId="{D32AB574-D896-42B8-809A-74BD322B19E9}">
      <dsp:nvSpPr>
        <dsp:cNvPr id="0" name=""/>
        <dsp:cNvSpPr/>
      </dsp:nvSpPr>
      <dsp:spPr>
        <a:xfrm>
          <a:off x="118906" y="2869090"/>
          <a:ext cx="4095898" cy="245753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900" kern="1200" dirty="0" smtClean="0"/>
            <a:t>How to insert comments</a:t>
          </a:r>
          <a:endParaRPr lang="en-US" sz="4900" kern="1200" dirty="0"/>
        </a:p>
      </dsp:txBody>
      <dsp:txXfrm>
        <a:off x="118906" y="2869090"/>
        <a:ext cx="4095898" cy="2457539"/>
      </dsp:txXfrm>
    </dsp:sp>
    <dsp:sp modelId="{126D987F-03E4-4E3A-BED9-08B6BA3A15AB}">
      <dsp:nvSpPr>
        <dsp:cNvPr id="0" name=""/>
        <dsp:cNvSpPr/>
      </dsp:nvSpPr>
      <dsp:spPr>
        <a:xfrm>
          <a:off x="4624394" y="2869090"/>
          <a:ext cx="4095898" cy="245753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900" kern="1200" dirty="0" smtClean="0"/>
            <a:t>How to add text box</a:t>
          </a:r>
          <a:endParaRPr lang="en-US" sz="4900" kern="1200" dirty="0"/>
        </a:p>
      </dsp:txBody>
      <dsp:txXfrm>
        <a:off x="4624394" y="2869090"/>
        <a:ext cx="4095898" cy="24575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3/22/2021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solidFill>
                  <a:prstClr val="black"/>
                </a:solidFill>
                <a:latin typeface="Calibri" pitchFamily="34" charset="0"/>
              </a:rPr>
              <a:pPr/>
              <a:t>37</a:t>
            </a:fld>
            <a:endParaRPr lang="en-US" smtClean="0">
              <a:solidFill>
                <a:prstClr val="black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latin typeface="Calibri" pitchFamily="34" charset="0"/>
              </a:rPr>
              <a:pPr/>
              <a:t>38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itchFamily="34" charset="0"/>
              </a:rPr>
              <a:t>Discovering </a:t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	Computers 2012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6606" y="3276600"/>
            <a:ext cx="395739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35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latin typeface="+mn-lt"/>
              </a:defRPr>
            </a:lvl1pPr>
            <a:lvl2pPr>
              <a:buFont typeface="Wingdings" pitchFamily="2" charset="2"/>
              <a:buChar char="v"/>
              <a:defRPr sz="3200">
                <a:latin typeface="+mn-lt"/>
              </a:defRPr>
            </a:lvl2pPr>
            <a:lvl3pPr>
              <a:defRPr sz="2800">
                <a:latin typeface="+mn-lt"/>
              </a:defRPr>
            </a:lvl3pPr>
            <a:lvl4pPr>
              <a:buFont typeface="Wingdings" pitchFamily="2" charset="2"/>
              <a:buChar char="v"/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2010 Pearson Education, Inc.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3-</a:t>
            </a:r>
            <a:fld id="{72C99F3E-92BD-47C6-B43F-19488E1C3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350772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427134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5109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466273"/>
              </p:ext>
            </p:extLst>
          </p:nvPr>
        </p:nvGraphicFramePr>
        <p:xfrm>
          <a:off x="28135" y="1268760"/>
          <a:ext cx="88392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15396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1EA35DB-A737-45B2-AEA8-3AC4C64F3E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graphicEl>
                                              <a:dgm id="{31EA35DB-A737-45B2-AEA8-3AC4C64F3E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1340305"/>
              </p:ext>
            </p:extLst>
          </p:nvPr>
        </p:nvGraphicFramePr>
        <p:xfrm>
          <a:off x="28135" y="1268760"/>
          <a:ext cx="88392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50020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 Data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algn="just"/>
            <a:endParaRPr lang="en-GB" sz="2800" dirty="0" smtClean="0"/>
          </a:p>
          <a:p>
            <a:pPr algn="just"/>
            <a:r>
              <a:rPr lang="en-GB" sz="2800" dirty="0" smtClean="0"/>
              <a:t>In </a:t>
            </a:r>
            <a:r>
              <a:rPr lang="en-GB" sz="2800" dirty="0"/>
              <a:t>MS Excel, there are </a:t>
            </a:r>
            <a:r>
              <a:rPr lang="en-GB" sz="2800" b="1" dirty="0"/>
              <a:t>1048576*16384 </a:t>
            </a:r>
            <a:r>
              <a:rPr lang="en-GB" sz="2800" dirty="0"/>
              <a:t>cells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MS Excel cell can have </a:t>
            </a:r>
            <a:r>
              <a:rPr lang="en-GB" sz="2800" b="1" dirty="0"/>
              <a:t>Text</a:t>
            </a:r>
            <a:r>
              <a:rPr lang="en-GB" sz="2800" dirty="0"/>
              <a:t>, </a:t>
            </a:r>
            <a:r>
              <a:rPr lang="en-GB" sz="2800" b="1" dirty="0"/>
              <a:t>Numeric value </a:t>
            </a:r>
            <a:r>
              <a:rPr lang="en-GB" sz="2800" dirty="0"/>
              <a:t>or </a:t>
            </a:r>
            <a:r>
              <a:rPr lang="en-GB" sz="2800" b="1" dirty="0"/>
              <a:t>formulas</a:t>
            </a:r>
            <a:r>
              <a:rPr lang="en-GB" sz="2800" dirty="0"/>
              <a:t>. 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An MS Excel cell can have maximum of </a:t>
            </a:r>
            <a:r>
              <a:rPr lang="en-GB" sz="2800" b="1" dirty="0"/>
              <a:t>32000</a:t>
            </a:r>
            <a:r>
              <a:rPr lang="en-GB" sz="2800" dirty="0"/>
              <a:t> characters.</a:t>
            </a:r>
            <a:endParaRPr lang="en-US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GB" sz="2800" dirty="0"/>
              <a:t>For inserting data in MS Excel, just activate the cell type text or </a:t>
            </a:r>
            <a:r>
              <a:rPr lang="en-GB" sz="2800" dirty="0" smtClean="0"/>
              <a:t>number </a:t>
            </a:r>
            <a:r>
              <a:rPr lang="en-GB" sz="2800" dirty="0"/>
              <a:t>and press enter or Navigation </a:t>
            </a:r>
            <a:r>
              <a:rPr lang="en-GB" sz="2800" dirty="0" smtClean="0"/>
              <a:t>keys.</a:t>
            </a:r>
          </a:p>
          <a:p>
            <a:pPr algn="just"/>
            <a:endParaRPr lang="en-GB" sz="2800" dirty="0"/>
          </a:p>
        </p:txBody>
      </p:sp>
      <p:pic>
        <p:nvPicPr>
          <p:cNvPr id="4" name="Picture 2" descr="C:\Users\UCCSMS1\Desktop\images\insert_dat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6192688" cy="424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8877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Inserting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20688"/>
            <a:ext cx="8884096" cy="61206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For inserting formula in MS Excel go to the formula bar, enter the formula and then press enter or navigation key. See the screen-shot below to understand </a:t>
            </a:r>
            <a:r>
              <a:rPr lang="en-GB" sz="2800" dirty="0" smtClean="0"/>
              <a:t>it.</a:t>
            </a:r>
            <a:endParaRPr lang="en-GB" sz="2800" dirty="0"/>
          </a:p>
        </p:txBody>
      </p:sp>
      <p:pic>
        <p:nvPicPr>
          <p:cNvPr id="4" name="Picture 2" descr="C:\Users\UCCSMS1\Desktop\images\insert_formul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564904"/>
            <a:ext cx="7488832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717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Modifying Cell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548680"/>
            <a:ext cx="8884096" cy="6192688"/>
          </a:xfrm>
        </p:spPr>
        <p:txBody>
          <a:bodyPr>
            <a:normAutofit/>
          </a:bodyPr>
          <a:lstStyle/>
          <a:p>
            <a:pPr algn="just"/>
            <a:r>
              <a:rPr lang="en-GB" sz="2800" dirty="0" smtClean="0"/>
              <a:t>For </a:t>
            </a:r>
            <a:r>
              <a:rPr lang="en-GB" sz="2800" dirty="0"/>
              <a:t>modifying the cell content just </a:t>
            </a:r>
            <a:r>
              <a:rPr lang="en-GB" sz="2800" b="1" dirty="0"/>
              <a:t>activate the cell</a:t>
            </a:r>
            <a:r>
              <a:rPr lang="en-GB" sz="2800" dirty="0"/>
              <a:t>, enter a new value and then press enter or navigation key to see the changes</a:t>
            </a:r>
            <a:r>
              <a:rPr lang="en-GB" sz="2800" dirty="0" smtClean="0"/>
              <a:t>. </a:t>
            </a:r>
            <a:r>
              <a:rPr lang="en-GB" sz="2800" dirty="0"/>
              <a:t>See the screen-shot below to understand it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</p:txBody>
      </p:sp>
      <p:pic>
        <p:nvPicPr>
          <p:cNvPr id="4" name="Picture 2" descr="C:\Users\UCCSMS1\Desktop\images\modify_cell_conte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7" y="1988840"/>
            <a:ext cx="7704856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27612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Select Data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Select with </a:t>
            </a:r>
            <a:r>
              <a:rPr lang="en-GB" sz="2800" b="1" dirty="0" smtClean="0">
                <a:solidFill>
                  <a:srgbClr val="FF0000"/>
                </a:solidFill>
              </a:rPr>
              <a:t>Mouse</a:t>
            </a:r>
          </a:p>
          <a:p>
            <a:r>
              <a:rPr lang="en-GB" sz="2800" dirty="0"/>
              <a:t>Drag the mouse over the data you want to select. It will select those cells as shown below.</a:t>
            </a:r>
          </a:p>
        </p:txBody>
      </p:sp>
      <p:pic>
        <p:nvPicPr>
          <p:cNvPr id="4" name="Picture 2" descr="C:\Users\UCCSMS1\Desktop\images\select_data_with_mous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04864"/>
            <a:ext cx="7704856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3320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Select Data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Select with </a:t>
            </a:r>
            <a:r>
              <a:rPr lang="en-GB" sz="2800" b="1" dirty="0" smtClean="0">
                <a:solidFill>
                  <a:srgbClr val="FF0000"/>
                </a:solidFill>
              </a:rPr>
              <a:t>Special</a:t>
            </a:r>
          </a:p>
          <a:p>
            <a:r>
              <a:rPr lang="en-GB" sz="2800" dirty="0"/>
              <a:t>If you want to select specific region, select any </a:t>
            </a:r>
            <a:r>
              <a:rPr lang="en-GB" sz="2800" b="1" dirty="0"/>
              <a:t>cell</a:t>
            </a:r>
            <a:r>
              <a:rPr lang="en-GB" sz="2800" dirty="0"/>
              <a:t> in that region. Pressing </a:t>
            </a:r>
            <a:r>
              <a:rPr lang="en-GB" sz="2800" b="1" dirty="0"/>
              <a:t>F5</a:t>
            </a:r>
            <a:r>
              <a:rPr lang="en-GB" sz="2800" dirty="0"/>
              <a:t> will show the below dialogue box</a:t>
            </a:r>
            <a:r>
              <a:rPr lang="en-GB" sz="2800" dirty="0" smtClean="0"/>
              <a:t>.</a:t>
            </a:r>
          </a:p>
          <a:p>
            <a:endParaRPr lang="en-GB" sz="2800" dirty="0"/>
          </a:p>
          <a:p>
            <a:endParaRPr lang="en-GB" sz="2800" dirty="0"/>
          </a:p>
        </p:txBody>
      </p:sp>
      <p:pic>
        <p:nvPicPr>
          <p:cNvPr id="4" name="Picture 2" descr="C:\Users\UCCSMS1\Desktop\images\clicking_f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348880"/>
            <a:ext cx="6552728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387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Select Data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Select with </a:t>
            </a:r>
            <a:r>
              <a:rPr lang="en-GB" sz="2800" b="1" dirty="0" smtClean="0">
                <a:solidFill>
                  <a:srgbClr val="FF0000"/>
                </a:solidFill>
              </a:rPr>
              <a:t>Special</a:t>
            </a:r>
          </a:p>
          <a:p>
            <a:pPr algn="just"/>
            <a:r>
              <a:rPr lang="en-GB" sz="2800" dirty="0"/>
              <a:t>Click on </a:t>
            </a:r>
            <a:r>
              <a:rPr lang="en-GB" sz="2800" b="1" dirty="0"/>
              <a:t>Special button </a:t>
            </a:r>
            <a:r>
              <a:rPr lang="en-GB" sz="2800" dirty="0"/>
              <a:t>to see the below dialogue box. Select </a:t>
            </a:r>
            <a:r>
              <a:rPr lang="en-GB" sz="2800" b="1" dirty="0"/>
              <a:t>current region </a:t>
            </a:r>
            <a:r>
              <a:rPr lang="en-GB" sz="2800" dirty="0"/>
              <a:t>from the radio buttons. Click on </a:t>
            </a:r>
            <a:r>
              <a:rPr lang="en-GB" sz="2800" b="1" dirty="0"/>
              <a:t>ok</a:t>
            </a:r>
            <a:r>
              <a:rPr lang="en-GB" sz="2800" dirty="0"/>
              <a:t> to see the current region selected.</a:t>
            </a:r>
          </a:p>
          <a:p>
            <a:pPr marL="0" indent="0" algn="just">
              <a:buNone/>
            </a:pP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6146" name="Picture 2" descr="C:\Users\UCCSMS1\Desktop\images\select_current_reg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708920"/>
            <a:ext cx="7344816" cy="4065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84663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Select Data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Select with </a:t>
            </a:r>
            <a:r>
              <a:rPr lang="en-GB" sz="2800" b="1" dirty="0" smtClean="0">
                <a:solidFill>
                  <a:srgbClr val="FF0000"/>
                </a:solidFill>
              </a:rPr>
              <a:t>Special</a:t>
            </a:r>
          </a:p>
          <a:p>
            <a:pPr algn="just"/>
            <a:r>
              <a:rPr lang="en-GB" sz="2800" dirty="0"/>
              <a:t>As you can see in the below screen, the data is selected for the current region.</a:t>
            </a:r>
          </a:p>
          <a:p>
            <a:pPr algn="just"/>
            <a:endParaRPr lang="en-GB" sz="2800" dirty="0"/>
          </a:p>
        </p:txBody>
      </p:sp>
      <p:pic>
        <p:nvPicPr>
          <p:cNvPr id="7170" name="Picture 2" descr="C:\Users\UCCSMS1\Desktop\images\selected_dat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04864"/>
            <a:ext cx="7488832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9566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Delete Data in Excel 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Delete with </a:t>
            </a:r>
            <a:r>
              <a:rPr lang="en-GB" sz="2800" b="1" dirty="0" smtClean="0">
                <a:solidFill>
                  <a:srgbClr val="FF0000"/>
                </a:solidFill>
              </a:rPr>
              <a:t>Mouse</a:t>
            </a:r>
          </a:p>
          <a:p>
            <a:pPr marL="0" indent="0">
              <a:buNone/>
            </a:pPr>
            <a:r>
              <a:rPr lang="en-GB" sz="2800" dirty="0"/>
              <a:t>Select the data you want to delete. </a:t>
            </a:r>
            <a:r>
              <a:rPr lang="en-GB" sz="2800" b="1" dirty="0"/>
              <a:t>Right Click </a:t>
            </a:r>
            <a:r>
              <a:rPr lang="en-GB" sz="2800" dirty="0"/>
              <a:t>on the sheet. Select the </a:t>
            </a:r>
            <a:r>
              <a:rPr lang="en-GB" sz="2800" b="1" dirty="0"/>
              <a:t>delete option</a:t>
            </a:r>
            <a:r>
              <a:rPr lang="en-GB" sz="2800" dirty="0"/>
              <a:t>, to delete the data</a:t>
            </a:r>
            <a:r>
              <a:rPr lang="en-GB" sz="2800" dirty="0" smtClean="0"/>
              <a:t>.</a:t>
            </a:r>
          </a:p>
          <a:p>
            <a:pPr marL="0" indent="0">
              <a:buNone/>
            </a:pPr>
            <a:endParaRPr lang="en-GB" sz="2800" dirty="0"/>
          </a:p>
        </p:txBody>
      </p:sp>
      <p:pic>
        <p:nvPicPr>
          <p:cNvPr id="8194" name="Picture 2" descr="C:\Users\UCCSMS1\Desktop\images\right_click_delet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420888"/>
            <a:ext cx="7128792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0199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Delete Data in Excel 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Delete with Delete </a:t>
            </a:r>
            <a:r>
              <a:rPr lang="en-GB" sz="2800" b="1" dirty="0" smtClean="0">
                <a:solidFill>
                  <a:srgbClr val="FF0000"/>
                </a:solidFill>
              </a:rPr>
              <a:t>Key</a:t>
            </a:r>
          </a:p>
          <a:p>
            <a:pPr marL="0" indent="0">
              <a:buNone/>
            </a:pPr>
            <a:r>
              <a:rPr lang="en-GB" sz="2800" dirty="0"/>
              <a:t>Select the data you want to delete. Press on the Delete Button from the keyboard, it will delete the data.</a:t>
            </a:r>
            <a:endParaRPr lang="en-GB" sz="2800" dirty="0" smtClean="0"/>
          </a:p>
          <a:p>
            <a:pPr marL="0" indent="0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5082967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Delete Data in Excel 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Selective Delete for </a:t>
            </a:r>
            <a:r>
              <a:rPr lang="en-GB" sz="2800" b="1" dirty="0" smtClean="0">
                <a:solidFill>
                  <a:srgbClr val="FF0000"/>
                </a:solidFill>
              </a:rPr>
              <a:t>Rows</a:t>
            </a:r>
          </a:p>
          <a:p>
            <a:r>
              <a:rPr lang="en-GB" sz="2800" dirty="0"/>
              <a:t>Select the rows, which you want to delete with </a:t>
            </a:r>
            <a:r>
              <a:rPr lang="en-GB" sz="2800" b="1" dirty="0"/>
              <a:t>Mouse click + Control </a:t>
            </a:r>
            <a:r>
              <a:rPr lang="en-GB" sz="2800" b="1" dirty="0" smtClean="0"/>
              <a:t>Key</a:t>
            </a:r>
            <a:r>
              <a:rPr lang="en-GB" sz="2800" dirty="0" smtClean="0"/>
              <a:t>.</a:t>
            </a:r>
          </a:p>
          <a:p>
            <a:r>
              <a:rPr lang="en-GB" sz="2800" dirty="0"/>
              <a:t>Then right click to show the various options</a:t>
            </a:r>
            <a:r>
              <a:rPr lang="en-GB" sz="2800" dirty="0" smtClean="0"/>
              <a:t>.</a:t>
            </a:r>
          </a:p>
          <a:p>
            <a:r>
              <a:rPr lang="en-GB" sz="2800" dirty="0"/>
              <a:t>Select the </a:t>
            </a:r>
            <a:r>
              <a:rPr lang="en-GB" sz="2800" b="1" dirty="0"/>
              <a:t>Delete option </a:t>
            </a:r>
            <a:r>
              <a:rPr lang="en-GB" sz="2800" dirty="0"/>
              <a:t>to delete the selected rows.</a:t>
            </a:r>
            <a:endParaRPr lang="en-GB" sz="2800" dirty="0" smtClean="0"/>
          </a:p>
          <a:p>
            <a:pPr marL="0" indent="0">
              <a:buNone/>
            </a:pPr>
            <a:endParaRPr lang="en-GB" sz="2800" dirty="0"/>
          </a:p>
        </p:txBody>
      </p:sp>
      <p:pic>
        <p:nvPicPr>
          <p:cNvPr id="9218" name="Picture 2" descr="C:\Users\UCCSMS1\Desktop\images\rows_selective_delet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852936"/>
            <a:ext cx="6408712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713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Move Data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</a:p>
          <a:p>
            <a:pPr algn="just"/>
            <a:r>
              <a:rPr lang="en-GB" sz="2800" dirty="0"/>
              <a:t>Select the data you want to Move. Right Click and Select the cut option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</p:txBody>
      </p:sp>
      <p:pic>
        <p:nvPicPr>
          <p:cNvPr id="10242" name="Picture 2" descr="C:\Users\UCCSMS1\Desktop\images\rigth_click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988840"/>
            <a:ext cx="6984776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0420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Move Data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b="1" dirty="0"/>
              <a:t>Select the first cell </a:t>
            </a:r>
            <a:r>
              <a:rPr lang="en-GB" sz="2800" dirty="0"/>
              <a:t>where you want to move the data. Right click on it and </a:t>
            </a:r>
            <a:r>
              <a:rPr lang="en-GB" sz="2800" b="1" dirty="0"/>
              <a:t>paste the data</a:t>
            </a:r>
            <a:r>
              <a:rPr lang="en-GB" sz="2800" dirty="0"/>
              <a:t>. You can see the data is moved now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</p:txBody>
      </p:sp>
      <p:pic>
        <p:nvPicPr>
          <p:cNvPr id="11266" name="Picture 2" descr="C:\Users\UCCSMS1\Desktop\images\moved_dat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204864"/>
            <a:ext cx="6408712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2677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Rows &amp; Columns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800" b="1" dirty="0"/>
              <a:t>MS Excel </a:t>
            </a:r>
            <a:r>
              <a:rPr lang="en-GB" sz="2800" dirty="0"/>
              <a:t>is in tabular format consisting of rows and columns</a:t>
            </a:r>
            <a:r>
              <a:rPr lang="en-GB" sz="2800" b="1" dirty="0" smtClean="0"/>
              <a:t>.</a:t>
            </a:r>
          </a:p>
          <a:p>
            <a:pPr algn="just"/>
            <a:endParaRPr lang="en-GB" sz="2800" b="1" dirty="0"/>
          </a:p>
          <a:p>
            <a:pPr algn="just"/>
            <a:r>
              <a:rPr lang="en-GB" sz="2800" dirty="0"/>
              <a:t>Row runs horizontally while Column runs vertically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Each row is identified by row number, which runs vertically at the left side of the sheet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Each column is identified by column header, which runs horizontally at the top of the sheet.</a:t>
            </a:r>
            <a:endParaRPr lang="en-GB" sz="2800" dirty="0" smtClean="0"/>
          </a:p>
          <a:p>
            <a:pPr algn="just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717062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Rows &amp; Columns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endParaRPr lang="en-GB" sz="2800" dirty="0" smtClean="0"/>
          </a:p>
          <a:p>
            <a:pPr algn="just"/>
            <a:r>
              <a:rPr lang="en-GB" sz="2800" dirty="0" smtClean="0"/>
              <a:t>For </a:t>
            </a:r>
            <a:r>
              <a:rPr lang="en-GB" sz="2800" dirty="0"/>
              <a:t>MS Excel 2010, Row numbers ranges from </a:t>
            </a:r>
            <a:r>
              <a:rPr lang="en-GB" sz="2800" b="1" dirty="0"/>
              <a:t>1 to 1048576</a:t>
            </a:r>
            <a:r>
              <a:rPr lang="en-GB" sz="2800" dirty="0"/>
              <a:t>; in total </a:t>
            </a:r>
            <a:r>
              <a:rPr lang="en-GB" sz="2800" b="1" dirty="0"/>
              <a:t>1048576</a:t>
            </a:r>
            <a:r>
              <a:rPr lang="en-GB" sz="2800" dirty="0"/>
              <a:t> </a:t>
            </a:r>
            <a:r>
              <a:rPr lang="en-GB" sz="2800" dirty="0" smtClean="0"/>
              <a:t>rows.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Columns ranges from </a:t>
            </a:r>
            <a:r>
              <a:rPr lang="en-GB" sz="2800" b="1" dirty="0"/>
              <a:t>A to XFD</a:t>
            </a:r>
            <a:r>
              <a:rPr lang="en-GB" sz="2800" dirty="0"/>
              <a:t>; in total </a:t>
            </a:r>
            <a:r>
              <a:rPr lang="en-GB" sz="2800" b="1" dirty="0"/>
              <a:t>16384</a:t>
            </a:r>
            <a:r>
              <a:rPr lang="en-GB" sz="2800" dirty="0"/>
              <a:t> columns.</a:t>
            </a:r>
          </a:p>
        </p:txBody>
      </p:sp>
    </p:spTree>
    <p:extLst>
      <p:ext uri="{BB962C8B-B14F-4D97-AF65-F5344CB8AC3E}">
        <p14:creationId xmlns:p14="http://schemas.microsoft.com/office/powerpoint/2010/main" val="33380643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Navigation with Rows and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800" dirty="0" smtClean="0"/>
              <a:t>You </a:t>
            </a:r>
            <a:r>
              <a:rPr lang="en-GB" sz="2800" dirty="0"/>
              <a:t>can go to the last row by clicking </a:t>
            </a:r>
            <a:r>
              <a:rPr lang="en-GB" sz="2800" b="1" dirty="0"/>
              <a:t>Control + Down Navigation arrow</a:t>
            </a:r>
            <a:r>
              <a:rPr lang="en-GB" sz="2800" dirty="0" smtClean="0"/>
              <a:t>.</a:t>
            </a:r>
            <a:endParaRPr lang="en-GB" sz="2800" dirty="0"/>
          </a:p>
          <a:p>
            <a:pPr algn="just"/>
            <a:r>
              <a:rPr lang="en-GB" sz="2800" dirty="0"/>
              <a:t>You can go to the last column by clicking </a:t>
            </a:r>
            <a:r>
              <a:rPr lang="en-GB" sz="2800" b="1" dirty="0"/>
              <a:t>Control + Right Navigation arrow</a:t>
            </a:r>
            <a:r>
              <a:rPr lang="en-GB" sz="2800" dirty="0"/>
              <a:t>.</a:t>
            </a:r>
          </a:p>
        </p:txBody>
      </p:sp>
      <p:pic>
        <p:nvPicPr>
          <p:cNvPr id="12290" name="Picture 2" descr="C:\Users\UCCSMS1\Desktop\images\rows_and_colum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204864"/>
            <a:ext cx="6840760" cy="441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3980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Cell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endParaRPr lang="en-GB" sz="2800" dirty="0" smtClean="0"/>
          </a:p>
          <a:p>
            <a:pPr algn="just"/>
            <a:r>
              <a:rPr lang="en-GB" sz="2800" dirty="0" smtClean="0"/>
              <a:t>The </a:t>
            </a:r>
            <a:r>
              <a:rPr lang="en-GB" sz="2800" dirty="0"/>
              <a:t>intersection of rows and columns is called </a:t>
            </a:r>
            <a:r>
              <a:rPr lang="en-GB" sz="2800" b="1" dirty="0"/>
              <a:t>cell</a:t>
            </a:r>
            <a:r>
              <a:rPr lang="en-GB" sz="2800" dirty="0" smtClean="0"/>
              <a:t>.</a:t>
            </a:r>
            <a:endParaRPr lang="en-GB" sz="2800" dirty="0"/>
          </a:p>
          <a:p>
            <a:pPr algn="just"/>
            <a:r>
              <a:rPr lang="en-GB" sz="2800" dirty="0"/>
              <a:t>Cell is identified with </a:t>
            </a:r>
            <a:r>
              <a:rPr lang="en-GB" sz="2800" b="1" dirty="0"/>
              <a:t>Combination of column header and row </a:t>
            </a:r>
            <a:r>
              <a:rPr lang="en-GB" sz="2800" b="1" dirty="0" smtClean="0"/>
              <a:t>number.</a:t>
            </a:r>
            <a:endParaRPr lang="en-GB" sz="2800" b="1" dirty="0"/>
          </a:p>
          <a:p>
            <a:pPr algn="just"/>
            <a:r>
              <a:rPr lang="en-GB" sz="2800" dirty="0"/>
              <a:t>For example </a:t>
            </a:r>
            <a:r>
              <a:rPr lang="en-GB" sz="2800" b="1" dirty="0"/>
              <a:t>− A1, A2.</a:t>
            </a:r>
          </a:p>
        </p:txBody>
      </p:sp>
      <p:pic>
        <p:nvPicPr>
          <p:cNvPr id="13314" name="Picture 2" descr="C:\Users\UCCSMS1\Desktop\images\cells_introduc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119" y="2852936"/>
            <a:ext cx="5715000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43177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Copy &amp; Paste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To copy and paste, just select the cells you want to copy. Choose </a:t>
            </a:r>
            <a:r>
              <a:rPr lang="en-GB" sz="2800" b="1" dirty="0"/>
              <a:t>copy option </a:t>
            </a:r>
            <a:r>
              <a:rPr lang="en-GB" sz="2800" dirty="0"/>
              <a:t>after right click or press </a:t>
            </a:r>
            <a:r>
              <a:rPr lang="en-GB" sz="2800" b="1" dirty="0"/>
              <a:t>Control + C</a:t>
            </a:r>
            <a:r>
              <a:rPr lang="en-GB" sz="2800" dirty="0" smtClean="0"/>
              <a:t>.</a:t>
            </a:r>
          </a:p>
          <a:p>
            <a:pPr algn="just"/>
            <a:endParaRPr lang="en-GB" sz="2800" b="1" dirty="0"/>
          </a:p>
          <a:p>
            <a:pPr algn="just"/>
            <a:r>
              <a:rPr lang="en-GB" sz="2800" dirty="0"/>
              <a:t>Select the cell where you need to paste this copied content. Right click and select paste option or press </a:t>
            </a:r>
            <a:r>
              <a:rPr lang="en-GB" sz="2800" b="1" dirty="0"/>
              <a:t>Control + V.</a:t>
            </a:r>
          </a:p>
        </p:txBody>
      </p:sp>
      <p:pic>
        <p:nvPicPr>
          <p:cNvPr id="14338" name="Picture 2" descr="C:\Users\UCCSMS1\Desktop\images\copy_past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852936"/>
            <a:ext cx="5931024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661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Copy Paste using Office Clipboard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When you copy data in MS Excel, it puts the copied content in Windows and </a:t>
            </a:r>
            <a:r>
              <a:rPr lang="en-GB" sz="2800" b="1" dirty="0"/>
              <a:t>Office Clipboard</a:t>
            </a:r>
            <a:r>
              <a:rPr lang="en-GB" sz="2800" dirty="0" smtClean="0"/>
              <a:t>.</a:t>
            </a:r>
          </a:p>
          <a:p>
            <a:pPr algn="just"/>
            <a:r>
              <a:rPr lang="en-GB" sz="2800" dirty="0"/>
              <a:t>You can view the clipboard content by </a:t>
            </a:r>
            <a:r>
              <a:rPr lang="en-GB" sz="2800" b="1" dirty="0"/>
              <a:t>Home → Clipboard</a:t>
            </a:r>
            <a:r>
              <a:rPr lang="en-GB" sz="2800" dirty="0" smtClean="0"/>
              <a:t>.</a:t>
            </a:r>
            <a:endParaRPr lang="en-GB" sz="2800" dirty="0"/>
          </a:p>
          <a:p>
            <a:pPr algn="just"/>
            <a:r>
              <a:rPr lang="en-GB" sz="2800" dirty="0"/>
              <a:t>View the clipboard content</a:t>
            </a:r>
            <a:r>
              <a:rPr lang="en-GB" sz="2800" dirty="0" smtClean="0"/>
              <a:t>.</a:t>
            </a:r>
            <a:endParaRPr lang="en-GB" sz="2800" dirty="0"/>
          </a:p>
          <a:p>
            <a:pPr algn="just"/>
            <a:r>
              <a:rPr lang="en-GB" sz="2800" dirty="0"/>
              <a:t>Select the cell where you need to paste. Click on paste, to paste the content.</a:t>
            </a:r>
            <a:endParaRPr lang="en-GB" sz="2800" dirty="0"/>
          </a:p>
        </p:txBody>
      </p:sp>
      <p:pic>
        <p:nvPicPr>
          <p:cNvPr id="1026" name="Picture 2" descr="C:\Users\UCCSMS1\Desktop\images\clipboar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682" y="3429000"/>
            <a:ext cx="5715000" cy="329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4881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Copy Paste in Special way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800" dirty="0" smtClean="0"/>
              <a:t>Select the document you want to copy.</a:t>
            </a:r>
            <a:endParaRPr lang="en-GB" sz="2800" dirty="0"/>
          </a:p>
          <a:p>
            <a:pPr algn="just"/>
            <a:r>
              <a:rPr lang="en-GB" sz="2800" dirty="0"/>
              <a:t>Select the cell where you need to paste. </a:t>
            </a:r>
            <a:endParaRPr lang="en-GB" sz="2800" dirty="0" smtClean="0"/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on </a:t>
            </a:r>
            <a:r>
              <a:rPr lang="en-GB" sz="2800" dirty="0" smtClean="0"/>
              <a:t>paste special to open the dialogue box.</a:t>
            </a:r>
          </a:p>
          <a:p>
            <a:pPr algn="just"/>
            <a:endParaRPr lang="en-GB" sz="2800" dirty="0"/>
          </a:p>
        </p:txBody>
      </p:sp>
      <p:pic>
        <p:nvPicPr>
          <p:cNvPr id="2050" name="Picture 2" descr="C:\Users\UCCSMS1\Desktop\images\paste_special_dialogu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988840"/>
            <a:ext cx="6696744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3154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Copy Paste in Special way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Below are the various options available in paste special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All</a:t>
            </a:r>
            <a:r>
              <a:rPr lang="en-GB" sz="2800" dirty="0"/>
              <a:t> − Pastes the cell’s contents, formats, and data validation from the Windows Clipboard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Formulas</a:t>
            </a:r>
            <a:r>
              <a:rPr lang="en-GB" sz="2800" b="1" dirty="0"/>
              <a:t> </a:t>
            </a:r>
            <a:r>
              <a:rPr lang="en-GB" sz="2800" dirty="0"/>
              <a:t>− Pastes formulas, but not formatting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Values</a:t>
            </a:r>
            <a:r>
              <a:rPr lang="en-GB" sz="2800" dirty="0"/>
              <a:t> − Pastes only values not the formulas.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Formats</a:t>
            </a:r>
            <a:r>
              <a:rPr lang="en-GB" sz="2800" dirty="0"/>
              <a:t> − Pastes only the formatting of the source range.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7179879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Copy Paste in Special way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Below are the various options available in paste special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Comments − </a:t>
            </a:r>
            <a:r>
              <a:rPr lang="en-GB" sz="2800" dirty="0"/>
              <a:t>Pastes the comments with the respective cells.</a:t>
            </a:r>
          </a:p>
          <a:p>
            <a:pPr algn="just"/>
            <a:endParaRPr lang="en-GB" sz="2800" b="1" dirty="0">
              <a:solidFill>
                <a:srgbClr val="FF0000"/>
              </a:solidFill>
            </a:endParaRPr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Validation − </a:t>
            </a:r>
            <a:r>
              <a:rPr lang="en-GB" sz="2800" dirty="0"/>
              <a:t>Pastes validation applied in the cells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All using source theme </a:t>
            </a:r>
            <a:r>
              <a:rPr lang="en-GB" sz="2800" dirty="0"/>
              <a:t>− Pastes formulas, and all formatting.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All except borders </a:t>
            </a:r>
            <a:r>
              <a:rPr lang="en-GB" sz="2800" dirty="0"/>
              <a:t>− Pastes everything except borders that appear in the source range.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198318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Copy Paste in Special way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Below are the various options available in paste special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Column Width − </a:t>
            </a:r>
            <a:r>
              <a:rPr lang="en-GB" sz="2800" dirty="0"/>
              <a:t>Pastes formulas, and also duplicates the column width of the copied cells</a:t>
            </a:r>
            <a:r>
              <a:rPr lang="en-GB" sz="2800" b="1" dirty="0"/>
              <a:t>.</a:t>
            </a:r>
          </a:p>
          <a:p>
            <a:pPr algn="just"/>
            <a:endParaRPr lang="en-GB" sz="2800" b="1" dirty="0">
              <a:solidFill>
                <a:srgbClr val="FF0000"/>
              </a:solidFill>
            </a:endParaRPr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Formulas &amp; Number Formats − </a:t>
            </a:r>
            <a:r>
              <a:rPr lang="en-GB" sz="2800" dirty="0"/>
              <a:t>Pastes formulas and number formatting only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Values &amp; Number Formats </a:t>
            </a:r>
            <a:r>
              <a:rPr lang="en-GB" sz="2800" dirty="0"/>
              <a:t>− Pastes the results of formulas, plus the number.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9817844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Copy Paste in Special way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Below are the various options available in paste special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Merge Conditional Formatting − </a:t>
            </a:r>
            <a:r>
              <a:rPr lang="en-GB" sz="2800" dirty="0"/>
              <a:t>This icon is displayed only when the copied cells contain conditional formatting. When clicked, it merges the copied conditional formatting with any conditional formatting in the destination range.</a:t>
            </a:r>
          </a:p>
          <a:p>
            <a:pPr algn="just"/>
            <a:endParaRPr lang="en-GB" sz="2800" b="1" dirty="0">
              <a:solidFill>
                <a:srgbClr val="FF0000"/>
              </a:solidFill>
            </a:endParaRPr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Transpose − </a:t>
            </a:r>
            <a:r>
              <a:rPr lang="en-GB" sz="2800" dirty="0"/>
              <a:t>Changes the orientation of the copied range. Rows become columns, and columns become rows. Any formulas in the copied range are adjusted so that they work properly when transposed.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4192084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Find and Replace Dialogue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To access the Find &amp; Replace, Choose </a:t>
            </a:r>
            <a:r>
              <a:rPr lang="en-GB" sz="2800" b="1" dirty="0"/>
              <a:t>Home</a:t>
            </a:r>
            <a:r>
              <a:rPr lang="en-GB" sz="2800" dirty="0"/>
              <a:t> → </a:t>
            </a:r>
            <a:r>
              <a:rPr lang="en-GB" sz="2800" b="1" dirty="0"/>
              <a:t>Find</a:t>
            </a:r>
            <a:r>
              <a:rPr lang="en-GB" sz="2800" dirty="0"/>
              <a:t> &amp; </a:t>
            </a:r>
            <a:r>
              <a:rPr lang="en-GB" sz="2800" b="1" dirty="0"/>
              <a:t>Select → Find </a:t>
            </a:r>
            <a:r>
              <a:rPr lang="en-GB" sz="2800" dirty="0"/>
              <a:t>or press </a:t>
            </a:r>
            <a:r>
              <a:rPr lang="en-GB" sz="2800" b="1" dirty="0"/>
              <a:t>Control + F Key</a:t>
            </a:r>
            <a:r>
              <a:rPr lang="en-GB" sz="2800" dirty="0"/>
              <a:t>. </a:t>
            </a:r>
            <a:endParaRPr lang="en-GB" sz="2800" dirty="0"/>
          </a:p>
        </p:txBody>
      </p:sp>
      <p:pic>
        <p:nvPicPr>
          <p:cNvPr id="3074" name="Picture 2" descr="C:\Users\UCCSMS1\Desktop\images\find_op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84784"/>
            <a:ext cx="7416824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8705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Find and Replace Dialogue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You can see the Find and Replace dialogue as below.</a:t>
            </a:r>
          </a:p>
          <a:p>
            <a:pPr marL="0" indent="0" algn="just">
              <a:buNone/>
            </a:pPr>
            <a:r>
              <a:rPr lang="en-GB" sz="2800" dirty="0" smtClean="0"/>
              <a:t> </a:t>
            </a:r>
            <a:endParaRPr lang="en-GB" sz="2800" dirty="0"/>
          </a:p>
        </p:txBody>
      </p:sp>
      <p:pic>
        <p:nvPicPr>
          <p:cNvPr id="4098" name="Picture 2" descr="C:\Users\UCCSMS1\Desktop\images\find_ta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96752"/>
            <a:ext cx="7560840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2867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Find and Replace Dialogue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Y</a:t>
            </a:r>
            <a:r>
              <a:rPr lang="en-GB" sz="2800" dirty="0" smtClean="0"/>
              <a:t>ou </a:t>
            </a:r>
            <a:r>
              <a:rPr lang="en-GB" sz="2800" dirty="0"/>
              <a:t>can </a:t>
            </a:r>
            <a:r>
              <a:rPr lang="en-GB" sz="2800" b="1" dirty="0"/>
              <a:t>replace</a:t>
            </a:r>
            <a:r>
              <a:rPr lang="en-GB" sz="2800" dirty="0"/>
              <a:t> the found text with the new text in the Replace tab</a:t>
            </a:r>
            <a:r>
              <a:rPr lang="en-GB" sz="2800" dirty="0" smtClean="0"/>
              <a:t>.</a:t>
            </a:r>
            <a:endParaRPr lang="en-GB" sz="2800" dirty="0"/>
          </a:p>
          <a:p>
            <a:pPr marL="0" indent="0" algn="just">
              <a:buNone/>
            </a:pPr>
            <a:r>
              <a:rPr lang="en-GB" sz="2800" dirty="0" smtClean="0"/>
              <a:t> </a:t>
            </a:r>
            <a:endParaRPr lang="en-GB" sz="2800" dirty="0"/>
          </a:p>
        </p:txBody>
      </p:sp>
      <p:pic>
        <p:nvPicPr>
          <p:cNvPr id="5122" name="Picture 2" descr="C:\Users\UCCSMS1\Desktop\images\replace_ta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2"/>
            <a:ext cx="7128792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5252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Find and Replace Dialogue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GB" sz="2800" dirty="0"/>
              <a:t>Now, let us see the various options available under the Find dialogue.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 smtClean="0">
                <a:solidFill>
                  <a:srgbClr val="FF0000"/>
                </a:solidFill>
              </a:rPr>
              <a:t>Within</a:t>
            </a:r>
            <a:r>
              <a:rPr lang="en-GB" sz="2800" dirty="0" smtClean="0"/>
              <a:t> </a:t>
            </a:r>
            <a:r>
              <a:rPr lang="en-GB" sz="2800" dirty="0"/>
              <a:t>− Specifying the search should be in Sheet or workbook.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 smtClean="0">
                <a:solidFill>
                  <a:srgbClr val="FF0000"/>
                </a:solidFill>
              </a:rPr>
              <a:t>Search </a:t>
            </a:r>
            <a:r>
              <a:rPr lang="en-GB" sz="2800" b="1" dirty="0">
                <a:solidFill>
                  <a:srgbClr val="FF0000"/>
                </a:solidFill>
              </a:rPr>
              <a:t>By</a:t>
            </a:r>
            <a:r>
              <a:rPr lang="en-GB" sz="2800" b="1" dirty="0"/>
              <a:t> </a:t>
            </a:r>
            <a:r>
              <a:rPr lang="en-GB" sz="2800" dirty="0"/>
              <a:t>− Specifying the internal search method by rows or by columns.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 smtClean="0">
                <a:solidFill>
                  <a:srgbClr val="FF0000"/>
                </a:solidFill>
              </a:rPr>
              <a:t>Look </a:t>
            </a:r>
            <a:r>
              <a:rPr lang="en-GB" sz="2800" b="1" dirty="0">
                <a:solidFill>
                  <a:srgbClr val="FF0000"/>
                </a:solidFill>
              </a:rPr>
              <a:t>In </a:t>
            </a:r>
            <a:r>
              <a:rPr lang="en-GB" sz="2800" dirty="0"/>
              <a:t>− If you want to find text in formula as well, then select this option.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 smtClean="0">
                <a:solidFill>
                  <a:srgbClr val="FF0000"/>
                </a:solidFill>
              </a:rPr>
              <a:t>Match </a:t>
            </a:r>
            <a:r>
              <a:rPr lang="en-GB" sz="2800" b="1" dirty="0">
                <a:solidFill>
                  <a:srgbClr val="FF0000"/>
                </a:solidFill>
              </a:rPr>
              <a:t>Case </a:t>
            </a:r>
            <a:r>
              <a:rPr lang="en-GB" sz="2800" dirty="0"/>
              <a:t>− If you want to match the case like lower case or upper case of words, then check this option.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 smtClean="0">
                <a:solidFill>
                  <a:srgbClr val="FF0000"/>
                </a:solidFill>
              </a:rPr>
              <a:t>Match </a:t>
            </a:r>
            <a:r>
              <a:rPr lang="en-GB" sz="2800" b="1" dirty="0">
                <a:solidFill>
                  <a:srgbClr val="FF0000"/>
                </a:solidFill>
              </a:rPr>
              <a:t>Entire Cell Content</a:t>
            </a:r>
            <a:r>
              <a:rPr lang="en-GB" sz="2800" dirty="0"/>
              <a:t> − If you want the exact match of the word with cell, then check this option.</a:t>
            </a:r>
          </a:p>
          <a:p>
            <a:pPr algn="just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383546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Spell Check in Excel 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To access the spell checker, Choose </a:t>
            </a:r>
            <a:r>
              <a:rPr lang="en-GB" sz="2400" b="1" dirty="0"/>
              <a:t>Review</a:t>
            </a:r>
            <a:r>
              <a:rPr lang="en-GB" sz="2400" dirty="0"/>
              <a:t> ➪ </a:t>
            </a:r>
            <a:r>
              <a:rPr lang="en-GB" sz="2400" b="1" dirty="0"/>
              <a:t>Spelling</a:t>
            </a:r>
            <a:r>
              <a:rPr lang="en-GB" sz="2400" dirty="0"/>
              <a:t> or </a:t>
            </a:r>
            <a:r>
              <a:rPr lang="en-GB" sz="2400" b="1" dirty="0"/>
              <a:t>press F7</a:t>
            </a:r>
            <a:r>
              <a:rPr lang="en-GB" sz="2400" dirty="0" smtClean="0"/>
              <a:t>.</a:t>
            </a:r>
          </a:p>
          <a:p>
            <a:pPr algn="just"/>
            <a:r>
              <a:rPr lang="en-GB" sz="2400" dirty="0"/>
              <a:t>To check the spelling in just a particular range, select the range before you activate the spell checker</a:t>
            </a:r>
            <a:r>
              <a:rPr lang="en-GB" sz="2400" dirty="0" smtClean="0"/>
              <a:t>.</a:t>
            </a:r>
          </a:p>
          <a:p>
            <a:pPr algn="just"/>
            <a:r>
              <a:rPr lang="en-GB" sz="2400" dirty="0"/>
              <a:t>If the spell checker finds any words it does not recognize as correct, it </a:t>
            </a:r>
            <a:r>
              <a:rPr lang="en-GB" sz="2400" dirty="0" smtClean="0"/>
              <a:t>displays the </a:t>
            </a:r>
            <a:r>
              <a:rPr lang="en-GB" sz="2400" dirty="0"/>
              <a:t>Spelling dialogue with suggested </a:t>
            </a:r>
            <a:r>
              <a:rPr lang="en-GB" sz="2400" dirty="0" smtClean="0"/>
              <a:t>options.</a:t>
            </a:r>
          </a:p>
          <a:p>
            <a:pPr algn="just"/>
            <a:endParaRPr lang="en-GB" sz="2400" dirty="0"/>
          </a:p>
        </p:txBody>
      </p:sp>
      <p:pic>
        <p:nvPicPr>
          <p:cNvPr id="6146" name="Picture 2" descr="C:\Users\UCCSMS1\Desktop\images\spell_chec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564904"/>
            <a:ext cx="6768752" cy="410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9745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Zoom In/Out in Excel 2010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By default, everything on screen is displayed at </a:t>
            </a:r>
            <a:r>
              <a:rPr lang="en-GB" sz="2400" b="1" dirty="0"/>
              <a:t>100%</a:t>
            </a:r>
            <a:r>
              <a:rPr lang="en-GB" sz="2400" dirty="0"/>
              <a:t> in MS Excel</a:t>
            </a:r>
            <a:r>
              <a:rPr lang="en-GB" sz="2400" dirty="0" smtClean="0"/>
              <a:t>.</a:t>
            </a:r>
            <a:endParaRPr lang="en-GB" sz="2400" dirty="0"/>
          </a:p>
          <a:p>
            <a:pPr algn="just"/>
            <a:r>
              <a:rPr lang="en-GB" sz="2400" dirty="0"/>
              <a:t>You can change the zoom percentage from </a:t>
            </a:r>
            <a:r>
              <a:rPr lang="en-GB" sz="2400" b="1" dirty="0"/>
              <a:t>10% </a:t>
            </a:r>
            <a:r>
              <a:rPr lang="en-GB" sz="2400" b="1" dirty="0" smtClean="0"/>
              <a:t>(Minimum) </a:t>
            </a:r>
            <a:r>
              <a:rPr lang="en-GB" sz="2400" dirty="0"/>
              <a:t>to </a:t>
            </a:r>
            <a:r>
              <a:rPr lang="en-GB" sz="2400" b="1" dirty="0"/>
              <a:t>400% </a:t>
            </a:r>
            <a:r>
              <a:rPr lang="en-GB" sz="2400" b="1" dirty="0" smtClean="0"/>
              <a:t>(Maximum).</a:t>
            </a:r>
            <a:endParaRPr lang="en-GB" sz="2400" b="1" dirty="0"/>
          </a:p>
          <a:p>
            <a:pPr algn="just"/>
            <a:r>
              <a:rPr lang="en-GB" sz="2400" dirty="0"/>
              <a:t>Zooming </a:t>
            </a:r>
            <a:r>
              <a:rPr lang="en-GB" sz="2400" b="1" dirty="0"/>
              <a:t>doesn’t change the font size</a:t>
            </a:r>
            <a:r>
              <a:rPr lang="en-GB" sz="2400" dirty="0"/>
              <a:t>, so it has no effect on the printed output.</a:t>
            </a:r>
          </a:p>
        </p:txBody>
      </p:sp>
      <p:pic>
        <p:nvPicPr>
          <p:cNvPr id="7170" name="Picture 2" descr="C:\Users\UCCSMS1\Desktop\images\zoom_slid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492896"/>
            <a:ext cx="6984776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4585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Zoom In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You can zoom in the workbook by moving the slider to the right. </a:t>
            </a:r>
            <a:endParaRPr lang="en-GB" sz="2400" dirty="0" smtClean="0"/>
          </a:p>
          <a:p>
            <a:pPr algn="just"/>
            <a:endParaRPr lang="en-GB" sz="2400" dirty="0" smtClean="0"/>
          </a:p>
          <a:p>
            <a:pPr algn="just"/>
            <a:r>
              <a:rPr lang="en-GB" sz="2400" dirty="0"/>
              <a:t>It will change the only view of the workbook</a:t>
            </a:r>
            <a:r>
              <a:rPr lang="en-GB" sz="2400" dirty="0" smtClean="0"/>
              <a:t>.</a:t>
            </a:r>
          </a:p>
          <a:p>
            <a:pPr algn="just"/>
            <a:endParaRPr lang="en-GB" sz="2400" dirty="0"/>
          </a:p>
        </p:txBody>
      </p:sp>
      <p:pic>
        <p:nvPicPr>
          <p:cNvPr id="8194" name="Picture 2" descr="C:\Users\UCCSMS1\Desktop\images\zoom_i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72816"/>
            <a:ext cx="7992887" cy="48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58066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Zoom 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332656"/>
            <a:ext cx="8884096" cy="6408712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You can zoom out the workbook by moving the slider to the </a:t>
            </a:r>
            <a:r>
              <a:rPr lang="en-GB" sz="2400" dirty="0" smtClean="0"/>
              <a:t>left.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It will change the only view of the workbook. </a:t>
            </a:r>
          </a:p>
        </p:txBody>
      </p:sp>
      <p:pic>
        <p:nvPicPr>
          <p:cNvPr id="9218" name="Picture 2" descr="C:\Users\UCCSMS1\Desktop\images\zoom_o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916832"/>
            <a:ext cx="6912768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72948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 smtClean="0"/>
          </a:p>
          <a:p>
            <a:pPr algn="ctr">
              <a:buFont typeface="Arial" charset="0"/>
              <a:buNone/>
            </a:pPr>
            <a:endParaRPr lang="en-US" b="1" smtClean="0"/>
          </a:p>
          <a:p>
            <a:pPr algn="ctr">
              <a:buFont typeface="Arial" charset="0"/>
              <a:buNone/>
            </a:pPr>
            <a:endParaRPr lang="en-US" sz="3200" b="1" smtClean="0"/>
          </a:p>
        </p:txBody>
      </p:sp>
      <p:pic>
        <p:nvPicPr>
          <p:cNvPr id="4" name="Google Shape;273;p46"/>
          <p:cNvPicPr preferRelativeResize="0"/>
          <p:nvPr/>
        </p:nvPicPr>
        <p:blipFill rotWithShape="1">
          <a:blip r:embed="rId3">
            <a:alphaModFix/>
          </a:blip>
          <a:srcRect b="4789"/>
          <a:stretch/>
        </p:blipFill>
        <p:spPr>
          <a:xfrm>
            <a:off x="2339752" y="1340768"/>
            <a:ext cx="5256584" cy="4104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47202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 smtClean="0"/>
          </a:p>
          <a:p>
            <a:pPr algn="ctr">
              <a:buFont typeface="Arial" charset="0"/>
              <a:buNone/>
            </a:pPr>
            <a:endParaRPr lang="en-US" b="1" smtClean="0"/>
          </a:p>
          <a:p>
            <a:pPr algn="ctr">
              <a:buFont typeface="Arial" charset="0"/>
              <a:buNone/>
            </a:pPr>
            <a:endParaRPr lang="en-US" sz="3200" b="1" smtClean="0"/>
          </a:p>
        </p:txBody>
      </p:sp>
      <p:sp>
        <p:nvSpPr>
          <p:cNvPr id="5" name="Rectangle 4"/>
          <p:cNvSpPr/>
          <p:nvPr/>
        </p:nvSpPr>
        <p:spPr>
          <a:xfrm>
            <a:off x="2071670" y="2967335"/>
            <a:ext cx="5143536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GB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35983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13147</TotalTime>
  <Words>1455</Words>
  <Application>Microsoft Office PowerPoint</Application>
  <PresentationFormat>On-screen Show (4:3)</PresentationFormat>
  <Paragraphs>208</Paragraphs>
  <Slides>38</Slides>
  <Notes>38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PowerPoint Presentation</vt:lpstr>
      <vt:lpstr>PowerPoint Presentation</vt:lpstr>
      <vt:lpstr>Objectives Overview</vt:lpstr>
      <vt:lpstr>Objectives Overview</vt:lpstr>
      <vt:lpstr>Insert Data in Excel 2010</vt:lpstr>
      <vt:lpstr>Inserting Data</vt:lpstr>
      <vt:lpstr>Inserting Formula</vt:lpstr>
      <vt:lpstr>Modifying Cell Content</vt:lpstr>
      <vt:lpstr>Select Data in Excel 2010</vt:lpstr>
      <vt:lpstr>Select Data in Excel 2010</vt:lpstr>
      <vt:lpstr>Select Data in Excel 2010</vt:lpstr>
      <vt:lpstr>Select Data in Excel 2010</vt:lpstr>
      <vt:lpstr>Delete Data in Excel 2010</vt:lpstr>
      <vt:lpstr>Delete Data in Excel 2010</vt:lpstr>
      <vt:lpstr>Delete Data in Excel 2010</vt:lpstr>
      <vt:lpstr>Move Data in Excel 2010</vt:lpstr>
      <vt:lpstr>Move Data in Excel 2010</vt:lpstr>
      <vt:lpstr>Rows &amp; Columns in Excel 2010</vt:lpstr>
      <vt:lpstr>Rows &amp; Columns in Excel 2010</vt:lpstr>
      <vt:lpstr>Navigation with Rows and Columns</vt:lpstr>
      <vt:lpstr>Cell Introduction</vt:lpstr>
      <vt:lpstr>Copy &amp; Paste in Excel 2010</vt:lpstr>
      <vt:lpstr>Copy Paste using Office Clipboard</vt:lpstr>
      <vt:lpstr>Copy Paste in Special way</vt:lpstr>
      <vt:lpstr>Copy Paste in Special way</vt:lpstr>
      <vt:lpstr>Copy Paste in Special way</vt:lpstr>
      <vt:lpstr>Copy Paste in Special way</vt:lpstr>
      <vt:lpstr>Copy Paste in Special way</vt:lpstr>
      <vt:lpstr>Find and Replace Dialogue</vt:lpstr>
      <vt:lpstr>Find and Replace Dialogue</vt:lpstr>
      <vt:lpstr>Find and Replace Dialogue</vt:lpstr>
      <vt:lpstr>Find and Replace Dialogue</vt:lpstr>
      <vt:lpstr>Spell Check in Excel 2010</vt:lpstr>
      <vt:lpstr>Zoom In/Out in Excel 2010</vt:lpstr>
      <vt:lpstr>Zoom In</vt:lpstr>
      <vt:lpstr>Zoom Out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UCCSMS1</cp:lastModifiedBy>
  <cp:revision>400</cp:revision>
  <dcterms:created xsi:type="dcterms:W3CDTF">2008-12-18T17:11:12Z</dcterms:created>
  <dcterms:modified xsi:type="dcterms:W3CDTF">2021-03-24T09:43:31Z</dcterms:modified>
</cp:coreProperties>
</file>
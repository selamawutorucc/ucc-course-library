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83"/>
  </p:notesMasterIdLst>
  <p:sldIdLst>
    <p:sldId id="257" r:id="rId3"/>
    <p:sldId id="258" r:id="rId4"/>
    <p:sldId id="259" r:id="rId5"/>
    <p:sldId id="260" r:id="rId6"/>
    <p:sldId id="261" r:id="rId7"/>
    <p:sldId id="262" r:id="rId8"/>
    <p:sldId id="311" r:id="rId9"/>
    <p:sldId id="263" r:id="rId10"/>
    <p:sldId id="264" r:id="rId11"/>
    <p:sldId id="267" r:id="rId12"/>
    <p:sldId id="268" r:id="rId13"/>
    <p:sldId id="269" r:id="rId14"/>
    <p:sldId id="270" r:id="rId15"/>
    <p:sldId id="318" r:id="rId16"/>
    <p:sldId id="319" r:id="rId17"/>
    <p:sldId id="320" r:id="rId18"/>
    <p:sldId id="271" r:id="rId19"/>
    <p:sldId id="272" r:id="rId20"/>
    <p:sldId id="312" r:id="rId21"/>
    <p:sldId id="313" r:id="rId22"/>
    <p:sldId id="314" r:id="rId23"/>
    <p:sldId id="315" r:id="rId24"/>
    <p:sldId id="273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274" r:id="rId33"/>
    <p:sldId id="316" r:id="rId34"/>
    <p:sldId id="275" r:id="rId35"/>
    <p:sldId id="276" r:id="rId36"/>
    <p:sldId id="277" r:id="rId37"/>
    <p:sldId id="278" r:id="rId38"/>
    <p:sldId id="321" r:id="rId39"/>
    <p:sldId id="322" r:id="rId40"/>
    <p:sldId id="279" r:id="rId41"/>
    <p:sldId id="280" r:id="rId42"/>
    <p:sldId id="323" r:id="rId43"/>
    <p:sldId id="282" r:id="rId44"/>
    <p:sldId id="283" r:id="rId45"/>
    <p:sldId id="284" r:id="rId46"/>
    <p:sldId id="285" r:id="rId47"/>
    <p:sldId id="287" r:id="rId48"/>
    <p:sldId id="288" r:id="rId49"/>
    <p:sldId id="289" r:id="rId50"/>
    <p:sldId id="290" r:id="rId51"/>
    <p:sldId id="291" r:id="rId52"/>
    <p:sldId id="441" r:id="rId53"/>
    <p:sldId id="292" r:id="rId54"/>
    <p:sldId id="294" r:id="rId55"/>
    <p:sldId id="293" r:id="rId56"/>
    <p:sldId id="442" r:id="rId57"/>
    <p:sldId id="443" r:id="rId58"/>
    <p:sldId id="444" r:id="rId59"/>
    <p:sldId id="445" r:id="rId60"/>
    <p:sldId id="446" r:id="rId61"/>
    <p:sldId id="447" r:id="rId62"/>
    <p:sldId id="448" r:id="rId63"/>
    <p:sldId id="449" r:id="rId64"/>
    <p:sldId id="450" r:id="rId65"/>
    <p:sldId id="451" r:id="rId66"/>
    <p:sldId id="452" r:id="rId67"/>
    <p:sldId id="296" r:id="rId68"/>
    <p:sldId id="297" r:id="rId69"/>
    <p:sldId id="298" r:id="rId70"/>
    <p:sldId id="299" r:id="rId71"/>
    <p:sldId id="300" r:id="rId72"/>
    <p:sldId id="301" r:id="rId73"/>
    <p:sldId id="302" r:id="rId74"/>
    <p:sldId id="303" r:id="rId75"/>
    <p:sldId id="305" r:id="rId76"/>
    <p:sldId id="307" r:id="rId77"/>
    <p:sldId id="308" r:id="rId78"/>
    <p:sldId id="309" r:id="rId79"/>
    <p:sldId id="310" r:id="rId80"/>
    <p:sldId id="440" r:id="rId81"/>
    <p:sldId id="384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7477" autoAdjust="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</a:p>
        <a:p>
          <a:r>
            <a:rPr lang="en-US" dirty="0"/>
            <a:t>Microsoft word 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CFB03C24-DEC2-4DE8-99B4-97DD68632BAD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CDA4DFF8-8776-4646-8C8D-838D36B7D432}" type="presOf" srcId="{3DE9E547-3C66-4E5D-9D07-0515EED2B913}" destId="{46A1C575-DE29-4021-A28C-E1E7FA78085E}" srcOrd="0" destOrd="0" presId="urn:microsoft.com/office/officeart/2005/8/layout/default#1"/>
    <dgm:cxn modelId="{1A7CFC9D-7D6F-48C5-A206-BC44CBEFDF93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/>
            <a:t>Explain  Word processing software and list examples</a:t>
          </a:r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/>
            <a:t>Identify common features of word processing software</a:t>
          </a:r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/>
            <a:t>Use Microsoft word</a:t>
          </a:r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/>
            <a:t>Identify Microsoft word’s screen elements, their functions and icons</a:t>
          </a:r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/>
            <a:t>Create a new word document and format it</a:t>
          </a:r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/>
            <a:t>Save the word document created</a:t>
          </a:r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E43CDCF3-D5B2-4556-A6FF-1FBA940E878F}" type="pres">
      <dgm:prSet presAssocID="{F9022B54-68C2-4973-9A00-460029290542}" presName="node" presStyleLbl="node1" presStyleIdx="0" presStyleCnt="6">
        <dgm:presLayoutVars>
          <dgm:bulletEnabled val="1"/>
        </dgm:presLayoutVars>
      </dgm:prSet>
      <dgm:spPr/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6">
        <dgm:presLayoutVars>
          <dgm:bulletEnabled val="1"/>
        </dgm:presLayoutVars>
      </dgm:prSet>
      <dgm:spPr/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6">
        <dgm:presLayoutVars>
          <dgm:bulletEnabled val="1"/>
        </dgm:presLayoutVars>
      </dgm:prSet>
      <dgm:spPr/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6">
        <dgm:presLayoutVars>
          <dgm:bulletEnabled val="1"/>
        </dgm:presLayoutVars>
      </dgm:prSet>
      <dgm:spPr/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6">
        <dgm:presLayoutVars>
          <dgm:bulletEnabled val="1"/>
        </dgm:presLayoutVars>
      </dgm:prSet>
      <dgm:spPr/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6">
        <dgm:presLayoutVars>
          <dgm:bulletEnabled val="1"/>
        </dgm:presLayoutVars>
      </dgm:prSet>
      <dgm:spPr/>
    </dgm:pt>
  </dgm:ptLst>
  <dgm:cxnLst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B844AA81-47A0-44E9-BA4D-8ECC9A0878E5}" type="presOf" srcId="{3DE9E547-3C66-4E5D-9D07-0515EED2B913}" destId="{46A1C575-DE29-4021-A28C-E1E7FA78085E}" srcOrd="0" destOrd="0" presId="urn:microsoft.com/office/officeart/2005/8/layout/default#1"/>
    <dgm:cxn modelId="{20195385-0436-4C38-9E6A-615554B05C6D}" type="presOf" srcId="{23F2D5E2-61FA-40AD-9F7D-BF405C8CDFAE}" destId="{126D987F-03E4-4E3A-BED9-08B6BA3A15AB}" srcOrd="0" destOrd="0" presId="urn:microsoft.com/office/officeart/2005/8/layout/default#1"/>
    <dgm:cxn modelId="{46A1A78A-313F-4D32-B368-808183CCB841}" type="presOf" srcId="{0C2A3C5A-0AE4-41C1-AA5D-5BC4E760C57F}" destId="{D944875E-4200-44D3-9F4D-D995865E5F68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7F437CA4-6949-4DFD-8EE3-878AABE8E94F}" type="presOf" srcId="{BBBB9B4E-DA71-45DE-92BC-1EF247E5F9B2}" destId="{08678D36-F832-48B7-8548-C43AEE1F6A43}" srcOrd="0" destOrd="0" presId="urn:microsoft.com/office/officeart/2005/8/layout/default#1"/>
    <dgm:cxn modelId="{77A037A6-0E4F-4456-AE8C-484F379C2313}" type="presOf" srcId="{D032DDD3-5BE8-4773-89B2-68CD8965B3E6}" destId="{A0EFA616-1553-4077-9D32-88AE20AC0552}" srcOrd="0" destOrd="0" presId="urn:microsoft.com/office/officeart/2005/8/layout/default#1"/>
    <dgm:cxn modelId="{4CBF42B7-536C-4256-A4F5-2DFA8A8AC7AB}" type="presOf" srcId="{C11B75ED-B46B-4BF2-80F2-DA583A75044E}" destId="{D32AB574-D896-42B8-809A-74BD322B19E9}" srcOrd="0" destOrd="0" presId="urn:microsoft.com/office/officeart/2005/8/layout/default#1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4A66E2DF-18D9-4C8D-9626-BB2A8F899856}" type="presOf" srcId="{F9022B54-68C2-4973-9A00-460029290542}" destId="{E43CDCF3-D5B2-4556-A6FF-1FBA940E878F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E2D7DA9C-DA50-4321-A400-1A64D5BBBC94}" type="presParOf" srcId="{46A1C575-DE29-4021-A28C-E1E7FA78085E}" destId="{E43CDCF3-D5B2-4556-A6FF-1FBA940E878F}" srcOrd="0" destOrd="0" presId="urn:microsoft.com/office/officeart/2005/8/layout/default#1"/>
    <dgm:cxn modelId="{F3C300AE-0123-4A7B-B84B-7EE18EF96F26}" type="presParOf" srcId="{46A1C575-DE29-4021-A28C-E1E7FA78085E}" destId="{54066D3B-676A-41CA-98B3-C0905E22B6EF}" srcOrd="1" destOrd="0" presId="urn:microsoft.com/office/officeart/2005/8/layout/default#1"/>
    <dgm:cxn modelId="{0A7E5B7A-256E-4F1A-93B5-7AC87D071D54}" type="presParOf" srcId="{46A1C575-DE29-4021-A28C-E1E7FA78085E}" destId="{08678D36-F832-48B7-8548-C43AEE1F6A43}" srcOrd="2" destOrd="0" presId="urn:microsoft.com/office/officeart/2005/8/layout/default#1"/>
    <dgm:cxn modelId="{E99F169F-E5D8-4475-87FA-792D5E69D950}" type="presParOf" srcId="{46A1C575-DE29-4021-A28C-E1E7FA78085E}" destId="{94E3CC2B-92E4-4B0C-B930-B4411572BF9F}" srcOrd="3" destOrd="0" presId="urn:microsoft.com/office/officeart/2005/8/layout/default#1"/>
    <dgm:cxn modelId="{889DA6B5-1B0E-4264-8FAA-0512DBE3CD72}" type="presParOf" srcId="{46A1C575-DE29-4021-A28C-E1E7FA78085E}" destId="{D32AB574-D896-42B8-809A-74BD322B19E9}" srcOrd="4" destOrd="0" presId="urn:microsoft.com/office/officeart/2005/8/layout/default#1"/>
    <dgm:cxn modelId="{7354CCEC-5E78-4DC1-857A-A589DA12DDEA}" type="presParOf" srcId="{46A1C575-DE29-4021-A28C-E1E7FA78085E}" destId="{8FCDC96A-B844-4560-9827-3799EB37A607}" srcOrd="5" destOrd="0" presId="urn:microsoft.com/office/officeart/2005/8/layout/default#1"/>
    <dgm:cxn modelId="{C3723325-097A-4A34-AE71-CF11895F5439}" type="presParOf" srcId="{46A1C575-DE29-4021-A28C-E1E7FA78085E}" destId="{126D987F-03E4-4E3A-BED9-08B6BA3A15AB}" srcOrd="6" destOrd="0" presId="urn:microsoft.com/office/officeart/2005/8/layout/default#1"/>
    <dgm:cxn modelId="{3AD3BF7D-0670-429C-94B1-2CC0432D784A}" type="presParOf" srcId="{46A1C575-DE29-4021-A28C-E1E7FA78085E}" destId="{E35D6D9B-6CD2-4458-885A-62ADB7B92653}" srcOrd="7" destOrd="0" presId="urn:microsoft.com/office/officeart/2005/8/layout/default#1"/>
    <dgm:cxn modelId="{8C77DC0D-8444-435A-AA0D-C6D98008BB7E}" type="presParOf" srcId="{46A1C575-DE29-4021-A28C-E1E7FA78085E}" destId="{A0EFA616-1553-4077-9D32-88AE20AC0552}" srcOrd="8" destOrd="0" presId="urn:microsoft.com/office/officeart/2005/8/layout/default#1"/>
    <dgm:cxn modelId="{3391B0E0-B3FC-4C82-8C6E-D7DF6954D0B9}" type="presParOf" srcId="{46A1C575-DE29-4021-A28C-E1E7FA78085E}" destId="{4543EDFD-DAD7-4CC1-8700-DF379CC38E62}" srcOrd="9" destOrd="0" presId="urn:microsoft.com/office/officeart/2005/8/layout/default#1"/>
    <dgm:cxn modelId="{BC99442F-4C12-4187-96D5-6A3FEA13A2E2}" type="presParOf" srcId="{46A1C575-DE29-4021-A28C-E1E7FA78085E}" destId="{D944875E-4200-44D3-9F4D-D995865E5F68}" srcOrd="1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BC15C7-9BC5-433D-92A7-BCC39A2CC830}" type="doc">
      <dgm:prSet loTypeId="urn:microsoft.com/office/officeart/2005/8/layout/default#2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106D101-98E2-4ADD-B050-08FB6FD9C7E3}">
      <dgm:prSet phldrT="[Text]"/>
      <dgm:spPr/>
      <dgm:t>
        <a:bodyPr/>
        <a:lstStyle/>
        <a:p>
          <a:r>
            <a:rPr lang="en-US" dirty="0"/>
            <a:t>Open a word document</a:t>
          </a:r>
        </a:p>
      </dgm:t>
    </dgm:pt>
    <dgm:pt modelId="{685FBDA6-CC85-496D-A170-BC99493577D0}" type="parTrans" cxnId="{F6B034F9-891C-437A-8AF1-AD1C485BC557}">
      <dgm:prSet/>
      <dgm:spPr/>
      <dgm:t>
        <a:bodyPr/>
        <a:lstStyle/>
        <a:p>
          <a:endParaRPr lang="en-US"/>
        </a:p>
      </dgm:t>
    </dgm:pt>
    <dgm:pt modelId="{1B976BB2-06E8-4BEE-A370-A1865A421EA8}" type="sibTrans" cxnId="{F6B034F9-891C-437A-8AF1-AD1C485BC557}">
      <dgm:prSet/>
      <dgm:spPr/>
      <dgm:t>
        <a:bodyPr/>
        <a:lstStyle/>
        <a:p>
          <a:endParaRPr lang="en-US"/>
        </a:p>
      </dgm:t>
    </dgm:pt>
    <dgm:pt modelId="{F8464089-4A9A-4F75-86F6-AE885BB86749}">
      <dgm:prSet/>
      <dgm:spPr/>
      <dgm:t>
        <a:bodyPr/>
        <a:lstStyle/>
        <a:p>
          <a:r>
            <a:rPr lang="en-US" dirty="0"/>
            <a:t>Close a word document</a:t>
          </a:r>
        </a:p>
      </dgm:t>
    </dgm:pt>
    <dgm:pt modelId="{B77C631E-A362-4A79-AC78-2B45AF12F6C1}" type="parTrans" cxnId="{988CD545-9795-4210-BE41-3F19DD5C02A9}">
      <dgm:prSet/>
      <dgm:spPr/>
      <dgm:t>
        <a:bodyPr/>
        <a:lstStyle/>
        <a:p>
          <a:endParaRPr lang="en-US"/>
        </a:p>
      </dgm:t>
    </dgm:pt>
    <dgm:pt modelId="{739A434B-58A9-4ED4-9CC0-D6FB560B3715}" type="sibTrans" cxnId="{988CD545-9795-4210-BE41-3F19DD5C02A9}">
      <dgm:prSet/>
      <dgm:spPr/>
      <dgm:t>
        <a:bodyPr/>
        <a:lstStyle/>
        <a:p>
          <a:endParaRPr lang="en-US"/>
        </a:p>
      </dgm:t>
    </dgm:pt>
    <dgm:pt modelId="{37C4EC0F-9771-46D3-AC43-504983863832}">
      <dgm:prSet/>
      <dgm:spPr/>
      <dgm:t>
        <a:bodyPr/>
        <a:lstStyle/>
        <a:p>
          <a:r>
            <a:rPr lang="en-US" dirty="0"/>
            <a:t>Insert text</a:t>
          </a:r>
        </a:p>
      </dgm:t>
    </dgm:pt>
    <dgm:pt modelId="{8E0343A0-E2DE-43EC-AD17-7D72A3575FC7}" type="parTrans" cxnId="{E4773F63-0D8C-4097-8EEB-938B06EB2B86}">
      <dgm:prSet/>
      <dgm:spPr/>
      <dgm:t>
        <a:bodyPr/>
        <a:lstStyle/>
        <a:p>
          <a:endParaRPr lang="en-US"/>
        </a:p>
      </dgm:t>
    </dgm:pt>
    <dgm:pt modelId="{904F759B-3B01-405E-BB0F-927C9B2C9C2B}" type="sibTrans" cxnId="{E4773F63-0D8C-4097-8EEB-938B06EB2B86}">
      <dgm:prSet/>
      <dgm:spPr/>
      <dgm:t>
        <a:bodyPr/>
        <a:lstStyle/>
        <a:p>
          <a:endParaRPr lang="en-US"/>
        </a:p>
      </dgm:t>
    </dgm:pt>
    <dgm:pt modelId="{10F34BB3-F7A7-4010-BA50-7796EE393FA7}">
      <dgm:prSet/>
      <dgm:spPr/>
      <dgm:t>
        <a:bodyPr/>
        <a:lstStyle/>
        <a:p>
          <a:r>
            <a:rPr lang="en-US" dirty="0"/>
            <a:t>Select text</a:t>
          </a:r>
        </a:p>
      </dgm:t>
    </dgm:pt>
    <dgm:pt modelId="{3D9645E2-1626-42A6-A7A8-0890EF9B288F}" type="parTrans" cxnId="{25039054-E572-4533-BDAA-AD143A4368FF}">
      <dgm:prSet/>
      <dgm:spPr/>
      <dgm:t>
        <a:bodyPr/>
        <a:lstStyle/>
        <a:p>
          <a:endParaRPr lang="en-US"/>
        </a:p>
      </dgm:t>
    </dgm:pt>
    <dgm:pt modelId="{C95EE4EA-F9D9-4AD5-8E4B-31BFB0A4AD0C}" type="sibTrans" cxnId="{25039054-E572-4533-BDAA-AD143A4368FF}">
      <dgm:prSet/>
      <dgm:spPr/>
      <dgm:t>
        <a:bodyPr/>
        <a:lstStyle/>
        <a:p>
          <a:endParaRPr lang="en-US"/>
        </a:p>
      </dgm:t>
    </dgm:pt>
    <dgm:pt modelId="{7C78F67E-DE05-4986-8026-E07D3D702A17}">
      <dgm:prSet/>
      <dgm:spPr/>
      <dgm:t>
        <a:bodyPr/>
        <a:lstStyle/>
        <a:p>
          <a:r>
            <a:rPr lang="en-US" dirty="0"/>
            <a:t>Delete text</a:t>
          </a:r>
        </a:p>
      </dgm:t>
    </dgm:pt>
    <dgm:pt modelId="{C8FA6969-7144-4B17-ACA7-F53B2F099274}" type="parTrans" cxnId="{226AF6C4-44BC-455C-B6E7-45F9EEFDEF54}">
      <dgm:prSet/>
      <dgm:spPr/>
      <dgm:t>
        <a:bodyPr/>
        <a:lstStyle/>
        <a:p>
          <a:endParaRPr lang="en-US"/>
        </a:p>
      </dgm:t>
    </dgm:pt>
    <dgm:pt modelId="{48568347-6EDD-4F0F-B018-58D3201CB691}" type="sibTrans" cxnId="{226AF6C4-44BC-455C-B6E7-45F9EEFDEF54}">
      <dgm:prSet/>
      <dgm:spPr/>
      <dgm:t>
        <a:bodyPr/>
        <a:lstStyle/>
        <a:p>
          <a:endParaRPr lang="en-US"/>
        </a:p>
      </dgm:t>
    </dgm:pt>
    <dgm:pt modelId="{0283AAF8-8E6B-4228-934C-18F9A9076AC0}" type="pres">
      <dgm:prSet presAssocID="{3DBC15C7-9BC5-433D-92A7-BCC39A2CC830}" presName="diagram" presStyleCnt="0">
        <dgm:presLayoutVars>
          <dgm:dir/>
          <dgm:resizeHandles val="exact"/>
        </dgm:presLayoutVars>
      </dgm:prSet>
      <dgm:spPr/>
    </dgm:pt>
    <dgm:pt modelId="{2C05064A-AF3B-4300-BA44-77588901B427}" type="pres">
      <dgm:prSet presAssocID="{D106D101-98E2-4ADD-B050-08FB6FD9C7E3}" presName="node" presStyleLbl="node1" presStyleIdx="0" presStyleCnt="5">
        <dgm:presLayoutVars>
          <dgm:bulletEnabled val="1"/>
        </dgm:presLayoutVars>
      </dgm:prSet>
      <dgm:spPr/>
    </dgm:pt>
    <dgm:pt modelId="{EDCDCE41-86BA-475A-A518-EA8E02F91814}" type="pres">
      <dgm:prSet presAssocID="{1B976BB2-06E8-4BEE-A370-A1865A421EA8}" presName="sibTrans" presStyleCnt="0"/>
      <dgm:spPr/>
    </dgm:pt>
    <dgm:pt modelId="{78E50E59-2D61-469F-90EB-61D50540AF76}" type="pres">
      <dgm:prSet presAssocID="{F8464089-4A9A-4F75-86F6-AE885BB86749}" presName="node" presStyleLbl="node1" presStyleIdx="1" presStyleCnt="5">
        <dgm:presLayoutVars>
          <dgm:bulletEnabled val="1"/>
        </dgm:presLayoutVars>
      </dgm:prSet>
      <dgm:spPr/>
    </dgm:pt>
    <dgm:pt modelId="{EE375F89-EB64-42AA-AADD-FC4D73FD6AB3}" type="pres">
      <dgm:prSet presAssocID="{739A434B-58A9-4ED4-9CC0-D6FB560B3715}" presName="sibTrans" presStyleCnt="0"/>
      <dgm:spPr/>
    </dgm:pt>
    <dgm:pt modelId="{CA6D4895-767A-41FC-AA1D-E44C43383021}" type="pres">
      <dgm:prSet presAssocID="{37C4EC0F-9771-46D3-AC43-504983863832}" presName="node" presStyleLbl="node1" presStyleIdx="2" presStyleCnt="5">
        <dgm:presLayoutVars>
          <dgm:bulletEnabled val="1"/>
        </dgm:presLayoutVars>
      </dgm:prSet>
      <dgm:spPr/>
    </dgm:pt>
    <dgm:pt modelId="{41C0A361-2D24-4CA8-BA9D-3BF46B644A30}" type="pres">
      <dgm:prSet presAssocID="{904F759B-3B01-405E-BB0F-927C9B2C9C2B}" presName="sibTrans" presStyleCnt="0"/>
      <dgm:spPr/>
    </dgm:pt>
    <dgm:pt modelId="{6CE1FDA2-9B33-4C87-8A66-B5121E5141DD}" type="pres">
      <dgm:prSet presAssocID="{10F34BB3-F7A7-4010-BA50-7796EE393FA7}" presName="node" presStyleLbl="node1" presStyleIdx="3" presStyleCnt="5">
        <dgm:presLayoutVars>
          <dgm:bulletEnabled val="1"/>
        </dgm:presLayoutVars>
      </dgm:prSet>
      <dgm:spPr/>
    </dgm:pt>
    <dgm:pt modelId="{A9E975FC-DD05-447A-B816-16F20628025C}" type="pres">
      <dgm:prSet presAssocID="{C95EE4EA-F9D9-4AD5-8E4B-31BFB0A4AD0C}" presName="sibTrans" presStyleCnt="0"/>
      <dgm:spPr/>
    </dgm:pt>
    <dgm:pt modelId="{A3CFB6C1-AB2E-4C26-9483-C7BA772609A7}" type="pres">
      <dgm:prSet presAssocID="{7C78F67E-DE05-4986-8026-E07D3D702A17}" presName="node" presStyleLbl="node1" presStyleIdx="4" presStyleCnt="5">
        <dgm:presLayoutVars>
          <dgm:bulletEnabled val="1"/>
        </dgm:presLayoutVars>
      </dgm:prSet>
      <dgm:spPr/>
    </dgm:pt>
  </dgm:ptLst>
  <dgm:cxnLst>
    <dgm:cxn modelId="{399A341E-A1D3-4D89-91E9-49A31198A1D1}" type="presOf" srcId="{D106D101-98E2-4ADD-B050-08FB6FD9C7E3}" destId="{2C05064A-AF3B-4300-BA44-77588901B427}" srcOrd="0" destOrd="0" presId="urn:microsoft.com/office/officeart/2005/8/layout/default#2"/>
    <dgm:cxn modelId="{884F9B62-755C-4D2A-846A-7ADD82F6A1E8}" type="presOf" srcId="{37C4EC0F-9771-46D3-AC43-504983863832}" destId="{CA6D4895-767A-41FC-AA1D-E44C43383021}" srcOrd="0" destOrd="0" presId="urn:microsoft.com/office/officeart/2005/8/layout/default#2"/>
    <dgm:cxn modelId="{E4773F63-0D8C-4097-8EEB-938B06EB2B86}" srcId="{3DBC15C7-9BC5-433D-92A7-BCC39A2CC830}" destId="{37C4EC0F-9771-46D3-AC43-504983863832}" srcOrd="2" destOrd="0" parTransId="{8E0343A0-E2DE-43EC-AD17-7D72A3575FC7}" sibTransId="{904F759B-3B01-405E-BB0F-927C9B2C9C2B}"/>
    <dgm:cxn modelId="{988CD545-9795-4210-BE41-3F19DD5C02A9}" srcId="{3DBC15C7-9BC5-433D-92A7-BCC39A2CC830}" destId="{F8464089-4A9A-4F75-86F6-AE885BB86749}" srcOrd="1" destOrd="0" parTransId="{B77C631E-A362-4A79-AC78-2B45AF12F6C1}" sibTransId="{739A434B-58A9-4ED4-9CC0-D6FB560B3715}"/>
    <dgm:cxn modelId="{3366E667-EEEA-4E18-B0E8-784DED018E1A}" type="presOf" srcId="{7C78F67E-DE05-4986-8026-E07D3D702A17}" destId="{A3CFB6C1-AB2E-4C26-9483-C7BA772609A7}" srcOrd="0" destOrd="0" presId="urn:microsoft.com/office/officeart/2005/8/layout/default#2"/>
    <dgm:cxn modelId="{B12B3D6A-FE12-4D94-AA17-E9E919017EF2}" type="presOf" srcId="{10F34BB3-F7A7-4010-BA50-7796EE393FA7}" destId="{6CE1FDA2-9B33-4C87-8A66-B5121E5141DD}" srcOrd="0" destOrd="0" presId="urn:microsoft.com/office/officeart/2005/8/layout/default#2"/>
    <dgm:cxn modelId="{25039054-E572-4533-BDAA-AD143A4368FF}" srcId="{3DBC15C7-9BC5-433D-92A7-BCC39A2CC830}" destId="{10F34BB3-F7A7-4010-BA50-7796EE393FA7}" srcOrd="3" destOrd="0" parTransId="{3D9645E2-1626-42A6-A7A8-0890EF9B288F}" sibTransId="{C95EE4EA-F9D9-4AD5-8E4B-31BFB0A4AD0C}"/>
    <dgm:cxn modelId="{05AC4F75-EFD7-4523-A5DF-96493B613578}" type="presOf" srcId="{3DBC15C7-9BC5-433D-92A7-BCC39A2CC830}" destId="{0283AAF8-8E6B-4228-934C-18F9A9076AC0}" srcOrd="0" destOrd="0" presId="urn:microsoft.com/office/officeart/2005/8/layout/default#2"/>
    <dgm:cxn modelId="{161BB4B0-AAA3-406E-8245-CA01D83836B7}" type="presOf" srcId="{F8464089-4A9A-4F75-86F6-AE885BB86749}" destId="{78E50E59-2D61-469F-90EB-61D50540AF76}" srcOrd="0" destOrd="0" presId="urn:microsoft.com/office/officeart/2005/8/layout/default#2"/>
    <dgm:cxn modelId="{226AF6C4-44BC-455C-B6E7-45F9EEFDEF54}" srcId="{3DBC15C7-9BC5-433D-92A7-BCC39A2CC830}" destId="{7C78F67E-DE05-4986-8026-E07D3D702A17}" srcOrd="4" destOrd="0" parTransId="{C8FA6969-7144-4B17-ACA7-F53B2F099274}" sibTransId="{48568347-6EDD-4F0F-B018-58D3201CB691}"/>
    <dgm:cxn modelId="{F6B034F9-891C-437A-8AF1-AD1C485BC557}" srcId="{3DBC15C7-9BC5-433D-92A7-BCC39A2CC830}" destId="{D106D101-98E2-4ADD-B050-08FB6FD9C7E3}" srcOrd="0" destOrd="0" parTransId="{685FBDA6-CC85-496D-A170-BC99493577D0}" sibTransId="{1B976BB2-06E8-4BEE-A370-A1865A421EA8}"/>
    <dgm:cxn modelId="{0094B616-2613-419D-8C31-34DB7E3FCA6B}" type="presParOf" srcId="{0283AAF8-8E6B-4228-934C-18F9A9076AC0}" destId="{2C05064A-AF3B-4300-BA44-77588901B427}" srcOrd="0" destOrd="0" presId="urn:microsoft.com/office/officeart/2005/8/layout/default#2"/>
    <dgm:cxn modelId="{AB5A32BD-CE39-4D1B-A111-3D9BE61A5056}" type="presParOf" srcId="{0283AAF8-8E6B-4228-934C-18F9A9076AC0}" destId="{EDCDCE41-86BA-475A-A518-EA8E02F91814}" srcOrd="1" destOrd="0" presId="urn:microsoft.com/office/officeart/2005/8/layout/default#2"/>
    <dgm:cxn modelId="{6A0C4AF5-C4EE-4995-8076-C32ADEBD1BBE}" type="presParOf" srcId="{0283AAF8-8E6B-4228-934C-18F9A9076AC0}" destId="{78E50E59-2D61-469F-90EB-61D50540AF76}" srcOrd="2" destOrd="0" presId="urn:microsoft.com/office/officeart/2005/8/layout/default#2"/>
    <dgm:cxn modelId="{6D41671F-CB14-4D1D-A236-5EEFD7B253EA}" type="presParOf" srcId="{0283AAF8-8E6B-4228-934C-18F9A9076AC0}" destId="{EE375F89-EB64-42AA-AADD-FC4D73FD6AB3}" srcOrd="3" destOrd="0" presId="urn:microsoft.com/office/officeart/2005/8/layout/default#2"/>
    <dgm:cxn modelId="{81A10995-9FC9-43AE-9206-2EFC777A0937}" type="presParOf" srcId="{0283AAF8-8E6B-4228-934C-18F9A9076AC0}" destId="{CA6D4895-767A-41FC-AA1D-E44C43383021}" srcOrd="4" destOrd="0" presId="urn:microsoft.com/office/officeart/2005/8/layout/default#2"/>
    <dgm:cxn modelId="{9B6A7550-F310-4C06-87BF-80D341F433C0}" type="presParOf" srcId="{0283AAF8-8E6B-4228-934C-18F9A9076AC0}" destId="{41C0A361-2D24-4CA8-BA9D-3BF46B644A30}" srcOrd="5" destOrd="0" presId="urn:microsoft.com/office/officeart/2005/8/layout/default#2"/>
    <dgm:cxn modelId="{16862D9D-939B-4347-99BA-63EB4B4D062C}" type="presParOf" srcId="{0283AAF8-8E6B-4228-934C-18F9A9076AC0}" destId="{6CE1FDA2-9B33-4C87-8A66-B5121E5141DD}" srcOrd="6" destOrd="0" presId="urn:microsoft.com/office/officeart/2005/8/layout/default#2"/>
    <dgm:cxn modelId="{6F79063B-7783-4DA8-8F14-5E00E42AAE4F}" type="presParOf" srcId="{0283AAF8-8E6B-4228-934C-18F9A9076AC0}" destId="{A9E975FC-DD05-447A-B816-16F20628025C}" srcOrd="7" destOrd="0" presId="urn:microsoft.com/office/officeart/2005/8/layout/default#2"/>
    <dgm:cxn modelId="{00DF4FF7-31C1-49F7-ACC5-86B0CB64E908}" type="presParOf" srcId="{0283AAF8-8E6B-4228-934C-18F9A9076AC0}" destId="{A3CFB6C1-AB2E-4C26-9483-C7BA772609A7}" srcOrd="8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Introduction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to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Microsoft word </a:t>
          </a:r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Explain  Word processing software and list examples</a:t>
          </a:r>
        </a:p>
      </dsp:txBody>
      <dsp:txXfrm>
        <a:off x="0" y="528637"/>
        <a:ext cx="2762250" cy="1657349"/>
      </dsp:txXfrm>
    </dsp:sp>
    <dsp:sp modelId="{08678D36-F832-48B7-8548-C43AEE1F6A43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Identify common features of word processing software</a:t>
          </a:r>
        </a:p>
      </dsp:txBody>
      <dsp:txXfrm>
        <a:off x="3038474" y="528637"/>
        <a:ext cx="2762250" cy="1657349"/>
      </dsp:txXfrm>
    </dsp:sp>
    <dsp:sp modelId="{D32AB574-D896-42B8-809A-74BD322B19E9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Use Microsoft word</a:t>
          </a:r>
        </a:p>
      </dsp:txBody>
      <dsp:txXfrm>
        <a:off x="6076950" y="528637"/>
        <a:ext cx="2762250" cy="1657349"/>
      </dsp:txXfrm>
    </dsp:sp>
    <dsp:sp modelId="{126D987F-03E4-4E3A-BED9-08B6BA3A15AB}">
      <dsp:nvSpPr>
        <dsp:cNvPr id="0" name=""/>
        <dsp:cNvSpPr/>
      </dsp:nvSpPr>
      <dsp:spPr>
        <a:xfrm>
          <a:off x="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Identify Microsoft word’s screen elements, their functions and icons</a:t>
          </a:r>
        </a:p>
      </dsp:txBody>
      <dsp:txXfrm>
        <a:off x="0" y="2462212"/>
        <a:ext cx="2762250" cy="1657349"/>
      </dsp:txXfrm>
    </dsp:sp>
    <dsp:sp modelId="{A0EFA616-1553-4077-9D32-88AE20AC0552}">
      <dsp:nvSpPr>
        <dsp:cNvPr id="0" name=""/>
        <dsp:cNvSpPr/>
      </dsp:nvSpPr>
      <dsp:spPr>
        <a:xfrm>
          <a:off x="3038474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Create a new word document and format it</a:t>
          </a:r>
        </a:p>
      </dsp:txBody>
      <dsp:txXfrm>
        <a:off x="3038474" y="2462212"/>
        <a:ext cx="2762250" cy="1657349"/>
      </dsp:txXfrm>
    </dsp:sp>
    <dsp:sp modelId="{D944875E-4200-44D3-9F4D-D995865E5F68}">
      <dsp:nvSpPr>
        <dsp:cNvPr id="0" name=""/>
        <dsp:cNvSpPr/>
      </dsp:nvSpPr>
      <dsp:spPr>
        <a:xfrm>
          <a:off x="607695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Save the word document created</a:t>
          </a:r>
        </a:p>
      </dsp:txBody>
      <dsp:txXfrm>
        <a:off x="6076950" y="2462212"/>
        <a:ext cx="2762250" cy="16573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5064A-AF3B-4300-BA44-77588901B427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Open a word document</a:t>
          </a:r>
        </a:p>
      </dsp:txBody>
      <dsp:txXfrm>
        <a:off x="0" y="528637"/>
        <a:ext cx="2762250" cy="1657349"/>
      </dsp:txXfrm>
    </dsp:sp>
    <dsp:sp modelId="{78E50E59-2D61-469F-90EB-61D50540AF76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Close a word document</a:t>
          </a:r>
        </a:p>
      </dsp:txBody>
      <dsp:txXfrm>
        <a:off x="3038474" y="528637"/>
        <a:ext cx="2762250" cy="1657349"/>
      </dsp:txXfrm>
    </dsp:sp>
    <dsp:sp modelId="{CA6D4895-767A-41FC-AA1D-E44C43383021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Insert text</a:t>
          </a:r>
        </a:p>
      </dsp:txBody>
      <dsp:txXfrm>
        <a:off x="6076950" y="528637"/>
        <a:ext cx="2762250" cy="1657349"/>
      </dsp:txXfrm>
    </dsp:sp>
    <dsp:sp modelId="{6CE1FDA2-9B33-4C87-8A66-B5121E5141DD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Select text</a:t>
          </a:r>
        </a:p>
      </dsp:txBody>
      <dsp:txXfrm>
        <a:off x="1519237" y="2462212"/>
        <a:ext cx="2762250" cy="1657349"/>
      </dsp:txXfrm>
    </dsp:sp>
    <dsp:sp modelId="{A3CFB6C1-AB2E-4C26-9483-C7BA772609A7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Delete text</a:t>
          </a:r>
        </a:p>
      </dsp:txBody>
      <dsp:txXfrm>
        <a:off x="4557712" y="2462212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A78F5-C906-4840-821F-EB8A58806764}" type="datetimeFigureOut">
              <a:rPr lang="en-GB" smtClean="0"/>
              <a:t>23/01/2023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CC33EB-5A10-426B-A8E7-C3CEEAD2C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178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944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127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931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181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698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706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581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406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589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25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805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394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664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328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317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938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4134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133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733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9772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3812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503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746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6936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3674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0317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9065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2876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4712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9052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051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1252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9422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4503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0655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1195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4958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8841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4453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1066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2528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6304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4670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7187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4863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7070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5570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3538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0423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116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7759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09453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00608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13263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8638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1270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2548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94265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7251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58370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6880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9080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21040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97438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47779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94881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95509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09463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4043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54170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27041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79</a:t>
            </a:fld>
            <a:endParaRPr lang="en-US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80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625600" y="5486400"/>
            <a:ext cx="4775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algn="ctr">
              <a:spcBef>
                <a:spcPct val="0"/>
              </a:spcBef>
              <a:defRPr/>
            </a:pPr>
            <a:r>
              <a:rPr lang="en-US" sz="2000" dirty="0">
                <a:solidFill>
                  <a:prstClr val="black"/>
                </a:solidFill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6502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Arial Black" pitchFamily="34" charset="0"/>
              </a:rPr>
              <a:t>Discovering </a:t>
            </a:r>
            <a:br>
              <a:rPr lang="en-US" sz="3200" dirty="0">
                <a:solidFill>
                  <a:prstClr val="black"/>
                </a:solidFill>
                <a:latin typeface="Arial Black" pitchFamily="34" charset="0"/>
              </a:rPr>
            </a:br>
            <a:r>
              <a:rPr lang="en-US" sz="3200" dirty="0">
                <a:solidFill>
                  <a:prstClr val="black"/>
                </a:solidFill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15475" y="3276600"/>
            <a:ext cx="527652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2192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596857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600200"/>
            <a:ext cx="117856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03200" y="6400800"/>
            <a:ext cx="22352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1600" y="6370638"/>
            <a:ext cx="629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63908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8194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03200" y="6400800"/>
            <a:ext cx="22352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43925340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03200" y="6400800"/>
            <a:ext cx="22352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0124310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5223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81695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2769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996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6950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21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625600" y="5486400"/>
            <a:ext cx="4775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algn="ctr">
              <a:spcBef>
                <a:spcPct val="0"/>
              </a:spcBef>
              <a:defRPr/>
            </a:pPr>
            <a:r>
              <a:rPr lang="en-US" sz="2000" dirty="0">
                <a:solidFill>
                  <a:prstClr val="black"/>
                </a:solidFill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6502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Arial Black" pitchFamily="34" charset="0"/>
              </a:rPr>
              <a:t>Discovering </a:t>
            </a:r>
            <a:br>
              <a:rPr lang="en-US" sz="3200" dirty="0">
                <a:solidFill>
                  <a:prstClr val="black"/>
                </a:solidFill>
                <a:latin typeface="Arial Black" pitchFamily="34" charset="0"/>
              </a:rPr>
            </a:br>
            <a:r>
              <a:rPr lang="en-US" sz="3200" dirty="0">
                <a:solidFill>
                  <a:prstClr val="black"/>
                </a:solidFill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15475" y="3276600"/>
            <a:ext cx="527652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2192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308846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600200"/>
            <a:ext cx="117856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03200" y="6400800"/>
            <a:ext cx="22352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1600" y="6370638"/>
            <a:ext cx="629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66448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7926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03200" y="6400800"/>
            <a:ext cx="22352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6934911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03200" y="6400800"/>
            <a:ext cx="22352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23382483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8593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5328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2521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39205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8983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69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0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200" y="152400"/>
            <a:ext cx="1178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600200"/>
            <a:ext cx="117856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1600" y="6370638"/>
            <a:ext cx="629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12192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1379200" y="6248400"/>
            <a:ext cx="8128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00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200" y="152400"/>
            <a:ext cx="1178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600200"/>
            <a:ext cx="117856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1600" y="6370638"/>
            <a:ext cx="629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Discovering Computers 2012: Chapter 1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12192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1379200" y="6248400"/>
            <a:ext cx="8128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923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8059318"/>
              </p:ext>
            </p:extLst>
          </p:nvPr>
        </p:nvGraphicFramePr>
        <p:xfrm>
          <a:off x="1676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726486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676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47550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676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11890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8E50E59-2D61-469F-90EB-61D50540AF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78E50E59-2D61-469F-90EB-61D50540AF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6D4895-767A-41FC-AA1D-E44C43383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CA6D4895-767A-41FC-AA1D-E44C43383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E1FDA2-9B33-4C87-8A66-B5121E5141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6CE1FDA2-9B33-4C87-8A66-B5121E5141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3CFB6C1-AB2E-4C26-9483-C7BA772609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A3CFB6C1-AB2E-4C26-9483-C7BA772609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Word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29555"/>
            <a:ext cx="12192000" cy="497124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Word processing </a:t>
            </a:r>
            <a:r>
              <a:rPr lang="en-GB" dirty="0"/>
              <a:t> allows you to </a:t>
            </a:r>
            <a:r>
              <a:rPr lang="en-GB" b="1" dirty="0"/>
              <a:t>create</a:t>
            </a:r>
            <a:r>
              <a:rPr lang="en-GB" dirty="0"/>
              <a:t> and </a:t>
            </a:r>
            <a:r>
              <a:rPr lang="en-GB" b="1" dirty="0"/>
              <a:t>edit</a:t>
            </a:r>
            <a:r>
              <a:rPr lang="en-GB" dirty="0"/>
              <a:t> personal and business documents, such as </a:t>
            </a:r>
            <a:r>
              <a:rPr lang="en-GB" b="1" dirty="0"/>
              <a:t>letters, reports, invoices, emails and books.</a:t>
            </a:r>
          </a:p>
          <a:p>
            <a:pPr marL="0" indent="0" algn="just">
              <a:buNone/>
            </a:pPr>
            <a:endParaRPr lang="en-GB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GB" dirty="0"/>
              <a:t>By default, documents saved in word  are saved with the </a:t>
            </a:r>
            <a:r>
              <a:rPr lang="en-GB" b="1" dirty="0"/>
              <a:t>.</a:t>
            </a:r>
            <a:r>
              <a:rPr lang="en-GB" b="1" dirty="0" err="1"/>
              <a:t>docx</a:t>
            </a:r>
            <a:r>
              <a:rPr lang="en-GB" b="1" dirty="0"/>
              <a:t> </a:t>
            </a:r>
            <a:r>
              <a:rPr lang="en-GB" dirty="0"/>
              <a:t>extension.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83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684312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Word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08720"/>
            <a:ext cx="11826240" cy="594928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GB" dirty="0"/>
              <a:t>Microsoft Word can be used for the following purposes −</a:t>
            </a:r>
          </a:p>
          <a:p>
            <a:pPr algn="just"/>
            <a:r>
              <a:rPr lang="en-GB" dirty="0"/>
              <a:t>To create business documents having various graphics including pictures, charts, and diagrams.</a:t>
            </a:r>
          </a:p>
          <a:p>
            <a:pPr marL="0" indent="0" algn="just">
              <a:buNone/>
            </a:pPr>
            <a:endParaRPr lang="en-GB" dirty="0"/>
          </a:p>
          <a:p>
            <a:pPr algn="just"/>
            <a:r>
              <a:rPr lang="en-GB" dirty="0"/>
              <a:t>To store and reuse readymade content and formatted elements such as cover pages and sidebars.</a:t>
            </a:r>
          </a:p>
          <a:p>
            <a:pPr marL="0" indent="0" algn="just">
              <a:buNone/>
            </a:pPr>
            <a:endParaRPr lang="en-GB" dirty="0"/>
          </a:p>
          <a:p>
            <a:pPr algn="just"/>
            <a:r>
              <a:rPr lang="en-GB" dirty="0"/>
              <a:t>To create letters and letterheads for personal and business purpose.</a:t>
            </a: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7974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Word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12192000" cy="5410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GB" dirty="0"/>
              <a:t>Microsoft Word can be used for the following purposes −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To design different documents such as resumes or invitation cards etc.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To create a range of correspondence from a simple office memo to legal copies and reference documents.</a:t>
            </a: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473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52400"/>
            <a:ext cx="11785600" cy="916745"/>
          </a:xfrm>
        </p:spPr>
        <p:txBody>
          <a:bodyPr/>
          <a:lstStyle/>
          <a:p>
            <a:pPr algn="ctr"/>
            <a:r>
              <a:rPr lang="en-GB" dirty="0"/>
              <a:t>Getting Started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844062"/>
            <a:ext cx="12192000" cy="586153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sz="3600" dirty="0"/>
              <a:t>Office 2019 is engineered for </a:t>
            </a:r>
            <a:r>
              <a:rPr lang="en-US" sz="3600" b="1" dirty="0"/>
              <a:t>Windows 10</a:t>
            </a:r>
            <a:r>
              <a:rPr lang="en-US" sz="3600" dirty="0"/>
              <a:t>. </a:t>
            </a:r>
          </a:p>
          <a:p>
            <a:pPr algn="just">
              <a:buNone/>
            </a:pPr>
            <a:r>
              <a:rPr lang="en-US" sz="3600" dirty="0"/>
              <a:t>    </a:t>
            </a:r>
          </a:p>
          <a:p>
            <a:pPr algn="just">
              <a:buNone/>
            </a:pPr>
            <a:r>
              <a:rPr lang="en-US" sz="3600" dirty="0"/>
              <a:t>   You can start Word 2019 from the </a:t>
            </a:r>
            <a:r>
              <a:rPr lang="en-US" sz="3600" b="1" dirty="0"/>
              <a:t>Start menu app list </a:t>
            </a:r>
            <a:r>
              <a:rPr lang="en-US" sz="3600" dirty="0"/>
              <a:t>or </a:t>
            </a:r>
            <a:r>
              <a:rPr lang="en-US" sz="3600" b="1" dirty="0"/>
              <a:t>tile area</a:t>
            </a:r>
            <a:r>
              <a:rPr lang="en-US" sz="3600" dirty="0"/>
              <a:t>, the </a:t>
            </a:r>
            <a:r>
              <a:rPr lang="en-US" sz="3600" b="1" dirty="0"/>
              <a:t>Start screen</a:t>
            </a:r>
            <a:r>
              <a:rPr lang="en-US" sz="3600" dirty="0"/>
              <a:t>, or the </a:t>
            </a:r>
            <a:r>
              <a:rPr lang="en-US" sz="3600" b="1" dirty="0"/>
              <a:t>taskbar search box</a:t>
            </a:r>
            <a:r>
              <a:rPr lang="en-US" sz="3600" dirty="0"/>
              <a:t>. </a:t>
            </a:r>
          </a:p>
          <a:p>
            <a:pPr algn="just">
              <a:buNone/>
            </a:pPr>
            <a:endParaRPr lang="en-US" sz="3600" dirty="0"/>
          </a:p>
          <a:p>
            <a:pPr algn="just">
              <a:buNone/>
            </a:pPr>
            <a:r>
              <a:rPr lang="en-US" sz="3600" dirty="0"/>
              <a:t>   You might also have a </a:t>
            </a:r>
            <a:r>
              <a:rPr lang="en-US" sz="3600" b="1" dirty="0"/>
              <a:t>shortcut to Word </a:t>
            </a:r>
            <a:r>
              <a:rPr lang="en-US" sz="3600" dirty="0"/>
              <a:t>on your </a:t>
            </a:r>
            <a:r>
              <a:rPr lang="en-US" sz="3600" b="1" dirty="0"/>
              <a:t>desktop</a:t>
            </a:r>
            <a:r>
              <a:rPr lang="en-US" sz="3600" dirty="0"/>
              <a:t> or on the </a:t>
            </a:r>
            <a:r>
              <a:rPr lang="en-US" sz="3600" b="1" dirty="0"/>
              <a:t>Windows taskbar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02246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52400"/>
            <a:ext cx="11785600" cy="550985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99" y="844062"/>
            <a:ext cx="11785599" cy="495558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GB" b="1" dirty="0"/>
              <a:t>Step 1</a:t>
            </a:r>
            <a:r>
              <a:rPr lang="en-GB" dirty="0"/>
              <a:t> − Click the </a:t>
            </a:r>
            <a:r>
              <a:rPr lang="en-GB" b="1" dirty="0"/>
              <a:t>Start</a:t>
            </a:r>
            <a:r>
              <a:rPr lang="en-GB" dirty="0"/>
              <a:t> </a:t>
            </a:r>
            <a:r>
              <a:rPr lang="en-GB" b="1" dirty="0"/>
              <a:t>button</a:t>
            </a:r>
            <a:r>
              <a:rPr lang="en-GB" dirty="0"/>
              <a:t> </a:t>
            </a:r>
            <a:r>
              <a:rPr lang="en-US" dirty="0"/>
              <a:t>and then select </a:t>
            </a:r>
            <a:r>
              <a:rPr lang="en-US" b="1" dirty="0"/>
              <a:t>Microsoft Word  </a:t>
            </a:r>
            <a:r>
              <a:rPr lang="en-US" dirty="0"/>
              <a:t>from the options panel.</a:t>
            </a:r>
            <a:endParaRPr lang="en-GB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30931-3D62-4D21-9E84-D550B1417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74" y="1871002"/>
            <a:ext cx="10128739" cy="483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190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5248"/>
            <a:ext cx="11785600" cy="63539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225" y="642930"/>
            <a:ext cx="10363200" cy="13687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GB" b="1" dirty="0"/>
              <a:t>Step 2</a:t>
            </a:r>
            <a:r>
              <a:rPr lang="en-GB" dirty="0"/>
              <a:t> − Click on </a:t>
            </a:r>
            <a:r>
              <a:rPr lang="en-GB" b="1" dirty="0"/>
              <a:t>Blank document </a:t>
            </a:r>
            <a:r>
              <a:rPr lang="en-GB" dirty="0"/>
              <a:t>option from the menu.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3373A3-79E6-424C-ADAA-8EEC21C76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97" y="1392703"/>
            <a:ext cx="10788869" cy="524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135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-8059"/>
            <a:ext cx="8839200" cy="4682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9" y="548680"/>
            <a:ext cx="11113477" cy="829955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GB" dirty="0"/>
              <a:t>This will launch the Microsoft Word 2019 application and you will see the following window.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4155F-FC2E-4299-BC51-35C93628A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378635"/>
            <a:ext cx="11577711" cy="534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6969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285860"/>
            <a:ext cx="9144000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109CF-6845-49F2-9C98-2CD5DBFCB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18" y="576775"/>
            <a:ext cx="11704320" cy="611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619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0"/>
            <a:ext cx="11785600" cy="66352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File 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663526"/>
            <a:ext cx="11785600" cy="6194475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GB" dirty="0"/>
              <a:t>The File tab replaces the </a:t>
            </a:r>
            <a:r>
              <a:rPr lang="en-GB" b="1" dirty="0"/>
              <a:t>Office button </a:t>
            </a:r>
            <a:r>
              <a:rPr lang="en-GB" dirty="0"/>
              <a:t>from Word 2007.</a:t>
            </a: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GB" dirty="0"/>
              <a:t>  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</a:t>
            </a:r>
            <a:r>
              <a:rPr lang="en-US" dirty="0"/>
              <a:t>The File tab leads to the </a:t>
            </a:r>
            <a:r>
              <a:rPr lang="en-US" b="1" dirty="0"/>
              <a:t>Backstage view</a:t>
            </a:r>
            <a:endParaRPr lang="en-GB" b="1" dirty="0"/>
          </a:p>
          <a:p>
            <a:pPr algn="just">
              <a:buNone/>
            </a:pPr>
            <a:r>
              <a:rPr lang="en-GB" dirty="0"/>
              <a:t>   The Backstage view enables you to </a:t>
            </a:r>
            <a:r>
              <a:rPr lang="en-GB" b="1" dirty="0"/>
              <a:t>open new word file or existing word document </a:t>
            </a:r>
            <a:r>
              <a:rPr lang="en-GB" dirty="0"/>
              <a:t>or </a:t>
            </a:r>
            <a:r>
              <a:rPr lang="en-GB" b="1" dirty="0"/>
              <a:t>save files</a:t>
            </a:r>
            <a:r>
              <a:rPr lang="en-GB" dirty="0"/>
              <a:t>, </a:t>
            </a:r>
            <a:r>
              <a:rPr lang="en-GB" b="1" dirty="0"/>
              <a:t>print a document</a:t>
            </a:r>
            <a:r>
              <a:rPr lang="en-GB" dirty="0"/>
              <a:t>, and do other file-related operations.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BC50C-F6E0-4DED-BD2A-B09BFB0E5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932" y="1327052"/>
            <a:ext cx="5495925" cy="337536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7CB493-4068-4980-A7F1-16D048AD5ED7}"/>
              </a:ext>
            </a:extLst>
          </p:cNvPr>
          <p:cNvCxnSpPr>
            <a:cxnSpLocks/>
          </p:cNvCxnSpPr>
          <p:nvPr/>
        </p:nvCxnSpPr>
        <p:spPr>
          <a:xfrm>
            <a:off x="2002230" y="1463040"/>
            <a:ext cx="13927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30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0"/>
            <a:ext cx="11785600" cy="844062"/>
          </a:xfrm>
        </p:spPr>
        <p:txBody>
          <a:bodyPr/>
          <a:lstStyle/>
          <a:p>
            <a:pPr algn="ctr"/>
            <a:r>
              <a:rPr lang="en-GB" dirty="0"/>
              <a:t>Quick Access Toolbar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1" y="984738"/>
            <a:ext cx="11472984" cy="575663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  </a:t>
            </a:r>
            <a:r>
              <a:rPr lang="en-GB" dirty="0"/>
              <a:t>This you will find just above the </a:t>
            </a:r>
            <a:r>
              <a:rPr lang="en-GB" b="1" dirty="0"/>
              <a:t>File tab</a:t>
            </a:r>
            <a:r>
              <a:rPr lang="en-GB" dirty="0"/>
              <a:t>.</a:t>
            </a:r>
          </a:p>
          <a:p>
            <a:pPr algn="just">
              <a:buNone/>
            </a:pPr>
            <a:endParaRPr lang="en-GB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GB" dirty="0"/>
              <a:t>   This is a convenient resting place for the </a:t>
            </a:r>
            <a:r>
              <a:rPr lang="en-GB" b="1" dirty="0"/>
              <a:t>most frequently used commands in Word.</a:t>
            </a:r>
          </a:p>
          <a:p>
            <a:pPr algn="just">
              <a:buNone/>
            </a:pPr>
            <a:endParaRPr lang="en-GB" b="1" dirty="0"/>
          </a:p>
          <a:p>
            <a:pPr algn="just">
              <a:buNone/>
            </a:pPr>
            <a:r>
              <a:rPr lang="en-US" dirty="0"/>
              <a:t>   By default, it shows the </a:t>
            </a:r>
            <a:r>
              <a:rPr lang="en-US" b="1" dirty="0"/>
              <a:t>Save, Undo, and Redo </a:t>
            </a:r>
            <a:r>
              <a:rPr lang="en-US" dirty="0"/>
              <a:t>commands</a:t>
            </a:r>
            <a:endParaRPr lang="en-GB" dirty="0"/>
          </a:p>
          <a:p>
            <a:pPr algn="just">
              <a:buNone/>
            </a:pPr>
            <a:endParaRPr lang="en-GB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GB" dirty="0"/>
              <a:t>   You can customize this toolbar based on your comfort.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6C0EE-FE4F-4679-BD82-26630E54D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194" y="5556738"/>
            <a:ext cx="7638757" cy="118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425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4068"/>
            <a:ext cx="11785600" cy="844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How to add new commands to the Quick Access Toolbar</a:t>
            </a:r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49A49E-27EA-4512-B51E-AB0BC1C75158}"/>
              </a:ext>
            </a:extLst>
          </p:cNvPr>
          <p:cNvSpPr/>
          <p:nvPr/>
        </p:nvSpPr>
        <p:spPr>
          <a:xfrm>
            <a:off x="203201" y="1080087"/>
            <a:ext cx="114448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Click the </a:t>
            </a:r>
            <a:r>
              <a:rPr lang="en-US" sz="3200" b="1" dirty="0"/>
              <a:t>drop-down arrow</a:t>
            </a:r>
            <a:r>
              <a:rPr lang="en-US" sz="3200" dirty="0"/>
              <a:t> to the right of the </a:t>
            </a:r>
            <a:r>
              <a:rPr lang="en-US" sz="3200" b="1" dirty="0"/>
              <a:t>Quick Access Toolbar</a:t>
            </a:r>
            <a:r>
              <a:rPr lang="en-US" sz="2400" dirty="0"/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FEDB45B-2C92-41F2-A5CA-359FF36C6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377440"/>
            <a:ext cx="10195560" cy="399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4064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4068"/>
            <a:ext cx="11785600" cy="844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How to add new commands to the Quick Access Toolbar</a:t>
            </a:r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49A49E-27EA-4512-B51E-AB0BC1C75158}"/>
              </a:ext>
            </a:extLst>
          </p:cNvPr>
          <p:cNvSpPr/>
          <p:nvPr/>
        </p:nvSpPr>
        <p:spPr>
          <a:xfrm>
            <a:off x="203201" y="1080087"/>
            <a:ext cx="114448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Select the </a:t>
            </a:r>
            <a:r>
              <a:rPr lang="en-US" sz="3200" b="1" dirty="0"/>
              <a:t>command (Quick print) </a:t>
            </a:r>
            <a:r>
              <a:rPr lang="en-US" sz="3200" dirty="0"/>
              <a:t>you want to add from the menu.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F880D-5465-451E-A9E6-DAF12DA4C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735" y="1955410"/>
            <a:ext cx="6822831" cy="472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9378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4068"/>
            <a:ext cx="11785600" cy="844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How to add new commands to the Quick Access Toolbar</a:t>
            </a:r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49A49E-27EA-4512-B51E-AB0BC1C75158}"/>
              </a:ext>
            </a:extLst>
          </p:cNvPr>
          <p:cNvSpPr/>
          <p:nvPr/>
        </p:nvSpPr>
        <p:spPr>
          <a:xfrm>
            <a:off x="203201" y="1080087"/>
            <a:ext cx="114448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command will be added to the Quick Access Toolbar.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7B2E6-AE49-4CC2-8B6F-8150E8723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31" y="1886818"/>
            <a:ext cx="9959925" cy="44014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4401A8-C125-416C-BDC3-243AD2C63B47}"/>
              </a:ext>
            </a:extLst>
          </p:cNvPr>
          <p:cNvSpPr/>
          <p:nvPr/>
        </p:nvSpPr>
        <p:spPr>
          <a:xfrm>
            <a:off x="7574280" y="2011680"/>
            <a:ext cx="1539240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0693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Ribbon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F4AFCB-9FB7-4C4A-93E2-ED2B234DC9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3"/>
          <a:stretch/>
        </p:blipFill>
        <p:spPr>
          <a:xfrm>
            <a:off x="194603" y="642918"/>
            <a:ext cx="11802793" cy="2226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6FF389-169D-4D5D-A282-D07017FF4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39" y="3464170"/>
            <a:ext cx="11029071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28850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Ribbon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015" y="476672"/>
            <a:ext cx="11648050" cy="638132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Ribbon contains commands organized in </a:t>
            </a:r>
            <a:r>
              <a:rPr lang="en-GB" b="1" dirty="0"/>
              <a:t>three(3)</a:t>
            </a:r>
            <a:r>
              <a:rPr lang="en-GB" dirty="0"/>
              <a:t> components −</a:t>
            </a:r>
          </a:p>
          <a:p>
            <a:pPr algn="just"/>
            <a:r>
              <a:rPr lang="en-GB" b="1" dirty="0"/>
              <a:t>Tabs</a:t>
            </a:r>
            <a:r>
              <a:rPr lang="en-GB" dirty="0"/>
              <a:t> − These appear across the top of the Ribbon and contain groups of related commands. </a:t>
            </a:r>
            <a:r>
              <a:rPr lang="en-GB" b="1" dirty="0"/>
              <a:t>Home, Insert, Design Layout</a:t>
            </a:r>
            <a:r>
              <a:rPr lang="en-GB" dirty="0"/>
              <a:t> are examples of ribbon tabs.</a:t>
            </a:r>
          </a:p>
          <a:p>
            <a:pPr algn="just"/>
            <a:endParaRPr lang="en-GB" dirty="0"/>
          </a:p>
          <a:p>
            <a:pPr marL="0" indent="0" algn="just">
              <a:buNone/>
            </a:pPr>
            <a:endParaRPr lang="en-GB" dirty="0"/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D49C7-20B7-47E6-A04F-068321B4C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5" y="3080826"/>
            <a:ext cx="11000935" cy="243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272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Ribbon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12192001" cy="625940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Ribbon contains commands organized in </a:t>
            </a:r>
            <a:r>
              <a:rPr lang="en-GB" b="1" dirty="0"/>
              <a:t>three(3)</a:t>
            </a:r>
            <a:r>
              <a:rPr lang="en-GB" dirty="0"/>
              <a:t> components −</a:t>
            </a:r>
          </a:p>
          <a:p>
            <a:pPr algn="just"/>
            <a:r>
              <a:rPr lang="en-GB" b="1" dirty="0"/>
              <a:t>Groups</a:t>
            </a:r>
            <a:r>
              <a:rPr lang="en-GB" dirty="0"/>
              <a:t> − </a:t>
            </a:r>
            <a:r>
              <a:rPr lang="en-US" dirty="0"/>
              <a:t>Each tab contains several </a:t>
            </a:r>
            <a:r>
              <a:rPr lang="en-US" b="1" dirty="0"/>
              <a:t>groups of related commands</a:t>
            </a:r>
            <a:r>
              <a:rPr lang="en-US" dirty="0"/>
              <a:t>. For example, the </a:t>
            </a:r>
            <a:r>
              <a:rPr lang="en-US" b="1" dirty="0"/>
              <a:t>Font group </a:t>
            </a:r>
            <a:r>
              <a:rPr lang="en-US" dirty="0"/>
              <a:t>on the Home tab contains commands for formatting text in your document.</a:t>
            </a:r>
          </a:p>
          <a:p>
            <a:pPr algn="just"/>
            <a:endParaRPr lang="en-US" b="1" dirty="0"/>
          </a:p>
          <a:p>
            <a:pPr algn="just"/>
            <a:endParaRPr lang="en-GB" dirty="0"/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03876-E514-42AF-9695-ACEF12289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554794"/>
            <a:ext cx="10972799" cy="233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8800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Ribbon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12191999" cy="638132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Ribbon contains commands organized in </a:t>
            </a:r>
            <a:r>
              <a:rPr lang="en-GB" b="1" dirty="0"/>
              <a:t>three(3)</a:t>
            </a:r>
            <a:r>
              <a:rPr lang="en-GB" dirty="0"/>
              <a:t> components </a:t>
            </a:r>
          </a:p>
          <a:p>
            <a:pPr algn="just"/>
            <a:r>
              <a:rPr lang="en-GB" b="1" dirty="0"/>
              <a:t>Commands</a:t>
            </a:r>
            <a:r>
              <a:rPr lang="en-GB" dirty="0"/>
              <a:t> − Commands appear within each group as mentioned above. Example </a:t>
            </a:r>
            <a:r>
              <a:rPr lang="en-GB" b="1" dirty="0"/>
              <a:t>bold</a:t>
            </a:r>
            <a:r>
              <a:rPr lang="en-GB" dirty="0"/>
              <a:t>, </a:t>
            </a:r>
            <a:r>
              <a:rPr lang="en-GB" b="1" dirty="0"/>
              <a:t>italics</a:t>
            </a:r>
            <a:r>
              <a:rPr lang="en-GB" dirty="0"/>
              <a:t>, </a:t>
            </a:r>
            <a:r>
              <a:rPr lang="en-GB" b="1" dirty="0"/>
              <a:t>cut</a:t>
            </a:r>
            <a:r>
              <a:rPr lang="en-GB" dirty="0"/>
              <a:t>, </a:t>
            </a:r>
            <a:r>
              <a:rPr lang="en-GB" b="1" dirty="0"/>
              <a:t>paste</a:t>
            </a:r>
            <a:r>
              <a:rPr lang="en-GB" dirty="0"/>
              <a:t> and many more.</a:t>
            </a:r>
          </a:p>
          <a:p>
            <a:pPr algn="just"/>
            <a:r>
              <a:rPr lang="en-US" dirty="0"/>
              <a:t>Some groups also have a </a:t>
            </a:r>
            <a:r>
              <a:rPr lang="en-US" b="1" dirty="0"/>
              <a:t>small arrow </a:t>
            </a:r>
            <a:r>
              <a:rPr lang="en-US" dirty="0"/>
              <a:t>in the </a:t>
            </a:r>
            <a:r>
              <a:rPr lang="en-US" b="1" dirty="0"/>
              <a:t>bottom-right corner</a:t>
            </a:r>
            <a:r>
              <a:rPr lang="en-US" dirty="0"/>
              <a:t> called the </a:t>
            </a:r>
            <a:r>
              <a:rPr lang="en-US" b="1" dirty="0"/>
              <a:t>dialog box launcher</a:t>
            </a:r>
            <a:r>
              <a:rPr lang="en-US" dirty="0"/>
              <a:t> that you can click for even more options.</a:t>
            </a:r>
            <a:endParaRPr lang="en-GB" dirty="0"/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69016-888D-4507-B124-B975C217F2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606" y="3429000"/>
            <a:ext cx="7323255" cy="329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09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Showing and hiding the Ribbon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12192000" cy="638132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   If you find that the Ribbon takes up too much screen space, you can hide it. </a:t>
            </a:r>
          </a:p>
          <a:p>
            <a:pPr algn="just">
              <a:buNone/>
            </a:pPr>
            <a:r>
              <a:rPr lang="en-US" dirty="0"/>
              <a:t>   To do this, click the </a:t>
            </a:r>
            <a:r>
              <a:rPr lang="en-US" b="1" dirty="0"/>
              <a:t>Ribbon Display Options arrow </a:t>
            </a:r>
            <a:r>
              <a:rPr lang="en-US" dirty="0"/>
              <a:t>in the </a:t>
            </a:r>
            <a:r>
              <a:rPr lang="en-US" b="1" dirty="0"/>
              <a:t>upper-right corner of the Ribbon</a:t>
            </a:r>
            <a:r>
              <a:rPr lang="en-US" dirty="0"/>
              <a:t>, then select the desired option from the drop-down menu:</a:t>
            </a: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20447-405A-4DF8-AF27-FBB745352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676" y="2743201"/>
            <a:ext cx="6189785" cy="396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943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Showing and hiding the Ribbon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014" y="476672"/>
            <a:ext cx="11788727" cy="63813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Auto-hide Ribbon</a:t>
            </a:r>
            <a:r>
              <a:rPr lang="en-US" dirty="0"/>
              <a:t>: Auto-hide displays your document in </a:t>
            </a:r>
            <a:r>
              <a:rPr lang="en-US" b="1" dirty="0"/>
              <a:t>full-screen mode</a:t>
            </a:r>
            <a:r>
              <a:rPr lang="en-US" dirty="0"/>
              <a:t> and </a:t>
            </a:r>
            <a:r>
              <a:rPr lang="en-US" b="1" dirty="0"/>
              <a:t>completely hides the Ribbon from view</a:t>
            </a:r>
            <a:r>
              <a:rPr lang="en-US" dirty="0"/>
              <a:t>.  To show the Ribbon, click the </a:t>
            </a:r>
            <a:r>
              <a:rPr lang="en-US" b="1" dirty="0"/>
              <a:t>Expand Ribbon command at the top of screen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Show Tabs</a:t>
            </a:r>
            <a:r>
              <a:rPr lang="en-US" dirty="0"/>
              <a:t>: This option </a:t>
            </a:r>
            <a:r>
              <a:rPr lang="en-US" b="1" dirty="0"/>
              <a:t>hides all command groups </a:t>
            </a:r>
            <a:r>
              <a:rPr lang="en-US" dirty="0"/>
              <a:t>when they're not in use, but </a:t>
            </a:r>
            <a:r>
              <a:rPr lang="en-US" b="1" dirty="0"/>
              <a:t>tabs will remain visible</a:t>
            </a:r>
            <a:r>
              <a:rPr lang="en-US" dirty="0"/>
              <a:t>. To show the Ribbon, simply </a:t>
            </a:r>
            <a:r>
              <a:rPr lang="en-US" b="1" dirty="0"/>
              <a:t>click a tab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Show Tabs and Commands</a:t>
            </a:r>
            <a:r>
              <a:rPr lang="en-US" dirty="0"/>
              <a:t>: This option maximizes the Ribbon. All of the tabs and commands will be visible. This option is selected by default when you open Word for the first time.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321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69065"/>
            <a:ext cx="8839200" cy="57804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Title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7" y="647114"/>
            <a:ext cx="11690251" cy="575368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/>
              <a:t>Located at the top of the app window, the title bar </a:t>
            </a:r>
            <a:r>
              <a:rPr lang="en-US" b="1" dirty="0"/>
              <a:t>displays the name of the active document</a:t>
            </a:r>
            <a:r>
              <a:rPr lang="en-US" dirty="0"/>
              <a:t> and provides tools for managing the app window, ribbon, and content.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By default the title bar is always named as </a:t>
            </a:r>
            <a:r>
              <a:rPr lang="en-US" b="1" dirty="0"/>
              <a:t>document 1</a:t>
            </a:r>
          </a:p>
          <a:p>
            <a:pPr algn="just">
              <a:buNone/>
            </a:pPr>
            <a:endParaRPr lang="en-GB" b="1" dirty="0"/>
          </a:p>
          <a:p>
            <a:pPr algn="just">
              <a:buNone/>
            </a:pPr>
            <a:r>
              <a:rPr lang="en-GB" dirty="0"/>
              <a:t>  Title bar shows the </a:t>
            </a:r>
            <a:r>
              <a:rPr lang="en-GB" b="1" dirty="0"/>
              <a:t>program and document titles</a:t>
            </a:r>
            <a:r>
              <a:rPr lang="en-GB" dirty="0"/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541E9-13FB-4F4C-8CFC-6D6417A64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72" y="4924219"/>
            <a:ext cx="11031567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5173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6">
            <a:extLst>
              <a:ext uri="{FF2B5EF4-FFF2-40B4-BE49-F238E27FC236}">
                <a16:creationId xmlns:a16="http://schemas.microsoft.com/office/drawing/2014/main" id="{E2D5393D-79F4-49FE-9D8D-14EFCD864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7680"/>
            <a:ext cx="12192000" cy="637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ext Box 4">
            <a:extLst>
              <a:ext uri="{FF2B5EF4-FFF2-40B4-BE49-F238E27FC236}">
                <a16:creationId xmlns:a16="http://schemas.microsoft.com/office/drawing/2014/main" id="{C0E4FC3E-2E30-4E4C-86BD-2BC3B0D09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2057401"/>
            <a:ext cx="8496300" cy="4524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dirty="0"/>
              <a:t>The area outlined in red contains the minimize, maximize/restore and close buttons for the program window.</a:t>
            </a:r>
          </a:p>
          <a:p>
            <a:pPr eaLnBrk="1" hangingPunct="1"/>
            <a:endParaRPr lang="en-US" altLang="en-US" sz="3600" dirty="0"/>
          </a:p>
          <a:p>
            <a:pPr eaLnBrk="1" hangingPunct="1"/>
            <a:endParaRPr lang="en-US" altLang="en-US" sz="3600" dirty="0"/>
          </a:p>
          <a:p>
            <a:pPr eaLnBrk="1" hangingPunct="1"/>
            <a:endParaRPr lang="en-US" altLang="en-US" sz="3600" dirty="0"/>
          </a:p>
          <a:p>
            <a:pPr eaLnBrk="1" hangingPunct="1"/>
            <a:endParaRPr lang="en-US" altLang="en-US" sz="3600" dirty="0"/>
          </a:p>
          <a:p>
            <a:pPr algn="r" eaLnBrk="1" hangingPunct="1"/>
            <a:endParaRPr lang="en-US" altLang="en-US" sz="2800" dirty="0"/>
          </a:p>
        </p:txBody>
      </p:sp>
      <p:pic>
        <p:nvPicPr>
          <p:cNvPr id="12292" name="Picture 5" descr="program buttons">
            <a:extLst>
              <a:ext uri="{FF2B5EF4-FFF2-40B4-BE49-F238E27FC236}">
                <a16:creationId xmlns:a16="http://schemas.microsoft.com/office/drawing/2014/main" id="{4F0106FC-F9EC-49BF-8974-54738E68B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0" y="4267201"/>
            <a:ext cx="34290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CC3952-CA40-4AA7-8E59-58762362EDC2}"/>
              </a:ext>
            </a:extLst>
          </p:cNvPr>
          <p:cNvSpPr/>
          <p:nvPr/>
        </p:nvSpPr>
        <p:spPr>
          <a:xfrm>
            <a:off x="10972800" y="365760"/>
            <a:ext cx="1219200" cy="487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F7F26A-33F1-4D48-BC0F-EF52B021E81B}"/>
              </a:ext>
            </a:extLst>
          </p:cNvPr>
          <p:cNvSpPr/>
          <p:nvPr/>
        </p:nvSpPr>
        <p:spPr>
          <a:xfrm>
            <a:off x="5591176" y="4267200"/>
            <a:ext cx="2219325" cy="685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6">
            <a:extLst>
              <a:ext uri="{FF2B5EF4-FFF2-40B4-BE49-F238E27FC236}">
                <a16:creationId xmlns:a16="http://schemas.microsoft.com/office/drawing/2014/main" id="{CDA894D1-B3EF-47A3-B93B-7FB78935C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ext Box 4">
            <a:extLst>
              <a:ext uri="{FF2B5EF4-FFF2-40B4-BE49-F238E27FC236}">
                <a16:creationId xmlns:a16="http://schemas.microsoft.com/office/drawing/2014/main" id="{7723BA27-F112-4243-B98D-37BB3364F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2057400"/>
            <a:ext cx="8496300" cy="4324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/>
              <a:t>These three buttons are on almost every window that opens in a Windows based platform.</a:t>
            </a:r>
          </a:p>
          <a:p>
            <a:pPr eaLnBrk="1" hangingPunct="1"/>
            <a:r>
              <a:rPr lang="en-US" altLang="en-US" sz="3600"/>
              <a:t>They are on Mac windows as well, but they are circles instead of squares.</a:t>
            </a:r>
          </a:p>
          <a:p>
            <a:pPr eaLnBrk="1" hangingPunct="1"/>
            <a:endParaRPr lang="en-US" altLang="en-US" sz="11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3200"/>
          </a:p>
          <a:p>
            <a:pPr algn="r" eaLnBrk="1" hangingPunct="1"/>
            <a:endParaRPr lang="en-US" altLang="en-US" sz="2800"/>
          </a:p>
        </p:txBody>
      </p:sp>
      <p:pic>
        <p:nvPicPr>
          <p:cNvPr id="13316" name="Picture 5" descr="program buttons">
            <a:extLst>
              <a:ext uri="{FF2B5EF4-FFF2-40B4-BE49-F238E27FC236}">
                <a16:creationId xmlns:a16="http://schemas.microsoft.com/office/drawing/2014/main" id="{55D8EB13-4F12-4490-9607-F4FC31E4C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053013"/>
            <a:ext cx="3429000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7F012B-3ECB-4403-934F-CEB75E6F0C97}"/>
              </a:ext>
            </a:extLst>
          </p:cNvPr>
          <p:cNvSpPr/>
          <p:nvPr/>
        </p:nvSpPr>
        <p:spPr>
          <a:xfrm>
            <a:off x="5324476" y="5056188"/>
            <a:ext cx="2219325" cy="685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6">
            <a:extLst>
              <a:ext uri="{FF2B5EF4-FFF2-40B4-BE49-F238E27FC236}">
                <a16:creationId xmlns:a16="http://schemas.microsoft.com/office/drawing/2014/main" id="{04C274D3-5F42-4CBC-B313-805FB3E38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4" name="Text Box 6">
            <a:extLst>
              <a:ext uri="{FF2B5EF4-FFF2-40B4-BE49-F238E27FC236}">
                <a16:creationId xmlns:a16="http://schemas.microsoft.com/office/drawing/2014/main" id="{9EC386FD-BF60-40F7-AA00-DB6364CAA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981201"/>
            <a:ext cx="8686800" cy="4524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dirty="0"/>
              <a:t>When you click the </a:t>
            </a:r>
            <a:r>
              <a:rPr lang="en-US" altLang="en-US" sz="3600" dirty="0">
                <a:solidFill>
                  <a:srgbClr val="FF0000"/>
                </a:solidFill>
              </a:rPr>
              <a:t>minimize</a:t>
            </a:r>
            <a:r>
              <a:rPr lang="en-US" altLang="en-US" sz="3600" dirty="0"/>
              <a:t> button the program becomes a button on the Windows taskbar located at the bottom of the screen.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algn="r" eaLnBrk="1" hangingPunct="1"/>
            <a:endParaRPr lang="en-US" altLang="en-US" sz="2400" dirty="0"/>
          </a:p>
        </p:txBody>
      </p:sp>
      <p:pic>
        <p:nvPicPr>
          <p:cNvPr id="14340" name="Picture 5" descr="program buttons">
            <a:extLst>
              <a:ext uri="{FF2B5EF4-FFF2-40B4-BE49-F238E27FC236}">
                <a16:creationId xmlns:a16="http://schemas.microsoft.com/office/drawing/2014/main" id="{15A25C78-8448-441C-9541-897593C4B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413" y="4367214"/>
            <a:ext cx="3886200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8381FF-813D-498E-91A4-B18F9EDF1F7F}"/>
              </a:ext>
            </a:extLst>
          </p:cNvPr>
          <p:cNvSpPr/>
          <p:nvPr/>
        </p:nvSpPr>
        <p:spPr>
          <a:xfrm>
            <a:off x="5638800" y="4465638"/>
            <a:ext cx="762000" cy="639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4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>
            <a:extLst>
              <a:ext uri="{FF2B5EF4-FFF2-40B4-BE49-F238E27FC236}">
                <a16:creationId xmlns:a16="http://schemas.microsoft.com/office/drawing/2014/main" id="{0A175D49-A101-487A-83C7-68C4184C2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 Box 6">
            <a:extLst>
              <a:ext uri="{FF2B5EF4-FFF2-40B4-BE49-F238E27FC236}">
                <a16:creationId xmlns:a16="http://schemas.microsoft.com/office/drawing/2014/main" id="{D4ABC6B0-793D-4C70-9189-8F4FE4F39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981200"/>
            <a:ext cx="8686800" cy="4586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dirty="0"/>
              <a:t>You can restore the document to its original shape and size by either:</a:t>
            </a:r>
          </a:p>
          <a:p>
            <a:pPr eaLnBrk="1" hangingPunct="1"/>
            <a:r>
              <a:rPr lang="en-US" altLang="en-US" sz="3600" dirty="0"/>
              <a:t>Clicking on the button on the task bar one time to restore it to active mode,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algn="r" eaLnBrk="1" hangingPunct="1"/>
            <a:endParaRPr lang="en-US" altLang="en-US" sz="2400" dirty="0"/>
          </a:p>
          <a:p>
            <a:pPr algn="r" eaLnBrk="1" hangingPunct="1"/>
            <a:endParaRPr lang="en-US" altLang="en-US" sz="2800" dirty="0"/>
          </a:p>
        </p:txBody>
      </p:sp>
      <p:pic>
        <p:nvPicPr>
          <p:cNvPr id="15365" name="Picture 2">
            <a:extLst>
              <a:ext uri="{FF2B5EF4-FFF2-40B4-BE49-F238E27FC236}">
                <a16:creationId xmlns:a16="http://schemas.microsoft.com/office/drawing/2014/main" id="{3634A966-9843-4308-AC3D-A024F9C48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4953000"/>
            <a:ext cx="81724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42028E-941A-4A49-918E-616DC07B5BFD}"/>
              </a:ext>
            </a:extLst>
          </p:cNvPr>
          <p:cNvSpPr/>
          <p:nvPr/>
        </p:nvSpPr>
        <p:spPr>
          <a:xfrm>
            <a:off x="9220200" y="4953000"/>
            <a:ext cx="933450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5">
            <a:extLst>
              <a:ext uri="{FF2B5EF4-FFF2-40B4-BE49-F238E27FC236}">
                <a16:creationId xmlns:a16="http://schemas.microsoft.com/office/drawing/2014/main" id="{BF2C7BEE-BC72-4843-A16F-2D000197B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421318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7">
            <a:extLst>
              <a:ext uri="{FF2B5EF4-FFF2-40B4-BE49-F238E27FC236}">
                <a16:creationId xmlns:a16="http://schemas.microsoft.com/office/drawing/2014/main" id="{F3305C29-E9D5-43E4-AAE2-ABC76B66F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2860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BA293AB1-AEC2-42FC-84CB-AC835B942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873251"/>
            <a:ext cx="8534400" cy="52629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dirty="0"/>
              <a:t>If you have multiple files from the same program open you will need to select the one you want to restore to active mode. The shortcut for this is </a:t>
            </a:r>
            <a:r>
              <a:rPr lang="en-US" altLang="en-US" sz="3600" dirty="0">
                <a:solidFill>
                  <a:srgbClr val="FF0000"/>
                </a:solidFill>
              </a:rPr>
              <a:t>ALT + Tab</a:t>
            </a:r>
          </a:p>
          <a:p>
            <a:pPr eaLnBrk="1" hangingPunct="1"/>
            <a:endParaRPr lang="en-US" altLang="en-US" sz="3600" dirty="0"/>
          </a:p>
          <a:p>
            <a:pPr eaLnBrk="1" hangingPunct="1"/>
            <a:endParaRPr lang="en-US" altLang="en-US" sz="3600" dirty="0"/>
          </a:p>
          <a:p>
            <a:pPr eaLnBrk="1" hangingPunct="1"/>
            <a:endParaRPr lang="en-US" altLang="en-US" sz="36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3200" dirty="0"/>
          </a:p>
          <a:p>
            <a:pPr algn="r" eaLnBrk="1" hangingPunct="1"/>
            <a:endParaRPr lang="en-US" altLang="en-US" sz="2800" dirty="0"/>
          </a:p>
        </p:txBody>
      </p:sp>
      <p:pic>
        <p:nvPicPr>
          <p:cNvPr id="16389" name="Picture 1">
            <a:extLst>
              <a:ext uri="{FF2B5EF4-FFF2-40B4-BE49-F238E27FC236}">
                <a16:creationId xmlns:a16="http://schemas.microsoft.com/office/drawing/2014/main" id="{F0E42CD9-9C01-43AC-9DF5-72EDDB3B7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4191001"/>
            <a:ext cx="62103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6">
            <a:extLst>
              <a:ext uri="{FF2B5EF4-FFF2-40B4-BE49-F238E27FC236}">
                <a16:creationId xmlns:a16="http://schemas.microsoft.com/office/drawing/2014/main" id="{014BC31B-A9DD-4CC9-82D7-12FC2FC66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 Box 8">
            <a:extLst>
              <a:ext uri="{FF2B5EF4-FFF2-40B4-BE49-F238E27FC236}">
                <a16:creationId xmlns:a16="http://schemas.microsoft.com/office/drawing/2014/main" id="{C54637FC-D086-4746-B085-C41D1BDE0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905001"/>
            <a:ext cx="8671560" cy="4524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dirty="0"/>
              <a:t>When you click the </a:t>
            </a:r>
            <a:r>
              <a:rPr lang="en-US" altLang="en-US" sz="3600" dirty="0">
                <a:solidFill>
                  <a:srgbClr val="FF0000"/>
                </a:solidFill>
              </a:rPr>
              <a:t>maximize / restore</a:t>
            </a:r>
            <a:r>
              <a:rPr lang="en-US" altLang="en-US" sz="3600" dirty="0"/>
              <a:t> button the program assumes the same shape and size it was before you minimized it.</a:t>
            </a:r>
          </a:p>
          <a:p>
            <a:pPr eaLnBrk="1" hangingPunct="1"/>
            <a:r>
              <a:rPr lang="en-US" altLang="en-US" sz="3600" dirty="0"/>
              <a:t>Or</a:t>
            </a:r>
          </a:p>
          <a:p>
            <a:pPr eaLnBrk="1" hangingPunct="1"/>
            <a:r>
              <a:rPr lang="en-US" altLang="en-US" sz="3600" dirty="0"/>
              <a:t>The program window will fill the screen.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algn="r" eaLnBrk="1" hangingPunct="1"/>
            <a:endParaRPr lang="en-US" altLang="en-US" sz="2400" dirty="0"/>
          </a:p>
        </p:txBody>
      </p:sp>
      <p:pic>
        <p:nvPicPr>
          <p:cNvPr id="17412" name="Picture 7" descr="program buttons">
            <a:extLst>
              <a:ext uri="{FF2B5EF4-FFF2-40B4-BE49-F238E27FC236}">
                <a16:creationId xmlns:a16="http://schemas.microsoft.com/office/drawing/2014/main" id="{5728E260-7F82-496A-A5C8-B8190A237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721100"/>
            <a:ext cx="3886200" cy="8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FDD3F0-6843-4EF3-9A2F-FF7A69396A38}"/>
              </a:ext>
            </a:extLst>
          </p:cNvPr>
          <p:cNvSpPr/>
          <p:nvPr/>
        </p:nvSpPr>
        <p:spPr>
          <a:xfrm>
            <a:off x="6858000" y="3770314"/>
            <a:ext cx="838200" cy="7254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2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FB1A11B5-D00F-4F07-BA1E-07358C0BC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Text Box 5">
            <a:extLst>
              <a:ext uri="{FF2B5EF4-FFF2-40B4-BE49-F238E27FC236}">
                <a16:creationId xmlns:a16="http://schemas.microsoft.com/office/drawing/2014/main" id="{BA810046-7503-4330-B3EA-459978294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676400"/>
            <a:ext cx="8782050" cy="4770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dirty="0"/>
              <a:t>When you click the </a:t>
            </a:r>
            <a:r>
              <a:rPr lang="en-US" altLang="en-US" sz="3600" dirty="0">
                <a:solidFill>
                  <a:srgbClr val="FF0000"/>
                </a:solidFill>
              </a:rPr>
              <a:t>close</a:t>
            </a:r>
            <a:r>
              <a:rPr lang="en-US" altLang="en-US" sz="3600" dirty="0"/>
              <a:t> button the program will ask you if you want to save the changes, if you have made any changes. Once you have responded to this question the program will close.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algn="r" eaLnBrk="1" hangingPunct="1"/>
            <a:endParaRPr lang="en-US" altLang="en-US" sz="2800" dirty="0"/>
          </a:p>
        </p:txBody>
      </p:sp>
      <p:pic>
        <p:nvPicPr>
          <p:cNvPr id="18436" name="Picture 4" descr="program buttons">
            <a:extLst>
              <a:ext uri="{FF2B5EF4-FFF2-40B4-BE49-F238E27FC236}">
                <a16:creationId xmlns:a16="http://schemas.microsoft.com/office/drawing/2014/main" id="{DFA7CDE9-44E2-42B9-8EC9-3E0398B12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748214"/>
            <a:ext cx="3886200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D92DD0-CF69-44D8-8563-9B1573C7ECFD}"/>
              </a:ext>
            </a:extLst>
          </p:cNvPr>
          <p:cNvSpPr/>
          <p:nvPr/>
        </p:nvSpPr>
        <p:spPr>
          <a:xfrm>
            <a:off x="7232650" y="4773613"/>
            <a:ext cx="838200" cy="7477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776270"/>
          </a:xfrm>
        </p:spPr>
        <p:txBody>
          <a:bodyPr/>
          <a:lstStyle/>
          <a:p>
            <a:pPr algn="ctr"/>
            <a:r>
              <a:rPr lang="en-GB" dirty="0"/>
              <a:t>Rulers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0108"/>
            <a:ext cx="12191999" cy="585789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 </a:t>
            </a: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  </a:t>
            </a:r>
            <a:r>
              <a:rPr lang="en-GB" dirty="0"/>
              <a:t>Word has two rulers - a </a:t>
            </a:r>
            <a:r>
              <a:rPr lang="en-GB" b="1" dirty="0"/>
              <a:t>horizontal ruler </a:t>
            </a:r>
            <a:r>
              <a:rPr lang="en-GB" dirty="0"/>
              <a:t>and a </a:t>
            </a:r>
            <a:r>
              <a:rPr lang="en-GB" b="1" dirty="0"/>
              <a:t>vertical ruler</a:t>
            </a:r>
            <a:r>
              <a:rPr lang="en-GB" dirty="0"/>
              <a:t>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 The </a:t>
            </a:r>
            <a:r>
              <a:rPr lang="en-GB" b="1" dirty="0"/>
              <a:t>horizontal ruler </a:t>
            </a:r>
            <a:r>
              <a:rPr lang="en-GB" dirty="0"/>
              <a:t>appears just beneath the Ribbon and is used to </a:t>
            </a:r>
            <a:r>
              <a:rPr lang="en-GB" b="1" dirty="0"/>
              <a:t>set margins and tab stops</a:t>
            </a:r>
            <a:r>
              <a:rPr lang="en-GB" dirty="0"/>
              <a:t>.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	The </a:t>
            </a:r>
            <a:r>
              <a:rPr lang="en-GB" b="1" dirty="0"/>
              <a:t>vertical ruler</a:t>
            </a:r>
            <a:r>
              <a:rPr lang="en-GB" dirty="0"/>
              <a:t> appears on the </a:t>
            </a:r>
            <a:r>
              <a:rPr lang="en-GB" b="1" dirty="0"/>
              <a:t>left edge </a:t>
            </a:r>
            <a:r>
              <a:rPr lang="en-GB" dirty="0"/>
              <a:t>of the Word window and is used to </a:t>
            </a:r>
            <a:r>
              <a:rPr lang="en-GB" b="1" dirty="0"/>
              <a:t>gauge the vertical position</a:t>
            </a:r>
            <a:r>
              <a:rPr lang="en-GB" dirty="0"/>
              <a:t> of elements on the page.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7500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776270"/>
          </a:xfrm>
        </p:spPr>
        <p:txBody>
          <a:bodyPr/>
          <a:lstStyle/>
          <a:p>
            <a:pPr algn="ctr"/>
            <a:r>
              <a:rPr lang="en-US" dirty="0"/>
              <a:t>To show or hide the Ruler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811" y="1000108"/>
            <a:ext cx="11873133" cy="585789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 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7800DE-8FFB-4B48-AD46-6D718CDBC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56" y="928670"/>
            <a:ext cx="11751212" cy="566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117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68931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Using the Tell me feature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3" y="689317"/>
            <a:ext cx="11591778" cy="5880295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/>
              <a:t>If you're having trouble finding a command you want, the </a:t>
            </a:r>
            <a:r>
              <a:rPr lang="en-US" b="1" dirty="0"/>
              <a:t>Tell Me feature can help</a:t>
            </a:r>
            <a:r>
              <a:rPr lang="en-US" dirty="0"/>
              <a:t>. It works just like a </a:t>
            </a:r>
            <a:r>
              <a:rPr lang="en-US" b="1" dirty="0"/>
              <a:t>regular search bar</a:t>
            </a:r>
            <a:r>
              <a:rPr lang="en-US" dirty="0"/>
              <a:t>. Type what you're looking for, and a list of options will appear. You can then use the command directly from the menu without having to find it on the Ribbon.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A6407-C23D-48B2-A891-682249B83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203" y="3052689"/>
            <a:ext cx="6878397" cy="365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959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53691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Zoom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7" y="689317"/>
            <a:ext cx="11901268" cy="601628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The zoom control consists of a </a:t>
            </a:r>
            <a:r>
              <a:rPr lang="en-GB" b="1" dirty="0"/>
              <a:t>slider</a:t>
            </a:r>
            <a:r>
              <a:rPr lang="en-GB" dirty="0"/>
              <a:t> that you can slide </a:t>
            </a:r>
            <a:r>
              <a:rPr lang="en-GB" b="1" dirty="0"/>
              <a:t>left</a:t>
            </a:r>
            <a:r>
              <a:rPr lang="en-GB" dirty="0"/>
              <a:t> or </a:t>
            </a:r>
            <a:r>
              <a:rPr lang="en-GB" b="1" dirty="0"/>
              <a:t>right</a:t>
            </a:r>
            <a:r>
              <a:rPr lang="en-GB" dirty="0"/>
              <a:t> to zoom in or out; you can click the </a:t>
            </a:r>
            <a:r>
              <a:rPr lang="en-GB" b="1" dirty="0"/>
              <a:t>+</a:t>
            </a:r>
            <a:r>
              <a:rPr lang="en-GB" dirty="0"/>
              <a:t> buttons to </a:t>
            </a:r>
            <a:r>
              <a:rPr lang="en-GB" b="1" dirty="0"/>
              <a:t>increase</a:t>
            </a:r>
            <a:r>
              <a:rPr lang="en-GB" dirty="0"/>
              <a:t> or </a:t>
            </a:r>
            <a:r>
              <a:rPr lang="en-GB" b="1" dirty="0"/>
              <a:t>– </a:t>
            </a:r>
            <a:r>
              <a:rPr lang="en-GB" dirty="0"/>
              <a:t>button to </a:t>
            </a:r>
            <a:r>
              <a:rPr lang="en-GB" b="1" dirty="0"/>
              <a:t>decrease</a:t>
            </a:r>
            <a:r>
              <a:rPr lang="en-GB" dirty="0"/>
              <a:t> the zoom factor.</a:t>
            </a:r>
          </a:p>
          <a:p>
            <a:pPr algn="just">
              <a:buNone/>
            </a:pPr>
            <a:r>
              <a:rPr lang="en-GB" dirty="0">
                <a:solidFill>
                  <a:srgbClr val="FF0000"/>
                </a:solidFill>
              </a:rPr>
              <a:t>	</a:t>
            </a:r>
            <a:r>
              <a:rPr lang="en-US" dirty="0"/>
              <a:t>To zoom in or out, click and drag the </a:t>
            </a:r>
            <a:r>
              <a:rPr lang="en-US" b="1" dirty="0"/>
              <a:t>zoom control slider </a:t>
            </a:r>
            <a:r>
              <a:rPr lang="en-US" dirty="0"/>
              <a:t>in the </a:t>
            </a:r>
            <a:r>
              <a:rPr lang="en-US" b="1" dirty="0">
                <a:solidFill>
                  <a:srgbClr val="FF0000"/>
                </a:solidFill>
              </a:rPr>
              <a:t>bottom-right corner </a:t>
            </a:r>
            <a:r>
              <a:rPr lang="en-US" dirty="0"/>
              <a:t>of the Word window.</a:t>
            </a:r>
          </a:p>
          <a:p>
            <a:pPr algn="just">
              <a:buNone/>
            </a:pPr>
            <a:r>
              <a:rPr lang="en-US" dirty="0"/>
              <a:t>   The number next to the slider displays the current zoom percentage, also called the </a:t>
            </a:r>
            <a:r>
              <a:rPr lang="en-US" b="1" dirty="0">
                <a:solidFill>
                  <a:srgbClr val="FF0000"/>
                </a:solidFill>
              </a:rPr>
              <a:t>zoom level</a:t>
            </a:r>
            <a:r>
              <a:rPr lang="en-US" dirty="0"/>
              <a:t>.</a:t>
            </a:r>
            <a:endParaRPr lang="en-GB" dirty="0"/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BFA2E-8F8E-4074-95F7-7C79D536E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855" y="4093698"/>
            <a:ext cx="6559209" cy="281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5351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446" y="152400"/>
            <a:ext cx="8968154" cy="776270"/>
          </a:xfrm>
        </p:spPr>
        <p:txBody>
          <a:bodyPr/>
          <a:lstStyle/>
          <a:p>
            <a:pPr algn="ctr"/>
            <a:r>
              <a:rPr lang="en-GB" dirty="0"/>
              <a:t>Document views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218" y="1000108"/>
            <a:ext cx="11507373" cy="585789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  </a:t>
            </a:r>
            <a:r>
              <a:rPr lang="en-US" dirty="0"/>
              <a:t>You can choose to view your document in </a:t>
            </a:r>
            <a:r>
              <a:rPr lang="en-US" b="1" dirty="0"/>
              <a:t>Read Mode</a:t>
            </a:r>
            <a:r>
              <a:rPr lang="en-US" dirty="0"/>
              <a:t>, </a:t>
            </a:r>
            <a:r>
              <a:rPr lang="en-US" b="1" dirty="0"/>
              <a:t>Print Layout</a:t>
            </a:r>
            <a:r>
              <a:rPr lang="en-US" dirty="0"/>
              <a:t>, or </a:t>
            </a:r>
            <a:r>
              <a:rPr lang="en-US" b="1" dirty="0"/>
              <a:t>Web Layout</a:t>
            </a:r>
            <a:r>
              <a:rPr lang="en-US" dirty="0"/>
              <a:t>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 Switching between different document views is easy.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 Just locate and select the desired document view command in the bottom-right corner of the Word window.</a:t>
            </a:r>
            <a:endParaRPr lang="en-GB" dirty="0"/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8935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22386"/>
            <a:ext cx="8839200" cy="38227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Switching document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948" y="548680"/>
            <a:ext cx="11995052" cy="630932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Read Mode</a:t>
            </a:r>
            <a:r>
              <a:rPr lang="en-US" b="1" dirty="0"/>
              <a:t>: </a:t>
            </a:r>
            <a:r>
              <a:rPr lang="en-US" dirty="0"/>
              <a:t>This view opens the document to a </a:t>
            </a:r>
            <a:r>
              <a:rPr lang="en-US" b="1" dirty="0"/>
              <a:t>full screen</a:t>
            </a:r>
            <a:r>
              <a:rPr lang="en-US" dirty="0"/>
              <a:t>. This view is great for </a:t>
            </a:r>
            <a:r>
              <a:rPr lang="en-US" b="1" dirty="0"/>
              <a:t>reading large amounts of text</a:t>
            </a:r>
            <a:r>
              <a:rPr lang="en-US" dirty="0"/>
              <a:t> or simply </a:t>
            </a:r>
            <a:r>
              <a:rPr lang="en-US" b="1" dirty="0"/>
              <a:t>reviewing your work</a:t>
            </a:r>
            <a:r>
              <a:rPr lang="en-US" dirty="0"/>
              <a:t>.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3CE72-F708-4354-8ECB-0117B5E15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924" y="1913206"/>
            <a:ext cx="7912787" cy="469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947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22386"/>
            <a:ext cx="8839200" cy="38227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Switching document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948" y="548680"/>
            <a:ext cx="11995052" cy="630932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Print Layout</a:t>
            </a:r>
            <a:r>
              <a:rPr lang="en-US" b="1" dirty="0"/>
              <a:t>: </a:t>
            </a:r>
            <a:r>
              <a:rPr lang="en-US" dirty="0"/>
              <a:t>This is the default document view in Word. It shows what the document will look like on the printed page.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274B2F-C23C-4377-B3C3-EA571167C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486" y="2203718"/>
            <a:ext cx="741997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24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22386"/>
            <a:ext cx="8839200" cy="38227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Switching document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948" y="548680"/>
            <a:ext cx="11995052" cy="630932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Web Layout</a:t>
            </a:r>
            <a:r>
              <a:rPr lang="en-US" b="1" dirty="0"/>
              <a:t>: </a:t>
            </a:r>
            <a:r>
              <a:rPr lang="en-US" dirty="0"/>
              <a:t>This view displays the document as a </a:t>
            </a:r>
            <a:r>
              <a:rPr lang="en-US" b="1" dirty="0"/>
              <a:t>webpage</a:t>
            </a:r>
            <a:r>
              <a:rPr lang="en-US" dirty="0"/>
              <a:t>, which can be helpful if you're using Word to publish content online.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4DA86-3FA5-4D2B-895A-1229E75F5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48" y="1786597"/>
            <a:ext cx="8624229" cy="492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753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"/>
            <a:ext cx="8839200" cy="51816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Document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489" y="533400"/>
            <a:ext cx="11619914" cy="6172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This is the area where you type. </a:t>
            </a:r>
          </a:p>
          <a:p>
            <a:pPr algn="just">
              <a:buNone/>
            </a:pPr>
            <a:r>
              <a:rPr lang="en-GB" dirty="0"/>
              <a:t>   The </a:t>
            </a:r>
            <a:r>
              <a:rPr lang="en-GB" b="1" dirty="0"/>
              <a:t>flashing vertical bar </a:t>
            </a:r>
            <a:r>
              <a:rPr lang="en-GB" dirty="0"/>
              <a:t>is called the </a:t>
            </a:r>
            <a:r>
              <a:rPr lang="en-GB" b="1" dirty="0"/>
              <a:t>insertion point </a:t>
            </a:r>
            <a:r>
              <a:rPr lang="en-GB" dirty="0"/>
              <a:t>and it represents the location where text will appear when you type.</a:t>
            </a:r>
          </a:p>
          <a:p>
            <a:pPr algn="just">
              <a:buNone/>
            </a:pPr>
            <a:r>
              <a:rPr lang="en-US" dirty="0"/>
              <a:t>    When a new blank document opens, the insertion point will appear in the </a:t>
            </a:r>
            <a:r>
              <a:rPr lang="en-US" b="1" dirty="0"/>
              <a:t>top-left corner </a:t>
            </a:r>
            <a:r>
              <a:rPr lang="en-US" dirty="0"/>
              <a:t>of the page.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243C4C-FA3F-4A67-98C5-1F278CCE2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230880"/>
            <a:ext cx="600456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4035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776270"/>
          </a:xfrm>
        </p:spPr>
        <p:txBody>
          <a:bodyPr/>
          <a:lstStyle/>
          <a:p>
            <a:pPr algn="ctr"/>
            <a:r>
              <a:rPr lang="en-GB" dirty="0"/>
              <a:t>Status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000108"/>
            <a:ext cx="11718388" cy="557216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This displays the document information as well as the insertion point location. </a:t>
            </a:r>
          </a:p>
          <a:p>
            <a:pPr algn="just">
              <a:buNone/>
            </a:pPr>
            <a:endParaRPr lang="en-GB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GB" dirty="0"/>
              <a:t>   From left to right, this bar contains the </a:t>
            </a:r>
            <a:r>
              <a:rPr lang="en-GB" b="1" dirty="0"/>
              <a:t>total number of pages and words in the document, language</a:t>
            </a:r>
            <a:r>
              <a:rPr lang="en-GB" dirty="0"/>
              <a:t>, etc.</a:t>
            </a:r>
          </a:p>
          <a:p>
            <a:pPr algn="just">
              <a:buNone/>
            </a:pPr>
            <a:endParaRPr lang="en-GB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GB" dirty="0"/>
              <a:t>   You can configure the status bar by </a:t>
            </a:r>
            <a:r>
              <a:rPr lang="en-GB" b="1" dirty="0"/>
              <a:t>right-clicking</a:t>
            </a:r>
            <a:r>
              <a:rPr lang="en-GB" dirty="0"/>
              <a:t> anywhere on it and by </a:t>
            </a:r>
            <a:r>
              <a:rPr lang="en-GB" b="1" dirty="0"/>
              <a:t>selecting or deselecting options </a:t>
            </a:r>
            <a:r>
              <a:rPr lang="en-GB" dirty="0"/>
              <a:t>from the provided list.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3546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607255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Configuring the Status Bar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700D33-F7BB-4F13-B6CD-2E327BC9F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20944"/>
          <a:stretch/>
        </p:blipFill>
        <p:spPr>
          <a:xfrm>
            <a:off x="858130" y="928670"/>
            <a:ext cx="9326880" cy="592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665329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776270"/>
          </a:xfrm>
        </p:spPr>
        <p:txBody>
          <a:bodyPr/>
          <a:lstStyle/>
          <a:p>
            <a:r>
              <a:rPr lang="en-GB" dirty="0"/>
              <a:t>Backstage View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1000108"/>
            <a:ext cx="11204812" cy="557216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This acts as the </a:t>
            </a:r>
            <a:r>
              <a:rPr lang="en-GB" b="1" dirty="0"/>
              <a:t>central place for managing your documents.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 The backstage view helps in creating </a:t>
            </a:r>
            <a:r>
              <a:rPr lang="en-GB" b="1" dirty="0"/>
              <a:t>new documents, saving and opening documents, printing and sharing documents</a:t>
            </a:r>
            <a:r>
              <a:rPr lang="en-GB" dirty="0"/>
              <a:t>, and so on.</a:t>
            </a:r>
          </a:p>
          <a:p>
            <a:pPr algn="just">
              <a:buNone/>
            </a:pPr>
            <a:endParaRPr lang="en-GB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GB" dirty="0"/>
              <a:t>   Getting to the Backstage View is easy: Just click the </a:t>
            </a:r>
            <a:r>
              <a:rPr lang="en-GB" b="1" dirty="0"/>
              <a:t>File tab</a:t>
            </a:r>
            <a:r>
              <a:rPr lang="en-GB" dirty="0"/>
              <a:t>, located in the upper-left corner of the Word Ribbon. 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9668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776270"/>
          </a:xfrm>
        </p:spPr>
        <p:txBody>
          <a:bodyPr/>
          <a:lstStyle/>
          <a:p>
            <a:r>
              <a:rPr lang="en-GB" dirty="0"/>
              <a:t>Backstage View in Word 2019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DEEB2F-CAC3-497A-B7FD-20F7E0A22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86" y="928670"/>
            <a:ext cx="11746523" cy="592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55650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77627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Entering Text - Microsoft Word 2019</a:t>
            </a:r>
            <a:br>
              <a:rPr lang="en-GB" dirty="0">
                <a:solidFill>
                  <a:srgbClr val="FF0000"/>
                </a:solidFill>
              </a:rPr>
            </a:b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45" y="1000108"/>
            <a:ext cx="11437735" cy="585789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Document area is the area where you type your text.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 The flashing vertical bar is called the </a:t>
            </a:r>
            <a:r>
              <a:rPr lang="en-GB" b="1" dirty="0"/>
              <a:t>insertion point </a:t>
            </a:r>
            <a:r>
              <a:rPr lang="en-GB" dirty="0"/>
              <a:t>and it represents the </a:t>
            </a:r>
            <a:r>
              <a:rPr lang="en-GB" b="1" dirty="0"/>
              <a:t>location where the text will appear when you type.</a:t>
            </a:r>
          </a:p>
          <a:p>
            <a:pPr algn="just">
              <a:buNone/>
            </a:pPr>
            <a:endParaRPr lang="en-GB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GB" dirty="0"/>
              <a:t>    keep the cursor at the text insertion point and start typing the text. We typed only two words </a:t>
            </a:r>
            <a:r>
              <a:rPr lang="en-GB" b="1" dirty="0"/>
              <a:t>"Hello Word" </a:t>
            </a:r>
            <a:r>
              <a:rPr lang="en-GB" dirty="0"/>
              <a:t>as shown below.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0112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594361"/>
          </a:xfrm>
        </p:spPr>
        <p:txBody>
          <a:bodyPr>
            <a:normAutofit fontScale="90000"/>
          </a:bodyPr>
          <a:lstStyle/>
          <a:p>
            <a:pPr algn="ctr"/>
            <a:br>
              <a:rPr lang="en-GB" dirty="0"/>
            </a:br>
            <a:r>
              <a:rPr lang="en-GB" dirty="0"/>
              <a:t>Entering Text - Microsoft Word 2019</a:t>
            </a:r>
            <a:br>
              <a:rPr lang="en-GB" dirty="0"/>
            </a:b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A7493-4102-4171-9918-882ADB425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357"/>
            <a:ext cx="12192000" cy="614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82147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92867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Move Around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000108"/>
            <a:ext cx="12192000" cy="585789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To begin with, let us create some sample text.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 To create a sample text, there is a short cut available.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 Open a new document and type </a:t>
            </a:r>
            <a:r>
              <a:rPr lang="en-GB" b="1" dirty="0">
                <a:solidFill>
                  <a:srgbClr val="FF0000"/>
                </a:solidFill>
              </a:rPr>
              <a:t>=rand()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and press Enter. Word will create the following content for you.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2229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92867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Move Around in Word 2019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DA31DC-7F94-42FB-9460-862228B6F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2480"/>
            <a:ext cx="12192000" cy="606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01512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92867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Moving with Mouse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433" y="1000108"/>
            <a:ext cx="11000095" cy="585789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You can easily move the insertion point by clicking in your text anywhere on the screen.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 There may be instances when a document is voluminous and you cannot see a place where you want to move.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 Here, you will have to </a:t>
            </a:r>
            <a:r>
              <a:rPr lang="en-GB" b="1" dirty="0"/>
              <a:t>right click on the scroll bar </a:t>
            </a:r>
            <a:r>
              <a:rPr lang="en-GB" dirty="0"/>
              <a:t>to help you move </a:t>
            </a:r>
            <a:r>
              <a:rPr lang="en-GB" b="1" dirty="0"/>
              <a:t>top</a:t>
            </a:r>
            <a:r>
              <a:rPr lang="en-GB" dirty="0"/>
              <a:t>, </a:t>
            </a:r>
            <a:r>
              <a:rPr lang="en-GB" b="1" dirty="0"/>
              <a:t>bottom</a:t>
            </a:r>
            <a:r>
              <a:rPr lang="en-GB" dirty="0"/>
              <a:t> of the page, as shown in the following screenshot −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7656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Move Around in Word 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A9BC2-0B66-4B06-B81A-5CA710B81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6672"/>
            <a:ext cx="12192000" cy="637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68660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Save and Save 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12192000" cy="62484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</a:t>
            </a:r>
            <a:r>
              <a:rPr lang="en-US" dirty="0"/>
              <a:t>Word offers two ways to save a file: </a:t>
            </a:r>
            <a:r>
              <a:rPr lang="en-US" b="1" i="1" dirty="0">
                <a:solidFill>
                  <a:srgbClr val="FF0000"/>
                </a:solidFill>
              </a:rPr>
              <a:t>Save </a:t>
            </a:r>
            <a:r>
              <a:rPr lang="en-US" dirty="0"/>
              <a:t>and </a:t>
            </a:r>
            <a:r>
              <a:rPr lang="en-US" b="1" i="1" dirty="0">
                <a:solidFill>
                  <a:srgbClr val="FF0000"/>
                </a:solidFill>
              </a:rPr>
              <a:t>Save As</a:t>
            </a:r>
            <a:r>
              <a:rPr lang="en-US" dirty="0"/>
              <a:t>. These options work in similar ways, with a few important differences.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FF0000"/>
                </a:solidFill>
              </a:rPr>
              <a:t>Save</a:t>
            </a:r>
            <a:r>
              <a:rPr lang="en-US" dirty="0"/>
              <a:t>: When you create or edit a document, you'll use the Save command to save your changes. You'll use this command most of the time. When you save a file, you'll only need to choose a </a:t>
            </a:r>
            <a:r>
              <a:rPr lang="en-US" b="1" dirty="0"/>
              <a:t>file name </a:t>
            </a:r>
            <a:r>
              <a:rPr lang="en-US" dirty="0"/>
              <a:t>and </a:t>
            </a:r>
            <a:r>
              <a:rPr lang="en-US" b="1" dirty="0"/>
              <a:t>location</a:t>
            </a:r>
            <a:r>
              <a:rPr lang="en-US" dirty="0"/>
              <a:t> the first time. After that, you can click the </a:t>
            </a:r>
            <a:r>
              <a:rPr lang="en-US" b="1" dirty="0"/>
              <a:t>Save</a:t>
            </a:r>
            <a:r>
              <a:rPr lang="en-US" dirty="0"/>
              <a:t> command to save it with the same name and location.</a:t>
            </a:r>
          </a:p>
          <a:p>
            <a:pPr algn="just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FF0000"/>
                </a:solidFill>
              </a:rPr>
              <a:t>Save As</a:t>
            </a:r>
            <a:r>
              <a:rPr lang="en-US" dirty="0"/>
              <a:t>: You'll use this command to create a copy of a document while keeping the original. When you use Save As, you'll need to choose a different name and/or location for the copied version.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4406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928670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Save Document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0108"/>
            <a:ext cx="12192000" cy="585789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    It's important to save your document whenever you start a new project or make changes to an existing one.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 Saving early and often can prevent your work from being lost.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You'll also need to pay close attention to where you save the document so it will be easy to find later.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5012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92867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Save Document in Word 2019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104F87-ED0C-4A46-87BE-F878D0046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670"/>
            <a:ext cx="12192000" cy="592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73586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Save Document in Word 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2EB8F-E65D-47B4-8783-BF12D7543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356"/>
            <a:ext cx="12192000" cy="614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12548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Save Document in Word 2019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4B3FC2-C71B-4CBA-943F-A90051FDC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14356"/>
            <a:ext cx="12192000" cy="614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26344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92867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Using Save As to make a copy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0108"/>
            <a:ext cx="12192000" cy="5857892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/>
              <a:t>   You can also access the Save command by pressing </a:t>
            </a:r>
            <a:r>
              <a:rPr lang="en-US" b="1" dirty="0" err="1"/>
              <a:t>Ctrl+S</a:t>
            </a:r>
            <a:r>
              <a:rPr lang="en-US" dirty="0"/>
              <a:t> on your keyboard.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 If you want to save a different version of a document while keeping the original, you can create a copy.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 For example, if you have a file named </a:t>
            </a:r>
            <a:r>
              <a:rPr lang="en-US" b="1" dirty="0"/>
              <a:t>Sales Report</a:t>
            </a:r>
            <a:r>
              <a:rPr lang="en-US" dirty="0"/>
              <a:t>, you could save it as </a:t>
            </a:r>
            <a:r>
              <a:rPr lang="en-US" b="1" dirty="0"/>
              <a:t>Sales Report 2 </a:t>
            </a:r>
            <a:r>
              <a:rPr lang="en-US" dirty="0"/>
              <a:t>so you'll be able to edit the new file and still refer back to the original version.</a:t>
            </a: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86447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92867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Using Save As to make a copy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0108"/>
            <a:ext cx="12192000" cy="585789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   </a:t>
            </a: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09E53-BC3C-429B-A583-9D48E674A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7720"/>
            <a:ext cx="12192000" cy="605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513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 err="1"/>
              <a:t>AutoRecover</a:t>
            </a:r>
            <a:r>
              <a:rPr lang="en-GB" dirty="0"/>
              <a:t>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" y="785794"/>
            <a:ext cx="1208532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   Word automatically saves your documents to a </a:t>
            </a:r>
            <a:r>
              <a:rPr lang="en-US" b="1" dirty="0"/>
              <a:t>temporary folder </a:t>
            </a:r>
            <a:r>
              <a:rPr lang="en-US" dirty="0"/>
              <a:t>while you are working on them.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 If you forget to save your changes or if Word crashes, you can restore the file using </a:t>
            </a:r>
            <a:r>
              <a:rPr lang="en-US" b="1" dirty="0" err="1"/>
              <a:t>AutoRecover</a:t>
            </a:r>
            <a:r>
              <a:rPr lang="en-US" dirty="0"/>
              <a:t>.</a:t>
            </a: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dirty="0"/>
              <a:t>    By default, Word autosaves every </a:t>
            </a:r>
            <a:r>
              <a:rPr lang="en-US" b="1" dirty="0"/>
              <a:t>10 minutes</a:t>
            </a:r>
            <a:r>
              <a:rPr lang="en-US" dirty="0"/>
              <a:t>. If you are editing a document for less than 10 minutes, Word may not create an autosaved version.</a:t>
            </a:r>
          </a:p>
        </p:txBody>
      </p:sp>
    </p:spTree>
    <p:extLst>
      <p:ext uri="{BB962C8B-B14F-4D97-AF65-F5344CB8AC3E}">
        <p14:creationId xmlns:p14="http://schemas.microsoft.com/office/powerpoint/2010/main" val="22512180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To use </a:t>
            </a:r>
            <a:r>
              <a:rPr lang="en-GB" dirty="0" err="1"/>
              <a:t>AutoRecover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07E32E-4411-4FE2-ACFA-8086A1CF8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5760" y="714356"/>
            <a:ext cx="11231880" cy="614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59769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5638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To use </a:t>
            </a:r>
            <a:r>
              <a:rPr lang="en-GB" dirty="0" err="1"/>
              <a:t>AutoRecover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C65B12-E772-4DF8-AC45-DC0BEE634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3880"/>
            <a:ext cx="12192000" cy="6294120"/>
          </a:xfrm>
        </p:spPr>
        <p:txBody>
          <a:bodyPr/>
          <a:lstStyle/>
          <a:p>
            <a:r>
              <a:rPr lang="en-US" dirty="0"/>
              <a:t>If you don't see the file you need, you can browse all autosaved files from </a:t>
            </a:r>
            <a:r>
              <a:rPr lang="en-US" b="1" dirty="0"/>
              <a:t>Backstage view</a:t>
            </a:r>
            <a:r>
              <a:rPr lang="en-US" dirty="0"/>
              <a:t>. </a:t>
            </a:r>
          </a:p>
          <a:p>
            <a:r>
              <a:rPr lang="en-US" dirty="0"/>
              <a:t>Select the </a:t>
            </a:r>
            <a:r>
              <a:rPr lang="en-US" b="1" dirty="0"/>
              <a:t>File tab</a:t>
            </a:r>
            <a:r>
              <a:rPr lang="en-US" dirty="0"/>
              <a:t>, </a:t>
            </a:r>
            <a:r>
              <a:rPr lang="en-US" b="1" dirty="0"/>
              <a:t>click on the info tab</a:t>
            </a:r>
            <a:r>
              <a:rPr lang="en-US" dirty="0"/>
              <a:t>,  </a:t>
            </a:r>
            <a:r>
              <a:rPr lang="en-US" b="1" dirty="0"/>
              <a:t>click on Manage document</a:t>
            </a:r>
            <a:r>
              <a:rPr lang="en-US" dirty="0"/>
              <a:t>, then choose </a:t>
            </a:r>
            <a:r>
              <a:rPr lang="en-US" b="1" dirty="0"/>
              <a:t>Recover Unsaved Documents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5B286D-A802-4EB3-9123-043DBE720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2720"/>
            <a:ext cx="12192000" cy="41436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A0AAFE-D896-4297-8E0A-1AE528A77FA1}"/>
              </a:ext>
            </a:extLst>
          </p:cNvPr>
          <p:cNvSpPr/>
          <p:nvPr/>
        </p:nvSpPr>
        <p:spPr>
          <a:xfrm>
            <a:off x="0" y="3078480"/>
            <a:ext cx="899160" cy="243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C54E18-C2B1-4886-AA69-D9E52081E75F}"/>
              </a:ext>
            </a:extLst>
          </p:cNvPr>
          <p:cNvSpPr/>
          <p:nvPr/>
        </p:nvSpPr>
        <p:spPr>
          <a:xfrm>
            <a:off x="1432560" y="5181600"/>
            <a:ext cx="2377440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85093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Exporting documents 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785794"/>
            <a:ext cx="1194816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</a:t>
            </a:r>
            <a:r>
              <a:rPr lang="en-US" dirty="0"/>
              <a:t>By default, Word documents are saved in the </a:t>
            </a:r>
            <a:r>
              <a:rPr lang="en-US" b="1" dirty="0"/>
              <a:t>.docx </a:t>
            </a:r>
            <a:r>
              <a:rPr lang="en-US" dirty="0"/>
              <a:t>file type.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However, there may be times when you need to use another file type, such as a </a:t>
            </a:r>
            <a:r>
              <a:rPr lang="en-US" b="1" dirty="0"/>
              <a:t>PDF or Word 97-2003 document</a:t>
            </a:r>
            <a:r>
              <a:rPr lang="en-US" dirty="0"/>
              <a:t>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It's easy to export your document from Word to a variety of file types.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8076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0"/>
            <a:ext cx="935736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Exporting documents as a PDF file 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785794"/>
            <a:ext cx="1194816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    Exporting your document as an Adobe Acrobat document, commonly known as a PDF file, can be especially useful if you're sharing a document with someone who does not have Word.</a:t>
            </a: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dirty="0"/>
              <a:t>   A PDF file will make it possible for recipients to view—</a:t>
            </a:r>
            <a:r>
              <a:rPr lang="en-US" b="1" dirty="0"/>
              <a:t>but not edit</a:t>
            </a:r>
            <a:r>
              <a:rPr lang="en-US" dirty="0"/>
              <a:t>—the content of your document.</a:t>
            </a:r>
          </a:p>
        </p:txBody>
      </p:sp>
    </p:spTree>
    <p:extLst>
      <p:ext uri="{BB962C8B-B14F-4D97-AF65-F5344CB8AC3E}">
        <p14:creationId xmlns:p14="http://schemas.microsoft.com/office/powerpoint/2010/main" val="27323675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0"/>
            <a:ext cx="935736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Exporting documents as a PDF file 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785794"/>
            <a:ext cx="1194816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77B7C6-4452-4F01-971E-027580AEA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1070"/>
            <a:ext cx="6096001" cy="5916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97CB4A-C1AD-466E-80FE-673BB9AFB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41070"/>
            <a:ext cx="6096000" cy="591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599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0"/>
            <a:ext cx="1120140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Exporting documents to other file types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785794"/>
            <a:ext cx="1194816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    You may also find it helpful to export your document to other file types, like a </a:t>
            </a:r>
            <a:r>
              <a:rPr lang="en-US" b="1" dirty="0"/>
              <a:t>Word 97-2003 Document </a:t>
            </a:r>
            <a:r>
              <a:rPr lang="en-US" dirty="0"/>
              <a:t>if you need to share with people using an </a:t>
            </a:r>
            <a:r>
              <a:rPr lang="en-US" b="1" dirty="0"/>
              <a:t>older version of Word </a:t>
            </a:r>
            <a:r>
              <a:rPr lang="en-US" dirty="0"/>
              <a:t>or a </a:t>
            </a:r>
            <a:r>
              <a:rPr lang="en-US" b="1" dirty="0"/>
              <a:t>.txt file</a:t>
            </a:r>
            <a:r>
              <a:rPr lang="en-US" dirty="0"/>
              <a:t> if you need a </a:t>
            </a:r>
            <a:r>
              <a:rPr lang="en-US" b="1" dirty="0"/>
              <a:t>plain-text version </a:t>
            </a:r>
            <a:r>
              <a:rPr lang="en-US" dirty="0"/>
              <a:t>of your document.</a:t>
            </a:r>
          </a:p>
        </p:txBody>
      </p:sp>
    </p:spTree>
    <p:extLst>
      <p:ext uri="{BB962C8B-B14F-4D97-AF65-F5344CB8AC3E}">
        <p14:creationId xmlns:p14="http://schemas.microsoft.com/office/powerpoint/2010/main" val="17488916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0"/>
            <a:ext cx="1120140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Exporting documents to other file types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785794"/>
            <a:ext cx="1194816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34CF1-1736-4DDF-A0DE-32CAE9056B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244"/>
          <a:stretch/>
        </p:blipFill>
        <p:spPr>
          <a:xfrm>
            <a:off x="1" y="948690"/>
            <a:ext cx="6492239" cy="438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0D61B5-4D45-4BAE-964D-EDE07D4C4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1" y="948690"/>
            <a:ext cx="5699760" cy="438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28F196-E2CD-43B3-B16E-05969ED67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330190"/>
            <a:ext cx="12192000" cy="152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935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0"/>
            <a:ext cx="1120140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Exporting documents to other file types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785794"/>
            <a:ext cx="1194816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    You can also use the </a:t>
            </a:r>
            <a:r>
              <a:rPr lang="en-US" b="1" dirty="0"/>
              <a:t>Save as type drop-down </a:t>
            </a:r>
            <a:r>
              <a:rPr lang="en-US" dirty="0"/>
              <a:t>menu in the </a:t>
            </a:r>
            <a:r>
              <a:rPr lang="en-US" b="1" dirty="0"/>
              <a:t>Save As dialog box </a:t>
            </a:r>
            <a:r>
              <a:rPr lang="en-US" dirty="0"/>
              <a:t>to save documents to a variety of file types.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7CA5F-B444-4CD1-B658-C908EB867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912620"/>
            <a:ext cx="8549639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564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Opening a Document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785794"/>
            <a:ext cx="1194816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A new, blank document always opens when you start Microsoft Word.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 Suppose you want to start another new document while you are working on another document, or you closed an already opened document and want to start a new document.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4774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Opening a Document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714356"/>
            <a:ext cx="1135380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</a:t>
            </a:r>
            <a:r>
              <a:rPr lang="en-GB" b="1" dirty="0"/>
              <a:t>Step 1</a:t>
            </a:r>
            <a:r>
              <a:rPr lang="en-GB" dirty="0"/>
              <a:t> − Click the </a:t>
            </a:r>
            <a:r>
              <a:rPr lang="en-GB" b="1" dirty="0"/>
              <a:t>File tab</a:t>
            </a:r>
            <a:r>
              <a:rPr lang="en-GB" dirty="0"/>
              <a:t> and select the </a:t>
            </a:r>
            <a:r>
              <a:rPr lang="en-GB" b="1" dirty="0"/>
              <a:t>New</a:t>
            </a:r>
            <a:r>
              <a:rPr lang="en-GB" dirty="0"/>
              <a:t> option.</a:t>
            </a:r>
          </a:p>
          <a:p>
            <a:pPr algn="just">
              <a:buNone/>
            </a:pPr>
            <a:endParaRPr lang="en-GB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GB" dirty="0">
                <a:solidFill>
                  <a:srgbClr val="FF0000"/>
                </a:solidFill>
              </a:rPr>
              <a:t>	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89FAB3-8822-48EC-A544-CB551CBD4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9240"/>
            <a:ext cx="12192000" cy="53170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669C36-933B-440F-BED9-88E971FF1314}"/>
              </a:ext>
            </a:extLst>
          </p:cNvPr>
          <p:cNvSpPr/>
          <p:nvPr/>
        </p:nvSpPr>
        <p:spPr>
          <a:xfrm>
            <a:off x="0" y="2316480"/>
            <a:ext cx="1097280" cy="32004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B1DF52-3F5E-4C6A-A6AF-881B1B2B1BC0}"/>
              </a:ext>
            </a:extLst>
          </p:cNvPr>
          <p:cNvSpPr/>
          <p:nvPr/>
        </p:nvSpPr>
        <p:spPr>
          <a:xfrm>
            <a:off x="1676400" y="3169920"/>
            <a:ext cx="1584960" cy="170688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2380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/>
              <a:t>Opening a Document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5794"/>
            <a:ext cx="1200912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</a:t>
            </a:r>
            <a:r>
              <a:rPr lang="en-GB" b="1" dirty="0"/>
              <a:t>Step 2</a:t>
            </a:r>
            <a:r>
              <a:rPr lang="en-GB" dirty="0"/>
              <a:t> − When you select the </a:t>
            </a:r>
            <a:r>
              <a:rPr lang="en-GB" b="1" dirty="0"/>
              <a:t>New</a:t>
            </a:r>
            <a:r>
              <a:rPr lang="en-GB" dirty="0"/>
              <a:t> option from the first column, it will display a list of templates in the second column.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Double-click on the </a:t>
            </a:r>
            <a:r>
              <a:rPr lang="en-GB" b="1" dirty="0"/>
              <a:t>Blank document</a:t>
            </a:r>
            <a:r>
              <a:rPr lang="en-GB" dirty="0"/>
              <a:t>; this is the first option in the template list.</a:t>
            </a:r>
            <a:endParaRPr lang="en-GB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GB" dirty="0">
                <a:solidFill>
                  <a:srgbClr val="FF0000"/>
                </a:solidFill>
              </a:rPr>
              <a:t>	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9994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Opening a Document in Word 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D6515-1E16-4861-8754-6CBF7F1A1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356"/>
            <a:ext cx="12192000" cy="614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88956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Opening a Document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785794"/>
            <a:ext cx="1198880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You can use a shortcut to open a blank document anytime.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 Try using the </a:t>
            </a:r>
            <a:r>
              <a:rPr lang="en-GB" b="1" dirty="0"/>
              <a:t>Ctrl + N</a:t>
            </a:r>
            <a:r>
              <a:rPr lang="en-GB" dirty="0"/>
              <a:t> keys and you will see a new blank document similar to the one in the above screenshot.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5136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Opening Existing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5794"/>
            <a:ext cx="1219200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There may be a situation when you open an existing document and edit it partially or completely. Follow the steps given below to open an existing document </a:t>
            </a:r>
          </a:p>
          <a:p>
            <a:pPr algn="just">
              <a:buNone/>
            </a:pPr>
            <a:endParaRPr lang="en-GB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GB" b="1" dirty="0"/>
              <a:t>Step 1</a:t>
            </a:r>
            <a:r>
              <a:rPr lang="en-GB" dirty="0"/>
              <a:t> − Click the </a:t>
            </a:r>
            <a:r>
              <a:rPr lang="en-GB" b="1" dirty="0"/>
              <a:t>File tab</a:t>
            </a:r>
            <a:r>
              <a:rPr lang="en-GB" dirty="0"/>
              <a:t> and select the </a:t>
            </a:r>
            <a:r>
              <a:rPr lang="en-GB" b="1" dirty="0"/>
              <a:t>Open</a:t>
            </a:r>
            <a:r>
              <a:rPr lang="en-GB" dirty="0"/>
              <a:t> option.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4476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Opening Existing Document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E1B428-07F7-40F2-878A-33C0AE9EC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7640" y="714356"/>
            <a:ext cx="11826239" cy="61436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4B390D-7D90-427B-B3F5-C9BFCD95672E}"/>
              </a:ext>
            </a:extLst>
          </p:cNvPr>
          <p:cNvSpPr/>
          <p:nvPr/>
        </p:nvSpPr>
        <p:spPr>
          <a:xfrm>
            <a:off x="167640" y="1889760"/>
            <a:ext cx="1082040" cy="41148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BA7CAB-77AF-4C63-A278-6F6276C38A7B}"/>
              </a:ext>
            </a:extLst>
          </p:cNvPr>
          <p:cNvSpPr/>
          <p:nvPr/>
        </p:nvSpPr>
        <p:spPr>
          <a:xfrm>
            <a:off x="1554480" y="3429000"/>
            <a:ext cx="1493520" cy="746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71286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Opening Existing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5794"/>
            <a:ext cx="1219200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   </a:t>
            </a:r>
            <a:r>
              <a:rPr lang="en-GB" b="1" dirty="0"/>
              <a:t>Step 2</a:t>
            </a:r>
            <a:r>
              <a:rPr lang="en-GB" dirty="0"/>
              <a:t> − This will display the following file </a:t>
            </a:r>
            <a:r>
              <a:rPr lang="en-GB" b="1" dirty="0"/>
              <a:t>Open dialog box</a:t>
            </a:r>
            <a:r>
              <a:rPr lang="en-GB" dirty="0"/>
              <a:t>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 This lets you navigate through different folders and files, and also lets you select a file which you want to open.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EE4BC-D826-453D-A640-8A4E27DFAF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5" t="1615" r="50000" b="36512"/>
          <a:stretch/>
        </p:blipFill>
        <p:spPr>
          <a:xfrm>
            <a:off x="3048000" y="3032760"/>
            <a:ext cx="7467600" cy="382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700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Opening Existing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" y="785794"/>
            <a:ext cx="12085320" cy="6072206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GB" b="1" dirty="0"/>
              <a:t>Step 3</a:t>
            </a:r>
            <a:r>
              <a:rPr lang="en-GB" dirty="0"/>
              <a:t> − Finally, locate and select a file which you want to open and click the small triangle available on the </a:t>
            </a:r>
            <a:r>
              <a:rPr lang="en-GB" b="1" dirty="0"/>
              <a:t>Open</a:t>
            </a:r>
            <a:r>
              <a:rPr lang="en-GB" dirty="0"/>
              <a:t> button to open the file. </a:t>
            </a:r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  You will have different options to open the file, but simply use the </a:t>
            </a:r>
            <a:r>
              <a:rPr lang="en-GB" b="1" dirty="0"/>
              <a:t>Open</a:t>
            </a:r>
            <a:r>
              <a:rPr lang="en-GB" dirty="0"/>
              <a:t> option.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40D62-5559-4021-8B2F-B8F1A6C48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876" y="1715858"/>
            <a:ext cx="7468247" cy="38225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D6F24B-FDB9-4A83-B333-16F5C4D20F25}"/>
              </a:ext>
            </a:extLst>
          </p:cNvPr>
          <p:cNvSpPr/>
          <p:nvPr/>
        </p:nvSpPr>
        <p:spPr>
          <a:xfrm>
            <a:off x="7391400" y="5105400"/>
            <a:ext cx="1219200" cy="4329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149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Closing a Document in Word 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857232"/>
            <a:ext cx="90982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prstClr val="black"/>
                </a:solidFill>
              </a:rPr>
              <a:t>Step 1</a:t>
            </a:r>
            <a:r>
              <a:rPr lang="en-GB" sz="2800" dirty="0">
                <a:solidFill>
                  <a:prstClr val="black"/>
                </a:solidFill>
              </a:rPr>
              <a:t> − Click the </a:t>
            </a:r>
            <a:r>
              <a:rPr lang="en-GB" sz="2800" b="1" dirty="0">
                <a:solidFill>
                  <a:prstClr val="black"/>
                </a:solidFill>
              </a:rPr>
              <a:t>File tab</a:t>
            </a:r>
            <a:r>
              <a:rPr lang="en-GB" sz="2800" dirty="0">
                <a:solidFill>
                  <a:prstClr val="black"/>
                </a:solidFill>
              </a:rPr>
              <a:t> and select the </a:t>
            </a:r>
            <a:r>
              <a:rPr lang="en-GB" sz="2800" b="1" dirty="0">
                <a:solidFill>
                  <a:prstClr val="black"/>
                </a:solidFill>
              </a:rPr>
              <a:t>Close</a:t>
            </a:r>
            <a:r>
              <a:rPr lang="en-GB" sz="2800" dirty="0">
                <a:solidFill>
                  <a:prstClr val="black"/>
                </a:solidFill>
              </a:rPr>
              <a:t> option.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981CAD-E8AD-4FFA-AB2A-FC18A0611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360" y="1600200"/>
            <a:ext cx="11826240" cy="5257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AB301AF-BEA2-4A2E-A2EA-C5C0BAA2BC97}"/>
              </a:ext>
            </a:extLst>
          </p:cNvPr>
          <p:cNvSpPr/>
          <p:nvPr/>
        </p:nvSpPr>
        <p:spPr>
          <a:xfrm>
            <a:off x="228600" y="4434840"/>
            <a:ext cx="899160" cy="396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12697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/>
              <a:t>Closing a Document in Word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785794"/>
            <a:ext cx="11607800" cy="60722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b="1" dirty="0"/>
              <a:t>Step 2</a:t>
            </a:r>
            <a:r>
              <a:rPr lang="en-GB" dirty="0"/>
              <a:t> − When you select the </a:t>
            </a:r>
            <a:r>
              <a:rPr lang="en-GB" b="1" dirty="0"/>
              <a:t>Close</a:t>
            </a:r>
            <a:r>
              <a:rPr lang="en-GB" dirty="0"/>
              <a:t> option and if the document is not saved before closing, it will display the following Warning box asking whether the document should be saved or not.</a:t>
            </a:r>
          </a:p>
          <a:p>
            <a:pPr algn="just">
              <a:buNone/>
            </a:pPr>
            <a:endParaRPr lang="en-GB" dirty="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E12F7-1AB0-4E5E-BD19-BFF2A07FA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5520"/>
            <a:ext cx="12192000" cy="460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53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/>
              <a:t>Closing a Document in Word 2019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785794"/>
            <a:ext cx="12192000" cy="5643602"/>
          </a:xfrm>
        </p:spPr>
        <p:txBody>
          <a:bodyPr/>
          <a:lstStyle/>
          <a:p>
            <a:pPr marL="0" indent="0" algn="just">
              <a:buNone/>
            </a:pPr>
            <a:r>
              <a:rPr lang="en-GB" b="1" dirty="0"/>
              <a:t>Step 3</a:t>
            </a:r>
            <a:r>
              <a:rPr lang="en-GB" dirty="0"/>
              <a:t> − </a:t>
            </a:r>
          </a:p>
          <a:p>
            <a:pPr algn="just"/>
            <a:r>
              <a:rPr lang="en-GB" dirty="0"/>
              <a:t>To save the changes, click </a:t>
            </a:r>
            <a:r>
              <a:rPr lang="en-GB" b="1" dirty="0"/>
              <a:t>Save</a:t>
            </a:r>
            <a:r>
              <a:rPr lang="en-GB" dirty="0"/>
              <a:t>,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Otherwise click </a:t>
            </a:r>
            <a:r>
              <a:rPr lang="en-GB" b="1" dirty="0"/>
              <a:t>Don't Save</a:t>
            </a:r>
            <a:r>
              <a:rPr lang="en-GB" dirty="0"/>
              <a:t>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To go back to the document, click </a:t>
            </a:r>
            <a:r>
              <a:rPr lang="en-GB" b="1" dirty="0"/>
              <a:t>Cancel</a:t>
            </a:r>
            <a:r>
              <a:rPr lang="en-GB" dirty="0"/>
              <a:t>. This will close the document and if you have other documents open, Word displays the last document you used, otherwise, you see a blank Word window as shown below −</a:t>
            </a:r>
          </a:p>
        </p:txBody>
      </p:sp>
    </p:spTree>
    <p:extLst>
      <p:ext uri="{BB962C8B-B14F-4D97-AF65-F5344CB8AC3E}">
        <p14:creationId xmlns:p14="http://schemas.microsoft.com/office/powerpoint/2010/main" val="3299487242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14356"/>
          </a:xfrm>
        </p:spPr>
        <p:txBody>
          <a:bodyPr>
            <a:normAutofit/>
          </a:bodyPr>
          <a:lstStyle/>
          <a:p>
            <a:r>
              <a:rPr lang="en-GB" dirty="0"/>
              <a:t>Closing a Document in Word 2019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D0E783-261B-4014-9FF1-C8814E36A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14356"/>
            <a:ext cx="12191999" cy="614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78396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0" y="357188"/>
            <a:ext cx="9429750" cy="6500812"/>
          </a:xfrm>
        </p:spPr>
        <p:txBody>
          <a:bodyPr vert="horz" lIns="90488" tIns="44450" rIns="90488" bIns="44450" rtlCol="0">
            <a:normAutofit/>
          </a:bodyPr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3863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0" y="357188"/>
            <a:ext cx="9429750" cy="6500812"/>
          </a:xfrm>
        </p:spPr>
        <p:txBody>
          <a:bodyPr vert="horz" lIns="90488" tIns="44450" rIns="90488" bIns="44450" rtlCol="0">
            <a:normAutofit/>
          </a:bodyPr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sp>
        <p:nvSpPr>
          <p:cNvPr id="5" name="Rectangle 4"/>
          <p:cNvSpPr/>
          <p:nvPr/>
        </p:nvSpPr>
        <p:spPr>
          <a:xfrm>
            <a:off x="3595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</TotalTime>
  <Words>3047</Words>
  <Application>Microsoft Office PowerPoint</Application>
  <PresentationFormat>Widescreen</PresentationFormat>
  <Paragraphs>380</Paragraphs>
  <Slides>80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Arial</vt:lpstr>
      <vt:lpstr>Arial Black</vt:lpstr>
      <vt:lpstr>Calibri</vt:lpstr>
      <vt:lpstr>Wingdings</vt:lpstr>
      <vt:lpstr>1_Office Theme</vt:lpstr>
      <vt:lpstr>Office Theme</vt:lpstr>
      <vt:lpstr>PowerPoint Presentation</vt:lpstr>
      <vt:lpstr>Objectives Overview</vt:lpstr>
      <vt:lpstr>Objectives Overview</vt:lpstr>
      <vt:lpstr>What Is Word Processing?</vt:lpstr>
      <vt:lpstr>What Is Word Processing?</vt:lpstr>
      <vt:lpstr>What Is Word Processing?</vt:lpstr>
      <vt:lpstr>Getting Started Word 2019</vt:lpstr>
      <vt:lpstr>Getting Started Word 2019</vt:lpstr>
      <vt:lpstr>Getting Started Word 2019</vt:lpstr>
      <vt:lpstr>Getting Started Word 2019</vt:lpstr>
      <vt:lpstr>Explore Window in Word 2019</vt:lpstr>
      <vt:lpstr>File Tab</vt:lpstr>
      <vt:lpstr>Quick Access Toolbar</vt:lpstr>
      <vt:lpstr>How to add new commands to the Quick Access Toolbar</vt:lpstr>
      <vt:lpstr>How to add new commands to the Quick Access Toolbar</vt:lpstr>
      <vt:lpstr>How to add new commands to the Quick Access Toolbar</vt:lpstr>
      <vt:lpstr>Ribbon</vt:lpstr>
      <vt:lpstr>Ribbon</vt:lpstr>
      <vt:lpstr>Ribbon</vt:lpstr>
      <vt:lpstr>Ribbon</vt:lpstr>
      <vt:lpstr>Showing and hiding the Ribbon</vt:lpstr>
      <vt:lpstr>Showing and hiding the Ribbon</vt:lpstr>
      <vt:lpstr>Title bar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Rulers</vt:lpstr>
      <vt:lpstr>To show or hide the Ruler</vt:lpstr>
      <vt:lpstr>Using the Tell me feature</vt:lpstr>
      <vt:lpstr>Zoom Control</vt:lpstr>
      <vt:lpstr>Document views </vt:lpstr>
      <vt:lpstr>Switching document views</vt:lpstr>
      <vt:lpstr>Switching document views</vt:lpstr>
      <vt:lpstr>Switching document views</vt:lpstr>
      <vt:lpstr>Document Area</vt:lpstr>
      <vt:lpstr>Status Bar</vt:lpstr>
      <vt:lpstr>Configuring the Status Bar</vt:lpstr>
      <vt:lpstr>Backstage View in Word 2019</vt:lpstr>
      <vt:lpstr>Backstage View in Word 2019</vt:lpstr>
      <vt:lpstr>Entering Text - Microsoft Word 2019 </vt:lpstr>
      <vt:lpstr> Entering Text - Microsoft Word 2019 </vt:lpstr>
      <vt:lpstr>Move Around in Word 2019</vt:lpstr>
      <vt:lpstr>Move Around in Word 2019</vt:lpstr>
      <vt:lpstr>Moving with Mouse</vt:lpstr>
      <vt:lpstr>Move Around in Word 2019</vt:lpstr>
      <vt:lpstr>Save and Save As</vt:lpstr>
      <vt:lpstr>Save Document in Word 2019</vt:lpstr>
      <vt:lpstr>Save Document in Word 2019</vt:lpstr>
      <vt:lpstr>Save Document in Word 2019</vt:lpstr>
      <vt:lpstr>Save Document in Word 2019</vt:lpstr>
      <vt:lpstr>Using Save As to make a copy</vt:lpstr>
      <vt:lpstr>Using Save As to make a copy</vt:lpstr>
      <vt:lpstr>AutoRecover in Word 2019</vt:lpstr>
      <vt:lpstr>To use AutoRecover</vt:lpstr>
      <vt:lpstr>To use AutoRecover</vt:lpstr>
      <vt:lpstr>Exporting documents  in Word 2019</vt:lpstr>
      <vt:lpstr>Exporting documents as a PDF file  in Word 2019</vt:lpstr>
      <vt:lpstr>Exporting documents as a PDF file  in Word 2019</vt:lpstr>
      <vt:lpstr>Exporting documents to other file types in Word 2019</vt:lpstr>
      <vt:lpstr>Exporting documents to other file types in Word 2019</vt:lpstr>
      <vt:lpstr>Exporting documents to other file types in Word 2019</vt:lpstr>
      <vt:lpstr>Opening a Document in Word 2019</vt:lpstr>
      <vt:lpstr>Opening a Document in Word 2019</vt:lpstr>
      <vt:lpstr>Opening a Document in Word 2019</vt:lpstr>
      <vt:lpstr>Opening a Document in Word 2019</vt:lpstr>
      <vt:lpstr>Opening a Document in Word 2019</vt:lpstr>
      <vt:lpstr>Opening Existing Document</vt:lpstr>
      <vt:lpstr>Opening Existing Document</vt:lpstr>
      <vt:lpstr>Opening Existing Document</vt:lpstr>
      <vt:lpstr>Opening Existing Document</vt:lpstr>
      <vt:lpstr>Closing a Document in Word 2019</vt:lpstr>
      <vt:lpstr>Closing a Document in Word 2019</vt:lpstr>
      <vt:lpstr>Closing a Document in Word 2019</vt:lpstr>
      <vt:lpstr>Closing a Document in Word 2019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ROSEMARY</dc:creator>
  <cp:lastModifiedBy>USER</cp:lastModifiedBy>
  <cp:revision>91</cp:revision>
  <dcterms:created xsi:type="dcterms:W3CDTF">2022-02-28T11:55:15Z</dcterms:created>
  <dcterms:modified xsi:type="dcterms:W3CDTF">2023-01-23T08:25:59Z</dcterms:modified>
</cp:coreProperties>
</file>
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90" r:id="rId2"/>
    <p:sldId id="256" r:id="rId3"/>
    <p:sldId id="275" r:id="rId4"/>
    <p:sldId id="257" r:id="rId5"/>
    <p:sldId id="263" r:id="rId6"/>
    <p:sldId id="276" r:id="rId7"/>
    <p:sldId id="277" r:id="rId8"/>
    <p:sldId id="278" r:id="rId9"/>
    <p:sldId id="279" r:id="rId10"/>
    <p:sldId id="280" r:id="rId11"/>
    <p:sldId id="281" r:id="rId12"/>
    <p:sldId id="282" r:id="rId13"/>
    <p:sldId id="291" r:id="rId14"/>
    <p:sldId id="292" r:id="rId15"/>
    <p:sldId id="294" r:id="rId16"/>
    <p:sldId id="295" r:id="rId17"/>
    <p:sldId id="296" r:id="rId18"/>
    <p:sldId id="297" r:id="rId19"/>
    <p:sldId id="283" r:id="rId20"/>
    <p:sldId id="284" r:id="rId21"/>
    <p:sldId id="285" r:id="rId22"/>
    <p:sldId id="286" r:id="rId23"/>
    <p:sldId id="287" r:id="rId24"/>
    <p:sldId id="288" r:id="rId25"/>
    <p:sldId id="289" r:id="rId26"/>
    <p:sldId id="26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90C"/>
    <a:srgbClr val="FE0F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p:normalViewPr>
  <p:slideViewPr>
    <p:cSldViewPr snapToGrid="0">
      <p:cViewPr varScale="1">
        <p:scale>
          <a:sx n="74" d="100"/>
          <a:sy n="74" d="100"/>
        </p:scale>
        <p:origin x="576"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33B789-5893-4E4F-B678-7694056C1B65}" type="datetimeFigureOut">
              <a:rPr lang="en-GB" smtClean="0"/>
              <a:t>16/04/2022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634C26-56A5-43CB-B497-F5CA066C7C54}" type="slidenum">
              <a:rPr lang="en-GB" smtClean="0"/>
              <a:t>‹#›</a:t>
            </a:fld>
            <a:endParaRPr lang="en-GB"/>
          </a:p>
        </p:txBody>
      </p:sp>
    </p:spTree>
    <p:extLst>
      <p:ext uri="{BB962C8B-B14F-4D97-AF65-F5344CB8AC3E}">
        <p14:creationId xmlns:p14="http://schemas.microsoft.com/office/powerpoint/2010/main" val="3429918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1</a:t>
            </a:fld>
            <a:endParaRPr lang="en-GB"/>
          </a:p>
        </p:txBody>
      </p:sp>
    </p:spTree>
    <p:extLst>
      <p:ext uri="{BB962C8B-B14F-4D97-AF65-F5344CB8AC3E}">
        <p14:creationId xmlns:p14="http://schemas.microsoft.com/office/powerpoint/2010/main" val="1475126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2</a:t>
            </a:fld>
            <a:endParaRPr lang="en-GB"/>
          </a:p>
        </p:txBody>
      </p:sp>
    </p:spTree>
    <p:extLst>
      <p:ext uri="{BB962C8B-B14F-4D97-AF65-F5344CB8AC3E}">
        <p14:creationId xmlns:p14="http://schemas.microsoft.com/office/powerpoint/2010/main" val="248090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3</a:t>
            </a:fld>
            <a:endParaRPr lang="en-GB"/>
          </a:p>
        </p:txBody>
      </p:sp>
    </p:spTree>
    <p:extLst>
      <p:ext uri="{BB962C8B-B14F-4D97-AF65-F5344CB8AC3E}">
        <p14:creationId xmlns:p14="http://schemas.microsoft.com/office/powerpoint/2010/main" val="2542146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4</a:t>
            </a:fld>
            <a:endParaRPr lang="en-GB"/>
          </a:p>
        </p:txBody>
      </p:sp>
    </p:spTree>
    <p:extLst>
      <p:ext uri="{BB962C8B-B14F-4D97-AF65-F5344CB8AC3E}">
        <p14:creationId xmlns:p14="http://schemas.microsoft.com/office/powerpoint/2010/main" val="4235963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5</a:t>
            </a:fld>
            <a:endParaRPr lang="en-GB"/>
          </a:p>
        </p:txBody>
      </p:sp>
    </p:spTree>
    <p:extLst>
      <p:ext uri="{BB962C8B-B14F-4D97-AF65-F5344CB8AC3E}">
        <p14:creationId xmlns:p14="http://schemas.microsoft.com/office/powerpoint/2010/main" val="1856866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6</a:t>
            </a:fld>
            <a:endParaRPr lang="en-GB"/>
          </a:p>
        </p:txBody>
      </p:sp>
    </p:spTree>
    <p:extLst>
      <p:ext uri="{BB962C8B-B14F-4D97-AF65-F5344CB8AC3E}">
        <p14:creationId xmlns:p14="http://schemas.microsoft.com/office/powerpoint/2010/main" val="4065688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7</a:t>
            </a:fld>
            <a:endParaRPr lang="en-GB"/>
          </a:p>
        </p:txBody>
      </p:sp>
    </p:spTree>
    <p:extLst>
      <p:ext uri="{BB962C8B-B14F-4D97-AF65-F5344CB8AC3E}">
        <p14:creationId xmlns:p14="http://schemas.microsoft.com/office/powerpoint/2010/main" val="1677500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8</a:t>
            </a:fld>
            <a:endParaRPr lang="en-GB"/>
          </a:p>
        </p:txBody>
      </p:sp>
    </p:spTree>
    <p:extLst>
      <p:ext uri="{BB962C8B-B14F-4D97-AF65-F5344CB8AC3E}">
        <p14:creationId xmlns:p14="http://schemas.microsoft.com/office/powerpoint/2010/main" val="3046200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9</a:t>
            </a:fld>
            <a:endParaRPr lang="en-GB"/>
          </a:p>
        </p:txBody>
      </p:sp>
    </p:spTree>
    <p:extLst>
      <p:ext uri="{BB962C8B-B14F-4D97-AF65-F5344CB8AC3E}">
        <p14:creationId xmlns:p14="http://schemas.microsoft.com/office/powerpoint/2010/main" val="417511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10</a:t>
            </a:fld>
            <a:endParaRPr lang="en-GB"/>
          </a:p>
        </p:txBody>
      </p:sp>
    </p:spTree>
    <p:extLst>
      <p:ext uri="{BB962C8B-B14F-4D97-AF65-F5344CB8AC3E}">
        <p14:creationId xmlns:p14="http://schemas.microsoft.com/office/powerpoint/2010/main" val="4102266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11</a:t>
            </a:fld>
            <a:endParaRPr lang="en-GB"/>
          </a:p>
        </p:txBody>
      </p:sp>
    </p:spTree>
    <p:extLst>
      <p:ext uri="{BB962C8B-B14F-4D97-AF65-F5344CB8AC3E}">
        <p14:creationId xmlns:p14="http://schemas.microsoft.com/office/powerpoint/2010/main" val="143968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12</a:t>
            </a:fld>
            <a:endParaRPr lang="en-GB"/>
          </a:p>
        </p:txBody>
      </p:sp>
    </p:spTree>
    <p:extLst>
      <p:ext uri="{BB962C8B-B14F-4D97-AF65-F5344CB8AC3E}">
        <p14:creationId xmlns:p14="http://schemas.microsoft.com/office/powerpoint/2010/main" val="28836447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13</a:t>
            </a:fld>
            <a:endParaRPr lang="en-GB"/>
          </a:p>
        </p:txBody>
      </p:sp>
    </p:spTree>
    <p:extLst>
      <p:ext uri="{BB962C8B-B14F-4D97-AF65-F5344CB8AC3E}">
        <p14:creationId xmlns:p14="http://schemas.microsoft.com/office/powerpoint/2010/main" val="1903222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14</a:t>
            </a:fld>
            <a:endParaRPr lang="en-GB"/>
          </a:p>
        </p:txBody>
      </p:sp>
    </p:spTree>
    <p:extLst>
      <p:ext uri="{BB962C8B-B14F-4D97-AF65-F5344CB8AC3E}">
        <p14:creationId xmlns:p14="http://schemas.microsoft.com/office/powerpoint/2010/main" val="25673954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19</a:t>
            </a:fld>
            <a:endParaRPr lang="en-GB"/>
          </a:p>
        </p:txBody>
      </p:sp>
    </p:spTree>
    <p:extLst>
      <p:ext uri="{BB962C8B-B14F-4D97-AF65-F5344CB8AC3E}">
        <p14:creationId xmlns:p14="http://schemas.microsoft.com/office/powerpoint/2010/main" val="40360727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20</a:t>
            </a:fld>
            <a:endParaRPr lang="en-GB"/>
          </a:p>
        </p:txBody>
      </p:sp>
    </p:spTree>
    <p:extLst>
      <p:ext uri="{BB962C8B-B14F-4D97-AF65-F5344CB8AC3E}">
        <p14:creationId xmlns:p14="http://schemas.microsoft.com/office/powerpoint/2010/main" val="2150848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21</a:t>
            </a:fld>
            <a:endParaRPr lang="en-GB"/>
          </a:p>
        </p:txBody>
      </p:sp>
    </p:spTree>
    <p:extLst>
      <p:ext uri="{BB962C8B-B14F-4D97-AF65-F5344CB8AC3E}">
        <p14:creationId xmlns:p14="http://schemas.microsoft.com/office/powerpoint/2010/main" val="7853336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22</a:t>
            </a:fld>
            <a:endParaRPr lang="en-GB"/>
          </a:p>
        </p:txBody>
      </p:sp>
    </p:spTree>
    <p:extLst>
      <p:ext uri="{BB962C8B-B14F-4D97-AF65-F5344CB8AC3E}">
        <p14:creationId xmlns:p14="http://schemas.microsoft.com/office/powerpoint/2010/main" val="34171026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23</a:t>
            </a:fld>
            <a:endParaRPr lang="en-GB"/>
          </a:p>
        </p:txBody>
      </p:sp>
    </p:spTree>
    <p:extLst>
      <p:ext uri="{BB962C8B-B14F-4D97-AF65-F5344CB8AC3E}">
        <p14:creationId xmlns:p14="http://schemas.microsoft.com/office/powerpoint/2010/main" val="977352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24</a:t>
            </a:fld>
            <a:endParaRPr lang="en-GB"/>
          </a:p>
        </p:txBody>
      </p:sp>
    </p:spTree>
    <p:extLst>
      <p:ext uri="{BB962C8B-B14F-4D97-AF65-F5344CB8AC3E}">
        <p14:creationId xmlns:p14="http://schemas.microsoft.com/office/powerpoint/2010/main" val="36174385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25</a:t>
            </a:fld>
            <a:endParaRPr lang="en-GB"/>
          </a:p>
        </p:txBody>
      </p:sp>
    </p:spTree>
    <p:extLst>
      <p:ext uri="{BB962C8B-B14F-4D97-AF65-F5344CB8AC3E}">
        <p14:creationId xmlns:p14="http://schemas.microsoft.com/office/powerpoint/2010/main" val="28455134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A634C26-56A5-43CB-B497-F5CA066C7C54}" type="slidenum">
              <a:rPr lang="en-GB" smtClean="0"/>
              <a:t>26</a:t>
            </a:fld>
            <a:endParaRPr lang="en-GB"/>
          </a:p>
        </p:txBody>
      </p:sp>
    </p:spTree>
    <p:extLst>
      <p:ext uri="{BB962C8B-B14F-4D97-AF65-F5344CB8AC3E}">
        <p14:creationId xmlns:p14="http://schemas.microsoft.com/office/powerpoint/2010/main" val="2954387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17C3C-CF05-4A44-A996-8DA9D49B04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9B030CB-2C5D-4653-BEAB-894BAB549F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B2C18C4-FC42-4C8D-880D-C35C05C0C343}"/>
              </a:ext>
            </a:extLst>
          </p:cNvPr>
          <p:cNvSpPr>
            <a:spLocks noGrp="1"/>
          </p:cNvSpPr>
          <p:nvPr>
            <p:ph type="dt" sz="half" idx="10"/>
          </p:nvPr>
        </p:nvSpPr>
        <p:spPr/>
        <p:txBody>
          <a:bodyPr/>
          <a:lstStyle/>
          <a:p>
            <a:fld id="{39D4D993-FAEA-4AD5-B0B0-1FB26C3C9B24}" type="datetimeFigureOut">
              <a:rPr lang="en-GB" smtClean="0"/>
              <a:t>16/04/2022</a:t>
            </a:fld>
            <a:endParaRPr lang="en-GB"/>
          </a:p>
        </p:txBody>
      </p:sp>
      <p:sp>
        <p:nvSpPr>
          <p:cNvPr id="5" name="Footer Placeholder 4">
            <a:extLst>
              <a:ext uri="{FF2B5EF4-FFF2-40B4-BE49-F238E27FC236}">
                <a16:creationId xmlns:a16="http://schemas.microsoft.com/office/drawing/2014/main" id="{F9A95E9E-E37B-41AA-A3DA-FE240D1237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59FAB6-A562-4F65-B8A2-0CB51B414BAC}"/>
              </a:ext>
            </a:extLst>
          </p:cNvPr>
          <p:cNvSpPr>
            <a:spLocks noGrp="1"/>
          </p:cNvSpPr>
          <p:nvPr>
            <p:ph type="sldNum" sz="quarter" idx="12"/>
          </p:nvPr>
        </p:nvSpPr>
        <p:spPr/>
        <p:txBody>
          <a:bodyPr/>
          <a:lstStyle/>
          <a:p>
            <a:fld id="{13438217-05C1-475B-9D2F-D39C53BD3DC4}" type="slidenum">
              <a:rPr lang="en-GB" smtClean="0"/>
              <a:t>‹#›</a:t>
            </a:fld>
            <a:endParaRPr lang="en-GB"/>
          </a:p>
        </p:txBody>
      </p:sp>
    </p:spTree>
    <p:extLst>
      <p:ext uri="{BB962C8B-B14F-4D97-AF65-F5344CB8AC3E}">
        <p14:creationId xmlns:p14="http://schemas.microsoft.com/office/powerpoint/2010/main" val="618019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CE2F0-5281-4359-9390-598152C7CCC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BD5B80E-D355-4BBF-8C62-A50A1557DF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A3678A-607B-43AC-B417-DF6E4C904D3C}"/>
              </a:ext>
            </a:extLst>
          </p:cNvPr>
          <p:cNvSpPr>
            <a:spLocks noGrp="1"/>
          </p:cNvSpPr>
          <p:nvPr>
            <p:ph type="dt" sz="half" idx="10"/>
          </p:nvPr>
        </p:nvSpPr>
        <p:spPr/>
        <p:txBody>
          <a:bodyPr/>
          <a:lstStyle/>
          <a:p>
            <a:fld id="{39D4D993-FAEA-4AD5-B0B0-1FB26C3C9B24}" type="datetimeFigureOut">
              <a:rPr lang="en-GB" smtClean="0"/>
              <a:t>16/04/2022</a:t>
            </a:fld>
            <a:endParaRPr lang="en-GB"/>
          </a:p>
        </p:txBody>
      </p:sp>
      <p:sp>
        <p:nvSpPr>
          <p:cNvPr id="5" name="Footer Placeholder 4">
            <a:extLst>
              <a:ext uri="{FF2B5EF4-FFF2-40B4-BE49-F238E27FC236}">
                <a16:creationId xmlns:a16="http://schemas.microsoft.com/office/drawing/2014/main" id="{FCF2525D-FDF4-4A67-861E-59AC9A738FD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F8A9372-7B08-4A48-BE38-9199EE352378}"/>
              </a:ext>
            </a:extLst>
          </p:cNvPr>
          <p:cNvSpPr>
            <a:spLocks noGrp="1"/>
          </p:cNvSpPr>
          <p:nvPr>
            <p:ph type="sldNum" sz="quarter" idx="12"/>
          </p:nvPr>
        </p:nvSpPr>
        <p:spPr/>
        <p:txBody>
          <a:bodyPr/>
          <a:lstStyle/>
          <a:p>
            <a:fld id="{13438217-05C1-475B-9D2F-D39C53BD3DC4}" type="slidenum">
              <a:rPr lang="en-GB" smtClean="0"/>
              <a:t>‹#›</a:t>
            </a:fld>
            <a:endParaRPr lang="en-GB"/>
          </a:p>
        </p:txBody>
      </p:sp>
    </p:spTree>
    <p:extLst>
      <p:ext uri="{BB962C8B-B14F-4D97-AF65-F5344CB8AC3E}">
        <p14:creationId xmlns:p14="http://schemas.microsoft.com/office/powerpoint/2010/main" val="4171825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C7C0D-CE92-4056-A37D-4C537FEFB3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0861077-D24D-4011-BB71-53AB9A13E0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305CC3-CBFF-4316-814A-596FC6744D37}"/>
              </a:ext>
            </a:extLst>
          </p:cNvPr>
          <p:cNvSpPr>
            <a:spLocks noGrp="1"/>
          </p:cNvSpPr>
          <p:nvPr>
            <p:ph type="dt" sz="half" idx="10"/>
          </p:nvPr>
        </p:nvSpPr>
        <p:spPr/>
        <p:txBody>
          <a:bodyPr/>
          <a:lstStyle/>
          <a:p>
            <a:fld id="{39D4D993-FAEA-4AD5-B0B0-1FB26C3C9B24}" type="datetimeFigureOut">
              <a:rPr lang="en-GB" smtClean="0"/>
              <a:t>16/04/2022</a:t>
            </a:fld>
            <a:endParaRPr lang="en-GB"/>
          </a:p>
        </p:txBody>
      </p:sp>
      <p:sp>
        <p:nvSpPr>
          <p:cNvPr id="5" name="Footer Placeholder 4">
            <a:extLst>
              <a:ext uri="{FF2B5EF4-FFF2-40B4-BE49-F238E27FC236}">
                <a16:creationId xmlns:a16="http://schemas.microsoft.com/office/drawing/2014/main" id="{A10E92B5-EBDA-48B3-8892-4D356F9AA2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7C3907-589C-4DD9-B4F9-003B6C10497B}"/>
              </a:ext>
            </a:extLst>
          </p:cNvPr>
          <p:cNvSpPr>
            <a:spLocks noGrp="1"/>
          </p:cNvSpPr>
          <p:nvPr>
            <p:ph type="sldNum" sz="quarter" idx="12"/>
          </p:nvPr>
        </p:nvSpPr>
        <p:spPr/>
        <p:txBody>
          <a:bodyPr/>
          <a:lstStyle/>
          <a:p>
            <a:fld id="{13438217-05C1-475B-9D2F-D39C53BD3DC4}" type="slidenum">
              <a:rPr lang="en-GB" smtClean="0"/>
              <a:t>‹#›</a:t>
            </a:fld>
            <a:endParaRPr lang="en-GB"/>
          </a:p>
        </p:txBody>
      </p:sp>
    </p:spTree>
    <p:extLst>
      <p:ext uri="{BB962C8B-B14F-4D97-AF65-F5344CB8AC3E}">
        <p14:creationId xmlns:p14="http://schemas.microsoft.com/office/powerpoint/2010/main" val="2463886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A0682-D433-49D4-8A69-AEAA5A7F7E3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3398DD-9ECA-4C00-A7EB-9A675DF64D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3449475-59E6-4C75-98A9-83EFB49418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2F4AF58-3B32-432F-8589-FFB50494B51C}"/>
              </a:ext>
            </a:extLst>
          </p:cNvPr>
          <p:cNvSpPr>
            <a:spLocks noGrp="1"/>
          </p:cNvSpPr>
          <p:nvPr>
            <p:ph type="dt" sz="half" idx="10"/>
          </p:nvPr>
        </p:nvSpPr>
        <p:spPr/>
        <p:txBody>
          <a:bodyPr/>
          <a:lstStyle/>
          <a:p>
            <a:fld id="{39D4D993-FAEA-4AD5-B0B0-1FB26C3C9B24}" type="datetimeFigureOut">
              <a:rPr lang="en-GB" smtClean="0"/>
              <a:t>16/04/2022</a:t>
            </a:fld>
            <a:endParaRPr lang="en-GB"/>
          </a:p>
        </p:txBody>
      </p:sp>
      <p:sp>
        <p:nvSpPr>
          <p:cNvPr id="6" name="Footer Placeholder 5">
            <a:extLst>
              <a:ext uri="{FF2B5EF4-FFF2-40B4-BE49-F238E27FC236}">
                <a16:creationId xmlns:a16="http://schemas.microsoft.com/office/drawing/2014/main" id="{894FFDD9-7606-4768-8D34-FF97228E507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3ACEA2C-09D5-4127-B9B4-F73C4845BB7D}"/>
              </a:ext>
            </a:extLst>
          </p:cNvPr>
          <p:cNvSpPr>
            <a:spLocks noGrp="1"/>
          </p:cNvSpPr>
          <p:nvPr>
            <p:ph type="sldNum" sz="quarter" idx="12"/>
          </p:nvPr>
        </p:nvSpPr>
        <p:spPr/>
        <p:txBody>
          <a:bodyPr/>
          <a:lstStyle/>
          <a:p>
            <a:fld id="{13438217-05C1-475B-9D2F-D39C53BD3DC4}" type="slidenum">
              <a:rPr lang="en-GB" smtClean="0"/>
              <a:t>‹#›</a:t>
            </a:fld>
            <a:endParaRPr lang="en-GB"/>
          </a:p>
        </p:txBody>
      </p:sp>
    </p:spTree>
    <p:extLst>
      <p:ext uri="{BB962C8B-B14F-4D97-AF65-F5344CB8AC3E}">
        <p14:creationId xmlns:p14="http://schemas.microsoft.com/office/powerpoint/2010/main" val="3694866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0664D-29C6-4804-8AFD-005F2733121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FDA37ED-5A55-484D-9692-03559A012A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B30FB1-2877-499E-B5FE-092D560213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9022423-A73B-40E0-B7D4-72A8FB06E2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97E8A6-52E0-448F-B4E9-6ABB449C1F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32D0B60-F8D4-49BF-B46F-37AED3DC8977}"/>
              </a:ext>
            </a:extLst>
          </p:cNvPr>
          <p:cNvSpPr>
            <a:spLocks noGrp="1"/>
          </p:cNvSpPr>
          <p:nvPr>
            <p:ph type="dt" sz="half" idx="10"/>
          </p:nvPr>
        </p:nvSpPr>
        <p:spPr/>
        <p:txBody>
          <a:bodyPr/>
          <a:lstStyle/>
          <a:p>
            <a:fld id="{39D4D993-FAEA-4AD5-B0B0-1FB26C3C9B24}" type="datetimeFigureOut">
              <a:rPr lang="en-GB" smtClean="0"/>
              <a:t>16/04/2022</a:t>
            </a:fld>
            <a:endParaRPr lang="en-GB"/>
          </a:p>
        </p:txBody>
      </p:sp>
      <p:sp>
        <p:nvSpPr>
          <p:cNvPr id="8" name="Footer Placeholder 7">
            <a:extLst>
              <a:ext uri="{FF2B5EF4-FFF2-40B4-BE49-F238E27FC236}">
                <a16:creationId xmlns:a16="http://schemas.microsoft.com/office/drawing/2014/main" id="{4E78ABB1-4EFC-4065-98C2-9E7C12CB791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C0E5D2D-F170-4B5D-B0F6-CAB75CA5B052}"/>
              </a:ext>
            </a:extLst>
          </p:cNvPr>
          <p:cNvSpPr>
            <a:spLocks noGrp="1"/>
          </p:cNvSpPr>
          <p:nvPr>
            <p:ph type="sldNum" sz="quarter" idx="12"/>
          </p:nvPr>
        </p:nvSpPr>
        <p:spPr/>
        <p:txBody>
          <a:bodyPr/>
          <a:lstStyle/>
          <a:p>
            <a:fld id="{13438217-05C1-475B-9D2F-D39C53BD3DC4}" type="slidenum">
              <a:rPr lang="en-GB" smtClean="0"/>
              <a:t>‹#›</a:t>
            </a:fld>
            <a:endParaRPr lang="en-GB"/>
          </a:p>
        </p:txBody>
      </p:sp>
    </p:spTree>
    <p:extLst>
      <p:ext uri="{BB962C8B-B14F-4D97-AF65-F5344CB8AC3E}">
        <p14:creationId xmlns:p14="http://schemas.microsoft.com/office/powerpoint/2010/main" val="1725692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42F0E-BE9B-405C-8D6F-675A6D7B386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897627F-354F-4340-A5AA-7F36CDE8860C}"/>
              </a:ext>
            </a:extLst>
          </p:cNvPr>
          <p:cNvSpPr>
            <a:spLocks noGrp="1"/>
          </p:cNvSpPr>
          <p:nvPr>
            <p:ph type="dt" sz="half" idx="10"/>
          </p:nvPr>
        </p:nvSpPr>
        <p:spPr/>
        <p:txBody>
          <a:bodyPr/>
          <a:lstStyle/>
          <a:p>
            <a:fld id="{39D4D993-FAEA-4AD5-B0B0-1FB26C3C9B24}" type="datetimeFigureOut">
              <a:rPr lang="en-GB" smtClean="0"/>
              <a:t>16/04/2022</a:t>
            </a:fld>
            <a:endParaRPr lang="en-GB"/>
          </a:p>
        </p:txBody>
      </p:sp>
      <p:sp>
        <p:nvSpPr>
          <p:cNvPr id="4" name="Footer Placeholder 3">
            <a:extLst>
              <a:ext uri="{FF2B5EF4-FFF2-40B4-BE49-F238E27FC236}">
                <a16:creationId xmlns:a16="http://schemas.microsoft.com/office/drawing/2014/main" id="{7C309B80-5535-433C-BF83-9F108BDE505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36A474-CFB1-468A-BE0D-6BC34D0EA7DC}"/>
              </a:ext>
            </a:extLst>
          </p:cNvPr>
          <p:cNvSpPr>
            <a:spLocks noGrp="1"/>
          </p:cNvSpPr>
          <p:nvPr>
            <p:ph type="sldNum" sz="quarter" idx="12"/>
          </p:nvPr>
        </p:nvSpPr>
        <p:spPr/>
        <p:txBody>
          <a:bodyPr/>
          <a:lstStyle/>
          <a:p>
            <a:fld id="{13438217-05C1-475B-9D2F-D39C53BD3DC4}" type="slidenum">
              <a:rPr lang="en-GB" smtClean="0"/>
              <a:t>‹#›</a:t>
            </a:fld>
            <a:endParaRPr lang="en-GB"/>
          </a:p>
        </p:txBody>
      </p:sp>
    </p:spTree>
    <p:extLst>
      <p:ext uri="{BB962C8B-B14F-4D97-AF65-F5344CB8AC3E}">
        <p14:creationId xmlns:p14="http://schemas.microsoft.com/office/powerpoint/2010/main" val="1664812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08FD09-65D8-466E-8CC8-BCA77A710A9F}"/>
              </a:ext>
            </a:extLst>
          </p:cNvPr>
          <p:cNvSpPr>
            <a:spLocks noGrp="1"/>
          </p:cNvSpPr>
          <p:nvPr>
            <p:ph type="dt" sz="half" idx="10"/>
          </p:nvPr>
        </p:nvSpPr>
        <p:spPr/>
        <p:txBody>
          <a:bodyPr/>
          <a:lstStyle/>
          <a:p>
            <a:fld id="{39D4D993-FAEA-4AD5-B0B0-1FB26C3C9B24}" type="datetimeFigureOut">
              <a:rPr lang="en-GB" smtClean="0"/>
              <a:t>16/04/2022</a:t>
            </a:fld>
            <a:endParaRPr lang="en-GB"/>
          </a:p>
        </p:txBody>
      </p:sp>
      <p:sp>
        <p:nvSpPr>
          <p:cNvPr id="3" name="Footer Placeholder 2">
            <a:extLst>
              <a:ext uri="{FF2B5EF4-FFF2-40B4-BE49-F238E27FC236}">
                <a16:creationId xmlns:a16="http://schemas.microsoft.com/office/drawing/2014/main" id="{557C0BE0-2869-460C-BFF6-6D74346FDFB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352051F-8EE5-4957-B7D6-E8DCAA4D7363}"/>
              </a:ext>
            </a:extLst>
          </p:cNvPr>
          <p:cNvSpPr>
            <a:spLocks noGrp="1"/>
          </p:cNvSpPr>
          <p:nvPr>
            <p:ph type="sldNum" sz="quarter" idx="12"/>
          </p:nvPr>
        </p:nvSpPr>
        <p:spPr/>
        <p:txBody>
          <a:bodyPr/>
          <a:lstStyle/>
          <a:p>
            <a:fld id="{13438217-05C1-475B-9D2F-D39C53BD3DC4}" type="slidenum">
              <a:rPr lang="en-GB" smtClean="0"/>
              <a:t>‹#›</a:t>
            </a:fld>
            <a:endParaRPr lang="en-GB"/>
          </a:p>
        </p:txBody>
      </p:sp>
    </p:spTree>
    <p:extLst>
      <p:ext uri="{BB962C8B-B14F-4D97-AF65-F5344CB8AC3E}">
        <p14:creationId xmlns:p14="http://schemas.microsoft.com/office/powerpoint/2010/main" val="1821135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2C0A0-AC98-48D1-A684-960FB0C71A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020B3C7-F25A-47D3-8EEC-BAAF8A8075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93F9D58-CA3E-4DA9-8BC4-B3D35E3E8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5D96DD-F510-4C40-B062-484567919D84}"/>
              </a:ext>
            </a:extLst>
          </p:cNvPr>
          <p:cNvSpPr>
            <a:spLocks noGrp="1"/>
          </p:cNvSpPr>
          <p:nvPr>
            <p:ph type="dt" sz="half" idx="10"/>
          </p:nvPr>
        </p:nvSpPr>
        <p:spPr/>
        <p:txBody>
          <a:bodyPr/>
          <a:lstStyle/>
          <a:p>
            <a:fld id="{39D4D993-FAEA-4AD5-B0B0-1FB26C3C9B24}" type="datetimeFigureOut">
              <a:rPr lang="en-GB" smtClean="0"/>
              <a:t>16/04/2022</a:t>
            </a:fld>
            <a:endParaRPr lang="en-GB"/>
          </a:p>
        </p:txBody>
      </p:sp>
      <p:sp>
        <p:nvSpPr>
          <p:cNvPr id="6" name="Footer Placeholder 5">
            <a:extLst>
              <a:ext uri="{FF2B5EF4-FFF2-40B4-BE49-F238E27FC236}">
                <a16:creationId xmlns:a16="http://schemas.microsoft.com/office/drawing/2014/main" id="{3CF874AA-0ADE-42E8-A294-97FB28F979E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C702B5-D2C7-42A0-AF89-51C13B425E8B}"/>
              </a:ext>
            </a:extLst>
          </p:cNvPr>
          <p:cNvSpPr>
            <a:spLocks noGrp="1"/>
          </p:cNvSpPr>
          <p:nvPr>
            <p:ph type="sldNum" sz="quarter" idx="12"/>
          </p:nvPr>
        </p:nvSpPr>
        <p:spPr/>
        <p:txBody>
          <a:bodyPr/>
          <a:lstStyle/>
          <a:p>
            <a:fld id="{13438217-05C1-475B-9D2F-D39C53BD3DC4}" type="slidenum">
              <a:rPr lang="en-GB" smtClean="0"/>
              <a:t>‹#›</a:t>
            </a:fld>
            <a:endParaRPr lang="en-GB"/>
          </a:p>
        </p:txBody>
      </p:sp>
    </p:spTree>
    <p:extLst>
      <p:ext uri="{BB962C8B-B14F-4D97-AF65-F5344CB8AC3E}">
        <p14:creationId xmlns:p14="http://schemas.microsoft.com/office/powerpoint/2010/main" val="3054973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D0A68-A7FA-478E-91DE-D355EA4D32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82B0EAB-3FE7-4439-A24A-2B0EEF1B2C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3E20551-1008-45A6-9D7C-98F006DE43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88976D-8375-4A4C-9FAF-854668662EEB}"/>
              </a:ext>
            </a:extLst>
          </p:cNvPr>
          <p:cNvSpPr>
            <a:spLocks noGrp="1"/>
          </p:cNvSpPr>
          <p:nvPr>
            <p:ph type="dt" sz="half" idx="10"/>
          </p:nvPr>
        </p:nvSpPr>
        <p:spPr/>
        <p:txBody>
          <a:bodyPr/>
          <a:lstStyle/>
          <a:p>
            <a:fld id="{39D4D993-FAEA-4AD5-B0B0-1FB26C3C9B24}" type="datetimeFigureOut">
              <a:rPr lang="en-GB" smtClean="0"/>
              <a:t>16/04/2022</a:t>
            </a:fld>
            <a:endParaRPr lang="en-GB"/>
          </a:p>
        </p:txBody>
      </p:sp>
      <p:sp>
        <p:nvSpPr>
          <p:cNvPr id="6" name="Footer Placeholder 5">
            <a:extLst>
              <a:ext uri="{FF2B5EF4-FFF2-40B4-BE49-F238E27FC236}">
                <a16:creationId xmlns:a16="http://schemas.microsoft.com/office/drawing/2014/main" id="{74674B58-AEDC-4378-9A9D-1228033C50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01DD01B-8A61-4EF5-A884-75634C40A629}"/>
              </a:ext>
            </a:extLst>
          </p:cNvPr>
          <p:cNvSpPr>
            <a:spLocks noGrp="1"/>
          </p:cNvSpPr>
          <p:nvPr>
            <p:ph type="sldNum" sz="quarter" idx="12"/>
          </p:nvPr>
        </p:nvSpPr>
        <p:spPr/>
        <p:txBody>
          <a:bodyPr/>
          <a:lstStyle/>
          <a:p>
            <a:fld id="{13438217-05C1-475B-9D2F-D39C53BD3DC4}" type="slidenum">
              <a:rPr lang="en-GB" smtClean="0"/>
              <a:t>‹#›</a:t>
            </a:fld>
            <a:endParaRPr lang="en-GB"/>
          </a:p>
        </p:txBody>
      </p:sp>
    </p:spTree>
    <p:extLst>
      <p:ext uri="{BB962C8B-B14F-4D97-AF65-F5344CB8AC3E}">
        <p14:creationId xmlns:p14="http://schemas.microsoft.com/office/powerpoint/2010/main" val="378685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DB452-160D-4E3C-81A5-099AA2D3572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71EC20A-05F6-4F74-98D7-CDB57C4D62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6778771-4CA3-4412-B9E8-5A992F9C10E0}"/>
              </a:ext>
            </a:extLst>
          </p:cNvPr>
          <p:cNvSpPr>
            <a:spLocks noGrp="1"/>
          </p:cNvSpPr>
          <p:nvPr>
            <p:ph type="dt" sz="half" idx="10"/>
          </p:nvPr>
        </p:nvSpPr>
        <p:spPr/>
        <p:txBody>
          <a:bodyPr/>
          <a:lstStyle/>
          <a:p>
            <a:fld id="{39D4D993-FAEA-4AD5-B0B0-1FB26C3C9B24}" type="datetimeFigureOut">
              <a:rPr lang="en-GB" smtClean="0"/>
              <a:t>16/04/2022</a:t>
            </a:fld>
            <a:endParaRPr lang="en-GB"/>
          </a:p>
        </p:txBody>
      </p:sp>
      <p:sp>
        <p:nvSpPr>
          <p:cNvPr id="5" name="Footer Placeholder 4">
            <a:extLst>
              <a:ext uri="{FF2B5EF4-FFF2-40B4-BE49-F238E27FC236}">
                <a16:creationId xmlns:a16="http://schemas.microsoft.com/office/drawing/2014/main" id="{E03C6212-9412-480F-9202-FDD0076732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06EB9CE-3D77-4DF9-8B26-1137F7078661}"/>
              </a:ext>
            </a:extLst>
          </p:cNvPr>
          <p:cNvSpPr>
            <a:spLocks noGrp="1"/>
          </p:cNvSpPr>
          <p:nvPr>
            <p:ph type="sldNum" sz="quarter" idx="12"/>
          </p:nvPr>
        </p:nvSpPr>
        <p:spPr/>
        <p:txBody>
          <a:bodyPr/>
          <a:lstStyle/>
          <a:p>
            <a:fld id="{13438217-05C1-475B-9D2F-D39C53BD3DC4}" type="slidenum">
              <a:rPr lang="en-GB" smtClean="0"/>
              <a:t>‹#›</a:t>
            </a:fld>
            <a:endParaRPr lang="en-GB"/>
          </a:p>
        </p:txBody>
      </p:sp>
    </p:spTree>
    <p:extLst>
      <p:ext uri="{BB962C8B-B14F-4D97-AF65-F5344CB8AC3E}">
        <p14:creationId xmlns:p14="http://schemas.microsoft.com/office/powerpoint/2010/main" val="2862889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096861-549D-46BC-89D3-5A7FE9AF65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FAAF36F-E393-4B0A-9A03-980648A95C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8995ED4-4A54-44F1-9A1C-C99D5E472D23}"/>
              </a:ext>
            </a:extLst>
          </p:cNvPr>
          <p:cNvSpPr>
            <a:spLocks noGrp="1"/>
          </p:cNvSpPr>
          <p:nvPr>
            <p:ph type="dt" sz="half" idx="10"/>
          </p:nvPr>
        </p:nvSpPr>
        <p:spPr/>
        <p:txBody>
          <a:bodyPr/>
          <a:lstStyle/>
          <a:p>
            <a:fld id="{39D4D993-FAEA-4AD5-B0B0-1FB26C3C9B24}" type="datetimeFigureOut">
              <a:rPr lang="en-GB" smtClean="0"/>
              <a:t>16/04/2022</a:t>
            </a:fld>
            <a:endParaRPr lang="en-GB"/>
          </a:p>
        </p:txBody>
      </p:sp>
      <p:sp>
        <p:nvSpPr>
          <p:cNvPr id="5" name="Footer Placeholder 4">
            <a:extLst>
              <a:ext uri="{FF2B5EF4-FFF2-40B4-BE49-F238E27FC236}">
                <a16:creationId xmlns:a16="http://schemas.microsoft.com/office/drawing/2014/main" id="{033380E0-F32B-4173-92B5-E8E618F521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C8FDCE4-D313-45ED-BB63-32C4E300D1CE}"/>
              </a:ext>
            </a:extLst>
          </p:cNvPr>
          <p:cNvSpPr>
            <a:spLocks noGrp="1"/>
          </p:cNvSpPr>
          <p:nvPr>
            <p:ph type="sldNum" sz="quarter" idx="12"/>
          </p:nvPr>
        </p:nvSpPr>
        <p:spPr/>
        <p:txBody>
          <a:bodyPr/>
          <a:lstStyle/>
          <a:p>
            <a:fld id="{13438217-05C1-475B-9D2F-D39C53BD3DC4}" type="slidenum">
              <a:rPr lang="en-GB" smtClean="0"/>
              <a:t>‹#›</a:t>
            </a:fld>
            <a:endParaRPr lang="en-GB"/>
          </a:p>
        </p:txBody>
      </p:sp>
    </p:spTree>
    <p:extLst>
      <p:ext uri="{BB962C8B-B14F-4D97-AF65-F5344CB8AC3E}">
        <p14:creationId xmlns:p14="http://schemas.microsoft.com/office/powerpoint/2010/main" val="4122621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8C22CD-14A0-4506-BCEF-F3EEEF311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9D2A9DF-2B6D-463B-858C-BFF4538AD0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D7B5913-ABA6-41E7-95F8-FC44CAEE5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D4D993-FAEA-4AD5-B0B0-1FB26C3C9B24}" type="datetimeFigureOut">
              <a:rPr lang="en-GB" smtClean="0"/>
              <a:t>16/04/2022</a:t>
            </a:fld>
            <a:endParaRPr lang="en-GB"/>
          </a:p>
        </p:txBody>
      </p:sp>
      <p:sp>
        <p:nvSpPr>
          <p:cNvPr id="5" name="Footer Placeholder 4">
            <a:extLst>
              <a:ext uri="{FF2B5EF4-FFF2-40B4-BE49-F238E27FC236}">
                <a16:creationId xmlns:a16="http://schemas.microsoft.com/office/drawing/2014/main" id="{6E7E5EE8-21C4-4A5A-A881-99D429CB98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B5D4A1E-CCC2-42DA-95FC-70080FCF14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438217-05C1-475B-9D2F-D39C53BD3DC4}" type="slidenum">
              <a:rPr lang="en-GB" smtClean="0"/>
              <a:t>‹#›</a:t>
            </a:fld>
            <a:endParaRPr lang="en-GB"/>
          </a:p>
        </p:txBody>
      </p:sp>
    </p:spTree>
    <p:extLst>
      <p:ext uri="{BB962C8B-B14F-4D97-AF65-F5344CB8AC3E}">
        <p14:creationId xmlns:p14="http://schemas.microsoft.com/office/powerpoint/2010/main" val="425524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https://blog.hubspot.com/blog/tabid/6307/bid/5492/how-to-create-a-facebook-business-page-in-5-simple-steps-with"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54A8D-A09D-41BB-8E89-5742DDF77850}"/>
              </a:ext>
            </a:extLst>
          </p:cNvPr>
          <p:cNvSpPr>
            <a:spLocks noGrp="1"/>
          </p:cNvSpPr>
          <p:nvPr>
            <p:ph type="title"/>
          </p:nvPr>
        </p:nvSpPr>
        <p:spPr>
          <a:xfrm>
            <a:off x="838200" y="2113006"/>
            <a:ext cx="10515600" cy="4053016"/>
          </a:xfrm>
        </p:spPr>
        <p:txBody>
          <a:bodyPr>
            <a:normAutofit fontScale="90000"/>
          </a:bodyPr>
          <a:lstStyle/>
          <a:p>
            <a:pPr algn="ctr"/>
            <a:r>
              <a:rPr lang="en-US" sz="4800" b="1" i="0" dirty="0">
                <a:solidFill>
                  <a:schemeClr val="accent5">
                    <a:lumMod val="75000"/>
                  </a:schemeClr>
                </a:solidFill>
                <a:effectLst/>
                <a:latin typeface="Montserrat" panose="00000500000000000000" pitchFamily="2" charset="0"/>
              </a:rPr>
              <a:t>“</a:t>
            </a:r>
            <a:r>
              <a:rPr lang="en-US" sz="4800" b="1" i="0" strike="noStrike" dirty="0">
                <a:solidFill>
                  <a:schemeClr val="accent5">
                    <a:lumMod val="75000"/>
                  </a:schemeClr>
                </a:solidFill>
                <a:effectLst/>
                <a:latin typeface="Montserrat" panose="00000500000000000000" pitchFamily="2" charset="0"/>
              </a:rPr>
              <a:t>The future belongs to those who learn more skills and combine them in creative ways.</a:t>
            </a:r>
            <a:r>
              <a:rPr lang="en-US" sz="4800" b="1" i="0" dirty="0">
                <a:solidFill>
                  <a:schemeClr val="accent5">
                    <a:lumMod val="75000"/>
                  </a:schemeClr>
                </a:solidFill>
                <a:effectLst/>
                <a:latin typeface="Montserrat" panose="00000500000000000000" pitchFamily="2" charset="0"/>
              </a:rPr>
              <a:t>”</a:t>
            </a:r>
            <a:br>
              <a:rPr lang="en-US" sz="4800" b="1" i="0" dirty="0">
                <a:solidFill>
                  <a:schemeClr val="accent5">
                    <a:lumMod val="75000"/>
                  </a:schemeClr>
                </a:solidFill>
                <a:effectLst/>
                <a:latin typeface="Montserrat" panose="00000500000000000000" pitchFamily="2" charset="0"/>
              </a:rPr>
            </a:br>
            <a:br>
              <a:rPr lang="en-US" sz="4800" b="1" i="0" dirty="0">
                <a:solidFill>
                  <a:schemeClr val="accent5">
                    <a:lumMod val="75000"/>
                  </a:schemeClr>
                </a:solidFill>
                <a:effectLst/>
                <a:latin typeface="Montserrat" panose="00000500000000000000" pitchFamily="2" charset="0"/>
              </a:rPr>
            </a:br>
            <a:r>
              <a:rPr lang="en-US" b="0" i="0" dirty="0">
                <a:solidFill>
                  <a:schemeClr val="tx2">
                    <a:lumMod val="60000"/>
                    <a:lumOff val="40000"/>
                  </a:schemeClr>
                </a:solidFill>
                <a:effectLst/>
                <a:latin typeface="-apple-system"/>
              </a:rPr>
              <a:t>-Robert Greene-</a:t>
            </a:r>
            <a:br>
              <a:rPr lang="en-US" b="0" i="0" dirty="0">
                <a:solidFill>
                  <a:srgbClr val="000000"/>
                </a:solidFill>
                <a:effectLst/>
                <a:latin typeface="-apple-system"/>
              </a:rPr>
            </a:br>
            <a:endParaRPr lang="en-GB" dirty="0"/>
          </a:p>
        </p:txBody>
      </p:sp>
    </p:spTree>
    <p:extLst>
      <p:ext uri="{BB962C8B-B14F-4D97-AF65-F5344CB8AC3E}">
        <p14:creationId xmlns:p14="http://schemas.microsoft.com/office/powerpoint/2010/main" val="195508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EBC196D-29C1-4EBC-8459-390458B695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92" y="98945"/>
            <a:ext cx="12064620" cy="6496334"/>
          </a:xfrm>
          <a:prstGeom prst="rect">
            <a:avLst/>
          </a:prstGeom>
        </p:spPr>
      </p:pic>
    </p:spTree>
    <p:extLst>
      <p:ext uri="{BB962C8B-B14F-4D97-AF65-F5344CB8AC3E}">
        <p14:creationId xmlns:p14="http://schemas.microsoft.com/office/powerpoint/2010/main" val="2475762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DFD70-2918-4E5E-9FA8-90004BFD2AE3}"/>
              </a:ext>
            </a:extLst>
          </p:cNvPr>
          <p:cNvSpPr>
            <a:spLocks noGrp="1"/>
          </p:cNvSpPr>
          <p:nvPr>
            <p:ph type="ctrTitle"/>
          </p:nvPr>
        </p:nvSpPr>
        <p:spPr>
          <a:xfrm>
            <a:off x="913182" y="1982716"/>
            <a:ext cx="5736609" cy="2387600"/>
          </a:xfrm>
        </p:spPr>
        <p:txBody>
          <a:bodyPr>
            <a:normAutofit fontScale="90000"/>
          </a:bodyPr>
          <a:lstStyle/>
          <a:p>
            <a:pPr algn="l"/>
            <a:r>
              <a:rPr lang="en-US" b="1" i="0" dirty="0">
                <a:solidFill>
                  <a:srgbClr val="111111"/>
                </a:solidFill>
                <a:effectLst/>
                <a:latin typeface="Cabin-semi-bold"/>
              </a:rPr>
              <a:t>What Is Social Media Marketing (SMM)</a:t>
            </a:r>
            <a:endParaRPr lang="en-GB" dirty="0"/>
          </a:p>
        </p:txBody>
      </p:sp>
      <p:pic>
        <p:nvPicPr>
          <p:cNvPr id="9" name="Picture 8">
            <a:extLst>
              <a:ext uri="{FF2B5EF4-FFF2-40B4-BE49-F238E27FC236}">
                <a16:creationId xmlns:a16="http://schemas.microsoft.com/office/drawing/2014/main" id="{81419E51-C03F-4882-8E52-6EB8F88A7E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0602" y="1119116"/>
            <a:ext cx="4858087" cy="4114800"/>
          </a:xfrm>
          <a:prstGeom prst="rect">
            <a:avLst/>
          </a:prstGeom>
        </p:spPr>
      </p:pic>
      <p:sp>
        <p:nvSpPr>
          <p:cNvPr id="11" name="Oval 10">
            <a:extLst>
              <a:ext uri="{FF2B5EF4-FFF2-40B4-BE49-F238E27FC236}">
                <a16:creationId xmlns:a16="http://schemas.microsoft.com/office/drawing/2014/main" id="{709683AE-B0B5-4CEC-8425-E9E94D317943}"/>
              </a:ext>
            </a:extLst>
          </p:cNvPr>
          <p:cNvSpPr/>
          <p:nvPr/>
        </p:nvSpPr>
        <p:spPr>
          <a:xfrm>
            <a:off x="-748137" y="4981433"/>
            <a:ext cx="3753134" cy="3753134"/>
          </a:xfrm>
          <a:prstGeom prst="ellipse">
            <a:avLst/>
          </a:prstGeom>
          <a:solidFill>
            <a:srgbClr val="FF79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B5AAE027-3F23-4070-ADBA-3E49BDB0F17E}"/>
              </a:ext>
            </a:extLst>
          </p:cNvPr>
          <p:cNvSpPr/>
          <p:nvPr/>
        </p:nvSpPr>
        <p:spPr>
          <a:xfrm>
            <a:off x="10672978" y="5882185"/>
            <a:ext cx="1951629" cy="1951629"/>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8BA99148-5451-4ED4-B475-B7B87504C387}"/>
              </a:ext>
            </a:extLst>
          </p:cNvPr>
          <p:cNvSpPr/>
          <p:nvPr/>
        </p:nvSpPr>
        <p:spPr>
          <a:xfrm>
            <a:off x="10509633" y="5697940"/>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D1CF3291-A0B7-4939-AB4C-982D1CC9CB94}"/>
              </a:ext>
            </a:extLst>
          </p:cNvPr>
          <p:cNvSpPr/>
          <p:nvPr/>
        </p:nvSpPr>
        <p:spPr>
          <a:xfrm>
            <a:off x="11280302" y="5203208"/>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1DF6D842-3588-40BA-8CA1-84A102047FBB}"/>
              </a:ext>
            </a:extLst>
          </p:cNvPr>
          <p:cNvSpPr/>
          <p:nvPr/>
        </p:nvSpPr>
        <p:spPr>
          <a:xfrm>
            <a:off x="3039545" y="6148316"/>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7CB6E02F-A4CB-4B26-8868-5410C7F60870}"/>
              </a:ext>
            </a:extLst>
          </p:cNvPr>
          <p:cNvSpPr/>
          <p:nvPr/>
        </p:nvSpPr>
        <p:spPr>
          <a:xfrm>
            <a:off x="2657407" y="5303671"/>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1188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828B4E-2C34-45EC-80F1-9C970D9E1F95}"/>
              </a:ext>
            </a:extLst>
          </p:cNvPr>
          <p:cNvSpPr>
            <a:spLocks noGrp="1"/>
          </p:cNvSpPr>
          <p:nvPr>
            <p:ph idx="1"/>
          </p:nvPr>
        </p:nvSpPr>
        <p:spPr>
          <a:xfrm>
            <a:off x="838200" y="1355502"/>
            <a:ext cx="10515600" cy="1503608"/>
          </a:xfrm>
        </p:spPr>
        <p:txBody>
          <a:bodyPr>
            <a:normAutofit/>
          </a:bodyPr>
          <a:lstStyle/>
          <a:p>
            <a:pPr marL="0" indent="0">
              <a:buNone/>
            </a:pPr>
            <a:r>
              <a:rPr lang="en-US" b="0" i="0" dirty="0">
                <a:effectLst/>
                <a:latin typeface="SourceSansPro"/>
              </a:rPr>
              <a:t>The term social media marketing (SMM) refers to the use of social media and social networks to market a company’s products and services.</a:t>
            </a:r>
          </a:p>
          <a:p>
            <a:pPr marL="0" indent="0">
              <a:buNone/>
            </a:pPr>
            <a:endParaRPr lang="en-US" b="0" i="0" dirty="0">
              <a:effectLst/>
              <a:latin typeface="SourceSansPro"/>
            </a:endParaRPr>
          </a:p>
          <a:p>
            <a:pPr marL="0" indent="0">
              <a:buNone/>
            </a:pPr>
            <a:endParaRPr lang="en-US" b="0" i="0" dirty="0">
              <a:effectLst/>
              <a:latin typeface="SourceSansPro"/>
            </a:endParaRPr>
          </a:p>
        </p:txBody>
      </p:sp>
      <p:sp>
        <p:nvSpPr>
          <p:cNvPr id="6" name="Content Placeholder 2">
            <a:extLst>
              <a:ext uri="{FF2B5EF4-FFF2-40B4-BE49-F238E27FC236}">
                <a16:creationId xmlns:a16="http://schemas.microsoft.com/office/drawing/2014/main" id="{AA0451B0-6A4E-4C9E-9778-287DC747B4C3}"/>
              </a:ext>
            </a:extLst>
          </p:cNvPr>
          <p:cNvSpPr txBox="1">
            <a:spLocks/>
          </p:cNvSpPr>
          <p:nvPr/>
        </p:nvSpPr>
        <p:spPr>
          <a:xfrm>
            <a:off x="838200" y="3079662"/>
            <a:ext cx="10515600" cy="28961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0" i="0" dirty="0">
                <a:effectLst/>
                <a:latin typeface="SourceSansPro"/>
              </a:rPr>
              <a:t>Social media marketing provides companies with a </a:t>
            </a:r>
            <a:r>
              <a:rPr lang="en-US" b="0" i="0" dirty="0">
                <a:solidFill>
                  <a:schemeClr val="accent1">
                    <a:lumMod val="75000"/>
                  </a:schemeClr>
                </a:solidFill>
                <a:effectLst/>
                <a:latin typeface="SourceSansPro"/>
              </a:rPr>
              <a:t>way to engage with existing customers</a:t>
            </a:r>
            <a:r>
              <a:rPr lang="en-US" b="0" i="0" dirty="0">
                <a:effectLst/>
                <a:latin typeface="SourceSansPro"/>
              </a:rPr>
              <a:t> and </a:t>
            </a:r>
            <a:r>
              <a:rPr lang="en-US" b="0" i="0" dirty="0">
                <a:solidFill>
                  <a:schemeClr val="accent1">
                    <a:lumMod val="75000"/>
                  </a:schemeClr>
                </a:solidFill>
                <a:effectLst/>
                <a:latin typeface="SourceSansPro"/>
              </a:rPr>
              <a:t>reach new ones while allowing them to promote their desired culture, mission, or tone</a:t>
            </a:r>
            <a:r>
              <a:rPr lang="en-US" b="0" i="0" dirty="0">
                <a:effectLst/>
                <a:latin typeface="SourceSansPro"/>
              </a:rPr>
              <a:t>.</a:t>
            </a:r>
          </a:p>
          <a:p>
            <a:pPr marL="0" indent="0">
              <a:buNone/>
            </a:pPr>
            <a:endParaRPr lang="en-US" b="0" i="0" dirty="0">
              <a:effectLst/>
              <a:latin typeface="SourceSansPro"/>
            </a:endParaRPr>
          </a:p>
          <a:p>
            <a:pPr marL="0" indent="0">
              <a:buNone/>
            </a:pPr>
            <a:r>
              <a:rPr lang="en-US" b="0" i="0" dirty="0">
                <a:effectLst/>
                <a:latin typeface="SourceSansPro"/>
              </a:rPr>
              <a:t>Social media marketing has purpose-built data analytics tools that allow marketers to track the success of their efforts.</a:t>
            </a:r>
            <a:endParaRPr lang="en-GB" dirty="0"/>
          </a:p>
        </p:txBody>
      </p:sp>
      <p:sp>
        <p:nvSpPr>
          <p:cNvPr id="7" name="Oval 6">
            <a:extLst>
              <a:ext uri="{FF2B5EF4-FFF2-40B4-BE49-F238E27FC236}">
                <a16:creationId xmlns:a16="http://schemas.microsoft.com/office/drawing/2014/main" id="{3F928BEA-6451-4566-9C22-56A85E8C355B}"/>
              </a:ext>
            </a:extLst>
          </p:cNvPr>
          <p:cNvSpPr/>
          <p:nvPr/>
        </p:nvSpPr>
        <p:spPr>
          <a:xfrm>
            <a:off x="11082270" y="5806765"/>
            <a:ext cx="882202" cy="88220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C78BDA63-97E4-4669-9093-C13D1757B2D9}"/>
              </a:ext>
            </a:extLst>
          </p:cNvPr>
          <p:cNvSpPr/>
          <p:nvPr/>
        </p:nvSpPr>
        <p:spPr>
          <a:xfrm>
            <a:off x="10471598" y="5975798"/>
            <a:ext cx="441101" cy="4411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EF5C12D3-5898-4C6A-B04F-0D75015450B9}"/>
              </a:ext>
            </a:extLst>
          </p:cNvPr>
          <p:cNvSpPr/>
          <p:nvPr/>
        </p:nvSpPr>
        <p:spPr>
          <a:xfrm>
            <a:off x="10730785" y="5566893"/>
            <a:ext cx="305879" cy="3058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7288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245D0-E677-4989-9E26-AC1E78007125}"/>
              </a:ext>
            </a:extLst>
          </p:cNvPr>
          <p:cNvSpPr>
            <a:spLocks noGrp="1"/>
          </p:cNvSpPr>
          <p:nvPr>
            <p:ph type="title"/>
          </p:nvPr>
        </p:nvSpPr>
        <p:spPr/>
        <p:txBody>
          <a:bodyPr>
            <a:normAutofit/>
          </a:bodyPr>
          <a:lstStyle/>
          <a:p>
            <a:r>
              <a:rPr lang="en-US" b="1" i="0" dirty="0">
                <a:solidFill>
                  <a:srgbClr val="000000"/>
                </a:solidFill>
                <a:effectLst/>
                <a:latin typeface="Poppins" panose="00000500000000000000" pitchFamily="2" charset="0"/>
              </a:rPr>
              <a:t>A Quick Overview of Social Media Marketing</a:t>
            </a:r>
            <a:endParaRPr lang="en-GB" dirty="0"/>
          </a:p>
        </p:txBody>
      </p:sp>
      <p:sp>
        <p:nvSpPr>
          <p:cNvPr id="3" name="Content Placeholder 2">
            <a:extLst>
              <a:ext uri="{FF2B5EF4-FFF2-40B4-BE49-F238E27FC236}">
                <a16:creationId xmlns:a16="http://schemas.microsoft.com/office/drawing/2014/main" id="{17760541-F051-40FE-BDA4-A0F14667D830}"/>
              </a:ext>
            </a:extLst>
          </p:cNvPr>
          <p:cNvSpPr>
            <a:spLocks noGrp="1"/>
          </p:cNvSpPr>
          <p:nvPr>
            <p:ph idx="1"/>
          </p:nvPr>
        </p:nvSpPr>
        <p:spPr/>
        <p:txBody>
          <a:bodyPr>
            <a:normAutofit/>
          </a:bodyPr>
          <a:lstStyle/>
          <a:p>
            <a:pPr marL="0" indent="0" algn="just">
              <a:buNone/>
            </a:pPr>
            <a:r>
              <a:rPr lang="en-US" sz="2000" b="0" i="0" dirty="0">
                <a:solidFill>
                  <a:srgbClr val="000000"/>
                </a:solidFill>
                <a:effectLst/>
                <a:latin typeface="Montserrat" panose="00000500000000000000" pitchFamily="2" charset="0"/>
              </a:rPr>
              <a:t>Social media marketing first started with publishing. Businesses were sharing their content on social media to generate traffic to their websites and, hopefully, sales. But social media has matured far beyond being just a place to broadcast content.</a:t>
            </a:r>
          </a:p>
          <a:p>
            <a:pPr marL="0" indent="0" algn="just">
              <a:buNone/>
            </a:pPr>
            <a:r>
              <a:rPr lang="en-US" sz="2000" b="0" i="0" dirty="0">
                <a:solidFill>
                  <a:srgbClr val="000000"/>
                </a:solidFill>
                <a:effectLst/>
                <a:latin typeface="Montserrat" panose="00000500000000000000" pitchFamily="2" charset="0"/>
              </a:rPr>
              <a:t>Nowadays, businesses use social media in a myriad of different ways. </a:t>
            </a:r>
            <a:r>
              <a:rPr lang="en-US" sz="2000" b="0" i="1" dirty="0">
                <a:solidFill>
                  <a:srgbClr val="0070C0"/>
                </a:solidFill>
                <a:effectLst/>
                <a:latin typeface="Montserrat" panose="00000500000000000000" pitchFamily="2" charset="0"/>
              </a:rPr>
              <a:t>For example, a business that is concerned about what people are saying about its brand would monitor social media conversations and response to relevant mentions (social media listening and engagement).</a:t>
            </a:r>
          </a:p>
          <a:p>
            <a:pPr marL="0" indent="0" algn="just">
              <a:buNone/>
            </a:pPr>
            <a:r>
              <a:rPr lang="en-US" sz="2000" b="0" i="0" dirty="0">
                <a:solidFill>
                  <a:srgbClr val="000000"/>
                </a:solidFill>
                <a:effectLst/>
                <a:latin typeface="Montserrat" panose="00000500000000000000" pitchFamily="2" charset="0"/>
              </a:rPr>
              <a:t>A business that wants to understand how it’s performing on social media would analyze its reach, engagement, and sales on social media with an analytics tool (social media analytics). A business that wants to reach a specific set of audience at scale would run highly-targeted social media ads (social media advertising).</a:t>
            </a:r>
          </a:p>
          <a:p>
            <a:pPr marL="0" indent="0" algn="just">
              <a:buNone/>
            </a:pPr>
            <a:r>
              <a:rPr lang="en-US" sz="2000" b="0" i="0" dirty="0">
                <a:solidFill>
                  <a:srgbClr val="000000"/>
                </a:solidFill>
                <a:effectLst/>
                <a:latin typeface="Montserrat" panose="00000500000000000000" pitchFamily="2" charset="0"/>
              </a:rPr>
              <a:t>As a whole, these are often also known as social media management.</a:t>
            </a:r>
          </a:p>
          <a:p>
            <a:pPr algn="just"/>
            <a:endParaRPr lang="en-GB" sz="2000" dirty="0">
              <a:latin typeface="Montserrat" panose="00000500000000000000" pitchFamily="2" charset="0"/>
            </a:endParaRPr>
          </a:p>
        </p:txBody>
      </p:sp>
    </p:spTree>
    <p:extLst>
      <p:ext uri="{BB962C8B-B14F-4D97-AF65-F5344CB8AC3E}">
        <p14:creationId xmlns:p14="http://schemas.microsoft.com/office/powerpoint/2010/main" val="128959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3FFD8-D584-4527-B0AE-841DB0DF5587}"/>
              </a:ext>
            </a:extLst>
          </p:cNvPr>
          <p:cNvSpPr>
            <a:spLocks noGrp="1"/>
          </p:cNvSpPr>
          <p:nvPr>
            <p:ph type="title"/>
          </p:nvPr>
        </p:nvSpPr>
        <p:spPr/>
        <p:txBody>
          <a:bodyPr>
            <a:normAutofit/>
          </a:bodyPr>
          <a:lstStyle/>
          <a:p>
            <a:r>
              <a:rPr lang="en-US" sz="3200" b="1" dirty="0">
                <a:latin typeface="Montserrat" panose="00000500000000000000" pitchFamily="2" charset="0"/>
              </a:rPr>
              <a:t>SOCIAL MEDIA MARKETING VS MANAGEMENT</a:t>
            </a:r>
            <a:endParaRPr lang="en-GB" sz="3200" b="1" dirty="0">
              <a:latin typeface="Montserrat" panose="00000500000000000000" pitchFamily="2" charset="0"/>
            </a:endParaRPr>
          </a:p>
        </p:txBody>
      </p:sp>
      <p:sp>
        <p:nvSpPr>
          <p:cNvPr id="3" name="Text Placeholder 2">
            <a:extLst>
              <a:ext uri="{FF2B5EF4-FFF2-40B4-BE49-F238E27FC236}">
                <a16:creationId xmlns:a16="http://schemas.microsoft.com/office/drawing/2014/main" id="{41EC1BD0-FBA3-499D-9FAB-F1F9B47AAFE3}"/>
              </a:ext>
            </a:extLst>
          </p:cNvPr>
          <p:cNvSpPr>
            <a:spLocks noGrp="1"/>
          </p:cNvSpPr>
          <p:nvPr>
            <p:ph type="body" idx="1"/>
          </p:nvPr>
        </p:nvSpPr>
        <p:spPr/>
        <p:txBody>
          <a:bodyPr/>
          <a:lstStyle/>
          <a:p>
            <a:r>
              <a:rPr lang="en-US" dirty="0">
                <a:latin typeface="Montserrat" panose="00000500000000000000" pitchFamily="2" charset="0"/>
              </a:rPr>
              <a:t>Marketing</a:t>
            </a:r>
            <a:endParaRPr lang="en-GB" dirty="0">
              <a:latin typeface="Montserrat" panose="00000500000000000000" pitchFamily="2" charset="0"/>
            </a:endParaRPr>
          </a:p>
        </p:txBody>
      </p:sp>
      <p:sp>
        <p:nvSpPr>
          <p:cNvPr id="4" name="Content Placeholder 3">
            <a:extLst>
              <a:ext uri="{FF2B5EF4-FFF2-40B4-BE49-F238E27FC236}">
                <a16:creationId xmlns:a16="http://schemas.microsoft.com/office/drawing/2014/main" id="{4BCEDEFE-FC0B-4E82-95FD-A146C8BE2996}"/>
              </a:ext>
            </a:extLst>
          </p:cNvPr>
          <p:cNvSpPr>
            <a:spLocks noGrp="1"/>
          </p:cNvSpPr>
          <p:nvPr>
            <p:ph sz="half" idx="2"/>
          </p:nvPr>
        </p:nvSpPr>
        <p:spPr/>
        <p:txBody>
          <a:bodyPr/>
          <a:lstStyle/>
          <a:p>
            <a:r>
              <a:rPr lang="en-US" dirty="0"/>
              <a:t>You Focus on engagement</a:t>
            </a:r>
          </a:p>
          <a:p>
            <a:r>
              <a:rPr lang="en-GB" dirty="0"/>
              <a:t>You don’t joke with community</a:t>
            </a:r>
          </a:p>
          <a:p>
            <a:r>
              <a:rPr lang="en-GB" dirty="0"/>
              <a:t>Analytics is bae</a:t>
            </a:r>
          </a:p>
          <a:p>
            <a:r>
              <a:rPr lang="en-GB" dirty="0"/>
              <a:t>You are audience oriented</a:t>
            </a:r>
          </a:p>
          <a:p>
            <a:r>
              <a:rPr lang="en-GB" dirty="0"/>
              <a:t>Content driven</a:t>
            </a:r>
          </a:p>
        </p:txBody>
      </p:sp>
      <p:sp>
        <p:nvSpPr>
          <p:cNvPr id="5" name="Text Placeholder 4">
            <a:extLst>
              <a:ext uri="{FF2B5EF4-FFF2-40B4-BE49-F238E27FC236}">
                <a16:creationId xmlns:a16="http://schemas.microsoft.com/office/drawing/2014/main" id="{703A5C64-BFBC-44E9-AF3E-E6E607B4C2A2}"/>
              </a:ext>
            </a:extLst>
          </p:cNvPr>
          <p:cNvSpPr>
            <a:spLocks noGrp="1"/>
          </p:cNvSpPr>
          <p:nvPr>
            <p:ph type="body" sz="quarter" idx="3"/>
          </p:nvPr>
        </p:nvSpPr>
        <p:spPr/>
        <p:txBody>
          <a:bodyPr/>
          <a:lstStyle/>
          <a:p>
            <a:r>
              <a:rPr lang="en-US" dirty="0">
                <a:latin typeface="Montserrat" panose="00000500000000000000" pitchFamily="2" charset="0"/>
              </a:rPr>
              <a:t>Management</a:t>
            </a:r>
            <a:endParaRPr lang="en-GB" dirty="0">
              <a:latin typeface="Montserrat" panose="00000500000000000000" pitchFamily="2" charset="0"/>
            </a:endParaRPr>
          </a:p>
        </p:txBody>
      </p:sp>
      <p:sp>
        <p:nvSpPr>
          <p:cNvPr id="6" name="Content Placeholder 5">
            <a:extLst>
              <a:ext uri="{FF2B5EF4-FFF2-40B4-BE49-F238E27FC236}">
                <a16:creationId xmlns:a16="http://schemas.microsoft.com/office/drawing/2014/main" id="{1053F03F-8ACF-4AE3-BD82-D4152FCCF3A0}"/>
              </a:ext>
            </a:extLst>
          </p:cNvPr>
          <p:cNvSpPr>
            <a:spLocks noGrp="1"/>
          </p:cNvSpPr>
          <p:nvPr>
            <p:ph sz="quarter" idx="4"/>
          </p:nvPr>
        </p:nvSpPr>
        <p:spPr/>
        <p:txBody>
          <a:bodyPr/>
          <a:lstStyle/>
          <a:p>
            <a:r>
              <a:rPr lang="en-US" dirty="0"/>
              <a:t>You focus on conversion</a:t>
            </a:r>
          </a:p>
          <a:p>
            <a:r>
              <a:rPr lang="en-US" dirty="0"/>
              <a:t>You focus on finance</a:t>
            </a:r>
          </a:p>
          <a:p>
            <a:r>
              <a:rPr lang="en-US" dirty="0"/>
              <a:t>Analytics is bae too</a:t>
            </a:r>
          </a:p>
          <a:p>
            <a:r>
              <a:rPr lang="en-US" dirty="0"/>
              <a:t>Target oriented</a:t>
            </a:r>
          </a:p>
          <a:p>
            <a:r>
              <a:rPr lang="en-US" dirty="0"/>
              <a:t>Advertising driven</a:t>
            </a:r>
          </a:p>
        </p:txBody>
      </p:sp>
      <p:sp>
        <p:nvSpPr>
          <p:cNvPr id="7" name="Oval 6">
            <a:extLst>
              <a:ext uri="{FF2B5EF4-FFF2-40B4-BE49-F238E27FC236}">
                <a16:creationId xmlns:a16="http://schemas.microsoft.com/office/drawing/2014/main" id="{F6F8DDF8-C70C-454A-8B2E-BE9F3C2A1948}"/>
              </a:ext>
            </a:extLst>
          </p:cNvPr>
          <p:cNvSpPr/>
          <p:nvPr/>
        </p:nvSpPr>
        <p:spPr>
          <a:xfrm>
            <a:off x="10672978" y="5882185"/>
            <a:ext cx="1951629" cy="1951629"/>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422B6CE5-9DB1-4C66-B583-E75C33680CF2}"/>
              </a:ext>
            </a:extLst>
          </p:cNvPr>
          <p:cNvSpPr/>
          <p:nvPr/>
        </p:nvSpPr>
        <p:spPr>
          <a:xfrm>
            <a:off x="10509633" y="5697940"/>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19D1AB55-7CFF-4A75-81CA-F24E28387C3B}"/>
              </a:ext>
            </a:extLst>
          </p:cNvPr>
          <p:cNvSpPr/>
          <p:nvPr/>
        </p:nvSpPr>
        <p:spPr>
          <a:xfrm>
            <a:off x="11280302" y="5203208"/>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06500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B7527-724D-4569-A1FC-9F7FD13B0F1B}"/>
              </a:ext>
            </a:extLst>
          </p:cNvPr>
          <p:cNvSpPr>
            <a:spLocks noGrp="1"/>
          </p:cNvSpPr>
          <p:nvPr>
            <p:ph type="ctrTitle"/>
          </p:nvPr>
        </p:nvSpPr>
        <p:spPr>
          <a:xfrm>
            <a:off x="1524000" y="645382"/>
            <a:ext cx="9144000" cy="2032468"/>
          </a:xfrm>
        </p:spPr>
        <p:txBody>
          <a:bodyPr>
            <a:normAutofit/>
          </a:bodyPr>
          <a:lstStyle/>
          <a:p>
            <a:r>
              <a:rPr lang="en-US" sz="4000" b="1" dirty="0">
                <a:solidFill>
                  <a:schemeClr val="tx2">
                    <a:lumMod val="75000"/>
                  </a:schemeClr>
                </a:solidFill>
                <a:latin typeface="Montserrat" panose="00000500000000000000" pitchFamily="2" charset="0"/>
              </a:rPr>
              <a:t>The following 4W’s must be considered before starting social media marketing</a:t>
            </a:r>
            <a:endParaRPr lang="en-GB" sz="4000" b="1" dirty="0">
              <a:solidFill>
                <a:schemeClr val="tx2">
                  <a:lumMod val="75000"/>
                </a:schemeClr>
              </a:solidFill>
              <a:latin typeface="Montserrat" panose="00000500000000000000" pitchFamily="2" charset="0"/>
            </a:endParaRPr>
          </a:p>
        </p:txBody>
      </p:sp>
      <p:sp>
        <p:nvSpPr>
          <p:cNvPr id="3" name="Subtitle 2">
            <a:extLst>
              <a:ext uri="{FF2B5EF4-FFF2-40B4-BE49-F238E27FC236}">
                <a16:creationId xmlns:a16="http://schemas.microsoft.com/office/drawing/2014/main" id="{06D74974-76FC-40BD-A25F-939932F5D42A}"/>
              </a:ext>
            </a:extLst>
          </p:cNvPr>
          <p:cNvSpPr>
            <a:spLocks noGrp="1"/>
          </p:cNvSpPr>
          <p:nvPr>
            <p:ph type="subTitle" idx="1"/>
          </p:nvPr>
        </p:nvSpPr>
        <p:spPr>
          <a:xfrm>
            <a:off x="1524000" y="3240660"/>
            <a:ext cx="9144000" cy="2154818"/>
          </a:xfrm>
        </p:spPr>
        <p:txBody>
          <a:bodyPr>
            <a:normAutofit/>
          </a:bodyPr>
          <a:lstStyle/>
          <a:p>
            <a:pPr marL="342900" indent="-342900" algn="l">
              <a:buFont typeface="Wingdings" panose="05000000000000000000" pitchFamily="2" charset="2"/>
              <a:buChar char="§"/>
            </a:pPr>
            <a:r>
              <a:rPr lang="en-US" dirty="0">
                <a:latin typeface="Montserrat" panose="00000500000000000000" pitchFamily="2" charset="0"/>
              </a:rPr>
              <a:t>What are you marketing</a:t>
            </a:r>
            <a:r>
              <a:rPr lang="en-GB" dirty="0">
                <a:latin typeface="Montserrat" panose="00000500000000000000" pitchFamily="2" charset="0"/>
              </a:rPr>
              <a:t>?</a:t>
            </a:r>
          </a:p>
          <a:p>
            <a:pPr marL="342900" indent="-342900" algn="l">
              <a:buFont typeface="Wingdings" panose="05000000000000000000" pitchFamily="2" charset="2"/>
              <a:buChar char="§"/>
            </a:pPr>
            <a:r>
              <a:rPr lang="en-GB" dirty="0">
                <a:latin typeface="Montserrat" panose="00000500000000000000" pitchFamily="2" charset="0"/>
              </a:rPr>
              <a:t>Who are you marketing to?</a:t>
            </a:r>
          </a:p>
          <a:p>
            <a:pPr marL="342900" indent="-342900" algn="l">
              <a:buFont typeface="Wingdings" panose="05000000000000000000" pitchFamily="2" charset="2"/>
              <a:buChar char="§"/>
            </a:pPr>
            <a:r>
              <a:rPr lang="en-GB" dirty="0">
                <a:latin typeface="Montserrat" panose="00000500000000000000" pitchFamily="2" charset="0"/>
              </a:rPr>
              <a:t>Why are you marketing?</a:t>
            </a:r>
          </a:p>
          <a:p>
            <a:pPr marL="342900" indent="-342900" algn="l">
              <a:buFont typeface="Wingdings" panose="05000000000000000000" pitchFamily="2" charset="2"/>
              <a:buChar char="§"/>
            </a:pPr>
            <a:r>
              <a:rPr lang="en-GB" dirty="0">
                <a:latin typeface="Montserrat" panose="00000500000000000000" pitchFamily="2" charset="0"/>
              </a:rPr>
              <a:t>Which platform are suitable for marketing what you are marketing?</a:t>
            </a:r>
            <a:endParaRPr lang="en-US" dirty="0">
              <a:latin typeface="Montserrat" panose="00000500000000000000" pitchFamily="2" charset="0"/>
            </a:endParaRPr>
          </a:p>
        </p:txBody>
      </p:sp>
      <p:sp>
        <p:nvSpPr>
          <p:cNvPr id="4" name="Oval 3">
            <a:extLst>
              <a:ext uri="{FF2B5EF4-FFF2-40B4-BE49-F238E27FC236}">
                <a16:creationId xmlns:a16="http://schemas.microsoft.com/office/drawing/2014/main" id="{7515BDAD-0954-44BC-A4E2-99B6321D444A}"/>
              </a:ext>
            </a:extLst>
          </p:cNvPr>
          <p:cNvSpPr/>
          <p:nvPr/>
        </p:nvSpPr>
        <p:spPr>
          <a:xfrm>
            <a:off x="10672978" y="5882185"/>
            <a:ext cx="1951629" cy="1951629"/>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C58496DA-9263-4D34-AE9C-22E4F0B48E04}"/>
              </a:ext>
            </a:extLst>
          </p:cNvPr>
          <p:cNvSpPr/>
          <p:nvPr/>
        </p:nvSpPr>
        <p:spPr>
          <a:xfrm>
            <a:off x="10509633" y="5697940"/>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37A0BE95-56FF-4208-8AFE-035D5EE5999B}"/>
              </a:ext>
            </a:extLst>
          </p:cNvPr>
          <p:cNvSpPr/>
          <p:nvPr/>
        </p:nvSpPr>
        <p:spPr>
          <a:xfrm>
            <a:off x="11280302" y="5203208"/>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30176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53A3A-0F38-46E4-B83F-B97E798169FB}"/>
              </a:ext>
            </a:extLst>
          </p:cNvPr>
          <p:cNvSpPr>
            <a:spLocks noGrp="1"/>
          </p:cNvSpPr>
          <p:nvPr>
            <p:ph type="ctrTitle"/>
          </p:nvPr>
        </p:nvSpPr>
        <p:spPr>
          <a:xfrm>
            <a:off x="1240665" y="1326167"/>
            <a:ext cx="5173014" cy="1655762"/>
          </a:xfrm>
        </p:spPr>
        <p:txBody>
          <a:bodyPr>
            <a:normAutofit/>
          </a:bodyPr>
          <a:lstStyle/>
          <a:p>
            <a:pPr algn="l"/>
            <a:r>
              <a:rPr lang="en-US" sz="4000" b="1" dirty="0">
                <a:latin typeface="Montserrat" panose="00000500000000000000" pitchFamily="2" charset="0"/>
              </a:rPr>
              <a:t>What Does SMM Look Like In 2022</a:t>
            </a:r>
            <a:endParaRPr lang="en-GB" sz="4000" b="1" dirty="0">
              <a:latin typeface="Montserrat" panose="00000500000000000000" pitchFamily="2" charset="0"/>
            </a:endParaRPr>
          </a:p>
        </p:txBody>
      </p:sp>
      <p:sp>
        <p:nvSpPr>
          <p:cNvPr id="3" name="Subtitle 2">
            <a:extLst>
              <a:ext uri="{FF2B5EF4-FFF2-40B4-BE49-F238E27FC236}">
                <a16:creationId xmlns:a16="http://schemas.microsoft.com/office/drawing/2014/main" id="{D6C8C299-F5F1-4CAC-8027-1998E93C4976}"/>
              </a:ext>
            </a:extLst>
          </p:cNvPr>
          <p:cNvSpPr>
            <a:spLocks noGrp="1"/>
          </p:cNvSpPr>
          <p:nvPr>
            <p:ph type="subTitle" idx="1"/>
          </p:nvPr>
        </p:nvSpPr>
        <p:spPr>
          <a:xfrm>
            <a:off x="1524000" y="3602038"/>
            <a:ext cx="9144000" cy="2464392"/>
          </a:xfrm>
        </p:spPr>
        <p:txBody>
          <a:bodyPr>
            <a:noAutofit/>
          </a:bodyPr>
          <a:lstStyle/>
          <a:p>
            <a:pPr marL="342900" indent="-342900" algn="l">
              <a:buFont typeface="Wingdings" panose="05000000000000000000" pitchFamily="2" charset="2"/>
              <a:buChar char="§"/>
            </a:pPr>
            <a:r>
              <a:rPr lang="en-US" sz="2200" dirty="0">
                <a:latin typeface="Montserrat" panose="00000500000000000000" pitchFamily="2" charset="0"/>
              </a:rPr>
              <a:t>User experience is important</a:t>
            </a:r>
          </a:p>
          <a:p>
            <a:pPr marL="342900" indent="-342900" algn="l">
              <a:buFont typeface="Wingdings" panose="05000000000000000000" pitchFamily="2" charset="2"/>
              <a:buChar char="§"/>
            </a:pPr>
            <a:r>
              <a:rPr lang="en-US" sz="2200" dirty="0">
                <a:latin typeface="Montserrat" panose="00000500000000000000" pitchFamily="2" charset="0"/>
              </a:rPr>
              <a:t>Influencer marketing</a:t>
            </a:r>
          </a:p>
          <a:p>
            <a:pPr marL="342900" indent="-342900" algn="l">
              <a:buFont typeface="Wingdings" panose="05000000000000000000" pitchFamily="2" charset="2"/>
              <a:buChar char="§"/>
            </a:pPr>
            <a:r>
              <a:rPr lang="en-US" sz="2200" dirty="0">
                <a:latin typeface="Montserrat" panose="00000500000000000000" pitchFamily="2" charset="0"/>
              </a:rPr>
              <a:t>Web 3.0 (virtual reality, augmented realities, crypto, NTF etc.)</a:t>
            </a:r>
          </a:p>
          <a:p>
            <a:pPr marL="342900" indent="-342900" algn="l">
              <a:buFont typeface="Wingdings" panose="05000000000000000000" pitchFamily="2" charset="2"/>
              <a:buChar char="§"/>
            </a:pPr>
            <a:r>
              <a:rPr lang="en-US" sz="2200" dirty="0">
                <a:latin typeface="Montserrat" panose="00000500000000000000" pitchFamily="2" charset="0"/>
              </a:rPr>
              <a:t>Personalized customer experience</a:t>
            </a:r>
          </a:p>
          <a:p>
            <a:pPr marL="342900" indent="-342900" algn="l">
              <a:buFont typeface="Wingdings" panose="05000000000000000000" pitchFamily="2" charset="2"/>
              <a:buChar char="§"/>
            </a:pPr>
            <a:r>
              <a:rPr lang="en-US" sz="2200" dirty="0">
                <a:latin typeface="Montserrat" panose="00000500000000000000" pitchFamily="2" charset="0"/>
              </a:rPr>
              <a:t>Engaging and shocking content</a:t>
            </a:r>
            <a:endParaRPr lang="en-GB" sz="2200" dirty="0">
              <a:latin typeface="Montserrat" panose="00000500000000000000" pitchFamily="2" charset="0"/>
            </a:endParaRPr>
          </a:p>
        </p:txBody>
      </p:sp>
      <p:sp>
        <p:nvSpPr>
          <p:cNvPr id="4" name="Oval 3">
            <a:extLst>
              <a:ext uri="{FF2B5EF4-FFF2-40B4-BE49-F238E27FC236}">
                <a16:creationId xmlns:a16="http://schemas.microsoft.com/office/drawing/2014/main" id="{A2275DCA-0429-475A-8785-BB4A72E55394}"/>
              </a:ext>
            </a:extLst>
          </p:cNvPr>
          <p:cNvSpPr/>
          <p:nvPr/>
        </p:nvSpPr>
        <p:spPr>
          <a:xfrm>
            <a:off x="10672978" y="5882185"/>
            <a:ext cx="1951629" cy="1951629"/>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FFCE0A9D-DAD3-4A48-BB42-F43C7E8F98E8}"/>
              </a:ext>
            </a:extLst>
          </p:cNvPr>
          <p:cNvSpPr/>
          <p:nvPr/>
        </p:nvSpPr>
        <p:spPr>
          <a:xfrm>
            <a:off x="10509633" y="5697940"/>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811F17DE-B2D0-449A-AA35-D1BA5392C2F4}"/>
              </a:ext>
            </a:extLst>
          </p:cNvPr>
          <p:cNvSpPr/>
          <p:nvPr/>
        </p:nvSpPr>
        <p:spPr>
          <a:xfrm>
            <a:off x="11280302" y="5203208"/>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07481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3CABD-F35C-4392-AD9E-A7217B10BA5A}"/>
              </a:ext>
            </a:extLst>
          </p:cNvPr>
          <p:cNvSpPr>
            <a:spLocks noGrp="1"/>
          </p:cNvSpPr>
          <p:nvPr>
            <p:ph type="title"/>
          </p:nvPr>
        </p:nvSpPr>
        <p:spPr>
          <a:xfrm>
            <a:off x="839788" y="236337"/>
            <a:ext cx="10515600" cy="1856951"/>
          </a:xfrm>
        </p:spPr>
        <p:txBody>
          <a:bodyPr>
            <a:normAutofit/>
          </a:bodyPr>
          <a:lstStyle/>
          <a:p>
            <a:pPr algn="ctr"/>
            <a:r>
              <a:rPr lang="en-US" sz="3600" b="1" dirty="0">
                <a:solidFill>
                  <a:schemeClr val="accent1">
                    <a:lumMod val="75000"/>
                  </a:schemeClr>
                </a:solidFill>
                <a:latin typeface="Montserrat" panose="00000500000000000000" pitchFamily="2" charset="0"/>
              </a:rPr>
              <a:t>The Difference Between</a:t>
            </a:r>
            <a:br>
              <a:rPr lang="en-US" sz="3600" b="1" dirty="0">
                <a:solidFill>
                  <a:schemeClr val="accent1">
                    <a:lumMod val="75000"/>
                  </a:schemeClr>
                </a:solidFill>
                <a:latin typeface="Montserrat" panose="00000500000000000000" pitchFamily="2" charset="0"/>
              </a:rPr>
            </a:br>
            <a:r>
              <a:rPr lang="en-US" sz="3600" b="1" dirty="0">
                <a:solidFill>
                  <a:schemeClr val="accent1">
                    <a:lumMod val="75000"/>
                  </a:schemeClr>
                </a:solidFill>
                <a:latin typeface="Montserrat" panose="00000500000000000000" pitchFamily="2" charset="0"/>
              </a:rPr>
              <a:t>Content Creation &amp; Curation</a:t>
            </a:r>
            <a:endParaRPr lang="en-GB" sz="3600" b="1" dirty="0">
              <a:solidFill>
                <a:schemeClr val="accent1">
                  <a:lumMod val="75000"/>
                </a:schemeClr>
              </a:solidFill>
              <a:latin typeface="Montserrat" panose="00000500000000000000" pitchFamily="2" charset="0"/>
            </a:endParaRPr>
          </a:p>
        </p:txBody>
      </p:sp>
      <p:sp>
        <p:nvSpPr>
          <p:cNvPr id="3" name="Text Placeholder 2">
            <a:extLst>
              <a:ext uri="{FF2B5EF4-FFF2-40B4-BE49-F238E27FC236}">
                <a16:creationId xmlns:a16="http://schemas.microsoft.com/office/drawing/2014/main" id="{669057DC-2AB6-4504-852E-4F67116030AF}"/>
              </a:ext>
            </a:extLst>
          </p:cNvPr>
          <p:cNvSpPr>
            <a:spLocks noGrp="1"/>
          </p:cNvSpPr>
          <p:nvPr>
            <p:ph type="body" idx="1"/>
          </p:nvPr>
        </p:nvSpPr>
        <p:spPr>
          <a:xfrm>
            <a:off x="839788" y="1642527"/>
            <a:ext cx="5157787" cy="823912"/>
          </a:xfrm>
        </p:spPr>
        <p:txBody>
          <a:bodyPr>
            <a:normAutofit/>
          </a:bodyPr>
          <a:lstStyle/>
          <a:p>
            <a:r>
              <a:rPr lang="en-US" sz="2800" dirty="0">
                <a:latin typeface="Montserrat" panose="00000500000000000000" pitchFamily="2" charset="0"/>
              </a:rPr>
              <a:t>Content creation</a:t>
            </a:r>
            <a:endParaRPr lang="en-GB" sz="2800" dirty="0">
              <a:latin typeface="Montserrat" panose="00000500000000000000" pitchFamily="2" charset="0"/>
            </a:endParaRPr>
          </a:p>
        </p:txBody>
      </p:sp>
      <p:sp>
        <p:nvSpPr>
          <p:cNvPr id="4" name="Content Placeholder 3">
            <a:extLst>
              <a:ext uri="{FF2B5EF4-FFF2-40B4-BE49-F238E27FC236}">
                <a16:creationId xmlns:a16="http://schemas.microsoft.com/office/drawing/2014/main" id="{2AD2BCA0-5FC9-457A-91C4-E7034BA16222}"/>
              </a:ext>
            </a:extLst>
          </p:cNvPr>
          <p:cNvSpPr>
            <a:spLocks noGrp="1"/>
          </p:cNvSpPr>
          <p:nvPr>
            <p:ph sz="half" idx="2"/>
          </p:nvPr>
        </p:nvSpPr>
        <p:spPr>
          <a:xfrm>
            <a:off x="839788" y="2646742"/>
            <a:ext cx="5157787" cy="3684588"/>
          </a:xfrm>
        </p:spPr>
        <p:txBody>
          <a:bodyPr/>
          <a:lstStyle/>
          <a:p>
            <a:r>
              <a:rPr lang="en-US" sz="2400" dirty="0">
                <a:latin typeface="Montserrat" panose="00000500000000000000" pitchFamily="2" charset="0"/>
              </a:rPr>
              <a:t>Takes a lot of time and effort</a:t>
            </a:r>
          </a:p>
          <a:p>
            <a:r>
              <a:rPr lang="en-US" sz="2400" dirty="0">
                <a:latin typeface="Montserrat" panose="00000500000000000000" pitchFamily="2" charset="0"/>
              </a:rPr>
              <a:t>Requires planning and actual creation of content</a:t>
            </a:r>
          </a:p>
          <a:p>
            <a:r>
              <a:rPr lang="en-US" sz="2400" dirty="0">
                <a:latin typeface="Montserrat" panose="00000500000000000000" pitchFamily="2" charset="0"/>
              </a:rPr>
              <a:t>Content is often original and created from scratch</a:t>
            </a:r>
          </a:p>
          <a:p>
            <a:r>
              <a:rPr lang="en-US" sz="2400" dirty="0">
                <a:latin typeface="Montserrat" panose="00000500000000000000" pitchFamily="2" charset="0"/>
              </a:rPr>
              <a:t>Can be time and resource consuming</a:t>
            </a:r>
            <a:endParaRPr lang="en-GB" dirty="0">
              <a:latin typeface="Montserrat" panose="00000500000000000000" pitchFamily="2" charset="0"/>
            </a:endParaRPr>
          </a:p>
        </p:txBody>
      </p:sp>
      <p:sp>
        <p:nvSpPr>
          <p:cNvPr id="5" name="Text Placeholder 4">
            <a:extLst>
              <a:ext uri="{FF2B5EF4-FFF2-40B4-BE49-F238E27FC236}">
                <a16:creationId xmlns:a16="http://schemas.microsoft.com/office/drawing/2014/main" id="{B0E48F48-96A8-45C5-BC85-F8F341320775}"/>
              </a:ext>
            </a:extLst>
          </p:cNvPr>
          <p:cNvSpPr>
            <a:spLocks noGrp="1"/>
          </p:cNvSpPr>
          <p:nvPr>
            <p:ph type="body" sz="quarter" idx="3"/>
          </p:nvPr>
        </p:nvSpPr>
        <p:spPr>
          <a:xfrm>
            <a:off x="6172200" y="1642527"/>
            <a:ext cx="5183188" cy="823912"/>
          </a:xfrm>
        </p:spPr>
        <p:txBody>
          <a:bodyPr>
            <a:normAutofit/>
          </a:bodyPr>
          <a:lstStyle/>
          <a:p>
            <a:r>
              <a:rPr lang="en-US" sz="2800" dirty="0">
                <a:latin typeface="Montserrat" panose="00000500000000000000" pitchFamily="2" charset="0"/>
              </a:rPr>
              <a:t>Content Curation</a:t>
            </a:r>
            <a:endParaRPr lang="en-GB" sz="2800" dirty="0">
              <a:latin typeface="Montserrat" panose="00000500000000000000" pitchFamily="2" charset="0"/>
            </a:endParaRPr>
          </a:p>
        </p:txBody>
      </p:sp>
      <p:sp>
        <p:nvSpPr>
          <p:cNvPr id="6" name="Content Placeholder 5">
            <a:extLst>
              <a:ext uri="{FF2B5EF4-FFF2-40B4-BE49-F238E27FC236}">
                <a16:creationId xmlns:a16="http://schemas.microsoft.com/office/drawing/2014/main" id="{7A697D26-75EB-47A8-BA09-2CE3190E355A}"/>
              </a:ext>
            </a:extLst>
          </p:cNvPr>
          <p:cNvSpPr>
            <a:spLocks noGrp="1"/>
          </p:cNvSpPr>
          <p:nvPr>
            <p:ph sz="quarter" idx="4"/>
          </p:nvPr>
        </p:nvSpPr>
        <p:spPr>
          <a:xfrm>
            <a:off x="6172200" y="2646742"/>
            <a:ext cx="5183188" cy="3684588"/>
          </a:xfrm>
        </p:spPr>
        <p:txBody>
          <a:bodyPr>
            <a:normAutofit/>
          </a:bodyPr>
          <a:lstStyle/>
          <a:p>
            <a:r>
              <a:rPr lang="en-US" sz="2400" dirty="0">
                <a:latin typeface="Montserrat" panose="00000500000000000000" pitchFamily="2" charset="0"/>
              </a:rPr>
              <a:t>Takes a lot of time</a:t>
            </a:r>
          </a:p>
          <a:p>
            <a:r>
              <a:rPr lang="en-US" sz="2400" dirty="0">
                <a:latin typeface="Montserrat" panose="00000500000000000000" pitchFamily="2" charset="0"/>
              </a:rPr>
              <a:t>Requires gathering and working with existing content</a:t>
            </a:r>
          </a:p>
          <a:p>
            <a:r>
              <a:rPr lang="en-US" sz="2400" dirty="0">
                <a:latin typeface="Montserrat" panose="00000500000000000000" pitchFamily="2" charset="0"/>
              </a:rPr>
              <a:t>Content can be presented in an original way but mostly not original</a:t>
            </a:r>
            <a:endParaRPr lang="en-GB" sz="2400" dirty="0">
              <a:latin typeface="Montserrat" panose="00000500000000000000" pitchFamily="2" charset="0"/>
            </a:endParaRPr>
          </a:p>
        </p:txBody>
      </p:sp>
      <p:sp>
        <p:nvSpPr>
          <p:cNvPr id="7" name="Oval 6">
            <a:extLst>
              <a:ext uri="{FF2B5EF4-FFF2-40B4-BE49-F238E27FC236}">
                <a16:creationId xmlns:a16="http://schemas.microsoft.com/office/drawing/2014/main" id="{F11C28D0-C8A1-486F-92B6-E2BE79697383}"/>
              </a:ext>
            </a:extLst>
          </p:cNvPr>
          <p:cNvSpPr/>
          <p:nvPr/>
        </p:nvSpPr>
        <p:spPr>
          <a:xfrm>
            <a:off x="10672978" y="5882185"/>
            <a:ext cx="1951629" cy="1951629"/>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61AB7006-DDA8-44C9-82B0-968D89BD99F0}"/>
              </a:ext>
            </a:extLst>
          </p:cNvPr>
          <p:cNvSpPr/>
          <p:nvPr/>
        </p:nvSpPr>
        <p:spPr>
          <a:xfrm>
            <a:off x="10509633" y="5697940"/>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0AE37ACE-0A05-441D-BF1A-F41C5BE4DD7B}"/>
              </a:ext>
            </a:extLst>
          </p:cNvPr>
          <p:cNvSpPr/>
          <p:nvPr/>
        </p:nvSpPr>
        <p:spPr>
          <a:xfrm>
            <a:off x="11280302" y="5203208"/>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834D28D6-B1A0-47F6-B58B-E13C42948B5C}"/>
              </a:ext>
            </a:extLst>
          </p:cNvPr>
          <p:cNvSpPr txBox="1"/>
          <p:nvPr/>
        </p:nvSpPr>
        <p:spPr>
          <a:xfrm>
            <a:off x="1988034" y="6066009"/>
            <a:ext cx="8705844" cy="369332"/>
          </a:xfrm>
          <a:prstGeom prst="rect">
            <a:avLst/>
          </a:prstGeom>
          <a:noFill/>
        </p:spPr>
        <p:txBody>
          <a:bodyPr wrap="square" rtlCol="0">
            <a:spAutoFit/>
          </a:bodyPr>
          <a:lstStyle/>
          <a:p>
            <a:r>
              <a:rPr lang="en-US" dirty="0">
                <a:latin typeface="Montserrat" panose="00000500000000000000" pitchFamily="2" charset="0"/>
              </a:rPr>
              <a:t>NB: </a:t>
            </a:r>
            <a:r>
              <a:rPr lang="en-US" b="1" dirty="0">
                <a:latin typeface="Montserrat" panose="00000500000000000000" pitchFamily="2" charset="0"/>
              </a:rPr>
              <a:t>Both are needed for your social media marketing</a:t>
            </a:r>
            <a:endParaRPr lang="en-GB" b="1" dirty="0">
              <a:latin typeface="Montserrat" panose="00000500000000000000" pitchFamily="2" charset="0"/>
            </a:endParaRPr>
          </a:p>
        </p:txBody>
      </p:sp>
    </p:spTree>
    <p:extLst>
      <p:ext uri="{BB962C8B-B14F-4D97-AF65-F5344CB8AC3E}">
        <p14:creationId xmlns:p14="http://schemas.microsoft.com/office/powerpoint/2010/main" val="1234022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1DB04-CC98-4DC7-9C87-27C07C42E2BC}"/>
              </a:ext>
            </a:extLst>
          </p:cNvPr>
          <p:cNvSpPr>
            <a:spLocks noGrp="1"/>
          </p:cNvSpPr>
          <p:nvPr>
            <p:ph type="ctrTitle"/>
          </p:nvPr>
        </p:nvSpPr>
        <p:spPr>
          <a:xfrm>
            <a:off x="1524000" y="2031453"/>
            <a:ext cx="9144000" cy="2795094"/>
          </a:xfrm>
        </p:spPr>
        <p:txBody>
          <a:bodyPr>
            <a:normAutofit/>
          </a:bodyPr>
          <a:lstStyle/>
          <a:p>
            <a:r>
              <a:rPr lang="en-US" b="1" dirty="0">
                <a:solidFill>
                  <a:schemeClr val="accent2">
                    <a:lumMod val="75000"/>
                  </a:schemeClr>
                </a:solidFill>
                <a:latin typeface="Montserrat" panose="00000500000000000000" pitchFamily="2" charset="0"/>
              </a:rPr>
              <a:t>UNDERSTANDING PLATFORMS TOOLS AND TACTICS.</a:t>
            </a:r>
            <a:endParaRPr lang="en-GB" b="1" dirty="0">
              <a:solidFill>
                <a:schemeClr val="accent2">
                  <a:lumMod val="75000"/>
                </a:schemeClr>
              </a:solidFill>
              <a:latin typeface="Montserrat" panose="00000500000000000000" pitchFamily="2" charset="0"/>
            </a:endParaRPr>
          </a:p>
        </p:txBody>
      </p:sp>
      <p:sp>
        <p:nvSpPr>
          <p:cNvPr id="4" name="Oval 3">
            <a:extLst>
              <a:ext uri="{FF2B5EF4-FFF2-40B4-BE49-F238E27FC236}">
                <a16:creationId xmlns:a16="http://schemas.microsoft.com/office/drawing/2014/main" id="{45CD7724-E39B-4D01-A6F7-1D2AF7E21C14}"/>
              </a:ext>
            </a:extLst>
          </p:cNvPr>
          <p:cNvSpPr/>
          <p:nvPr/>
        </p:nvSpPr>
        <p:spPr>
          <a:xfrm>
            <a:off x="10672978" y="5882185"/>
            <a:ext cx="1951629" cy="1951629"/>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90C43D5C-C76F-4F25-A78C-D5D64E6011DC}"/>
              </a:ext>
            </a:extLst>
          </p:cNvPr>
          <p:cNvSpPr/>
          <p:nvPr/>
        </p:nvSpPr>
        <p:spPr>
          <a:xfrm>
            <a:off x="10509633" y="5697940"/>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48181C87-8AA0-4EC7-99D1-4ABDAD1F0A35}"/>
              </a:ext>
            </a:extLst>
          </p:cNvPr>
          <p:cNvSpPr/>
          <p:nvPr/>
        </p:nvSpPr>
        <p:spPr>
          <a:xfrm>
            <a:off x="11280302" y="5203208"/>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9442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E280B-2580-40FB-A337-48E2F1F7B944}"/>
              </a:ext>
            </a:extLst>
          </p:cNvPr>
          <p:cNvSpPr>
            <a:spLocks noGrp="1"/>
          </p:cNvSpPr>
          <p:nvPr>
            <p:ph type="title"/>
          </p:nvPr>
        </p:nvSpPr>
        <p:spPr/>
        <p:txBody>
          <a:bodyPr>
            <a:normAutofit/>
          </a:bodyPr>
          <a:lstStyle/>
          <a:p>
            <a:r>
              <a:rPr lang="en-US" sz="3500" b="1" dirty="0">
                <a:latin typeface="Montserrat" panose="00000500000000000000" pitchFamily="2" charset="0"/>
              </a:rPr>
              <a:t>Understanding the Social media Platforms</a:t>
            </a:r>
            <a:endParaRPr lang="en-GB" sz="3500" b="1" dirty="0">
              <a:latin typeface="Montserrat" panose="00000500000000000000" pitchFamily="2" charset="0"/>
            </a:endParaRPr>
          </a:p>
        </p:txBody>
      </p:sp>
      <p:sp>
        <p:nvSpPr>
          <p:cNvPr id="3" name="Content Placeholder 2">
            <a:extLst>
              <a:ext uri="{FF2B5EF4-FFF2-40B4-BE49-F238E27FC236}">
                <a16:creationId xmlns:a16="http://schemas.microsoft.com/office/drawing/2014/main" id="{D14FC0A6-F57B-493D-9C65-F5AF2600C68D}"/>
              </a:ext>
            </a:extLst>
          </p:cNvPr>
          <p:cNvSpPr>
            <a:spLocks noGrp="1"/>
          </p:cNvSpPr>
          <p:nvPr>
            <p:ph idx="1"/>
          </p:nvPr>
        </p:nvSpPr>
        <p:spPr>
          <a:xfrm>
            <a:off x="838200" y="1825625"/>
            <a:ext cx="10515600" cy="1870612"/>
          </a:xfrm>
        </p:spPr>
        <p:txBody>
          <a:bodyPr>
            <a:normAutofit/>
          </a:bodyPr>
          <a:lstStyle/>
          <a:p>
            <a:pPr marL="0" indent="0">
              <a:buNone/>
            </a:pPr>
            <a:r>
              <a:rPr lang="en-US" sz="2400" dirty="0">
                <a:latin typeface="Montserrat" panose="00000500000000000000" pitchFamily="2" charset="0"/>
              </a:rPr>
              <a:t>Every social media platform has the following in Common.</a:t>
            </a:r>
          </a:p>
          <a:p>
            <a:pPr lvl="1">
              <a:buFont typeface="Wingdings" panose="05000000000000000000" pitchFamily="2" charset="2"/>
              <a:buChar char="§"/>
            </a:pPr>
            <a:r>
              <a:rPr lang="en-US" sz="2000" dirty="0">
                <a:latin typeface="Montserrat" panose="00000500000000000000" pitchFamily="2" charset="0"/>
              </a:rPr>
              <a:t>Preferred content format</a:t>
            </a:r>
          </a:p>
          <a:p>
            <a:pPr lvl="1">
              <a:buFont typeface="Wingdings" panose="05000000000000000000" pitchFamily="2" charset="2"/>
              <a:buChar char="§"/>
            </a:pPr>
            <a:r>
              <a:rPr lang="en-US" sz="2000" dirty="0">
                <a:latin typeface="Montserrat" panose="00000500000000000000" pitchFamily="2" charset="0"/>
              </a:rPr>
              <a:t>Largest audience demographic</a:t>
            </a:r>
          </a:p>
          <a:p>
            <a:pPr lvl="1">
              <a:buFont typeface="Wingdings" panose="05000000000000000000" pitchFamily="2" charset="2"/>
              <a:buChar char="§"/>
            </a:pPr>
            <a:r>
              <a:rPr lang="en-US" sz="2000" dirty="0">
                <a:latin typeface="Montserrat" panose="00000500000000000000" pitchFamily="2" charset="0"/>
              </a:rPr>
              <a:t>Growth Tactic.</a:t>
            </a:r>
            <a:endParaRPr lang="en-GB" sz="2000" dirty="0">
              <a:latin typeface="Montserrat" panose="00000500000000000000" pitchFamily="2" charset="0"/>
            </a:endParaRPr>
          </a:p>
        </p:txBody>
      </p:sp>
    </p:spTree>
    <p:extLst>
      <p:ext uri="{BB962C8B-B14F-4D97-AF65-F5344CB8AC3E}">
        <p14:creationId xmlns:p14="http://schemas.microsoft.com/office/powerpoint/2010/main" val="2070463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0B5BA-D621-45ED-9827-9D935A4ACD0D}"/>
              </a:ext>
            </a:extLst>
          </p:cNvPr>
          <p:cNvSpPr>
            <a:spLocks noGrp="1"/>
          </p:cNvSpPr>
          <p:nvPr>
            <p:ph type="title"/>
          </p:nvPr>
        </p:nvSpPr>
        <p:spPr/>
        <p:txBody>
          <a:bodyPr/>
          <a:lstStyle/>
          <a:p>
            <a:r>
              <a:rPr lang="en-US" b="1" dirty="0">
                <a:latin typeface="Montserrat" panose="00000500000000000000" pitchFamily="2" charset="0"/>
              </a:rPr>
              <a:t>Marketing Platforms</a:t>
            </a:r>
            <a:endParaRPr lang="en-GB" b="1" dirty="0">
              <a:latin typeface="Montserrat" panose="00000500000000000000" pitchFamily="2" charset="0"/>
            </a:endParaRPr>
          </a:p>
        </p:txBody>
      </p:sp>
      <p:sp>
        <p:nvSpPr>
          <p:cNvPr id="3" name="Content Placeholder 2">
            <a:extLst>
              <a:ext uri="{FF2B5EF4-FFF2-40B4-BE49-F238E27FC236}">
                <a16:creationId xmlns:a16="http://schemas.microsoft.com/office/drawing/2014/main" id="{D6BAF0B7-CDD6-4440-B8EA-893B8A392727}"/>
              </a:ext>
            </a:extLst>
          </p:cNvPr>
          <p:cNvSpPr>
            <a:spLocks noGrp="1"/>
          </p:cNvSpPr>
          <p:nvPr>
            <p:ph idx="1"/>
          </p:nvPr>
        </p:nvSpPr>
        <p:spPr/>
        <p:txBody>
          <a:bodyPr/>
          <a:lstStyle/>
          <a:p>
            <a:r>
              <a:rPr lang="en-US" dirty="0">
                <a:latin typeface="Montserrat" panose="00000500000000000000" pitchFamily="2" charset="0"/>
              </a:rPr>
              <a:t>Tik Tok</a:t>
            </a:r>
          </a:p>
          <a:p>
            <a:r>
              <a:rPr lang="en-US" dirty="0">
                <a:latin typeface="Montserrat" panose="00000500000000000000" pitchFamily="2" charset="0"/>
              </a:rPr>
              <a:t>Pinterest</a:t>
            </a:r>
          </a:p>
          <a:p>
            <a:r>
              <a:rPr lang="en-US" dirty="0">
                <a:latin typeface="Montserrat" panose="00000500000000000000" pitchFamily="2" charset="0"/>
              </a:rPr>
              <a:t>YouTube</a:t>
            </a:r>
          </a:p>
          <a:p>
            <a:r>
              <a:rPr lang="en-US" dirty="0">
                <a:latin typeface="Montserrat" panose="00000500000000000000" pitchFamily="2" charset="0"/>
              </a:rPr>
              <a:t>Facebook</a:t>
            </a:r>
          </a:p>
          <a:p>
            <a:r>
              <a:rPr lang="en-US" dirty="0">
                <a:latin typeface="Montserrat" panose="00000500000000000000" pitchFamily="2" charset="0"/>
              </a:rPr>
              <a:t>Twitter</a:t>
            </a:r>
          </a:p>
          <a:p>
            <a:r>
              <a:rPr lang="en-US" dirty="0">
                <a:latin typeface="Montserrat" panose="00000500000000000000" pitchFamily="2" charset="0"/>
              </a:rPr>
              <a:t>Instagram</a:t>
            </a:r>
          </a:p>
          <a:p>
            <a:r>
              <a:rPr lang="en-US" dirty="0">
                <a:latin typeface="Montserrat" panose="00000500000000000000" pitchFamily="2" charset="0"/>
              </a:rPr>
              <a:t>LinkedIn</a:t>
            </a:r>
          </a:p>
        </p:txBody>
      </p:sp>
    </p:spTree>
    <p:extLst>
      <p:ext uri="{BB962C8B-B14F-4D97-AF65-F5344CB8AC3E}">
        <p14:creationId xmlns:p14="http://schemas.microsoft.com/office/powerpoint/2010/main" val="443500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5C917E1-ACDA-4BF0-B539-2A5A38F7DFC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54135"/>
            <a:ext cx="12384480" cy="6966270"/>
          </a:xfrm>
        </p:spPr>
      </p:pic>
    </p:spTree>
    <p:extLst>
      <p:ext uri="{BB962C8B-B14F-4D97-AF65-F5344CB8AC3E}">
        <p14:creationId xmlns:p14="http://schemas.microsoft.com/office/powerpoint/2010/main" val="2727052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F76E3-D1CB-4EC6-B968-88C216D42184}"/>
              </a:ext>
            </a:extLst>
          </p:cNvPr>
          <p:cNvSpPr>
            <a:spLocks noGrp="1"/>
          </p:cNvSpPr>
          <p:nvPr>
            <p:ph type="title"/>
          </p:nvPr>
        </p:nvSpPr>
        <p:spPr>
          <a:xfrm>
            <a:off x="838200" y="1265877"/>
            <a:ext cx="10515600" cy="1325563"/>
          </a:xfrm>
        </p:spPr>
        <p:txBody>
          <a:bodyPr/>
          <a:lstStyle/>
          <a:p>
            <a:pPr algn="ctr"/>
            <a:r>
              <a:rPr lang="en-US" b="1" dirty="0">
                <a:latin typeface="Montserrat" panose="00000500000000000000" pitchFamily="2" charset="0"/>
              </a:rPr>
              <a:t>What is Facebook?</a:t>
            </a:r>
            <a:endParaRPr lang="en-GB" b="1" dirty="0">
              <a:latin typeface="Montserrat" panose="00000500000000000000" pitchFamily="2" charset="0"/>
            </a:endParaRPr>
          </a:p>
        </p:txBody>
      </p:sp>
      <p:sp>
        <p:nvSpPr>
          <p:cNvPr id="3" name="Content Placeholder 2">
            <a:extLst>
              <a:ext uri="{FF2B5EF4-FFF2-40B4-BE49-F238E27FC236}">
                <a16:creationId xmlns:a16="http://schemas.microsoft.com/office/drawing/2014/main" id="{EDA44FF1-5923-41A9-AD1B-327D2234EEB8}"/>
              </a:ext>
            </a:extLst>
          </p:cNvPr>
          <p:cNvSpPr>
            <a:spLocks noGrp="1"/>
          </p:cNvSpPr>
          <p:nvPr>
            <p:ph idx="1"/>
          </p:nvPr>
        </p:nvSpPr>
        <p:spPr>
          <a:xfrm>
            <a:off x="838200" y="2931094"/>
            <a:ext cx="10515600" cy="2800966"/>
          </a:xfrm>
        </p:spPr>
        <p:txBody>
          <a:bodyPr/>
          <a:lstStyle/>
          <a:p>
            <a:pPr marL="0" indent="0" algn="ctr">
              <a:buNone/>
            </a:pPr>
            <a:r>
              <a:rPr lang="en-US" b="0" i="0" dirty="0">
                <a:solidFill>
                  <a:srgbClr val="33475B"/>
                </a:solidFill>
                <a:effectLst/>
                <a:latin typeface="AvenirNext"/>
              </a:rPr>
              <a:t>Facebook is a social media network that connects people through an online platform.</a:t>
            </a:r>
          </a:p>
          <a:p>
            <a:pPr marL="0" indent="0" algn="ctr">
              <a:buNone/>
            </a:pPr>
            <a:r>
              <a:rPr lang="en-US" b="0" i="0" dirty="0">
                <a:solidFill>
                  <a:srgbClr val="33475B"/>
                </a:solidFill>
                <a:effectLst/>
                <a:latin typeface="AvenirNext"/>
              </a:rPr>
              <a:t>By sharing content like text status posts, images, videos, and external links like blog posts, Facebook users can contribute ideas and join conversations with other people who share the same or different interests.</a:t>
            </a:r>
            <a:endParaRPr lang="en-GB" dirty="0"/>
          </a:p>
        </p:txBody>
      </p:sp>
      <p:sp>
        <p:nvSpPr>
          <p:cNvPr id="4" name="Oval 3">
            <a:extLst>
              <a:ext uri="{FF2B5EF4-FFF2-40B4-BE49-F238E27FC236}">
                <a16:creationId xmlns:a16="http://schemas.microsoft.com/office/drawing/2014/main" id="{0366B19A-0B60-4AAD-9F93-4829714A99B8}"/>
              </a:ext>
            </a:extLst>
          </p:cNvPr>
          <p:cNvSpPr/>
          <p:nvPr/>
        </p:nvSpPr>
        <p:spPr>
          <a:xfrm>
            <a:off x="10672978" y="5882185"/>
            <a:ext cx="1951629" cy="1951629"/>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526F8231-3216-415B-BDFC-A9CBABCC073F}"/>
              </a:ext>
            </a:extLst>
          </p:cNvPr>
          <p:cNvSpPr/>
          <p:nvPr/>
        </p:nvSpPr>
        <p:spPr>
          <a:xfrm>
            <a:off x="10509633" y="5697940"/>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92467C69-FB75-40D2-9BBA-2C7D734B5DDD}"/>
              </a:ext>
            </a:extLst>
          </p:cNvPr>
          <p:cNvSpPr/>
          <p:nvPr/>
        </p:nvSpPr>
        <p:spPr>
          <a:xfrm>
            <a:off x="11280302" y="5203208"/>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20610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6425B-C0B8-47F5-B5BB-F3C053143760}"/>
              </a:ext>
            </a:extLst>
          </p:cNvPr>
          <p:cNvSpPr>
            <a:spLocks noGrp="1"/>
          </p:cNvSpPr>
          <p:nvPr>
            <p:ph type="title"/>
          </p:nvPr>
        </p:nvSpPr>
        <p:spPr/>
        <p:txBody>
          <a:bodyPr>
            <a:normAutofit/>
          </a:bodyPr>
          <a:lstStyle/>
          <a:p>
            <a:pPr algn="ctr"/>
            <a:r>
              <a:rPr lang="en-US" sz="3600" b="1" i="0" dirty="0">
                <a:solidFill>
                  <a:srgbClr val="33475B"/>
                </a:solidFill>
                <a:effectLst/>
                <a:latin typeface="Montserrat" panose="00000500000000000000" pitchFamily="2" charset="0"/>
              </a:rPr>
              <a:t>Key Facebook Terms And What They Mean</a:t>
            </a:r>
            <a:endParaRPr lang="en-GB" sz="3600" b="1" dirty="0">
              <a:latin typeface="Montserrat" panose="00000500000000000000" pitchFamily="2" charset="0"/>
            </a:endParaRPr>
          </a:p>
        </p:txBody>
      </p:sp>
      <p:sp>
        <p:nvSpPr>
          <p:cNvPr id="3" name="Content Placeholder 2">
            <a:extLst>
              <a:ext uri="{FF2B5EF4-FFF2-40B4-BE49-F238E27FC236}">
                <a16:creationId xmlns:a16="http://schemas.microsoft.com/office/drawing/2014/main" id="{24BC1D63-1C8E-4BD9-A355-5BB70CD78A7A}"/>
              </a:ext>
            </a:extLst>
          </p:cNvPr>
          <p:cNvSpPr>
            <a:spLocks noGrp="1"/>
          </p:cNvSpPr>
          <p:nvPr>
            <p:ph sz="half" idx="1"/>
          </p:nvPr>
        </p:nvSpPr>
        <p:spPr/>
        <p:txBody>
          <a:bodyPr>
            <a:noAutofit/>
          </a:bodyPr>
          <a:lstStyle/>
          <a:p>
            <a:pPr marL="0" indent="0">
              <a:buNone/>
            </a:pPr>
            <a:r>
              <a:rPr lang="en-US" sz="1600" b="1" dirty="0">
                <a:latin typeface="Montserrat" panose="00000500000000000000" pitchFamily="2" charset="0"/>
                <a:cs typeface="Times New Roman" panose="02020603050405020304" pitchFamily="18" charset="0"/>
              </a:rPr>
              <a:t>Profile:</a:t>
            </a:r>
          </a:p>
          <a:p>
            <a:pPr marL="0" indent="0">
              <a:buNone/>
            </a:pPr>
            <a:r>
              <a:rPr lang="en-US" sz="1600" b="0" i="0" dirty="0">
                <a:solidFill>
                  <a:srgbClr val="33475B"/>
                </a:solidFill>
                <a:effectLst/>
                <a:latin typeface="Montserrat" panose="00000500000000000000" pitchFamily="2" charset="0"/>
                <a:cs typeface="Times New Roman" panose="02020603050405020304" pitchFamily="18" charset="0"/>
              </a:rPr>
              <a:t>The Facebook profile is where your information will live. Your name, photo, hometown, workplace, education history, and so on can all be added to your profile. You can make your profile as public or private as you want by disabling the information you don’t want publicly visible.</a:t>
            </a:r>
            <a:endParaRPr lang="en-GB" sz="1600" dirty="0">
              <a:latin typeface="Montserrat" panose="00000500000000000000" pitchFamily="2" charset="0"/>
              <a:cs typeface="Times New Roman" panose="02020603050405020304" pitchFamily="18" charset="0"/>
            </a:endParaRPr>
          </a:p>
          <a:p>
            <a:pPr marL="0" indent="0">
              <a:buNone/>
            </a:pPr>
            <a:r>
              <a:rPr lang="en-GB" sz="1600" b="1" dirty="0">
                <a:latin typeface="Montserrat" panose="00000500000000000000" pitchFamily="2" charset="0"/>
              </a:rPr>
              <a:t>Timeline:</a:t>
            </a:r>
          </a:p>
          <a:p>
            <a:pPr marL="0" indent="0">
              <a:buNone/>
            </a:pPr>
            <a:r>
              <a:rPr lang="en-US" sz="1600" b="0" i="0" dirty="0">
                <a:solidFill>
                  <a:srgbClr val="33475B"/>
                </a:solidFill>
                <a:effectLst/>
                <a:latin typeface="Montserrat" panose="00000500000000000000" pitchFamily="2" charset="0"/>
              </a:rPr>
              <a:t>Often confused with a newsfeed, the timeline is your personal record of all the posts you’ve shared and posts you’ve interacted with. While you won’t usually see friend’s status updates here, there is one exception — if they’ve tagged you in a post or a photo, it’ll appear on your timeline. Your friends can see your timeline by default if they search your name unless you’ve set your privacy settings to do the contrary.</a:t>
            </a:r>
            <a:endParaRPr lang="en-GB" sz="1600" dirty="0">
              <a:latin typeface="Montserrat" panose="00000500000000000000" pitchFamily="2" charset="0"/>
            </a:endParaRPr>
          </a:p>
        </p:txBody>
      </p:sp>
      <p:sp>
        <p:nvSpPr>
          <p:cNvPr id="4" name="Content Placeholder 3">
            <a:extLst>
              <a:ext uri="{FF2B5EF4-FFF2-40B4-BE49-F238E27FC236}">
                <a16:creationId xmlns:a16="http://schemas.microsoft.com/office/drawing/2014/main" id="{9571F9C6-C6AE-4D2F-B07E-9AD582C29D54}"/>
              </a:ext>
            </a:extLst>
          </p:cNvPr>
          <p:cNvSpPr>
            <a:spLocks noGrp="1"/>
          </p:cNvSpPr>
          <p:nvPr>
            <p:ph sz="half" idx="2"/>
          </p:nvPr>
        </p:nvSpPr>
        <p:spPr/>
        <p:txBody>
          <a:bodyPr>
            <a:noAutofit/>
          </a:bodyPr>
          <a:lstStyle/>
          <a:p>
            <a:pPr marL="0" indent="0">
              <a:buNone/>
            </a:pPr>
            <a:r>
              <a:rPr lang="en-GB" sz="1600" b="1" i="0" dirty="0">
                <a:solidFill>
                  <a:srgbClr val="33475B"/>
                </a:solidFill>
                <a:effectLst/>
                <a:latin typeface="Montserrat" panose="00000500000000000000" pitchFamily="2" charset="0"/>
              </a:rPr>
              <a:t>Newsfeed:</a:t>
            </a:r>
          </a:p>
          <a:p>
            <a:pPr marL="0" indent="0">
              <a:buNone/>
            </a:pPr>
            <a:r>
              <a:rPr lang="en-US" sz="1600" b="0" i="0" dirty="0">
                <a:solidFill>
                  <a:srgbClr val="33475B"/>
                </a:solidFill>
                <a:effectLst/>
                <a:latin typeface="Montserrat" panose="00000500000000000000" pitchFamily="2" charset="0"/>
              </a:rPr>
              <a:t>This is the place where all of your friends’ posts will appear. You’ll also see updates from business pages that you’ve liked. Your posts will also appear in the newsfeed where your friends can see them.</a:t>
            </a:r>
            <a:endParaRPr lang="en-US" sz="1600" dirty="0">
              <a:solidFill>
                <a:srgbClr val="33475B"/>
              </a:solidFill>
              <a:latin typeface="Montserrat" panose="00000500000000000000" pitchFamily="2" charset="0"/>
            </a:endParaRPr>
          </a:p>
          <a:p>
            <a:pPr marL="0" indent="0">
              <a:buNone/>
            </a:pPr>
            <a:endParaRPr lang="en-GB" sz="1600" b="0" i="0" dirty="0">
              <a:solidFill>
                <a:srgbClr val="33475B"/>
              </a:solidFill>
              <a:effectLst/>
              <a:latin typeface="Montserrat" panose="00000500000000000000" pitchFamily="2" charset="0"/>
            </a:endParaRPr>
          </a:p>
          <a:p>
            <a:pPr marL="0" indent="0">
              <a:buNone/>
            </a:pPr>
            <a:r>
              <a:rPr lang="en-GB" sz="1600" b="1" dirty="0">
                <a:latin typeface="Montserrat" panose="00000500000000000000" pitchFamily="2" charset="0"/>
              </a:rPr>
              <a:t> Algorithm:</a:t>
            </a:r>
          </a:p>
          <a:p>
            <a:pPr marL="0" indent="0">
              <a:buNone/>
            </a:pPr>
            <a:r>
              <a:rPr lang="en-US" sz="1600" b="0" i="0" dirty="0">
                <a:solidFill>
                  <a:srgbClr val="33475B"/>
                </a:solidFill>
                <a:effectLst/>
                <a:latin typeface="Montserrat" panose="00000500000000000000" pitchFamily="2" charset="0"/>
              </a:rPr>
              <a:t>The algorithm is an elusive concept. Essentially, the algorithm is a series of computations that Facebook’s servers do every second to determine what content you want to see, interact with, and click on next. The algorithm uses dwell time (how long you view a post), engagement, page likes, posts, and more to determine the type of content you might like to see. Over time, the algorithm gets better at determining what content to show you.</a:t>
            </a:r>
            <a:endParaRPr lang="en-GB" sz="1600" dirty="0">
              <a:latin typeface="Montserrat" panose="00000500000000000000" pitchFamily="2" charset="0"/>
            </a:endParaRPr>
          </a:p>
        </p:txBody>
      </p:sp>
    </p:spTree>
    <p:extLst>
      <p:ext uri="{BB962C8B-B14F-4D97-AF65-F5344CB8AC3E}">
        <p14:creationId xmlns:p14="http://schemas.microsoft.com/office/powerpoint/2010/main" val="206042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6425B-C0B8-47F5-B5BB-F3C053143760}"/>
              </a:ext>
            </a:extLst>
          </p:cNvPr>
          <p:cNvSpPr>
            <a:spLocks noGrp="1"/>
          </p:cNvSpPr>
          <p:nvPr>
            <p:ph type="title"/>
          </p:nvPr>
        </p:nvSpPr>
        <p:spPr/>
        <p:txBody>
          <a:bodyPr>
            <a:normAutofit/>
          </a:bodyPr>
          <a:lstStyle/>
          <a:p>
            <a:pPr algn="ctr"/>
            <a:r>
              <a:rPr lang="en-US" sz="3600" b="1" i="0" dirty="0">
                <a:solidFill>
                  <a:srgbClr val="33475B"/>
                </a:solidFill>
                <a:effectLst/>
                <a:latin typeface="Montserrat" panose="00000500000000000000" pitchFamily="2" charset="0"/>
              </a:rPr>
              <a:t>Key Facebook Terms And What They Mean</a:t>
            </a:r>
            <a:endParaRPr lang="en-GB" sz="3600" b="1" dirty="0">
              <a:latin typeface="Montserrat" panose="00000500000000000000" pitchFamily="2" charset="0"/>
            </a:endParaRPr>
          </a:p>
        </p:txBody>
      </p:sp>
      <p:sp>
        <p:nvSpPr>
          <p:cNvPr id="3" name="Content Placeholder 2">
            <a:extLst>
              <a:ext uri="{FF2B5EF4-FFF2-40B4-BE49-F238E27FC236}">
                <a16:creationId xmlns:a16="http://schemas.microsoft.com/office/drawing/2014/main" id="{24BC1D63-1C8E-4BD9-A355-5BB70CD78A7A}"/>
              </a:ext>
            </a:extLst>
          </p:cNvPr>
          <p:cNvSpPr>
            <a:spLocks noGrp="1"/>
          </p:cNvSpPr>
          <p:nvPr>
            <p:ph sz="half" idx="1"/>
          </p:nvPr>
        </p:nvSpPr>
        <p:spPr>
          <a:xfrm>
            <a:off x="838200" y="1825625"/>
            <a:ext cx="5181600" cy="4667250"/>
          </a:xfrm>
        </p:spPr>
        <p:txBody>
          <a:bodyPr>
            <a:noAutofit/>
          </a:bodyPr>
          <a:lstStyle/>
          <a:p>
            <a:pPr marL="0" indent="0">
              <a:buNone/>
            </a:pPr>
            <a:r>
              <a:rPr lang="en-US" sz="1600" b="1" dirty="0">
                <a:latin typeface="Montserrat" panose="00000500000000000000" pitchFamily="2" charset="0"/>
                <a:cs typeface="Times New Roman" panose="02020603050405020304" pitchFamily="18" charset="0"/>
              </a:rPr>
              <a:t>Status/Post:</a:t>
            </a:r>
          </a:p>
          <a:p>
            <a:pPr marL="0" indent="0">
              <a:buNone/>
            </a:pPr>
            <a:r>
              <a:rPr lang="en-US" sz="1600" b="0" i="0" dirty="0">
                <a:solidFill>
                  <a:srgbClr val="33475B"/>
                </a:solidFill>
                <a:effectLst/>
                <a:latin typeface="Montserrat" panose="00000500000000000000" pitchFamily="2" charset="0"/>
              </a:rPr>
              <a:t>The two terms are often used interchangeably, but “post” is the term Facebook uses to describe something you share on the newsfeed. Text, images, videos, and location are just a few of the types of posts you can share to the newsfeed for your friends to see.</a:t>
            </a:r>
            <a:r>
              <a:rPr lang="en-US" sz="1600" b="0" i="0" dirty="0">
                <a:solidFill>
                  <a:srgbClr val="33475B"/>
                </a:solidFill>
                <a:effectLst/>
                <a:latin typeface="Montserrat" panose="00000500000000000000" pitchFamily="2" charset="0"/>
                <a:cs typeface="Times New Roman" panose="02020603050405020304" pitchFamily="18" charset="0"/>
              </a:rPr>
              <a:t>.</a:t>
            </a:r>
            <a:endParaRPr lang="en-GB" sz="1600" dirty="0">
              <a:latin typeface="Montserrat" panose="00000500000000000000" pitchFamily="2" charset="0"/>
              <a:cs typeface="Times New Roman" panose="02020603050405020304" pitchFamily="18" charset="0"/>
            </a:endParaRPr>
          </a:p>
          <a:p>
            <a:pPr marL="0" indent="0">
              <a:buNone/>
            </a:pPr>
            <a:r>
              <a:rPr lang="en-GB" sz="1600" b="1" dirty="0">
                <a:latin typeface="Montserrat" panose="00000500000000000000" pitchFamily="2" charset="0"/>
              </a:rPr>
              <a:t>Friends:</a:t>
            </a:r>
          </a:p>
          <a:p>
            <a:pPr marL="0" indent="0">
              <a:buNone/>
            </a:pPr>
            <a:r>
              <a:rPr lang="en-US" sz="1600" b="0" i="0" dirty="0">
                <a:solidFill>
                  <a:srgbClr val="33475B"/>
                </a:solidFill>
                <a:effectLst/>
                <a:latin typeface="Montserrat" panose="00000500000000000000" pitchFamily="2" charset="0"/>
              </a:rPr>
              <a:t>These are people you’ve either sent a request to and they’ve accepted or people who have sent you a request and you’ve accepted. Unlike other social networking sites that allow someone to follow you without you following them back, Facebook’s friend system requires both you and the other person to be friends with each other. A personal account for an individual cannot have more than 5,000 friends (and it’s not a good idea to make a </a:t>
            </a:r>
            <a:r>
              <a:rPr lang="en-US" sz="1600" b="1" i="0" u="none" strike="noStrike" dirty="0">
                <a:solidFill>
                  <a:srgbClr val="0091AE"/>
                </a:solidFill>
                <a:effectLst/>
                <a:latin typeface="Montserrat" panose="00000500000000000000" pitchFamily="2" charset="0"/>
              </a:rPr>
              <a:t>second Facebook profile</a:t>
            </a:r>
            <a:r>
              <a:rPr lang="en-US" sz="1600" b="0" i="0" dirty="0">
                <a:solidFill>
                  <a:srgbClr val="33475B"/>
                </a:solidFill>
                <a:effectLst/>
                <a:latin typeface="Montserrat" panose="00000500000000000000" pitchFamily="2" charset="0"/>
              </a:rPr>
              <a:t> to get around this rule).</a:t>
            </a:r>
            <a:endParaRPr lang="en-GB" sz="1600" dirty="0">
              <a:latin typeface="Montserrat" panose="00000500000000000000" pitchFamily="2" charset="0"/>
            </a:endParaRPr>
          </a:p>
        </p:txBody>
      </p:sp>
      <p:sp>
        <p:nvSpPr>
          <p:cNvPr id="4" name="Content Placeholder 3">
            <a:extLst>
              <a:ext uri="{FF2B5EF4-FFF2-40B4-BE49-F238E27FC236}">
                <a16:creationId xmlns:a16="http://schemas.microsoft.com/office/drawing/2014/main" id="{9571F9C6-C6AE-4D2F-B07E-9AD582C29D54}"/>
              </a:ext>
            </a:extLst>
          </p:cNvPr>
          <p:cNvSpPr>
            <a:spLocks noGrp="1"/>
          </p:cNvSpPr>
          <p:nvPr>
            <p:ph sz="half" idx="2"/>
          </p:nvPr>
        </p:nvSpPr>
        <p:spPr>
          <a:xfrm>
            <a:off x="6172200" y="1825625"/>
            <a:ext cx="5181600" cy="4667250"/>
          </a:xfrm>
        </p:spPr>
        <p:txBody>
          <a:bodyPr>
            <a:noAutofit/>
          </a:bodyPr>
          <a:lstStyle/>
          <a:p>
            <a:pPr marL="0" indent="0">
              <a:buNone/>
            </a:pPr>
            <a:r>
              <a:rPr lang="en-GB" sz="1600" b="1" i="0" dirty="0">
                <a:solidFill>
                  <a:srgbClr val="33475B"/>
                </a:solidFill>
                <a:effectLst/>
                <a:latin typeface="Montserrat" panose="00000500000000000000" pitchFamily="2" charset="0"/>
              </a:rPr>
              <a:t>Followers:</a:t>
            </a:r>
          </a:p>
          <a:p>
            <a:pPr marL="0" indent="0">
              <a:buNone/>
            </a:pPr>
            <a:r>
              <a:rPr lang="en-US" sz="1600" b="0" i="0" dirty="0">
                <a:solidFill>
                  <a:srgbClr val="33475B"/>
                </a:solidFill>
                <a:effectLst/>
                <a:latin typeface="Montserrat" panose="00000500000000000000" pitchFamily="2" charset="0"/>
              </a:rPr>
              <a:t>Facebook has a follower option as well. When you add new friends, you automatically follow them (and they follow you, too). This is Facebook’s way of adding this new friend to your newsfeed and making sure you see their posts (at least for a little while unless you stop engaging with them). For individuals who exceed 5,000 friends on their personal Facebook profiles, people can opt to follow them instead to stay up to date on their posts. Keep in mind, while Facebook automatically follows your friends for you, you can manually unfollow them without unfriending them. This action removes these individuals’ posts from your newsfeed. If you do this, you’ll need to search your friends individually and surge their timelines to catch up on their latest posts.</a:t>
            </a:r>
            <a:endParaRPr lang="en-GB" sz="1600" b="0" i="0" dirty="0">
              <a:solidFill>
                <a:srgbClr val="33475B"/>
              </a:solidFill>
              <a:effectLst/>
              <a:latin typeface="Montserrat" panose="00000500000000000000" pitchFamily="2" charset="0"/>
            </a:endParaRPr>
          </a:p>
        </p:txBody>
      </p:sp>
    </p:spTree>
    <p:extLst>
      <p:ext uri="{BB962C8B-B14F-4D97-AF65-F5344CB8AC3E}">
        <p14:creationId xmlns:p14="http://schemas.microsoft.com/office/powerpoint/2010/main" val="4113509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6425B-C0B8-47F5-B5BB-F3C053143760}"/>
              </a:ext>
            </a:extLst>
          </p:cNvPr>
          <p:cNvSpPr>
            <a:spLocks noGrp="1"/>
          </p:cNvSpPr>
          <p:nvPr>
            <p:ph type="title"/>
          </p:nvPr>
        </p:nvSpPr>
        <p:spPr/>
        <p:txBody>
          <a:bodyPr>
            <a:normAutofit/>
          </a:bodyPr>
          <a:lstStyle/>
          <a:p>
            <a:pPr algn="ctr"/>
            <a:r>
              <a:rPr lang="en-US" sz="3600" b="1" i="0" dirty="0">
                <a:solidFill>
                  <a:srgbClr val="33475B"/>
                </a:solidFill>
                <a:effectLst/>
                <a:latin typeface="Montserrat" panose="00000500000000000000" pitchFamily="2" charset="0"/>
              </a:rPr>
              <a:t>Key Facebook Terms And What They Mean</a:t>
            </a:r>
            <a:endParaRPr lang="en-GB" sz="3600" b="1" dirty="0">
              <a:latin typeface="Montserrat" panose="00000500000000000000" pitchFamily="2" charset="0"/>
            </a:endParaRPr>
          </a:p>
        </p:txBody>
      </p:sp>
      <p:sp>
        <p:nvSpPr>
          <p:cNvPr id="3" name="Content Placeholder 2">
            <a:extLst>
              <a:ext uri="{FF2B5EF4-FFF2-40B4-BE49-F238E27FC236}">
                <a16:creationId xmlns:a16="http://schemas.microsoft.com/office/drawing/2014/main" id="{24BC1D63-1C8E-4BD9-A355-5BB70CD78A7A}"/>
              </a:ext>
            </a:extLst>
          </p:cNvPr>
          <p:cNvSpPr>
            <a:spLocks noGrp="1"/>
          </p:cNvSpPr>
          <p:nvPr>
            <p:ph sz="half" idx="1"/>
          </p:nvPr>
        </p:nvSpPr>
        <p:spPr>
          <a:xfrm>
            <a:off x="838200" y="1825625"/>
            <a:ext cx="5181600" cy="4667250"/>
          </a:xfrm>
        </p:spPr>
        <p:txBody>
          <a:bodyPr>
            <a:noAutofit/>
          </a:bodyPr>
          <a:lstStyle/>
          <a:p>
            <a:pPr marL="0" indent="0">
              <a:buNone/>
            </a:pPr>
            <a:r>
              <a:rPr lang="en-US" sz="1600" b="1" i="0" dirty="0">
                <a:solidFill>
                  <a:srgbClr val="33475B"/>
                </a:solidFill>
                <a:effectLst/>
                <a:latin typeface="Montserrat" panose="00000500000000000000" pitchFamily="2" charset="0"/>
              </a:rPr>
              <a:t>Groups:</a:t>
            </a:r>
          </a:p>
          <a:p>
            <a:pPr marL="0" indent="0">
              <a:buNone/>
            </a:pPr>
            <a:r>
              <a:rPr lang="en-US" sz="1600" b="0" i="0" dirty="0">
                <a:solidFill>
                  <a:srgbClr val="33475B"/>
                </a:solidFill>
                <a:effectLst/>
                <a:latin typeface="Montserrat" panose="00000500000000000000" pitchFamily="2" charset="0"/>
              </a:rPr>
              <a:t>Facebook users with similar interests might find it helpful to create a group on the platform. A group is a community of users who interact with each other based on various topics set by the group’s admins and other users. Only individual users can be added to groups — pages cannot be part of Facebook groups. Admins have a wide range of permissions they can enable or disable to have the group function in a particular way.</a:t>
            </a:r>
          </a:p>
          <a:p>
            <a:pPr marL="0" indent="0">
              <a:buNone/>
            </a:pPr>
            <a:r>
              <a:rPr lang="en-US" sz="1600" b="1" dirty="0">
                <a:solidFill>
                  <a:srgbClr val="33475B"/>
                </a:solidFill>
                <a:latin typeface="Montserrat" panose="00000500000000000000" pitchFamily="2" charset="0"/>
              </a:rPr>
              <a:t>Events:</a:t>
            </a:r>
          </a:p>
          <a:p>
            <a:pPr marL="0" indent="0">
              <a:buNone/>
            </a:pPr>
            <a:r>
              <a:rPr lang="en-US" sz="1600" b="0" i="0" dirty="0">
                <a:solidFill>
                  <a:srgbClr val="33475B"/>
                </a:solidFill>
                <a:effectLst/>
                <a:latin typeface="Montserrat" panose="00000500000000000000" pitchFamily="2" charset="0"/>
              </a:rPr>
              <a:t>With so much community happening on Facebook, individual users and businesses have the option to advertise events. The events can accept RSVPs, create a guest list, and share the date time, and location of the event. Events can be virtual through a video platform or they can be in person with a physical location.</a:t>
            </a:r>
            <a:endParaRPr lang="en-GB" sz="1600" dirty="0">
              <a:latin typeface="Montserrat" panose="00000500000000000000" pitchFamily="2" charset="0"/>
            </a:endParaRPr>
          </a:p>
        </p:txBody>
      </p:sp>
      <p:sp>
        <p:nvSpPr>
          <p:cNvPr id="4" name="Content Placeholder 3">
            <a:extLst>
              <a:ext uri="{FF2B5EF4-FFF2-40B4-BE49-F238E27FC236}">
                <a16:creationId xmlns:a16="http://schemas.microsoft.com/office/drawing/2014/main" id="{9571F9C6-C6AE-4D2F-B07E-9AD582C29D54}"/>
              </a:ext>
            </a:extLst>
          </p:cNvPr>
          <p:cNvSpPr>
            <a:spLocks noGrp="1"/>
          </p:cNvSpPr>
          <p:nvPr>
            <p:ph sz="half" idx="2"/>
          </p:nvPr>
        </p:nvSpPr>
        <p:spPr>
          <a:xfrm>
            <a:off x="6172200" y="1825625"/>
            <a:ext cx="5181600" cy="4667250"/>
          </a:xfrm>
        </p:spPr>
        <p:txBody>
          <a:bodyPr>
            <a:noAutofit/>
          </a:bodyPr>
          <a:lstStyle/>
          <a:p>
            <a:pPr marL="0" indent="0">
              <a:buNone/>
            </a:pPr>
            <a:r>
              <a:rPr lang="en-GB" sz="1600" b="1" i="0" dirty="0">
                <a:solidFill>
                  <a:srgbClr val="33475B"/>
                </a:solidFill>
                <a:effectLst/>
                <a:latin typeface="Montserrat" panose="00000500000000000000" pitchFamily="2" charset="0"/>
              </a:rPr>
              <a:t>Pages:</a:t>
            </a:r>
          </a:p>
          <a:p>
            <a:pPr marL="0" indent="0">
              <a:buNone/>
            </a:pPr>
            <a:r>
              <a:rPr lang="en-US" sz="1600" b="0" i="0" dirty="0">
                <a:solidFill>
                  <a:srgbClr val="33475B"/>
                </a:solidFill>
                <a:effectLst/>
                <a:latin typeface="Montserrat" panose="00000500000000000000" pitchFamily="2" charset="0"/>
              </a:rPr>
              <a:t>Businesses use Facebook Pages to create a presence on the social network. Pages are not individual Facebook users — think of them as profiles for businesses. They can post updates, images, videos, and all the other types of content that profiles can. However, they have an advantage — Facebook Pages have the ability to connect to </a:t>
            </a:r>
            <a:r>
              <a:rPr lang="en-US" sz="1600" b="1" i="0" u="none" strike="noStrike" dirty="0">
                <a:solidFill>
                  <a:srgbClr val="0091AE"/>
                </a:solidFill>
                <a:effectLst/>
                <a:latin typeface="Montserrat" panose="00000500000000000000" pitchFamily="2" charset="0"/>
              </a:rPr>
              <a:t>Facebook for Business</a:t>
            </a:r>
            <a:r>
              <a:rPr lang="en-US" sz="1600" b="0" i="0" dirty="0">
                <a:solidFill>
                  <a:srgbClr val="33475B"/>
                </a:solidFill>
                <a:effectLst/>
                <a:latin typeface="Montserrat" panose="00000500000000000000" pitchFamily="2" charset="0"/>
              </a:rPr>
              <a:t> and </a:t>
            </a:r>
            <a:r>
              <a:rPr lang="en-US" sz="1600" b="1" i="0" u="none" strike="noStrike" dirty="0">
                <a:solidFill>
                  <a:srgbClr val="0091AE"/>
                </a:solidFill>
                <a:effectLst/>
                <a:latin typeface="Montserrat" panose="00000500000000000000" pitchFamily="2" charset="0"/>
              </a:rPr>
              <a:t>run ad campaigns</a:t>
            </a:r>
            <a:r>
              <a:rPr lang="en-US" sz="1600" b="0" i="0" dirty="0">
                <a:solidFill>
                  <a:srgbClr val="33475B"/>
                </a:solidFill>
                <a:effectLst/>
                <a:latin typeface="Montserrat" panose="00000500000000000000" pitchFamily="2" charset="0"/>
              </a:rPr>
              <a:t>.</a:t>
            </a:r>
          </a:p>
          <a:p>
            <a:pPr marL="0" indent="0">
              <a:buNone/>
            </a:pPr>
            <a:r>
              <a:rPr lang="en-US" sz="1600" b="1" dirty="0">
                <a:solidFill>
                  <a:srgbClr val="33475B"/>
                </a:solidFill>
                <a:latin typeface="Montserrat" panose="00000500000000000000" pitchFamily="2" charset="0"/>
              </a:rPr>
              <a:t>Messenger:</a:t>
            </a:r>
          </a:p>
          <a:p>
            <a:pPr marL="0" indent="0">
              <a:buNone/>
            </a:pPr>
            <a:r>
              <a:rPr lang="en-US" sz="1600" b="0" i="0" dirty="0">
                <a:solidFill>
                  <a:srgbClr val="33475B"/>
                </a:solidFill>
                <a:effectLst/>
                <a:latin typeface="Montserrat" panose="00000500000000000000" pitchFamily="2" charset="0"/>
              </a:rPr>
              <a:t>Instead of a direct messaging platform in the native Facebook app, Facebook Messenger exists as a separate application so users can chat one-on-one or in a private group setting. When using Facebook.com on a desktop computer, the messenger is accessible through the native Facebook website.</a:t>
            </a:r>
            <a:endParaRPr lang="en-GB" sz="1600" b="0" i="0" dirty="0">
              <a:solidFill>
                <a:srgbClr val="33475B"/>
              </a:solidFill>
              <a:effectLst/>
              <a:latin typeface="Montserrat" panose="00000500000000000000" pitchFamily="2" charset="0"/>
            </a:endParaRPr>
          </a:p>
        </p:txBody>
      </p:sp>
    </p:spTree>
    <p:extLst>
      <p:ext uri="{BB962C8B-B14F-4D97-AF65-F5344CB8AC3E}">
        <p14:creationId xmlns:p14="http://schemas.microsoft.com/office/powerpoint/2010/main" val="365258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6425B-C0B8-47F5-B5BB-F3C053143760}"/>
              </a:ext>
            </a:extLst>
          </p:cNvPr>
          <p:cNvSpPr>
            <a:spLocks noGrp="1"/>
          </p:cNvSpPr>
          <p:nvPr>
            <p:ph type="title"/>
          </p:nvPr>
        </p:nvSpPr>
        <p:spPr/>
        <p:txBody>
          <a:bodyPr>
            <a:normAutofit/>
          </a:bodyPr>
          <a:lstStyle/>
          <a:p>
            <a:pPr algn="ctr"/>
            <a:r>
              <a:rPr lang="en-US" sz="3600" b="1" i="0" dirty="0">
                <a:solidFill>
                  <a:srgbClr val="33475B"/>
                </a:solidFill>
                <a:effectLst/>
                <a:latin typeface="Montserrat" panose="00000500000000000000" pitchFamily="2" charset="0"/>
              </a:rPr>
              <a:t>Key Facebook Terms And What They Mean</a:t>
            </a:r>
            <a:endParaRPr lang="en-GB" sz="3600" b="1" dirty="0">
              <a:latin typeface="Montserrat" panose="00000500000000000000" pitchFamily="2" charset="0"/>
            </a:endParaRPr>
          </a:p>
        </p:txBody>
      </p:sp>
      <p:sp>
        <p:nvSpPr>
          <p:cNvPr id="3" name="Content Placeholder 2">
            <a:extLst>
              <a:ext uri="{FF2B5EF4-FFF2-40B4-BE49-F238E27FC236}">
                <a16:creationId xmlns:a16="http://schemas.microsoft.com/office/drawing/2014/main" id="{24BC1D63-1C8E-4BD9-A355-5BB70CD78A7A}"/>
              </a:ext>
            </a:extLst>
          </p:cNvPr>
          <p:cNvSpPr>
            <a:spLocks noGrp="1"/>
          </p:cNvSpPr>
          <p:nvPr>
            <p:ph sz="half" idx="1"/>
          </p:nvPr>
        </p:nvSpPr>
        <p:spPr>
          <a:xfrm>
            <a:off x="748048" y="1825625"/>
            <a:ext cx="5181600" cy="3094105"/>
          </a:xfrm>
        </p:spPr>
        <p:txBody>
          <a:bodyPr>
            <a:noAutofit/>
          </a:bodyPr>
          <a:lstStyle/>
          <a:p>
            <a:pPr marL="0" indent="0">
              <a:buNone/>
            </a:pPr>
            <a:r>
              <a:rPr lang="en-US" sz="2000" b="1" i="0" dirty="0">
                <a:solidFill>
                  <a:srgbClr val="33475B"/>
                </a:solidFill>
                <a:effectLst/>
                <a:latin typeface="Montserrat" panose="00000500000000000000" pitchFamily="2" charset="0"/>
              </a:rPr>
              <a:t>Stories:</a:t>
            </a:r>
          </a:p>
          <a:p>
            <a:pPr marL="0" indent="0">
              <a:buNone/>
            </a:pPr>
            <a:r>
              <a:rPr lang="en-US" sz="2000" b="0" i="0" dirty="0">
                <a:solidFill>
                  <a:srgbClr val="33475B"/>
                </a:solidFill>
                <a:effectLst/>
                <a:latin typeface="Montserrat" panose="00000500000000000000" pitchFamily="2" charset="0"/>
              </a:rPr>
              <a:t>Like Instagram stories, Facebook stories are another way individual users and business pages can connect with their friends and followers. Stories are short pieces of content that are visible for just 24 hours. After 24 hours, the stories disappear from the newsfeed.</a:t>
            </a:r>
            <a:endParaRPr lang="en-GB" sz="3200" dirty="0">
              <a:latin typeface="Montserrat" panose="00000500000000000000" pitchFamily="2" charset="0"/>
            </a:endParaRPr>
          </a:p>
        </p:txBody>
      </p:sp>
      <p:sp>
        <p:nvSpPr>
          <p:cNvPr id="4" name="Content Placeholder 3">
            <a:extLst>
              <a:ext uri="{FF2B5EF4-FFF2-40B4-BE49-F238E27FC236}">
                <a16:creationId xmlns:a16="http://schemas.microsoft.com/office/drawing/2014/main" id="{9571F9C6-C6AE-4D2F-B07E-9AD582C29D54}"/>
              </a:ext>
            </a:extLst>
          </p:cNvPr>
          <p:cNvSpPr>
            <a:spLocks noGrp="1"/>
          </p:cNvSpPr>
          <p:nvPr>
            <p:ph sz="half" idx="2"/>
          </p:nvPr>
        </p:nvSpPr>
        <p:spPr>
          <a:xfrm>
            <a:off x="6082048" y="1825625"/>
            <a:ext cx="5181600" cy="3094105"/>
          </a:xfrm>
        </p:spPr>
        <p:txBody>
          <a:bodyPr>
            <a:noAutofit/>
          </a:bodyPr>
          <a:lstStyle/>
          <a:p>
            <a:pPr marL="0" indent="0">
              <a:buNone/>
            </a:pPr>
            <a:r>
              <a:rPr lang="en-GB" sz="2000" b="1" i="0" dirty="0">
                <a:solidFill>
                  <a:srgbClr val="33475B"/>
                </a:solidFill>
                <a:effectLst/>
                <a:latin typeface="Montserrat" panose="00000500000000000000" pitchFamily="2" charset="0"/>
              </a:rPr>
              <a:t>Notifications:</a:t>
            </a:r>
          </a:p>
          <a:p>
            <a:pPr marL="0" indent="0">
              <a:buNone/>
            </a:pPr>
            <a:r>
              <a:rPr lang="en-US" sz="2000" b="0" i="0" dirty="0">
                <a:solidFill>
                  <a:srgbClr val="33475B"/>
                </a:solidFill>
                <a:effectLst/>
                <a:latin typeface="Montserrat" panose="00000500000000000000" pitchFamily="2" charset="0"/>
              </a:rPr>
              <a:t>Represented by the bell icon in the third circle below, a notification informs you when a friend engages with your posts, photos, videos, or timeline, you’ll receive a notification that explains what they engaged with and when. Friend requests will also appear here.</a:t>
            </a:r>
            <a:endParaRPr lang="en-GB" sz="2000" b="0" i="0" dirty="0">
              <a:solidFill>
                <a:srgbClr val="33475B"/>
              </a:solidFill>
              <a:effectLst/>
              <a:latin typeface="Montserrat" panose="00000500000000000000" pitchFamily="2" charset="0"/>
            </a:endParaRPr>
          </a:p>
        </p:txBody>
      </p:sp>
      <p:sp>
        <p:nvSpPr>
          <p:cNvPr id="5" name="TextBox 4">
            <a:extLst>
              <a:ext uri="{FF2B5EF4-FFF2-40B4-BE49-F238E27FC236}">
                <a16:creationId xmlns:a16="http://schemas.microsoft.com/office/drawing/2014/main" id="{3ACB390B-8AA8-4433-A56A-21F6ECEF55F5}"/>
              </a:ext>
            </a:extLst>
          </p:cNvPr>
          <p:cNvSpPr txBox="1"/>
          <p:nvPr/>
        </p:nvSpPr>
        <p:spPr>
          <a:xfrm>
            <a:off x="838200" y="5692462"/>
            <a:ext cx="10515600" cy="830997"/>
          </a:xfrm>
          <a:prstGeom prst="rect">
            <a:avLst/>
          </a:prstGeom>
          <a:noFill/>
        </p:spPr>
        <p:txBody>
          <a:bodyPr wrap="square" rtlCol="0">
            <a:spAutoFit/>
          </a:bodyPr>
          <a:lstStyle/>
          <a:p>
            <a:r>
              <a:rPr lang="en-GB" sz="1200" b="1" dirty="0">
                <a:latin typeface="Montserrat" panose="00000500000000000000" pitchFamily="2" charset="0"/>
              </a:rPr>
              <a:t>Follow this Link and read on how to create a business page as we practiced in class.</a:t>
            </a:r>
          </a:p>
          <a:p>
            <a:endParaRPr lang="en-GB" sz="1200" b="1" dirty="0">
              <a:latin typeface="Montserrat" panose="00000500000000000000" pitchFamily="2" charset="0"/>
              <a:hlinkClick r:id="rId2"/>
            </a:endParaRPr>
          </a:p>
          <a:p>
            <a:r>
              <a:rPr lang="en-GB" sz="1200" dirty="0">
                <a:latin typeface="Montserrat" panose="00000500000000000000" pitchFamily="2" charset="0"/>
                <a:hlinkClick r:id="rId2"/>
              </a:rPr>
              <a:t>https://blog.hubspot.com/blog/tabid/6307/bid/5492/how-to-create-a-facebook-business-page-in-5-simple-steps-with</a:t>
            </a:r>
            <a:r>
              <a:rPr lang="en-GB" sz="1200" dirty="0">
                <a:latin typeface="Montserrat" panose="00000500000000000000" pitchFamily="2" charset="0"/>
              </a:rPr>
              <a:t> video.aspx#:~:text=On%20the%20left%2Dhand%20menu,Page%20in%20under%20255%20characters.</a:t>
            </a:r>
          </a:p>
        </p:txBody>
      </p:sp>
    </p:spTree>
    <p:extLst>
      <p:ext uri="{BB962C8B-B14F-4D97-AF65-F5344CB8AC3E}">
        <p14:creationId xmlns:p14="http://schemas.microsoft.com/office/powerpoint/2010/main" val="1350675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1DB04-CC98-4DC7-9C87-27C07C42E2BC}"/>
              </a:ext>
            </a:extLst>
          </p:cNvPr>
          <p:cNvSpPr>
            <a:spLocks noGrp="1"/>
          </p:cNvSpPr>
          <p:nvPr>
            <p:ph type="ctrTitle"/>
          </p:nvPr>
        </p:nvSpPr>
        <p:spPr>
          <a:xfrm>
            <a:off x="1524000" y="2031453"/>
            <a:ext cx="9144000" cy="2795094"/>
          </a:xfrm>
        </p:spPr>
        <p:txBody>
          <a:bodyPr>
            <a:normAutofit/>
          </a:bodyPr>
          <a:lstStyle/>
          <a:p>
            <a:r>
              <a:rPr lang="en-US" b="1" dirty="0">
                <a:solidFill>
                  <a:schemeClr val="accent2">
                    <a:lumMod val="75000"/>
                  </a:schemeClr>
                </a:solidFill>
                <a:latin typeface="Montserrat" panose="00000500000000000000" pitchFamily="2" charset="0"/>
              </a:rPr>
              <a:t>DEVELOPING A MARKETING STRATEGY</a:t>
            </a:r>
            <a:endParaRPr lang="en-GB" b="1" dirty="0">
              <a:solidFill>
                <a:schemeClr val="accent2">
                  <a:lumMod val="75000"/>
                </a:schemeClr>
              </a:solidFill>
              <a:latin typeface="Montserrat" panose="00000500000000000000" pitchFamily="2" charset="0"/>
            </a:endParaRPr>
          </a:p>
        </p:txBody>
      </p:sp>
      <p:sp>
        <p:nvSpPr>
          <p:cNvPr id="4" name="Oval 3">
            <a:extLst>
              <a:ext uri="{FF2B5EF4-FFF2-40B4-BE49-F238E27FC236}">
                <a16:creationId xmlns:a16="http://schemas.microsoft.com/office/drawing/2014/main" id="{45CD7724-E39B-4D01-A6F7-1D2AF7E21C14}"/>
              </a:ext>
            </a:extLst>
          </p:cNvPr>
          <p:cNvSpPr/>
          <p:nvPr/>
        </p:nvSpPr>
        <p:spPr>
          <a:xfrm>
            <a:off x="10672978" y="5882185"/>
            <a:ext cx="1951629" cy="1951629"/>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90C43D5C-C76F-4F25-A78C-D5D64E6011DC}"/>
              </a:ext>
            </a:extLst>
          </p:cNvPr>
          <p:cNvSpPr/>
          <p:nvPr/>
        </p:nvSpPr>
        <p:spPr>
          <a:xfrm>
            <a:off x="10509633" y="5697940"/>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48181C87-8AA0-4EC7-99D1-4ABDAD1F0A35}"/>
              </a:ext>
            </a:extLst>
          </p:cNvPr>
          <p:cNvSpPr/>
          <p:nvPr/>
        </p:nvSpPr>
        <p:spPr>
          <a:xfrm>
            <a:off x="11280302" y="5203208"/>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349096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E280B-2580-40FB-A337-48E2F1F7B944}"/>
              </a:ext>
            </a:extLst>
          </p:cNvPr>
          <p:cNvSpPr>
            <a:spLocks noGrp="1"/>
          </p:cNvSpPr>
          <p:nvPr>
            <p:ph type="title"/>
          </p:nvPr>
        </p:nvSpPr>
        <p:spPr>
          <a:xfrm>
            <a:off x="838200" y="529375"/>
            <a:ext cx="10515600" cy="1325563"/>
          </a:xfrm>
        </p:spPr>
        <p:txBody>
          <a:bodyPr>
            <a:normAutofit/>
          </a:bodyPr>
          <a:lstStyle/>
          <a:p>
            <a:r>
              <a:rPr lang="en-US" sz="3500" b="1" dirty="0">
                <a:latin typeface="Montserrat" panose="00000500000000000000" pitchFamily="2" charset="0"/>
              </a:rPr>
              <a:t>What is marketing Strategy?</a:t>
            </a:r>
            <a:endParaRPr lang="en-GB" sz="3500" b="1" dirty="0">
              <a:latin typeface="Montserrat" panose="00000500000000000000" pitchFamily="2" charset="0"/>
            </a:endParaRPr>
          </a:p>
        </p:txBody>
      </p:sp>
      <p:sp>
        <p:nvSpPr>
          <p:cNvPr id="3" name="Content Placeholder 2">
            <a:extLst>
              <a:ext uri="{FF2B5EF4-FFF2-40B4-BE49-F238E27FC236}">
                <a16:creationId xmlns:a16="http://schemas.microsoft.com/office/drawing/2014/main" id="{D14FC0A6-F57B-493D-9C65-F5AF2600C68D}"/>
              </a:ext>
            </a:extLst>
          </p:cNvPr>
          <p:cNvSpPr>
            <a:spLocks noGrp="1"/>
          </p:cNvSpPr>
          <p:nvPr>
            <p:ph idx="1"/>
          </p:nvPr>
        </p:nvSpPr>
        <p:spPr>
          <a:xfrm>
            <a:off x="838200" y="1825625"/>
            <a:ext cx="10515600" cy="1325563"/>
          </a:xfrm>
        </p:spPr>
        <p:txBody>
          <a:bodyPr>
            <a:normAutofit/>
          </a:bodyPr>
          <a:lstStyle/>
          <a:p>
            <a:pPr marL="0" indent="0">
              <a:buNone/>
            </a:pPr>
            <a:r>
              <a:rPr lang="en-US" sz="2400" dirty="0">
                <a:latin typeface="Montserrat" panose="00000500000000000000" pitchFamily="2" charset="0"/>
              </a:rPr>
              <a:t>It is a document that outlines action points to be taken in order to market a product or service to a target audience via social media</a:t>
            </a:r>
          </a:p>
        </p:txBody>
      </p:sp>
      <p:sp>
        <p:nvSpPr>
          <p:cNvPr id="4" name="Content Placeholder 2">
            <a:extLst>
              <a:ext uri="{FF2B5EF4-FFF2-40B4-BE49-F238E27FC236}">
                <a16:creationId xmlns:a16="http://schemas.microsoft.com/office/drawing/2014/main" id="{BBDFB41F-63B5-4290-A520-CCA412F62BB8}"/>
              </a:ext>
            </a:extLst>
          </p:cNvPr>
          <p:cNvSpPr txBox="1">
            <a:spLocks/>
          </p:cNvSpPr>
          <p:nvPr/>
        </p:nvSpPr>
        <p:spPr>
          <a:xfrm>
            <a:off x="838200" y="3428999"/>
            <a:ext cx="10515600" cy="2899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Montserrat" panose="00000500000000000000" pitchFamily="2" charset="0"/>
              </a:rPr>
              <a:t>Before marketing Strategy, you need to apply the 4W’s.</a:t>
            </a:r>
          </a:p>
          <a:p>
            <a:pPr marL="800100" lvl="1" indent="-342900">
              <a:buFont typeface="Wingdings" panose="05000000000000000000" pitchFamily="2" charset="2"/>
              <a:buChar char="§"/>
            </a:pPr>
            <a:r>
              <a:rPr lang="en-US" sz="1600" dirty="0">
                <a:latin typeface="Montserrat" panose="00000500000000000000" pitchFamily="2" charset="0"/>
              </a:rPr>
              <a:t>What are you marketing</a:t>
            </a:r>
            <a:r>
              <a:rPr lang="en-GB" sz="1600" dirty="0">
                <a:latin typeface="Montserrat" panose="00000500000000000000" pitchFamily="2" charset="0"/>
              </a:rPr>
              <a:t>?</a:t>
            </a:r>
          </a:p>
          <a:p>
            <a:pPr marL="800100" lvl="1" indent="-342900">
              <a:buFont typeface="Wingdings" panose="05000000000000000000" pitchFamily="2" charset="2"/>
              <a:buChar char="§"/>
            </a:pPr>
            <a:r>
              <a:rPr lang="en-GB" sz="1600" dirty="0">
                <a:latin typeface="Montserrat" panose="00000500000000000000" pitchFamily="2" charset="0"/>
              </a:rPr>
              <a:t>Who are you marketing to?</a:t>
            </a:r>
          </a:p>
          <a:p>
            <a:pPr marL="800100" lvl="1" indent="-342900">
              <a:buFont typeface="Wingdings" panose="05000000000000000000" pitchFamily="2" charset="2"/>
              <a:buChar char="§"/>
            </a:pPr>
            <a:r>
              <a:rPr lang="en-GB" sz="1600" dirty="0">
                <a:latin typeface="Montserrat" panose="00000500000000000000" pitchFamily="2" charset="0"/>
              </a:rPr>
              <a:t>Why are you marketing?</a:t>
            </a:r>
          </a:p>
          <a:p>
            <a:pPr marL="800100" lvl="1" indent="-342900">
              <a:buFont typeface="Wingdings" panose="05000000000000000000" pitchFamily="2" charset="2"/>
              <a:buChar char="§"/>
            </a:pPr>
            <a:r>
              <a:rPr lang="en-GB" sz="1600" dirty="0">
                <a:latin typeface="Montserrat" panose="00000500000000000000" pitchFamily="2" charset="0"/>
              </a:rPr>
              <a:t>Which platform are suitable for marketing what you are marketing?</a:t>
            </a:r>
            <a:endParaRPr lang="en-US" sz="1600" dirty="0">
              <a:latin typeface="Montserrat" panose="00000500000000000000" pitchFamily="2" charset="0"/>
            </a:endParaRPr>
          </a:p>
          <a:p>
            <a:pPr marL="0" indent="0">
              <a:buFont typeface="Arial" panose="020B0604020202020204" pitchFamily="34" charset="0"/>
              <a:buNone/>
            </a:pPr>
            <a:endParaRPr lang="en-US" sz="2400" dirty="0">
              <a:latin typeface="Montserrat" panose="00000500000000000000" pitchFamily="2" charset="0"/>
            </a:endParaRPr>
          </a:p>
          <a:p>
            <a:pPr marL="0" indent="0">
              <a:buFont typeface="Arial" panose="020B0604020202020204" pitchFamily="34" charset="0"/>
              <a:buNone/>
            </a:pPr>
            <a:endParaRPr lang="en-US" sz="2400" dirty="0">
              <a:latin typeface="Montserrat" panose="00000500000000000000" pitchFamily="2" charset="0"/>
            </a:endParaRPr>
          </a:p>
        </p:txBody>
      </p:sp>
      <p:sp>
        <p:nvSpPr>
          <p:cNvPr id="5" name="Oval 4">
            <a:extLst>
              <a:ext uri="{FF2B5EF4-FFF2-40B4-BE49-F238E27FC236}">
                <a16:creationId xmlns:a16="http://schemas.microsoft.com/office/drawing/2014/main" id="{7917D8FE-86D4-4F99-87C7-6FFB7DEA020F}"/>
              </a:ext>
            </a:extLst>
          </p:cNvPr>
          <p:cNvSpPr/>
          <p:nvPr/>
        </p:nvSpPr>
        <p:spPr>
          <a:xfrm>
            <a:off x="10672978" y="5882185"/>
            <a:ext cx="1951629" cy="1951629"/>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CC7E7668-9436-4AF6-9A61-83BAA3C424E3}"/>
              </a:ext>
            </a:extLst>
          </p:cNvPr>
          <p:cNvSpPr/>
          <p:nvPr/>
        </p:nvSpPr>
        <p:spPr>
          <a:xfrm>
            <a:off x="10509633" y="5697940"/>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924AB02C-110E-4946-A169-65BD7BEB482F}"/>
              </a:ext>
            </a:extLst>
          </p:cNvPr>
          <p:cNvSpPr/>
          <p:nvPr/>
        </p:nvSpPr>
        <p:spPr>
          <a:xfrm>
            <a:off x="11280302" y="5203208"/>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23951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03795-C32E-4141-A8FD-77BBAE486B49}"/>
              </a:ext>
            </a:extLst>
          </p:cNvPr>
          <p:cNvSpPr>
            <a:spLocks noGrp="1"/>
          </p:cNvSpPr>
          <p:nvPr>
            <p:ph type="title"/>
          </p:nvPr>
        </p:nvSpPr>
        <p:spPr/>
        <p:txBody>
          <a:bodyPr/>
          <a:lstStyle/>
          <a:p>
            <a:r>
              <a:rPr lang="en-US" b="1" dirty="0">
                <a:latin typeface="Montserrat" panose="00000500000000000000" pitchFamily="2" charset="0"/>
              </a:rPr>
              <a:t>HOW TO RUN SOCIAL MEDIA ADS</a:t>
            </a:r>
            <a:endParaRPr lang="en-GB" b="1" dirty="0">
              <a:latin typeface="Montserrat" panose="00000500000000000000" pitchFamily="2" charset="0"/>
            </a:endParaRPr>
          </a:p>
        </p:txBody>
      </p:sp>
      <p:sp>
        <p:nvSpPr>
          <p:cNvPr id="3" name="Content Placeholder 2">
            <a:extLst>
              <a:ext uri="{FF2B5EF4-FFF2-40B4-BE49-F238E27FC236}">
                <a16:creationId xmlns:a16="http://schemas.microsoft.com/office/drawing/2014/main" id="{11668515-2DA3-45F0-95A2-967B8F4D9F86}"/>
              </a:ext>
            </a:extLst>
          </p:cNvPr>
          <p:cNvSpPr>
            <a:spLocks noGrp="1"/>
          </p:cNvSpPr>
          <p:nvPr>
            <p:ph idx="1"/>
          </p:nvPr>
        </p:nvSpPr>
        <p:spPr>
          <a:xfrm>
            <a:off x="838200" y="1690688"/>
            <a:ext cx="10515600" cy="3126011"/>
          </a:xfrm>
        </p:spPr>
        <p:txBody>
          <a:bodyPr/>
          <a:lstStyle/>
          <a:p>
            <a:r>
              <a:rPr lang="en-US" dirty="0">
                <a:latin typeface="Montserrat" panose="00000500000000000000" pitchFamily="2" charset="0"/>
              </a:rPr>
              <a:t>Research your audience</a:t>
            </a:r>
          </a:p>
          <a:p>
            <a:r>
              <a:rPr lang="en-US" dirty="0">
                <a:latin typeface="Montserrat" panose="00000500000000000000" pitchFamily="2" charset="0"/>
              </a:rPr>
              <a:t>Prepare your marketing content and copy</a:t>
            </a:r>
          </a:p>
          <a:p>
            <a:r>
              <a:rPr lang="en-US" dirty="0">
                <a:latin typeface="Montserrat" panose="00000500000000000000" pitchFamily="2" charset="0"/>
              </a:rPr>
              <a:t>Determine a suitable budget</a:t>
            </a:r>
          </a:p>
          <a:p>
            <a:r>
              <a:rPr lang="en-US" dirty="0">
                <a:latin typeface="Montserrat" panose="00000500000000000000" pitchFamily="2" charset="0"/>
              </a:rPr>
              <a:t>Decide on which platforms to market on (the 4W’s)</a:t>
            </a:r>
          </a:p>
          <a:p>
            <a:r>
              <a:rPr lang="en-US" dirty="0">
                <a:latin typeface="Montserrat" panose="00000500000000000000" pitchFamily="2" charset="0"/>
              </a:rPr>
              <a:t>Decide on how long to run the ads.</a:t>
            </a:r>
            <a:endParaRPr lang="en-GB" dirty="0">
              <a:latin typeface="Montserrat" panose="00000500000000000000" pitchFamily="2" charset="0"/>
            </a:endParaRPr>
          </a:p>
        </p:txBody>
      </p:sp>
      <p:sp>
        <p:nvSpPr>
          <p:cNvPr id="4" name="Oval 3">
            <a:extLst>
              <a:ext uri="{FF2B5EF4-FFF2-40B4-BE49-F238E27FC236}">
                <a16:creationId xmlns:a16="http://schemas.microsoft.com/office/drawing/2014/main" id="{3B47C363-B487-4894-89BD-FB86784E29A3}"/>
              </a:ext>
            </a:extLst>
          </p:cNvPr>
          <p:cNvSpPr/>
          <p:nvPr/>
        </p:nvSpPr>
        <p:spPr>
          <a:xfrm>
            <a:off x="10672978" y="5882185"/>
            <a:ext cx="1951629" cy="1951629"/>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DBAA0DA7-52FE-4EB9-9785-61F7567051D3}"/>
              </a:ext>
            </a:extLst>
          </p:cNvPr>
          <p:cNvSpPr/>
          <p:nvPr/>
        </p:nvSpPr>
        <p:spPr>
          <a:xfrm>
            <a:off x="10509633" y="5697940"/>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73ABEC18-E085-4F8C-B659-76F4CFB9D4E8}"/>
              </a:ext>
            </a:extLst>
          </p:cNvPr>
          <p:cNvSpPr/>
          <p:nvPr/>
        </p:nvSpPr>
        <p:spPr>
          <a:xfrm>
            <a:off x="11280302" y="5203208"/>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44345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2E2ACC-8DD1-4BE4-8174-42145E3F8677}"/>
              </a:ext>
            </a:extLst>
          </p:cNvPr>
          <p:cNvSpPr>
            <a:spLocks noGrp="1"/>
          </p:cNvSpPr>
          <p:nvPr>
            <p:ph idx="1"/>
          </p:nvPr>
        </p:nvSpPr>
        <p:spPr>
          <a:xfrm>
            <a:off x="2677196" y="756679"/>
            <a:ext cx="6837608" cy="1291062"/>
          </a:xfrm>
        </p:spPr>
        <p:txBody>
          <a:bodyPr>
            <a:normAutofit lnSpcReduction="10000"/>
          </a:bodyPr>
          <a:lstStyle/>
          <a:p>
            <a:pPr marL="0" indent="0" algn="ctr">
              <a:buNone/>
            </a:pPr>
            <a:r>
              <a:rPr lang="en-US" sz="4400" b="1" dirty="0">
                <a:solidFill>
                  <a:schemeClr val="tx2">
                    <a:lumMod val="75000"/>
                  </a:schemeClr>
                </a:solidFill>
                <a:latin typeface="Montserrat" panose="00000500000000000000" pitchFamily="2" charset="0"/>
              </a:rPr>
              <a:t>Practical examples on some of the platforms.</a:t>
            </a:r>
            <a:endParaRPr lang="en-GB" sz="4400" b="1" dirty="0">
              <a:solidFill>
                <a:schemeClr val="tx2">
                  <a:lumMod val="75000"/>
                </a:schemeClr>
              </a:solidFill>
              <a:latin typeface="Montserrat" panose="00000500000000000000" pitchFamily="2" charset="0"/>
            </a:endParaRPr>
          </a:p>
        </p:txBody>
      </p:sp>
      <p:sp>
        <p:nvSpPr>
          <p:cNvPr id="4" name="TextBox 3">
            <a:extLst>
              <a:ext uri="{FF2B5EF4-FFF2-40B4-BE49-F238E27FC236}">
                <a16:creationId xmlns:a16="http://schemas.microsoft.com/office/drawing/2014/main" id="{0D9E45F1-64C7-4E27-BF08-B6F290D37F54}"/>
              </a:ext>
            </a:extLst>
          </p:cNvPr>
          <p:cNvSpPr txBox="1"/>
          <p:nvPr/>
        </p:nvSpPr>
        <p:spPr>
          <a:xfrm>
            <a:off x="1453166" y="2690336"/>
            <a:ext cx="9285668" cy="1846659"/>
          </a:xfrm>
          <a:prstGeom prst="rect">
            <a:avLst/>
          </a:prstGeom>
          <a:noFill/>
        </p:spPr>
        <p:txBody>
          <a:bodyPr wrap="square" rtlCol="0">
            <a:spAutoFit/>
          </a:bodyPr>
          <a:lstStyle/>
          <a:p>
            <a:pPr marL="285750" indent="-285750">
              <a:buFont typeface="Wingdings" panose="05000000000000000000" pitchFamily="2" charset="2"/>
              <a:buChar char="§"/>
            </a:pPr>
            <a:r>
              <a:rPr lang="en-US" sz="2400" dirty="0">
                <a:latin typeface="Montserrat" panose="00000500000000000000" pitchFamily="2" charset="0"/>
              </a:rPr>
              <a:t>Facebook ads</a:t>
            </a:r>
          </a:p>
          <a:p>
            <a:pPr marL="285750" indent="-285750">
              <a:buFont typeface="Wingdings" panose="05000000000000000000" pitchFamily="2" charset="2"/>
              <a:buChar char="§"/>
            </a:pPr>
            <a:r>
              <a:rPr lang="en-US" sz="2400" dirty="0">
                <a:latin typeface="Montserrat" panose="00000500000000000000" pitchFamily="2" charset="0"/>
              </a:rPr>
              <a:t>LinkedIn ads</a:t>
            </a:r>
          </a:p>
          <a:p>
            <a:pPr marL="285750" indent="-285750">
              <a:buFont typeface="Wingdings" panose="05000000000000000000" pitchFamily="2" charset="2"/>
              <a:buChar char="§"/>
            </a:pPr>
            <a:r>
              <a:rPr lang="en-US" sz="2400" dirty="0">
                <a:latin typeface="Montserrat" panose="00000500000000000000" pitchFamily="2" charset="0"/>
              </a:rPr>
              <a:t>Google ads</a:t>
            </a:r>
          </a:p>
          <a:p>
            <a:pPr marL="285750" indent="-285750">
              <a:buFont typeface="Wingdings" panose="05000000000000000000" pitchFamily="2" charset="2"/>
              <a:buChar char="§"/>
            </a:pPr>
            <a:r>
              <a:rPr lang="en-US" sz="2400" dirty="0">
                <a:latin typeface="Montserrat" panose="00000500000000000000" pitchFamily="2" charset="0"/>
              </a:rPr>
              <a:t>Pinterest ads</a:t>
            </a:r>
          </a:p>
          <a:p>
            <a:endParaRPr lang="en-GB" dirty="0"/>
          </a:p>
        </p:txBody>
      </p:sp>
      <p:sp>
        <p:nvSpPr>
          <p:cNvPr id="5" name="Oval 4">
            <a:extLst>
              <a:ext uri="{FF2B5EF4-FFF2-40B4-BE49-F238E27FC236}">
                <a16:creationId xmlns:a16="http://schemas.microsoft.com/office/drawing/2014/main" id="{B7DBE6C3-7B2A-43BD-8007-B3AC7273E29A}"/>
              </a:ext>
            </a:extLst>
          </p:cNvPr>
          <p:cNvSpPr/>
          <p:nvPr/>
        </p:nvSpPr>
        <p:spPr>
          <a:xfrm>
            <a:off x="10672978" y="5882185"/>
            <a:ext cx="1951629" cy="1951629"/>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A8E5BD99-AFCA-48AE-8C0D-465F6B1A995C}"/>
              </a:ext>
            </a:extLst>
          </p:cNvPr>
          <p:cNvSpPr/>
          <p:nvPr/>
        </p:nvSpPr>
        <p:spPr>
          <a:xfrm>
            <a:off x="10509633" y="5697940"/>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7978F456-9A77-42E5-8ADA-D469015FD406}"/>
              </a:ext>
            </a:extLst>
          </p:cNvPr>
          <p:cNvSpPr/>
          <p:nvPr/>
        </p:nvSpPr>
        <p:spPr>
          <a:xfrm>
            <a:off x="11280302" y="5203208"/>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46155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381AB-B35C-4FC6-BFDF-74B1C42BA7D4}"/>
              </a:ext>
            </a:extLst>
          </p:cNvPr>
          <p:cNvSpPr>
            <a:spLocks noGrp="1"/>
          </p:cNvSpPr>
          <p:nvPr>
            <p:ph type="title"/>
          </p:nvPr>
        </p:nvSpPr>
        <p:spPr>
          <a:xfrm>
            <a:off x="764702" y="791570"/>
            <a:ext cx="10515600" cy="1325563"/>
          </a:xfrm>
        </p:spPr>
        <p:txBody>
          <a:bodyPr>
            <a:normAutofit/>
          </a:bodyPr>
          <a:lstStyle/>
          <a:p>
            <a:r>
              <a:rPr lang="en-US" sz="4000" b="1" dirty="0">
                <a:solidFill>
                  <a:schemeClr val="tx2">
                    <a:lumMod val="75000"/>
                  </a:schemeClr>
                </a:solidFill>
                <a:latin typeface="Montserrat" panose="00000500000000000000" pitchFamily="2" charset="0"/>
              </a:rPr>
              <a:t>REPORTING, DATA AND ANALYTICS</a:t>
            </a:r>
            <a:endParaRPr lang="en-GB" sz="4000" b="1" dirty="0">
              <a:solidFill>
                <a:schemeClr val="tx2">
                  <a:lumMod val="75000"/>
                </a:schemeClr>
              </a:solidFill>
              <a:latin typeface="Montserrat" panose="00000500000000000000" pitchFamily="2" charset="0"/>
            </a:endParaRPr>
          </a:p>
        </p:txBody>
      </p:sp>
      <p:sp>
        <p:nvSpPr>
          <p:cNvPr id="3" name="Content Placeholder 2">
            <a:extLst>
              <a:ext uri="{FF2B5EF4-FFF2-40B4-BE49-F238E27FC236}">
                <a16:creationId xmlns:a16="http://schemas.microsoft.com/office/drawing/2014/main" id="{1260C47B-9311-4507-8F1F-8F5DE99B3E0F}"/>
              </a:ext>
            </a:extLst>
          </p:cNvPr>
          <p:cNvSpPr>
            <a:spLocks noGrp="1"/>
          </p:cNvSpPr>
          <p:nvPr>
            <p:ph idx="1"/>
          </p:nvPr>
        </p:nvSpPr>
        <p:spPr>
          <a:xfrm>
            <a:off x="838200" y="2248993"/>
            <a:ext cx="10515600" cy="3228953"/>
          </a:xfrm>
        </p:spPr>
        <p:txBody>
          <a:bodyPr/>
          <a:lstStyle/>
          <a:p>
            <a:pPr>
              <a:buFont typeface="Wingdings" panose="05000000000000000000" pitchFamily="2" charset="2"/>
              <a:buChar char="§"/>
            </a:pPr>
            <a:r>
              <a:rPr lang="en-US" dirty="0">
                <a:latin typeface="Montserrat" panose="00000500000000000000" pitchFamily="2" charset="0"/>
              </a:rPr>
              <a:t>Contents of Your social media marketing report.</a:t>
            </a:r>
          </a:p>
          <a:p>
            <a:pPr>
              <a:buFont typeface="Wingdings" panose="05000000000000000000" pitchFamily="2" charset="2"/>
              <a:buChar char="§"/>
            </a:pPr>
            <a:r>
              <a:rPr lang="en-US" dirty="0">
                <a:latin typeface="Montserrat" panose="00000500000000000000" pitchFamily="2" charset="0"/>
              </a:rPr>
              <a:t>Introduction(start before running ads)</a:t>
            </a:r>
          </a:p>
          <a:p>
            <a:pPr>
              <a:buFont typeface="Wingdings" panose="05000000000000000000" pitchFamily="2" charset="2"/>
              <a:buChar char="§"/>
            </a:pPr>
            <a:r>
              <a:rPr lang="en-US" dirty="0">
                <a:latin typeface="Montserrat" panose="00000500000000000000" pitchFamily="2" charset="0"/>
              </a:rPr>
              <a:t>Results of the SMM ads campaign</a:t>
            </a:r>
          </a:p>
          <a:p>
            <a:pPr>
              <a:buFont typeface="Wingdings" panose="05000000000000000000" pitchFamily="2" charset="2"/>
              <a:buChar char="§"/>
            </a:pPr>
            <a:r>
              <a:rPr lang="en-US" dirty="0">
                <a:latin typeface="Montserrat" panose="00000500000000000000" pitchFamily="2" charset="0"/>
              </a:rPr>
              <a:t>Relation of the results to the business goals or targets and objectives of the campaign</a:t>
            </a:r>
          </a:p>
          <a:p>
            <a:pPr>
              <a:buFont typeface="Wingdings" panose="05000000000000000000" pitchFamily="2" charset="2"/>
              <a:buChar char="§"/>
            </a:pPr>
            <a:r>
              <a:rPr lang="en-US" dirty="0">
                <a:latin typeface="Montserrat" panose="00000500000000000000" pitchFamily="2" charset="0"/>
              </a:rPr>
              <a:t>Conclusion and suggestions.</a:t>
            </a:r>
            <a:endParaRPr lang="en-GB" dirty="0">
              <a:latin typeface="Montserrat" panose="00000500000000000000" pitchFamily="2" charset="0"/>
            </a:endParaRPr>
          </a:p>
        </p:txBody>
      </p:sp>
      <p:sp>
        <p:nvSpPr>
          <p:cNvPr id="4" name="Oval 3">
            <a:extLst>
              <a:ext uri="{FF2B5EF4-FFF2-40B4-BE49-F238E27FC236}">
                <a16:creationId xmlns:a16="http://schemas.microsoft.com/office/drawing/2014/main" id="{F671DB50-3492-4D5B-BD14-124AE5782877}"/>
              </a:ext>
            </a:extLst>
          </p:cNvPr>
          <p:cNvSpPr/>
          <p:nvPr/>
        </p:nvSpPr>
        <p:spPr>
          <a:xfrm>
            <a:off x="10672978" y="5882185"/>
            <a:ext cx="1951629" cy="1951629"/>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447EE9B6-C4C1-475E-86D9-32DB647B4543}"/>
              </a:ext>
            </a:extLst>
          </p:cNvPr>
          <p:cNvSpPr/>
          <p:nvPr/>
        </p:nvSpPr>
        <p:spPr>
          <a:xfrm>
            <a:off x="10509633" y="5697940"/>
            <a:ext cx="368490" cy="368490"/>
          </a:xfrm>
          <a:prstGeom prst="ellipse">
            <a:avLst/>
          </a:prstGeom>
          <a:solidFill>
            <a:srgbClr val="FE0F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0E7F26E0-6959-49C5-831E-BF05FEE408A6}"/>
              </a:ext>
            </a:extLst>
          </p:cNvPr>
          <p:cNvSpPr/>
          <p:nvPr/>
        </p:nvSpPr>
        <p:spPr>
          <a:xfrm>
            <a:off x="11280302" y="5203208"/>
            <a:ext cx="368490" cy="3684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26495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B2CCA-39D8-4520-9DE9-126288ED58F8}"/>
              </a:ext>
            </a:extLst>
          </p:cNvPr>
          <p:cNvSpPr>
            <a:spLocks noGrp="1"/>
          </p:cNvSpPr>
          <p:nvPr>
            <p:ph type="title"/>
          </p:nvPr>
        </p:nvSpPr>
        <p:spPr>
          <a:xfrm>
            <a:off x="838200" y="2103437"/>
            <a:ext cx="10515600" cy="1325563"/>
          </a:xfrm>
        </p:spPr>
        <p:txBody>
          <a:bodyPr/>
          <a:lstStyle/>
          <a:p>
            <a:pPr algn="ctr"/>
            <a:r>
              <a:rPr lang="en-US" b="1" dirty="0">
                <a:solidFill>
                  <a:schemeClr val="accent2"/>
                </a:solidFill>
                <a:latin typeface="Montserrat" panose="00000500000000000000" pitchFamily="2" charset="0"/>
              </a:rPr>
              <a:t>STARTING A SOCIAL MEDIA MARKETING AGENCY</a:t>
            </a:r>
            <a:endParaRPr lang="en-GB" b="1" dirty="0">
              <a:solidFill>
                <a:schemeClr val="accent2"/>
              </a:solidFill>
              <a:latin typeface="Montserrat" panose="00000500000000000000" pitchFamily="2" charset="0"/>
            </a:endParaRPr>
          </a:p>
        </p:txBody>
      </p:sp>
      <p:sp>
        <p:nvSpPr>
          <p:cNvPr id="4" name="TextBox 3">
            <a:extLst>
              <a:ext uri="{FF2B5EF4-FFF2-40B4-BE49-F238E27FC236}">
                <a16:creationId xmlns:a16="http://schemas.microsoft.com/office/drawing/2014/main" id="{A4B80BE5-8816-4739-9F3C-EF9361DDF122}"/>
              </a:ext>
            </a:extLst>
          </p:cNvPr>
          <p:cNvSpPr txBox="1"/>
          <p:nvPr/>
        </p:nvSpPr>
        <p:spPr>
          <a:xfrm>
            <a:off x="2176529" y="3863662"/>
            <a:ext cx="8281115" cy="1200329"/>
          </a:xfrm>
          <a:prstGeom prst="rect">
            <a:avLst/>
          </a:prstGeom>
          <a:noFill/>
        </p:spPr>
        <p:txBody>
          <a:bodyPr wrap="square" rtlCol="0">
            <a:spAutoFit/>
          </a:bodyPr>
          <a:lstStyle/>
          <a:p>
            <a:pPr algn="ctr"/>
            <a:r>
              <a:rPr lang="en-US" dirty="0">
                <a:latin typeface="Montserrat" panose="00000500000000000000" pitchFamily="2" charset="0"/>
              </a:rPr>
              <a:t>Social media marketing has become one of the most demanding jobs in recent times. Taking the necessary time and precaution to setup an agency of that sort is really going to make you some reasonable amount of money in the long.</a:t>
            </a:r>
            <a:endParaRPr lang="en-GB" dirty="0">
              <a:latin typeface="Montserrat" panose="00000500000000000000" pitchFamily="2" charset="0"/>
            </a:endParaRPr>
          </a:p>
        </p:txBody>
      </p:sp>
    </p:spTree>
    <p:extLst>
      <p:ext uri="{BB962C8B-B14F-4D97-AF65-F5344CB8AC3E}">
        <p14:creationId xmlns:p14="http://schemas.microsoft.com/office/powerpoint/2010/main" val="88591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B2CCA-39D8-4520-9DE9-126288ED58F8}"/>
              </a:ext>
            </a:extLst>
          </p:cNvPr>
          <p:cNvSpPr>
            <a:spLocks noGrp="1"/>
          </p:cNvSpPr>
          <p:nvPr>
            <p:ph type="title"/>
          </p:nvPr>
        </p:nvSpPr>
        <p:spPr>
          <a:xfrm>
            <a:off x="838200" y="2103437"/>
            <a:ext cx="10515600" cy="1325563"/>
          </a:xfrm>
        </p:spPr>
        <p:txBody>
          <a:bodyPr/>
          <a:lstStyle/>
          <a:p>
            <a:pPr algn="ctr"/>
            <a:r>
              <a:rPr lang="en-US" b="1" dirty="0">
                <a:solidFill>
                  <a:schemeClr val="accent2"/>
                </a:solidFill>
                <a:latin typeface="Montserrat" panose="00000500000000000000" pitchFamily="2" charset="0"/>
              </a:rPr>
              <a:t>STARTING A SOCIAL MEDIA MARKETING AGENCY</a:t>
            </a:r>
            <a:endParaRPr lang="en-GB" b="1" dirty="0">
              <a:solidFill>
                <a:schemeClr val="accent2"/>
              </a:solidFill>
              <a:latin typeface="Montserrat" panose="00000500000000000000" pitchFamily="2" charset="0"/>
            </a:endParaRPr>
          </a:p>
        </p:txBody>
      </p:sp>
      <p:sp>
        <p:nvSpPr>
          <p:cNvPr id="4" name="TextBox 3">
            <a:extLst>
              <a:ext uri="{FF2B5EF4-FFF2-40B4-BE49-F238E27FC236}">
                <a16:creationId xmlns:a16="http://schemas.microsoft.com/office/drawing/2014/main" id="{A4B80BE5-8816-4739-9F3C-EF9361DDF122}"/>
              </a:ext>
            </a:extLst>
          </p:cNvPr>
          <p:cNvSpPr txBox="1"/>
          <p:nvPr/>
        </p:nvSpPr>
        <p:spPr>
          <a:xfrm>
            <a:off x="2176529" y="3863662"/>
            <a:ext cx="8281115" cy="1754326"/>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Montserrat" panose="00000500000000000000" pitchFamily="2" charset="0"/>
              </a:rPr>
              <a:t>Have a customize email address</a:t>
            </a:r>
          </a:p>
          <a:p>
            <a:pPr marL="285750" indent="-285750">
              <a:buFont typeface="Wingdings" panose="05000000000000000000" pitchFamily="2" charset="2"/>
              <a:buChar char="§"/>
            </a:pPr>
            <a:r>
              <a:rPr lang="en-US" dirty="0">
                <a:latin typeface="Montserrat" panose="00000500000000000000" pitchFamily="2" charset="0"/>
              </a:rPr>
              <a:t>Research companies within your location</a:t>
            </a:r>
          </a:p>
          <a:p>
            <a:pPr marL="285750" indent="-285750">
              <a:buFont typeface="Wingdings" panose="05000000000000000000" pitchFamily="2" charset="2"/>
              <a:buChar char="§"/>
            </a:pPr>
            <a:r>
              <a:rPr lang="en-US" dirty="0">
                <a:latin typeface="Montserrat" panose="00000500000000000000" pitchFamily="2" charset="0"/>
              </a:rPr>
              <a:t>Research the companies and determine their needs</a:t>
            </a:r>
          </a:p>
          <a:p>
            <a:pPr marL="285750" indent="-285750">
              <a:buFont typeface="Wingdings" panose="05000000000000000000" pitchFamily="2" charset="2"/>
              <a:buChar char="§"/>
            </a:pPr>
            <a:r>
              <a:rPr lang="en-US" dirty="0">
                <a:latin typeface="Montserrat" panose="00000500000000000000" pitchFamily="2" charset="0"/>
              </a:rPr>
              <a:t>Present proposal and arrange meetings</a:t>
            </a:r>
          </a:p>
          <a:p>
            <a:pPr marL="285750" indent="-285750">
              <a:buFont typeface="Wingdings" panose="05000000000000000000" pitchFamily="2" charset="2"/>
              <a:buChar char="§"/>
            </a:pPr>
            <a:r>
              <a:rPr lang="en-US" dirty="0">
                <a:latin typeface="Montserrat" panose="00000500000000000000" pitchFamily="2" charset="0"/>
              </a:rPr>
              <a:t>Follow up and confirm agreements</a:t>
            </a:r>
          </a:p>
          <a:p>
            <a:pPr marL="285750" indent="-285750">
              <a:buFont typeface="Wingdings" panose="05000000000000000000" pitchFamily="2" charset="2"/>
              <a:buChar char="§"/>
            </a:pPr>
            <a:r>
              <a:rPr lang="en-US" dirty="0">
                <a:latin typeface="Montserrat" panose="00000500000000000000" pitchFamily="2" charset="0"/>
              </a:rPr>
              <a:t>Serve the client to the best of your ability</a:t>
            </a:r>
            <a:endParaRPr lang="en-GB" dirty="0">
              <a:latin typeface="Montserrat" panose="00000500000000000000" pitchFamily="2" charset="0"/>
            </a:endParaRPr>
          </a:p>
        </p:txBody>
      </p:sp>
    </p:spTree>
    <p:extLst>
      <p:ext uri="{BB962C8B-B14F-4D97-AF65-F5344CB8AC3E}">
        <p14:creationId xmlns:p14="http://schemas.microsoft.com/office/powerpoint/2010/main" val="2449676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51235D6-FA20-4F25-9528-BDAF72B460C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10015" y="334851"/>
            <a:ext cx="14090002" cy="6523149"/>
          </a:xfrm>
        </p:spPr>
      </p:pic>
    </p:spTree>
    <p:extLst>
      <p:ext uri="{BB962C8B-B14F-4D97-AF65-F5344CB8AC3E}">
        <p14:creationId xmlns:p14="http://schemas.microsoft.com/office/powerpoint/2010/main" val="1063705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614</TotalTime>
  <Words>1873</Words>
  <Application>Microsoft Office PowerPoint</Application>
  <PresentationFormat>Widescreen</PresentationFormat>
  <Paragraphs>153</Paragraphs>
  <Slides>26</Slides>
  <Notes>22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-apple-system</vt:lpstr>
      <vt:lpstr>Arial</vt:lpstr>
      <vt:lpstr>AvenirNext</vt:lpstr>
      <vt:lpstr>Cabin-semi-bold</vt:lpstr>
      <vt:lpstr>Calibri</vt:lpstr>
      <vt:lpstr>Calibri Light</vt:lpstr>
      <vt:lpstr>Montserrat</vt:lpstr>
      <vt:lpstr>Poppins</vt:lpstr>
      <vt:lpstr>SourceSansPro</vt:lpstr>
      <vt:lpstr>Wingdings</vt:lpstr>
      <vt:lpstr>Office Theme</vt:lpstr>
      <vt:lpstr>“The future belongs to those who learn more skills and combine them in creative ways.”  -Robert Greene- </vt:lpstr>
      <vt:lpstr>PowerPoint Presentation</vt:lpstr>
      <vt:lpstr>What Is Social Media Marketing (SMM)</vt:lpstr>
      <vt:lpstr>PowerPoint Presentation</vt:lpstr>
      <vt:lpstr>A Quick Overview of Social Media Marketing</vt:lpstr>
      <vt:lpstr>SOCIAL MEDIA MARKETING VS MANAGEMENT</vt:lpstr>
      <vt:lpstr>The following 4W’s must be considered before starting social media marketing</vt:lpstr>
      <vt:lpstr>What Does SMM Look Like In 2022</vt:lpstr>
      <vt:lpstr>The Difference Between Content Creation &amp; Curation</vt:lpstr>
      <vt:lpstr>UNDERSTANDING PLATFORMS TOOLS AND TACTICS.</vt:lpstr>
      <vt:lpstr>Understanding the Social media Platforms</vt:lpstr>
      <vt:lpstr>Marketing Platforms</vt:lpstr>
      <vt:lpstr>PowerPoint Presentation</vt:lpstr>
      <vt:lpstr>What is Facebook?</vt:lpstr>
      <vt:lpstr>Key Facebook Terms And What They Mean</vt:lpstr>
      <vt:lpstr>Key Facebook Terms And What They Mean</vt:lpstr>
      <vt:lpstr>Key Facebook Terms And What They Mean</vt:lpstr>
      <vt:lpstr>Key Facebook Terms And What They Mean</vt:lpstr>
      <vt:lpstr>DEVELOPING A MARKETING STRATEGY</vt:lpstr>
      <vt:lpstr>What is marketing Strategy?</vt:lpstr>
      <vt:lpstr>HOW TO RUN SOCIAL MEDIA ADS</vt:lpstr>
      <vt:lpstr>PowerPoint Presentation</vt:lpstr>
      <vt:lpstr>REPORTING, DATA AND ANALYTICS</vt:lpstr>
      <vt:lpstr>STARTING A SOCIAL MEDIA MARKETING AGENCY</vt:lpstr>
      <vt:lpstr>STARTING A SOCIAL MEDIA MARKETING AGENCY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Marketing</dc:title>
  <dc:creator>Meshack Akueteh Sowah</dc:creator>
  <cp:lastModifiedBy>Meshack Akueteh Sowah</cp:lastModifiedBy>
  <cp:revision>16</cp:revision>
  <dcterms:created xsi:type="dcterms:W3CDTF">2022-02-23T15:05:00Z</dcterms:created>
  <dcterms:modified xsi:type="dcterms:W3CDTF">2022-04-16T08:35:05Z</dcterms:modified>
</cp:coreProperties>
</file>
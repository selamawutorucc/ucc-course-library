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8"/>
  </p:notesMasterIdLst>
  <p:sldIdLst>
    <p:sldId id="260" r:id="rId2"/>
    <p:sldId id="385" r:id="rId3"/>
    <p:sldId id="294" r:id="rId4"/>
    <p:sldId id="264" r:id="rId5"/>
    <p:sldId id="828" r:id="rId6"/>
    <p:sldId id="906" r:id="rId7"/>
    <p:sldId id="907" r:id="rId8"/>
    <p:sldId id="908" r:id="rId9"/>
    <p:sldId id="909" r:id="rId10"/>
    <p:sldId id="829" r:id="rId11"/>
    <p:sldId id="737" r:id="rId12"/>
    <p:sldId id="830" r:id="rId13"/>
    <p:sldId id="831" r:id="rId14"/>
    <p:sldId id="851" r:id="rId15"/>
    <p:sldId id="832" r:id="rId16"/>
    <p:sldId id="833" r:id="rId17"/>
    <p:sldId id="834" r:id="rId18"/>
    <p:sldId id="835" r:id="rId19"/>
    <p:sldId id="836" r:id="rId20"/>
    <p:sldId id="852" r:id="rId21"/>
    <p:sldId id="837" r:id="rId22"/>
    <p:sldId id="853" r:id="rId23"/>
    <p:sldId id="854" r:id="rId24"/>
    <p:sldId id="855" r:id="rId25"/>
    <p:sldId id="856" r:id="rId26"/>
    <p:sldId id="857" r:id="rId27"/>
    <p:sldId id="858" r:id="rId28"/>
    <p:sldId id="859" r:id="rId29"/>
    <p:sldId id="860" r:id="rId30"/>
    <p:sldId id="861" r:id="rId31"/>
    <p:sldId id="879" r:id="rId32"/>
    <p:sldId id="880" r:id="rId33"/>
    <p:sldId id="881" r:id="rId34"/>
    <p:sldId id="882" r:id="rId35"/>
    <p:sldId id="883" r:id="rId36"/>
    <p:sldId id="884" r:id="rId37"/>
    <p:sldId id="910" r:id="rId38"/>
    <p:sldId id="911" r:id="rId39"/>
    <p:sldId id="912" r:id="rId40"/>
    <p:sldId id="913" r:id="rId41"/>
    <p:sldId id="914" r:id="rId42"/>
    <p:sldId id="915" r:id="rId43"/>
    <p:sldId id="916" r:id="rId44"/>
    <p:sldId id="917" r:id="rId45"/>
    <p:sldId id="918" r:id="rId46"/>
    <p:sldId id="919" r:id="rId47"/>
    <p:sldId id="920" r:id="rId48"/>
    <p:sldId id="921" r:id="rId49"/>
    <p:sldId id="922" r:id="rId50"/>
    <p:sldId id="923" r:id="rId51"/>
    <p:sldId id="924" r:id="rId52"/>
    <p:sldId id="925" r:id="rId53"/>
    <p:sldId id="926" r:id="rId54"/>
    <p:sldId id="885" r:id="rId55"/>
    <p:sldId id="886" r:id="rId56"/>
    <p:sldId id="887" r:id="rId57"/>
    <p:sldId id="888" r:id="rId58"/>
    <p:sldId id="889" r:id="rId59"/>
    <p:sldId id="890" r:id="rId60"/>
    <p:sldId id="891" r:id="rId61"/>
    <p:sldId id="892" r:id="rId62"/>
    <p:sldId id="893" r:id="rId63"/>
    <p:sldId id="894" r:id="rId64"/>
    <p:sldId id="895" r:id="rId65"/>
    <p:sldId id="896" r:id="rId66"/>
    <p:sldId id="897" r:id="rId67"/>
    <p:sldId id="898" r:id="rId68"/>
    <p:sldId id="899" r:id="rId69"/>
    <p:sldId id="900" r:id="rId70"/>
    <p:sldId id="901" r:id="rId71"/>
    <p:sldId id="902" r:id="rId72"/>
    <p:sldId id="903" r:id="rId73"/>
    <p:sldId id="904" r:id="rId74"/>
    <p:sldId id="905" r:id="rId75"/>
    <p:sldId id="440" r:id="rId76"/>
    <p:sldId id="384"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8" d="100"/>
          <a:sy n="68" d="100"/>
        </p:scale>
        <p:origin x="-1446"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97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endParaRPr lang="en-US" dirty="0" smtClean="0"/>
        </a:p>
        <a:p>
          <a:r>
            <a:rPr lang="en-US" dirty="0" smtClean="0"/>
            <a:t>Excel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custT="1"/>
      <dgm:spPr/>
      <dgm:t>
        <a:bodyPr/>
        <a:lstStyle/>
        <a:p>
          <a:r>
            <a:rPr lang="en-US" sz="4000" dirty="0" smtClean="0"/>
            <a:t> formula and functions basics</a:t>
          </a:r>
          <a:endParaRPr lang="en-US" sz="4000"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65DCDAFD-8909-4CCC-96D3-23F19B6A2257}" type="presOf" srcId="{7D821BC7-213D-4CEC-978A-9CFFE70F3D67}" destId="{9972E4C6-FDD6-4F32-8994-B9E0115268C3}" srcOrd="0" destOrd="0" presId="urn:microsoft.com/office/officeart/2005/8/layout/default#1"/>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smtClean="0"/>
            <a:t>How to create simple </a:t>
          </a:r>
          <a:r>
            <a:rPr lang="en-US" dirty="0" smtClean="0"/>
            <a:t>formula in excel</a:t>
          </a:r>
          <a:endParaRPr lang="en-US" dirty="0"/>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smtClean="0"/>
            <a:t>How to create complex </a:t>
          </a:r>
          <a:r>
            <a:rPr lang="en-US" dirty="0" smtClean="0"/>
            <a:t>formula in excel</a:t>
          </a:r>
          <a:endParaRPr lang="en-US" dirty="0"/>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smtClean="0"/>
            <a:t>How to edit a formula</a:t>
          </a:r>
          <a:endParaRPr lang="en-US" dirty="0"/>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23F2D5E2-61FA-40AD-9F7D-BF405C8CDFAE}">
      <dgm:prSet/>
      <dgm:spPr/>
      <dgm:t>
        <a:bodyPr/>
        <a:lstStyle/>
        <a:p>
          <a:r>
            <a:rPr lang="en-US" dirty="0" smtClean="0"/>
            <a:t>How to </a:t>
          </a:r>
          <a:r>
            <a:rPr lang="en-US" dirty="0" smtClean="0"/>
            <a:t>create formula using relative and absolute cell reference</a:t>
          </a:r>
          <a:endParaRPr lang="en-US" dirty="0"/>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r>
            <a:rPr lang="en-US" dirty="0" smtClean="0"/>
            <a:t>How to </a:t>
          </a:r>
          <a:r>
            <a:rPr lang="en-US" dirty="0" smtClean="0"/>
            <a:t>add functions in excel</a:t>
          </a:r>
          <a:endParaRPr lang="en-US" dirty="0"/>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0C2A3C5A-0AE4-41C1-AA5D-5BC4E760C57F}">
      <dgm:prSet/>
      <dgm:spPr/>
      <dgm:t>
        <a:bodyPr/>
        <a:lstStyle/>
        <a:p>
          <a:r>
            <a:rPr lang="en-US" dirty="0" smtClean="0"/>
            <a:t>How to </a:t>
          </a:r>
          <a:r>
            <a:rPr lang="en-US" dirty="0" smtClean="0"/>
            <a:t>use </a:t>
          </a:r>
          <a:r>
            <a:rPr lang="en-US" dirty="0" err="1" smtClean="0"/>
            <a:t>Vlookup</a:t>
          </a:r>
          <a:r>
            <a:rPr lang="en-US" dirty="0" smtClean="0"/>
            <a:t> function</a:t>
          </a:r>
          <a:endParaRPr lang="en-US" dirty="0"/>
        </a:p>
      </dgm:t>
    </dgm:pt>
    <dgm:pt modelId="{C63CDA1C-7537-4175-AE85-DCCC8B9595D5}" type="parTrans" cxnId="{86E31C76-0D62-4F6E-AF30-DF0CF87F6868}">
      <dgm:prSet/>
      <dgm:spPr/>
      <dgm:t>
        <a:bodyPr/>
        <a:lstStyle/>
        <a:p>
          <a:endParaRPr lang="en-US"/>
        </a:p>
      </dgm:t>
    </dgm:pt>
    <dgm:pt modelId="{C25ACD3C-6ADA-4FCF-83F9-C46AF1053BB7}" type="sibTrans" cxnId="{86E31C76-0D62-4F6E-AF30-DF0CF87F6868}">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E43CDCF3-D5B2-4556-A6FF-1FBA940E878F}" type="pres">
      <dgm:prSet presAssocID="{F9022B54-68C2-4973-9A00-460029290542}" presName="node" presStyleLbl="node1" presStyleIdx="0" presStyleCnt="6">
        <dgm:presLayoutVars>
          <dgm:bulletEnabled val="1"/>
        </dgm:presLayoutVars>
      </dgm:prSet>
      <dgm:spPr/>
      <dgm:t>
        <a:bodyPr/>
        <a:lstStyle/>
        <a:p>
          <a:endParaRPr lang="en-GB"/>
        </a:p>
      </dgm:t>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6">
        <dgm:presLayoutVars>
          <dgm:bulletEnabled val="1"/>
        </dgm:presLayoutVars>
      </dgm:prSet>
      <dgm:spPr/>
      <dgm:t>
        <a:bodyPr/>
        <a:lstStyle/>
        <a:p>
          <a:endParaRPr lang="en-GB"/>
        </a:p>
      </dgm:t>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6">
        <dgm:presLayoutVars>
          <dgm:bulletEnabled val="1"/>
        </dgm:presLayoutVars>
      </dgm:prSet>
      <dgm:spPr/>
      <dgm:t>
        <a:bodyPr/>
        <a:lstStyle/>
        <a:p>
          <a:endParaRPr lang="en-GB"/>
        </a:p>
      </dgm:t>
    </dgm:pt>
    <dgm:pt modelId="{8FCDC96A-B844-4560-9827-3799EB37A607}" type="pres">
      <dgm:prSet presAssocID="{0F8F958D-95B3-4287-AB04-371DBF737C1C}" presName="sibTrans" presStyleCnt="0"/>
      <dgm:spPr/>
    </dgm:pt>
    <dgm:pt modelId="{126D987F-03E4-4E3A-BED9-08B6BA3A15AB}" type="pres">
      <dgm:prSet presAssocID="{23F2D5E2-61FA-40AD-9F7D-BF405C8CDFAE}" presName="node" presStyleLbl="node1" presStyleIdx="3" presStyleCnt="6">
        <dgm:presLayoutVars>
          <dgm:bulletEnabled val="1"/>
        </dgm:presLayoutVars>
      </dgm:prSet>
      <dgm:spPr/>
      <dgm:t>
        <a:bodyPr/>
        <a:lstStyle/>
        <a:p>
          <a:endParaRPr lang="en-GB"/>
        </a:p>
      </dgm:t>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4" presStyleCnt="6">
        <dgm:presLayoutVars>
          <dgm:bulletEnabled val="1"/>
        </dgm:presLayoutVars>
      </dgm:prSet>
      <dgm:spPr/>
      <dgm:t>
        <a:bodyPr/>
        <a:lstStyle/>
        <a:p>
          <a:endParaRPr lang="en-GB"/>
        </a:p>
      </dgm:t>
    </dgm:pt>
    <dgm:pt modelId="{4543EDFD-DAD7-4CC1-8700-DF379CC38E62}" type="pres">
      <dgm:prSet presAssocID="{C692D208-6BD8-417E-A3C9-418AEBD7A4B3}" presName="sibTrans" presStyleCnt="0"/>
      <dgm:spPr/>
    </dgm:pt>
    <dgm:pt modelId="{D944875E-4200-44D3-9F4D-D995865E5F68}" type="pres">
      <dgm:prSet presAssocID="{0C2A3C5A-0AE4-41C1-AA5D-5BC4E760C57F}" presName="node" presStyleLbl="node1" presStyleIdx="5" presStyleCnt="6">
        <dgm:presLayoutVars>
          <dgm:bulletEnabled val="1"/>
        </dgm:presLayoutVars>
      </dgm:prSet>
      <dgm:spPr/>
      <dgm:t>
        <a:bodyPr/>
        <a:lstStyle/>
        <a:p>
          <a:endParaRPr lang="en-GB"/>
        </a:p>
      </dgm:t>
    </dgm:pt>
  </dgm:ptLst>
  <dgm:cxnLst>
    <dgm:cxn modelId="{031BCA45-34A2-4E89-93EF-0C69AA13A8F0}" type="presOf" srcId="{23F2D5E2-61FA-40AD-9F7D-BF405C8CDFAE}" destId="{126D987F-03E4-4E3A-BED9-08B6BA3A15AB}" srcOrd="0" destOrd="0" presId="urn:microsoft.com/office/officeart/2005/8/layout/default#1"/>
    <dgm:cxn modelId="{6AAA590D-29DC-4E4C-8B98-98C454876ACA}" type="presOf" srcId="{0C2A3C5A-0AE4-41C1-AA5D-5BC4E760C57F}" destId="{D944875E-4200-44D3-9F4D-D995865E5F68}" srcOrd="0" destOrd="0" presId="urn:microsoft.com/office/officeart/2005/8/layout/default#1"/>
    <dgm:cxn modelId="{8C7B99DC-F8B1-492C-AD47-8DB1AB5E9999}" type="presOf" srcId="{C11B75ED-B46B-4BF2-80F2-DA583A75044E}" destId="{D32AB574-D896-42B8-809A-74BD322B19E9}" srcOrd="0" destOrd="0" presId="urn:microsoft.com/office/officeart/2005/8/layout/default#1"/>
    <dgm:cxn modelId="{86E31C76-0D62-4F6E-AF30-DF0CF87F6868}" srcId="{3DE9E547-3C66-4E5D-9D07-0515EED2B913}" destId="{0C2A3C5A-0AE4-41C1-AA5D-5BC4E760C57F}" srcOrd="5" destOrd="0" parTransId="{C63CDA1C-7537-4175-AE85-DCCC8B9595D5}" sibTransId="{C25ACD3C-6ADA-4FCF-83F9-C46AF1053BB7}"/>
    <dgm:cxn modelId="{5975DE9F-9538-4AC2-A004-1F0309A49A9F}" type="presOf" srcId="{BBBB9B4E-DA71-45DE-92BC-1EF247E5F9B2}" destId="{08678D36-F832-48B7-8548-C43AEE1F6A43}" srcOrd="0" destOrd="0" presId="urn:microsoft.com/office/officeart/2005/8/layout/default#1"/>
    <dgm:cxn modelId="{FBDBE29A-0A0F-4D97-8A3B-694C132A4FE5}" srcId="{3DE9E547-3C66-4E5D-9D07-0515EED2B913}" destId="{23F2D5E2-61FA-40AD-9F7D-BF405C8CDFAE}" srcOrd="3" destOrd="0" parTransId="{AB5E8461-293C-485A-87B5-1F0B83CE1442}" sibTransId="{2155DDCB-A76B-4506-AD94-A2E4AE9F6F2F}"/>
    <dgm:cxn modelId="{0DB3BCB8-BFA0-457C-84E0-1D03CDEA15BA}" srcId="{3DE9E547-3C66-4E5D-9D07-0515EED2B913}" destId="{C11B75ED-B46B-4BF2-80F2-DA583A75044E}" srcOrd="2" destOrd="0" parTransId="{5645C486-8F55-4C5D-BAFE-57B0FB9C1457}" sibTransId="{0F8F958D-95B3-4287-AB04-371DBF737C1C}"/>
    <dgm:cxn modelId="{8294D506-3CCF-46C3-9D45-09DDBBAFC9A2}" srcId="{3DE9E547-3C66-4E5D-9D07-0515EED2B913}" destId="{BBBB9B4E-DA71-45DE-92BC-1EF247E5F9B2}" srcOrd="1" destOrd="0" parTransId="{A9ED417C-F968-4650-A07D-E6C8B9F80C83}" sibTransId="{8B37F55B-F450-4B0B-98F7-A2B490DAC81A}"/>
    <dgm:cxn modelId="{A36A33C9-5EC3-4472-82B9-956D1373C0B4}" srcId="{3DE9E547-3C66-4E5D-9D07-0515EED2B913}" destId="{F9022B54-68C2-4973-9A00-460029290542}" srcOrd="0" destOrd="0" parTransId="{0EBC0F7C-C083-479E-822C-AA3F278D062A}" sibTransId="{AEC43A17-FDDC-4261-BB01-B6005B7A4552}"/>
    <dgm:cxn modelId="{FD5D13DE-A886-43C1-8176-BE8410373EBE}" type="presOf" srcId="{D032DDD3-5BE8-4773-89B2-68CD8965B3E6}" destId="{A0EFA616-1553-4077-9D32-88AE20AC0552}" srcOrd="0" destOrd="0" presId="urn:microsoft.com/office/officeart/2005/8/layout/default#1"/>
    <dgm:cxn modelId="{864161E3-D902-466F-A23C-0B9201C3B39B}" srcId="{3DE9E547-3C66-4E5D-9D07-0515EED2B913}" destId="{D032DDD3-5BE8-4773-89B2-68CD8965B3E6}" srcOrd="4" destOrd="0" parTransId="{81D33D49-3010-4917-BC50-D44BA8B22DF2}" sibTransId="{C692D208-6BD8-417E-A3C9-418AEBD7A4B3}"/>
    <dgm:cxn modelId="{36C3BEF2-2DBA-42EB-9810-973BE445D0C7}" type="presOf" srcId="{3DE9E547-3C66-4E5D-9D07-0515EED2B913}" destId="{46A1C575-DE29-4021-A28C-E1E7FA78085E}" srcOrd="0" destOrd="0" presId="urn:microsoft.com/office/officeart/2005/8/layout/default#1"/>
    <dgm:cxn modelId="{DB5CF76F-016D-4F32-AE1E-423FE30EF2F6}" type="presOf" srcId="{F9022B54-68C2-4973-9A00-460029290542}" destId="{E43CDCF3-D5B2-4556-A6FF-1FBA940E878F}" srcOrd="0" destOrd="0" presId="urn:microsoft.com/office/officeart/2005/8/layout/default#1"/>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62AA1254-BAAA-4C30-915B-8E8B8D5D39B6}" type="presParOf" srcId="{46A1C575-DE29-4021-A28C-E1E7FA78085E}" destId="{126D987F-03E4-4E3A-BED9-08B6BA3A15AB}" srcOrd="6" destOrd="0" presId="urn:microsoft.com/office/officeart/2005/8/layout/default#1"/>
    <dgm:cxn modelId="{DA7D4CFB-222D-4450-8AF0-D10DC3C95EA3}" type="presParOf" srcId="{46A1C575-DE29-4021-A28C-E1E7FA78085E}" destId="{E35D6D9B-6CD2-4458-885A-62ADB7B92653}" srcOrd="7" destOrd="0" presId="urn:microsoft.com/office/officeart/2005/8/layout/default#1"/>
    <dgm:cxn modelId="{6AE59283-A23C-4A44-A8A5-3A057903230C}" type="presParOf" srcId="{46A1C575-DE29-4021-A28C-E1E7FA78085E}" destId="{A0EFA616-1553-4077-9D32-88AE20AC0552}" srcOrd="8" destOrd="0" presId="urn:microsoft.com/office/officeart/2005/8/layout/default#1"/>
    <dgm:cxn modelId="{429B9619-7928-43DC-A3FE-1E9D2DB4D886}" type="presParOf" srcId="{46A1C575-DE29-4021-A28C-E1E7FA78085E}" destId="{4543EDFD-DAD7-4CC1-8700-DF379CC38E62}" srcOrd="9" destOrd="0" presId="urn:microsoft.com/office/officeart/2005/8/layout/default#1"/>
    <dgm:cxn modelId="{704D0315-1C8A-4D5F-A07E-7D3763651A72}" type="presParOf" srcId="{46A1C575-DE29-4021-A28C-E1E7FA78085E}" destId="{D944875E-4200-44D3-9F4D-D995865E5F68}" srcOrd="1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a:t>Introduction </a:t>
          </a:r>
        </a:p>
        <a:p>
          <a:pPr lvl="0" algn="ctr" defTabSz="2889250">
            <a:lnSpc>
              <a:spcPct val="90000"/>
            </a:lnSpc>
            <a:spcBef>
              <a:spcPct val="0"/>
            </a:spcBef>
            <a:spcAft>
              <a:spcPct val="35000"/>
            </a:spcAft>
          </a:pPr>
          <a:r>
            <a:rPr lang="en-US" sz="6500" kern="1200" dirty="0"/>
            <a:t>to </a:t>
          </a:r>
          <a:endParaRPr lang="en-US" sz="6500" kern="1200" dirty="0" smtClean="0"/>
        </a:p>
        <a:p>
          <a:pPr lvl="0" algn="ctr" defTabSz="2889250">
            <a:lnSpc>
              <a:spcPct val="90000"/>
            </a:lnSpc>
            <a:spcBef>
              <a:spcPct val="0"/>
            </a:spcBef>
            <a:spcAft>
              <a:spcPct val="35000"/>
            </a:spcAft>
          </a:pPr>
          <a:r>
            <a:rPr lang="en-US" sz="6500" kern="1200" dirty="0" smtClean="0"/>
            <a:t>Excel 2010</a:t>
          </a:r>
          <a:endParaRPr lang="en-US" sz="6500" kern="1200" dirty="0"/>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kern="1200" dirty="0" smtClean="0"/>
            <a:t> formula and functions basics</a:t>
          </a:r>
          <a:endParaRPr lang="en-US" sz="4000" kern="1200" dirty="0"/>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0" y="868833"/>
          <a:ext cx="2762250" cy="165734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How to create simple </a:t>
          </a:r>
          <a:r>
            <a:rPr lang="en-US" sz="2300" kern="1200" dirty="0" smtClean="0"/>
            <a:t>formula in excel</a:t>
          </a:r>
          <a:endParaRPr lang="en-US" sz="2300" kern="1200" dirty="0"/>
        </a:p>
      </dsp:txBody>
      <dsp:txXfrm>
        <a:off x="0" y="868833"/>
        <a:ext cx="2762250" cy="1657349"/>
      </dsp:txXfrm>
    </dsp:sp>
    <dsp:sp modelId="{08678D36-F832-48B7-8548-C43AEE1F6A43}">
      <dsp:nvSpPr>
        <dsp:cNvPr id="0" name=""/>
        <dsp:cNvSpPr/>
      </dsp:nvSpPr>
      <dsp:spPr>
        <a:xfrm>
          <a:off x="3038474" y="868833"/>
          <a:ext cx="2762250" cy="1657349"/>
        </a:xfrm>
        <a:prstGeom prst="rect">
          <a:avLst/>
        </a:prstGeom>
        <a:gradFill rotWithShape="0">
          <a:gsLst>
            <a:gs pos="0">
              <a:schemeClr val="accent4">
                <a:shade val="80000"/>
                <a:hueOff val="-35312"/>
                <a:satOff val="-873"/>
                <a:lumOff val="4998"/>
                <a:alphaOff val="0"/>
                <a:shade val="51000"/>
                <a:satMod val="130000"/>
              </a:schemeClr>
            </a:gs>
            <a:gs pos="80000">
              <a:schemeClr val="accent4">
                <a:shade val="80000"/>
                <a:hueOff val="-35312"/>
                <a:satOff val="-873"/>
                <a:lumOff val="4998"/>
                <a:alphaOff val="0"/>
                <a:shade val="93000"/>
                <a:satMod val="130000"/>
              </a:schemeClr>
            </a:gs>
            <a:gs pos="100000">
              <a:schemeClr val="accent4">
                <a:shade val="80000"/>
                <a:hueOff val="-35312"/>
                <a:satOff val="-873"/>
                <a:lumOff val="499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How to create complex </a:t>
          </a:r>
          <a:r>
            <a:rPr lang="en-US" sz="2300" kern="1200" dirty="0" smtClean="0"/>
            <a:t>formula in excel</a:t>
          </a:r>
          <a:endParaRPr lang="en-US" sz="2300" kern="1200" dirty="0"/>
        </a:p>
      </dsp:txBody>
      <dsp:txXfrm>
        <a:off x="3038474" y="868833"/>
        <a:ext cx="2762250" cy="1657349"/>
      </dsp:txXfrm>
    </dsp:sp>
    <dsp:sp modelId="{D32AB574-D896-42B8-809A-74BD322B19E9}">
      <dsp:nvSpPr>
        <dsp:cNvPr id="0" name=""/>
        <dsp:cNvSpPr/>
      </dsp:nvSpPr>
      <dsp:spPr>
        <a:xfrm>
          <a:off x="6076950" y="868833"/>
          <a:ext cx="2762250" cy="1657349"/>
        </a:xfrm>
        <a:prstGeom prst="rect">
          <a:avLst/>
        </a:prstGeom>
        <a:gradFill rotWithShape="0">
          <a:gsLst>
            <a:gs pos="0">
              <a:schemeClr val="accent4">
                <a:shade val="80000"/>
                <a:hueOff val="-70623"/>
                <a:satOff val="-1746"/>
                <a:lumOff val="9995"/>
                <a:alphaOff val="0"/>
                <a:shade val="51000"/>
                <a:satMod val="130000"/>
              </a:schemeClr>
            </a:gs>
            <a:gs pos="80000">
              <a:schemeClr val="accent4">
                <a:shade val="80000"/>
                <a:hueOff val="-70623"/>
                <a:satOff val="-1746"/>
                <a:lumOff val="9995"/>
                <a:alphaOff val="0"/>
                <a:shade val="93000"/>
                <a:satMod val="130000"/>
              </a:schemeClr>
            </a:gs>
            <a:gs pos="100000">
              <a:schemeClr val="accent4">
                <a:shade val="80000"/>
                <a:hueOff val="-70623"/>
                <a:satOff val="-1746"/>
                <a:lumOff val="999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How to edit a formula</a:t>
          </a:r>
          <a:endParaRPr lang="en-US" sz="2300" kern="1200" dirty="0"/>
        </a:p>
      </dsp:txBody>
      <dsp:txXfrm>
        <a:off x="6076950" y="868833"/>
        <a:ext cx="2762250" cy="1657349"/>
      </dsp:txXfrm>
    </dsp:sp>
    <dsp:sp modelId="{126D987F-03E4-4E3A-BED9-08B6BA3A15AB}">
      <dsp:nvSpPr>
        <dsp:cNvPr id="0" name=""/>
        <dsp:cNvSpPr/>
      </dsp:nvSpPr>
      <dsp:spPr>
        <a:xfrm>
          <a:off x="0" y="2802408"/>
          <a:ext cx="2762250" cy="1657349"/>
        </a:xfrm>
        <a:prstGeom prst="rect">
          <a:avLst/>
        </a:prstGeom>
        <a:gradFill rotWithShape="0">
          <a:gsLst>
            <a:gs pos="0">
              <a:schemeClr val="accent4">
                <a:shade val="80000"/>
                <a:hueOff val="-105935"/>
                <a:satOff val="-2619"/>
                <a:lumOff val="14993"/>
                <a:alphaOff val="0"/>
                <a:shade val="51000"/>
                <a:satMod val="130000"/>
              </a:schemeClr>
            </a:gs>
            <a:gs pos="80000">
              <a:schemeClr val="accent4">
                <a:shade val="80000"/>
                <a:hueOff val="-105935"/>
                <a:satOff val="-2619"/>
                <a:lumOff val="14993"/>
                <a:alphaOff val="0"/>
                <a:shade val="93000"/>
                <a:satMod val="130000"/>
              </a:schemeClr>
            </a:gs>
            <a:gs pos="100000">
              <a:schemeClr val="accent4">
                <a:shade val="80000"/>
                <a:hueOff val="-105935"/>
                <a:satOff val="-2619"/>
                <a:lumOff val="1499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How to </a:t>
          </a:r>
          <a:r>
            <a:rPr lang="en-US" sz="2300" kern="1200" dirty="0" smtClean="0"/>
            <a:t>create formula using relative and absolute cell reference</a:t>
          </a:r>
          <a:endParaRPr lang="en-US" sz="2300" kern="1200" dirty="0"/>
        </a:p>
      </dsp:txBody>
      <dsp:txXfrm>
        <a:off x="0" y="2802408"/>
        <a:ext cx="2762250" cy="1657349"/>
      </dsp:txXfrm>
    </dsp:sp>
    <dsp:sp modelId="{A0EFA616-1553-4077-9D32-88AE20AC0552}">
      <dsp:nvSpPr>
        <dsp:cNvPr id="0" name=""/>
        <dsp:cNvSpPr/>
      </dsp:nvSpPr>
      <dsp:spPr>
        <a:xfrm>
          <a:off x="3038474" y="2802408"/>
          <a:ext cx="2762250" cy="1657349"/>
        </a:xfrm>
        <a:prstGeom prst="rect">
          <a:avLst/>
        </a:prstGeom>
        <a:gradFill rotWithShape="0">
          <a:gsLst>
            <a:gs pos="0">
              <a:schemeClr val="accent4">
                <a:shade val="80000"/>
                <a:hueOff val="-141246"/>
                <a:satOff val="-3492"/>
                <a:lumOff val="19990"/>
                <a:alphaOff val="0"/>
                <a:shade val="51000"/>
                <a:satMod val="130000"/>
              </a:schemeClr>
            </a:gs>
            <a:gs pos="80000">
              <a:schemeClr val="accent4">
                <a:shade val="80000"/>
                <a:hueOff val="-141246"/>
                <a:satOff val="-3492"/>
                <a:lumOff val="19990"/>
                <a:alphaOff val="0"/>
                <a:shade val="93000"/>
                <a:satMod val="130000"/>
              </a:schemeClr>
            </a:gs>
            <a:gs pos="100000">
              <a:schemeClr val="accent4">
                <a:shade val="80000"/>
                <a:hueOff val="-141246"/>
                <a:satOff val="-3492"/>
                <a:lumOff val="1999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How to </a:t>
          </a:r>
          <a:r>
            <a:rPr lang="en-US" sz="2300" kern="1200" dirty="0" smtClean="0"/>
            <a:t>add functions in excel</a:t>
          </a:r>
          <a:endParaRPr lang="en-US" sz="2300" kern="1200" dirty="0"/>
        </a:p>
      </dsp:txBody>
      <dsp:txXfrm>
        <a:off x="3038474" y="2802408"/>
        <a:ext cx="2762250" cy="1657349"/>
      </dsp:txXfrm>
    </dsp:sp>
    <dsp:sp modelId="{D944875E-4200-44D3-9F4D-D995865E5F68}">
      <dsp:nvSpPr>
        <dsp:cNvPr id="0" name=""/>
        <dsp:cNvSpPr/>
      </dsp:nvSpPr>
      <dsp:spPr>
        <a:xfrm>
          <a:off x="6076950" y="2802408"/>
          <a:ext cx="2762250" cy="165734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How to </a:t>
          </a:r>
          <a:r>
            <a:rPr lang="en-US" sz="2300" kern="1200" dirty="0" smtClean="0"/>
            <a:t>use </a:t>
          </a:r>
          <a:r>
            <a:rPr lang="en-US" sz="2300" kern="1200" dirty="0" err="1" smtClean="0"/>
            <a:t>Vlookup</a:t>
          </a:r>
          <a:r>
            <a:rPr lang="en-US" sz="2300" kern="1200" dirty="0" smtClean="0"/>
            <a:t> function</a:t>
          </a:r>
          <a:endParaRPr lang="en-US" sz="2300" kern="1200" dirty="0"/>
        </a:p>
      </dsp:txBody>
      <dsp:txXfrm>
        <a:off x="6076950" y="2802408"/>
        <a:ext cx="2762250" cy="1657349"/>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3/31/2021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dirty="0">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dirty="0"/>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a:t>
            </a:fld>
            <a:endParaRPr lang="en-US" dirty="0">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a:t>
            </a:fld>
            <a:endParaRPr lang="en-US" dirty="0">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a:t>
            </a:fld>
            <a:endParaRPr lang="en-US" dirty="0">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a:t>
            </a:fld>
            <a:endParaRPr lang="en-US" dirty="0">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a:t>
            </a:fld>
            <a:endParaRPr lang="en-US" dirty="0">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a:t>
            </a:fld>
            <a:endParaRPr lang="en-US" dirty="0">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a:t>
            </a:fld>
            <a:endParaRPr lang="en-US" dirty="0">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a:t>
            </a:fld>
            <a:endParaRPr lang="en-US" dirty="0">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a:t>
            </a:fld>
            <a:endParaRPr lang="en-US" dirty="0">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a:t>
            </a:fld>
            <a:endParaRPr lang="en-US" dirty="0">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a:t>
            </a:fld>
            <a:endParaRPr lang="en-US" dirty="0">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a:t>
            </a:fld>
            <a:endParaRPr lang="en-US" dirty="0">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a:t>
            </a:fld>
            <a:endParaRPr lang="en-US" dirty="0">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18</a:t>
            </a:fld>
            <a:endParaRPr lang="en-US" dirty="0">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19</a:t>
            </a:fld>
            <a:endParaRPr lang="en-US" dirty="0">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20</a:t>
            </a:fld>
            <a:endParaRPr lang="en-US" dirty="0">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21</a:t>
            </a:fld>
            <a:endParaRPr lang="en-US" dirty="0">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22</a:t>
            </a:fld>
            <a:endParaRPr lang="en-US" dirty="0">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23</a:t>
            </a:fld>
            <a:endParaRPr lang="en-US" dirty="0">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24</a:t>
            </a:fld>
            <a:endParaRPr lang="en-US" dirty="0">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25</a:t>
            </a:fld>
            <a:endParaRPr lang="en-US" dirty="0">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26</a:t>
            </a:fld>
            <a:endParaRPr lang="en-US" dirty="0">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27</a:t>
            </a:fld>
            <a:endParaRPr lang="en-US" dirty="0">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28</a:t>
            </a:fld>
            <a:endParaRPr lang="en-US" dirty="0">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29</a:t>
            </a:fld>
            <a:endParaRPr lang="en-US" dirty="0">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30</a:t>
            </a:fld>
            <a:endParaRPr lang="en-US" dirty="0">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31</a:t>
            </a:fld>
            <a:endParaRPr lang="en-US" dirty="0">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32</a:t>
            </a:fld>
            <a:endParaRPr lang="en-US" dirty="0">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33</a:t>
            </a:fld>
            <a:endParaRPr lang="en-US" dirty="0">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34</a:t>
            </a:fld>
            <a:endParaRPr lang="en-US" dirty="0">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35</a:t>
            </a:fld>
            <a:endParaRPr lang="en-US" dirty="0">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36</a:t>
            </a:fld>
            <a:endParaRPr lang="en-US" dirty="0">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37</a:t>
            </a:fld>
            <a:endParaRPr lang="en-US" dirty="0">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38</a:t>
            </a:fld>
            <a:endParaRPr lang="en-US" dirty="0">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39</a:t>
            </a:fld>
            <a:endParaRPr lang="en-US" dirty="0">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40</a:t>
            </a:fld>
            <a:endParaRPr lang="en-US" dirty="0">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41</a:t>
            </a:fld>
            <a:endParaRPr lang="en-US" dirty="0">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42</a:t>
            </a:fld>
            <a:endParaRPr lang="en-US" dirty="0">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43</a:t>
            </a:fld>
            <a:endParaRPr lang="en-US" dirty="0">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44</a:t>
            </a:fld>
            <a:endParaRPr lang="en-US" dirty="0">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45</a:t>
            </a:fld>
            <a:endParaRPr lang="en-US" dirty="0">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46</a:t>
            </a:fld>
            <a:endParaRPr lang="en-US" dirty="0">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47</a:t>
            </a:fld>
            <a:endParaRPr lang="en-US" dirty="0">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48</a:t>
            </a:fld>
            <a:endParaRPr lang="en-US" dirty="0">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49</a:t>
            </a:fld>
            <a:endParaRPr lang="en-US" dirty="0">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50</a:t>
            </a:fld>
            <a:endParaRPr lang="en-US" dirty="0">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51</a:t>
            </a:fld>
            <a:endParaRPr lang="en-US" dirty="0">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52</a:t>
            </a:fld>
            <a:endParaRPr lang="en-US" dirty="0">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53</a:t>
            </a:fld>
            <a:endParaRPr lang="en-US" dirty="0">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54</a:t>
            </a:fld>
            <a:endParaRPr lang="en-US" dirty="0">
              <a:solidFill>
                <a:prstClr val="black"/>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55</a:t>
            </a:fld>
            <a:endParaRPr lang="en-US" dirty="0">
              <a:solidFill>
                <a:prstClr val="black"/>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56</a:t>
            </a:fld>
            <a:endParaRPr lang="en-US" dirty="0">
              <a:solidFill>
                <a:prstClr val="black"/>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57</a:t>
            </a:fld>
            <a:endParaRPr lang="en-US" dirty="0">
              <a:solidFill>
                <a:prstClr val="black"/>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58</a:t>
            </a:fld>
            <a:endParaRPr lang="en-US" dirty="0">
              <a:solidFill>
                <a:prstClr val="black"/>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59</a:t>
            </a:fld>
            <a:endParaRPr lang="en-US" dirty="0">
              <a:solidFill>
                <a:prstClr val="black"/>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60</a:t>
            </a:fld>
            <a:endParaRPr lang="en-US" dirty="0">
              <a:solidFill>
                <a:prstClr val="black"/>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61</a:t>
            </a:fld>
            <a:endParaRPr lang="en-US" dirty="0">
              <a:solidFill>
                <a:prstClr val="black"/>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62</a:t>
            </a:fld>
            <a:endParaRPr lang="en-US" dirty="0">
              <a:solidFill>
                <a:prstClr val="black"/>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63</a:t>
            </a:fld>
            <a:endParaRPr lang="en-US" dirty="0">
              <a:solidFill>
                <a:prstClr val="black"/>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64</a:t>
            </a:fld>
            <a:endParaRPr lang="en-US" dirty="0">
              <a:solidFill>
                <a:prstClr val="black"/>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65</a:t>
            </a:fld>
            <a:endParaRPr lang="en-US" dirty="0">
              <a:solidFill>
                <a:prstClr val="black"/>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66</a:t>
            </a:fld>
            <a:endParaRPr lang="en-US" dirty="0">
              <a:solidFill>
                <a:prstClr val="black"/>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67</a:t>
            </a:fld>
            <a:endParaRPr lang="en-US" dirty="0">
              <a:solidFill>
                <a:prstClr val="black"/>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68</a:t>
            </a:fld>
            <a:endParaRPr lang="en-US" dirty="0">
              <a:solidFill>
                <a:prstClr val="black"/>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69</a:t>
            </a:fld>
            <a:endParaRPr lang="en-US" dirty="0">
              <a:solidFill>
                <a:prstClr val="black"/>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70</a:t>
            </a:fld>
            <a:endParaRPr lang="en-US" dirty="0">
              <a:solidFill>
                <a:prstClr val="black"/>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71</a:t>
            </a:fld>
            <a:endParaRPr lang="en-US" dirty="0">
              <a:solidFill>
                <a:prstClr val="black"/>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72</a:t>
            </a:fld>
            <a:endParaRPr lang="en-US" dirty="0">
              <a:solidFill>
                <a:prstClr val="black"/>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73</a:t>
            </a:fld>
            <a:endParaRPr lang="en-US" dirty="0">
              <a:solidFill>
                <a:prstClr val="black"/>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74</a:t>
            </a:fld>
            <a:endParaRPr lang="en-US" dirty="0">
              <a:solidFill>
                <a:prstClr val="black"/>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75</a:t>
            </a:fld>
            <a:endParaRPr lang="en-US" smtClean="0">
              <a:solidFill>
                <a:prstClr val="black"/>
              </a:solidFill>
              <a:latin typeface="Calibri"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76</a:t>
            </a:fld>
            <a:endParaRPr lang="en-US" smtClean="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07350772"/>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00851554"/>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793294939"/>
              </p:ext>
            </p:extLst>
          </p:nvPr>
        </p:nvGraphicFramePr>
        <p:xfrm>
          <a:off x="28135" y="1268760"/>
          <a:ext cx="88392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2000"/>
                                  </p:stCondLst>
                                  <p:childTnLst>
                                    <p:set>
                                      <p:cBhvr>
                                        <p:cTn id="16"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7" dur="500"/>
                                        <p:tgtEl>
                                          <p:spTgt spid="7">
                                            <p:graphicEl>
                                              <a:dgm id="{D32AB574-D896-42B8-809A-74BD322B19E9}"/>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2000"/>
                                  </p:stCondLst>
                                  <p:childTnLst>
                                    <p:set>
                                      <p:cBhvr>
                                        <p:cTn id="21"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22" dur="500"/>
                                        <p:tgtEl>
                                          <p:spTgt spid="7">
                                            <p:graphicEl>
                                              <a:dgm id="{126D987F-03E4-4E3A-BED9-08B6BA3A15A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2000"/>
                                  </p:stCondLst>
                                  <p:childTnLst>
                                    <p:set>
                                      <p:cBhvr>
                                        <p:cTn id="26"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7" dur="500"/>
                                        <p:tgtEl>
                                          <p:spTgt spid="7">
                                            <p:graphicEl>
                                              <a:dgm id="{A0EFA616-1553-4077-9D32-88AE20AC055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2000"/>
                                  </p:stCondLst>
                                  <p:childTnLst>
                                    <p:set>
                                      <p:cBhvr>
                                        <p:cTn id="31" dur="1" fill="hold">
                                          <p:stCondLst>
                                            <p:cond delay="0"/>
                                          </p:stCondLst>
                                        </p:cTn>
                                        <p:tgtEl>
                                          <p:spTgt spid="7">
                                            <p:graphicEl>
                                              <a:dgm id="{D944875E-4200-44D3-9F4D-D995865E5F68}"/>
                                            </p:graphicEl>
                                          </p:spTgt>
                                        </p:tgtEl>
                                        <p:attrNameLst>
                                          <p:attrName>style.visibility</p:attrName>
                                        </p:attrNameLst>
                                      </p:cBhvr>
                                      <p:to>
                                        <p:strVal val="visible"/>
                                      </p:to>
                                    </p:set>
                                    <p:animEffect transition="in" filter="dissolve">
                                      <p:cBhvr>
                                        <p:cTn id="32" dur="500"/>
                                        <p:tgtEl>
                                          <p:spTgt spid="7">
                                            <p:graphicEl>
                                              <a:dgm id="{D944875E-4200-44D3-9F4D-D995865E5F6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Introduction</a:t>
            </a:r>
          </a:p>
        </p:txBody>
      </p:sp>
      <p:sp>
        <p:nvSpPr>
          <p:cNvPr id="3" name="Content Placeholder 2"/>
          <p:cNvSpPr>
            <a:spLocks noGrp="1"/>
          </p:cNvSpPr>
          <p:nvPr>
            <p:ph idx="1"/>
          </p:nvPr>
        </p:nvSpPr>
        <p:spPr>
          <a:xfrm>
            <a:off x="107504" y="764704"/>
            <a:ext cx="8884096" cy="5976664"/>
          </a:xfrm>
        </p:spPr>
        <p:txBody>
          <a:bodyPr>
            <a:normAutofit/>
          </a:bodyPr>
          <a:lstStyle/>
          <a:p>
            <a:pPr algn="just"/>
            <a:r>
              <a:rPr lang="en-GB" sz="2800" dirty="0"/>
              <a:t>One of the most powerful features in Excel is the ability to calculate numerical information using </a:t>
            </a:r>
            <a:r>
              <a:rPr lang="en-GB" sz="2800" b="1" dirty="0"/>
              <a:t>formulas</a:t>
            </a:r>
            <a:r>
              <a:rPr lang="en-GB" sz="2800" dirty="0" smtClean="0"/>
              <a:t>.</a:t>
            </a:r>
          </a:p>
          <a:p>
            <a:pPr algn="just"/>
            <a:endParaRPr lang="en-GB" sz="2800" dirty="0"/>
          </a:p>
          <a:p>
            <a:pPr algn="just"/>
            <a:r>
              <a:rPr lang="en-GB" sz="2800" dirty="0"/>
              <a:t>A </a:t>
            </a:r>
            <a:r>
              <a:rPr lang="en-GB" sz="2800" b="1" dirty="0"/>
              <a:t>formula </a:t>
            </a:r>
            <a:r>
              <a:rPr lang="en-GB" sz="2800" dirty="0"/>
              <a:t>is an equation that performs a calculation. </a:t>
            </a:r>
            <a:endParaRPr lang="en-GB" sz="2800" dirty="0" smtClean="0"/>
          </a:p>
          <a:p>
            <a:pPr algn="just"/>
            <a:endParaRPr lang="en-GB" sz="2800" dirty="0"/>
          </a:p>
          <a:p>
            <a:pPr algn="just"/>
            <a:r>
              <a:rPr lang="en-GB" sz="2800" dirty="0"/>
              <a:t>Just like a calculator, Excel can </a:t>
            </a:r>
            <a:r>
              <a:rPr lang="en-GB" sz="2800" b="1" dirty="0"/>
              <a:t>add</a:t>
            </a:r>
            <a:r>
              <a:rPr lang="en-GB" sz="2800" dirty="0"/>
              <a:t>, </a:t>
            </a:r>
            <a:r>
              <a:rPr lang="en-GB" sz="2800" b="1" dirty="0"/>
              <a:t>subtract</a:t>
            </a:r>
            <a:r>
              <a:rPr lang="en-GB" sz="2800" dirty="0"/>
              <a:t>, </a:t>
            </a:r>
            <a:r>
              <a:rPr lang="en-GB" sz="2800" b="1" dirty="0"/>
              <a:t>multiply</a:t>
            </a:r>
            <a:r>
              <a:rPr lang="en-GB" sz="2800" dirty="0"/>
              <a:t>, and </a:t>
            </a:r>
            <a:r>
              <a:rPr lang="en-GB" sz="2800" b="1" dirty="0"/>
              <a:t>divide</a:t>
            </a:r>
            <a:r>
              <a:rPr lang="en-GB" sz="2800" dirty="0" smtClean="0"/>
              <a:t>.</a:t>
            </a:r>
          </a:p>
          <a:p>
            <a:pPr algn="just"/>
            <a:endParaRPr lang="en-GB" sz="2800" dirty="0"/>
          </a:p>
          <a:p>
            <a:pPr algn="just"/>
            <a:r>
              <a:rPr lang="en-GB" sz="2800" dirty="0"/>
              <a:t>All formulas in Excel must begin with an equals </a:t>
            </a:r>
            <a:r>
              <a:rPr lang="en-GB" sz="2800" b="1" dirty="0"/>
              <a:t>sign (=)</a:t>
            </a:r>
            <a:r>
              <a:rPr lang="en-GB" sz="2800" dirty="0"/>
              <a:t>. </a:t>
            </a:r>
          </a:p>
          <a:p>
            <a:pPr algn="just"/>
            <a:endParaRPr lang="en-US" sz="2800"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Mathematical operators</a:t>
            </a:r>
          </a:p>
        </p:txBody>
      </p:sp>
      <p:sp>
        <p:nvSpPr>
          <p:cNvPr id="3" name="Content Placeholder 2"/>
          <p:cNvSpPr>
            <a:spLocks noGrp="1"/>
          </p:cNvSpPr>
          <p:nvPr>
            <p:ph idx="1"/>
          </p:nvPr>
        </p:nvSpPr>
        <p:spPr>
          <a:xfrm>
            <a:off x="107504" y="620688"/>
            <a:ext cx="8884096" cy="6120680"/>
          </a:xfrm>
        </p:spPr>
        <p:txBody>
          <a:bodyPr>
            <a:normAutofit/>
          </a:bodyPr>
          <a:lstStyle/>
          <a:p>
            <a:pPr algn="just"/>
            <a:r>
              <a:rPr lang="en-GB" sz="2800" dirty="0"/>
              <a:t>Excel uses standard operators for formulas, such as a </a:t>
            </a:r>
            <a:r>
              <a:rPr lang="en-GB" sz="2800" b="1" dirty="0"/>
              <a:t>plus sign</a:t>
            </a:r>
            <a:r>
              <a:rPr lang="en-GB" sz="2800" dirty="0"/>
              <a:t> for addition </a:t>
            </a:r>
            <a:r>
              <a:rPr lang="en-GB" sz="2800" b="1" dirty="0"/>
              <a:t>(+)</a:t>
            </a:r>
            <a:r>
              <a:rPr lang="en-GB" sz="2800" dirty="0"/>
              <a:t>, a </a:t>
            </a:r>
            <a:r>
              <a:rPr lang="en-GB" sz="2800" b="1" dirty="0"/>
              <a:t>minus</a:t>
            </a:r>
            <a:r>
              <a:rPr lang="en-GB" sz="2800" dirty="0"/>
              <a:t> sign for </a:t>
            </a:r>
            <a:r>
              <a:rPr lang="en-GB" sz="2800" b="1" dirty="0"/>
              <a:t>subtraction</a:t>
            </a:r>
            <a:r>
              <a:rPr lang="en-GB" sz="2800" dirty="0"/>
              <a:t> </a:t>
            </a:r>
            <a:r>
              <a:rPr lang="en-GB" sz="2800" b="1" dirty="0"/>
              <a:t>(-)</a:t>
            </a:r>
            <a:r>
              <a:rPr lang="en-GB" sz="2800" dirty="0"/>
              <a:t>, an </a:t>
            </a:r>
            <a:r>
              <a:rPr lang="en-GB" sz="2800" b="1" dirty="0"/>
              <a:t>asterisk</a:t>
            </a:r>
            <a:r>
              <a:rPr lang="en-GB" sz="2800" dirty="0"/>
              <a:t> for multiplication </a:t>
            </a:r>
            <a:r>
              <a:rPr lang="en-GB" sz="2800" b="1" dirty="0"/>
              <a:t>(*)</a:t>
            </a:r>
            <a:r>
              <a:rPr lang="en-GB" sz="2800" dirty="0"/>
              <a:t>, a </a:t>
            </a:r>
            <a:r>
              <a:rPr lang="en-GB" sz="2800" b="1" dirty="0"/>
              <a:t>forward slash</a:t>
            </a:r>
            <a:r>
              <a:rPr lang="en-GB" sz="2800" dirty="0"/>
              <a:t> for division </a:t>
            </a:r>
            <a:r>
              <a:rPr lang="en-GB" sz="2800" b="1" dirty="0"/>
              <a:t>(/)</a:t>
            </a:r>
            <a:r>
              <a:rPr lang="en-GB" sz="2800" dirty="0"/>
              <a:t>, and a </a:t>
            </a:r>
            <a:r>
              <a:rPr lang="en-GB" sz="2800" b="1" dirty="0"/>
              <a:t>caret (^)</a:t>
            </a:r>
            <a:r>
              <a:rPr lang="en-GB" sz="2800" dirty="0"/>
              <a:t> for exponents. </a:t>
            </a:r>
            <a:endParaRPr lang="en-GB" sz="2800" dirty="0" smtClean="0"/>
          </a:p>
          <a:p>
            <a:pPr algn="just"/>
            <a:endParaRPr lang="en-GB" sz="2800" dirty="0"/>
          </a:p>
        </p:txBody>
      </p:sp>
      <p:pic>
        <p:nvPicPr>
          <p:cNvPr id="1026" name="Picture 2" descr="C:\Users\UCCSMS1\Desktop\images\simpform_graphic_operators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708920"/>
            <a:ext cx="5328592"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740755"/>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Creating simple formulas</a:t>
            </a:r>
          </a:p>
        </p:txBody>
      </p:sp>
      <p:sp>
        <p:nvSpPr>
          <p:cNvPr id="3" name="Content Placeholder 2"/>
          <p:cNvSpPr>
            <a:spLocks noGrp="1"/>
          </p:cNvSpPr>
          <p:nvPr>
            <p:ph idx="1"/>
          </p:nvPr>
        </p:nvSpPr>
        <p:spPr>
          <a:xfrm>
            <a:off x="107504" y="620688"/>
            <a:ext cx="8884096" cy="6237312"/>
          </a:xfrm>
        </p:spPr>
        <p:txBody>
          <a:bodyPr>
            <a:normAutofit/>
          </a:bodyPr>
          <a:lstStyle/>
          <a:p>
            <a:pPr algn="just"/>
            <a:r>
              <a:rPr lang="en-GB" sz="2800" dirty="0"/>
              <a:t>The key thing to remember when writing formulas for Excel is that all formulas must begin with an equals sign </a:t>
            </a:r>
            <a:r>
              <a:rPr lang="en-GB" sz="2800" b="1" dirty="0"/>
              <a:t>(=)</a:t>
            </a:r>
            <a:r>
              <a:rPr lang="en-GB" sz="2800" dirty="0"/>
              <a:t>. This is because </a:t>
            </a:r>
            <a:r>
              <a:rPr lang="en-GB" sz="2800" b="1" dirty="0"/>
              <a:t>the cell contains—or is equal to—the formula and its value</a:t>
            </a:r>
            <a:r>
              <a:rPr lang="en-GB" sz="2800" dirty="0"/>
              <a:t>.</a:t>
            </a:r>
            <a:endParaRPr lang="en-US" sz="2800" dirty="0"/>
          </a:p>
        </p:txBody>
      </p:sp>
      <p:pic>
        <p:nvPicPr>
          <p:cNvPr id="48130" name="Picture 2" descr="C:\Users\UCCSMS1\Desktop\images\6_operator_inf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492896"/>
            <a:ext cx="6552728" cy="4365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87138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Creating simple formulas</a:t>
            </a:r>
          </a:p>
        </p:txBody>
      </p:sp>
      <p:sp>
        <p:nvSpPr>
          <p:cNvPr id="3" name="Content Placeholder 2"/>
          <p:cNvSpPr>
            <a:spLocks noGrp="1"/>
          </p:cNvSpPr>
          <p:nvPr>
            <p:ph idx="1"/>
          </p:nvPr>
        </p:nvSpPr>
        <p:spPr>
          <a:xfrm>
            <a:off x="107504" y="620688"/>
            <a:ext cx="8884096" cy="6237312"/>
          </a:xfrm>
        </p:spPr>
        <p:txBody>
          <a:bodyPr>
            <a:normAutofit/>
          </a:bodyPr>
          <a:lstStyle/>
          <a:p>
            <a:pPr algn="just"/>
            <a:r>
              <a:rPr lang="en-GB" sz="2800" dirty="0"/>
              <a:t>Select the cell where the answer will appear (</a:t>
            </a:r>
            <a:r>
              <a:rPr lang="en-GB" sz="2800" b="1" dirty="0"/>
              <a:t>B4</a:t>
            </a:r>
            <a:r>
              <a:rPr lang="en-GB" sz="2800" dirty="0"/>
              <a:t>, for example</a:t>
            </a:r>
            <a:r>
              <a:rPr lang="en-GB" sz="2800" dirty="0" smtClean="0"/>
              <a:t>).</a:t>
            </a:r>
          </a:p>
          <a:p>
            <a:pPr algn="just"/>
            <a:endParaRPr lang="en-GB" sz="2800" dirty="0"/>
          </a:p>
          <a:p>
            <a:pPr algn="just"/>
            <a:endParaRPr lang="en-US" sz="2800" dirty="0"/>
          </a:p>
        </p:txBody>
      </p:sp>
      <p:pic>
        <p:nvPicPr>
          <p:cNvPr id="49154" name="Picture 2" descr="C:\Users\UCCSMS1\Desktop\images\6_sf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772816"/>
            <a:ext cx="8064895"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503363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Creating simple formulas</a:t>
            </a:r>
          </a:p>
        </p:txBody>
      </p:sp>
      <p:sp>
        <p:nvSpPr>
          <p:cNvPr id="3" name="Content Placeholder 2"/>
          <p:cNvSpPr>
            <a:spLocks noGrp="1"/>
          </p:cNvSpPr>
          <p:nvPr>
            <p:ph idx="1"/>
          </p:nvPr>
        </p:nvSpPr>
        <p:spPr>
          <a:xfrm>
            <a:off x="107504" y="620688"/>
            <a:ext cx="8884096" cy="6237312"/>
          </a:xfrm>
        </p:spPr>
        <p:txBody>
          <a:bodyPr>
            <a:normAutofit/>
          </a:bodyPr>
          <a:lstStyle/>
          <a:p>
            <a:pPr algn="just"/>
            <a:r>
              <a:rPr lang="en-GB" sz="2800" dirty="0" smtClean="0"/>
              <a:t>Type </a:t>
            </a:r>
            <a:r>
              <a:rPr lang="en-GB" sz="2800" dirty="0"/>
              <a:t>the equals sign </a:t>
            </a:r>
            <a:r>
              <a:rPr lang="en-GB" sz="2800" b="1" dirty="0" smtClean="0"/>
              <a:t>(=)</a:t>
            </a:r>
            <a:r>
              <a:rPr lang="en-GB" sz="2800" dirty="0" smtClean="0"/>
              <a:t>.</a:t>
            </a:r>
          </a:p>
          <a:p>
            <a:pPr algn="just"/>
            <a:endParaRPr lang="en-GB" sz="2800" dirty="0"/>
          </a:p>
          <a:p>
            <a:pPr algn="just"/>
            <a:r>
              <a:rPr lang="en-GB" sz="2800" dirty="0"/>
              <a:t>Type in the formula you want Excel to calculate (</a:t>
            </a:r>
            <a:r>
              <a:rPr lang="en-GB" sz="2800" b="1" dirty="0"/>
              <a:t>75/250</a:t>
            </a:r>
            <a:r>
              <a:rPr lang="en-GB" sz="2800" dirty="0"/>
              <a:t>, for example).</a:t>
            </a:r>
            <a:endParaRPr lang="en-US" sz="2800" dirty="0"/>
          </a:p>
        </p:txBody>
      </p:sp>
      <p:pic>
        <p:nvPicPr>
          <p:cNvPr id="50178" name="Picture 2" descr="C:\Users\UCCSMS1\Desktop\images\6_sf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714624"/>
            <a:ext cx="7848873" cy="388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09592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Creating simple formulas</a:t>
            </a:r>
          </a:p>
        </p:txBody>
      </p:sp>
      <p:sp>
        <p:nvSpPr>
          <p:cNvPr id="3" name="Content Placeholder 2"/>
          <p:cNvSpPr>
            <a:spLocks noGrp="1"/>
          </p:cNvSpPr>
          <p:nvPr>
            <p:ph idx="1"/>
          </p:nvPr>
        </p:nvSpPr>
        <p:spPr>
          <a:xfrm>
            <a:off x="107504" y="620688"/>
            <a:ext cx="8884096" cy="6237312"/>
          </a:xfrm>
        </p:spPr>
        <p:txBody>
          <a:bodyPr>
            <a:normAutofit/>
          </a:bodyPr>
          <a:lstStyle/>
          <a:p>
            <a:pPr algn="just"/>
            <a:r>
              <a:rPr lang="en-GB" sz="2800" dirty="0"/>
              <a:t>Press </a:t>
            </a:r>
            <a:r>
              <a:rPr lang="en-GB" sz="2800" b="1" dirty="0"/>
              <a:t>Enter</a:t>
            </a:r>
            <a:r>
              <a:rPr lang="en-GB" sz="2800" dirty="0"/>
              <a:t>. The formula will be calculated, and the value will be displayed in the cell.</a:t>
            </a:r>
            <a:endParaRPr lang="en-US" sz="2800" dirty="0"/>
          </a:p>
        </p:txBody>
      </p:sp>
      <p:pic>
        <p:nvPicPr>
          <p:cNvPr id="51202" name="Picture 2" descr="C:\Users\UCCSMS1\Desktop\images\6_sf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772816"/>
            <a:ext cx="7920879"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713624"/>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107504" y="620688"/>
            <a:ext cx="8884096" cy="6120680"/>
          </a:xfrm>
        </p:spPr>
        <p:txBody>
          <a:bodyPr>
            <a:normAutofit/>
          </a:bodyPr>
          <a:lstStyle/>
          <a:p>
            <a:pPr marL="0" indent="0" algn="just">
              <a:buNone/>
            </a:pPr>
            <a:r>
              <a:rPr lang="en-GB" sz="2800" dirty="0"/>
              <a:t>While you can create simple formulas in Excel manually (for example, </a:t>
            </a:r>
            <a:r>
              <a:rPr lang="en-GB" sz="2800" b="1" dirty="0"/>
              <a:t>=2+2 </a:t>
            </a:r>
            <a:r>
              <a:rPr lang="en-GB" sz="2800" dirty="0"/>
              <a:t>or </a:t>
            </a:r>
            <a:r>
              <a:rPr lang="en-GB" sz="2800" b="1" dirty="0"/>
              <a:t>=5*5</a:t>
            </a:r>
            <a:r>
              <a:rPr lang="en-GB" sz="2800" dirty="0"/>
              <a:t>), most of the time you will use </a:t>
            </a:r>
            <a:r>
              <a:rPr lang="en-GB" sz="2800" b="1" dirty="0"/>
              <a:t>cell addresses</a:t>
            </a:r>
            <a:r>
              <a:rPr lang="en-GB" sz="2800" dirty="0"/>
              <a:t> to create a formula. </a:t>
            </a:r>
            <a:endParaRPr lang="en-GB" sz="2800" dirty="0" smtClean="0"/>
          </a:p>
          <a:p>
            <a:pPr marL="0" indent="0" algn="just">
              <a:buNone/>
            </a:pPr>
            <a:endParaRPr lang="en-GB" sz="2800" dirty="0"/>
          </a:p>
          <a:p>
            <a:pPr marL="0" indent="0" algn="just">
              <a:buNone/>
            </a:pPr>
            <a:r>
              <a:rPr lang="en-GB" sz="2800" dirty="0"/>
              <a:t>When a formula contains a cell address, it is called a </a:t>
            </a:r>
            <a:r>
              <a:rPr lang="en-GB" sz="2800" b="1" dirty="0"/>
              <a:t>cell </a:t>
            </a:r>
            <a:r>
              <a:rPr lang="en-GB" sz="2800" b="1" dirty="0" smtClean="0"/>
              <a:t>reference</a:t>
            </a:r>
            <a:r>
              <a:rPr lang="en-GB" sz="2800" dirty="0" smtClean="0"/>
              <a:t>.</a:t>
            </a:r>
          </a:p>
          <a:p>
            <a:pPr marL="0" indent="0" algn="just">
              <a:buNone/>
            </a:pPr>
            <a:endParaRPr lang="en-GB" sz="2800" dirty="0"/>
          </a:p>
          <a:p>
            <a:pPr marL="0" indent="0" algn="just">
              <a:buNone/>
            </a:pPr>
            <a:r>
              <a:rPr lang="en-GB" sz="2800" dirty="0"/>
              <a:t>Using cell references will ensure that your formulas are always </a:t>
            </a:r>
            <a:r>
              <a:rPr lang="en-GB" sz="2800" b="1" dirty="0"/>
              <a:t>accurate</a:t>
            </a:r>
            <a:r>
              <a:rPr lang="en-GB" sz="2800" dirty="0"/>
              <a:t> because you can change the value of </a:t>
            </a:r>
            <a:r>
              <a:rPr lang="en-GB" sz="2800" b="1" dirty="0"/>
              <a:t>referenced cells</a:t>
            </a:r>
            <a:r>
              <a:rPr lang="en-GB" sz="2800" dirty="0"/>
              <a:t> without having to rewrite the formula.</a:t>
            </a:r>
            <a:endParaRPr lang="en-US" sz="2800" dirty="0"/>
          </a:p>
        </p:txBody>
      </p:sp>
    </p:spTree>
    <p:extLst>
      <p:ext uri="{BB962C8B-B14F-4D97-AF65-F5344CB8AC3E}">
        <p14:creationId xmlns:p14="http://schemas.microsoft.com/office/powerpoint/2010/main" val="883804146"/>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buNone/>
            </a:pPr>
            <a:r>
              <a:rPr lang="en-GB" sz="2800" b="1" dirty="0" smtClean="0">
                <a:solidFill>
                  <a:srgbClr val="FF0000"/>
                </a:solidFill>
              </a:rPr>
              <a:t> </a:t>
            </a:r>
            <a:endParaRPr lang="en-GB" sz="2800" dirty="0"/>
          </a:p>
        </p:txBody>
      </p:sp>
      <p:pic>
        <p:nvPicPr>
          <p:cNvPr id="4" name="Picture 2" descr="C:\Users\UCCSMS1\Desktop\images\simple_references_illustra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692696"/>
            <a:ext cx="8352928" cy="6048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88773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buNone/>
            </a:pPr>
            <a:r>
              <a:rPr lang="en-GB" sz="2800" b="1" dirty="0" smtClean="0">
                <a:solidFill>
                  <a:srgbClr val="FF0000"/>
                </a:solidFill>
              </a:rPr>
              <a:t> </a:t>
            </a:r>
            <a:endParaRPr lang="en-GB" sz="2800" dirty="0"/>
          </a:p>
        </p:txBody>
      </p:sp>
      <p:pic>
        <p:nvPicPr>
          <p:cNvPr id="4" name="Picture 2" descr="C:\Users\UCCSMS1\Desktop\images\simpform_graphic_formulas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692696"/>
            <a:ext cx="7344816" cy="5904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6067733"/>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In our example below, we'll use a simple formula and cell references to calculate a budget</a:t>
            </a:r>
            <a:r>
              <a:rPr lang="en-GB" sz="2800" dirty="0" smtClean="0"/>
              <a:t>.</a:t>
            </a:r>
          </a:p>
          <a:p>
            <a:pPr marL="0" indent="0" algn="just">
              <a:buNone/>
            </a:pPr>
            <a:r>
              <a:rPr lang="en-GB" sz="2800" dirty="0"/>
              <a:t>Select the cell that will contain the formula. In our example, we'll select </a:t>
            </a:r>
            <a:r>
              <a:rPr lang="en-GB" sz="2800" b="1" dirty="0"/>
              <a:t>cell B3</a:t>
            </a:r>
            <a:r>
              <a:rPr lang="en-GB" sz="2800" dirty="0"/>
              <a:t>.</a:t>
            </a:r>
          </a:p>
          <a:p>
            <a:pPr marL="0" indent="0" algn="just">
              <a:buNone/>
            </a:pPr>
            <a:endParaRPr lang="en-GB" sz="2800" dirty="0"/>
          </a:p>
        </p:txBody>
      </p:sp>
      <p:pic>
        <p:nvPicPr>
          <p:cNvPr id="4" name="Picture 2" descr="C:\Users\UCCSMS1\Desktop\images\simple_create_selec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780928"/>
            <a:ext cx="6480720"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109903"/>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Type the equals </a:t>
            </a:r>
            <a:r>
              <a:rPr lang="en-GB" sz="2800" b="1" dirty="0"/>
              <a:t>sign (=)</a:t>
            </a:r>
            <a:r>
              <a:rPr lang="en-GB" sz="2800" dirty="0"/>
              <a:t>. Notice how it appears in both the </a:t>
            </a:r>
            <a:r>
              <a:rPr lang="en-GB" sz="2800" b="1" dirty="0"/>
              <a:t>cell</a:t>
            </a:r>
            <a:r>
              <a:rPr lang="en-GB" sz="2800" dirty="0"/>
              <a:t> and the </a:t>
            </a:r>
            <a:r>
              <a:rPr lang="en-GB" sz="2800" b="1" dirty="0"/>
              <a:t>formula bar</a:t>
            </a:r>
            <a:r>
              <a:rPr lang="en-GB" sz="2800" dirty="0"/>
              <a:t>.</a:t>
            </a:r>
          </a:p>
          <a:p>
            <a:pPr marL="0" indent="0" algn="just">
              <a:buNone/>
            </a:pPr>
            <a:endParaRPr lang="en-GB" sz="2800" dirty="0"/>
          </a:p>
        </p:txBody>
      </p:sp>
      <p:pic>
        <p:nvPicPr>
          <p:cNvPr id="5122" name="Picture 2" descr="C:\Users\UCCSMS1\Desktop\images\simple_create_equal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1700809"/>
            <a:ext cx="6912767" cy="482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153773"/>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Type the cell address of the cell you want to reference first in the </a:t>
            </a:r>
            <a:r>
              <a:rPr lang="en-GB" sz="2400" b="1" dirty="0"/>
              <a:t>formula</a:t>
            </a:r>
            <a:r>
              <a:rPr lang="en-GB" sz="2400" dirty="0"/>
              <a:t>: </a:t>
            </a:r>
            <a:r>
              <a:rPr lang="en-GB" sz="2400" b="1" dirty="0"/>
              <a:t>cell B1 </a:t>
            </a:r>
            <a:r>
              <a:rPr lang="en-GB" sz="2400" dirty="0"/>
              <a:t>in our example. A </a:t>
            </a:r>
            <a:r>
              <a:rPr lang="en-GB" sz="2400" b="1" dirty="0"/>
              <a:t>blue border </a:t>
            </a:r>
            <a:r>
              <a:rPr lang="en-GB" sz="2400" dirty="0"/>
              <a:t>will appear around the </a:t>
            </a:r>
            <a:r>
              <a:rPr lang="en-GB" sz="2400" b="1" dirty="0"/>
              <a:t>referenced cell</a:t>
            </a:r>
            <a:r>
              <a:rPr lang="en-GB" sz="2400" dirty="0"/>
              <a:t>.</a:t>
            </a:r>
          </a:p>
        </p:txBody>
      </p:sp>
      <p:pic>
        <p:nvPicPr>
          <p:cNvPr id="6147" name="Picture 3" descr="C:\Users\UCCSMS1\Desktop\images\simple_create_step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916832"/>
            <a:ext cx="8208912" cy="4680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447743"/>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Type the </a:t>
            </a:r>
            <a:r>
              <a:rPr lang="en-GB" sz="2400" b="1" dirty="0"/>
              <a:t>mathematical operator</a:t>
            </a:r>
            <a:r>
              <a:rPr lang="en-GB" sz="2400" dirty="0"/>
              <a:t> you want to use. In our example, we'll type the </a:t>
            </a:r>
            <a:r>
              <a:rPr lang="en-GB" sz="2400" b="1" dirty="0"/>
              <a:t>addition sign </a:t>
            </a:r>
            <a:r>
              <a:rPr lang="en-GB" sz="2400" b="1" dirty="0" smtClean="0"/>
              <a:t>(+).</a:t>
            </a:r>
          </a:p>
          <a:p>
            <a:pPr marL="0" indent="0" algn="just">
              <a:buNone/>
            </a:pPr>
            <a:endParaRPr lang="en-GB" sz="2400" b="1" dirty="0"/>
          </a:p>
          <a:p>
            <a:pPr marL="0" indent="0" algn="just">
              <a:buNone/>
            </a:pPr>
            <a:r>
              <a:rPr lang="en-GB" sz="2400" dirty="0"/>
              <a:t>Type the </a:t>
            </a:r>
            <a:r>
              <a:rPr lang="en-GB" sz="2400" b="1" dirty="0"/>
              <a:t>cell address </a:t>
            </a:r>
            <a:r>
              <a:rPr lang="en-GB" sz="2400" dirty="0"/>
              <a:t>of the cell you want to reference second in the formula: cell </a:t>
            </a:r>
            <a:r>
              <a:rPr lang="en-GB" sz="2400" b="1" dirty="0"/>
              <a:t>B2</a:t>
            </a:r>
            <a:r>
              <a:rPr lang="en-GB" sz="2400" dirty="0"/>
              <a:t> in our example. A </a:t>
            </a:r>
            <a:r>
              <a:rPr lang="en-GB" sz="2400" b="1" dirty="0"/>
              <a:t>red border </a:t>
            </a:r>
            <a:r>
              <a:rPr lang="en-GB" sz="2400" dirty="0"/>
              <a:t>will appear around the referenced cell.</a:t>
            </a:r>
          </a:p>
        </p:txBody>
      </p:sp>
      <p:pic>
        <p:nvPicPr>
          <p:cNvPr id="7170" name="Picture 2" descr="C:\Users\UCCSMS1\Desktop\images\simple_create_step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2924944"/>
            <a:ext cx="6696744" cy="374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2113341"/>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Press </a:t>
            </a:r>
            <a:r>
              <a:rPr lang="en-GB" sz="2400" b="1" dirty="0"/>
              <a:t>Enter</a:t>
            </a:r>
            <a:r>
              <a:rPr lang="en-GB" sz="2400" dirty="0"/>
              <a:t> on your keyboard. The formula will be </a:t>
            </a:r>
            <a:r>
              <a:rPr lang="en-GB" sz="2400" b="1" dirty="0"/>
              <a:t>calculated</a:t>
            </a:r>
            <a:r>
              <a:rPr lang="en-GB" sz="2400" dirty="0"/>
              <a:t>, and the </a:t>
            </a:r>
            <a:r>
              <a:rPr lang="en-GB" sz="2400" b="1" dirty="0"/>
              <a:t>value</a:t>
            </a:r>
            <a:r>
              <a:rPr lang="en-GB" sz="2400" dirty="0"/>
              <a:t> will be displayed in the cell.</a:t>
            </a:r>
          </a:p>
        </p:txBody>
      </p:sp>
      <p:pic>
        <p:nvPicPr>
          <p:cNvPr id="8194" name="Picture 2" descr="C:\Users\UCCSMS1\Desktop\images\simple_create_don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700808"/>
            <a:ext cx="8280920" cy="482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403791"/>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smtClean="0"/>
              <a:t>PRACTICE QUESTION</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b="1" dirty="0"/>
              <a:t>Which formula would add the January and February profits</a:t>
            </a:r>
            <a:r>
              <a:rPr lang="en-GB" sz="2400" b="1" dirty="0" smtClean="0"/>
              <a:t>?</a:t>
            </a:r>
          </a:p>
          <a:p>
            <a:pPr marL="0" indent="0" algn="just">
              <a:buNone/>
            </a:pPr>
            <a:endParaRPr lang="en-GB" sz="2400" dirty="0" smtClean="0"/>
          </a:p>
          <a:p>
            <a:pPr marL="0" indent="0" algn="just">
              <a:buNone/>
            </a:pPr>
            <a:endParaRPr lang="en-GB" sz="2400" dirty="0"/>
          </a:p>
          <a:p>
            <a:pPr marL="0" indent="0" algn="just">
              <a:buNone/>
            </a:pPr>
            <a:endParaRPr lang="en-GB" sz="2400" dirty="0" smtClean="0"/>
          </a:p>
          <a:p>
            <a:pPr marL="0" indent="0" algn="just">
              <a:buNone/>
            </a:pPr>
            <a:endParaRPr lang="en-GB" sz="2400" dirty="0"/>
          </a:p>
          <a:p>
            <a:pPr marL="0" indent="0" algn="just">
              <a:buNone/>
            </a:pPr>
            <a:endParaRPr lang="en-GB" sz="2400" dirty="0" smtClean="0"/>
          </a:p>
          <a:p>
            <a:pPr marL="0" indent="0" algn="just">
              <a:buNone/>
            </a:pPr>
            <a:endParaRPr lang="en-GB" sz="2400" dirty="0"/>
          </a:p>
          <a:p>
            <a:pPr marL="0" indent="0" algn="just">
              <a:buNone/>
            </a:pPr>
            <a:endParaRPr lang="en-GB" sz="2400" dirty="0" smtClean="0"/>
          </a:p>
          <a:p>
            <a:pPr marL="0" indent="0" algn="just">
              <a:buNone/>
            </a:pPr>
            <a:endParaRPr lang="en-GB" sz="2400" dirty="0" smtClean="0"/>
          </a:p>
          <a:p>
            <a:pPr marL="457200" indent="-457200" algn="just">
              <a:buAutoNum type="alphaUcPeriod"/>
            </a:pPr>
            <a:r>
              <a:rPr lang="en-GB" sz="2400" dirty="0" smtClean="0"/>
              <a:t>B2+B3</a:t>
            </a:r>
          </a:p>
          <a:p>
            <a:pPr marL="457200" indent="-457200" algn="just">
              <a:buAutoNum type="alphaUcPeriod"/>
            </a:pPr>
            <a:r>
              <a:rPr lang="en-GB" sz="2400" dirty="0"/>
              <a:t>B2+B3</a:t>
            </a:r>
            <a:r>
              <a:rPr lang="en-GB" sz="2400" dirty="0" smtClean="0"/>
              <a:t>=</a:t>
            </a:r>
          </a:p>
          <a:p>
            <a:pPr marL="457200" indent="-457200" algn="just">
              <a:buAutoNum type="alphaUcPeriod"/>
            </a:pPr>
            <a:r>
              <a:rPr lang="en-GB" sz="2400" dirty="0"/>
              <a:t>B3+B4</a:t>
            </a:r>
            <a:r>
              <a:rPr lang="en-GB" sz="2400" dirty="0" smtClean="0"/>
              <a:t>=</a:t>
            </a:r>
          </a:p>
          <a:p>
            <a:pPr marL="457200" indent="-457200" algn="just">
              <a:buAutoNum type="alphaUcPeriod"/>
            </a:pPr>
            <a:r>
              <a:rPr lang="en-GB" sz="2400" dirty="0"/>
              <a:t>=B2+B3</a:t>
            </a:r>
            <a:endParaRPr lang="en-GB" sz="2400" dirty="0" smtClean="0"/>
          </a:p>
          <a:p>
            <a:pPr marL="457200" indent="-457200" algn="just">
              <a:buAutoNum type="alphaUcPeriod"/>
            </a:pPr>
            <a:endParaRPr lang="en-GB" sz="2400" dirty="0"/>
          </a:p>
        </p:txBody>
      </p:sp>
      <p:pic>
        <p:nvPicPr>
          <p:cNvPr id="9218" name="Picture 2" descr="C:\Users\UCCSMS1\Desktop\images\ef_simple_formulas_3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1412776"/>
            <a:ext cx="5760640" cy="3312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7484479"/>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Modifying values with cell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The true advantage of cell references is that </a:t>
            </a:r>
            <a:r>
              <a:rPr lang="en-GB" sz="2800" b="1" dirty="0"/>
              <a:t>they allow you to update data in your worksheet without having to rewrite formulas</a:t>
            </a:r>
            <a:r>
              <a:rPr lang="en-GB" sz="2800" dirty="0"/>
              <a:t>. </a:t>
            </a:r>
            <a:endParaRPr lang="en-GB" sz="2800" dirty="0" smtClean="0"/>
          </a:p>
          <a:p>
            <a:pPr marL="0" indent="0" algn="just">
              <a:buNone/>
            </a:pPr>
            <a:endParaRPr lang="en-GB" sz="2800" dirty="0"/>
          </a:p>
          <a:p>
            <a:pPr marL="0" indent="0" algn="just">
              <a:buNone/>
            </a:pPr>
            <a:r>
              <a:rPr lang="en-GB" sz="2800" dirty="0"/>
              <a:t> In the example below, we've modified the value of cell </a:t>
            </a:r>
            <a:r>
              <a:rPr lang="en-GB" sz="2800" b="1" dirty="0"/>
              <a:t>B1</a:t>
            </a:r>
            <a:r>
              <a:rPr lang="en-GB" sz="2800" dirty="0"/>
              <a:t> from </a:t>
            </a:r>
            <a:r>
              <a:rPr lang="en-GB" sz="2800" b="1" dirty="0"/>
              <a:t>$1,200 </a:t>
            </a:r>
            <a:r>
              <a:rPr lang="en-GB" sz="2800" dirty="0"/>
              <a:t>to </a:t>
            </a:r>
            <a:r>
              <a:rPr lang="en-GB" sz="2800" b="1" dirty="0"/>
              <a:t>$1,800</a:t>
            </a:r>
            <a:r>
              <a:rPr lang="en-GB" sz="2800" dirty="0"/>
              <a:t>. </a:t>
            </a:r>
            <a:endParaRPr lang="en-GB" sz="2800" dirty="0" smtClean="0"/>
          </a:p>
          <a:p>
            <a:pPr marL="0" indent="0" algn="just">
              <a:buNone/>
            </a:pPr>
            <a:endParaRPr lang="en-GB" sz="2800" dirty="0"/>
          </a:p>
          <a:p>
            <a:pPr marL="0" indent="0" algn="just">
              <a:buNone/>
            </a:pPr>
            <a:r>
              <a:rPr lang="en-GB" sz="2800" dirty="0"/>
              <a:t>The formula in </a:t>
            </a:r>
            <a:r>
              <a:rPr lang="en-GB" sz="2800" b="1" dirty="0"/>
              <a:t>B3</a:t>
            </a:r>
            <a:r>
              <a:rPr lang="en-GB" sz="2800" dirty="0"/>
              <a:t> will automatically recalculate and display the new value in cell </a:t>
            </a:r>
            <a:r>
              <a:rPr lang="en-GB" sz="2800" b="1" dirty="0"/>
              <a:t>B3</a:t>
            </a:r>
            <a:r>
              <a:rPr lang="en-GB" sz="2800" dirty="0"/>
              <a:t>.</a:t>
            </a:r>
          </a:p>
        </p:txBody>
      </p:sp>
    </p:spTree>
    <p:extLst>
      <p:ext uri="{BB962C8B-B14F-4D97-AF65-F5344CB8AC3E}">
        <p14:creationId xmlns:p14="http://schemas.microsoft.com/office/powerpoint/2010/main" val="995874007"/>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Modifying values with cell references</a:t>
            </a:r>
          </a:p>
        </p:txBody>
      </p:sp>
      <p:pic>
        <p:nvPicPr>
          <p:cNvPr id="10242" name="Picture 2" descr="C:\Users\UCCSMS1\Desktop\images\simple_create_change_value.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23528" y="836712"/>
            <a:ext cx="8064896" cy="5544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7485248"/>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Create </a:t>
            </a:r>
            <a:r>
              <a:rPr lang="en-GB" sz="3200" dirty="0"/>
              <a:t>a formula using the point-and-click method</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Rather than typing cell addresses </a:t>
            </a:r>
            <a:r>
              <a:rPr lang="en-GB" sz="2800" b="1" dirty="0"/>
              <a:t>manually</a:t>
            </a:r>
            <a:r>
              <a:rPr lang="en-GB" sz="2800" dirty="0"/>
              <a:t>, you can </a:t>
            </a:r>
            <a:r>
              <a:rPr lang="en-GB" sz="2800" b="1" dirty="0"/>
              <a:t>point and click </a:t>
            </a:r>
            <a:r>
              <a:rPr lang="en-GB" sz="2800" dirty="0"/>
              <a:t>on the cells you want to include in your formula</a:t>
            </a:r>
            <a:r>
              <a:rPr lang="en-GB" sz="2800" dirty="0" smtClean="0"/>
              <a:t>.</a:t>
            </a:r>
          </a:p>
          <a:p>
            <a:pPr marL="0" indent="0" algn="just">
              <a:buNone/>
            </a:pPr>
            <a:endParaRPr lang="en-GB" sz="2800" dirty="0"/>
          </a:p>
          <a:p>
            <a:pPr marL="0" indent="0" algn="just">
              <a:buNone/>
            </a:pPr>
            <a:r>
              <a:rPr lang="en-GB" sz="2800" dirty="0"/>
              <a:t>This method </a:t>
            </a:r>
            <a:r>
              <a:rPr lang="en-GB" sz="2800" b="1" dirty="0"/>
              <a:t>can save a lot of time and effort </a:t>
            </a:r>
            <a:r>
              <a:rPr lang="en-GB" sz="2800" dirty="0"/>
              <a:t>when creating formulas</a:t>
            </a:r>
            <a:r>
              <a:rPr lang="en-GB" sz="2800" dirty="0" smtClean="0"/>
              <a:t>.</a:t>
            </a:r>
          </a:p>
          <a:p>
            <a:pPr marL="0" indent="0" algn="just">
              <a:buNone/>
            </a:pPr>
            <a:endParaRPr lang="en-GB" sz="2800" dirty="0"/>
          </a:p>
          <a:p>
            <a:pPr marL="0" indent="0" algn="just">
              <a:buNone/>
            </a:pPr>
            <a:r>
              <a:rPr lang="en-GB" sz="2800" dirty="0"/>
              <a:t> In our example below, we'll create a formula to calculate the cost of ordering several boxes of plastic silverware.</a:t>
            </a:r>
          </a:p>
        </p:txBody>
      </p:sp>
    </p:spTree>
    <p:extLst>
      <p:ext uri="{BB962C8B-B14F-4D97-AF65-F5344CB8AC3E}">
        <p14:creationId xmlns:p14="http://schemas.microsoft.com/office/powerpoint/2010/main" val="1908437231"/>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create a formula using the point-and-click method</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Select the cell that will contain the formula. In our example, we'll select </a:t>
            </a:r>
            <a:r>
              <a:rPr lang="en-GB" sz="2800" b="1" dirty="0"/>
              <a:t>cell D3</a:t>
            </a:r>
            <a:r>
              <a:rPr lang="en-GB" sz="2800" dirty="0"/>
              <a:t>. </a:t>
            </a:r>
            <a:endParaRPr lang="en-GB" sz="2800" dirty="0" smtClean="0"/>
          </a:p>
          <a:p>
            <a:pPr marL="0" indent="0" algn="just">
              <a:buNone/>
            </a:pPr>
            <a:r>
              <a:rPr lang="en-GB" sz="2800" dirty="0" smtClean="0"/>
              <a:t>Type </a:t>
            </a:r>
            <a:r>
              <a:rPr lang="en-GB" sz="2800" dirty="0"/>
              <a:t>the equals </a:t>
            </a:r>
            <a:r>
              <a:rPr lang="en-GB" sz="2800" b="1" dirty="0"/>
              <a:t>sign (=).</a:t>
            </a:r>
          </a:p>
        </p:txBody>
      </p:sp>
      <p:pic>
        <p:nvPicPr>
          <p:cNvPr id="11266" name="Picture 2" descr="C:\Users\UCCSMS1\Desktop\images\simple_point_selec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420888"/>
            <a:ext cx="7704856"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6191195"/>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Create </a:t>
            </a:r>
            <a:r>
              <a:rPr lang="en-GB" sz="3200" dirty="0"/>
              <a:t>a formula using the point-and-click method</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Select the </a:t>
            </a:r>
            <a:r>
              <a:rPr lang="en-GB" sz="2800" b="1" dirty="0"/>
              <a:t>cell</a:t>
            </a:r>
            <a:r>
              <a:rPr lang="en-GB" sz="2800" dirty="0"/>
              <a:t> you want to reference first in the formula: cell </a:t>
            </a:r>
            <a:r>
              <a:rPr lang="en-GB" sz="2800" b="1" dirty="0"/>
              <a:t>B3 </a:t>
            </a:r>
            <a:r>
              <a:rPr lang="en-GB" sz="2800" dirty="0"/>
              <a:t>in our example. The </a:t>
            </a:r>
            <a:r>
              <a:rPr lang="en-GB" sz="2800" b="1" dirty="0"/>
              <a:t>cell address </a:t>
            </a:r>
            <a:r>
              <a:rPr lang="en-GB" sz="2800" dirty="0"/>
              <a:t>will appear in the formula, and a </a:t>
            </a:r>
            <a:r>
              <a:rPr lang="en-GB" sz="2800" b="1" dirty="0"/>
              <a:t>dashed blue line</a:t>
            </a:r>
            <a:r>
              <a:rPr lang="en-GB" sz="2800" dirty="0"/>
              <a:t> will appear around the referenced cell.</a:t>
            </a:r>
            <a:endParaRPr lang="en-GB" sz="2800" b="1" dirty="0"/>
          </a:p>
        </p:txBody>
      </p:sp>
      <p:pic>
        <p:nvPicPr>
          <p:cNvPr id="12290" name="Picture 2" descr="C:\Users\UCCSMS1\Desktop\images\simple_point_step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564904"/>
            <a:ext cx="8064896"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354927"/>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Create </a:t>
            </a:r>
            <a:r>
              <a:rPr lang="en-GB" sz="3200" dirty="0"/>
              <a:t>a formula using the point-and-click method</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Type the </a:t>
            </a:r>
            <a:r>
              <a:rPr lang="en-GB" sz="2400" b="1" dirty="0"/>
              <a:t>mathematical operator</a:t>
            </a:r>
            <a:r>
              <a:rPr lang="en-GB" sz="2400" dirty="0"/>
              <a:t> you want to use. In our example, we'll type the </a:t>
            </a:r>
            <a:r>
              <a:rPr lang="en-GB" sz="2400" b="1" dirty="0"/>
              <a:t>multiplication sign </a:t>
            </a:r>
            <a:r>
              <a:rPr lang="en-GB" sz="2400" b="1" dirty="0" smtClean="0"/>
              <a:t>(*).</a:t>
            </a:r>
          </a:p>
          <a:p>
            <a:pPr marL="0" indent="0" algn="just">
              <a:buNone/>
            </a:pPr>
            <a:r>
              <a:rPr lang="en-GB" sz="2400" dirty="0"/>
              <a:t>Select the </a:t>
            </a:r>
            <a:r>
              <a:rPr lang="en-GB" sz="2400" b="1" dirty="0"/>
              <a:t>cell</a:t>
            </a:r>
            <a:r>
              <a:rPr lang="en-GB" sz="2400" dirty="0"/>
              <a:t> you want to reference second in the formula: cell </a:t>
            </a:r>
            <a:r>
              <a:rPr lang="en-GB" sz="2400" b="1" dirty="0"/>
              <a:t>C3</a:t>
            </a:r>
            <a:r>
              <a:rPr lang="en-GB" sz="2400" dirty="0"/>
              <a:t> in our example. The </a:t>
            </a:r>
            <a:r>
              <a:rPr lang="en-GB" sz="2400" b="1" dirty="0"/>
              <a:t>cell address</a:t>
            </a:r>
            <a:r>
              <a:rPr lang="en-GB" sz="2400" dirty="0"/>
              <a:t> will appear in the formula, and a </a:t>
            </a:r>
            <a:r>
              <a:rPr lang="en-GB" sz="2400" b="1" dirty="0"/>
              <a:t>dashed red line </a:t>
            </a:r>
            <a:r>
              <a:rPr lang="en-GB" sz="2400" dirty="0"/>
              <a:t>will appear around the referenced cell</a:t>
            </a:r>
            <a:r>
              <a:rPr lang="en-GB" sz="2400" dirty="0" smtClean="0"/>
              <a:t>.</a:t>
            </a:r>
            <a:endParaRPr lang="en-GB" sz="2400" dirty="0"/>
          </a:p>
        </p:txBody>
      </p:sp>
      <p:pic>
        <p:nvPicPr>
          <p:cNvPr id="13314" name="Picture 2" descr="C:\Users\UCCSMS1\Desktop\images\simple_point_step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2803166"/>
            <a:ext cx="7560840" cy="3938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4263611"/>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Create </a:t>
            </a:r>
            <a:r>
              <a:rPr lang="en-GB" sz="3200" dirty="0"/>
              <a:t>a formula using the point-and-click method</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Press </a:t>
            </a:r>
            <a:r>
              <a:rPr lang="en-GB" sz="2400" b="1" dirty="0"/>
              <a:t>Enter</a:t>
            </a:r>
            <a:r>
              <a:rPr lang="en-GB" sz="2400" dirty="0"/>
              <a:t> on your keyboard. The formula will be </a:t>
            </a:r>
            <a:r>
              <a:rPr lang="en-GB" sz="2400" b="1" dirty="0"/>
              <a:t>calculated</a:t>
            </a:r>
            <a:r>
              <a:rPr lang="en-GB" sz="2400" dirty="0"/>
              <a:t>, and the </a:t>
            </a:r>
            <a:r>
              <a:rPr lang="en-GB" sz="2400" b="1" dirty="0"/>
              <a:t>value</a:t>
            </a:r>
            <a:r>
              <a:rPr lang="en-GB" sz="2400" dirty="0"/>
              <a:t> will be displayed in the cell.</a:t>
            </a:r>
          </a:p>
        </p:txBody>
      </p:sp>
      <p:pic>
        <p:nvPicPr>
          <p:cNvPr id="14338" name="Picture 2" descr="C:\Users\UCCSMS1\Desktop\images\simple_point_don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3" y="1844824"/>
            <a:ext cx="8208912"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018507"/>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How to </a:t>
            </a:r>
            <a:r>
              <a:rPr lang="en-GB" sz="3200" dirty="0"/>
              <a:t>edit a formula</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Sometimes you may want to modify an existing formula. In the example below, we've entered an incorrect cell address in our formula, so we'll need to correct it</a:t>
            </a:r>
            <a:r>
              <a:rPr lang="en-GB" sz="2400" dirty="0" smtClean="0"/>
              <a:t>.</a:t>
            </a:r>
          </a:p>
          <a:p>
            <a:pPr marL="0" indent="0" algn="just">
              <a:buNone/>
            </a:pPr>
            <a:endParaRPr lang="en-GB" sz="2400" dirty="0"/>
          </a:p>
          <a:p>
            <a:pPr marL="0" indent="0" algn="just">
              <a:buNone/>
            </a:pPr>
            <a:r>
              <a:rPr lang="en-GB" sz="2400" dirty="0"/>
              <a:t>Select the </a:t>
            </a:r>
            <a:r>
              <a:rPr lang="en-GB" sz="2400" b="1" dirty="0"/>
              <a:t>cell </a:t>
            </a:r>
            <a:r>
              <a:rPr lang="en-GB" sz="2400" dirty="0"/>
              <a:t>containing the formula you want to edit. In our example, we'll select cell </a:t>
            </a:r>
            <a:r>
              <a:rPr lang="en-GB" sz="2400" b="1" dirty="0"/>
              <a:t>B3</a:t>
            </a:r>
            <a:r>
              <a:rPr lang="en-GB" sz="2400" dirty="0"/>
              <a:t>.</a:t>
            </a:r>
          </a:p>
        </p:txBody>
      </p:sp>
      <p:pic>
        <p:nvPicPr>
          <p:cNvPr id="15362" name="Picture 2" descr="C:\Users\UCCSMS1\Desktop\images\simple_edit_select_click.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3429000"/>
            <a:ext cx="6120680" cy="324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9338828"/>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How to </a:t>
            </a:r>
            <a:r>
              <a:rPr lang="en-GB" sz="3200" dirty="0"/>
              <a:t>edit a formula</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Click the </a:t>
            </a:r>
            <a:r>
              <a:rPr lang="en-GB" sz="2400" b="1" dirty="0"/>
              <a:t>formula bar </a:t>
            </a:r>
            <a:r>
              <a:rPr lang="en-GB" sz="2400" dirty="0"/>
              <a:t>to edit the formula. You can also </a:t>
            </a:r>
            <a:r>
              <a:rPr lang="en-GB" sz="2400" b="1" dirty="0"/>
              <a:t>double-click</a:t>
            </a:r>
            <a:r>
              <a:rPr lang="en-GB" sz="2400" dirty="0"/>
              <a:t> the cell to view and edit the formula directly within the cell.</a:t>
            </a:r>
          </a:p>
        </p:txBody>
      </p:sp>
      <p:pic>
        <p:nvPicPr>
          <p:cNvPr id="16386" name="Picture 2" descr="C:\Users\UCCSMS1\Desktop\images\simple_edit_selec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700808"/>
            <a:ext cx="7848872" cy="489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371762"/>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How to </a:t>
            </a:r>
            <a:r>
              <a:rPr lang="en-GB" sz="3200" dirty="0"/>
              <a:t>edit a formula</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A </a:t>
            </a:r>
            <a:r>
              <a:rPr lang="en-GB" sz="2400" b="1" dirty="0"/>
              <a:t>border </a:t>
            </a:r>
            <a:r>
              <a:rPr lang="en-GB" sz="2400" dirty="0"/>
              <a:t>will appear around any referenced cells. In our example, we'll change the second part of the formula to reference cell </a:t>
            </a:r>
            <a:r>
              <a:rPr lang="en-GB" sz="2400" b="1" dirty="0"/>
              <a:t>B2</a:t>
            </a:r>
            <a:r>
              <a:rPr lang="en-GB" sz="2400" dirty="0"/>
              <a:t> instead of cell </a:t>
            </a:r>
            <a:r>
              <a:rPr lang="en-GB" sz="2400" b="1" dirty="0"/>
              <a:t>C2</a:t>
            </a:r>
            <a:r>
              <a:rPr lang="en-GB" sz="2400" dirty="0"/>
              <a:t>.</a:t>
            </a:r>
          </a:p>
        </p:txBody>
      </p:sp>
      <p:pic>
        <p:nvPicPr>
          <p:cNvPr id="17410" name="Picture 2" descr="C:\Users\UCCSMS1\Desktop\images\simple_edit_incorrec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3" y="1988840"/>
            <a:ext cx="6840760"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896647"/>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How to </a:t>
            </a:r>
            <a:r>
              <a:rPr lang="en-GB" sz="3200" dirty="0"/>
              <a:t>edit a formula</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When you're finished, press Enter on your keyboard or click the checkmark in the formula bar.</a:t>
            </a:r>
          </a:p>
        </p:txBody>
      </p:sp>
      <p:pic>
        <p:nvPicPr>
          <p:cNvPr id="18434" name="Picture 2" descr="C:\Users\UCCSMS1\Desktop\images\simple_edit_ent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772816"/>
            <a:ext cx="6840760"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0418882"/>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How to </a:t>
            </a:r>
            <a:r>
              <a:rPr lang="en-GB" sz="3200" dirty="0"/>
              <a:t>edit a formula</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The formula will be updated, and the new value will be displayed in the cell.</a:t>
            </a:r>
          </a:p>
          <a:p>
            <a:pPr marL="0" indent="0" algn="just">
              <a:buNone/>
            </a:pPr>
            <a:endParaRPr lang="en-GB" sz="2400" dirty="0"/>
          </a:p>
        </p:txBody>
      </p:sp>
      <p:pic>
        <p:nvPicPr>
          <p:cNvPr id="19458" name="Picture 2" descr="C:\Users\UCCSMS1\Desktop\images\simple_edit_don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628800"/>
            <a:ext cx="7416824" cy="4968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108446"/>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Complex Formulas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A simple formula is a mathematical expression with one operator, such as </a:t>
            </a:r>
            <a:r>
              <a:rPr lang="en-GB" sz="2800" b="1" dirty="0"/>
              <a:t>7+9</a:t>
            </a:r>
            <a:r>
              <a:rPr lang="en-GB" sz="2800" dirty="0"/>
              <a:t>. </a:t>
            </a:r>
            <a:endParaRPr lang="en-GB" sz="2800" dirty="0" smtClean="0"/>
          </a:p>
          <a:p>
            <a:pPr marL="0" indent="0" algn="just">
              <a:buNone/>
            </a:pPr>
            <a:endParaRPr lang="en-GB" sz="2800" dirty="0" smtClean="0"/>
          </a:p>
          <a:p>
            <a:pPr marL="0" indent="0" algn="just">
              <a:buNone/>
            </a:pPr>
            <a:r>
              <a:rPr lang="en-GB" sz="2800" dirty="0" smtClean="0"/>
              <a:t>A </a:t>
            </a:r>
            <a:r>
              <a:rPr lang="en-GB" sz="2800" dirty="0"/>
              <a:t>complex formula has more than one mathematical operator, such as </a:t>
            </a:r>
            <a:r>
              <a:rPr lang="en-GB" sz="2800" b="1" dirty="0"/>
              <a:t>5+2*8</a:t>
            </a:r>
            <a:r>
              <a:rPr lang="en-GB" sz="2800" dirty="0"/>
              <a:t>. </a:t>
            </a:r>
            <a:endParaRPr lang="en-GB" sz="2800" dirty="0" smtClean="0"/>
          </a:p>
          <a:p>
            <a:pPr marL="0" indent="0" algn="just">
              <a:buNone/>
            </a:pPr>
            <a:endParaRPr lang="en-GB" sz="2800" dirty="0" smtClean="0"/>
          </a:p>
          <a:p>
            <a:pPr marL="0" indent="0" algn="just">
              <a:buNone/>
            </a:pPr>
            <a:r>
              <a:rPr lang="en-GB" sz="2800" dirty="0"/>
              <a:t>When there is more than one operation in a formula, the order of operations tells your </a:t>
            </a:r>
            <a:r>
              <a:rPr lang="en-GB" sz="2800" dirty="0" smtClean="0"/>
              <a:t>spread sheet </a:t>
            </a:r>
            <a:r>
              <a:rPr lang="en-GB" sz="2800" dirty="0"/>
              <a:t>which operation to calculate first</a:t>
            </a:r>
            <a:r>
              <a:rPr lang="en-GB" sz="2800" dirty="0" smtClean="0"/>
              <a:t>.</a:t>
            </a:r>
          </a:p>
          <a:p>
            <a:pPr marL="0" indent="0" algn="just">
              <a:buNone/>
            </a:pPr>
            <a:endParaRPr lang="en-GB" sz="2800" dirty="0"/>
          </a:p>
          <a:p>
            <a:pPr marL="0" indent="0" algn="just">
              <a:buNone/>
            </a:pPr>
            <a:r>
              <a:rPr lang="en-GB" sz="2800" dirty="0"/>
              <a:t>In order to use complex formulas, you will need to understand the </a:t>
            </a:r>
            <a:r>
              <a:rPr lang="en-GB" sz="2800" b="1" dirty="0"/>
              <a:t>order of operations</a:t>
            </a:r>
            <a:r>
              <a:rPr lang="en-GB" sz="2800" dirty="0"/>
              <a:t>.</a:t>
            </a:r>
          </a:p>
          <a:p>
            <a:pPr marL="0" indent="0" algn="just">
              <a:buNone/>
            </a:pPr>
            <a:endParaRPr lang="en-GB" sz="2800" dirty="0"/>
          </a:p>
        </p:txBody>
      </p:sp>
    </p:spTree>
    <p:extLst>
      <p:ext uri="{BB962C8B-B14F-4D97-AF65-F5344CB8AC3E}">
        <p14:creationId xmlns:p14="http://schemas.microsoft.com/office/powerpoint/2010/main" val="337016909"/>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The order of operations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All </a:t>
            </a:r>
            <a:r>
              <a:rPr lang="en-GB" sz="2400" dirty="0" smtClean="0"/>
              <a:t>spread sheet </a:t>
            </a:r>
            <a:r>
              <a:rPr lang="en-GB" sz="2400" dirty="0"/>
              <a:t>programs calculate formulas based on the following order of operations</a:t>
            </a:r>
            <a:r>
              <a:rPr lang="en-GB" sz="2400" dirty="0" smtClean="0"/>
              <a:t>:</a:t>
            </a:r>
            <a:endParaRPr lang="en-GB" sz="2400" dirty="0"/>
          </a:p>
          <a:p>
            <a:pPr marL="0" indent="0" algn="just">
              <a:buNone/>
            </a:pPr>
            <a:r>
              <a:rPr lang="en-GB" sz="2400" dirty="0"/>
              <a:t>    Operations enclosed in </a:t>
            </a:r>
            <a:r>
              <a:rPr lang="en-GB" sz="2400" b="1" dirty="0" smtClean="0">
                <a:solidFill>
                  <a:srgbClr val="FF0000"/>
                </a:solidFill>
              </a:rPr>
              <a:t>parentheses</a:t>
            </a:r>
          </a:p>
          <a:p>
            <a:pPr marL="0" indent="0" algn="just">
              <a:buNone/>
            </a:pPr>
            <a:endParaRPr lang="en-GB" sz="2400" b="1" dirty="0"/>
          </a:p>
          <a:p>
            <a:pPr marL="0" indent="0" algn="just">
              <a:buNone/>
            </a:pPr>
            <a:r>
              <a:rPr lang="en-GB" sz="2400" dirty="0">
                <a:solidFill>
                  <a:srgbClr val="FF0000"/>
                </a:solidFill>
              </a:rPr>
              <a:t>    </a:t>
            </a:r>
            <a:r>
              <a:rPr lang="en-GB" sz="2400" b="1" dirty="0">
                <a:solidFill>
                  <a:srgbClr val="FF0000"/>
                </a:solidFill>
              </a:rPr>
              <a:t>Exponential </a:t>
            </a:r>
            <a:r>
              <a:rPr lang="en-GB" sz="2400" dirty="0"/>
              <a:t>calculations (3^2, for example</a:t>
            </a:r>
            <a:r>
              <a:rPr lang="en-GB" sz="2400" dirty="0" smtClean="0"/>
              <a:t>)</a:t>
            </a:r>
          </a:p>
          <a:p>
            <a:pPr marL="0" indent="0" algn="just">
              <a:buNone/>
            </a:pPr>
            <a:endParaRPr lang="en-GB" sz="2400" dirty="0"/>
          </a:p>
          <a:p>
            <a:pPr marL="0" indent="0" algn="just">
              <a:buNone/>
            </a:pPr>
            <a:r>
              <a:rPr lang="en-GB" sz="2400" dirty="0"/>
              <a:t>    </a:t>
            </a:r>
            <a:r>
              <a:rPr lang="en-GB" sz="2400" b="1" dirty="0">
                <a:solidFill>
                  <a:srgbClr val="FF0000"/>
                </a:solidFill>
              </a:rPr>
              <a:t>Multiplication</a:t>
            </a:r>
            <a:r>
              <a:rPr lang="en-GB" sz="2400" b="1" dirty="0"/>
              <a:t> </a:t>
            </a:r>
            <a:r>
              <a:rPr lang="en-GB" sz="2400" dirty="0"/>
              <a:t>and </a:t>
            </a:r>
            <a:r>
              <a:rPr lang="en-GB" sz="2400" b="1" dirty="0">
                <a:solidFill>
                  <a:srgbClr val="FF0000"/>
                </a:solidFill>
              </a:rPr>
              <a:t>division</a:t>
            </a:r>
            <a:r>
              <a:rPr lang="en-GB" sz="2400" dirty="0"/>
              <a:t>, whichever comes </a:t>
            </a:r>
            <a:r>
              <a:rPr lang="en-GB" sz="2400" dirty="0" smtClean="0"/>
              <a:t>first</a:t>
            </a:r>
          </a:p>
          <a:p>
            <a:pPr marL="0" indent="0" algn="just">
              <a:buNone/>
            </a:pPr>
            <a:endParaRPr lang="en-GB" sz="2400" dirty="0"/>
          </a:p>
          <a:p>
            <a:pPr marL="0" indent="0" algn="just">
              <a:buNone/>
            </a:pPr>
            <a:r>
              <a:rPr lang="en-GB" sz="2400" dirty="0"/>
              <a:t>    </a:t>
            </a:r>
            <a:r>
              <a:rPr lang="en-GB" sz="2400" b="1" dirty="0">
                <a:solidFill>
                  <a:srgbClr val="FF0000"/>
                </a:solidFill>
              </a:rPr>
              <a:t>Addition</a:t>
            </a:r>
            <a:r>
              <a:rPr lang="en-GB" sz="2400" b="1" dirty="0"/>
              <a:t> </a:t>
            </a:r>
            <a:r>
              <a:rPr lang="en-GB" sz="2400" dirty="0"/>
              <a:t>and </a:t>
            </a:r>
            <a:r>
              <a:rPr lang="en-GB" sz="2400" b="1" dirty="0">
                <a:solidFill>
                  <a:srgbClr val="FF0000"/>
                </a:solidFill>
              </a:rPr>
              <a:t>subtraction</a:t>
            </a:r>
            <a:r>
              <a:rPr lang="en-GB" sz="2400" dirty="0"/>
              <a:t>, whichever comes </a:t>
            </a:r>
            <a:r>
              <a:rPr lang="en-GB" sz="2400" dirty="0" smtClean="0"/>
              <a:t>first</a:t>
            </a:r>
          </a:p>
          <a:p>
            <a:pPr marL="0" indent="0" algn="just">
              <a:buNone/>
            </a:pPr>
            <a:endParaRPr lang="en-GB" sz="2400" dirty="0"/>
          </a:p>
          <a:p>
            <a:pPr marL="0" indent="0" algn="just">
              <a:buNone/>
            </a:pPr>
            <a:r>
              <a:rPr lang="en-GB" sz="2400" dirty="0"/>
              <a:t>A mnemonic that can help you remember the order is </a:t>
            </a:r>
            <a:r>
              <a:rPr lang="en-GB" sz="2400" b="1" dirty="0">
                <a:solidFill>
                  <a:srgbClr val="FF0000"/>
                </a:solidFill>
              </a:rPr>
              <a:t>PEMDAS</a:t>
            </a:r>
            <a:r>
              <a:rPr lang="en-GB" sz="2400" dirty="0"/>
              <a:t>, or Please </a:t>
            </a:r>
            <a:r>
              <a:rPr lang="en-GB" sz="2400" b="1" dirty="0">
                <a:solidFill>
                  <a:srgbClr val="FF0000"/>
                </a:solidFill>
              </a:rPr>
              <a:t>E</a:t>
            </a:r>
            <a:r>
              <a:rPr lang="en-GB" sz="2400" b="1" dirty="0"/>
              <a:t>xcuse </a:t>
            </a:r>
            <a:r>
              <a:rPr lang="en-GB" sz="2400" b="1" dirty="0">
                <a:solidFill>
                  <a:srgbClr val="FF0000"/>
                </a:solidFill>
              </a:rPr>
              <a:t>M</a:t>
            </a:r>
            <a:r>
              <a:rPr lang="en-GB" sz="2400" b="1" dirty="0"/>
              <a:t>y </a:t>
            </a:r>
            <a:r>
              <a:rPr lang="en-GB" sz="2400" b="1" dirty="0">
                <a:solidFill>
                  <a:srgbClr val="FF0000"/>
                </a:solidFill>
              </a:rPr>
              <a:t>D</a:t>
            </a:r>
            <a:r>
              <a:rPr lang="en-GB" sz="2400" b="1" dirty="0"/>
              <a:t>ear </a:t>
            </a:r>
            <a:r>
              <a:rPr lang="en-GB" sz="2400" b="1" dirty="0">
                <a:solidFill>
                  <a:srgbClr val="FF0000"/>
                </a:solidFill>
              </a:rPr>
              <a:t>A</a:t>
            </a:r>
            <a:r>
              <a:rPr lang="en-GB" sz="2400" b="1" dirty="0"/>
              <a:t>unt </a:t>
            </a:r>
            <a:r>
              <a:rPr lang="en-GB" sz="2400" b="1" dirty="0">
                <a:solidFill>
                  <a:srgbClr val="FF0000"/>
                </a:solidFill>
              </a:rPr>
              <a:t>S</a:t>
            </a:r>
            <a:r>
              <a:rPr lang="en-GB" sz="2400" b="1" dirty="0"/>
              <a:t>ally</a:t>
            </a:r>
            <a:r>
              <a:rPr lang="en-GB" sz="2400" dirty="0"/>
              <a:t>.</a:t>
            </a:r>
          </a:p>
        </p:txBody>
      </p:sp>
    </p:spTree>
    <p:extLst>
      <p:ext uri="{BB962C8B-B14F-4D97-AF65-F5344CB8AC3E}">
        <p14:creationId xmlns:p14="http://schemas.microsoft.com/office/powerpoint/2010/main" val="3519299879"/>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The order of operations</a:t>
            </a:r>
          </a:p>
        </p:txBody>
      </p:sp>
      <p:pic>
        <p:nvPicPr>
          <p:cNvPr id="33794" name="Picture 2" descr="C:\Users\UCCSMS1\Desktop\images\complex_order_final_0.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55576" y="692696"/>
            <a:ext cx="7315200" cy="2808312"/>
          </a:xfrm>
          <a:prstGeom prst="rect">
            <a:avLst/>
          </a:prstGeom>
          <a:noFill/>
          <a:extLst>
            <a:ext uri="{909E8E84-426E-40DD-AFC4-6F175D3DCCD1}">
              <a14:hiddenFill xmlns:a14="http://schemas.microsoft.com/office/drawing/2010/main">
                <a:solidFill>
                  <a:srgbClr val="FFFFFF"/>
                </a:solidFill>
              </a14:hiddenFill>
            </a:ext>
          </a:extLst>
        </p:spPr>
      </p:pic>
      <p:pic>
        <p:nvPicPr>
          <p:cNvPr id="33795" name="Picture 3" descr="C:\Users\UCCSMS1\Desktop\images\complex_order_final_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491" y="3717032"/>
            <a:ext cx="7435901"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681901"/>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The order of operations</a:t>
            </a:r>
          </a:p>
        </p:txBody>
      </p:sp>
      <p:pic>
        <p:nvPicPr>
          <p:cNvPr id="34819" name="Picture 3" descr="C:\Users\UCCSMS1\Desktop\images\complex_order_final_2.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27584" y="908720"/>
            <a:ext cx="7315200" cy="2664296"/>
          </a:xfrm>
          <a:prstGeom prst="rect">
            <a:avLst/>
          </a:prstGeom>
          <a:noFill/>
          <a:extLst>
            <a:ext uri="{909E8E84-426E-40DD-AFC4-6F175D3DCCD1}">
              <a14:hiddenFill xmlns:a14="http://schemas.microsoft.com/office/drawing/2010/main">
                <a:solidFill>
                  <a:srgbClr val="FFFFFF"/>
                </a:solidFill>
              </a14:hiddenFill>
            </a:ext>
          </a:extLst>
        </p:spPr>
      </p:pic>
      <p:pic>
        <p:nvPicPr>
          <p:cNvPr id="34820" name="Picture 4" descr="C:\Users\UCCSMS1\Desktop\images\complex_order_final_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3789040"/>
            <a:ext cx="7632848" cy="2921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997562"/>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The order of operations</a:t>
            </a:r>
          </a:p>
        </p:txBody>
      </p:sp>
      <p:pic>
        <p:nvPicPr>
          <p:cNvPr id="35842" name="Picture 2" descr="C:\Users\UCCSMS1\Desktop\images\complex_order_final_4.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27584" y="764704"/>
            <a:ext cx="7315200" cy="2592288"/>
          </a:xfrm>
          <a:prstGeom prst="rect">
            <a:avLst/>
          </a:prstGeom>
          <a:noFill/>
          <a:extLst>
            <a:ext uri="{909E8E84-426E-40DD-AFC4-6F175D3DCCD1}">
              <a14:hiddenFill xmlns:a14="http://schemas.microsoft.com/office/drawing/2010/main">
                <a:solidFill>
                  <a:srgbClr val="FFFFFF"/>
                </a:solidFill>
              </a14:hiddenFill>
            </a:ext>
          </a:extLst>
        </p:spPr>
      </p:pic>
      <p:pic>
        <p:nvPicPr>
          <p:cNvPr id="35843" name="Picture 3" descr="C:\Users\UCCSMS1\Desktop\images\complex_order_final_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645024"/>
            <a:ext cx="7315200" cy="280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468308"/>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The order of operations</a:t>
            </a:r>
          </a:p>
        </p:txBody>
      </p:sp>
      <p:pic>
        <p:nvPicPr>
          <p:cNvPr id="36866" name="Picture 2" descr="C:\Users\UCCSMS1\Desktop\images\complex_order_final_6.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55576" y="836712"/>
            <a:ext cx="7315200" cy="2592288"/>
          </a:xfrm>
          <a:prstGeom prst="rect">
            <a:avLst/>
          </a:prstGeom>
          <a:noFill/>
          <a:extLst>
            <a:ext uri="{909E8E84-426E-40DD-AFC4-6F175D3DCCD1}">
              <a14:hiddenFill xmlns:a14="http://schemas.microsoft.com/office/drawing/2010/main">
                <a:solidFill>
                  <a:srgbClr val="FFFFFF"/>
                </a:solidFill>
              </a14:hiddenFill>
            </a:ext>
          </a:extLst>
        </p:spPr>
      </p:pic>
      <p:pic>
        <p:nvPicPr>
          <p:cNvPr id="36867" name="Picture 3" descr="C:\Users\UCCSMS1\Desktop\images\complex_order_final_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3717032"/>
            <a:ext cx="7315200" cy="259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476234"/>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Relative and Absolute Cell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endParaRPr lang="en-GB" sz="2400" dirty="0" smtClean="0"/>
          </a:p>
          <a:p>
            <a:pPr marL="0" indent="0" algn="just">
              <a:buNone/>
            </a:pPr>
            <a:r>
              <a:rPr lang="en-GB" sz="2800" b="1" dirty="0" smtClean="0"/>
              <a:t>Relative </a:t>
            </a:r>
            <a:r>
              <a:rPr lang="en-GB" sz="2800" b="1" dirty="0"/>
              <a:t>references </a:t>
            </a:r>
            <a:r>
              <a:rPr lang="en-GB" sz="2800" dirty="0"/>
              <a:t>change when a formula is copied to another cell. </a:t>
            </a:r>
            <a:endParaRPr lang="en-GB" sz="2800" dirty="0" smtClean="0"/>
          </a:p>
          <a:p>
            <a:pPr marL="0" indent="0" algn="just">
              <a:buNone/>
            </a:pPr>
            <a:endParaRPr lang="en-GB" sz="2800" dirty="0"/>
          </a:p>
          <a:p>
            <a:pPr marL="0" indent="0" algn="just">
              <a:buNone/>
            </a:pPr>
            <a:endParaRPr lang="en-GB" sz="2800" dirty="0" smtClean="0"/>
          </a:p>
          <a:p>
            <a:pPr marL="0" indent="0" algn="just">
              <a:buNone/>
            </a:pPr>
            <a:r>
              <a:rPr lang="en-GB" sz="2800" b="1" dirty="0" smtClean="0"/>
              <a:t>Absolute </a:t>
            </a:r>
            <a:r>
              <a:rPr lang="en-GB" sz="2800" b="1" dirty="0"/>
              <a:t>references</a:t>
            </a:r>
            <a:r>
              <a:rPr lang="en-GB" sz="2800" dirty="0"/>
              <a:t>, on the other hand, remain constant, no matter where they are copied.</a:t>
            </a:r>
          </a:p>
        </p:txBody>
      </p:sp>
    </p:spTree>
    <p:extLst>
      <p:ext uri="{BB962C8B-B14F-4D97-AF65-F5344CB8AC3E}">
        <p14:creationId xmlns:p14="http://schemas.microsoft.com/office/powerpoint/2010/main" val="314742211"/>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Relative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By default, all cell references are </a:t>
            </a:r>
            <a:r>
              <a:rPr lang="en-GB" sz="2800" b="1" dirty="0"/>
              <a:t>relative references</a:t>
            </a:r>
            <a:r>
              <a:rPr lang="en-GB" sz="2800" dirty="0" smtClean="0"/>
              <a:t>.</a:t>
            </a:r>
          </a:p>
          <a:p>
            <a:pPr marL="0" indent="0" algn="just">
              <a:buNone/>
            </a:pPr>
            <a:endParaRPr lang="en-GB" sz="2800" dirty="0"/>
          </a:p>
          <a:p>
            <a:pPr marL="0" indent="0" algn="just">
              <a:buNone/>
            </a:pPr>
            <a:r>
              <a:rPr lang="en-GB" sz="2800" dirty="0" smtClean="0"/>
              <a:t>When </a:t>
            </a:r>
            <a:r>
              <a:rPr lang="en-GB" sz="2800" dirty="0"/>
              <a:t>copied across multiple cells, they change based on the relative position of rows and columns</a:t>
            </a:r>
            <a:r>
              <a:rPr lang="en-GB" sz="2800" dirty="0" smtClean="0"/>
              <a:t>.</a:t>
            </a:r>
          </a:p>
          <a:p>
            <a:pPr marL="0" indent="0" algn="just">
              <a:buNone/>
            </a:pPr>
            <a:endParaRPr lang="en-GB" sz="2800" dirty="0"/>
          </a:p>
          <a:p>
            <a:pPr marL="0" indent="0" algn="just">
              <a:buNone/>
            </a:pPr>
            <a:r>
              <a:rPr lang="en-GB" sz="2800" dirty="0"/>
              <a:t>For example, if you copy the formula </a:t>
            </a:r>
            <a:r>
              <a:rPr lang="en-GB" sz="2800" b="1" dirty="0"/>
              <a:t>=A1+B1 </a:t>
            </a:r>
            <a:r>
              <a:rPr lang="en-GB" sz="2800" dirty="0"/>
              <a:t>from row 1 to row 2, the formula will become </a:t>
            </a:r>
            <a:r>
              <a:rPr lang="en-GB" sz="2800" b="1" dirty="0"/>
              <a:t>=A2+B2</a:t>
            </a:r>
            <a:r>
              <a:rPr lang="en-GB" sz="2800" dirty="0" smtClean="0"/>
              <a:t>.</a:t>
            </a:r>
          </a:p>
          <a:p>
            <a:pPr marL="0" indent="0" algn="just">
              <a:buNone/>
            </a:pPr>
            <a:endParaRPr lang="en-GB" sz="2800" dirty="0"/>
          </a:p>
          <a:p>
            <a:pPr marL="0" indent="0" algn="just">
              <a:buNone/>
            </a:pPr>
            <a:r>
              <a:rPr lang="en-GB" sz="2800" dirty="0"/>
              <a:t>Relative references are especially convenient whenever you need to repeat the same calculation across multiple rows or columns.</a:t>
            </a:r>
          </a:p>
        </p:txBody>
      </p:sp>
    </p:spTree>
    <p:extLst>
      <p:ext uri="{BB962C8B-B14F-4D97-AF65-F5344CB8AC3E}">
        <p14:creationId xmlns:p14="http://schemas.microsoft.com/office/powerpoint/2010/main" val="3685305487"/>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a:t> </a:t>
            </a:r>
            <a:r>
              <a:rPr lang="en-GB" sz="3200" dirty="0" smtClean="0"/>
              <a:t>Create </a:t>
            </a:r>
            <a:r>
              <a:rPr lang="en-GB" sz="3200" dirty="0"/>
              <a:t>and copy a formula using relative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In the following example, we want to create a formula that will multiply each item's price by the quantity. </a:t>
            </a:r>
            <a:endParaRPr lang="en-GB" sz="2800" dirty="0" smtClean="0"/>
          </a:p>
          <a:p>
            <a:pPr marL="0" indent="0" algn="just">
              <a:buNone/>
            </a:pPr>
            <a:endParaRPr lang="en-GB" sz="2800" dirty="0"/>
          </a:p>
          <a:p>
            <a:pPr marL="0" indent="0" algn="just">
              <a:buNone/>
            </a:pPr>
            <a:r>
              <a:rPr lang="en-GB" sz="2800" dirty="0"/>
              <a:t> Instead of creating a new formula for each row, we can create a single formula in cell </a:t>
            </a:r>
            <a:r>
              <a:rPr lang="en-GB" sz="2800" b="1" dirty="0"/>
              <a:t>D2</a:t>
            </a:r>
            <a:r>
              <a:rPr lang="en-GB" sz="2800" dirty="0"/>
              <a:t> and then </a:t>
            </a:r>
            <a:r>
              <a:rPr lang="en-GB" sz="2800" b="1" dirty="0"/>
              <a:t>copy it to the other rows</a:t>
            </a:r>
            <a:r>
              <a:rPr lang="en-GB" sz="2800" dirty="0" smtClean="0"/>
              <a:t>.</a:t>
            </a:r>
          </a:p>
          <a:p>
            <a:pPr marL="0" indent="0" algn="just">
              <a:buNone/>
            </a:pPr>
            <a:endParaRPr lang="en-GB" sz="2800" dirty="0"/>
          </a:p>
          <a:p>
            <a:pPr marL="0" indent="0" algn="just">
              <a:buNone/>
            </a:pPr>
            <a:r>
              <a:rPr lang="en-GB" sz="2800" dirty="0"/>
              <a:t>We'll use relative references so the formula correctly calculates the total for each item.</a:t>
            </a:r>
          </a:p>
        </p:txBody>
      </p:sp>
    </p:spTree>
    <p:extLst>
      <p:ext uri="{BB962C8B-B14F-4D97-AF65-F5344CB8AC3E}">
        <p14:creationId xmlns:p14="http://schemas.microsoft.com/office/powerpoint/2010/main" val="1709070526"/>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a:t> </a:t>
            </a:r>
            <a:r>
              <a:rPr lang="en-GB" sz="3200" dirty="0" smtClean="0"/>
              <a:t>Create </a:t>
            </a:r>
            <a:r>
              <a:rPr lang="en-GB" sz="3200" dirty="0"/>
              <a:t>and copy a formula using relative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Select the </a:t>
            </a:r>
            <a:r>
              <a:rPr lang="en-GB" sz="2800" b="1" dirty="0"/>
              <a:t>cell</a:t>
            </a:r>
            <a:r>
              <a:rPr lang="en-GB" sz="2800" dirty="0"/>
              <a:t> that will contain the formula. In our example, we'll select cell </a:t>
            </a:r>
            <a:r>
              <a:rPr lang="en-GB" sz="2800" b="1" dirty="0"/>
              <a:t>D2</a:t>
            </a:r>
            <a:r>
              <a:rPr lang="en-GB" sz="2800" dirty="0"/>
              <a:t>.</a:t>
            </a:r>
          </a:p>
        </p:txBody>
      </p:sp>
      <p:pic>
        <p:nvPicPr>
          <p:cNvPr id="20482" name="Picture 2" descr="C:\Users\UCCSMS1\Desktop\images\reference_relative2_selec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7" y="1772816"/>
            <a:ext cx="7704856" cy="482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974895"/>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a:t> </a:t>
            </a:r>
            <a:r>
              <a:rPr lang="en-GB" sz="3200" dirty="0" smtClean="0"/>
              <a:t>Create </a:t>
            </a:r>
            <a:r>
              <a:rPr lang="en-GB" sz="3200" dirty="0"/>
              <a:t>and copy a formula using relative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Enter the formula to calculate the desired value. In our example, we'll type </a:t>
            </a:r>
            <a:r>
              <a:rPr lang="en-GB" sz="2800" b="1" dirty="0"/>
              <a:t>=</a:t>
            </a:r>
            <a:r>
              <a:rPr lang="en-GB" sz="2800" b="1" dirty="0" smtClean="0"/>
              <a:t>B2*C2</a:t>
            </a:r>
            <a:r>
              <a:rPr lang="en-GB" sz="2800" dirty="0" smtClean="0"/>
              <a:t>.</a:t>
            </a:r>
            <a:endParaRPr lang="en-GB" sz="2800" dirty="0"/>
          </a:p>
        </p:txBody>
      </p:sp>
      <p:pic>
        <p:nvPicPr>
          <p:cNvPr id="21506" name="Picture 2" descr="C:\Users\UCCSMS1\Desktop\images\reference_relative2_formul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916832"/>
            <a:ext cx="7632848"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779452"/>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a:t> </a:t>
            </a:r>
            <a:r>
              <a:rPr lang="en-GB" sz="3200" dirty="0" smtClean="0"/>
              <a:t>Create </a:t>
            </a:r>
            <a:r>
              <a:rPr lang="en-GB" sz="3200" dirty="0"/>
              <a:t>and copy a formula using relative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Press </a:t>
            </a:r>
            <a:r>
              <a:rPr lang="en-GB" sz="2400" b="1" dirty="0"/>
              <a:t>Enter</a:t>
            </a:r>
            <a:r>
              <a:rPr lang="en-GB" sz="2400" dirty="0"/>
              <a:t> on your keyboard. The formula will be </a:t>
            </a:r>
            <a:r>
              <a:rPr lang="en-GB" sz="2400" b="1" dirty="0"/>
              <a:t>calculated</a:t>
            </a:r>
            <a:r>
              <a:rPr lang="en-GB" sz="2400" dirty="0"/>
              <a:t>, and the result will be displayed in the </a:t>
            </a:r>
            <a:r>
              <a:rPr lang="en-GB" sz="2400" dirty="0" smtClean="0"/>
              <a:t>cell.</a:t>
            </a:r>
          </a:p>
          <a:p>
            <a:pPr marL="0" indent="0" algn="just">
              <a:buNone/>
            </a:pPr>
            <a:r>
              <a:rPr lang="en-GB" sz="2400" dirty="0" smtClean="0"/>
              <a:t>Locate </a:t>
            </a:r>
            <a:r>
              <a:rPr lang="en-GB" sz="2400" dirty="0"/>
              <a:t>the </a:t>
            </a:r>
            <a:r>
              <a:rPr lang="en-GB" sz="2400" b="1" dirty="0"/>
              <a:t>fill handle </a:t>
            </a:r>
            <a:r>
              <a:rPr lang="en-GB" sz="2400" dirty="0"/>
              <a:t>in the </a:t>
            </a:r>
            <a:r>
              <a:rPr lang="en-GB" sz="2400" b="1" dirty="0"/>
              <a:t>bottom-right corner</a:t>
            </a:r>
            <a:r>
              <a:rPr lang="en-GB" sz="2400" dirty="0"/>
              <a:t> of the desired cell. In our example, we'll locate the fill handle for cell </a:t>
            </a:r>
            <a:r>
              <a:rPr lang="en-GB" sz="2400" b="1" dirty="0"/>
              <a:t>D2</a:t>
            </a:r>
            <a:r>
              <a:rPr lang="en-GB" sz="2400" dirty="0"/>
              <a:t>.</a:t>
            </a:r>
          </a:p>
          <a:p>
            <a:pPr marL="0" indent="0" algn="just">
              <a:buNone/>
            </a:pPr>
            <a:endParaRPr lang="en-GB" sz="2800" dirty="0"/>
          </a:p>
        </p:txBody>
      </p:sp>
      <p:pic>
        <p:nvPicPr>
          <p:cNvPr id="22530" name="Picture 2" descr="C:\Users\UCCSMS1\Desktop\images\reference_relative2_fill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492896"/>
            <a:ext cx="6696744" cy="4221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373849"/>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a:t> </a:t>
            </a:r>
            <a:r>
              <a:rPr lang="en-GB" sz="3200" dirty="0" smtClean="0"/>
              <a:t>Create </a:t>
            </a:r>
            <a:r>
              <a:rPr lang="en-GB" sz="3200" dirty="0"/>
              <a:t>and copy a formula using relative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Click, hold, and drag the </a:t>
            </a:r>
            <a:r>
              <a:rPr lang="en-GB" sz="2400" b="1" dirty="0"/>
              <a:t>fill handle </a:t>
            </a:r>
            <a:r>
              <a:rPr lang="en-GB" sz="2400" dirty="0"/>
              <a:t>over the cells you want to fill. In our example, we'll select cells </a:t>
            </a:r>
            <a:r>
              <a:rPr lang="en-GB" sz="2400" b="1" dirty="0"/>
              <a:t>D3:D12</a:t>
            </a:r>
            <a:r>
              <a:rPr lang="en-GB" sz="2400" dirty="0"/>
              <a:t>.</a:t>
            </a:r>
            <a:endParaRPr lang="en-GB" sz="2800" dirty="0"/>
          </a:p>
        </p:txBody>
      </p:sp>
      <p:pic>
        <p:nvPicPr>
          <p:cNvPr id="23554" name="Picture 2" descr="C:\Users\UCCSMS1\Desktop\images\reference_relative2_drag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700808"/>
            <a:ext cx="7272808" cy="4968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012464"/>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a:t> </a:t>
            </a:r>
            <a:r>
              <a:rPr lang="en-GB" sz="3200" dirty="0" smtClean="0"/>
              <a:t>Create </a:t>
            </a:r>
            <a:r>
              <a:rPr lang="en-GB" sz="3200" dirty="0"/>
              <a:t>and copy a formula using relative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Release the mouse. The formula will be copied to the selected cells with </a:t>
            </a:r>
            <a:r>
              <a:rPr lang="en-GB" sz="2400" b="1" dirty="0"/>
              <a:t>relative references</a:t>
            </a:r>
            <a:r>
              <a:rPr lang="en-GB" sz="2400" dirty="0"/>
              <a:t>, and the values will be calculated in each cell.</a:t>
            </a:r>
            <a:endParaRPr lang="en-GB" sz="2800" dirty="0"/>
          </a:p>
        </p:txBody>
      </p:sp>
      <p:pic>
        <p:nvPicPr>
          <p:cNvPr id="24578" name="Picture 2" descr="C:\Users\UCCSMS1\Desktop\images\reference_relative2_don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7" y="1700808"/>
            <a:ext cx="7848872" cy="489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8458686"/>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a:t> </a:t>
            </a:r>
            <a:r>
              <a:rPr lang="en-GB" sz="3200" dirty="0" smtClean="0"/>
              <a:t>Create </a:t>
            </a:r>
            <a:r>
              <a:rPr lang="en-GB" sz="3200" dirty="0"/>
              <a:t>and copy a formula using relative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You can </a:t>
            </a:r>
            <a:r>
              <a:rPr lang="en-GB" sz="2400" b="1" dirty="0"/>
              <a:t>double-click</a:t>
            </a:r>
            <a:r>
              <a:rPr lang="en-GB" sz="2400" dirty="0"/>
              <a:t> the filled cells to check their formulas for accuracy. </a:t>
            </a:r>
            <a:endParaRPr lang="en-GB" sz="2400" dirty="0" smtClean="0"/>
          </a:p>
          <a:p>
            <a:pPr marL="0" indent="0" algn="just">
              <a:buNone/>
            </a:pPr>
            <a:r>
              <a:rPr lang="en-GB" sz="2400" dirty="0" smtClean="0"/>
              <a:t>The </a:t>
            </a:r>
            <a:r>
              <a:rPr lang="en-GB" sz="2400" dirty="0"/>
              <a:t>relative cell references should be different for each cell, depending on their rows.</a:t>
            </a:r>
            <a:endParaRPr lang="en-GB" sz="2800" dirty="0"/>
          </a:p>
        </p:txBody>
      </p:sp>
      <p:pic>
        <p:nvPicPr>
          <p:cNvPr id="25602" name="Picture 2" descr="C:\Users\UCCSMS1\Desktop\images\reference_relative2_spla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564904"/>
            <a:ext cx="7488832"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49813"/>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 Absolute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A</a:t>
            </a:r>
            <a:r>
              <a:rPr lang="en-GB" sz="2400" dirty="0" smtClean="0"/>
              <a:t>bsolute </a:t>
            </a:r>
            <a:r>
              <a:rPr lang="en-GB" sz="2400" dirty="0"/>
              <a:t>references </a:t>
            </a:r>
            <a:r>
              <a:rPr lang="en-GB" sz="2400" b="1" dirty="0"/>
              <a:t>do not change </a:t>
            </a:r>
            <a:r>
              <a:rPr lang="en-GB" sz="2400" dirty="0"/>
              <a:t>when copied or filled. </a:t>
            </a:r>
          </a:p>
          <a:p>
            <a:pPr marL="0" indent="0" algn="just">
              <a:buNone/>
            </a:pPr>
            <a:r>
              <a:rPr lang="en-GB" sz="2400" dirty="0"/>
              <a:t>An absolute reference is designated in a formula by the addition of a </a:t>
            </a:r>
            <a:r>
              <a:rPr lang="en-GB" sz="2400" b="1" dirty="0"/>
              <a:t>dollar sign ($) </a:t>
            </a:r>
            <a:r>
              <a:rPr lang="en-GB" sz="2400" dirty="0"/>
              <a:t>before the column and row. </a:t>
            </a:r>
            <a:endParaRPr lang="en-GB" sz="2400" dirty="0" smtClean="0"/>
          </a:p>
          <a:p>
            <a:pPr marL="0" indent="0" algn="just">
              <a:buNone/>
            </a:pPr>
            <a:r>
              <a:rPr lang="en-GB" sz="2400" dirty="0"/>
              <a:t>If it precedes the column or row (but not both), it's known as a </a:t>
            </a:r>
            <a:r>
              <a:rPr lang="en-GB" sz="2400" b="1" dirty="0"/>
              <a:t>mixed reference</a:t>
            </a:r>
            <a:r>
              <a:rPr lang="en-GB" sz="2400" dirty="0"/>
              <a:t>. </a:t>
            </a:r>
            <a:endParaRPr lang="en-GB" sz="2400" dirty="0" smtClean="0"/>
          </a:p>
          <a:p>
            <a:pPr marL="0" indent="0" algn="just">
              <a:buNone/>
            </a:pPr>
            <a:r>
              <a:rPr lang="en-GB" sz="2400" dirty="0" smtClean="0"/>
              <a:t>When </a:t>
            </a:r>
            <a:r>
              <a:rPr lang="en-GB" sz="2400" dirty="0"/>
              <a:t>writing a formula in Microsoft Excel, you can press the </a:t>
            </a:r>
            <a:r>
              <a:rPr lang="en-GB" sz="2400" b="1" dirty="0"/>
              <a:t>F4 </a:t>
            </a:r>
            <a:r>
              <a:rPr lang="en-GB" sz="2400" dirty="0"/>
              <a:t>key on your keyboard to switch between </a:t>
            </a:r>
            <a:r>
              <a:rPr lang="en-GB" sz="2400" b="1" dirty="0"/>
              <a:t>relative</a:t>
            </a:r>
            <a:r>
              <a:rPr lang="en-GB" sz="2400" dirty="0"/>
              <a:t>, </a:t>
            </a:r>
            <a:r>
              <a:rPr lang="en-GB" sz="2400" b="1" dirty="0"/>
              <a:t>absolute</a:t>
            </a:r>
            <a:r>
              <a:rPr lang="en-GB" sz="2400" dirty="0"/>
              <a:t>, and </a:t>
            </a:r>
            <a:r>
              <a:rPr lang="en-GB" sz="2400" b="1" dirty="0"/>
              <a:t>mixed cell </a:t>
            </a:r>
            <a:r>
              <a:rPr lang="en-GB" sz="2400" b="1" dirty="0" smtClean="0"/>
              <a:t>references.</a:t>
            </a:r>
            <a:endParaRPr lang="en-GB" sz="2400" b="1" dirty="0"/>
          </a:p>
          <a:p>
            <a:pPr marL="0" indent="0" algn="just">
              <a:buNone/>
            </a:pPr>
            <a:endParaRPr lang="en-GB" sz="2800" dirty="0"/>
          </a:p>
        </p:txBody>
      </p:sp>
      <p:pic>
        <p:nvPicPr>
          <p:cNvPr id="26626" name="Picture 2" descr="C:\Users\UCCSMS1\Desktop\images\absorel_tab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4149080"/>
            <a:ext cx="7704856"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881857"/>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smtClean="0"/>
              <a:t>Create </a:t>
            </a:r>
            <a:r>
              <a:rPr lang="en-GB" sz="3200" dirty="0"/>
              <a:t>and copy a formula using absolute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In our example, we'll use the </a:t>
            </a:r>
            <a:r>
              <a:rPr lang="en-GB" sz="2400" b="1" dirty="0"/>
              <a:t>7.5%</a:t>
            </a:r>
            <a:r>
              <a:rPr lang="en-GB" sz="2400" dirty="0"/>
              <a:t> sales tax rate in cell </a:t>
            </a:r>
            <a:r>
              <a:rPr lang="en-GB" sz="2400" b="1" dirty="0"/>
              <a:t>E1</a:t>
            </a:r>
            <a:r>
              <a:rPr lang="en-GB" sz="2400" dirty="0"/>
              <a:t> to calculate the sales tax for all items in column </a:t>
            </a:r>
            <a:r>
              <a:rPr lang="en-GB" sz="2400" b="1" dirty="0"/>
              <a:t>D</a:t>
            </a:r>
            <a:r>
              <a:rPr lang="en-GB" sz="2400" dirty="0"/>
              <a:t>. </a:t>
            </a:r>
            <a:endParaRPr lang="en-GB" sz="2400" dirty="0" smtClean="0"/>
          </a:p>
          <a:p>
            <a:pPr marL="0" indent="0" algn="just">
              <a:buNone/>
            </a:pPr>
            <a:endParaRPr lang="en-GB" sz="2400" dirty="0"/>
          </a:p>
          <a:p>
            <a:pPr marL="0" indent="0" algn="just">
              <a:buNone/>
            </a:pPr>
            <a:r>
              <a:rPr lang="en-GB" sz="2400" dirty="0" smtClean="0"/>
              <a:t>We'll </a:t>
            </a:r>
            <a:r>
              <a:rPr lang="en-GB" sz="2400" dirty="0"/>
              <a:t>need to use the absolute cell reference </a:t>
            </a:r>
            <a:r>
              <a:rPr lang="en-GB" sz="2400" b="1" dirty="0"/>
              <a:t>$E$1 </a:t>
            </a:r>
            <a:r>
              <a:rPr lang="en-GB" sz="2400" dirty="0"/>
              <a:t>in our formula</a:t>
            </a:r>
            <a:r>
              <a:rPr lang="en-GB" sz="2400" dirty="0" smtClean="0"/>
              <a:t>.</a:t>
            </a:r>
          </a:p>
          <a:p>
            <a:pPr marL="0" indent="0" algn="just">
              <a:buNone/>
            </a:pPr>
            <a:endParaRPr lang="en-GB" sz="2400" dirty="0" smtClean="0"/>
          </a:p>
          <a:p>
            <a:pPr marL="0" indent="0" algn="just">
              <a:buNone/>
            </a:pPr>
            <a:r>
              <a:rPr lang="en-GB" sz="2400" dirty="0"/>
              <a:t>Because each formula is using the same </a:t>
            </a:r>
            <a:r>
              <a:rPr lang="en-GB" sz="2400" b="1" dirty="0"/>
              <a:t>tax rate</a:t>
            </a:r>
            <a:r>
              <a:rPr lang="en-GB" sz="2400" dirty="0"/>
              <a:t>, we want that reference to remain </a:t>
            </a:r>
            <a:r>
              <a:rPr lang="en-GB" sz="2400" b="1" dirty="0"/>
              <a:t>constant</a:t>
            </a:r>
            <a:r>
              <a:rPr lang="en-GB" sz="2400" dirty="0"/>
              <a:t> when the formula is copied and filled to other cells in column D.</a:t>
            </a:r>
          </a:p>
          <a:p>
            <a:pPr marL="0" indent="0" algn="just">
              <a:buNone/>
            </a:pPr>
            <a:endParaRPr lang="en-GB" sz="2400" dirty="0"/>
          </a:p>
        </p:txBody>
      </p:sp>
    </p:spTree>
    <p:extLst>
      <p:ext uri="{BB962C8B-B14F-4D97-AF65-F5344CB8AC3E}">
        <p14:creationId xmlns:p14="http://schemas.microsoft.com/office/powerpoint/2010/main" val="1054482276"/>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a:t>C</a:t>
            </a:r>
            <a:r>
              <a:rPr lang="en-GB" sz="3200" dirty="0" smtClean="0"/>
              <a:t>reate </a:t>
            </a:r>
            <a:r>
              <a:rPr lang="en-GB" sz="3200" dirty="0"/>
              <a:t>and copy a formula using absolute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Select the cell that will contain the formula. In our example, we'll select cell </a:t>
            </a:r>
            <a:r>
              <a:rPr lang="en-GB" sz="2400" b="1" dirty="0"/>
              <a:t>D3</a:t>
            </a:r>
            <a:r>
              <a:rPr lang="en-GB" sz="2400" dirty="0"/>
              <a:t>.</a:t>
            </a:r>
          </a:p>
        </p:txBody>
      </p:sp>
      <p:pic>
        <p:nvPicPr>
          <p:cNvPr id="27650" name="Picture 2" descr="C:\Users\UCCSMS1\Desktop\images\reference_absolute2_selec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916832"/>
            <a:ext cx="7704856"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663700"/>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smtClean="0"/>
              <a:t>Create </a:t>
            </a:r>
            <a:r>
              <a:rPr lang="en-GB" sz="3200" dirty="0"/>
              <a:t>and copy a formula using absolute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Enter the formula to calculate the desired value. In our example, we'll type </a:t>
            </a:r>
            <a:r>
              <a:rPr lang="en-GB" sz="2400" b="1" dirty="0"/>
              <a:t>=(B3*C3)*$E$1</a:t>
            </a:r>
            <a:r>
              <a:rPr lang="en-GB" sz="2400" dirty="0"/>
              <a:t>.</a:t>
            </a:r>
          </a:p>
        </p:txBody>
      </p:sp>
      <p:pic>
        <p:nvPicPr>
          <p:cNvPr id="28674" name="Picture 2" descr="C:\Users\UCCSMS1\Desktop\images\reference_absolute2_formul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700808"/>
            <a:ext cx="7200800" cy="482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587088"/>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smtClean="0"/>
              <a:t>Create </a:t>
            </a:r>
            <a:r>
              <a:rPr lang="en-GB" sz="3200" dirty="0"/>
              <a:t>and copy a formula using absolute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Press </a:t>
            </a:r>
            <a:r>
              <a:rPr lang="en-GB" sz="2400" b="1" dirty="0"/>
              <a:t>Enter</a:t>
            </a:r>
            <a:r>
              <a:rPr lang="en-GB" sz="2400" dirty="0"/>
              <a:t> on your keyboard. The formula will calculate, and the result will display in the cell</a:t>
            </a:r>
            <a:r>
              <a:rPr lang="en-GB" sz="2400" dirty="0" smtClean="0"/>
              <a:t>.</a:t>
            </a:r>
          </a:p>
          <a:p>
            <a:pPr marL="0" indent="0" algn="just">
              <a:buNone/>
            </a:pPr>
            <a:endParaRPr lang="en-GB" sz="2400" dirty="0"/>
          </a:p>
          <a:p>
            <a:pPr marL="0" indent="0" algn="just">
              <a:buNone/>
            </a:pPr>
            <a:r>
              <a:rPr lang="en-GB" sz="2400" dirty="0"/>
              <a:t>Locate the </a:t>
            </a:r>
            <a:r>
              <a:rPr lang="en-GB" sz="2400" b="1" dirty="0"/>
              <a:t>fill handle </a:t>
            </a:r>
            <a:r>
              <a:rPr lang="en-GB" sz="2400" dirty="0"/>
              <a:t>in the </a:t>
            </a:r>
            <a:r>
              <a:rPr lang="en-GB" sz="2400" b="1" dirty="0"/>
              <a:t>bottom-right corner </a:t>
            </a:r>
            <a:r>
              <a:rPr lang="en-GB" sz="2400" dirty="0"/>
              <a:t>of the desired cell. In our example, we'll locate the fill handle for cell </a:t>
            </a:r>
            <a:r>
              <a:rPr lang="en-GB" sz="2400" b="1" dirty="0"/>
              <a:t>D3</a:t>
            </a:r>
            <a:r>
              <a:rPr lang="en-GB" sz="2400" dirty="0"/>
              <a:t>.</a:t>
            </a:r>
          </a:p>
          <a:p>
            <a:pPr marL="0" indent="0" algn="just">
              <a:buNone/>
            </a:pPr>
            <a:endParaRPr lang="en-GB" sz="2400" dirty="0"/>
          </a:p>
        </p:txBody>
      </p:sp>
      <p:pic>
        <p:nvPicPr>
          <p:cNvPr id="29698" name="Picture 2" descr="C:\Users\UCCSMS1\Desktop\images\reference_absolute_fill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2780928"/>
            <a:ext cx="6667500" cy="3855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527118"/>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smtClean="0"/>
              <a:t>Create </a:t>
            </a:r>
            <a:r>
              <a:rPr lang="en-GB" sz="3200" dirty="0"/>
              <a:t>and copy a formula using absolute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Click, hold, and drag the fill handle over the cells you want to fill: cells </a:t>
            </a:r>
            <a:r>
              <a:rPr lang="en-GB" sz="2400" b="1" dirty="0"/>
              <a:t>D4:D13</a:t>
            </a:r>
            <a:r>
              <a:rPr lang="en-GB" sz="2400" dirty="0"/>
              <a:t> in our example.</a:t>
            </a:r>
          </a:p>
          <a:p>
            <a:pPr marL="0" indent="0" algn="just">
              <a:buNone/>
            </a:pPr>
            <a:endParaRPr lang="en-GB" sz="2400" dirty="0"/>
          </a:p>
        </p:txBody>
      </p:sp>
      <p:pic>
        <p:nvPicPr>
          <p:cNvPr id="30722" name="Picture 2" descr="C:\Users\UCCSMS1\Desktop\images\reference_absolute2_drag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916832"/>
            <a:ext cx="7366198"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683951"/>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smtClean="0"/>
              <a:t>Create </a:t>
            </a:r>
            <a:r>
              <a:rPr lang="en-GB" sz="3200" dirty="0"/>
              <a:t>and copy a formula using absolute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Release the mouse. The formula will be copied to the selected cells with an absolute reference, and the values will be calculated in each cell.</a:t>
            </a:r>
          </a:p>
        </p:txBody>
      </p:sp>
      <p:pic>
        <p:nvPicPr>
          <p:cNvPr id="31746" name="Picture 2" descr="C:\Users\UCCSMS1\Desktop\images\reference_absolute2_don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844824"/>
            <a:ext cx="7560840" cy="482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6104363"/>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sz="3200" dirty="0" smtClean="0"/>
              <a:t>Create </a:t>
            </a:r>
            <a:r>
              <a:rPr lang="en-GB" sz="3200" dirty="0"/>
              <a:t>and copy a formula using absolute references</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You can </a:t>
            </a:r>
            <a:r>
              <a:rPr lang="en-GB" sz="2400" b="1" dirty="0"/>
              <a:t>double-click</a:t>
            </a:r>
            <a:r>
              <a:rPr lang="en-GB" sz="2400" dirty="0"/>
              <a:t> the filled cells to check their formulas for accuracy. </a:t>
            </a:r>
            <a:endParaRPr lang="en-GB" sz="2400" dirty="0" smtClean="0"/>
          </a:p>
          <a:p>
            <a:pPr marL="0" indent="0" algn="just">
              <a:buNone/>
            </a:pPr>
            <a:r>
              <a:rPr lang="en-GB" sz="2400" dirty="0" smtClean="0"/>
              <a:t>The </a:t>
            </a:r>
            <a:r>
              <a:rPr lang="en-GB" sz="2400" dirty="0"/>
              <a:t>absolute reference should be the same for each cell, while the other references are relative to the cell's row.</a:t>
            </a:r>
          </a:p>
        </p:txBody>
      </p:sp>
      <p:pic>
        <p:nvPicPr>
          <p:cNvPr id="32770" name="Picture 2" descr="C:\Users\UCCSMS1\Desktop\images\reference_absolute2_splat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492896"/>
            <a:ext cx="6811516" cy="4143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384470"/>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 Excel Formulas - Functions </a:t>
            </a:r>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A </a:t>
            </a:r>
            <a:r>
              <a:rPr lang="en-GB" sz="2800" b="1" dirty="0"/>
              <a:t>function</a:t>
            </a:r>
            <a:r>
              <a:rPr lang="en-GB" sz="2800" dirty="0"/>
              <a:t> is a </a:t>
            </a:r>
            <a:r>
              <a:rPr lang="en-GB" sz="2800" b="1" dirty="0"/>
              <a:t>predefined formula </a:t>
            </a:r>
            <a:r>
              <a:rPr lang="en-GB" sz="2800" dirty="0"/>
              <a:t>that performs calculations using specific values in a particular order. </a:t>
            </a:r>
            <a:endParaRPr lang="en-GB" sz="2800" dirty="0" smtClean="0"/>
          </a:p>
          <a:p>
            <a:pPr marL="0" indent="0" algn="just">
              <a:buNone/>
            </a:pPr>
            <a:endParaRPr lang="en-GB" sz="2800" dirty="0"/>
          </a:p>
          <a:p>
            <a:pPr marL="0" indent="0" algn="just">
              <a:buNone/>
            </a:pPr>
            <a:r>
              <a:rPr lang="en-GB" sz="2800" dirty="0"/>
              <a:t>All </a:t>
            </a:r>
            <a:r>
              <a:rPr lang="en-GB" sz="2800" dirty="0" smtClean="0"/>
              <a:t>spread sheet </a:t>
            </a:r>
            <a:r>
              <a:rPr lang="en-GB" sz="2800" dirty="0"/>
              <a:t>programs include common functions that can be used for quickly finding the </a:t>
            </a:r>
            <a:r>
              <a:rPr lang="en-GB" sz="2800" b="1" dirty="0"/>
              <a:t>sum</a:t>
            </a:r>
            <a:r>
              <a:rPr lang="en-GB" sz="2800" dirty="0"/>
              <a:t>, </a:t>
            </a:r>
            <a:r>
              <a:rPr lang="en-GB" sz="2800" b="1" dirty="0"/>
              <a:t>average</a:t>
            </a:r>
            <a:r>
              <a:rPr lang="en-GB" sz="2800" dirty="0"/>
              <a:t>, </a:t>
            </a:r>
            <a:r>
              <a:rPr lang="en-GB" sz="2800" b="1" dirty="0"/>
              <a:t>count</a:t>
            </a:r>
            <a:r>
              <a:rPr lang="en-GB" sz="2800" dirty="0"/>
              <a:t>, </a:t>
            </a:r>
            <a:r>
              <a:rPr lang="en-GB" sz="2800" b="1" dirty="0"/>
              <a:t>maximum value</a:t>
            </a:r>
            <a:r>
              <a:rPr lang="en-GB" sz="2800" dirty="0"/>
              <a:t>, and </a:t>
            </a:r>
            <a:r>
              <a:rPr lang="en-GB" sz="2800" b="1" dirty="0"/>
              <a:t>minimum</a:t>
            </a:r>
            <a:r>
              <a:rPr lang="en-GB" sz="2800" dirty="0"/>
              <a:t> </a:t>
            </a:r>
            <a:r>
              <a:rPr lang="en-GB" sz="2800" b="1" dirty="0"/>
              <a:t>value</a:t>
            </a:r>
            <a:r>
              <a:rPr lang="en-GB" sz="2800" dirty="0"/>
              <a:t> for a range of cells.</a:t>
            </a:r>
          </a:p>
        </p:txBody>
      </p:sp>
    </p:spTree>
    <p:extLst>
      <p:ext uri="{BB962C8B-B14F-4D97-AF65-F5344CB8AC3E}">
        <p14:creationId xmlns:p14="http://schemas.microsoft.com/office/powerpoint/2010/main" val="2701064759"/>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The parts of a function</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In order to work correctly, a function must be written a specific way, which is called the </a:t>
            </a:r>
            <a:r>
              <a:rPr lang="en-GB" sz="2800" b="1" dirty="0"/>
              <a:t>syntax</a:t>
            </a:r>
            <a:r>
              <a:rPr lang="en-GB" sz="2800" dirty="0"/>
              <a:t>. </a:t>
            </a:r>
            <a:endParaRPr lang="en-GB" sz="2800" dirty="0" smtClean="0"/>
          </a:p>
          <a:p>
            <a:pPr marL="0" indent="0" algn="just">
              <a:buNone/>
            </a:pPr>
            <a:r>
              <a:rPr lang="en-GB" sz="2800" dirty="0"/>
              <a:t>The basic syntax for a function is an equals sign </a:t>
            </a:r>
            <a:r>
              <a:rPr lang="en-GB" sz="2800" b="1" dirty="0">
                <a:solidFill>
                  <a:srgbClr val="FF0000"/>
                </a:solidFill>
              </a:rPr>
              <a:t>(=)</a:t>
            </a:r>
            <a:r>
              <a:rPr lang="en-GB" sz="2800" dirty="0"/>
              <a:t>, the </a:t>
            </a:r>
            <a:r>
              <a:rPr lang="en-GB" sz="2800" b="1" dirty="0">
                <a:solidFill>
                  <a:srgbClr val="FF0000"/>
                </a:solidFill>
              </a:rPr>
              <a:t>function name</a:t>
            </a:r>
            <a:r>
              <a:rPr lang="en-GB" sz="2800" b="1" dirty="0"/>
              <a:t> </a:t>
            </a:r>
            <a:r>
              <a:rPr lang="en-GB" sz="2800" dirty="0"/>
              <a:t>(SUM, for example), and one or more </a:t>
            </a:r>
            <a:r>
              <a:rPr lang="en-GB" sz="2800" b="1" dirty="0">
                <a:solidFill>
                  <a:srgbClr val="FF0000"/>
                </a:solidFill>
              </a:rPr>
              <a:t>arguments</a:t>
            </a:r>
            <a:r>
              <a:rPr lang="en-GB" sz="2800" dirty="0"/>
              <a:t>.</a:t>
            </a:r>
          </a:p>
          <a:p>
            <a:pPr marL="0" indent="0" algn="just">
              <a:buNone/>
            </a:pPr>
            <a:r>
              <a:rPr lang="en-GB" sz="2800" b="1" dirty="0"/>
              <a:t>Arguments</a:t>
            </a:r>
            <a:r>
              <a:rPr lang="en-GB" sz="2800" dirty="0"/>
              <a:t> contain the information you want to calculate.</a:t>
            </a:r>
          </a:p>
        </p:txBody>
      </p:sp>
      <p:pic>
        <p:nvPicPr>
          <p:cNvPr id="37890" name="Picture 2" descr="C:\Users\UCCSMS1\Desktop\images\function_explained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3645024"/>
            <a:ext cx="5688632"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854772"/>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Working with arguments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endParaRPr lang="en-GB" sz="2800" dirty="0" smtClean="0"/>
          </a:p>
          <a:p>
            <a:pPr marL="0" indent="0" algn="just">
              <a:buNone/>
            </a:pPr>
            <a:r>
              <a:rPr lang="en-GB" sz="2800" dirty="0" smtClean="0"/>
              <a:t>Arguments </a:t>
            </a:r>
            <a:r>
              <a:rPr lang="en-GB" sz="2800" dirty="0"/>
              <a:t>can refer to both </a:t>
            </a:r>
            <a:r>
              <a:rPr lang="en-GB" sz="2800" b="1" dirty="0"/>
              <a:t>individual</a:t>
            </a:r>
            <a:r>
              <a:rPr lang="en-GB" sz="2800" dirty="0"/>
              <a:t> </a:t>
            </a:r>
            <a:r>
              <a:rPr lang="en-GB" sz="2800" b="1" dirty="0"/>
              <a:t>cells</a:t>
            </a:r>
            <a:r>
              <a:rPr lang="en-GB" sz="2800" dirty="0"/>
              <a:t> and </a:t>
            </a:r>
            <a:r>
              <a:rPr lang="en-GB" sz="2800" b="1" dirty="0"/>
              <a:t>cell ranges </a:t>
            </a:r>
            <a:r>
              <a:rPr lang="en-GB" sz="2800" dirty="0"/>
              <a:t>and must be enclosed within </a:t>
            </a:r>
            <a:r>
              <a:rPr lang="en-GB" sz="2800" b="1" dirty="0"/>
              <a:t>parentheses</a:t>
            </a:r>
            <a:r>
              <a:rPr lang="en-GB" sz="2800" dirty="0"/>
              <a:t>. </a:t>
            </a:r>
            <a:endParaRPr lang="en-GB" sz="2800" dirty="0" smtClean="0"/>
          </a:p>
          <a:p>
            <a:pPr marL="0" indent="0" algn="just">
              <a:buNone/>
            </a:pPr>
            <a:endParaRPr lang="en-GB" sz="2800" dirty="0"/>
          </a:p>
          <a:p>
            <a:pPr marL="0" indent="0" algn="just">
              <a:buNone/>
            </a:pPr>
            <a:r>
              <a:rPr lang="en-GB" sz="2800" dirty="0"/>
              <a:t>You can include </a:t>
            </a:r>
            <a:r>
              <a:rPr lang="en-GB" sz="2800" b="1" dirty="0"/>
              <a:t>one</a:t>
            </a:r>
            <a:r>
              <a:rPr lang="en-GB" sz="2800" dirty="0"/>
              <a:t> argument or </a:t>
            </a:r>
            <a:r>
              <a:rPr lang="en-GB" sz="2800" b="1" dirty="0"/>
              <a:t>multiple</a:t>
            </a:r>
            <a:r>
              <a:rPr lang="en-GB" sz="2800" dirty="0"/>
              <a:t> arguments, depending on the syntax required for the function.</a:t>
            </a:r>
          </a:p>
        </p:txBody>
      </p:sp>
    </p:spTree>
    <p:extLst>
      <p:ext uri="{BB962C8B-B14F-4D97-AF65-F5344CB8AC3E}">
        <p14:creationId xmlns:p14="http://schemas.microsoft.com/office/powerpoint/2010/main" val="1512992487"/>
      </p:ext>
    </p:extLst>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Working with arguments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For example, the function </a:t>
            </a:r>
            <a:r>
              <a:rPr lang="en-GB" sz="2800" b="1" dirty="0"/>
              <a:t>=AVERAGE(B1:B9)</a:t>
            </a:r>
            <a:r>
              <a:rPr lang="en-GB" sz="2800" dirty="0"/>
              <a:t> would calculate the average of the values in the cell </a:t>
            </a:r>
            <a:r>
              <a:rPr lang="en-GB" sz="2800" b="1" dirty="0"/>
              <a:t>range B1:B9</a:t>
            </a:r>
            <a:r>
              <a:rPr lang="en-GB" sz="2800" dirty="0"/>
              <a:t>. This function contains only </a:t>
            </a:r>
            <a:r>
              <a:rPr lang="en-GB" sz="2800" b="1" dirty="0"/>
              <a:t>one argument</a:t>
            </a:r>
            <a:r>
              <a:rPr lang="en-GB" sz="2800" dirty="0"/>
              <a:t>.</a:t>
            </a:r>
          </a:p>
        </p:txBody>
      </p:sp>
      <p:pic>
        <p:nvPicPr>
          <p:cNvPr id="38914" name="Picture 2" descr="C:\Users\UCCSMS1\Desktop\images\function_explain_singl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060848"/>
            <a:ext cx="5544616"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151969"/>
      </p:ext>
    </p:extLst>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Working with arguments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Multiple arguments must be separated by a </a:t>
            </a:r>
            <a:r>
              <a:rPr lang="en-GB" sz="2800" b="1" dirty="0">
                <a:solidFill>
                  <a:srgbClr val="FF0000"/>
                </a:solidFill>
              </a:rPr>
              <a:t>comma</a:t>
            </a:r>
            <a:r>
              <a:rPr lang="en-GB" sz="2800" dirty="0"/>
              <a:t>. </a:t>
            </a:r>
            <a:endParaRPr lang="en-GB" sz="2800" dirty="0" smtClean="0"/>
          </a:p>
          <a:p>
            <a:pPr marL="0" indent="0" algn="just">
              <a:buNone/>
            </a:pPr>
            <a:r>
              <a:rPr lang="en-GB" sz="2800" dirty="0" smtClean="0"/>
              <a:t>For </a:t>
            </a:r>
            <a:r>
              <a:rPr lang="en-GB" sz="2800" dirty="0"/>
              <a:t>example, the function </a:t>
            </a:r>
            <a:r>
              <a:rPr lang="en-GB" sz="2800" b="1" dirty="0">
                <a:solidFill>
                  <a:srgbClr val="FF0000"/>
                </a:solidFill>
              </a:rPr>
              <a:t>=SUM(A1:A3, C1:C2, E2)</a:t>
            </a:r>
            <a:r>
              <a:rPr lang="en-GB" sz="2800" dirty="0"/>
              <a:t> will add the values of all cells in the </a:t>
            </a:r>
            <a:r>
              <a:rPr lang="en-GB" sz="2800" b="1" dirty="0"/>
              <a:t>three arguments</a:t>
            </a:r>
            <a:r>
              <a:rPr lang="en-GB" sz="2800" dirty="0"/>
              <a:t>.</a:t>
            </a:r>
          </a:p>
        </p:txBody>
      </p:sp>
      <p:pic>
        <p:nvPicPr>
          <p:cNvPr id="39938" name="Picture 2" descr="C:\Users\UCCSMS1\Desktop\images\function_explain_su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400300"/>
            <a:ext cx="6840760" cy="3620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356583"/>
      </p:ext>
    </p:extLst>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PRACTICE QUESTION</a:t>
            </a:r>
            <a:endParaRPr lang="en-GB" sz="3200" dirty="0"/>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endParaRPr lang="en-GB" sz="2800" dirty="0" smtClean="0"/>
          </a:p>
          <a:p>
            <a:pPr marL="0" indent="0" algn="just">
              <a:buNone/>
            </a:pPr>
            <a:endParaRPr lang="en-GB" sz="2800" dirty="0"/>
          </a:p>
          <a:p>
            <a:pPr marL="0" indent="0" algn="just">
              <a:buNone/>
            </a:pPr>
            <a:r>
              <a:rPr lang="en-GB" sz="2800" b="1" dirty="0" smtClean="0"/>
              <a:t>Which </a:t>
            </a:r>
            <a:r>
              <a:rPr lang="en-GB" sz="2800" b="1" dirty="0"/>
              <a:t>of the following </a:t>
            </a:r>
            <a:r>
              <a:rPr lang="en-GB" sz="2800" b="1" dirty="0" smtClean="0"/>
              <a:t>functions syntax is correct?</a:t>
            </a:r>
          </a:p>
          <a:p>
            <a:pPr marL="0" indent="0" algn="just">
              <a:buNone/>
            </a:pPr>
            <a:endParaRPr lang="en-GB" sz="2800" b="1" dirty="0" smtClean="0"/>
          </a:p>
          <a:p>
            <a:pPr marL="514350" indent="-514350" algn="just">
              <a:buFont typeface="+mj-lt"/>
              <a:buAutoNum type="alphaUcPeriod"/>
            </a:pPr>
            <a:r>
              <a:rPr lang="en-GB" sz="2800" dirty="0"/>
              <a:t>SUM(A2:A8,E2:E8</a:t>
            </a:r>
            <a:r>
              <a:rPr lang="en-GB" sz="2800" dirty="0" smtClean="0"/>
              <a:t>)=</a:t>
            </a:r>
          </a:p>
          <a:p>
            <a:pPr marL="514350" indent="-514350" algn="just">
              <a:buFont typeface="+mj-lt"/>
              <a:buAutoNum type="alphaUcPeriod"/>
            </a:pPr>
            <a:endParaRPr lang="en-GB" sz="2800" dirty="0" smtClean="0"/>
          </a:p>
          <a:p>
            <a:pPr marL="514350" indent="-514350" algn="just">
              <a:buFont typeface="+mj-lt"/>
              <a:buAutoNum type="alphaUcPeriod"/>
            </a:pPr>
            <a:r>
              <a:rPr lang="en-GB" sz="2800" dirty="0"/>
              <a:t>=SUM(A2:A8,E2:E8</a:t>
            </a:r>
            <a:r>
              <a:rPr lang="en-GB" sz="2800" dirty="0" smtClean="0"/>
              <a:t>)</a:t>
            </a:r>
          </a:p>
          <a:p>
            <a:pPr marL="514350" indent="-514350" algn="just">
              <a:buFont typeface="+mj-lt"/>
              <a:buAutoNum type="alphaUcPeriod"/>
            </a:pPr>
            <a:endParaRPr lang="en-GB" sz="2800" dirty="0" smtClean="0"/>
          </a:p>
          <a:p>
            <a:pPr marL="514350" indent="-514350" algn="just">
              <a:buFont typeface="+mj-lt"/>
              <a:buAutoNum type="alphaUcPeriod"/>
            </a:pPr>
            <a:r>
              <a:rPr lang="en-GB" sz="2800" dirty="0"/>
              <a:t>=</a:t>
            </a:r>
            <a:r>
              <a:rPr lang="en-GB" sz="2800" dirty="0" smtClean="0"/>
              <a:t>A2:A8(SUM)E2:E8</a:t>
            </a:r>
          </a:p>
          <a:p>
            <a:pPr marL="514350" indent="-514350" algn="just">
              <a:buFont typeface="+mj-lt"/>
              <a:buAutoNum type="alphaUcPeriod"/>
            </a:pPr>
            <a:endParaRPr lang="en-GB" sz="2800" dirty="0" smtClean="0"/>
          </a:p>
          <a:p>
            <a:pPr marL="514350" indent="-514350" algn="just">
              <a:buFont typeface="+mj-lt"/>
              <a:buAutoNum type="alphaUcPeriod"/>
            </a:pPr>
            <a:r>
              <a:rPr lang="en-GB" sz="2800" dirty="0"/>
              <a:t>SUM=(A2:A8,E2:E8)</a:t>
            </a:r>
          </a:p>
        </p:txBody>
      </p:sp>
    </p:spTree>
    <p:extLst>
      <p:ext uri="{BB962C8B-B14F-4D97-AF65-F5344CB8AC3E}">
        <p14:creationId xmlns:p14="http://schemas.microsoft.com/office/powerpoint/2010/main" val="2640385459"/>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Using functions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There are a variety of functions. Here are some of the most common functions you'll use</a:t>
            </a:r>
            <a:r>
              <a:rPr lang="en-GB" sz="2800" dirty="0" smtClean="0"/>
              <a:t>:</a:t>
            </a:r>
          </a:p>
          <a:p>
            <a:pPr marL="0" indent="0" algn="just">
              <a:buNone/>
            </a:pPr>
            <a:endParaRPr lang="en-GB" sz="2800" dirty="0"/>
          </a:p>
          <a:p>
            <a:pPr marL="0" indent="0" algn="just">
              <a:buNone/>
            </a:pPr>
            <a:r>
              <a:rPr lang="en-GB" sz="2800" b="1" dirty="0" smtClean="0"/>
              <a:t>SUM</a:t>
            </a:r>
            <a:r>
              <a:rPr lang="en-GB" sz="2800" dirty="0"/>
              <a:t>: This function adds all the values of the cells in the argument</a:t>
            </a:r>
            <a:r>
              <a:rPr lang="en-GB" sz="2800" dirty="0" smtClean="0"/>
              <a:t>.</a:t>
            </a:r>
          </a:p>
          <a:p>
            <a:pPr marL="0" indent="0" algn="just">
              <a:buNone/>
            </a:pPr>
            <a:endParaRPr lang="en-GB" sz="2800" dirty="0"/>
          </a:p>
          <a:p>
            <a:pPr marL="0" indent="0" algn="just">
              <a:buNone/>
            </a:pPr>
            <a:r>
              <a:rPr lang="en-GB" sz="2800" b="1" dirty="0" smtClean="0"/>
              <a:t>AVERAGE</a:t>
            </a:r>
            <a:r>
              <a:rPr lang="en-GB" sz="2800" dirty="0"/>
              <a:t>: This function determines the average of the values included in the argument. It calculates the sum of the cells and then divides that value by the number of cells in the argument.</a:t>
            </a:r>
          </a:p>
        </p:txBody>
      </p:sp>
    </p:spTree>
    <p:extLst>
      <p:ext uri="{BB962C8B-B14F-4D97-AF65-F5344CB8AC3E}">
        <p14:creationId xmlns:p14="http://schemas.microsoft.com/office/powerpoint/2010/main" val="1580642836"/>
      </p:ext>
    </p:extLst>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Using functions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b="1" dirty="0"/>
              <a:t>COUNT</a:t>
            </a:r>
            <a:r>
              <a:rPr lang="en-GB" sz="2800" dirty="0"/>
              <a:t>: This function counts the number of cells with numerical data in the argument. This function is useful for quickly counting items in a cell range</a:t>
            </a:r>
            <a:r>
              <a:rPr lang="en-GB" sz="2800" dirty="0" smtClean="0"/>
              <a:t>.</a:t>
            </a:r>
          </a:p>
          <a:p>
            <a:pPr marL="0" indent="0" algn="just">
              <a:buNone/>
            </a:pPr>
            <a:endParaRPr lang="en-GB" sz="2800" dirty="0"/>
          </a:p>
          <a:p>
            <a:pPr marL="0" indent="0" algn="just">
              <a:buNone/>
            </a:pPr>
            <a:r>
              <a:rPr lang="en-GB" sz="2800" b="1" dirty="0"/>
              <a:t>MAX</a:t>
            </a:r>
            <a:r>
              <a:rPr lang="en-GB" sz="2800" dirty="0"/>
              <a:t>: This function determines the highest cell value included in the argument</a:t>
            </a:r>
            <a:r>
              <a:rPr lang="en-GB" sz="2800" dirty="0" smtClean="0"/>
              <a:t>.</a:t>
            </a:r>
          </a:p>
          <a:p>
            <a:pPr marL="0" indent="0" algn="just">
              <a:buNone/>
            </a:pPr>
            <a:endParaRPr lang="en-GB" sz="2800" dirty="0"/>
          </a:p>
          <a:p>
            <a:pPr marL="0" indent="0" algn="just">
              <a:buNone/>
            </a:pPr>
            <a:r>
              <a:rPr lang="en-GB" sz="2800" b="1" dirty="0"/>
              <a:t>MIN</a:t>
            </a:r>
            <a:r>
              <a:rPr lang="en-GB" sz="2800" dirty="0"/>
              <a:t>: This function determines the lowest cell value included in the argument.</a:t>
            </a:r>
          </a:p>
        </p:txBody>
      </p:sp>
    </p:spTree>
    <p:extLst>
      <p:ext uri="{BB962C8B-B14F-4D97-AF65-F5344CB8AC3E}">
        <p14:creationId xmlns:p14="http://schemas.microsoft.com/office/powerpoint/2010/main" val="602632262"/>
      </p:ext>
    </p:extLst>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Using functions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400" dirty="0"/>
              <a:t>In our example below, we'll use a basic function to calculate the </a:t>
            </a:r>
            <a:r>
              <a:rPr lang="en-GB" sz="2400" b="1" dirty="0"/>
              <a:t>average price per unit </a:t>
            </a:r>
            <a:r>
              <a:rPr lang="en-GB" sz="2400" dirty="0"/>
              <a:t>for a list of recently ordered items using the </a:t>
            </a:r>
            <a:r>
              <a:rPr lang="en-GB" sz="2400" b="1" dirty="0"/>
              <a:t>AVERAGE function</a:t>
            </a:r>
            <a:r>
              <a:rPr lang="en-GB" sz="2400" dirty="0" smtClean="0"/>
              <a:t>.</a:t>
            </a:r>
          </a:p>
          <a:p>
            <a:pPr marL="0" indent="0" algn="just">
              <a:buNone/>
            </a:pPr>
            <a:r>
              <a:rPr lang="en-GB" sz="2400" dirty="0" smtClean="0"/>
              <a:t>Select </a:t>
            </a:r>
            <a:r>
              <a:rPr lang="en-GB" sz="2400" dirty="0"/>
              <a:t>the cell that will contain the function. In our example, we'll select cell C11.</a:t>
            </a:r>
          </a:p>
        </p:txBody>
      </p:sp>
      <p:pic>
        <p:nvPicPr>
          <p:cNvPr id="40962" name="Picture 2" descr="C:\Users\UCCSMS1\Desktop\images\function_create_basic_sele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564904"/>
            <a:ext cx="7344816"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8934478"/>
      </p:ext>
    </p:extLst>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Using functions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400" dirty="0"/>
              <a:t>Type the equals sign </a:t>
            </a:r>
            <a:r>
              <a:rPr lang="en-GB" sz="2400" b="1" dirty="0"/>
              <a:t>(=)</a:t>
            </a:r>
            <a:r>
              <a:rPr lang="en-GB" sz="2400" dirty="0"/>
              <a:t> and enter the desired function name. In our example, we'll type =AVERAGE.</a:t>
            </a:r>
          </a:p>
        </p:txBody>
      </p:sp>
      <p:pic>
        <p:nvPicPr>
          <p:cNvPr id="41986" name="Picture 2" descr="C:\Users\UCCSMS1\Desktop\images\function_create_basic_avg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484784"/>
            <a:ext cx="7992888" cy="504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735342"/>
      </p:ext>
    </p:extLst>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Using functions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400" dirty="0"/>
              <a:t>Enter the cell range for the argument inside parentheses. In our example, we'll type </a:t>
            </a:r>
            <a:r>
              <a:rPr lang="en-GB" sz="2400" b="1" dirty="0"/>
              <a:t>(C3:C10)</a:t>
            </a:r>
            <a:r>
              <a:rPr lang="en-GB" sz="2400" dirty="0"/>
              <a:t>. </a:t>
            </a:r>
            <a:endParaRPr lang="en-GB" sz="2400" dirty="0" smtClean="0"/>
          </a:p>
          <a:p>
            <a:pPr marL="0" indent="0" algn="just">
              <a:buNone/>
            </a:pPr>
            <a:r>
              <a:rPr lang="en-GB" sz="2400" dirty="0" smtClean="0"/>
              <a:t>This </a:t>
            </a:r>
            <a:r>
              <a:rPr lang="en-GB" sz="2400" dirty="0"/>
              <a:t>formula will add the values of cells </a:t>
            </a:r>
            <a:r>
              <a:rPr lang="en-GB" sz="2400" b="1" dirty="0"/>
              <a:t>C3:C10</a:t>
            </a:r>
            <a:r>
              <a:rPr lang="en-GB" sz="2400" dirty="0"/>
              <a:t> and then divide that value by the total number of cells in the range to determine the average.</a:t>
            </a:r>
          </a:p>
        </p:txBody>
      </p:sp>
      <p:pic>
        <p:nvPicPr>
          <p:cNvPr id="43010" name="Picture 2" descr="C:\Users\UCCSMS1\Desktop\images\function_create_basic_rang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420888"/>
            <a:ext cx="6624736"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718383"/>
      </p:ext>
    </p:extLst>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Using functions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400" dirty="0"/>
              <a:t>Press Enter on your keyboard. The function will be calculated, and the result will appear in the cell. </a:t>
            </a:r>
            <a:endParaRPr lang="en-GB" sz="2400" dirty="0" smtClean="0"/>
          </a:p>
          <a:p>
            <a:pPr marL="0" indent="0" algn="just">
              <a:buNone/>
            </a:pPr>
            <a:r>
              <a:rPr lang="en-GB" sz="2400" dirty="0" smtClean="0"/>
              <a:t>In </a:t>
            </a:r>
            <a:r>
              <a:rPr lang="en-GB" sz="2400" dirty="0"/>
              <a:t>our example, the average price per unit of items ordered was </a:t>
            </a:r>
            <a:r>
              <a:rPr lang="en-GB" sz="2400" b="1" dirty="0"/>
              <a:t>$15.93</a:t>
            </a:r>
            <a:r>
              <a:rPr lang="en-GB" sz="2400" dirty="0"/>
              <a:t>.</a:t>
            </a:r>
          </a:p>
        </p:txBody>
      </p:sp>
      <p:pic>
        <p:nvPicPr>
          <p:cNvPr id="44034" name="Picture 2" descr="C:\Users\UCCSMS1\Desktop\images\function_create_basic_don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2060848"/>
            <a:ext cx="6984776"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7347002"/>
      </p:ext>
    </p:extLst>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smtClean="0"/>
              <a:t>Practice Question</a:t>
            </a:r>
            <a:endParaRPr lang="en-GB" sz="3200" dirty="0"/>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400" b="1" dirty="0"/>
              <a:t>In this example, we want to use the formula </a:t>
            </a:r>
            <a:r>
              <a:rPr lang="en-GB" sz="2400" b="1" dirty="0">
                <a:solidFill>
                  <a:srgbClr val="FF0000"/>
                </a:solidFill>
              </a:rPr>
              <a:t>=MAX(B3:D7</a:t>
            </a:r>
            <a:r>
              <a:rPr lang="en-GB" sz="2400" b="1" dirty="0" smtClean="0">
                <a:solidFill>
                  <a:srgbClr val="FF0000"/>
                </a:solidFill>
              </a:rPr>
              <a:t>)</a:t>
            </a:r>
            <a:endParaRPr lang="en-GB" sz="2400" b="1" dirty="0">
              <a:solidFill>
                <a:srgbClr val="FF0000"/>
              </a:solidFill>
            </a:endParaRPr>
          </a:p>
          <a:p>
            <a:pPr marL="0" indent="0" algn="just">
              <a:buNone/>
            </a:pPr>
            <a:r>
              <a:rPr lang="en-GB" sz="2400" b="1" dirty="0"/>
              <a:t>What would </a:t>
            </a:r>
            <a:r>
              <a:rPr lang="en-GB" sz="2400" b="1" dirty="0" smtClean="0"/>
              <a:t>the formula above </a:t>
            </a:r>
            <a:r>
              <a:rPr lang="en-GB" sz="2400" b="1" dirty="0"/>
              <a:t>find</a:t>
            </a:r>
            <a:r>
              <a:rPr lang="en-GB" sz="2400" b="1" dirty="0" smtClean="0"/>
              <a:t>?</a:t>
            </a:r>
          </a:p>
          <a:p>
            <a:pPr marL="0" indent="0" algn="just">
              <a:buNone/>
            </a:pPr>
            <a:endParaRPr lang="en-GB" sz="2400" dirty="0"/>
          </a:p>
          <a:p>
            <a:pPr marL="0" indent="0" algn="just">
              <a:buNone/>
            </a:pPr>
            <a:endParaRPr lang="en-GB" sz="2400" dirty="0" smtClean="0"/>
          </a:p>
          <a:p>
            <a:pPr marL="0" indent="0" algn="just">
              <a:buNone/>
            </a:pPr>
            <a:endParaRPr lang="en-GB" sz="2400" dirty="0"/>
          </a:p>
          <a:p>
            <a:pPr marL="0" indent="0" algn="just">
              <a:buNone/>
            </a:pPr>
            <a:endParaRPr lang="en-GB" sz="2400" dirty="0" smtClean="0"/>
          </a:p>
          <a:p>
            <a:pPr marL="0" indent="0" algn="just">
              <a:buNone/>
            </a:pPr>
            <a:endParaRPr lang="en-GB" sz="2400" dirty="0"/>
          </a:p>
          <a:p>
            <a:pPr marL="0" indent="0" algn="just">
              <a:buNone/>
            </a:pPr>
            <a:endParaRPr lang="en-GB" sz="2400" dirty="0"/>
          </a:p>
          <a:p>
            <a:pPr marL="457200" indent="-457200" algn="just">
              <a:buFont typeface="+mj-lt"/>
              <a:buAutoNum type="alphaUcPeriod"/>
            </a:pPr>
            <a:r>
              <a:rPr lang="en-GB" sz="2400" dirty="0"/>
              <a:t>The total number of items sold between January and </a:t>
            </a:r>
            <a:r>
              <a:rPr lang="en-GB" sz="2400" dirty="0" smtClean="0"/>
              <a:t>March</a:t>
            </a:r>
          </a:p>
          <a:p>
            <a:pPr marL="457200" indent="-457200" algn="just">
              <a:buFont typeface="+mj-lt"/>
              <a:buAutoNum type="alphaUcPeriod"/>
            </a:pPr>
            <a:r>
              <a:rPr lang="en-GB" sz="2400" dirty="0"/>
              <a:t>The average number of cakes sold in </a:t>
            </a:r>
            <a:r>
              <a:rPr lang="en-GB" sz="2400" dirty="0" smtClean="0"/>
              <a:t>March</a:t>
            </a:r>
          </a:p>
          <a:p>
            <a:pPr marL="457200" indent="-457200" algn="just">
              <a:buFont typeface="+mj-lt"/>
              <a:buAutoNum type="alphaUcPeriod"/>
            </a:pPr>
            <a:r>
              <a:rPr lang="en-GB" sz="2400" dirty="0"/>
              <a:t>The smallest amount of an item ordered in </a:t>
            </a:r>
            <a:r>
              <a:rPr lang="en-GB" sz="2400" dirty="0" smtClean="0"/>
              <a:t>March</a:t>
            </a:r>
          </a:p>
          <a:p>
            <a:pPr marL="457200" indent="-457200" algn="just">
              <a:buFont typeface="+mj-lt"/>
              <a:buAutoNum type="alphaUcPeriod"/>
            </a:pPr>
            <a:r>
              <a:rPr lang="en-GB" sz="2400" dirty="0"/>
              <a:t>The largest amount of an item ordered between January and March</a:t>
            </a:r>
          </a:p>
        </p:txBody>
      </p:sp>
      <p:pic>
        <p:nvPicPr>
          <p:cNvPr id="45058" name="Picture 2" descr="C:\Users\UCCSMS1\Desktop\images\ef_functions_2_shor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4052" y="1484784"/>
            <a:ext cx="5000625"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134519"/>
      </p:ext>
    </p:extLst>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How to use Excel's VLOOKUP function</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VLOOKUP lets you </a:t>
            </a:r>
            <a:r>
              <a:rPr lang="en-GB" sz="2800" b="1" dirty="0"/>
              <a:t>search for specific information</a:t>
            </a:r>
            <a:r>
              <a:rPr lang="en-GB" sz="2800" dirty="0"/>
              <a:t> in your </a:t>
            </a:r>
            <a:r>
              <a:rPr lang="en-GB" sz="2800" dirty="0" smtClean="0"/>
              <a:t>spread sheet.</a:t>
            </a:r>
          </a:p>
          <a:p>
            <a:pPr marL="0" indent="0" algn="just">
              <a:buNone/>
            </a:pPr>
            <a:r>
              <a:rPr lang="en-GB" sz="2800" dirty="0"/>
              <a:t>For example, if you have a list of products with prices, you could search for the price of a specific item</a:t>
            </a:r>
            <a:r>
              <a:rPr lang="en-GB" sz="2800" dirty="0" smtClean="0"/>
              <a:t>.</a:t>
            </a:r>
          </a:p>
          <a:p>
            <a:pPr marL="0" indent="0" algn="just">
              <a:buNone/>
            </a:pPr>
            <a:endParaRPr lang="en-GB" sz="2800" dirty="0"/>
          </a:p>
          <a:p>
            <a:pPr marL="0" indent="0" algn="just">
              <a:buNone/>
            </a:pPr>
            <a:r>
              <a:rPr lang="en-GB" sz="2800" dirty="0" err="1"/>
              <a:t>Vlookup</a:t>
            </a:r>
            <a:r>
              <a:rPr lang="en-GB" sz="2800" dirty="0"/>
              <a:t> is an advanced Excel function that helps extract values from the database. </a:t>
            </a:r>
            <a:endParaRPr lang="en-GB" sz="2800" dirty="0" smtClean="0"/>
          </a:p>
          <a:p>
            <a:pPr marL="0" indent="0" algn="just">
              <a:buNone/>
            </a:pPr>
            <a:endParaRPr lang="en-GB" sz="2800" dirty="0"/>
          </a:p>
          <a:p>
            <a:pPr marL="0" indent="0" algn="just">
              <a:buNone/>
            </a:pPr>
            <a:r>
              <a:rPr lang="en-GB" sz="2800" dirty="0" err="1" smtClean="0"/>
              <a:t>Vlookup</a:t>
            </a:r>
            <a:r>
              <a:rPr lang="en-GB" sz="2800" dirty="0" smtClean="0"/>
              <a:t> </a:t>
            </a:r>
            <a:r>
              <a:rPr lang="en-GB" sz="2800" dirty="0"/>
              <a:t>can filter large volume of data to provide the appropriate values based on the given conditions.</a:t>
            </a:r>
          </a:p>
        </p:txBody>
      </p:sp>
    </p:spTree>
    <p:extLst>
      <p:ext uri="{BB962C8B-B14F-4D97-AF65-F5344CB8AC3E}">
        <p14:creationId xmlns:p14="http://schemas.microsoft.com/office/powerpoint/2010/main" val="4031569797"/>
      </p:ext>
    </p:extLst>
  </p:cSld>
  <p:clrMapOvr>
    <a:masterClrMapping/>
  </p:clrMapOvr>
  <p:transition>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How to use Excel's VLOOKUP function</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400" dirty="0" smtClean="0"/>
              <a:t>In this example we're </a:t>
            </a:r>
            <a:r>
              <a:rPr lang="en-GB" sz="2400" dirty="0"/>
              <a:t>going to use VLOOKUP to find the price of the </a:t>
            </a:r>
            <a:r>
              <a:rPr lang="en-GB" sz="2400" b="1" dirty="0"/>
              <a:t>Photo frame</a:t>
            </a:r>
            <a:r>
              <a:rPr lang="en-GB" sz="2400" dirty="0"/>
              <a:t>. </a:t>
            </a:r>
            <a:endParaRPr lang="en-GB" sz="2400" dirty="0" smtClean="0"/>
          </a:p>
          <a:p>
            <a:pPr marL="0" indent="0" algn="just">
              <a:buNone/>
            </a:pPr>
            <a:r>
              <a:rPr lang="en-GB" sz="2400" dirty="0" smtClean="0"/>
              <a:t>You </a:t>
            </a:r>
            <a:r>
              <a:rPr lang="en-GB" sz="2400" dirty="0"/>
              <a:t>can probably already see that the price is </a:t>
            </a:r>
            <a:r>
              <a:rPr lang="en-GB" sz="2400" b="1" dirty="0"/>
              <a:t>$9.99</a:t>
            </a:r>
            <a:r>
              <a:rPr lang="en-GB" sz="2400" dirty="0"/>
              <a:t>, but that's because this is a simple example. </a:t>
            </a:r>
          </a:p>
        </p:txBody>
      </p:sp>
      <p:pic>
        <p:nvPicPr>
          <p:cNvPr id="46082" name="Picture 2" descr="C:\Users\UCCSMS1\Desktop\images\vlookup_spreadsheet_overvie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2276872"/>
            <a:ext cx="8064896"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6374747"/>
      </p:ext>
    </p:extLst>
  </p:cSld>
  <p:clrMapOvr>
    <a:masterClrMapping/>
  </p:clrMapOvr>
  <p:transition>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How to use Excel's VLOOKUP function</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We'll add our formula to </a:t>
            </a:r>
            <a:r>
              <a:rPr lang="en-GB" sz="2800" b="1" dirty="0"/>
              <a:t>cell F2</a:t>
            </a:r>
            <a:r>
              <a:rPr lang="en-GB" sz="2800" dirty="0"/>
              <a:t>, but you can add it to any </a:t>
            </a:r>
            <a:r>
              <a:rPr lang="en-GB" sz="2800" b="1" dirty="0"/>
              <a:t>blank cell</a:t>
            </a:r>
            <a:r>
              <a:rPr lang="en-GB" sz="2800" dirty="0"/>
              <a:t>. </a:t>
            </a:r>
            <a:endParaRPr lang="en-GB" sz="2800" dirty="0" smtClean="0"/>
          </a:p>
          <a:p>
            <a:pPr marL="0" indent="0" algn="just">
              <a:buNone/>
            </a:pPr>
            <a:endParaRPr lang="en-GB" sz="2800" dirty="0"/>
          </a:p>
          <a:p>
            <a:pPr marL="0" indent="0" algn="just">
              <a:buNone/>
            </a:pPr>
            <a:r>
              <a:rPr lang="en-GB" sz="2800" dirty="0" smtClean="0"/>
              <a:t>As </a:t>
            </a:r>
            <a:r>
              <a:rPr lang="en-GB" sz="2800" dirty="0"/>
              <a:t>with any formula, you'll start with an equals sign </a:t>
            </a:r>
            <a:r>
              <a:rPr lang="en-GB" sz="2800" b="1" dirty="0"/>
              <a:t>(=)</a:t>
            </a:r>
            <a:r>
              <a:rPr lang="en-GB" sz="2800" dirty="0"/>
              <a:t>. Then type the formula name</a:t>
            </a:r>
            <a:r>
              <a:rPr lang="en-GB" sz="2800" dirty="0" smtClean="0"/>
              <a:t>.</a:t>
            </a:r>
          </a:p>
          <a:p>
            <a:pPr marL="0" indent="0" algn="just">
              <a:buNone/>
            </a:pPr>
            <a:endParaRPr lang="en-GB" sz="2800" dirty="0"/>
          </a:p>
          <a:p>
            <a:pPr marL="0" indent="0" algn="just">
              <a:buNone/>
            </a:pPr>
            <a:r>
              <a:rPr lang="en-GB" sz="2800" dirty="0"/>
              <a:t>Our arguments will need to be in parentheses, so type an open parenthesis. So far, it should look like this:</a:t>
            </a:r>
          </a:p>
          <a:p>
            <a:pPr marL="0" indent="0" algn="just">
              <a:buNone/>
            </a:pPr>
            <a:endParaRPr lang="en-GB" sz="2800" dirty="0"/>
          </a:p>
          <a:p>
            <a:pPr marL="0" indent="0" algn="just">
              <a:buNone/>
            </a:pPr>
            <a:r>
              <a:rPr lang="en-GB" sz="2800" b="1" dirty="0">
                <a:solidFill>
                  <a:srgbClr val="FF0000"/>
                </a:solidFill>
              </a:rPr>
              <a:t>=VLOOKUP(</a:t>
            </a:r>
          </a:p>
        </p:txBody>
      </p:sp>
    </p:spTree>
    <p:extLst>
      <p:ext uri="{BB962C8B-B14F-4D97-AF65-F5344CB8AC3E}">
        <p14:creationId xmlns:p14="http://schemas.microsoft.com/office/powerpoint/2010/main" val="853932721"/>
      </p:ext>
    </p:extLst>
  </p:cSld>
  <p:clrMapOvr>
    <a:masterClrMapping/>
  </p:clrMapOvr>
  <p:transition>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Adding the arguments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The arguments will tell VLOOKUP what to search for and where to search</a:t>
            </a:r>
            <a:r>
              <a:rPr lang="en-GB" sz="2800" dirty="0" smtClean="0"/>
              <a:t>.</a:t>
            </a:r>
          </a:p>
          <a:p>
            <a:pPr marL="0" indent="0" algn="just">
              <a:buNone/>
            </a:pPr>
            <a:endParaRPr lang="en-GB" sz="2800" dirty="0" smtClean="0"/>
          </a:p>
          <a:p>
            <a:pPr marL="0" indent="0" algn="just">
              <a:buNone/>
            </a:pPr>
            <a:r>
              <a:rPr lang="en-GB" sz="2800" dirty="0"/>
              <a:t>The </a:t>
            </a:r>
            <a:r>
              <a:rPr lang="en-GB" sz="2800" b="1" dirty="0"/>
              <a:t>first argument </a:t>
            </a:r>
            <a:r>
              <a:rPr lang="en-GB" sz="2800" dirty="0"/>
              <a:t>is the name of the item you're searching for, which in this case is </a:t>
            </a:r>
            <a:r>
              <a:rPr lang="en-GB" sz="2800" b="1" dirty="0"/>
              <a:t>Photo frame</a:t>
            </a:r>
            <a:r>
              <a:rPr lang="en-GB" sz="2800" dirty="0"/>
              <a:t>. Because the argument is text, we'll need to put it in double quotes:</a:t>
            </a:r>
          </a:p>
          <a:p>
            <a:pPr marL="0" indent="0" algn="just">
              <a:buNone/>
            </a:pPr>
            <a:endParaRPr lang="en-GB" sz="2800" dirty="0"/>
          </a:p>
          <a:p>
            <a:pPr marL="0" indent="0" algn="just">
              <a:buNone/>
            </a:pPr>
            <a:r>
              <a:rPr lang="en-GB" sz="2800" b="1" dirty="0">
                <a:solidFill>
                  <a:srgbClr val="FF0000"/>
                </a:solidFill>
              </a:rPr>
              <a:t>=VLOOKUP("Photo frame"</a:t>
            </a:r>
          </a:p>
        </p:txBody>
      </p:sp>
    </p:spTree>
    <p:extLst>
      <p:ext uri="{BB962C8B-B14F-4D97-AF65-F5344CB8AC3E}">
        <p14:creationId xmlns:p14="http://schemas.microsoft.com/office/powerpoint/2010/main" val="1146130868"/>
      </p:ext>
    </p:extLst>
  </p:cSld>
  <p:clrMapOvr>
    <a:masterClrMapping/>
  </p:clrMapOvr>
  <p:transition>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Adding the arguments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The </a:t>
            </a:r>
            <a:r>
              <a:rPr lang="en-GB" sz="2800" b="1" dirty="0"/>
              <a:t>second argument </a:t>
            </a:r>
            <a:r>
              <a:rPr lang="en-GB" sz="2800" dirty="0"/>
              <a:t>is the cell range that contains the data. </a:t>
            </a:r>
            <a:endParaRPr lang="en-GB" sz="2800" dirty="0" smtClean="0"/>
          </a:p>
          <a:p>
            <a:pPr marL="0" indent="0" algn="just">
              <a:buNone/>
            </a:pPr>
            <a:endParaRPr lang="en-GB" sz="2800" dirty="0" smtClean="0"/>
          </a:p>
          <a:p>
            <a:pPr marL="0" indent="0" algn="just">
              <a:buNone/>
            </a:pPr>
            <a:r>
              <a:rPr lang="en-GB" sz="2800" dirty="0" smtClean="0"/>
              <a:t>In </a:t>
            </a:r>
            <a:r>
              <a:rPr lang="en-GB" sz="2800" dirty="0"/>
              <a:t>this example, our data is in </a:t>
            </a:r>
            <a:r>
              <a:rPr lang="en-GB" sz="2800" b="1" dirty="0"/>
              <a:t>A2:B16</a:t>
            </a:r>
            <a:r>
              <a:rPr lang="en-GB" sz="2800" dirty="0"/>
              <a:t>. As with any function, you'll need to use a comma to separate each argument:</a:t>
            </a:r>
          </a:p>
          <a:p>
            <a:pPr marL="0" indent="0" algn="just">
              <a:buNone/>
            </a:pPr>
            <a:endParaRPr lang="en-GB" sz="2800" dirty="0"/>
          </a:p>
          <a:p>
            <a:pPr marL="0" indent="0" algn="just">
              <a:buNone/>
            </a:pPr>
            <a:r>
              <a:rPr lang="en-GB" sz="2800" b="1" dirty="0">
                <a:solidFill>
                  <a:srgbClr val="FF0000"/>
                </a:solidFill>
              </a:rPr>
              <a:t>=VLOOKUP("Photo frame", A2:B16</a:t>
            </a:r>
          </a:p>
        </p:txBody>
      </p:sp>
    </p:spTree>
    <p:extLst>
      <p:ext uri="{BB962C8B-B14F-4D97-AF65-F5344CB8AC3E}">
        <p14:creationId xmlns:p14="http://schemas.microsoft.com/office/powerpoint/2010/main" val="3980083575"/>
      </p:ext>
    </p:extLst>
  </p:cSld>
  <p:clrMapOvr>
    <a:masterClrMapping/>
  </p:clrMapOvr>
  <p:transition>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Adding the arguments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The </a:t>
            </a:r>
            <a:r>
              <a:rPr lang="en-GB" sz="2800" b="1" dirty="0"/>
              <a:t>third argument </a:t>
            </a:r>
            <a:r>
              <a:rPr lang="en-GB" sz="2800" dirty="0"/>
              <a:t>is the column index number. It's simpler than it sounds: </a:t>
            </a:r>
            <a:endParaRPr lang="en-GB" sz="2800" dirty="0" smtClean="0"/>
          </a:p>
          <a:p>
            <a:pPr marL="0" indent="0" algn="just">
              <a:buNone/>
            </a:pPr>
            <a:endParaRPr lang="en-GB" sz="2800" dirty="0"/>
          </a:p>
          <a:p>
            <a:pPr marL="0" indent="0" algn="just">
              <a:buNone/>
            </a:pPr>
            <a:r>
              <a:rPr lang="en-GB" sz="2800" dirty="0" smtClean="0"/>
              <a:t>The </a:t>
            </a:r>
            <a:r>
              <a:rPr lang="en-GB" sz="2800" dirty="0"/>
              <a:t>first column in the range is </a:t>
            </a:r>
            <a:r>
              <a:rPr lang="en-GB" sz="2800" b="1" dirty="0"/>
              <a:t>1</a:t>
            </a:r>
            <a:r>
              <a:rPr lang="en-GB" sz="2800" dirty="0"/>
              <a:t>, the second column is </a:t>
            </a:r>
            <a:r>
              <a:rPr lang="en-GB" sz="2800" b="1" dirty="0"/>
              <a:t>2</a:t>
            </a:r>
            <a:r>
              <a:rPr lang="en-GB" sz="2800" dirty="0"/>
              <a:t>, etc. In this case, we are trying to find the price of the item, and the prices are contained in the second column. This means our third argument will be 2:</a:t>
            </a:r>
          </a:p>
          <a:p>
            <a:pPr marL="0" indent="0" algn="just">
              <a:buNone/>
            </a:pPr>
            <a:endParaRPr lang="en-GB" sz="2800" dirty="0"/>
          </a:p>
          <a:p>
            <a:pPr marL="0" indent="0" algn="just">
              <a:buNone/>
            </a:pPr>
            <a:r>
              <a:rPr lang="en-GB" sz="2800" b="1" dirty="0">
                <a:solidFill>
                  <a:srgbClr val="FF0000"/>
                </a:solidFill>
              </a:rPr>
              <a:t>=VLOOKUP("Photo frame", A2:B16, 2</a:t>
            </a:r>
          </a:p>
        </p:txBody>
      </p:sp>
    </p:spTree>
    <p:extLst>
      <p:ext uri="{BB962C8B-B14F-4D97-AF65-F5344CB8AC3E}">
        <p14:creationId xmlns:p14="http://schemas.microsoft.com/office/powerpoint/2010/main" val="926474910"/>
      </p:ext>
    </p:extLst>
  </p:cSld>
  <p:clrMapOvr>
    <a:masterClrMapping/>
  </p:clrMapOvr>
  <p:transition>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Adding the arguments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The </a:t>
            </a:r>
            <a:r>
              <a:rPr lang="en-GB" sz="2800" b="1" dirty="0"/>
              <a:t>fourth argument </a:t>
            </a:r>
            <a:r>
              <a:rPr lang="en-GB" sz="2800" dirty="0"/>
              <a:t>tells VLOOKUP whether to look for approximate matches, and it can be either </a:t>
            </a:r>
            <a:r>
              <a:rPr lang="en-GB" sz="2800" b="1" dirty="0"/>
              <a:t>TRUE</a:t>
            </a:r>
            <a:r>
              <a:rPr lang="en-GB" sz="2800" dirty="0"/>
              <a:t> or </a:t>
            </a:r>
            <a:r>
              <a:rPr lang="en-GB" sz="2800" b="1" dirty="0"/>
              <a:t>FALSE</a:t>
            </a:r>
            <a:r>
              <a:rPr lang="en-GB" sz="2800" dirty="0" smtClean="0"/>
              <a:t>.</a:t>
            </a:r>
          </a:p>
          <a:p>
            <a:pPr marL="0" indent="0" algn="just">
              <a:buNone/>
            </a:pPr>
            <a:endParaRPr lang="en-GB" sz="2800" dirty="0"/>
          </a:p>
          <a:p>
            <a:pPr marL="0" indent="0" algn="just">
              <a:buNone/>
            </a:pPr>
            <a:r>
              <a:rPr lang="en-GB" sz="2800" dirty="0" smtClean="0"/>
              <a:t> </a:t>
            </a:r>
            <a:r>
              <a:rPr lang="en-GB" sz="2800" dirty="0"/>
              <a:t>If it is TRUE, it will look for approximate matches. Generally, this is only useful if the first column has numerical values that have been sorted. </a:t>
            </a:r>
            <a:endParaRPr lang="en-GB" sz="2800" dirty="0" smtClean="0"/>
          </a:p>
          <a:p>
            <a:pPr marL="0" indent="0" algn="just">
              <a:buNone/>
            </a:pPr>
            <a:r>
              <a:rPr lang="en-GB" sz="2800" dirty="0" smtClean="0"/>
              <a:t>Because </a:t>
            </a:r>
            <a:r>
              <a:rPr lang="en-GB" sz="2800" dirty="0"/>
              <a:t>we're only looking for exact matches, the fourth argument should be FALSE. This is our last argument, so go ahead and close the parentheses:</a:t>
            </a:r>
          </a:p>
          <a:p>
            <a:pPr marL="0" indent="0" algn="just">
              <a:buNone/>
            </a:pPr>
            <a:endParaRPr lang="en-GB" sz="2800" dirty="0"/>
          </a:p>
          <a:p>
            <a:pPr marL="0" indent="0" algn="just">
              <a:buNone/>
            </a:pPr>
            <a:r>
              <a:rPr lang="en-GB" sz="2800" b="1" dirty="0">
                <a:solidFill>
                  <a:srgbClr val="FF0000"/>
                </a:solidFill>
              </a:rPr>
              <a:t>=VLOOKUP("Photo frame", A2:B16, 2, FALSE)</a:t>
            </a:r>
          </a:p>
        </p:txBody>
      </p:sp>
    </p:spTree>
    <p:extLst>
      <p:ext uri="{BB962C8B-B14F-4D97-AF65-F5344CB8AC3E}">
        <p14:creationId xmlns:p14="http://schemas.microsoft.com/office/powerpoint/2010/main" val="3675956845"/>
      </p:ext>
    </p:extLst>
  </p:cSld>
  <p:clrMapOvr>
    <a:masterClrMapping/>
  </p:clrMapOvr>
  <p:transition>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a:bodyPr>
          <a:lstStyle/>
          <a:p>
            <a:pPr algn="ctr"/>
            <a:r>
              <a:rPr lang="en-GB" sz="3200" dirty="0"/>
              <a:t>Adding the arguments</a:t>
            </a:r>
          </a:p>
        </p:txBody>
      </p:sp>
      <p:sp>
        <p:nvSpPr>
          <p:cNvPr id="3" name="Content Placeholder 2"/>
          <p:cNvSpPr>
            <a:spLocks noGrp="1"/>
          </p:cNvSpPr>
          <p:nvPr>
            <p:ph idx="1"/>
          </p:nvPr>
        </p:nvSpPr>
        <p:spPr>
          <a:xfrm>
            <a:off x="107504" y="548680"/>
            <a:ext cx="8884096" cy="6192688"/>
          </a:xfrm>
        </p:spPr>
        <p:txBody>
          <a:bodyPr>
            <a:normAutofit/>
          </a:bodyPr>
          <a:lstStyle/>
          <a:p>
            <a:pPr marL="0" indent="0" algn="just">
              <a:buNone/>
            </a:pPr>
            <a:r>
              <a:rPr lang="en-GB" sz="2800" dirty="0"/>
              <a:t>When you press Enter, it should give you the answer, which is </a:t>
            </a:r>
            <a:r>
              <a:rPr lang="en-GB" sz="2800" b="1" dirty="0"/>
              <a:t>9.99</a:t>
            </a:r>
            <a:r>
              <a:rPr lang="en-GB" sz="2800" dirty="0" smtClean="0"/>
              <a:t>.</a:t>
            </a:r>
          </a:p>
          <a:p>
            <a:pPr marL="0" indent="0" algn="just">
              <a:buNone/>
            </a:pPr>
            <a:endParaRPr lang="en-GB" sz="2800" b="1" dirty="0">
              <a:solidFill>
                <a:srgbClr val="FF0000"/>
              </a:solidFill>
            </a:endParaRPr>
          </a:p>
        </p:txBody>
      </p:sp>
      <p:pic>
        <p:nvPicPr>
          <p:cNvPr id="47106" name="Picture 2" descr="C:\Users\UCCSMS1\Desktop\images\vlookup_example1_finish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348880"/>
            <a:ext cx="7704855"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057569"/>
      </p:ext>
    </p:extLst>
  </p:cSld>
  <p:clrMapOvr>
    <a:masterClrMapping/>
  </p:clrMapOvr>
  <p:transition>
    <p:fad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15038</TotalTime>
  <Words>3098</Words>
  <Application>Microsoft Office PowerPoint</Application>
  <PresentationFormat>On-screen Show (4:3)</PresentationFormat>
  <Paragraphs>376</Paragraphs>
  <Slides>76</Slides>
  <Notes>76</Notes>
  <HiddenSlides>0</HiddenSlides>
  <MMClips>0</MMClips>
  <ScaleCrop>false</ScaleCrop>
  <HeadingPairs>
    <vt:vector size="4" baseType="variant">
      <vt:variant>
        <vt:lpstr>Theme</vt:lpstr>
      </vt:variant>
      <vt:variant>
        <vt:i4>1</vt:i4>
      </vt:variant>
      <vt:variant>
        <vt:lpstr>Slide Titles</vt:lpstr>
      </vt:variant>
      <vt:variant>
        <vt:i4>76</vt:i4>
      </vt:variant>
    </vt:vector>
  </HeadingPairs>
  <TitlesOfParts>
    <vt:vector size="77" baseType="lpstr">
      <vt:lpstr>Office Theme</vt:lpstr>
      <vt:lpstr>PowerPoint Presentation</vt:lpstr>
      <vt:lpstr>PowerPoint Presentation</vt:lpstr>
      <vt:lpstr>Objectives Overview</vt:lpstr>
      <vt:lpstr>Introduction</vt:lpstr>
      <vt:lpstr>Mathematical operators</vt:lpstr>
      <vt:lpstr>Creating simple formulas</vt:lpstr>
      <vt:lpstr>Creating simple formulas</vt:lpstr>
      <vt:lpstr>Creating simple formulas</vt:lpstr>
      <vt:lpstr>Creating simple formulas</vt:lpstr>
      <vt:lpstr>Understanding cell references</vt:lpstr>
      <vt:lpstr>Understanding cell references</vt:lpstr>
      <vt:lpstr>Understanding cell references</vt:lpstr>
      <vt:lpstr>Understanding cell references</vt:lpstr>
      <vt:lpstr>Understanding cell references</vt:lpstr>
      <vt:lpstr>Understanding cell references</vt:lpstr>
      <vt:lpstr>Understanding cell references</vt:lpstr>
      <vt:lpstr>Understanding cell references</vt:lpstr>
      <vt:lpstr>PRACTICE QUESTION</vt:lpstr>
      <vt:lpstr>Modifying values with cell references</vt:lpstr>
      <vt:lpstr>Modifying values with cell references</vt:lpstr>
      <vt:lpstr>Create a formula using the point-and-click method</vt:lpstr>
      <vt:lpstr>create a formula using the point-and-click method</vt:lpstr>
      <vt:lpstr>Create a formula using the point-and-click method</vt:lpstr>
      <vt:lpstr>Create a formula using the point-and-click method</vt:lpstr>
      <vt:lpstr>Create a formula using the point-and-click method</vt:lpstr>
      <vt:lpstr>How to edit a formula</vt:lpstr>
      <vt:lpstr>How to edit a formula</vt:lpstr>
      <vt:lpstr>How to edit a formula</vt:lpstr>
      <vt:lpstr>How to edit a formula</vt:lpstr>
      <vt:lpstr>How to edit a formula</vt:lpstr>
      <vt:lpstr>Complex Formulas</vt:lpstr>
      <vt:lpstr>The order of operations</vt:lpstr>
      <vt:lpstr>The order of operations</vt:lpstr>
      <vt:lpstr>The order of operations</vt:lpstr>
      <vt:lpstr>The order of operations</vt:lpstr>
      <vt:lpstr>The order of operations</vt:lpstr>
      <vt:lpstr>Relative and Absolute Cell References</vt:lpstr>
      <vt:lpstr>Relative references</vt:lpstr>
      <vt:lpstr> Create and copy a formula using relative references</vt:lpstr>
      <vt:lpstr> Create and copy a formula using relative references</vt:lpstr>
      <vt:lpstr> Create and copy a formula using relative references</vt:lpstr>
      <vt:lpstr> Create and copy a formula using relative references</vt:lpstr>
      <vt:lpstr> Create and copy a formula using relative references</vt:lpstr>
      <vt:lpstr> Create and copy a formula using relative references</vt:lpstr>
      <vt:lpstr> Create and copy a formula using relative references</vt:lpstr>
      <vt:lpstr> Absolute references</vt:lpstr>
      <vt:lpstr>Create and copy a formula using absolute references</vt:lpstr>
      <vt:lpstr>Create and copy a formula using absolute references</vt:lpstr>
      <vt:lpstr>Create and copy a formula using absolute references</vt:lpstr>
      <vt:lpstr>Create and copy a formula using absolute references</vt:lpstr>
      <vt:lpstr>Create and copy a formula using absolute references</vt:lpstr>
      <vt:lpstr>Create and copy a formula using absolute references</vt:lpstr>
      <vt:lpstr>Create and copy a formula using absolute references</vt:lpstr>
      <vt:lpstr> Excel Formulas - Functions </vt:lpstr>
      <vt:lpstr>The parts of a function</vt:lpstr>
      <vt:lpstr>Working with arguments</vt:lpstr>
      <vt:lpstr>Working with arguments</vt:lpstr>
      <vt:lpstr>Working with arguments</vt:lpstr>
      <vt:lpstr>PRACTICE QUESTION</vt:lpstr>
      <vt:lpstr>Using functions</vt:lpstr>
      <vt:lpstr>Using functions</vt:lpstr>
      <vt:lpstr>Using functions</vt:lpstr>
      <vt:lpstr>Using functions</vt:lpstr>
      <vt:lpstr>Using functions</vt:lpstr>
      <vt:lpstr>Using functions</vt:lpstr>
      <vt:lpstr>Practice Question</vt:lpstr>
      <vt:lpstr>How to use Excel's VLOOKUP function</vt:lpstr>
      <vt:lpstr>How to use Excel's VLOOKUP function</vt:lpstr>
      <vt:lpstr>How to use Excel's VLOOKUP function</vt:lpstr>
      <vt:lpstr>Adding the arguments</vt:lpstr>
      <vt:lpstr>Adding the arguments</vt:lpstr>
      <vt:lpstr>Adding the arguments</vt:lpstr>
      <vt:lpstr>Adding the arguments</vt:lpstr>
      <vt:lpstr>Adding the arguments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UCCSMS1</cp:lastModifiedBy>
  <cp:revision>474</cp:revision>
  <dcterms:created xsi:type="dcterms:W3CDTF">2008-12-18T17:11:12Z</dcterms:created>
  <dcterms:modified xsi:type="dcterms:W3CDTF">2021-03-31T13:39:55Z</dcterms:modified>
</cp:coreProperties>
</file>
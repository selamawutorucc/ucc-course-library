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3"/>
  </p:notesMasterIdLst>
  <p:sldIdLst>
    <p:sldId id="260" r:id="rId2"/>
    <p:sldId id="385" r:id="rId3"/>
    <p:sldId id="294" r:id="rId4"/>
    <p:sldId id="736" r:id="rId5"/>
    <p:sldId id="264" r:id="rId6"/>
    <p:sldId id="737" r:id="rId7"/>
    <p:sldId id="738" r:id="rId8"/>
    <p:sldId id="739" r:id="rId9"/>
    <p:sldId id="740" r:id="rId10"/>
    <p:sldId id="741" r:id="rId11"/>
    <p:sldId id="742" r:id="rId12"/>
    <p:sldId id="743" r:id="rId13"/>
    <p:sldId id="744" r:id="rId14"/>
    <p:sldId id="745" r:id="rId15"/>
    <p:sldId id="746" r:id="rId16"/>
    <p:sldId id="747" r:id="rId17"/>
    <p:sldId id="748" r:id="rId18"/>
    <p:sldId id="749" r:id="rId19"/>
    <p:sldId id="750" r:id="rId20"/>
    <p:sldId id="751" r:id="rId21"/>
    <p:sldId id="752" r:id="rId22"/>
    <p:sldId id="753" r:id="rId23"/>
    <p:sldId id="755" r:id="rId24"/>
    <p:sldId id="754" r:id="rId25"/>
    <p:sldId id="756" r:id="rId26"/>
    <p:sldId id="757" r:id="rId27"/>
    <p:sldId id="758" r:id="rId28"/>
    <p:sldId id="759" r:id="rId29"/>
    <p:sldId id="760" r:id="rId30"/>
    <p:sldId id="761" r:id="rId31"/>
    <p:sldId id="762" r:id="rId32"/>
    <p:sldId id="763" r:id="rId33"/>
    <p:sldId id="764" r:id="rId34"/>
    <p:sldId id="765" r:id="rId35"/>
    <p:sldId id="766" r:id="rId36"/>
    <p:sldId id="767" r:id="rId37"/>
    <p:sldId id="768" r:id="rId38"/>
    <p:sldId id="769" r:id="rId39"/>
    <p:sldId id="770" r:id="rId40"/>
    <p:sldId id="771" r:id="rId41"/>
    <p:sldId id="772" r:id="rId42"/>
    <p:sldId id="773" r:id="rId43"/>
    <p:sldId id="774" r:id="rId44"/>
    <p:sldId id="775" r:id="rId45"/>
    <p:sldId id="776" r:id="rId46"/>
    <p:sldId id="777" r:id="rId47"/>
    <p:sldId id="778" r:id="rId48"/>
    <p:sldId id="779" r:id="rId49"/>
    <p:sldId id="780" r:id="rId50"/>
    <p:sldId id="440" r:id="rId51"/>
    <p:sldId id="384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7531"/>
    <a:srgbClr val="EEEB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8" d="100"/>
          <a:sy n="68" d="100"/>
        </p:scale>
        <p:origin x="-14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7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/>
      <dgm:spPr/>
      <dgm:t>
        <a:bodyPr/>
        <a:lstStyle/>
        <a:p>
          <a:r>
            <a:rPr lang="en-US" dirty="0"/>
            <a:t>Introduction </a:t>
          </a:r>
        </a:p>
        <a:p>
          <a:r>
            <a:rPr lang="en-US" dirty="0"/>
            <a:t>to </a:t>
          </a:r>
          <a:endParaRPr lang="en-US" dirty="0" smtClean="0"/>
        </a:p>
        <a:p>
          <a:r>
            <a:rPr lang="en-US" dirty="0" smtClean="0"/>
            <a:t>Excel 2010</a:t>
          </a:r>
          <a:endParaRPr lang="en-US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B62D86B-A0DA-4B75-8C82-CC0B7B67BE45}" type="presOf" srcId="{7D821BC7-213D-4CEC-978A-9CFFE70F3D67}" destId="{9972E4C6-FDD6-4F32-8994-B9E0115268C3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F98F3C-4B54-499E-81E4-D4C2F1EE2959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7D821BC7-213D-4CEC-978A-9CFFE70F3D67}">
      <dgm:prSet custT="1"/>
      <dgm:spPr/>
      <dgm:t>
        <a:bodyPr/>
        <a:lstStyle/>
        <a:p>
          <a:r>
            <a:rPr lang="en-US" sz="4800" dirty="0" smtClean="0"/>
            <a:t>MS Excel Basics</a:t>
          </a:r>
          <a:endParaRPr lang="en-US" sz="4800" dirty="0"/>
        </a:p>
      </dgm:t>
    </dgm:pt>
    <dgm:pt modelId="{ED2C2DDE-E64A-4045-9DC7-203AF2A63846}" type="parTrans" cxnId="{331EC4E3-DC32-4A83-872F-34DD2D9EAD5A}">
      <dgm:prSet/>
      <dgm:spPr/>
      <dgm:t>
        <a:bodyPr/>
        <a:lstStyle/>
        <a:p>
          <a:endParaRPr lang="en-US"/>
        </a:p>
      </dgm:t>
    </dgm:pt>
    <dgm:pt modelId="{AC409FAE-4704-48A8-9261-8AFBDD18865D}" type="sibTrans" cxnId="{331EC4E3-DC32-4A83-872F-34DD2D9EAD5A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9972E4C6-FDD6-4F32-8994-B9E0115268C3}" type="pres">
      <dgm:prSet presAssocID="{7D821BC7-213D-4CEC-978A-9CFFE70F3D67}" presName="node" presStyleLbl="node1" presStyleIdx="0" presStyleCnt="1" custScaleX="110222" custLinFactNeighborY="-1666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65DCDAFD-8909-4CCC-96D3-23F19B6A2257}" type="presOf" srcId="{7D821BC7-213D-4CEC-978A-9CFFE70F3D67}" destId="{9972E4C6-FDD6-4F32-8994-B9E0115268C3}" srcOrd="0" destOrd="0" presId="urn:microsoft.com/office/officeart/2005/8/layout/default#1"/>
    <dgm:cxn modelId="{88175D38-BFA8-4D43-90FA-3BE39FD3975D}" type="presOf" srcId="{3DE9E547-3C66-4E5D-9D07-0515EED2B913}" destId="{46A1C575-DE29-4021-A28C-E1E7FA78085E}" srcOrd="0" destOrd="0" presId="urn:microsoft.com/office/officeart/2005/8/layout/default#1"/>
    <dgm:cxn modelId="{331EC4E3-DC32-4A83-872F-34DD2D9EAD5A}" srcId="{3DE9E547-3C66-4E5D-9D07-0515EED2B913}" destId="{7D821BC7-213D-4CEC-978A-9CFFE70F3D67}" srcOrd="0" destOrd="0" parTransId="{ED2C2DDE-E64A-4045-9DC7-203AF2A63846}" sibTransId="{AC409FAE-4704-48A8-9261-8AFBDD18865D}"/>
    <dgm:cxn modelId="{D5A03DA0-5C1B-4D49-89F3-846B63674282}" type="presParOf" srcId="{46A1C575-DE29-4021-A28C-E1E7FA78085E}" destId="{9972E4C6-FDD6-4F32-8994-B9E0115268C3}" srcOrd="0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explore Excel window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explore the backstage view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enter values in excel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move around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D032DDD3-5BE8-4773-89B2-68CD8965B3E6}">
      <dgm:prSet/>
      <dgm:spPr/>
      <dgm:t>
        <a:bodyPr/>
        <a:lstStyle/>
        <a:p>
          <a:r>
            <a:rPr lang="en-US" dirty="0" smtClean="0"/>
            <a:t>How to save workbook</a:t>
          </a:r>
          <a:endParaRPr lang="en-US" dirty="0"/>
        </a:p>
      </dgm:t>
    </dgm:pt>
    <dgm:pt modelId="{81D33D49-3010-4917-BC50-D44BA8B22DF2}" type="parTrans" cxnId="{864161E3-D902-466F-A23C-0B9201C3B39B}">
      <dgm:prSet/>
      <dgm:spPr/>
      <dgm:t>
        <a:bodyPr/>
        <a:lstStyle/>
        <a:p>
          <a:endParaRPr lang="en-US"/>
        </a:p>
      </dgm:t>
    </dgm:pt>
    <dgm:pt modelId="{C692D208-6BD8-417E-A3C9-418AEBD7A4B3}" type="sibTrans" cxnId="{864161E3-D902-466F-A23C-0B9201C3B39B}">
      <dgm:prSet/>
      <dgm:spPr/>
      <dgm:t>
        <a:bodyPr/>
        <a:lstStyle/>
        <a:p>
          <a:endParaRPr lang="en-US"/>
        </a:p>
      </dgm:t>
    </dgm:pt>
    <dgm:pt modelId="{0C2A3C5A-0AE4-41C1-AA5D-5BC4E760C57F}">
      <dgm:prSet/>
      <dgm:spPr/>
      <dgm:t>
        <a:bodyPr/>
        <a:lstStyle/>
        <a:p>
          <a:r>
            <a:rPr lang="en-US" dirty="0" smtClean="0"/>
            <a:t>How to create Worksheet</a:t>
          </a:r>
          <a:endParaRPr lang="en-US" dirty="0"/>
        </a:p>
      </dgm:t>
    </dgm:pt>
    <dgm:pt modelId="{C63CDA1C-7537-4175-AE85-DCCC8B9595D5}" type="parTrans" cxnId="{86E31C76-0D62-4F6E-AF30-DF0CF87F6868}">
      <dgm:prSet/>
      <dgm:spPr/>
      <dgm:t>
        <a:bodyPr/>
        <a:lstStyle/>
        <a:p>
          <a:endParaRPr lang="en-US"/>
        </a:p>
      </dgm:t>
    </dgm:pt>
    <dgm:pt modelId="{C25ACD3C-6ADA-4FCF-83F9-C46AF1053BB7}" type="sibTrans" cxnId="{86E31C76-0D62-4F6E-AF30-DF0CF87F6868}">
      <dgm:prSet/>
      <dgm:spPr/>
      <dgm:t>
        <a:bodyPr/>
        <a:lstStyle/>
        <a:p>
          <a:endParaRPr lang="en-US"/>
        </a:p>
      </dgm:t>
    </dgm:pt>
    <dgm:pt modelId="{B9D2FC92-ECB4-4D54-9508-F43A91E7E65C}">
      <dgm:prSet/>
      <dgm:spPr/>
      <dgm:t>
        <a:bodyPr/>
        <a:lstStyle/>
        <a:p>
          <a:r>
            <a:rPr lang="en-GB" dirty="0"/>
            <a:t>How </a:t>
          </a:r>
          <a:r>
            <a:rPr lang="en-GB" dirty="0" smtClean="0"/>
            <a:t>to copy worksheet</a:t>
          </a:r>
          <a:endParaRPr lang="en-GB" dirty="0"/>
        </a:p>
      </dgm:t>
    </dgm:pt>
    <dgm:pt modelId="{78D7DF5E-40D2-4C2E-A6D8-113A5982009C}" type="parTrans" cxnId="{7F547AE8-3119-406B-94F9-F606AA7491D7}">
      <dgm:prSet/>
      <dgm:spPr/>
      <dgm:t>
        <a:bodyPr/>
        <a:lstStyle/>
        <a:p>
          <a:endParaRPr lang="en-GB"/>
        </a:p>
      </dgm:t>
    </dgm:pt>
    <dgm:pt modelId="{E2B3D82B-B21B-4F72-B2BC-78A1696AD170}" type="sibTrans" cxnId="{7F547AE8-3119-406B-94F9-F606AA7491D7}">
      <dgm:prSet/>
      <dgm:spPr/>
      <dgm:t>
        <a:bodyPr/>
        <a:lstStyle/>
        <a:p>
          <a:endParaRPr lang="en-GB"/>
        </a:p>
      </dgm:t>
    </dgm:pt>
    <dgm:pt modelId="{476A1A6D-9E32-412F-852C-EA036D2EA443}">
      <dgm:prSet/>
      <dgm:spPr/>
      <dgm:t>
        <a:bodyPr/>
        <a:lstStyle/>
        <a:p>
          <a:r>
            <a:rPr lang="en-GB" dirty="0"/>
            <a:t>How </a:t>
          </a:r>
          <a:r>
            <a:rPr lang="en-GB" dirty="0" smtClean="0"/>
            <a:t>to hide worksheet</a:t>
          </a:r>
          <a:endParaRPr lang="en-GB" dirty="0"/>
        </a:p>
      </dgm:t>
    </dgm:pt>
    <dgm:pt modelId="{A6D156B3-65C8-4D8D-9BA4-CBE69004882B}" type="parTrans" cxnId="{9F622BE6-A9AE-4059-9547-F4054D63F899}">
      <dgm:prSet/>
      <dgm:spPr/>
      <dgm:t>
        <a:bodyPr/>
        <a:lstStyle/>
        <a:p>
          <a:endParaRPr lang="en-GB"/>
        </a:p>
      </dgm:t>
    </dgm:pt>
    <dgm:pt modelId="{3C054B08-0B7E-409B-8D87-F73633A89691}" type="sibTrans" cxnId="{9F622BE6-A9AE-4059-9547-F4054D63F899}">
      <dgm:prSet/>
      <dgm:spPr/>
      <dgm:t>
        <a:bodyPr/>
        <a:lstStyle/>
        <a:p>
          <a:endParaRPr lang="en-GB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E35D6D9B-6CD2-4458-885A-62ADB7B92653}" type="pres">
      <dgm:prSet presAssocID="{2155DDCB-A76B-4506-AD94-A2E4AE9F6F2F}" presName="sibTrans" presStyleCnt="0"/>
      <dgm:spPr/>
    </dgm:pt>
    <dgm:pt modelId="{A0EFA616-1553-4077-9D32-88AE20AC0552}" type="pres">
      <dgm:prSet presAssocID="{D032DDD3-5BE8-4773-89B2-68CD8965B3E6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4543EDFD-DAD7-4CC1-8700-DF379CC38E62}" type="pres">
      <dgm:prSet presAssocID="{C692D208-6BD8-417E-A3C9-418AEBD7A4B3}" presName="sibTrans" presStyleCnt="0"/>
      <dgm:spPr/>
    </dgm:pt>
    <dgm:pt modelId="{D944875E-4200-44D3-9F4D-D995865E5F68}" type="pres">
      <dgm:prSet presAssocID="{0C2A3C5A-0AE4-41C1-AA5D-5BC4E760C57F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78CB8F77-3CF7-4A24-AB1C-13517BFF6342}" type="pres">
      <dgm:prSet presAssocID="{C25ACD3C-6ADA-4FCF-83F9-C46AF1053BB7}" presName="sibTrans" presStyleCnt="0"/>
      <dgm:spPr/>
    </dgm:pt>
    <dgm:pt modelId="{4F3BB94F-726F-42B1-B2C9-9077543F3D05}" type="pres">
      <dgm:prSet presAssocID="{B9D2FC92-ECB4-4D54-9508-F43A91E7E65C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A5408A91-DCB4-4486-8086-1187B0570DB1}" type="pres">
      <dgm:prSet presAssocID="{E2B3D82B-B21B-4F72-B2BC-78A1696AD170}" presName="sibTrans" presStyleCnt="0"/>
      <dgm:spPr/>
    </dgm:pt>
    <dgm:pt modelId="{31EA35DB-A737-45B2-AEA8-3AC4C64F3EDA}" type="pres">
      <dgm:prSet presAssocID="{476A1A6D-9E32-412F-852C-EA036D2EA443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83122414-9691-4F6C-BC60-0171D826C93D}" type="presOf" srcId="{476A1A6D-9E32-412F-852C-EA036D2EA443}" destId="{31EA35DB-A737-45B2-AEA8-3AC4C64F3EDA}" srcOrd="0" destOrd="0" presId="urn:microsoft.com/office/officeart/2005/8/layout/default#1"/>
    <dgm:cxn modelId="{031BCA45-34A2-4E89-93EF-0C69AA13A8F0}" type="presOf" srcId="{23F2D5E2-61FA-40AD-9F7D-BF405C8CDFAE}" destId="{126D987F-03E4-4E3A-BED9-08B6BA3A15AB}" srcOrd="0" destOrd="0" presId="urn:microsoft.com/office/officeart/2005/8/layout/default#1"/>
    <dgm:cxn modelId="{6AAA590D-29DC-4E4C-8B98-98C454876ACA}" type="presOf" srcId="{0C2A3C5A-0AE4-41C1-AA5D-5BC4E760C57F}" destId="{D944875E-4200-44D3-9F4D-D995865E5F68}" srcOrd="0" destOrd="0" presId="urn:microsoft.com/office/officeart/2005/8/layout/default#1"/>
    <dgm:cxn modelId="{8C7B99DC-F8B1-492C-AD47-8DB1AB5E9999}" type="presOf" srcId="{C11B75ED-B46B-4BF2-80F2-DA583A75044E}" destId="{D32AB574-D896-42B8-809A-74BD322B19E9}" srcOrd="0" destOrd="0" presId="urn:microsoft.com/office/officeart/2005/8/layout/default#1"/>
    <dgm:cxn modelId="{86E31C76-0D62-4F6E-AF30-DF0CF87F6868}" srcId="{3DE9E547-3C66-4E5D-9D07-0515EED2B913}" destId="{0C2A3C5A-0AE4-41C1-AA5D-5BC4E760C57F}" srcOrd="5" destOrd="0" parTransId="{C63CDA1C-7537-4175-AE85-DCCC8B9595D5}" sibTransId="{C25ACD3C-6ADA-4FCF-83F9-C46AF1053BB7}"/>
    <dgm:cxn modelId="{5975DE9F-9538-4AC2-A004-1F0309A49A9F}" type="presOf" srcId="{BBBB9B4E-DA71-45DE-92BC-1EF247E5F9B2}" destId="{08678D36-F832-48B7-8548-C43AEE1F6A43}" srcOrd="0" destOrd="0" presId="urn:microsoft.com/office/officeart/2005/8/layout/default#1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A8B40AA2-278C-4338-99E0-4615B7D73CD9}" type="presOf" srcId="{B9D2FC92-ECB4-4D54-9508-F43A91E7E65C}" destId="{4F3BB94F-726F-42B1-B2C9-9077543F3D05}" srcOrd="0" destOrd="0" presId="urn:microsoft.com/office/officeart/2005/8/layout/default#1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FD5D13DE-A886-43C1-8176-BE8410373EBE}" type="presOf" srcId="{D032DDD3-5BE8-4773-89B2-68CD8965B3E6}" destId="{A0EFA616-1553-4077-9D32-88AE20AC0552}" srcOrd="0" destOrd="0" presId="urn:microsoft.com/office/officeart/2005/8/layout/default#1"/>
    <dgm:cxn modelId="{864161E3-D902-466F-A23C-0B9201C3B39B}" srcId="{3DE9E547-3C66-4E5D-9D07-0515EED2B913}" destId="{D032DDD3-5BE8-4773-89B2-68CD8965B3E6}" srcOrd="4" destOrd="0" parTransId="{81D33D49-3010-4917-BC50-D44BA8B22DF2}" sibTransId="{C692D208-6BD8-417E-A3C9-418AEBD7A4B3}"/>
    <dgm:cxn modelId="{36C3BEF2-2DBA-42EB-9810-973BE445D0C7}" type="presOf" srcId="{3DE9E547-3C66-4E5D-9D07-0515EED2B913}" destId="{46A1C575-DE29-4021-A28C-E1E7FA78085E}" srcOrd="0" destOrd="0" presId="urn:microsoft.com/office/officeart/2005/8/layout/default#1"/>
    <dgm:cxn modelId="{9F622BE6-A9AE-4059-9547-F4054D63F899}" srcId="{3DE9E547-3C66-4E5D-9D07-0515EED2B913}" destId="{476A1A6D-9E32-412F-852C-EA036D2EA443}" srcOrd="7" destOrd="0" parTransId="{A6D156B3-65C8-4D8D-9BA4-CBE69004882B}" sibTransId="{3C054B08-0B7E-409B-8D87-F73633A89691}"/>
    <dgm:cxn modelId="{DB5CF76F-016D-4F32-AE1E-423FE30EF2F6}" type="presOf" srcId="{F9022B54-68C2-4973-9A00-460029290542}" destId="{E43CDCF3-D5B2-4556-A6FF-1FBA940E878F}" srcOrd="0" destOrd="0" presId="urn:microsoft.com/office/officeart/2005/8/layout/default#1"/>
    <dgm:cxn modelId="{7F547AE8-3119-406B-94F9-F606AA7491D7}" srcId="{3DE9E547-3C66-4E5D-9D07-0515EED2B913}" destId="{B9D2FC92-ECB4-4D54-9508-F43A91E7E65C}" srcOrd="6" destOrd="0" parTransId="{78D7DF5E-40D2-4C2E-A6D8-113A5982009C}" sibTransId="{E2B3D82B-B21B-4F72-B2BC-78A1696AD170}"/>
    <dgm:cxn modelId="{C6831F33-A671-4D3A-9651-E6901DF4D6AC}" type="presParOf" srcId="{46A1C575-DE29-4021-A28C-E1E7FA78085E}" destId="{E43CDCF3-D5B2-4556-A6FF-1FBA940E878F}" srcOrd="0" destOrd="0" presId="urn:microsoft.com/office/officeart/2005/8/layout/default#1"/>
    <dgm:cxn modelId="{23A16BBC-1098-40CF-A0D5-9C900233786D}" type="presParOf" srcId="{46A1C575-DE29-4021-A28C-E1E7FA78085E}" destId="{54066D3B-676A-41CA-98B3-C0905E22B6EF}" srcOrd="1" destOrd="0" presId="urn:microsoft.com/office/officeart/2005/8/layout/default#1"/>
    <dgm:cxn modelId="{55059F0B-6C91-4088-9340-8226AFFF946D}" type="presParOf" srcId="{46A1C575-DE29-4021-A28C-E1E7FA78085E}" destId="{08678D36-F832-48B7-8548-C43AEE1F6A43}" srcOrd="2" destOrd="0" presId="urn:microsoft.com/office/officeart/2005/8/layout/default#1"/>
    <dgm:cxn modelId="{183C0D9A-7891-4D10-9A6B-84445838AF97}" type="presParOf" srcId="{46A1C575-DE29-4021-A28C-E1E7FA78085E}" destId="{94E3CC2B-92E4-4B0C-B930-B4411572BF9F}" srcOrd="3" destOrd="0" presId="urn:microsoft.com/office/officeart/2005/8/layout/default#1"/>
    <dgm:cxn modelId="{10FB1E55-51FE-4D10-8536-2E0EBE944374}" type="presParOf" srcId="{46A1C575-DE29-4021-A28C-E1E7FA78085E}" destId="{D32AB574-D896-42B8-809A-74BD322B19E9}" srcOrd="4" destOrd="0" presId="urn:microsoft.com/office/officeart/2005/8/layout/default#1"/>
    <dgm:cxn modelId="{9EDDF9FC-F073-4434-AE22-C4716365B1A3}" type="presParOf" srcId="{46A1C575-DE29-4021-A28C-E1E7FA78085E}" destId="{8FCDC96A-B844-4560-9827-3799EB37A607}" srcOrd="5" destOrd="0" presId="urn:microsoft.com/office/officeart/2005/8/layout/default#1"/>
    <dgm:cxn modelId="{62AA1254-BAAA-4C30-915B-8E8B8D5D39B6}" type="presParOf" srcId="{46A1C575-DE29-4021-A28C-E1E7FA78085E}" destId="{126D987F-03E4-4E3A-BED9-08B6BA3A15AB}" srcOrd="6" destOrd="0" presId="urn:microsoft.com/office/officeart/2005/8/layout/default#1"/>
    <dgm:cxn modelId="{DA7D4CFB-222D-4450-8AF0-D10DC3C95EA3}" type="presParOf" srcId="{46A1C575-DE29-4021-A28C-E1E7FA78085E}" destId="{E35D6D9B-6CD2-4458-885A-62ADB7B92653}" srcOrd="7" destOrd="0" presId="urn:microsoft.com/office/officeart/2005/8/layout/default#1"/>
    <dgm:cxn modelId="{6AE59283-A23C-4A44-A8A5-3A057903230C}" type="presParOf" srcId="{46A1C575-DE29-4021-A28C-E1E7FA78085E}" destId="{A0EFA616-1553-4077-9D32-88AE20AC0552}" srcOrd="8" destOrd="0" presId="urn:microsoft.com/office/officeart/2005/8/layout/default#1"/>
    <dgm:cxn modelId="{429B9619-7928-43DC-A3FE-1E9D2DB4D886}" type="presParOf" srcId="{46A1C575-DE29-4021-A28C-E1E7FA78085E}" destId="{4543EDFD-DAD7-4CC1-8700-DF379CC38E62}" srcOrd="9" destOrd="0" presId="urn:microsoft.com/office/officeart/2005/8/layout/default#1"/>
    <dgm:cxn modelId="{704D0315-1C8A-4D5F-A07E-7D3763651A72}" type="presParOf" srcId="{46A1C575-DE29-4021-A28C-E1E7FA78085E}" destId="{D944875E-4200-44D3-9F4D-D995865E5F68}" srcOrd="10" destOrd="0" presId="urn:microsoft.com/office/officeart/2005/8/layout/default#1"/>
    <dgm:cxn modelId="{3F5A64F1-66F4-44C1-BF95-02D94C0DFAD0}" type="presParOf" srcId="{46A1C575-DE29-4021-A28C-E1E7FA78085E}" destId="{78CB8F77-3CF7-4A24-AB1C-13517BFF6342}" srcOrd="11" destOrd="0" presId="urn:microsoft.com/office/officeart/2005/8/layout/default#1"/>
    <dgm:cxn modelId="{A0309069-2853-4FAA-AC09-2E967F751159}" type="presParOf" srcId="{46A1C575-DE29-4021-A28C-E1E7FA78085E}" destId="{4F3BB94F-726F-42B1-B2C9-9077543F3D05}" srcOrd="12" destOrd="0" presId="urn:microsoft.com/office/officeart/2005/8/layout/default#1"/>
    <dgm:cxn modelId="{B6D090FA-77F1-4532-850C-6322F5F68B9B}" type="presParOf" srcId="{46A1C575-DE29-4021-A28C-E1E7FA78085E}" destId="{A5408A91-DCB4-4486-8086-1187B0570DB1}" srcOrd="13" destOrd="0" presId="urn:microsoft.com/office/officeart/2005/8/layout/default#1"/>
    <dgm:cxn modelId="{07999851-A652-4497-BD02-78B00D8DF8BA}" type="presParOf" srcId="{46A1C575-DE29-4021-A28C-E1E7FA78085E}" destId="{31EA35DB-A737-45B2-AEA8-3AC4C64F3EDA}" srcOrd="14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E9E547-3C66-4E5D-9D07-0515EED2B913}" type="doc">
      <dgm:prSet loTypeId="urn:microsoft.com/office/officeart/2005/8/layout/default#1" loCatId="list" qsTypeId="urn:microsoft.com/office/officeart/2005/8/quickstyle/simple5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F9022B54-68C2-4973-9A00-460029290542}">
      <dgm:prSet phldrT="[Text]"/>
      <dgm:spPr/>
      <dgm:t>
        <a:bodyPr/>
        <a:lstStyle/>
        <a:p>
          <a:r>
            <a:rPr lang="en-US" dirty="0" smtClean="0"/>
            <a:t>How to delete worksheet</a:t>
          </a:r>
          <a:endParaRPr lang="en-US" dirty="0"/>
        </a:p>
      </dgm:t>
    </dgm:pt>
    <dgm:pt modelId="{0EBC0F7C-C083-479E-822C-AA3F278D062A}" type="parTrans" cxnId="{A36A33C9-5EC3-4472-82B9-956D1373C0B4}">
      <dgm:prSet/>
      <dgm:spPr/>
      <dgm:t>
        <a:bodyPr/>
        <a:lstStyle/>
        <a:p>
          <a:endParaRPr lang="en-US"/>
        </a:p>
      </dgm:t>
    </dgm:pt>
    <dgm:pt modelId="{AEC43A17-FDDC-4261-BB01-B6005B7A4552}" type="sibTrans" cxnId="{A36A33C9-5EC3-4472-82B9-956D1373C0B4}">
      <dgm:prSet/>
      <dgm:spPr/>
      <dgm:t>
        <a:bodyPr/>
        <a:lstStyle/>
        <a:p>
          <a:endParaRPr lang="en-US"/>
        </a:p>
      </dgm:t>
    </dgm:pt>
    <dgm:pt modelId="{BBBB9B4E-DA71-45DE-92BC-1EF247E5F9B2}">
      <dgm:prSet/>
      <dgm:spPr/>
      <dgm:t>
        <a:bodyPr/>
        <a:lstStyle/>
        <a:p>
          <a:r>
            <a:rPr lang="en-US" dirty="0" smtClean="0"/>
            <a:t>How to close workbook</a:t>
          </a:r>
          <a:endParaRPr lang="en-US" dirty="0"/>
        </a:p>
      </dgm:t>
    </dgm:pt>
    <dgm:pt modelId="{A9ED417C-F968-4650-A07D-E6C8B9F80C83}" type="parTrans" cxnId="{8294D506-3CCF-46C3-9D45-09DDBBAFC9A2}">
      <dgm:prSet/>
      <dgm:spPr/>
      <dgm:t>
        <a:bodyPr/>
        <a:lstStyle/>
        <a:p>
          <a:endParaRPr lang="en-US"/>
        </a:p>
      </dgm:t>
    </dgm:pt>
    <dgm:pt modelId="{8B37F55B-F450-4B0B-98F7-A2B490DAC81A}" type="sibTrans" cxnId="{8294D506-3CCF-46C3-9D45-09DDBBAFC9A2}">
      <dgm:prSet/>
      <dgm:spPr/>
      <dgm:t>
        <a:bodyPr/>
        <a:lstStyle/>
        <a:p>
          <a:endParaRPr lang="en-US"/>
        </a:p>
      </dgm:t>
    </dgm:pt>
    <dgm:pt modelId="{C11B75ED-B46B-4BF2-80F2-DA583A75044E}">
      <dgm:prSet/>
      <dgm:spPr/>
      <dgm:t>
        <a:bodyPr/>
        <a:lstStyle/>
        <a:p>
          <a:r>
            <a:rPr lang="en-US" dirty="0" smtClean="0"/>
            <a:t>How to open workbook</a:t>
          </a:r>
          <a:endParaRPr lang="en-US" dirty="0"/>
        </a:p>
      </dgm:t>
    </dgm:pt>
    <dgm:pt modelId="{5645C486-8F55-4C5D-BAFE-57B0FB9C1457}" type="parTrans" cxnId="{0DB3BCB8-BFA0-457C-84E0-1D03CDEA15BA}">
      <dgm:prSet/>
      <dgm:spPr/>
      <dgm:t>
        <a:bodyPr/>
        <a:lstStyle/>
        <a:p>
          <a:endParaRPr lang="en-US"/>
        </a:p>
      </dgm:t>
    </dgm:pt>
    <dgm:pt modelId="{0F8F958D-95B3-4287-AB04-371DBF737C1C}" type="sibTrans" cxnId="{0DB3BCB8-BFA0-457C-84E0-1D03CDEA15BA}">
      <dgm:prSet/>
      <dgm:spPr/>
      <dgm:t>
        <a:bodyPr/>
        <a:lstStyle/>
        <a:p>
          <a:endParaRPr lang="en-US"/>
        </a:p>
      </dgm:t>
    </dgm:pt>
    <dgm:pt modelId="{23F2D5E2-61FA-40AD-9F7D-BF405C8CDFAE}">
      <dgm:prSet/>
      <dgm:spPr/>
      <dgm:t>
        <a:bodyPr/>
        <a:lstStyle/>
        <a:p>
          <a:r>
            <a:rPr lang="en-US" dirty="0" smtClean="0"/>
            <a:t>How to use context help in excel</a:t>
          </a:r>
          <a:endParaRPr lang="en-US" dirty="0"/>
        </a:p>
      </dgm:t>
    </dgm:pt>
    <dgm:pt modelId="{AB5E8461-293C-485A-87B5-1F0B83CE1442}" type="parTrans" cxnId="{FBDBE29A-0A0F-4D97-8A3B-694C132A4FE5}">
      <dgm:prSet/>
      <dgm:spPr/>
      <dgm:t>
        <a:bodyPr/>
        <a:lstStyle/>
        <a:p>
          <a:endParaRPr lang="en-US"/>
        </a:p>
      </dgm:t>
    </dgm:pt>
    <dgm:pt modelId="{2155DDCB-A76B-4506-AD94-A2E4AE9F6F2F}" type="sibTrans" cxnId="{FBDBE29A-0A0F-4D97-8A3B-694C132A4FE5}">
      <dgm:prSet/>
      <dgm:spPr/>
      <dgm:t>
        <a:bodyPr/>
        <a:lstStyle/>
        <a:p>
          <a:endParaRPr lang="en-US"/>
        </a:p>
      </dgm:t>
    </dgm:pt>
    <dgm:pt modelId="{46A1C575-DE29-4021-A28C-E1E7FA78085E}" type="pres">
      <dgm:prSet presAssocID="{3DE9E547-3C66-4E5D-9D07-0515EED2B9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GB"/>
        </a:p>
      </dgm:t>
    </dgm:pt>
    <dgm:pt modelId="{E43CDCF3-D5B2-4556-A6FF-1FBA940E878F}" type="pres">
      <dgm:prSet presAssocID="{F9022B54-68C2-4973-9A00-460029290542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54066D3B-676A-41CA-98B3-C0905E22B6EF}" type="pres">
      <dgm:prSet presAssocID="{AEC43A17-FDDC-4261-BB01-B6005B7A4552}" presName="sibTrans" presStyleCnt="0"/>
      <dgm:spPr/>
    </dgm:pt>
    <dgm:pt modelId="{08678D36-F832-48B7-8548-C43AEE1F6A43}" type="pres">
      <dgm:prSet presAssocID="{BBBB9B4E-DA71-45DE-92BC-1EF247E5F9B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94E3CC2B-92E4-4B0C-B930-B4411572BF9F}" type="pres">
      <dgm:prSet presAssocID="{8B37F55B-F450-4B0B-98F7-A2B490DAC81A}" presName="sibTrans" presStyleCnt="0"/>
      <dgm:spPr/>
    </dgm:pt>
    <dgm:pt modelId="{D32AB574-D896-42B8-809A-74BD322B19E9}" type="pres">
      <dgm:prSet presAssocID="{C11B75ED-B46B-4BF2-80F2-DA583A75044E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  <dgm:pt modelId="{8FCDC96A-B844-4560-9827-3799EB37A607}" type="pres">
      <dgm:prSet presAssocID="{0F8F958D-95B3-4287-AB04-371DBF737C1C}" presName="sibTrans" presStyleCnt="0"/>
      <dgm:spPr/>
    </dgm:pt>
    <dgm:pt modelId="{126D987F-03E4-4E3A-BED9-08B6BA3A15AB}" type="pres">
      <dgm:prSet presAssocID="{23F2D5E2-61FA-40AD-9F7D-BF405C8CDFAE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GB"/>
        </a:p>
      </dgm:t>
    </dgm:pt>
  </dgm:ptLst>
  <dgm:cxnLst>
    <dgm:cxn modelId="{0DB3BCB8-BFA0-457C-84E0-1D03CDEA15BA}" srcId="{3DE9E547-3C66-4E5D-9D07-0515EED2B913}" destId="{C11B75ED-B46B-4BF2-80F2-DA583A75044E}" srcOrd="2" destOrd="0" parTransId="{5645C486-8F55-4C5D-BAFE-57B0FB9C1457}" sibTransId="{0F8F958D-95B3-4287-AB04-371DBF737C1C}"/>
    <dgm:cxn modelId="{FBDBE29A-0A0F-4D97-8A3B-694C132A4FE5}" srcId="{3DE9E547-3C66-4E5D-9D07-0515EED2B913}" destId="{23F2D5E2-61FA-40AD-9F7D-BF405C8CDFAE}" srcOrd="3" destOrd="0" parTransId="{AB5E8461-293C-485A-87B5-1F0B83CE1442}" sibTransId="{2155DDCB-A76B-4506-AD94-A2E4AE9F6F2F}"/>
    <dgm:cxn modelId="{29C2BAEC-ED4D-4373-A7AC-67C709E24E0D}" type="presOf" srcId="{23F2D5E2-61FA-40AD-9F7D-BF405C8CDFAE}" destId="{126D987F-03E4-4E3A-BED9-08B6BA3A15AB}" srcOrd="0" destOrd="0" presId="urn:microsoft.com/office/officeart/2005/8/layout/default#1"/>
    <dgm:cxn modelId="{DDEACEAE-9F22-4876-8BE4-E9A2722E6E0E}" type="presOf" srcId="{F9022B54-68C2-4973-9A00-460029290542}" destId="{E43CDCF3-D5B2-4556-A6FF-1FBA940E878F}" srcOrd="0" destOrd="0" presId="urn:microsoft.com/office/officeart/2005/8/layout/default#1"/>
    <dgm:cxn modelId="{31217294-24E0-4BEF-8232-945035A8AD4E}" type="presOf" srcId="{3DE9E547-3C66-4E5D-9D07-0515EED2B913}" destId="{46A1C575-DE29-4021-A28C-E1E7FA78085E}" srcOrd="0" destOrd="0" presId="urn:microsoft.com/office/officeart/2005/8/layout/default#1"/>
    <dgm:cxn modelId="{0F3B32EC-7063-4445-BBBA-595449906008}" type="presOf" srcId="{BBBB9B4E-DA71-45DE-92BC-1EF247E5F9B2}" destId="{08678D36-F832-48B7-8548-C43AEE1F6A43}" srcOrd="0" destOrd="0" presId="urn:microsoft.com/office/officeart/2005/8/layout/default#1"/>
    <dgm:cxn modelId="{8294D506-3CCF-46C3-9D45-09DDBBAFC9A2}" srcId="{3DE9E547-3C66-4E5D-9D07-0515EED2B913}" destId="{BBBB9B4E-DA71-45DE-92BC-1EF247E5F9B2}" srcOrd="1" destOrd="0" parTransId="{A9ED417C-F968-4650-A07D-E6C8B9F80C83}" sibTransId="{8B37F55B-F450-4B0B-98F7-A2B490DAC81A}"/>
    <dgm:cxn modelId="{A36A33C9-5EC3-4472-82B9-956D1373C0B4}" srcId="{3DE9E547-3C66-4E5D-9D07-0515EED2B913}" destId="{F9022B54-68C2-4973-9A00-460029290542}" srcOrd="0" destOrd="0" parTransId="{0EBC0F7C-C083-479E-822C-AA3F278D062A}" sibTransId="{AEC43A17-FDDC-4261-BB01-B6005B7A4552}"/>
    <dgm:cxn modelId="{B22B4283-A279-4AFB-A3E5-2A46ADDA7FE6}" type="presOf" srcId="{C11B75ED-B46B-4BF2-80F2-DA583A75044E}" destId="{D32AB574-D896-42B8-809A-74BD322B19E9}" srcOrd="0" destOrd="0" presId="urn:microsoft.com/office/officeart/2005/8/layout/default#1"/>
    <dgm:cxn modelId="{3DE9520B-3D7C-4FAB-906B-2D897AC21341}" type="presParOf" srcId="{46A1C575-DE29-4021-A28C-E1E7FA78085E}" destId="{E43CDCF3-D5B2-4556-A6FF-1FBA940E878F}" srcOrd="0" destOrd="0" presId="urn:microsoft.com/office/officeart/2005/8/layout/default#1"/>
    <dgm:cxn modelId="{AF2798AA-4FB0-4832-B5A8-F1B505E63B91}" type="presParOf" srcId="{46A1C575-DE29-4021-A28C-E1E7FA78085E}" destId="{54066D3B-676A-41CA-98B3-C0905E22B6EF}" srcOrd="1" destOrd="0" presId="urn:microsoft.com/office/officeart/2005/8/layout/default#1"/>
    <dgm:cxn modelId="{1B20A3D1-3449-4A00-ABFC-5DE469169C01}" type="presParOf" srcId="{46A1C575-DE29-4021-A28C-E1E7FA78085E}" destId="{08678D36-F832-48B7-8548-C43AEE1F6A43}" srcOrd="2" destOrd="0" presId="urn:microsoft.com/office/officeart/2005/8/layout/default#1"/>
    <dgm:cxn modelId="{F4F3D9FF-1A46-441C-814B-3A219E73A9FE}" type="presParOf" srcId="{46A1C575-DE29-4021-A28C-E1E7FA78085E}" destId="{94E3CC2B-92E4-4B0C-B930-B4411572BF9F}" srcOrd="3" destOrd="0" presId="urn:microsoft.com/office/officeart/2005/8/layout/default#1"/>
    <dgm:cxn modelId="{21457D86-0AB0-45E6-A240-35A619C7B1E5}" type="presParOf" srcId="{46A1C575-DE29-4021-A28C-E1E7FA78085E}" destId="{D32AB574-D896-42B8-809A-74BD322B19E9}" srcOrd="4" destOrd="0" presId="urn:microsoft.com/office/officeart/2005/8/layout/default#1"/>
    <dgm:cxn modelId="{C2232D43-9AA5-4C16-89DF-16B287F5E19F}" type="presParOf" srcId="{46A1C575-DE29-4021-A28C-E1E7FA78085E}" destId="{8FCDC96A-B844-4560-9827-3799EB37A607}" srcOrd="5" destOrd="0" presId="urn:microsoft.com/office/officeart/2005/8/layout/default#1"/>
    <dgm:cxn modelId="{9D77DE52-1789-4328-AE9A-C35529B7A16D}" type="presParOf" srcId="{46A1C575-DE29-4021-A28C-E1E7FA78085E}" destId="{126D987F-03E4-4E3A-BED9-08B6BA3A15AB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Introduction </a:t>
          </a:r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/>
            <a:t>to </a:t>
          </a:r>
          <a:endParaRPr lang="en-US" sz="6500" kern="1200" dirty="0" smtClean="0"/>
        </a:p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kern="1200" dirty="0" smtClean="0"/>
            <a:t>Excel 2010</a:t>
          </a:r>
          <a:endParaRPr lang="en-US" sz="6500" kern="1200" dirty="0"/>
        </a:p>
      </dsp:txBody>
      <dsp:txXfrm>
        <a:off x="162" y="1817"/>
        <a:ext cx="8838875" cy="48114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72E4C6-FDD6-4F32-8994-B9E0115268C3}">
      <dsp:nvSpPr>
        <dsp:cNvPr id="0" name=""/>
        <dsp:cNvSpPr/>
      </dsp:nvSpPr>
      <dsp:spPr>
        <a:xfrm>
          <a:off x="162" y="1817"/>
          <a:ext cx="8838875" cy="4811494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kern="1200" dirty="0" smtClean="0"/>
            <a:t>MS Excel Basics</a:t>
          </a:r>
          <a:endParaRPr lang="en-US" sz="4800" kern="1200" dirty="0"/>
        </a:p>
      </dsp:txBody>
      <dsp:txXfrm>
        <a:off x="162" y="1817"/>
        <a:ext cx="8838875" cy="48114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5882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How to explore Excel window</a:t>
          </a:r>
          <a:endParaRPr lang="en-US" sz="3100" kern="1200" dirty="0"/>
        </a:p>
      </dsp:txBody>
      <dsp:txXfrm>
        <a:off x="158829" y="1314"/>
        <a:ext cx="2662981" cy="1597788"/>
      </dsp:txXfrm>
    </dsp:sp>
    <dsp:sp modelId="{08678D36-F832-48B7-8548-C43AEE1F6A43}">
      <dsp:nvSpPr>
        <dsp:cNvPr id="0" name=""/>
        <dsp:cNvSpPr/>
      </dsp:nvSpPr>
      <dsp:spPr>
        <a:xfrm>
          <a:off x="3088109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25223"/>
                <a:satOff val="-624"/>
                <a:lumOff val="357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25223"/>
                <a:satOff val="-624"/>
                <a:lumOff val="357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25223"/>
                <a:satOff val="-624"/>
                <a:lumOff val="357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How to explore the backstage view</a:t>
          </a:r>
          <a:endParaRPr lang="en-US" sz="3100" kern="1200" dirty="0"/>
        </a:p>
      </dsp:txBody>
      <dsp:txXfrm>
        <a:off x="3088109" y="1314"/>
        <a:ext cx="2662981" cy="1597788"/>
      </dsp:txXfrm>
    </dsp:sp>
    <dsp:sp modelId="{D32AB574-D896-42B8-809A-74BD322B19E9}">
      <dsp:nvSpPr>
        <dsp:cNvPr id="0" name=""/>
        <dsp:cNvSpPr/>
      </dsp:nvSpPr>
      <dsp:spPr>
        <a:xfrm>
          <a:off x="6017388" y="1314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0445"/>
                <a:satOff val="-1247"/>
                <a:lumOff val="713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0445"/>
                <a:satOff val="-1247"/>
                <a:lumOff val="713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0445"/>
                <a:satOff val="-1247"/>
                <a:lumOff val="71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How to enter values in excel</a:t>
          </a:r>
          <a:endParaRPr lang="en-US" sz="3100" kern="1200" dirty="0"/>
        </a:p>
      </dsp:txBody>
      <dsp:txXfrm>
        <a:off x="6017388" y="1314"/>
        <a:ext cx="2662981" cy="1597788"/>
      </dsp:txXfrm>
    </dsp:sp>
    <dsp:sp modelId="{126D987F-03E4-4E3A-BED9-08B6BA3A15AB}">
      <dsp:nvSpPr>
        <dsp:cNvPr id="0" name=""/>
        <dsp:cNvSpPr/>
      </dsp:nvSpPr>
      <dsp:spPr>
        <a:xfrm>
          <a:off x="15882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75668"/>
                <a:satOff val="-1871"/>
                <a:lumOff val="1070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75668"/>
                <a:satOff val="-1871"/>
                <a:lumOff val="1070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75668"/>
                <a:satOff val="-1871"/>
                <a:lumOff val="1070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How to move around</a:t>
          </a:r>
          <a:endParaRPr lang="en-US" sz="3100" kern="1200" dirty="0"/>
        </a:p>
      </dsp:txBody>
      <dsp:txXfrm>
        <a:off x="158829" y="1865401"/>
        <a:ext cx="2662981" cy="1597788"/>
      </dsp:txXfrm>
    </dsp:sp>
    <dsp:sp modelId="{A0EFA616-1553-4077-9D32-88AE20AC0552}">
      <dsp:nvSpPr>
        <dsp:cNvPr id="0" name=""/>
        <dsp:cNvSpPr/>
      </dsp:nvSpPr>
      <dsp:spPr>
        <a:xfrm>
          <a:off x="3088109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00890"/>
                <a:satOff val="-2494"/>
                <a:lumOff val="1427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00890"/>
                <a:satOff val="-2494"/>
                <a:lumOff val="1427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00890"/>
                <a:satOff val="-2494"/>
                <a:lumOff val="1427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How to save workbook</a:t>
          </a:r>
          <a:endParaRPr lang="en-US" sz="3100" kern="1200" dirty="0"/>
        </a:p>
      </dsp:txBody>
      <dsp:txXfrm>
        <a:off x="3088109" y="1865401"/>
        <a:ext cx="2662981" cy="1597788"/>
      </dsp:txXfrm>
    </dsp:sp>
    <dsp:sp modelId="{D944875E-4200-44D3-9F4D-D995865E5F68}">
      <dsp:nvSpPr>
        <dsp:cNvPr id="0" name=""/>
        <dsp:cNvSpPr/>
      </dsp:nvSpPr>
      <dsp:spPr>
        <a:xfrm>
          <a:off x="6017388" y="1865401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26113"/>
                <a:satOff val="-3118"/>
                <a:lumOff val="1784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26113"/>
                <a:satOff val="-3118"/>
                <a:lumOff val="1784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26113"/>
                <a:satOff val="-3118"/>
                <a:lumOff val="1784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100" kern="1200" dirty="0" smtClean="0"/>
            <a:t>How to create Worksheet</a:t>
          </a:r>
          <a:endParaRPr lang="en-US" sz="3100" kern="1200" dirty="0"/>
        </a:p>
      </dsp:txBody>
      <dsp:txXfrm>
        <a:off x="6017388" y="1865401"/>
        <a:ext cx="2662981" cy="1597788"/>
      </dsp:txXfrm>
    </dsp:sp>
    <dsp:sp modelId="{4F3BB94F-726F-42B1-B2C9-9077543F3D05}">
      <dsp:nvSpPr>
        <dsp:cNvPr id="0" name=""/>
        <dsp:cNvSpPr/>
      </dsp:nvSpPr>
      <dsp:spPr>
        <a:xfrm>
          <a:off x="162346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51335"/>
                <a:satOff val="-3741"/>
                <a:lumOff val="2141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51335"/>
                <a:satOff val="-3741"/>
                <a:lumOff val="2141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51335"/>
                <a:satOff val="-3741"/>
                <a:lumOff val="2141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/>
            <a:t>How </a:t>
          </a:r>
          <a:r>
            <a:rPr lang="en-GB" sz="3100" kern="1200" dirty="0" smtClean="0"/>
            <a:t>to copy worksheet</a:t>
          </a:r>
          <a:endParaRPr lang="en-GB" sz="3100" kern="1200" dirty="0"/>
        </a:p>
      </dsp:txBody>
      <dsp:txXfrm>
        <a:off x="1623469" y="3729488"/>
        <a:ext cx="2662981" cy="1597788"/>
      </dsp:txXfrm>
    </dsp:sp>
    <dsp:sp modelId="{31EA35DB-A737-45B2-AEA8-3AC4C64F3EDA}">
      <dsp:nvSpPr>
        <dsp:cNvPr id="0" name=""/>
        <dsp:cNvSpPr/>
      </dsp:nvSpPr>
      <dsp:spPr>
        <a:xfrm>
          <a:off x="4552749" y="3729488"/>
          <a:ext cx="2662981" cy="1597788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lvl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3100" kern="1200" dirty="0"/>
            <a:t>How </a:t>
          </a:r>
          <a:r>
            <a:rPr lang="en-GB" sz="3100" kern="1200" dirty="0" smtClean="0"/>
            <a:t>to hide worksheet</a:t>
          </a:r>
          <a:endParaRPr lang="en-GB" sz="3100" kern="1200" dirty="0"/>
        </a:p>
      </dsp:txBody>
      <dsp:txXfrm>
        <a:off x="4552749" y="3729488"/>
        <a:ext cx="2662981" cy="15977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CDCF3-D5B2-4556-A6FF-1FBA940E878F}">
      <dsp:nvSpPr>
        <dsp:cNvPr id="0" name=""/>
        <dsp:cNvSpPr/>
      </dsp:nvSpPr>
      <dsp:spPr>
        <a:xfrm>
          <a:off x="118906" y="1961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How to delete worksheet</a:t>
          </a:r>
          <a:endParaRPr lang="en-US" sz="4900" kern="1200" dirty="0"/>
        </a:p>
      </dsp:txBody>
      <dsp:txXfrm>
        <a:off x="118906" y="1961"/>
        <a:ext cx="4095898" cy="2457539"/>
      </dsp:txXfrm>
    </dsp:sp>
    <dsp:sp modelId="{08678D36-F832-48B7-8548-C43AEE1F6A43}">
      <dsp:nvSpPr>
        <dsp:cNvPr id="0" name=""/>
        <dsp:cNvSpPr/>
      </dsp:nvSpPr>
      <dsp:spPr>
        <a:xfrm>
          <a:off x="4624394" y="1961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58853"/>
                <a:satOff val="-1455"/>
                <a:lumOff val="832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58853"/>
                <a:satOff val="-1455"/>
                <a:lumOff val="832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58853"/>
                <a:satOff val="-1455"/>
                <a:lumOff val="832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How to close workbook</a:t>
          </a:r>
          <a:endParaRPr lang="en-US" sz="4900" kern="1200" dirty="0"/>
        </a:p>
      </dsp:txBody>
      <dsp:txXfrm>
        <a:off x="4624394" y="1961"/>
        <a:ext cx="4095898" cy="2457539"/>
      </dsp:txXfrm>
    </dsp:sp>
    <dsp:sp modelId="{D32AB574-D896-42B8-809A-74BD322B19E9}">
      <dsp:nvSpPr>
        <dsp:cNvPr id="0" name=""/>
        <dsp:cNvSpPr/>
      </dsp:nvSpPr>
      <dsp:spPr>
        <a:xfrm>
          <a:off x="118906" y="2869090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17705"/>
                <a:satOff val="-2910"/>
                <a:lumOff val="16659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17705"/>
                <a:satOff val="-2910"/>
                <a:lumOff val="16659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17705"/>
                <a:satOff val="-2910"/>
                <a:lumOff val="1665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How to open workbook</a:t>
          </a:r>
          <a:endParaRPr lang="en-US" sz="4900" kern="1200" dirty="0"/>
        </a:p>
      </dsp:txBody>
      <dsp:txXfrm>
        <a:off x="118906" y="2869090"/>
        <a:ext cx="4095898" cy="2457539"/>
      </dsp:txXfrm>
    </dsp:sp>
    <dsp:sp modelId="{126D987F-03E4-4E3A-BED9-08B6BA3A15AB}">
      <dsp:nvSpPr>
        <dsp:cNvPr id="0" name=""/>
        <dsp:cNvSpPr/>
      </dsp:nvSpPr>
      <dsp:spPr>
        <a:xfrm>
          <a:off x="4624394" y="2869090"/>
          <a:ext cx="4095898" cy="2457539"/>
        </a:xfrm>
        <a:prstGeom prst="rect">
          <a:avLst/>
        </a:prstGeom>
        <a:gradFill rotWithShape="0">
          <a:gsLst>
            <a:gs pos="0">
              <a:schemeClr val="accent4">
                <a:shade val="80000"/>
                <a:hueOff val="-176558"/>
                <a:satOff val="-4365"/>
                <a:lumOff val="24988"/>
                <a:alphaOff val="0"/>
                <a:shade val="51000"/>
                <a:satMod val="130000"/>
              </a:schemeClr>
            </a:gs>
            <a:gs pos="80000">
              <a:schemeClr val="accent4">
                <a:shade val="80000"/>
                <a:hueOff val="-176558"/>
                <a:satOff val="-4365"/>
                <a:lumOff val="24988"/>
                <a:alphaOff val="0"/>
                <a:shade val="93000"/>
                <a:satMod val="130000"/>
              </a:schemeClr>
            </a:gs>
            <a:gs pos="100000">
              <a:schemeClr val="accent4">
                <a:shade val="80000"/>
                <a:hueOff val="-176558"/>
                <a:satOff val="-4365"/>
                <a:lumOff val="2498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6690" tIns="186690" rIns="186690" bIns="186690" numCol="1" spcCol="1270" anchor="ctr" anchorCtr="0">
          <a:noAutofit/>
        </a:bodyPr>
        <a:lstStyle/>
        <a:p>
          <a:pPr lvl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900" kern="1200" dirty="0" smtClean="0"/>
            <a:t>How to use context help in excel</a:t>
          </a:r>
          <a:endParaRPr lang="en-US" sz="4900" kern="1200" dirty="0"/>
        </a:p>
      </dsp:txBody>
      <dsp:txXfrm>
        <a:off x="4624394" y="2869090"/>
        <a:ext cx="4095898" cy="24575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91ACEF-6E31-49EA-9B4B-336BC171E6AE}" type="datetimeFigureOut">
              <a:rPr lang="en-US" smtClean="0"/>
              <a:pPr/>
              <a:t>3/22/2021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81F64-38B6-442F-BAD6-2D03BCFD5B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994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975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C881F64-38B6-442F-BAD6-2D03BCFD5B11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solidFill>
                  <a:prstClr val="black"/>
                </a:solidFill>
                <a:latin typeface="Calibri" pitchFamily="34" charset="0"/>
              </a:rPr>
              <a:pPr/>
              <a:t>50</a:t>
            </a:fld>
            <a:endParaRPr lang="en-US" smtClean="0">
              <a:solidFill>
                <a:prstClr val="black"/>
              </a:solidFill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fld id="{96C858E7-ADF8-44F4-9725-358398E79A0E}" type="slidenum">
              <a:rPr lang="en-US" smtClean="0">
                <a:latin typeface="Calibri" pitchFamily="34" charset="0"/>
              </a:rPr>
              <a:pPr/>
              <a:t>51</a:t>
            </a:fld>
            <a:endParaRPr lang="en-US" smtClean="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 userDrawn="1"/>
        </p:nvSpPr>
        <p:spPr>
          <a:xfrm>
            <a:off x="1219200" y="5486400"/>
            <a:ext cx="35814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>
              <a:defRPr sz="4800">
                <a:latin typeface="Arial Black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Your Interactive Guide to the Digital World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4267200"/>
            <a:ext cx="4876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Arial Black" pitchFamily="34" charset="0"/>
              </a:rPr>
              <a:t>Discovering </a:t>
            </a:r>
            <a:br>
              <a:rPr lang="en-US" sz="3200" dirty="0">
                <a:latin typeface="Arial Black" pitchFamily="34" charset="0"/>
              </a:rPr>
            </a:br>
            <a:r>
              <a:rPr lang="en-US" sz="3200" dirty="0">
                <a:latin typeface="Arial Black" pitchFamily="34" charset="0"/>
              </a:rPr>
              <a:t>	Computers 2012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6606" y="3276600"/>
            <a:ext cx="3957394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32358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839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4572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152400" y="6400800"/>
            <a:ext cx="1676400" cy="304800"/>
          </a:xfrm>
        </p:spPr>
        <p:txBody>
          <a:bodyPr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en-US" dirty="0"/>
              <a:t>Page </a:t>
            </a:r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Discovering Computers 2012: Chapter 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/>
          <a:lstStyle/>
          <a:p>
            <a:fld id="{E1920792-1FFE-4123-96E7-9B6DC9FF0B0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latin typeface="+mn-lt"/>
              </a:defRPr>
            </a:lvl1pPr>
            <a:lvl2pPr>
              <a:buFont typeface="Wingdings" pitchFamily="2" charset="2"/>
              <a:buChar char="v"/>
              <a:defRPr sz="3200">
                <a:latin typeface="+mn-lt"/>
              </a:defRPr>
            </a:lvl2pPr>
            <a:lvl3pPr>
              <a:defRPr sz="2800">
                <a:latin typeface="+mn-lt"/>
              </a:defRPr>
            </a:lvl3pPr>
            <a:lvl4pPr>
              <a:buFont typeface="Wingdings" pitchFamily="2" charset="2"/>
              <a:buChar char="v"/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© 2010 Pearson Education, Inc.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Slide 3-</a:t>
            </a:r>
            <a:fld id="{72C99F3E-92BD-47C6-B43F-19488E1C38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59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20000"/>
                <a:lumOff val="80000"/>
              </a:schemeClr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/>
              <a:t>Discovering Computers 2012: Chapter 1</a:t>
            </a:r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0" y="121920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1"/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EEEBCA"/>
                </a:solidFill>
              </a:defRPr>
            </a:lvl1pPr>
          </a:lstStyle>
          <a:p>
            <a:fld id="{E1920792-1FFE-4123-96E7-9B6DC9FF0B06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accent4">
              <a:lumMod val="75000"/>
            </a:schemeClr>
          </a:solidFill>
          <a:latin typeface="+mj-lt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4">
            <a:lumMod val="75000"/>
          </a:schemeClr>
        </a:buClr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350772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05730"/>
              </p:ext>
            </p:extLst>
          </p:nvPr>
        </p:nvGraphicFramePr>
        <p:xfrm>
          <a:off x="152400" y="1196752"/>
          <a:ext cx="8839200" cy="49754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951097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9972E4C6-FDD6-4F32-8994-B9E0115268C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6096475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515396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A0EFA616-1553-4077-9D32-88AE20AC05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>
                                            <p:graphicEl>
                                              <a:dgm id="{D944875E-4200-44D3-9F4D-D995865E5F6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">
                                            <p:graphicEl>
                                              <a:dgm id="{4F3BB94F-726F-42B1-B2C9-9077543F3D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">
                                            <p:graphicEl>
                                              <a:dgm id="{31EA35DB-A737-45B2-AEA8-3AC4C64F3ED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Overview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726156"/>
              </p:ext>
            </p:extLst>
          </p:nvPr>
        </p:nvGraphicFramePr>
        <p:xfrm>
          <a:off x="28135" y="1268760"/>
          <a:ext cx="8839200" cy="5328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050020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E43CDCF3-D5B2-4556-A6FF-1FBA940E87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graphicEl>
                                              <a:dgm id="{08678D36-F832-48B7-8548-C43AEE1F6A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graphicEl>
                                              <a:dgm id="{D32AB574-D896-42B8-809A-74BD322B19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126D987F-03E4-4E3A-BED9-08B6BA3A15A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MS Excel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Microsoft Excel is a </a:t>
            </a:r>
            <a:r>
              <a:rPr lang="en-GB" sz="2800" dirty="0" smtClean="0"/>
              <a:t>spread sheet </a:t>
            </a:r>
            <a:r>
              <a:rPr lang="en-GB" sz="2800" dirty="0"/>
              <a:t>tool capable of performing </a:t>
            </a:r>
            <a:r>
              <a:rPr lang="en-GB" sz="2800" b="1" dirty="0"/>
              <a:t>calculations</a:t>
            </a:r>
            <a:r>
              <a:rPr lang="en-GB" sz="2800" dirty="0"/>
              <a:t>, </a:t>
            </a:r>
            <a:r>
              <a:rPr lang="en-GB" sz="2800" b="1" dirty="0" smtClean="0"/>
              <a:t>analysing </a:t>
            </a:r>
            <a:r>
              <a:rPr lang="en-GB" sz="2800" b="1" dirty="0"/>
              <a:t>data </a:t>
            </a:r>
            <a:r>
              <a:rPr lang="en-GB" sz="2800" dirty="0"/>
              <a:t>and </a:t>
            </a:r>
            <a:r>
              <a:rPr lang="en-GB" sz="2800" b="1" dirty="0"/>
              <a:t>integrating</a:t>
            </a:r>
            <a:r>
              <a:rPr lang="en-GB" sz="2800" dirty="0"/>
              <a:t> information from different programs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Microsoft Excel is a commercial </a:t>
            </a:r>
            <a:r>
              <a:rPr lang="en-GB" sz="2800" dirty="0" smtClean="0"/>
              <a:t>spread sheet </a:t>
            </a:r>
            <a:r>
              <a:rPr lang="en-GB" sz="2800" dirty="0"/>
              <a:t>application, written and distributed by Microsoft for Microsoft Windows and Mac OS </a:t>
            </a:r>
            <a:r>
              <a:rPr lang="en-GB" sz="2800" dirty="0" smtClean="0"/>
              <a:t>X.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By default, documents saved in Excel 2010 are saved with the </a:t>
            </a:r>
            <a:r>
              <a:rPr lang="en-GB" sz="2800" b="1" dirty="0">
                <a:solidFill>
                  <a:srgbClr val="FF0000"/>
                </a:solidFill>
              </a:rPr>
              <a:t>.</a:t>
            </a:r>
            <a:r>
              <a:rPr lang="en-GB" sz="2800" b="1" dirty="0" err="1">
                <a:solidFill>
                  <a:srgbClr val="FF0000"/>
                </a:solidFill>
              </a:rPr>
              <a:t>xlsx</a:t>
            </a:r>
            <a:r>
              <a:rPr lang="en-GB" sz="2800" b="1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extension whereas the file extension of the prior Excel versions are </a:t>
            </a:r>
            <a:r>
              <a:rPr lang="en-GB" sz="2800" b="1" dirty="0">
                <a:solidFill>
                  <a:srgbClr val="FF0000"/>
                </a:solidFill>
              </a:rPr>
              <a:t>.</a:t>
            </a:r>
            <a:r>
              <a:rPr lang="en-GB" sz="2800" b="1" dirty="0" err="1">
                <a:solidFill>
                  <a:srgbClr val="FF0000"/>
                </a:solidFill>
              </a:rPr>
              <a:t>xls</a:t>
            </a:r>
            <a:r>
              <a:rPr lang="en-GB" sz="2800" dirty="0"/>
              <a:t>.</a:t>
            </a:r>
            <a:endParaRPr lang="en-US" sz="28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with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on the </a:t>
            </a:r>
            <a:r>
              <a:rPr lang="en-GB" sz="2800" b="1" dirty="0"/>
              <a:t>Start button</a:t>
            </a:r>
            <a:r>
              <a:rPr lang="en-GB" sz="2800" dirty="0"/>
              <a:t>.</a:t>
            </a:r>
          </a:p>
        </p:txBody>
      </p:sp>
      <p:pic>
        <p:nvPicPr>
          <p:cNvPr id="1026" name="Picture 2" descr="C:\Users\UCCSMS1\Desktop\images\start_butt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060848"/>
            <a:ext cx="6025852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88773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with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Click on </a:t>
            </a:r>
            <a:r>
              <a:rPr lang="en-GB" sz="2800" b="1" dirty="0"/>
              <a:t>All Programs </a:t>
            </a:r>
            <a:r>
              <a:rPr lang="en-GB" sz="2800" dirty="0"/>
              <a:t>option from the </a:t>
            </a:r>
            <a:r>
              <a:rPr lang="en-GB" sz="2800" dirty="0" smtClean="0"/>
              <a:t>menu.</a:t>
            </a:r>
            <a:endParaRPr lang="en-GB" sz="2800" dirty="0"/>
          </a:p>
        </p:txBody>
      </p:sp>
      <p:pic>
        <p:nvPicPr>
          <p:cNvPr id="2050" name="Picture 2" descr="C:\Users\UCCSMS1\Desktop\images\all_program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132856"/>
            <a:ext cx="6336704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8717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with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3</a:t>
            </a:r>
          </a:p>
          <a:p>
            <a:pPr algn="just"/>
            <a:r>
              <a:rPr lang="en-GB" sz="2800" dirty="0"/>
              <a:t>Search for </a:t>
            </a:r>
            <a:r>
              <a:rPr lang="en-GB" sz="2800" b="1" dirty="0"/>
              <a:t>Microsoft Office </a:t>
            </a:r>
            <a:r>
              <a:rPr lang="en-GB" sz="2800" dirty="0"/>
              <a:t>from the sub menu and click it</a:t>
            </a:r>
            <a:r>
              <a:rPr lang="en-GB" sz="2800" dirty="0" smtClean="0"/>
              <a:t>.</a:t>
            </a:r>
            <a:endParaRPr lang="en-GB" sz="2800" dirty="0"/>
          </a:p>
        </p:txBody>
      </p:sp>
      <p:pic>
        <p:nvPicPr>
          <p:cNvPr id="3074" name="Picture 2" descr="C:\Users\UCCSMS1\Desktop\images\microsoft_offic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348880"/>
            <a:ext cx="5715000" cy="3686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7612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with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4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Search for </a:t>
            </a:r>
            <a:r>
              <a:rPr lang="en-GB" sz="2800" b="1" dirty="0"/>
              <a:t>Microsoft Excel 2010 </a:t>
            </a:r>
            <a:r>
              <a:rPr lang="en-GB" sz="2800" dirty="0"/>
              <a:t>from the submenu and click it.</a:t>
            </a:r>
          </a:p>
          <a:p>
            <a:pPr marL="0" indent="0" algn="just">
              <a:buNone/>
            </a:pPr>
            <a:endParaRPr lang="en-GB" sz="2800" dirty="0"/>
          </a:p>
        </p:txBody>
      </p:sp>
      <p:pic>
        <p:nvPicPr>
          <p:cNvPr id="4098" name="Picture 2" descr="C:\Users\UCCSMS1\Desktop\images\microsoft_exce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2420888"/>
            <a:ext cx="5715000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433205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Started with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4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This will launch the Microsoft Excel 2010 application and you will see the following excel window</a:t>
            </a:r>
            <a:r>
              <a:rPr lang="en-GB" sz="2800" dirty="0" smtClean="0"/>
              <a:t>.</a:t>
            </a:r>
            <a:endParaRPr lang="en-GB" sz="2800" dirty="0"/>
          </a:p>
          <a:p>
            <a:pPr marL="0" indent="0" algn="just">
              <a:buNone/>
            </a:pPr>
            <a:endParaRPr lang="en-GB" sz="2800" dirty="0"/>
          </a:p>
        </p:txBody>
      </p:sp>
      <p:pic>
        <p:nvPicPr>
          <p:cNvPr id="5122" name="Picture 2" descr="C:\Users\UCCSMS1\Desktop\images\excel_wind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276872"/>
            <a:ext cx="8280920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23874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endParaRPr lang="en-GB" sz="2800" dirty="0"/>
          </a:p>
        </p:txBody>
      </p:sp>
      <p:pic>
        <p:nvPicPr>
          <p:cNvPr id="6146" name="Picture 2" descr="C:\Users\UCCSMS1\Desktop\images\explore_excel_window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836712"/>
            <a:ext cx="8568952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40896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File </a:t>
            </a:r>
            <a:r>
              <a:rPr lang="en-GB" sz="3600" b="1" dirty="0" smtClean="0">
                <a:solidFill>
                  <a:srgbClr val="FF0000"/>
                </a:solidFill>
              </a:rPr>
              <a:t>Tab</a:t>
            </a:r>
          </a:p>
          <a:p>
            <a:pPr algn="just"/>
            <a:r>
              <a:rPr lang="en-GB" sz="2800" dirty="0"/>
              <a:t>The File tab replaces the </a:t>
            </a:r>
            <a:r>
              <a:rPr lang="en-GB" sz="2800" b="1" dirty="0"/>
              <a:t>Office button </a:t>
            </a:r>
            <a:r>
              <a:rPr lang="en-GB" sz="2800" dirty="0"/>
              <a:t>from Excel </a:t>
            </a:r>
            <a:r>
              <a:rPr lang="en-GB" sz="2800" dirty="0" smtClean="0"/>
              <a:t>2007.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You </a:t>
            </a:r>
            <a:r>
              <a:rPr lang="en-GB" sz="2800" dirty="0"/>
              <a:t>can click it to check the </a:t>
            </a:r>
            <a:r>
              <a:rPr lang="en-GB" sz="2800" b="1" dirty="0"/>
              <a:t>Backstage </a:t>
            </a:r>
            <a:r>
              <a:rPr lang="en-GB" sz="2800" b="1" dirty="0" smtClean="0"/>
              <a:t>view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The backstage view enables </a:t>
            </a:r>
            <a:r>
              <a:rPr lang="en-GB" sz="2800" dirty="0" smtClean="0"/>
              <a:t>you </a:t>
            </a:r>
            <a:r>
              <a:rPr lang="en-GB" sz="2800" dirty="0"/>
              <a:t>to </a:t>
            </a:r>
            <a:r>
              <a:rPr lang="en-GB" sz="2800" b="1" dirty="0"/>
              <a:t>open or save files</a:t>
            </a:r>
            <a:r>
              <a:rPr lang="en-GB" sz="2800" dirty="0"/>
              <a:t>, </a:t>
            </a:r>
            <a:r>
              <a:rPr lang="en-GB" sz="2800" b="1" dirty="0"/>
              <a:t>create new sheets</a:t>
            </a:r>
            <a:r>
              <a:rPr lang="en-GB" sz="2800" dirty="0"/>
              <a:t>, </a:t>
            </a:r>
            <a:r>
              <a:rPr lang="en-GB" sz="2800" b="1" dirty="0"/>
              <a:t>print a sheet</a:t>
            </a:r>
            <a:r>
              <a:rPr lang="en-GB" sz="2800" dirty="0"/>
              <a:t>, and do other file-related operations.</a:t>
            </a:r>
            <a:endParaRPr lang="en-GB" sz="2800" dirty="0" smtClean="0"/>
          </a:p>
          <a:p>
            <a:pPr marL="0" indent="0" algn="just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75537062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Quick Access </a:t>
            </a:r>
            <a:r>
              <a:rPr lang="en-GB" sz="3600" b="1" dirty="0" smtClean="0">
                <a:solidFill>
                  <a:srgbClr val="FF0000"/>
                </a:solidFill>
              </a:rPr>
              <a:t>Toolbar</a:t>
            </a:r>
          </a:p>
          <a:p>
            <a:pPr algn="just"/>
            <a:r>
              <a:rPr lang="en-GB" sz="2800" dirty="0"/>
              <a:t>The Quick Access Toolbar can be located in one of two places: </a:t>
            </a:r>
            <a:r>
              <a:rPr lang="en-GB" sz="2800" b="1" dirty="0"/>
              <a:t>Upper-left corner</a:t>
            </a:r>
            <a:r>
              <a:rPr lang="en-GB" sz="2800" dirty="0"/>
              <a:t>, on the </a:t>
            </a:r>
            <a:r>
              <a:rPr lang="en-GB" sz="2800" b="1" dirty="0"/>
              <a:t>title bar</a:t>
            </a:r>
            <a:r>
              <a:rPr lang="en-GB" sz="2800" dirty="0"/>
              <a:t>. (</a:t>
            </a:r>
            <a:r>
              <a:rPr lang="en-GB" sz="2800" b="1" dirty="0"/>
              <a:t>default location</a:t>
            </a:r>
            <a:r>
              <a:rPr lang="en-GB" sz="2800" dirty="0" smtClean="0"/>
              <a:t>)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The Quick Access Toolbar can also be </a:t>
            </a:r>
            <a:r>
              <a:rPr lang="en-GB" sz="2800" dirty="0" smtClean="0"/>
              <a:t>relocated </a:t>
            </a:r>
            <a:r>
              <a:rPr lang="en-GB" sz="2800" dirty="0"/>
              <a:t>below the ribbon.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 smtClean="0"/>
              <a:t>Its </a:t>
            </a:r>
            <a:r>
              <a:rPr lang="en-GB" sz="2800" dirty="0"/>
              <a:t>purpose is to provide a convenient resting place for the Excel's most frequently used commands.</a:t>
            </a:r>
          </a:p>
          <a:p>
            <a:pPr marL="0" indent="0" algn="just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58718390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sz="3600" b="1" dirty="0" smtClean="0">
                <a:solidFill>
                  <a:srgbClr val="FF0000"/>
                </a:solidFill>
              </a:rPr>
              <a:t>Ribbon</a:t>
            </a:r>
          </a:p>
          <a:p>
            <a:pPr marL="0" indent="0">
              <a:buNone/>
            </a:pPr>
            <a:endParaRPr lang="en-GB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sz="36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GB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GB" sz="2800" dirty="0"/>
              <a:t>Ribbon contains commands organized in three components −</a:t>
            </a:r>
          </a:p>
          <a:p>
            <a:endParaRPr lang="en-GB" sz="2800" dirty="0"/>
          </a:p>
          <a:p>
            <a:r>
              <a:rPr lang="en-GB" sz="2800" b="1" dirty="0" smtClean="0"/>
              <a:t>Tabs</a:t>
            </a:r>
            <a:r>
              <a:rPr lang="en-GB" sz="2800" dirty="0" smtClean="0"/>
              <a:t> </a:t>
            </a:r>
            <a:r>
              <a:rPr lang="en-GB" sz="2800" dirty="0"/>
              <a:t>− They appear across the top of the Ribbon and contain groups of related commands. </a:t>
            </a:r>
            <a:r>
              <a:rPr lang="en-GB" sz="2800" b="1" dirty="0"/>
              <a:t>Home</a:t>
            </a:r>
            <a:r>
              <a:rPr lang="en-GB" sz="2800" dirty="0"/>
              <a:t>, </a:t>
            </a:r>
            <a:r>
              <a:rPr lang="en-GB" sz="2800" b="1" dirty="0"/>
              <a:t>Insert</a:t>
            </a:r>
            <a:r>
              <a:rPr lang="en-GB" sz="2800" dirty="0"/>
              <a:t>, </a:t>
            </a:r>
            <a:r>
              <a:rPr lang="en-GB" sz="2800" b="1" dirty="0"/>
              <a:t>Page Layout </a:t>
            </a:r>
            <a:r>
              <a:rPr lang="en-GB" sz="2800" dirty="0"/>
              <a:t>are the examples of ribbon tabs.</a:t>
            </a:r>
          </a:p>
          <a:p>
            <a:endParaRPr lang="en-GB" sz="2800" dirty="0"/>
          </a:p>
          <a:p>
            <a:r>
              <a:rPr lang="en-GB" sz="2800" b="1" dirty="0" smtClean="0"/>
              <a:t>Groups</a:t>
            </a:r>
            <a:r>
              <a:rPr lang="en-GB" sz="2800" dirty="0" smtClean="0"/>
              <a:t> </a:t>
            </a:r>
            <a:r>
              <a:rPr lang="en-GB" sz="2800" dirty="0"/>
              <a:t>− They organize related commands; each group name appears below the group on the Ribbon. For example, group of commands related to </a:t>
            </a:r>
            <a:r>
              <a:rPr lang="en-GB" sz="2800" b="1" dirty="0"/>
              <a:t>fonts</a:t>
            </a:r>
            <a:r>
              <a:rPr lang="en-GB" sz="2800" dirty="0"/>
              <a:t> or group of commands related to </a:t>
            </a:r>
            <a:r>
              <a:rPr lang="en-GB" sz="2800" b="1" dirty="0"/>
              <a:t>alignment </a:t>
            </a:r>
            <a:r>
              <a:rPr lang="en-GB" sz="2800" dirty="0"/>
              <a:t>etc.</a:t>
            </a:r>
          </a:p>
          <a:p>
            <a:endParaRPr lang="en-GB" sz="2800" dirty="0"/>
          </a:p>
          <a:p>
            <a:r>
              <a:rPr lang="en-GB" sz="2800" dirty="0"/>
              <a:t> </a:t>
            </a:r>
            <a:r>
              <a:rPr lang="en-GB" sz="2800" b="1" dirty="0" smtClean="0"/>
              <a:t>Commands</a:t>
            </a:r>
            <a:r>
              <a:rPr lang="en-GB" sz="2800" dirty="0" smtClean="0"/>
              <a:t> </a:t>
            </a:r>
            <a:r>
              <a:rPr lang="en-GB" sz="2800" dirty="0"/>
              <a:t>− Commands appear within each group as mentioned above.</a:t>
            </a:r>
          </a:p>
        </p:txBody>
      </p:sp>
      <p:pic>
        <p:nvPicPr>
          <p:cNvPr id="7170" name="Picture 2" descr="C:\Users\UCCSMS1\Desktop\images\ribbo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980728"/>
            <a:ext cx="7821448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46917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Title </a:t>
            </a:r>
            <a:r>
              <a:rPr lang="en-GB" sz="3600" b="1" dirty="0" smtClean="0">
                <a:solidFill>
                  <a:srgbClr val="FF0000"/>
                </a:solidFill>
              </a:rPr>
              <a:t>Bar</a:t>
            </a:r>
          </a:p>
          <a:p>
            <a:pPr algn="just"/>
            <a:r>
              <a:rPr lang="en-GB" sz="2800" dirty="0"/>
              <a:t>This lies in the </a:t>
            </a:r>
            <a:r>
              <a:rPr lang="en-GB" sz="2800" b="1" dirty="0"/>
              <a:t>middle</a:t>
            </a:r>
            <a:r>
              <a:rPr lang="en-GB" sz="2800" dirty="0"/>
              <a:t> and at the </a:t>
            </a:r>
            <a:r>
              <a:rPr lang="en-GB" sz="2800" b="1" dirty="0"/>
              <a:t>top</a:t>
            </a:r>
            <a:r>
              <a:rPr lang="en-GB" sz="2800" dirty="0"/>
              <a:t> of the window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Title bar shows the program and the sheet titles</a:t>
            </a:r>
            <a:r>
              <a:rPr lang="en-GB" sz="2800" dirty="0" smtClean="0"/>
              <a:t>.</a:t>
            </a:r>
          </a:p>
          <a:p>
            <a:endParaRPr lang="en-GB" sz="2800" dirty="0"/>
          </a:p>
          <a:p>
            <a:pPr marL="0" indent="0">
              <a:buNone/>
            </a:pPr>
            <a:r>
              <a:rPr lang="en-GB" sz="4000" b="1" dirty="0" smtClean="0">
                <a:solidFill>
                  <a:srgbClr val="FF0000"/>
                </a:solidFill>
              </a:rPr>
              <a:t>Help</a:t>
            </a:r>
          </a:p>
          <a:p>
            <a:pPr algn="just"/>
            <a:r>
              <a:rPr lang="en-GB" sz="2800" dirty="0"/>
              <a:t>The Help Icon can be used to get excel related help anytime you like. </a:t>
            </a:r>
            <a:endParaRPr lang="en-GB" sz="2800" dirty="0" smtClean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provides nice tutorial on various subjects related to excel.</a:t>
            </a:r>
          </a:p>
        </p:txBody>
      </p:sp>
    </p:spTree>
    <p:extLst>
      <p:ext uri="{BB962C8B-B14F-4D97-AF65-F5344CB8AC3E}">
        <p14:creationId xmlns:p14="http://schemas.microsoft.com/office/powerpoint/2010/main" val="9879125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Zoom </a:t>
            </a:r>
            <a:r>
              <a:rPr lang="en-GB" sz="3600" b="1" dirty="0" smtClean="0">
                <a:solidFill>
                  <a:srgbClr val="FF0000"/>
                </a:solidFill>
              </a:rPr>
              <a:t>Control</a:t>
            </a:r>
          </a:p>
          <a:p>
            <a:pPr algn="just"/>
            <a:r>
              <a:rPr lang="en-GB" sz="2800" dirty="0"/>
              <a:t>Zoom control lets you zoom in for a closer look at your </a:t>
            </a:r>
            <a:r>
              <a:rPr lang="en-GB" sz="2800" dirty="0" smtClean="0"/>
              <a:t>text.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The zoom control consists of a </a:t>
            </a:r>
            <a:r>
              <a:rPr lang="en-GB" sz="2800" b="1" dirty="0"/>
              <a:t>slider</a:t>
            </a:r>
            <a:r>
              <a:rPr lang="en-GB" sz="2800" dirty="0"/>
              <a:t> that you can slide </a:t>
            </a:r>
            <a:r>
              <a:rPr lang="en-GB" sz="2800" b="1" dirty="0"/>
              <a:t>left</a:t>
            </a:r>
            <a:r>
              <a:rPr lang="en-GB" sz="2800" dirty="0"/>
              <a:t> or </a:t>
            </a:r>
            <a:r>
              <a:rPr lang="en-GB" sz="2800" b="1" dirty="0"/>
              <a:t>right </a:t>
            </a:r>
            <a:r>
              <a:rPr lang="en-GB" sz="2800" dirty="0"/>
              <a:t>to zoom in or out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The </a:t>
            </a:r>
            <a:r>
              <a:rPr lang="en-GB" sz="2800" b="1" dirty="0" smtClean="0">
                <a:solidFill>
                  <a:srgbClr val="FF0000"/>
                </a:solidFill>
              </a:rPr>
              <a:t>+</a:t>
            </a:r>
            <a:r>
              <a:rPr lang="en-GB" sz="2800" dirty="0" smtClean="0"/>
              <a:t> and </a:t>
            </a:r>
            <a:r>
              <a:rPr lang="en-GB" sz="2800" b="1" dirty="0" smtClean="0">
                <a:solidFill>
                  <a:srgbClr val="FF0000"/>
                </a:solidFill>
              </a:rPr>
              <a:t>-</a:t>
            </a:r>
            <a:r>
              <a:rPr lang="en-GB" sz="2800" dirty="0" smtClean="0"/>
              <a:t> </a:t>
            </a:r>
            <a:r>
              <a:rPr lang="en-GB" sz="2800" dirty="0"/>
              <a:t>buttons can be clicked to increase or decrease the zoom factor</a:t>
            </a:r>
          </a:p>
          <a:p>
            <a:pPr marL="0" indent="0" algn="just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314592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View Buttons.</a:t>
            </a:r>
            <a:endParaRPr lang="en-GB" sz="3600" b="1" dirty="0" smtClean="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GB" sz="2800" dirty="0"/>
              <a:t>The group of </a:t>
            </a:r>
            <a:r>
              <a:rPr lang="en-GB" sz="2800" b="1" dirty="0"/>
              <a:t>three buttons </a:t>
            </a:r>
            <a:r>
              <a:rPr lang="en-GB" sz="2800" dirty="0"/>
              <a:t>located to the </a:t>
            </a:r>
            <a:r>
              <a:rPr lang="en-GB" sz="2800" b="1" dirty="0"/>
              <a:t>left of the Zoom control</a:t>
            </a:r>
            <a:r>
              <a:rPr lang="en-GB" sz="2800" dirty="0"/>
              <a:t>, near the bottom of the screen, lets you switch among </a:t>
            </a:r>
            <a:r>
              <a:rPr lang="en-GB" sz="2800" dirty="0" smtClean="0"/>
              <a:t>Excel's </a:t>
            </a:r>
            <a:r>
              <a:rPr lang="en-GB" sz="2800" dirty="0"/>
              <a:t>various sheet views.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/>
              <a:t>Normal </a:t>
            </a:r>
            <a:r>
              <a:rPr lang="en-GB" sz="2800" b="1" dirty="0"/>
              <a:t>Layout view </a:t>
            </a:r>
            <a:r>
              <a:rPr lang="en-GB" sz="2800" dirty="0"/>
              <a:t>− This displays the page in normal view.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/>
              <a:t>Page </a:t>
            </a:r>
            <a:r>
              <a:rPr lang="en-GB" sz="2800" b="1" dirty="0"/>
              <a:t>Layout view </a:t>
            </a:r>
            <a:r>
              <a:rPr lang="en-GB" sz="2800" dirty="0"/>
              <a:t>− This displays pages exactly as they will appear when printed. This gives a full screen look of the document.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b="1" dirty="0" smtClean="0"/>
              <a:t>Page </a:t>
            </a:r>
            <a:r>
              <a:rPr lang="en-GB" sz="2800" b="1" dirty="0"/>
              <a:t>Break view </a:t>
            </a:r>
            <a:r>
              <a:rPr lang="en-GB" sz="2800" dirty="0"/>
              <a:t>− This shows a preview of where pages will break when printed.</a:t>
            </a:r>
          </a:p>
          <a:p>
            <a:pPr marL="0" indent="0" algn="just">
              <a:buNone/>
            </a:pP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81695312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Sheet </a:t>
            </a:r>
            <a:r>
              <a:rPr lang="en-GB" sz="3600" b="1" dirty="0" smtClean="0">
                <a:solidFill>
                  <a:srgbClr val="FF0000"/>
                </a:solidFill>
              </a:rPr>
              <a:t>Area</a:t>
            </a:r>
          </a:p>
          <a:p>
            <a:pPr algn="just"/>
            <a:r>
              <a:rPr lang="en-GB" sz="2800" dirty="0"/>
              <a:t>The area where you enter data. 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The </a:t>
            </a:r>
            <a:r>
              <a:rPr lang="en-GB" sz="2800" dirty="0"/>
              <a:t>flashing vertical bar is called the </a:t>
            </a:r>
            <a:r>
              <a:rPr lang="en-GB" sz="2800" b="1" dirty="0"/>
              <a:t>insertion </a:t>
            </a:r>
            <a:r>
              <a:rPr lang="en-GB" sz="2800" b="1" dirty="0" smtClean="0"/>
              <a:t>point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 smtClean="0"/>
              <a:t> It </a:t>
            </a:r>
            <a:r>
              <a:rPr lang="en-GB" sz="2800" dirty="0"/>
              <a:t>represents the location where text will appear when you type.</a:t>
            </a:r>
          </a:p>
        </p:txBody>
      </p:sp>
    </p:spTree>
    <p:extLst>
      <p:ext uri="{BB962C8B-B14F-4D97-AF65-F5344CB8AC3E}">
        <p14:creationId xmlns:p14="http://schemas.microsoft.com/office/powerpoint/2010/main" val="228281667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764704"/>
            <a:ext cx="8884096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Row Bar</a:t>
            </a:r>
            <a:endParaRPr lang="en-GB" sz="36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Rows are numbered from </a:t>
            </a:r>
            <a:r>
              <a:rPr lang="en-GB" sz="2800" b="1" dirty="0"/>
              <a:t>1</a:t>
            </a:r>
            <a:r>
              <a:rPr lang="en-GB" sz="2800" dirty="0"/>
              <a:t> onwards and keeps on increasing as you keep entering data. 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 smtClean="0"/>
              <a:t>Maximum </a:t>
            </a:r>
            <a:r>
              <a:rPr lang="en-GB" sz="2800" dirty="0"/>
              <a:t>limit is </a:t>
            </a:r>
            <a:r>
              <a:rPr lang="en-GB" sz="2800" b="1" dirty="0">
                <a:solidFill>
                  <a:srgbClr val="FF0000"/>
                </a:solidFill>
              </a:rPr>
              <a:t>1,048,576</a:t>
            </a:r>
            <a:r>
              <a:rPr lang="en-GB" sz="2800" dirty="0"/>
              <a:t> rows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marL="0" indent="0" algn="just">
              <a:buNone/>
            </a:pPr>
            <a:r>
              <a:rPr lang="en-GB" sz="3600" b="1" dirty="0">
                <a:solidFill>
                  <a:srgbClr val="FF0000"/>
                </a:solidFill>
              </a:rPr>
              <a:t>Column </a:t>
            </a:r>
            <a:r>
              <a:rPr lang="en-GB" sz="3600" b="1" dirty="0" smtClean="0">
                <a:solidFill>
                  <a:srgbClr val="FF0000"/>
                </a:solidFill>
              </a:rPr>
              <a:t>Bar</a:t>
            </a:r>
          </a:p>
          <a:p>
            <a:pPr algn="just"/>
            <a:r>
              <a:rPr lang="en-GB" sz="2800" dirty="0"/>
              <a:t>Columns are numbered from </a:t>
            </a:r>
            <a:r>
              <a:rPr lang="en-GB" sz="2800" b="1" dirty="0">
                <a:solidFill>
                  <a:srgbClr val="FF0000"/>
                </a:solidFill>
              </a:rPr>
              <a:t>A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onwards and keeps on increasing as you keep entering data. </a:t>
            </a:r>
            <a:endParaRPr lang="en-GB" sz="2800" dirty="0" smtClean="0"/>
          </a:p>
          <a:p>
            <a:pPr algn="just"/>
            <a:r>
              <a:rPr lang="en-GB" sz="2800" dirty="0" smtClean="0"/>
              <a:t>After </a:t>
            </a:r>
            <a:r>
              <a:rPr lang="en-GB" sz="2800" b="1" dirty="0">
                <a:solidFill>
                  <a:srgbClr val="FF0000"/>
                </a:solidFill>
              </a:rPr>
              <a:t>Z</a:t>
            </a:r>
            <a:r>
              <a:rPr lang="en-GB" sz="2800" dirty="0"/>
              <a:t>, it will start the series of </a:t>
            </a:r>
            <a:r>
              <a:rPr lang="en-GB" sz="2800" b="1" dirty="0">
                <a:solidFill>
                  <a:srgbClr val="FF0000"/>
                </a:solidFill>
              </a:rPr>
              <a:t>AA</a:t>
            </a:r>
            <a:r>
              <a:rPr lang="en-GB" sz="2800" dirty="0"/>
              <a:t>, </a:t>
            </a:r>
            <a:r>
              <a:rPr lang="en-GB" sz="2800" b="1" dirty="0">
                <a:solidFill>
                  <a:srgbClr val="FF0000"/>
                </a:solidFill>
              </a:rPr>
              <a:t>AB</a:t>
            </a:r>
            <a:r>
              <a:rPr lang="en-GB" sz="2800" dirty="0"/>
              <a:t> and so on. Maximum limit is </a:t>
            </a:r>
            <a:r>
              <a:rPr lang="en-GB" sz="2800" b="1" dirty="0">
                <a:solidFill>
                  <a:srgbClr val="FF0000"/>
                </a:solidFill>
              </a:rPr>
              <a:t>16,384</a:t>
            </a:r>
            <a:r>
              <a:rPr lang="en-GB" sz="2800" dirty="0"/>
              <a:t> columns.</a:t>
            </a:r>
          </a:p>
        </p:txBody>
      </p:sp>
    </p:spTree>
    <p:extLst>
      <p:ext uri="{BB962C8B-B14F-4D97-AF65-F5344CB8AC3E}">
        <p14:creationId xmlns:p14="http://schemas.microsoft.com/office/powerpoint/2010/main" val="5033590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Status Bar.</a:t>
            </a:r>
            <a:endParaRPr lang="en-GB" sz="36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This displays the current status of the active cell in the worksheet</a:t>
            </a:r>
            <a:r>
              <a:rPr lang="en-GB" sz="2800" dirty="0" smtClean="0"/>
              <a:t>.</a:t>
            </a:r>
          </a:p>
          <a:p>
            <a:pPr marL="0" indent="0" algn="just">
              <a:buNone/>
            </a:pPr>
            <a:r>
              <a:rPr lang="en-GB" sz="2800" dirty="0"/>
              <a:t>A cell can be in either of </a:t>
            </a:r>
            <a:r>
              <a:rPr lang="en-GB" sz="2800" dirty="0" smtClean="0"/>
              <a:t>these </a:t>
            </a:r>
            <a:r>
              <a:rPr lang="en-GB" sz="2800" b="1" dirty="0"/>
              <a:t>fours</a:t>
            </a:r>
            <a:r>
              <a:rPr lang="en-GB" sz="2800" dirty="0"/>
              <a:t> </a:t>
            </a:r>
            <a:r>
              <a:rPr lang="en-GB" sz="2800" dirty="0" smtClean="0"/>
              <a:t>states:</a:t>
            </a: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Ready</a:t>
            </a:r>
            <a:r>
              <a:rPr lang="en-GB" sz="2800" dirty="0"/>
              <a:t> mode which indicates that the worksheet is ready to accept user </a:t>
            </a:r>
            <a:r>
              <a:rPr lang="en-GB" sz="2800" dirty="0" smtClean="0"/>
              <a:t>input.</a:t>
            </a: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Edit</a:t>
            </a:r>
            <a:r>
              <a:rPr lang="en-GB" sz="2800" dirty="0"/>
              <a:t> mode indicates that cell </a:t>
            </a:r>
            <a:r>
              <a:rPr lang="en-GB" sz="2800" dirty="0" smtClean="0"/>
              <a:t>is in </a:t>
            </a:r>
            <a:r>
              <a:rPr lang="en-GB" sz="2800" dirty="0"/>
              <a:t>editing mode, if it is not activated </a:t>
            </a:r>
            <a:r>
              <a:rPr lang="en-GB" sz="2800" dirty="0" smtClean="0"/>
              <a:t>then </a:t>
            </a:r>
            <a:r>
              <a:rPr lang="en-GB" sz="2800" dirty="0"/>
              <a:t>you can activate editing mode by </a:t>
            </a:r>
            <a:r>
              <a:rPr lang="en-GB" sz="2800" b="1" dirty="0"/>
              <a:t>double-clicking on a </a:t>
            </a:r>
            <a:r>
              <a:rPr lang="en-GB" sz="2800" b="1" dirty="0" smtClean="0"/>
              <a:t>cell.</a:t>
            </a:r>
          </a:p>
          <a:p>
            <a:pPr algn="just"/>
            <a:r>
              <a:rPr lang="en-GB" sz="2800" dirty="0"/>
              <a:t>A cell enters into </a:t>
            </a:r>
            <a:r>
              <a:rPr lang="en-GB" sz="2800" b="1" dirty="0">
                <a:solidFill>
                  <a:srgbClr val="FF0000"/>
                </a:solidFill>
              </a:rPr>
              <a:t>Enter </a:t>
            </a:r>
            <a:r>
              <a:rPr lang="en-GB" sz="2800" dirty="0"/>
              <a:t>mode when a user types data into a </a:t>
            </a:r>
            <a:r>
              <a:rPr lang="en-GB" sz="2800" dirty="0" smtClean="0"/>
              <a:t>cell.</a:t>
            </a:r>
          </a:p>
          <a:p>
            <a:pPr algn="just"/>
            <a:r>
              <a:rPr lang="en-GB" sz="2800" b="1" dirty="0">
                <a:solidFill>
                  <a:srgbClr val="FF0000"/>
                </a:solidFill>
              </a:rPr>
              <a:t>Point</a:t>
            </a:r>
            <a:r>
              <a:rPr lang="en-GB" sz="2800" dirty="0"/>
              <a:t> mode triggers when a formula is being entered using a cell reference by mouse pointing or the arrow keys on the keyboard.</a:t>
            </a:r>
          </a:p>
        </p:txBody>
      </p:sp>
    </p:spTree>
    <p:extLst>
      <p:ext uri="{BB962C8B-B14F-4D97-AF65-F5344CB8AC3E}">
        <p14:creationId xmlns:p14="http://schemas.microsoft.com/office/powerpoint/2010/main" val="351110935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Explore Window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3600" b="1" dirty="0">
                <a:solidFill>
                  <a:srgbClr val="FF0000"/>
                </a:solidFill>
              </a:rPr>
              <a:t>Dialog Box </a:t>
            </a:r>
            <a:r>
              <a:rPr lang="en-GB" sz="3600" b="1" dirty="0" smtClean="0">
                <a:solidFill>
                  <a:srgbClr val="FF0000"/>
                </a:solidFill>
              </a:rPr>
              <a:t>Launcher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This </a:t>
            </a:r>
            <a:r>
              <a:rPr lang="en-GB" sz="2800" dirty="0"/>
              <a:t>appears as a very </a:t>
            </a:r>
            <a:r>
              <a:rPr lang="en-GB" sz="2800" b="1" dirty="0"/>
              <a:t>small arrow</a:t>
            </a:r>
            <a:r>
              <a:rPr lang="en-GB" sz="2800" dirty="0"/>
              <a:t> in the </a:t>
            </a:r>
            <a:r>
              <a:rPr lang="en-GB" sz="2800" b="1" dirty="0"/>
              <a:t>lower-right corner</a:t>
            </a:r>
            <a:r>
              <a:rPr lang="en-GB" sz="2800" dirty="0"/>
              <a:t> of many groups on the Ribbon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Clicking this button opens a </a:t>
            </a:r>
            <a:r>
              <a:rPr lang="en-GB" sz="2800" b="1" dirty="0"/>
              <a:t>dialog box or task pane</a:t>
            </a:r>
            <a:r>
              <a:rPr lang="en-GB" sz="2800" dirty="0"/>
              <a:t> that provides more options about the group.</a:t>
            </a:r>
          </a:p>
        </p:txBody>
      </p:sp>
    </p:spTree>
    <p:extLst>
      <p:ext uri="{BB962C8B-B14F-4D97-AF65-F5344CB8AC3E}">
        <p14:creationId xmlns:p14="http://schemas.microsoft.com/office/powerpoint/2010/main" val="39065101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/>
              <a:t>Backstage </a:t>
            </a:r>
            <a:r>
              <a:rPr lang="en-GB" dirty="0"/>
              <a:t>View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/>
          </a:bodyPr>
          <a:lstStyle/>
          <a:p>
            <a:pPr algn="just"/>
            <a:r>
              <a:rPr lang="en-GB" sz="2800" dirty="0"/>
              <a:t>Getting to the Backstage View is easy. Just click the </a:t>
            </a:r>
            <a:r>
              <a:rPr lang="en-GB" sz="2800" b="1" dirty="0"/>
              <a:t>File</a:t>
            </a:r>
            <a:r>
              <a:rPr lang="en-GB" sz="2800" dirty="0"/>
              <a:t> tab located in the </a:t>
            </a:r>
            <a:r>
              <a:rPr lang="en-GB" sz="2800" b="1" dirty="0"/>
              <a:t>upper-left corner </a:t>
            </a:r>
            <a:r>
              <a:rPr lang="en-GB" sz="2800" dirty="0"/>
              <a:t>of the Excel Ribbon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/>
              <a:t>The Backstage view has been introduced in Excel 2010 and acts as the </a:t>
            </a:r>
            <a:r>
              <a:rPr lang="en-GB" sz="2800" b="1" dirty="0"/>
              <a:t>central place for managing your sheets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</p:txBody>
      </p:sp>
      <p:pic>
        <p:nvPicPr>
          <p:cNvPr id="8194" name="Picture 2" descr="C:\Users\UCCSMS1\Desktop\images\backstage_view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1" y="2492896"/>
            <a:ext cx="669674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09388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548680"/>
            <a:ext cx="8884096" cy="6192688"/>
          </a:xfrm>
        </p:spPr>
        <p:txBody>
          <a:bodyPr>
            <a:normAutofit/>
          </a:bodyPr>
          <a:lstStyle/>
          <a:p>
            <a:pPr algn="just"/>
            <a:r>
              <a:rPr lang="en-GB" sz="2800" b="1" dirty="0"/>
              <a:t>Sheet area </a:t>
            </a:r>
            <a:r>
              <a:rPr lang="en-GB" sz="2800" dirty="0"/>
              <a:t>is the place where you type your text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The </a:t>
            </a:r>
            <a:r>
              <a:rPr lang="en-GB" sz="2800" b="1" dirty="0"/>
              <a:t>flashing vertical bar </a:t>
            </a:r>
            <a:r>
              <a:rPr lang="en-GB" sz="2800" dirty="0"/>
              <a:t>is called the </a:t>
            </a:r>
            <a:r>
              <a:rPr lang="en-GB" sz="2800" b="1" dirty="0"/>
              <a:t>insertion point </a:t>
            </a:r>
            <a:r>
              <a:rPr lang="en-GB" sz="2800" dirty="0"/>
              <a:t>and it represents the location where text will appear when you type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When you click on a box then the box is highlighted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When you double click the box, the flashing vertical bar appears and you can start entering your data.</a:t>
            </a:r>
          </a:p>
        </p:txBody>
      </p:sp>
    </p:spTree>
    <p:extLst>
      <p:ext uri="{BB962C8B-B14F-4D97-AF65-F5344CB8AC3E}">
        <p14:creationId xmlns:p14="http://schemas.microsoft.com/office/powerpoint/2010/main" val="36316058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2010</a:t>
            </a:r>
          </a:p>
        </p:txBody>
      </p:sp>
      <p:pic>
        <p:nvPicPr>
          <p:cNvPr id="9218" name="Picture 2" descr="C:\Users\UCCSMS1\Desktop\images\enter_text.jp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908720"/>
            <a:ext cx="7704856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174484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keep </a:t>
            </a:r>
            <a:r>
              <a:rPr lang="en-GB" sz="2800" dirty="0"/>
              <a:t>your mouse cursor at the text insertion point and start typing whatever text you would like to type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r>
              <a:rPr lang="en-GB" sz="2800" dirty="0"/>
              <a:t>We have typed only two words "</a:t>
            </a:r>
            <a:r>
              <a:rPr lang="en-GB" sz="2800" b="1" dirty="0"/>
              <a:t>Hello Excel</a:t>
            </a:r>
            <a:r>
              <a:rPr lang="en-GB" sz="2800" dirty="0"/>
              <a:t>" as shown below. 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r>
              <a:rPr lang="en-GB" sz="2800" dirty="0" smtClean="0"/>
              <a:t>The </a:t>
            </a:r>
            <a:r>
              <a:rPr lang="en-GB" sz="2800" dirty="0"/>
              <a:t>text appears to the </a:t>
            </a:r>
            <a:r>
              <a:rPr lang="en-GB" sz="2800" b="1" dirty="0"/>
              <a:t>left of the insertion point</a:t>
            </a:r>
            <a:r>
              <a:rPr lang="en-GB" sz="2800" dirty="0"/>
              <a:t> as you type.</a:t>
            </a:r>
          </a:p>
        </p:txBody>
      </p:sp>
    </p:spTree>
    <p:extLst>
      <p:ext uri="{BB962C8B-B14F-4D97-AF65-F5344CB8AC3E}">
        <p14:creationId xmlns:p14="http://schemas.microsoft.com/office/powerpoint/2010/main" val="8081408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 lnSpcReduction="10000"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marL="0" indent="0" algn="just">
              <a:buNone/>
            </a:pPr>
            <a:r>
              <a:rPr lang="en-GB" sz="2800" dirty="0"/>
              <a:t>There are following three important points, which would help you while typing </a:t>
            </a:r>
            <a:r>
              <a:rPr lang="en-GB" sz="2800" dirty="0" smtClean="0"/>
              <a:t>−</a:t>
            </a:r>
            <a:endParaRPr lang="en-GB" sz="2800" dirty="0"/>
          </a:p>
          <a:p>
            <a:pPr algn="just"/>
            <a:r>
              <a:rPr lang="en-GB" sz="2800" dirty="0" smtClean="0"/>
              <a:t>Press</a:t>
            </a:r>
            <a:r>
              <a:rPr lang="en-GB" sz="2800" b="1" dirty="0" smtClean="0"/>
              <a:t> </a:t>
            </a:r>
            <a:r>
              <a:rPr lang="en-GB" sz="2800" b="1" dirty="0"/>
              <a:t>Tab</a:t>
            </a:r>
            <a:r>
              <a:rPr lang="en-GB" sz="2800" dirty="0"/>
              <a:t> to go to next column.</a:t>
            </a:r>
          </a:p>
          <a:p>
            <a:pPr algn="just"/>
            <a:r>
              <a:rPr lang="en-GB" sz="2800" dirty="0" smtClean="0"/>
              <a:t>Press</a:t>
            </a:r>
            <a:r>
              <a:rPr lang="en-GB" sz="2800" b="1" dirty="0" smtClean="0"/>
              <a:t> </a:t>
            </a:r>
            <a:r>
              <a:rPr lang="en-GB" sz="2800" b="1" dirty="0"/>
              <a:t>Enter </a:t>
            </a:r>
            <a:r>
              <a:rPr lang="en-GB" sz="2800" dirty="0"/>
              <a:t>to go to next row.</a:t>
            </a:r>
          </a:p>
          <a:p>
            <a:pPr algn="just"/>
            <a:r>
              <a:rPr lang="en-GB" sz="2800" dirty="0" smtClean="0"/>
              <a:t>Press </a:t>
            </a:r>
            <a:r>
              <a:rPr lang="en-GB" sz="2800" b="1" dirty="0"/>
              <a:t>Alt + Enter </a:t>
            </a:r>
            <a:r>
              <a:rPr lang="en-GB" sz="2800" dirty="0"/>
              <a:t>to enter a new line in the same column.</a:t>
            </a:r>
          </a:p>
        </p:txBody>
      </p:sp>
      <p:pic>
        <p:nvPicPr>
          <p:cNvPr id="10243" name="Picture 3" descr="C:\Users\UCCSMS1\Desktop\images\hello_excel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20688"/>
            <a:ext cx="7272808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06014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4838"/>
            <a:ext cx="9144000" cy="625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43592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2290" name="Picture 2" descr="C:\Users\UCCSMS1\Desktop\images\excel_sample_tex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548680"/>
            <a:ext cx="8784976" cy="6192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80742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800" b="1" dirty="0"/>
              <a:t>Moving with Mouse</a:t>
            </a:r>
            <a:endParaRPr lang="en-GB" sz="2800" b="1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3314" name="Picture 2" descr="C:\Users\UCCSMS1\Desktop\images\excel_scroll_b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124744"/>
            <a:ext cx="7416824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93700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Entering Values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2800" b="1" dirty="0"/>
              <a:t>Moving with Mouse</a:t>
            </a:r>
            <a:endParaRPr lang="en-GB" sz="2800" b="1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3314" name="Picture 2" descr="C:\Users\UCCSMS1\Desktop\images\excel_scroll_bar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124744"/>
            <a:ext cx="6624736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951068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Save Workbook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 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 smtClean="0"/>
              <a:t>Click </a:t>
            </a:r>
            <a:r>
              <a:rPr lang="en-GB" sz="2800" dirty="0"/>
              <a:t>the File tab and select Save As option.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4338" name="Picture 2" descr="C:\Users\UCCSMS1\Desktop\images\save_a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772816"/>
            <a:ext cx="6480720" cy="4896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28281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Save Workbook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Select a folder where you would like to save the sheet, </a:t>
            </a:r>
            <a:r>
              <a:rPr lang="en-GB" sz="2800" b="1" dirty="0"/>
              <a:t>Enter file name</a:t>
            </a:r>
            <a:r>
              <a:rPr lang="en-GB" sz="2800" dirty="0"/>
              <a:t>, which you want to give to your sheet and Select a Save as type, by default it is </a:t>
            </a:r>
            <a:r>
              <a:rPr lang="en-GB" sz="2800" b="1" dirty="0"/>
              <a:t>.</a:t>
            </a:r>
            <a:r>
              <a:rPr lang="en-GB" sz="2800" b="1" dirty="0" err="1"/>
              <a:t>xlsx</a:t>
            </a:r>
            <a:r>
              <a:rPr lang="en-GB" sz="2800" b="1" dirty="0"/>
              <a:t> </a:t>
            </a:r>
            <a:r>
              <a:rPr lang="en-GB" sz="2800" dirty="0"/>
              <a:t>format</a:t>
            </a:r>
            <a:r>
              <a:rPr lang="en-GB" sz="2800" dirty="0" smtClean="0"/>
              <a:t>.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5362" name="Picture 2" descr="C:\Users\UCCSMS1\Desktop\images\sav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564904"/>
            <a:ext cx="6097860" cy="415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26310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Creating New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Right Click the </a:t>
            </a:r>
            <a:r>
              <a:rPr lang="en-GB" sz="2800" b="1" dirty="0"/>
              <a:t>Sheet Name </a:t>
            </a:r>
            <a:r>
              <a:rPr lang="en-GB" sz="2800" dirty="0"/>
              <a:t>and select </a:t>
            </a:r>
            <a:r>
              <a:rPr lang="en-GB" sz="2800" b="1" dirty="0"/>
              <a:t>Insert</a:t>
            </a:r>
            <a:r>
              <a:rPr lang="en-GB" sz="2800" dirty="0"/>
              <a:t> </a:t>
            </a:r>
            <a:r>
              <a:rPr lang="en-GB" sz="2800" dirty="0" smtClean="0"/>
              <a:t>option.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6386" name="Picture 2" descr="C:\Users\UCCSMS1\Desktop\images\new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1772816"/>
            <a:ext cx="5715000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9937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Creating New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Now you'll see the Insert dialog with select Worksheet option as selected from the general tab. Click the </a:t>
            </a:r>
            <a:r>
              <a:rPr lang="en-GB" sz="2800" b="1" dirty="0"/>
              <a:t>Ok</a:t>
            </a:r>
            <a:r>
              <a:rPr lang="en-GB" sz="2800" dirty="0"/>
              <a:t> button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7410" name="Picture 2" descr="C:\Users\UCCSMS1\Desktop\images\insert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276872"/>
            <a:ext cx="7056784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23429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Creating New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Now you should have your blank sheet as shown below ready to start typing your text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r>
              <a:rPr lang="en-GB" sz="2800" dirty="0"/>
              <a:t>You can use a short  cut </a:t>
            </a:r>
            <a:r>
              <a:rPr lang="en-GB" sz="2800" b="1" dirty="0">
                <a:solidFill>
                  <a:srgbClr val="FF0000"/>
                </a:solidFill>
              </a:rPr>
              <a:t>Shift+F11</a:t>
            </a:r>
            <a:r>
              <a:rPr lang="en-GB" sz="2800" dirty="0">
                <a:solidFill>
                  <a:srgbClr val="FF0000"/>
                </a:solidFill>
              </a:rPr>
              <a:t> </a:t>
            </a:r>
            <a:r>
              <a:rPr lang="en-GB" sz="2800" dirty="0"/>
              <a:t> to create a blank sheet anytime.</a:t>
            </a:r>
          </a:p>
          <a:p>
            <a:pPr marL="0" indent="0" algn="just">
              <a:buNone/>
            </a:pP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8434" name="Picture 2" descr="C:\Users\UCCSMS1\Desktop\images\blank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060848"/>
            <a:ext cx="6264696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7588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Worksheet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Right Click the </a:t>
            </a:r>
            <a:r>
              <a:rPr lang="en-GB" sz="2800" b="1" dirty="0"/>
              <a:t>Sheet Name</a:t>
            </a:r>
            <a:r>
              <a:rPr lang="en-GB" sz="2800" dirty="0"/>
              <a:t> and select the </a:t>
            </a:r>
            <a:r>
              <a:rPr lang="en-GB" sz="2800" b="1" dirty="0"/>
              <a:t>Move or Copy </a:t>
            </a:r>
            <a:r>
              <a:rPr lang="en-GB" sz="2800" dirty="0"/>
              <a:t>option.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19458" name="Picture 2" descr="C:\Users\UCCSMS1\Desktop\images\copy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844824"/>
            <a:ext cx="6120680" cy="460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3394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Worksheet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Now you'll see the Move or Copy dialog with select Worksheet option as selected from the general tab. Click the </a:t>
            </a:r>
            <a:r>
              <a:rPr lang="en-GB" sz="2800" b="1" dirty="0"/>
              <a:t>Ok</a:t>
            </a:r>
            <a:r>
              <a:rPr lang="en-GB" sz="2800" dirty="0"/>
              <a:t> button</a:t>
            </a:r>
            <a:r>
              <a:rPr lang="en-GB" sz="2800" dirty="0" smtClean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0482" name="Picture 2" descr="C:\Users\UCCSMS1\Desktop\images\copy_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279786"/>
            <a:ext cx="5616624" cy="417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53983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Copy Worksheet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Y</a:t>
            </a:r>
            <a:r>
              <a:rPr lang="en-GB" sz="2800" dirty="0" smtClean="0"/>
              <a:t>ou </a:t>
            </a:r>
            <a:r>
              <a:rPr lang="en-GB" sz="2800" dirty="0"/>
              <a:t>can rename the sheet by </a:t>
            </a:r>
            <a:r>
              <a:rPr lang="en-GB" sz="2800" b="1" dirty="0"/>
              <a:t>double clicking </a:t>
            </a:r>
            <a:r>
              <a:rPr lang="en-GB" sz="2800" dirty="0"/>
              <a:t>on it. On double click, the sheet name becomes editable. Enter any name say Sheet5 and press Tab or Enter Key</a:t>
            </a:r>
            <a:r>
              <a:rPr lang="en-GB" sz="2800" dirty="0" smtClean="0"/>
              <a:t>.</a:t>
            </a:r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1506" name="Picture 2" descr="C:\Users\UCCSMS1\Desktop\images\copy_sheet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620688"/>
            <a:ext cx="7344816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296858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Hiding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Right Click the </a:t>
            </a:r>
            <a:r>
              <a:rPr lang="en-GB" sz="2800" b="1" dirty="0"/>
              <a:t>Sheet Name</a:t>
            </a:r>
            <a:r>
              <a:rPr lang="en-GB" sz="2800" dirty="0"/>
              <a:t> and select the </a:t>
            </a:r>
            <a:r>
              <a:rPr lang="en-GB" sz="2800" b="1" dirty="0"/>
              <a:t>Hide</a:t>
            </a:r>
            <a:r>
              <a:rPr lang="en-GB" sz="2800" dirty="0"/>
              <a:t> option. Sheet will get </a:t>
            </a:r>
            <a:r>
              <a:rPr lang="en-GB" sz="2800" dirty="0" smtClean="0"/>
              <a:t>hidden.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2530" name="Picture 2" descr="C:\Users\UCCSMS1\Desktop\images\hide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132856"/>
            <a:ext cx="6120680" cy="4304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5701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err="1"/>
              <a:t>Unhiding</a:t>
            </a:r>
            <a:r>
              <a:rPr lang="en-GB" dirty="0"/>
              <a:t> Worksheet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Right Click on any Sheet Name and select the Unhide... </a:t>
            </a:r>
            <a:r>
              <a:rPr lang="en-GB" sz="2800" dirty="0" smtClean="0"/>
              <a:t>option.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3554" name="Picture 2" descr="C:\Users\UCCSMS1\Desktop\images\unhide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060848"/>
            <a:ext cx="5334000" cy="4132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42793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Worksheet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Right Click the Sheet Name and select the Delete </a:t>
            </a:r>
            <a:r>
              <a:rPr lang="en-GB" sz="2800" dirty="0" smtClean="0"/>
              <a:t>option.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4578" name="Picture 2" descr="C:\Users\UCCSMS1\Desktop\images\delete_shee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844824"/>
            <a:ext cx="6264696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71904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Delete Worksheet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Sheet will get deleted if it is empty, otherwise you'll see a confirmation message.</a:t>
            </a:r>
          </a:p>
          <a:p>
            <a:pPr algn="just"/>
            <a:r>
              <a:rPr lang="en-GB" sz="2800" dirty="0"/>
              <a:t>Press the Delete Button.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5602" name="Picture 2" descr="C:\Users\UCCSMS1\Desktop\images\delete_sheet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564904"/>
            <a:ext cx="7056784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819734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Close Workbook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Click the Close Button as shown </a:t>
            </a:r>
            <a:r>
              <a:rPr lang="en-GB" sz="2800" dirty="0" smtClean="0"/>
              <a:t>below.</a:t>
            </a:r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6626" name="Picture 2" descr="C:\Users\UCCSMS1\Desktop\images\close_workboo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73408"/>
            <a:ext cx="5343525" cy="453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55790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Close Workbook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You'll see a confirmation message to save the workbook</a:t>
            </a:r>
            <a:r>
              <a:rPr lang="en-GB" sz="2800" dirty="0" smtClean="0"/>
              <a:t>.</a:t>
            </a:r>
          </a:p>
          <a:p>
            <a:pPr algn="just"/>
            <a:r>
              <a:rPr lang="en-GB" sz="2800" dirty="0"/>
              <a:t>Press the Save Button to save the workbook as we did in MS Excel - Save Workbook</a:t>
            </a:r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7650" name="Picture 2" descr="C:\Users\UCCSMS1\Desktop\images\close_workbook2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564904"/>
            <a:ext cx="6624736" cy="3888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9937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Open Workbook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1</a:t>
            </a:r>
          </a:p>
          <a:p>
            <a:pPr algn="just"/>
            <a:r>
              <a:rPr lang="en-GB" sz="2800" dirty="0"/>
              <a:t>Click the </a:t>
            </a:r>
            <a:r>
              <a:rPr lang="en-GB" sz="2800" b="1" dirty="0"/>
              <a:t>File Menu </a:t>
            </a:r>
            <a:r>
              <a:rPr lang="en-GB" sz="2800" dirty="0"/>
              <a:t>as shown below. You can see the </a:t>
            </a:r>
            <a:r>
              <a:rPr lang="en-GB" sz="2800" b="1" dirty="0"/>
              <a:t>Open option</a:t>
            </a:r>
            <a:r>
              <a:rPr lang="en-GB" sz="2800" dirty="0"/>
              <a:t> in </a:t>
            </a:r>
            <a:r>
              <a:rPr lang="en-GB" sz="2800" b="1" dirty="0"/>
              <a:t>File Menu</a:t>
            </a:r>
            <a:r>
              <a:rPr lang="en-GB" sz="2800" dirty="0"/>
              <a:t>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8674" name="Picture 2" descr="C:\Users\UCCSMS1\Desktop\images\fileopenmenu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1988840"/>
            <a:ext cx="6840760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039125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Open Workbook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2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800" dirty="0"/>
              <a:t>Clicking the Open Option will open the browse dialog as shown below. Browse the directory and find the file you need to open</a:t>
            </a:r>
            <a:r>
              <a:rPr lang="en-GB" sz="2800" dirty="0" smtClean="0"/>
              <a:t>.</a:t>
            </a:r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29698" name="Picture 2" descr="C:\Users\UCCSMS1\Desktop\images\opendialog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2420888"/>
            <a:ext cx="6912768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60008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Open Workbook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</a:t>
            </a:r>
            <a:r>
              <a:rPr lang="en-GB" sz="2800" b="1" dirty="0" smtClean="0">
                <a:solidFill>
                  <a:srgbClr val="FF0000"/>
                </a:solidFill>
              </a:rPr>
              <a:t>3</a:t>
            </a:r>
          </a:p>
          <a:p>
            <a:pPr algn="just"/>
            <a:r>
              <a:rPr lang="en-GB" sz="2800" dirty="0"/>
              <a:t>Once you select the workbook your workbook will be opened as below.</a:t>
            </a:r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  <a:p>
            <a:pPr algn="just"/>
            <a:endParaRPr lang="en-GB" sz="28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30722" name="Picture 2" descr="C:\Users\UCCSMS1\Desktop\images\openworkboo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988840"/>
            <a:ext cx="7056784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867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Context Help in Excel 2010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800" b="1" dirty="0">
                <a:solidFill>
                  <a:srgbClr val="FF0000"/>
                </a:solidFill>
              </a:rPr>
              <a:t>Step 1</a:t>
            </a: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MS Excel provides context sensitive help on </a:t>
            </a:r>
            <a:r>
              <a:rPr lang="en-GB" sz="2400" b="1" dirty="0"/>
              <a:t>mouse over</a:t>
            </a:r>
            <a:r>
              <a:rPr lang="en-GB" sz="2400" dirty="0" smtClean="0"/>
              <a:t>.</a:t>
            </a:r>
          </a:p>
          <a:p>
            <a:pPr algn="just"/>
            <a:r>
              <a:rPr lang="en-GB" sz="2400" dirty="0"/>
              <a:t>To see context sensitive help for a particular Menu option, </a:t>
            </a:r>
            <a:r>
              <a:rPr lang="en-GB" sz="2400" b="1" dirty="0"/>
              <a:t>hover the mouse over the option for some time</a:t>
            </a:r>
            <a:r>
              <a:rPr lang="en-GB" sz="2400" dirty="0"/>
              <a:t>. </a:t>
            </a:r>
            <a:endParaRPr lang="en-GB" sz="2400" dirty="0" smtClean="0"/>
          </a:p>
          <a:p>
            <a:pPr algn="just"/>
            <a:r>
              <a:rPr lang="en-GB" sz="2400" dirty="0" smtClean="0"/>
              <a:t>Then </a:t>
            </a:r>
            <a:r>
              <a:rPr lang="en-GB" sz="2400" dirty="0"/>
              <a:t>you can see the context sensitive Help as shown below.</a:t>
            </a:r>
          </a:p>
          <a:p>
            <a:pPr algn="just"/>
            <a:endParaRPr lang="en-GB" sz="2400" dirty="0" smtClean="0"/>
          </a:p>
          <a:p>
            <a:pPr algn="just"/>
            <a:endParaRPr lang="en-GB" sz="2800" dirty="0" smtClean="0"/>
          </a:p>
          <a:p>
            <a:pPr algn="just"/>
            <a:endParaRPr lang="en-GB" sz="2800" dirty="0"/>
          </a:p>
        </p:txBody>
      </p:sp>
      <p:pic>
        <p:nvPicPr>
          <p:cNvPr id="31746" name="Picture 2" descr="C:\Users\UCCSMS1\Desktop\images\context_sensitive_help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737342"/>
            <a:ext cx="5067300" cy="3960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825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0"/>
            <a:ext cx="8839200" cy="62068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Getting More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8680"/>
            <a:ext cx="8991600" cy="61926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2800" b="1" dirty="0" smtClean="0">
              <a:solidFill>
                <a:srgbClr val="FF0000"/>
              </a:solidFill>
            </a:endParaRPr>
          </a:p>
          <a:p>
            <a:pPr algn="just"/>
            <a:r>
              <a:rPr lang="en-GB" sz="2400" dirty="0"/>
              <a:t>For getting more help with MS Excel from Microsoft you can press </a:t>
            </a:r>
            <a:r>
              <a:rPr lang="en-GB" sz="2400" b="1" dirty="0"/>
              <a:t>F1</a:t>
            </a:r>
            <a:r>
              <a:rPr lang="en-GB" sz="2400" dirty="0"/>
              <a:t> or by </a:t>
            </a:r>
            <a:r>
              <a:rPr lang="en-GB" sz="2400" b="1" dirty="0"/>
              <a:t>File → Help → Support → Microsoft Office Help</a:t>
            </a:r>
            <a:r>
              <a:rPr lang="en-GB" sz="2400" dirty="0"/>
              <a:t>.</a:t>
            </a:r>
            <a:endParaRPr lang="en-GB" sz="2800" dirty="0"/>
          </a:p>
        </p:txBody>
      </p:sp>
      <p:pic>
        <p:nvPicPr>
          <p:cNvPr id="32770" name="Picture 2" descr="C:\Users\UCCSMS1\Desktop\images\help_from_file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204864"/>
            <a:ext cx="7056784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591241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pic>
        <p:nvPicPr>
          <p:cNvPr id="4" name="Google Shape;273;p46"/>
          <p:cNvPicPr preferRelativeResize="0"/>
          <p:nvPr/>
        </p:nvPicPr>
        <p:blipFill rotWithShape="1">
          <a:blip r:embed="rId3">
            <a:alphaModFix/>
          </a:blip>
          <a:srcRect b="4789"/>
          <a:stretch/>
        </p:blipFill>
        <p:spPr>
          <a:xfrm>
            <a:off x="2339752" y="1340768"/>
            <a:ext cx="5256584" cy="41044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147202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0" y="357188"/>
            <a:ext cx="9429750" cy="6500812"/>
          </a:xfrm>
        </p:spPr>
        <p:txBody>
          <a:bodyPr lIns="90488" tIns="44450" rIns="90488" bIns="44450"/>
          <a:lstStyle/>
          <a:p>
            <a:pPr algn="ctr">
              <a:buFont typeface="Arial" charset="0"/>
              <a:buNone/>
            </a:pPr>
            <a:endParaRPr lang="en-US" sz="3200" b="1" smtClean="0"/>
          </a:p>
          <a:p>
            <a:pPr algn="ctr">
              <a:buFont typeface="Arial" charset="0"/>
              <a:buNone/>
            </a:pPr>
            <a:endParaRPr lang="en-US" b="1" smtClean="0"/>
          </a:p>
          <a:p>
            <a:pPr algn="ctr">
              <a:buFont typeface="Arial" charset="0"/>
              <a:buNone/>
            </a:pPr>
            <a:endParaRPr lang="en-US" sz="3200" b="1" smtClean="0"/>
          </a:p>
        </p:txBody>
      </p:sp>
      <p:sp>
        <p:nvSpPr>
          <p:cNvPr id="5" name="Rectangle 4"/>
          <p:cNvSpPr/>
          <p:nvPr/>
        </p:nvSpPr>
        <p:spPr>
          <a:xfrm>
            <a:off x="2071670" y="2967335"/>
            <a:ext cx="5143536" cy="92333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5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THANK YOU</a:t>
            </a:r>
            <a:endParaRPr lang="en-GB" sz="5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359839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11669</TotalTime>
  <Words>1731</Words>
  <Application>Microsoft Office PowerPoint</Application>
  <PresentationFormat>On-screen Show (4:3)</PresentationFormat>
  <Paragraphs>387</Paragraphs>
  <Slides>51</Slides>
  <Notes>51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PowerPoint Presentation</vt:lpstr>
      <vt:lpstr>PowerPoint Presentation</vt:lpstr>
      <vt:lpstr>Objectives Overview</vt:lpstr>
      <vt:lpstr>Objectives Overview</vt:lpstr>
      <vt:lpstr>MS Excel Basics</vt:lpstr>
      <vt:lpstr>Getting Started with Excel 2010</vt:lpstr>
      <vt:lpstr>Getting Started with Excel 2010</vt:lpstr>
      <vt:lpstr>Getting Started with Excel 2010</vt:lpstr>
      <vt:lpstr>Getting Started with Excel 2010</vt:lpstr>
      <vt:lpstr>Getting Started with Excel 2010</vt:lpstr>
      <vt:lpstr>Explore Window in Excel 2010</vt:lpstr>
      <vt:lpstr>Explore Window in Excel 2010</vt:lpstr>
      <vt:lpstr>Explore Window in Excel 2010</vt:lpstr>
      <vt:lpstr>Explore Window in Excel 2010</vt:lpstr>
      <vt:lpstr>Explore Window in Excel 2010</vt:lpstr>
      <vt:lpstr>Explore Window in Excel 2010</vt:lpstr>
      <vt:lpstr>Explore Window in Excel 2010</vt:lpstr>
      <vt:lpstr>Explore Window in Excel 2010</vt:lpstr>
      <vt:lpstr>Explore Window in Excel 2010</vt:lpstr>
      <vt:lpstr>Explore Window in Excel 2010</vt:lpstr>
      <vt:lpstr>Explore Window in Excel 2010</vt:lpstr>
      <vt:lpstr>Backstage View in Excel 2010</vt:lpstr>
      <vt:lpstr>Entering Values in Excel 2010</vt:lpstr>
      <vt:lpstr>Entering Values in Excel 2010</vt:lpstr>
      <vt:lpstr>Entering Values in Excel 2010</vt:lpstr>
      <vt:lpstr>Entering Values in Excel 2010</vt:lpstr>
      <vt:lpstr>Entering Values in Excel 2010</vt:lpstr>
      <vt:lpstr>Entering Values in Excel 2010</vt:lpstr>
      <vt:lpstr>Entering Values in Excel 2010</vt:lpstr>
      <vt:lpstr>Entering Values in Excel 2010</vt:lpstr>
      <vt:lpstr>Save Workbook in Excel 2010</vt:lpstr>
      <vt:lpstr>Save Workbook in Excel 2010</vt:lpstr>
      <vt:lpstr>Creating New Worksheet</vt:lpstr>
      <vt:lpstr>Creating New Worksheet</vt:lpstr>
      <vt:lpstr>Creating New Worksheet</vt:lpstr>
      <vt:lpstr>Copy Worksheet in Excel 2010</vt:lpstr>
      <vt:lpstr>Copy Worksheet in Excel 2010</vt:lpstr>
      <vt:lpstr>Copy Worksheet in Excel 2010</vt:lpstr>
      <vt:lpstr>Hiding Worksheet</vt:lpstr>
      <vt:lpstr>Unhiding Worksheet</vt:lpstr>
      <vt:lpstr>Delete Worksheet in Excel 2010</vt:lpstr>
      <vt:lpstr>Delete Worksheet in Excel 2010</vt:lpstr>
      <vt:lpstr>Close Workbook in Excel 2010</vt:lpstr>
      <vt:lpstr>Close Workbook in Excel 2010</vt:lpstr>
      <vt:lpstr>Open Workbook in Excel 2010</vt:lpstr>
      <vt:lpstr>Open Workbook in Excel 2010</vt:lpstr>
      <vt:lpstr>Open Workbook in Excel 2010</vt:lpstr>
      <vt:lpstr>Context Help in Excel 2010</vt:lpstr>
      <vt:lpstr>Getting More Help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steven</dc:creator>
  <cp:lastModifiedBy>UCCSMS1</cp:lastModifiedBy>
  <cp:revision>380</cp:revision>
  <dcterms:created xsi:type="dcterms:W3CDTF">2008-12-18T17:11:12Z</dcterms:created>
  <dcterms:modified xsi:type="dcterms:W3CDTF">2021-03-23T08:58:02Z</dcterms:modified>
</cp:coreProperties>
</file>
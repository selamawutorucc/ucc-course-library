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handoutMasterIdLst>
    <p:handoutMasterId r:id="rId62"/>
  </p:handoutMasterIdLst>
  <p:sldIdLst>
    <p:sldId id="256" r:id="rId2"/>
    <p:sldId id="287" r:id="rId3"/>
    <p:sldId id="289" r:id="rId4"/>
    <p:sldId id="288" r:id="rId5"/>
    <p:sldId id="334" r:id="rId6"/>
    <p:sldId id="292" r:id="rId7"/>
    <p:sldId id="293" r:id="rId8"/>
    <p:sldId id="294" r:id="rId9"/>
    <p:sldId id="295" r:id="rId10"/>
    <p:sldId id="336" r:id="rId11"/>
    <p:sldId id="337" r:id="rId12"/>
    <p:sldId id="297" r:id="rId13"/>
    <p:sldId id="298" r:id="rId14"/>
    <p:sldId id="299" r:id="rId15"/>
    <p:sldId id="300" r:id="rId16"/>
    <p:sldId id="301" r:id="rId17"/>
    <p:sldId id="335"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40" r:id="rId45"/>
    <p:sldId id="341" r:id="rId46"/>
    <p:sldId id="329" r:id="rId47"/>
    <p:sldId id="330" r:id="rId48"/>
    <p:sldId id="331" r:id="rId49"/>
    <p:sldId id="342" r:id="rId50"/>
    <p:sldId id="332" r:id="rId51"/>
    <p:sldId id="280" r:id="rId52"/>
    <p:sldId id="339" r:id="rId53"/>
    <p:sldId id="338" r:id="rId54"/>
    <p:sldId id="281" r:id="rId55"/>
    <p:sldId id="282" r:id="rId56"/>
    <p:sldId id="283" r:id="rId57"/>
    <p:sldId id="284" r:id="rId58"/>
    <p:sldId id="285" r:id="rId59"/>
    <p:sldId id="286"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3539" autoAdjust="0"/>
  </p:normalViewPr>
  <p:slideViewPr>
    <p:cSldViewPr snapToGrid="0" snapToObjects="1">
      <p:cViewPr varScale="1">
        <p:scale>
          <a:sx n="109" d="100"/>
          <a:sy n="109" d="100"/>
        </p:scale>
        <p:origin x="17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1" Type="http://schemas.openxmlformats.org/officeDocument/2006/relationships/oleObject" Target="Workbook2"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Work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Sheet1!$E$6</c:f>
              <c:strCache>
                <c:ptCount val="1"/>
                <c:pt idx="0">
                  <c:v>All Methods</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Sheet1!$D$7:$D$14</c:f>
              <c:strCache>
                <c:ptCount val="8"/>
                <c:pt idx="0">
                  <c:v>Africa</c:v>
                </c:pt>
                <c:pt idx="1">
                  <c:v>Asia</c:v>
                </c:pt>
                <c:pt idx="2">
                  <c:v>Oceania</c:v>
                </c:pt>
                <c:pt idx="3">
                  <c:v>America</c:v>
                </c:pt>
                <c:pt idx="4">
                  <c:v>Europe</c:v>
                </c:pt>
                <c:pt idx="5">
                  <c:v>More Developed</c:v>
                </c:pt>
                <c:pt idx="6">
                  <c:v>Less Developed</c:v>
                </c:pt>
                <c:pt idx="7">
                  <c:v>World</c:v>
                </c:pt>
              </c:strCache>
            </c:strRef>
          </c:cat>
          <c:val>
            <c:numRef>
              <c:f>Sheet1!$E$7:$E$14</c:f>
              <c:numCache>
                <c:formatCode>General</c:formatCode>
                <c:ptCount val="8"/>
                <c:pt idx="0">
                  <c:v>35</c:v>
                </c:pt>
                <c:pt idx="1">
                  <c:v>33</c:v>
                </c:pt>
                <c:pt idx="2">
                  <c:v>58</c:v>
                </c:pt>
                <c:pt idx="3">
                  <c:v>74</c:v>
                </c:pt>
                <c:pt idx="4">
                  <c:v>70</c:v>
                </c:pt>
                <c:pt idx="5">
                  <c:v>70</c:v>
                </c:pt>
                <c:pt idx="6">
                  <c:v>61</c:v>
                </c:pt>
                <c:pt idx="7">
                  <c:v>62</c:v>
                </c:pt>
              </c:numCache>
            </c:numRef>
          </c:val>
          <c:extLst>
            <c:ext xmlns:c16="http://schemas.microsoft.com/office/drawing/2014/chart" uri="{C3380CC4-5D6E-409C-BE32-E72D297353CC}">
              <c16:uniqueId val="{00000000-74A3-F247-A0CD-0EE2A0B992FC}"/>
            </c:ext>
          </c:extLst>
        </c:ser>
        <c:ser>
          <c:idx val="1"/>
          <c:order val="1"/>
          <c:tx>
            <c:strRef>
              <c:f>Sheet1!$F$6</c:f>
              <c:strCache>
                <c:ptCount val="1"/>
                <c:pt idx="0">
                  <c:v>Modern Methods</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Sheet1!$D$7:$D$14</c:f>
              <c:strCache>
                <c:ptCount val="8"/>
                <c:pt idx="0">
                  <c:v>Africa</c:v>
                </c:pt>
                <c:pt idx="1">
                  <c:v>Asia</c:v>
                </c:pt>
                <c:pt idx="2">
                  <c:v>Oceania</c:v>
                </c:pt>
                <c:pt idx="3">
                  <c:v>America</c:v>
                </c:pt>
                <c:pt idx="4">
                  <c:v>Europe</c:v>
                </c:pt>
                <c:pt idx="5">
                  <c:v>More Developed</c:v>
                </c:pt>
                <c:pt idx="6">
                  <c:v>Less Developed</c:v>
                </c:pt>
                <c:pt idx="7">
                  <c:v>World</c:v>
                </c:pt>
              </c:strCache>
            </c:strRef>
          </c:cat>
          <c:val>
            <c:numRef>
              <c:f>Sheet1!$F$7:$F$14</c:f>
              <c:numCache>
                <c:formatCode>General</c:formatCode>
                <c:ptCount val="8"/>
                <c:pt idx="0">
                  <c:v>30</c:v>
                </c:pt>
                <c:pt idx="1">
                  <c:v>35</c:v>
                </c:pt>
                <c:pt idx="2">
                  <c:v>53</c:v>
                </c:pt>
                <c:pt idx="3">
                  <c:v>68</c:v>
                </c:pt>
                <c:pt idx="4">
                  <c:v>56</c:v>
                </c:pt>
                <c:pt idx="5">
                  <c:v>60</c:v>
                </c:pt>
                <c:pt idx="6">
                  <c:v>65</c:v>
                </c:pt>
                <c:pt idx="7">
                  <c:v>55</c:v>
                </c:pt>
              </c:numCache>
            </c:numRef>
          </c:val>
          <c:extLst>
            <c:ext xmlns:c16="http://schemas.microsoft.com/office/drawing/2014/chart" uri="{C3380CC4-5D6E-409C-BE32-E72D297353CC}">
              <c16:uniqueId val="{00000001-74A3-F247-A0CD-0EE2A0B992FC}"/>
            </c:ext>
          </c:extLst>
        </c:ser>
        <c:dLbls>
          <c:showLegendKey val="0"/>
          <c:showVal val="1"/>
          <c:showCatName val="0"/>
          <c:showSerName val="0"/>
          <c:showPercent val="0"/>
          <c:showBubbleSize val="0"/>
        </c:dLbls>
        <c:gapWidth val="75"/>
        <c:axId val="-2023096776"/>
        <c:axId val="-2010321112"/>
      </c:barChart>
      <c:catAx>
        <c:axId val="-2023096776"/>
        <c:scaling>
          <c:orientation val="minMax"/>
        </c:scaling>
        <c:delete val="0"/>
        <c:axPos val="b"/>
        <c:numFmt formatCode="General" sourceLinked="0"/>
        <c:majorTickMark val="none"/>
        <c:minorTickMark val="none"/>
        <c:tickLblPos val="nextTo"/>
        <c:crossAx val="-2010321112"/>
        <c:crosses val="autoZero"/>
        <c:auto val="1"/>
        <c:lblAlgn val="ctr"/>
        <c:lblOffset val="100"/>
        <c:noMultiLvlLbl val="0"/>
      </c:catAx>
      <c:valAx>
        <c:axId val="-2010321112"/>
        <c:scaling>
          <c:orientation val="minMax"/>
        </c:scaling>
        <c:delete val="0"/>
        <c:axPos val="l"/>
        <c:numFmt formatCode="General" sourceLinked="1"/>
        <c:majorTickMark val="none"/>
        <c:minorTickMark val="none"/>
        <c:tickLblPos val="nextTo"/>
        <c:crossAx val="-2023096776"/>
        <c:crosses val="autoZero"/>
        <c:crossBetween val="between"/>
      </c:valAx>
    </c:plotArea>
    <c:legend>
      <c:legendPos val="b"/>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barChart>
        <c:barDir val="col"/>
        <c:grouping val="clustered"/>
        <c:varyColors val="0"/>
        <c:ser>
          <c:idx val="0"/>
          <c:order val="0"/>
          <c:tx>
            <c:strRef>
              <c:f>Sheet1!$C$4</c:f>
              <c:strCache>
                <c:ptCount val="1"/>
                <c:pt idx="0">
                  <c:v>All methods</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Sheet1!$B$5:$B$11</c:f>
              <c:strCache>
                <c:ptCount val="7"/>
                <c:pt idx="0">
                  <c:v>SSA Africa</c:v>
                </c:pt>
                <c:pt idx="1">
                  <c:v>Northern Africa</c:v>
                </c:pt>
                <c:pt idx="2">
                  <c:v>Southern Africa</c:v>
                </c:pt>
                <c:pt idx="3">
                  <c:v>West Africa</c:v>
                </c:pt>
                <c:pt idx="4">
                  <c:v>Eastern Africa</c:v>
                </c:pt>
                <c:pt idx="5">
                  <c:v>Middle Africa</c:v>
                </c:pt>
                <c:pt idx="6">
                  <c:v>Ghana</c:v>
                </c:pt>
              </c:strCache>
            </c:strRef>
          </c:cat>
          <c:val>
            <c:numRef>
              <c:f>Sheet1!$C$5:$C$11</c:f>
              <c:numCache>
                <c:formatCode>General</c:formatCode>
                <c:ptCount val="7"/>
                <c:pt idx="0">
                  <c:v>30</c:v>
                </c:pt>
                <c:pt idx="1">
                  <c:v>51</c:v>
                </c:pt>
                <c:pt idx="2">
                  <c:v>55</c:v>
                </c:pt>
                <c:pt idx="3">
                  <c:v>18</c:v>
                </c:pt>
                <c:pt idx="4">
                  <c:v>41</c:v>
                </c:pt>
                <c:pt idx="5">
                  <c:v>20</c:v>
                </c:pt>
                <c:pt idx="6">
                  <c:v>31</c:v>
                </c:pt>
              </c:numCache>
            </c:numRef>
          </c:val>
          <c:extLst>
            <c:ext xmlns:c16="http://schemas.microsoft.com/office/drawing/2014/chart" uri="{C3380CC4-5D6E-409C-BE32-E72D297353CC}">
              <c16:uniqueId val="{00000000-74CC-6D4A-9517-3F483E44698F}"/>
            </c:ext>
          </c:extLst>
        </c:ser>
        <c:ser>
          <c:idx val="1"/>
          <c:order val="1"/>
          <c:tx>
            <c:strRef>
              <c:f>Sheet1!$D$4</c:f>
              <c:strCache>
                <c:ptCount val="1"/>
                <c:pt idx="0">
                  <c:v>Modern methods</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Sheet1!$B$5:$B$11</c:f>
              <c:strCache>
                <c:ptCount val="7"/>
                <c:pt idx="0">
                  <c:v>SSA Africa</c:v>
                </c:pt>
                <c:pt idx="1">
                  <c:v>Northern Africa</c:v>
                </c:pt>
                <c:pt idx="2">
                  <c:v>Southern Africa</c:v>
                </c:pt>
                <c:pt idx="3">
                  <c:v>West Africa</c:v>
                </c:pt>
                <c:pt idx="4">
                  <c:v>Eastern Africa</c:v>
                </c:pt>
                <c:pt idx="5">
                  <c:v>Middle Africa</c:v>
                </c:pt>
                <c:pt idx="6">
                  <c:v>Ghana</c:v>
                </c:pt>
              </c:strCache>
            </c:strRef>
          </c:cat>
          <c:val>
            <c:numRef>
              <c:f>Sheet1!$D$5:$D$11</c:f>
              <c:numCache>
                <c:formatCode>General</c:formatCode>
                <c:ptCount val="7"/>
                <c:pt idx="0">
                  <c:v>26</c:v>
                </c:pt>
                <c:pt idx="1">
                  <c:v>46</c:v>
                </c:pt>
                <c:pt idx="2">
                  <c:v>54</c:v>
                </c:pt>
                <c:pt idx="3">
                  <c:v>14</c:v>
                </c:pt>
                <c:pt idx="4">
                  <c:v>38</c:v>
                </c:pt>
                <c:pt idx="5">
                  <c:v>11</c:v>
                </c:pt>
                <c:pt idx="6">
                  <c:v>26</c:v>
                </c:pt>
              </c:numCache>
            </c:numRef>
          </c:val>
          <c:extLst>
            <c:ext xmlns:c16="http://schemas.microsoft.com/office/drawing/2014/chart" uri="{C3380CC4-5D6E-409C-BE32-E72D297353CC}">
              <c16:uniqueId val="{00000001-74CC-6D4A-9517-3F483E44698F}"/>
            </c:ext>
          </c:extLst>
        </c:ser>
        <c:dLbls>
          <c:showLegendKey val="0"/>
          <c:showVal val="1"/>
          <c:showCatName val="0"/>
          <c:showSerName val="0"/>
          <c:showPercent val="0"/>
          <c:showBubbleSize val="0"/>
        </c:dLbls>
        <c:gapWidth val="75"/>
        <c:axId val="-2091644056"/>
        <c:axId val="-2021728936"/>
      </c:barChart>
      <c:catAx>
        <c:axId val="-2091644056"/>
        <c:scaling>
          <c:orientation val="minMax"/>
        </c:scaling>
        <c:delete val="0"/>
        <c:axPos val="b"/>
        <c:numFmt formatCode="General" sourceLinked="0"/>
        <c:majorTickMark val="none"/>
        <c:minorTickMark val="none"/>
        <c:tickLblPos val="nextTo"/>
        <c:crossAx val="-2021728936"/>
        <c:crosses val="autoZero"/>
        <c:auto val="1"/>
        <c:lblAlgn val="ctr"/>
        <c:lblOffset val="100"/>
        <c:noMultiLvlLbl val="0"/>
      </c:catAx>
      <c:valAx>
        <c:axId val="-2021728936"/>
        <c:scaling>
          <c:orientation val="minMax"/>
        </c:scaling>
        <c:delete val="0"/>
        <c:axPos val="l"/>
        <c:numFmt formatCode="General" sourceLinked="1"/>
        <c:majorTickMark val="none"/>
        <c:minorTickMark val="none"/>
        <c:tickLblPos val="nextTo"/>
        <c:crossAx val="-2091644056"/>
        <c:crosses val="autoZero"/>
        <c:crossBetween val="between"/>
      </c:valAx>
    </c:plotArea>
    <c:legend>
      <c:legendPos val="b"/>
      <c:overlay val="0"/>
    </c:legend>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C22FDA-6B8C-364B-8019-2A025A75BC9F}" type="datetimeFigureOut">
              <a:rPr lang="en-US" smtClean="0"/>
              <a:t>2/1/21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AECFD9-BB10-2845-8909-6B623617E1A5}" type="slidenum">
              <a:rPr lang="en-US" smtClean="0"/>
              <a:t>‹#›</a:t>
            </a:fld>
            <a:endParaRPr lang="en-US"/>
          </a:p>
        </p:txBody>
      </p:sp>
    </p:spTree>
    <p:extLst>
      <p:ext uri="{BB962C8B-B14F-4D97-AF65-F5344CB8AC3E}">
        <p14:creationId xmlns:p14="http://schemas.microsoft.com/office/powerpoint/2010/main" val="498129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E47B27A-30C6-6F40-A624-02EBE0AC6CED}" type="datetimeFigureOut">
              <a:rPr lang="en-US" smtClean="0"/>
              <a:t>2/1/21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467E12C-FC04-B245-B351-2DB22F058137}" type="slidenum">
              <a:rPr lang="en-US" smtClean="0"/>
              <a:t>‹#›</a:t>
            </a:fld>
            <a:endParaRPr lang="en-US"/>
          </a:p>
        </p:txBody>
      </p:sp>
    </p:spTree>
    <p:extLst>
      <p:ext uri="{BB962C8B-B14F-4D97-AF65-F5344CB8AC3E}">
        <p14:creationId xmlns:p14="http://schemas.microsoft.com/office/powerpoint/2010/main" val="263079591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619BB8D-664A-9445-95D0-55933219A5CE}" type="datetimeFigureOut">
              <a:rPr lang="en-US" smtClean="0"/>
              <a:t>2/1/21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29075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19BB8D-664A-9445-95D0-55933219A5CE}" type="datetimeFigureOut">
              <a:rPr lang="en-US" smtClean="0"/>
              <a:t>2/1/21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4062156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19BB8D-664A-9445-95D0-55933219A5CE}" type="datetimeFigureOut">
              <a:rPr lang="en-US" smtClean="0"/>
              <a:t>2/1/21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3969190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19BB8D-664A-9445-95D0-55933219A5CE}" type="datetimeFigureOut">
              <a:rPr lang="en-US" smtClean="0"/>
              <a:t>2/1/21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1041465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619BB8D-664A-9445-95D0-55933219A5CE}" type="datetimeFigureOut">
              <a:rPr lang="en-US" smtClean="0"/>
              <a:t>2/1/21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4146853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619BB8D-664A-9445-95D0-55933219A5CE}" type="datetimeFigureOut">
              <a:rPr lang="en-US" smtClean="0"/>
              <a:t>2/1/21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1736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19BB8D-664A-9445-95D0-55933219A5CE}" type="datetimeFigureOut">
              <a:rPr lang="en-US" smtClean="0"/>
              <a:t>2/1/21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1968563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19BB8D-664A-9445-95D0-55933219A5CE}" type="datetimeFigureOut">
              <a:rPr lang="en-US" smtClean="0"/>
              <a:t>2/1/21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410533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19BB8D-664A-9445-95D0-55933219A5CE}" type="datetimeFigureOut">
              <a:rPr lang="en-US" smtClean="0"/>
              <a:t>2/1/21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258377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19BB8D-664A-9445-95D0-55933219A5CE}" type="datetimeFigureOut">
              <a:rPr lang="en-US" smtClean="0"/>
              <a:t>2/1/21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651929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19BB8D-664A-9445-95D0-55933219A5CE}" type="datetimeFigureOut">
              <a:rPr lang="en-US" smtClean="0"/>
              <a:t>2/1/21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0698EE-CB59-A24B-ABBB-59FF87196F70}" type="slidenum">
              <a:rPr lang="en-US" smtClean="0"/>
              <a:t>‹#›</a:t>
            </a:fld>
            <a:endParaRPr lang="en-US"/>
          </a:p>
        </p:txBody>
      </p:sp>
    </p:spTree>
    <p:extLst>
      <p:ext uri="{BB962C8B-B14F-4D97-AF65-F5344CB8AC3E}">
        <p14:creationId xmlns:p14="http://schemas.microsoft.com/office/powerpoint/2010/main" val="2408009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19BB8D-664A-9445-95D0-55933219A5CE}" type="datetimeFigureOut">
              <a:rPr lang="en-US" smtClean="0"/>
              <a:t>2/1/21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0698EE-CB59-A24B-ABBB-59FF87196F70}" type="slidenum">
              <a:rPr lang="en-US" smtClean="0"/>
              <a:t>‹#›</a:t>
            </a:fld>
            <a:endParaRPr lang="en-US"/>
          </a:p>
        </p:txBody>
      </p:sp>
    </p:spTree>
    <p:extLst>
      <p:ext uri="{BB962C8B-B14F-4D97-AF65-F5344CB8AC3E}">
        <p14:creationId xmlns:p14="http://schemas.microsoft.com/office/powerpoint/2010/main" val="2516565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 Id="rId4" Type="http://schemas.openxmlformats.org/officeDocument/2006/relationships/image" Target="../media/image18.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000" dirty="0"/>
              <a:t>Lecture 3</a:t>
            </a:r>
          </a:p>
        </p:txBody>
      </p:sp>
      <p:sp>
        <p:nvSpPr>
          <p:cNvPr id="3" name="Subtitle 2"/>
          <p:cNvSpPr>
            <a:spLocks noGrp="1"/>
          </p:cNvSpPr>
          <p:nvPr>
            <p:ph type="subTitle" idx="1"/>
          </p:nvPr>
        </p:nvSpPr>
        <p:spPr/>
        <p:txBody>
          <a:bodyPr>
            <a:normAutofit/>
          </a:bodyPr>
          <a:lstStyle/>
          <a:p>
            <a:r>
              <a:rPr lang="en-US" sz="5400" dirty="0"/>
              <a:t>Family Planning &amp; Contraception</a:t>
            </a:r>
          </a:p>
        </p:txBody>
      </p:sp>
    </p:spTree>
    <p:extLst>
      <p:ext uri="{BB962C8B-B14F-4D97-AF65-F5344CB8AC3E}">
        <p14:creationId xmlns:p14="http://schemas.microsoft.com/office/powerpoint/2010/main" val="3734814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Family Planning </a:t>
            </a:r>
          </a:p>
        </p:txBody>
      </p:sp>
      <p:sp>
        <p:nvSpPr>
          <p:cNvPr id="3" name="Content Placeholder 2"/>
          <p:cNvSpPr>
            <a:spLocks noGrp="1"/>
          </p:cNvSpPr>
          <p:nvPr>
            <p:ph idx="1"/>
          </p:nvPr>
        </p:nvSpPr>
        <p:spPr/>
        <p:txBody>
          <a:bodyPr>
            <a:normAutofit lnSpcReduction="10000"/>
          </a:bodyPr>
          <a:lstStyle/>
          <a:p>
            <a:endParaRPr lang="en-US" dirty="0"/>
          </a:p>
          <a:p>
            <a:r>
              <a:rPr lang="en-US" sz="4000" dirty="0">
                <a:latin typeface="Times New Roman"/>
                <a:cs typeface="Times New Roman"/>
              </a:rPr>
              <a:t>The use of various methods of fertility control that will help individuals or couples to have the number of children they want and when they want them in order to assure the well being of children and the parents </a:t>
            </a:r>
          </a:p>
          <a:p>
            <a:endParaRPr lang="en-US" dirty="0"/>
          </a:p>
        </p:txBody>
      </p:sp>
    </p:spTree>
    <p:extLst>
      <p:ext uri="{BB962C8B-B14F-4D97-AF65-F5344CB8AC3E}">
        <p14:creationId xmlns:p14="http://schemas.microsoft.com/office/powerpoint/2010/main" val="2633158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Family Planning Services</a:t>
            </a:r>
          </a:p>
        </p:txBody>
      </p:sp>
      <p:sp>
        <p:nvSpPr>
          <p:cNvPr id="3" name="Content Placeholder 2"/>
          <p:cNvSpPr>
            <a:spLocks noGrp="1"/>
          </p:cNvSpPr>
          <p:nvPr>
            <p:ph idx="1"/>
          </p:nvPr>
        </p:nvSpPr>
        <p:spPr/>
        <p:txBody>
          <a:bodyPr>
            <a:normAutofit fontScale="47500" lnSpcReduction="20000"/>
          </a:bodyPr>
          <a:lstStyle/>
          <a:p>
            <a:endParaRPr lang="en-US" sz="6700" dirty="0">
              <a:latin typeface="Times New Roman"/>
              <a:cs typeface="Times New Roman"/>
            </a:endParaRPr>
          </a:p>
          <a:p>
            <a:r>
              <a:rPr lang="en-US" sz="7600" dirty="0">
                <a:latin typeface="Times New Roman"/>
                <a:cs typeface="Times New Roman"/>
              </a:rPr>
              <a:t>Desired number of children </a:t>
            </a:r>
          </a:p>
          <a:p>
            <a:r>
              <a:rPr lang="en-US" sz="7600" dirty="0">
                <a:latin typeface="Times New Roman"/>
                <a:cs typeface="Times New Roman"/>
              </a:rPr>
              <a:t>Reduce the number of unwanted pregnancies </a:t>
            </a:r>
          </a:p>
          <a:p>
            <a:r>
              <a:rPr lang="en-US" sz="7600" dirty="0">
                <a:latin typeface="Times New Roman"/>
                <a:cs typeface="Times New Roman"/>
              </a:rPr>
              <a:t>Reduce the risk of sexually transmitted infection  </a:t>
            </a:r>
          </a:p>
          <a:p>
            <a:r>
              <a:rPr lang="en-US" sz="7600" dirty="0">
                <a:latin typeface="Times New Roman"/>
                <a:cs typeface="Times New Roman"/>
              </a:rPr>
              <a:t>Improve the health of women and children by spacing birth</a:t>
            </a:r>
            <a:br>
              <a:rPr lang="en-US" sz="6700" dirty="0">
                <a:latin typeface="Times New Roman"/>
                <a:cs typeface="Times New Roman"/>
              </a:rPr>
            </a:br>
            <a:endParaRPr lang="en-US" sz="6700" dirty="0">
              <a:latin typeface="Times New Roman"/>
              <a:cs typeface="Times New Roman"/>
            </a:endParaRPr>
          </a:p>
          <a:p>
            <a:endParaRPr lang="en-US" dirty="0"/>
          </a:p>
        </p:txBody>
      </p:sp>
    </p:spTree>
    <p:extLst>
      <p:ext uri="{BB962C8B-B14F-4D97-AF65-F5344CB8AC3E}">
        <p14:creationId xmlns:p14="http://schemas.microsoft.com/office/powerpoint/2010/main" val="2337751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Contraception </a:t>
            </a:r>
          </a:p>
        </p:txBody>
      </p:sp>
      <p:sp>
        <p:nvSpPr>
          <p:cNvPr id="3" name="Content Placeholder 2"/>
          <p:cNvSpPr>
            <a:spLocks noGrp="1"/>
          </p:cNvSpPr>
          <p:nvPr>
            <p:ph idx="1"/>
          </p:nvPr>
        </p:nvSpPr>
        <p:spPr/>
        <p:txBody>
          <a:bodyPr/>
          <a:lstStyle/>
          <a:p>
            <a:endParaRPr lang="en-US" dirty="0"/>
          </a:p>
          <a:p>
            <a:r>
              <a:rPr lang="en-US" sz="4000" dirty="0">
                <a:latin typeface="Times New Roman"/>
                <a:cs typeface="Times New Roman"/>
              </a:rPr>
              <a:t>Intentional prevention of conception or impregnation through the use of various devices, agents, drugs, sexual practices or surgical</a:t>
            </a:r>
          </a:p>
        </p:txBody>
      </p:sp>
    </p:spTree>
    <p:extLst>
      <p:ext uri="{BB962C8B-B14F-4D97-AF65-F5344CB8AC3E}">
        <p14:creationId xmlns:p14="http://schemas.microsoft.com/office/powerpoint/2010/main" val="2916565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rPr>
              <a:t>Types of Birth Control</a:t>
            </a:r>
            <a:endParaRPr lang="en-US" dirty="0"/>
          </a:p>
        </p:txBody>
      </p:sp>
      <p:sp>
        <p:nvSpPr>
          <p:cNvPr id="3" name="Content Placeholder 2"/>
          <p:cNvSpPr>
            <a:spLocks noGrp="1"/>
          </p:cNvSpPr>
          <p:nvPr>
            <p:ph idx="1"/>
          </p:nvPr>
        </p:nvSpPr>
        <p:spPr/>
        <p:txBody>
          <a:bodyPr/>
          <a:lstStyle/>
          <a:p>
            <a:endParaRPr lang="en-US" dirty="0">
              <a:latin typeface="Arial" charset="0"/>
            </a:endParaRPr>
          </a:p>
          <a:p>
            <a:r>
              <a:rPr lang="en-US" dirty="0">
                <a:latin typeface="Arial" charset="0"/>
              </a:rPr>
              <a:t>Hormonal</a:t>
            </a:r>
          </a:p>
          <a:p>
            <a:r>
              <a:rPr lang="en-US" dirty="0">
                <a:latin typeface="Arial" charset="0"/>
              </a:rPr>
              <a:t>Barrier</a:t>
            </a:r>
          </a:p>
          <a:p>
            <a:r>
              <a:rPr lang="en-US" dirty="0">
                <a:latin typeface="Arial" charset="0"/>
              </a:rPr>
              <a:t>IUD</a:t>
            </a:r>
          </a:p>
          <a:p>
            <a:r>
              <a:rPr lang="en-US" dirty="0">
                <a:latin typeface="Arial" charset="0"/>
              </a:rPr>
              <a:t>Methods based on information</a:t>
            </a:r>
          </a:p>
          <a:p>
            <a:r>
              <a:rPr lang="en-US" dirty="0">
                <a:latin typeface="Arial" charset="0"/>
              </a:rPr>
              <a:t>Permanent sterilization</a:t>
            </a:r>
          </a:p>
          <a:p>
            <a:pPr marL="0" indent="0">
              <a:buNone/>
            </a:pPr>
            <a:endParaRPr lang="en-US" dirty="0"/>
          </a:p>
        </p:txBody>
      </p:sp>
    </p:spTree>
    <p:extLst>
      <p:ext uri="{BB962C8B-B14F-4D97-AF65-F5344CB8AC3E}">
        <p14:creationId xmlns:p14="http://schemas.microsoft.com/office/powerpoint/2010/main" val="299949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4" descr="B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937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13502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pPr eaLnBrk="1" hangingPunct="1"/>
            <a:r>
              <a:rPr lang="en-US">
                <a:latin typeface="Arial" charset="0"/>
              </a:rPr>
              <a:t>Hormonal Methods</a:t>
            </a:r>
          </a:p>
        </p:txBody>
      </p:sp>
      <p:sp>
        <p:nvSpPr>
          <p:cNvPr id="22530" name="Rectangle 3"/>
          <p:cNvSpPr>
            <a:spLocks noGrp="1" noChangeArrowheads="1"/>
          </p:cNvSpPr>
          <p:nvPr>
            <p:ph type="body" idx="1"/>
          </p:nvPr>
        </p:nvSpPr>
        <p:spPr/>
        <p:txBody>
          <a:bodyPr/>
          <a:lstStyle/>
          <a:p>
            <a:pPr eaLnBrk="1" hangingPunct="1"/>
            <a:r>
              <a:rPr lang="en-US" dirty="0">
                <a:latin typeface="Arial" charset="0"/>
              </a:rPr>
              <a:t>Oral Contraceptives </a:t>
            </a:r>
          </a:p>
          <a:p>
            <a:pPr eaLnBrk="1" hangingPunct="1">
              <a:buFontTx/>
              <a:buNone/>
            </a:pPr>
            <a:r>
              <a:rPr lang="en-US" dirty="0">
                <a:latin typeface="Arial" charset="0"/>
              </a:rPr>
              <a:t>	(Birth Control Pill)</a:t>
            </a:r>
          </a:p>
          <a:p>
            <a:pPr eaLnBrk="1" hangingPunct="1"/>
            <a:r>
              <a:rPr lang="en-US" dirty="0">
                <a:latin typeface="Arial" charset="0"/>
              </a:rPr>
              <a:t>Injections (Depo-Provera)</a:t>
            </a:r>
          </a:p>
          <a:p>
            <a:pPr eaLnBrk="1" hangingPunct="1"/>
            <a:r>
              <a:rPr lang="en-US" dirty="0">
                <a:latin typeface="Arial" charset="0"/>
              </a:rPr>
              <a:t>Implants (Norplant I &amp; II)</a:t>
            </a:r>
          </a:p>
          <a:p>
            <a:pPr eaLnBrk="1" hangingPunct="1">
              <a:buFontTx/>
              <a:buNone/>
            </a:pPr>
            <a:endParaRPr lang="en-US" b="1" dirty="0">
              <a:latin typeface="Arial" charset="0"/>
            </a:endParaRPr>
          </a:p>
        </p:txBody>
      </p:sp>
    </p:spTree>
    <p:extLst>
      <p:ext uri="{BB962C8B-B14F-4D97-AF65-F5344CB8AC3E}">
        <p14:creationId xmlns:p14="http://schemas.microsoft.com/office/powerpoint/2010/main" val="2796510869"/>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457200" y="0"/>
            <a:ext cx="8229600" cy="1143000"/>
          </a:xfrm>
        </p:spPr>
        <p:txBody>
          <a:bodyPr/>
          <a:lstStyle/>
          <a:p>
            <a:pPr eaLnBrk="1" hangingPunct="1"/>
            <a:r>
              <a:rPr lang="en-US">
                <a:latin typeface="Arial" charset="0"/>
              </a:rPr>
              <a:t>Birth Control Pills</a:t>
            </a:r>
          </a:p>
        </p:txBody>
      </p:sp>
      <p:sp>
        <p:nvSpPr>
          <p:cNvPr id="23554" name="Rectangle 3"/>
          <p:cNvSpPr>
            <a:spLocks noGrp="1" noChangeArrowheads="1"/>
          </p:cNvSpPr>
          <p:nvPr>
            <p:ph type="body" idx="1"/>
          </p:nvPr>
        </p:nvSpPr>
        <p:spPr>
          <a:xfrm>
            <a:off x="381000" y="990600"/>
            <a:ext cx="8229600" cy="4525963"/>
          </a:xfrm>
        </p:spPr>
        <p:txBody>
          <a:bodyPr/>
          <a:lstStyle/>
          <a:p>
            <a:pPr eaLnBrk="1" hangingPunct="1">
              <a:buClr>
                <a:schemeClr val="tx2"/>
              </a:buClr>
            </a:pPr>
            <a:r>
              <a:rPr lang="en-US" sz="2000">
                <a:latin typeface="Arial" charset="0"/>
              </a:rPr>
              <a:t>Pills can be taken to prevent pregnancy</a:t>
            </a:r>
          </a:p>
          <a:p>
            <a:pPr eaLnBrk="1" hangingPunct="1">
              <a:buClr>
                <a:schemeClr val="tx2"/>
              </a:buClr>
            </a:pPr>
            <a:r>
              <a:rPr lang="en-US" sz="2000">
                <a:latin typeface="Arial" charset="0"/>
              </a:rPr>
              <a:t>Pills are safe and effective when taken properly</a:t>
            </a:r>
          </a:p>
          <a:p>
            <a:pPr eaLnBrk="1" hangingPunct="1">
              <a:buClr>
                <a:schemeClr val="tx2"/>
              </a:buClr>
            </a:pPr>
            <a:r>
              <a:rPr lang="en-US" sz="2000">
                <a:latin typeface="Arial" charset="0"/>
              </a:rPr>
              <a:t>Pills are over 99% effective</a:t>
            </a:r>
          </a:p>
          <a:p>
            <a:pPr eaLnBrk="1" hangingPunct="1">
              <a:buClr>
                <a:schemeClr val="tx2"/>
              </a:buClr>
            </a:pPr>
            <a:r>
              <a:rPr lang="en-US" sz="2000">
                <a:latin typeface="Arial" charset="0"/>
              </a:rPr>
              <a:t>Women must have a pap smear to get a prescription for birth control pills</a:t>
            </a:r>
          </a:p>
          <a:p>
            <a:pPr eaLnBrk="1" hangingPunct="1">
              <a:buClr>
                <a:schemeClr val="tx2"/>
              </a:buClr>
            </a:pPr>
            <a:r>
              <a:rPr lang="en-US" sz="2000">
                <a:latin typeface="Arial" charset="0"/>
              </a:rPr>
              <a:t>Pills DO NOT prevent STD</a:t>
            </a:r>
            <a:r>
              <a:rPr lang="ja-JP" altLang="en-US" sz="2000">
                <a:latin typeface="Arial" charset="0"/>
              </a:rPr>
              <a:t>’</a:t>
            </a:r>
            <a:r>
              <a:rPr lang="en-US" altLang="ja-JP" sz="2000">
                <a:latin typeface="Arial" charset="0"/>
              </a:rPr>
              <a:t>s</a:t>
            </a:r>
          </a:p>
          <a:p>
            <a:pPr eaLnBrk="1" hangingPunct="1"/>
            <a:endParaRPr lang="en-US" sz="2000" b="1">
              <a:latin typeface="Arial" charset="0"/>
            </a:endParaRPr>
          </a:p>
        </p:txBody>
      </p:sp>
      <p:pic>
        <p:nvPicPr>
          <p:cNvPr id="23555" name="Picture 7" descr="birthcontro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3429000"/>
            <a:ext cx="2686050" cy="3048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56" name="Picture 9" descr="pi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0"/>
            <a:ext cx="1981200" cy="19478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57" name="Picture 11" descr="use-birth-control-pill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505200"/>
            <a:ext cx="3352800" cy="335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3558" name="Picture 13" descr="pills"/>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729038" y="3505200"/>
            <a:ext cx="2195512" cy="3352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451183897"/>
      </p:ext>
    </p:extLst>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p:txBody>
          <a:bodyPr/>
          <a:lstStyle/>
          <a:p>
            <a:pPr eaLnBrk="1" hangingPunct="1"/>
            <a:r>
              <a:rPr lang="en-US">
                <a:latin typeface="Arial" charset="0"/>
              </a:rPr>
              <a:t>How does the pill work?</a:t>
            </a:r>
          </a:p>
        </p:txBody>
      </p:sp>
      <p:sp>
        <p:nvSpPr>
          <p:cNvPr id="24578" name="Rectangle 3"/>
          <p:cNvSpPr>
            <a:spLocks noGrp="1" noChangeArrowheads="1"/>
          </p:cNvSpPr>
          <p:nvPr>
            <p:ph type="body" idx="1"/>
          </p:nvPr>
        </p:nvSpPr>
        <p:spPr/>
        <p:txBody>
          <a:bodyPr/>
          <a:lstStyle/>
          <a:p>
            <a:pPr eaLnBrk="1" hangingPunct="1"/>
            <a:r>
              <a:rPr lang="en-US" sz="2800">
                <a:solidFill>
                  <a:srgbClr val="FF0000"/>
                </a:solidFill>
                <a:latin typeface="Arial" charset="0"/>
              </a:rPr>
              <a:t>Stops ovulation</a:t>
            </a:r>
          </a:p>
          <a:p>
            <a:pPr eaLnBrk="1" hangingPunct="1"/>
            <a:r>
              <a:rPr lang="en-US" sz="2800">
                <a:solidFill>
                  <a:srgbClr val="FF0000"/>
                </a:solidFill>
                <a:latin typeface="Arial" charset="0"/>
              </a:rPr>
              <a:t>Thins uterine lining</a:t>
            </a:r>
          </a:p>
          <a:p>
            <a:pPr eaLnBrk="1" hangingPunct="1"/>
            <a:r>
              <a:rPr lang="en-US" sz="2800">
                <a:solidFill>
                  <a:srgbClr val="FF0000"/>
                </a:solidFill>
                <a:latin typeface="Arial" charset="0"/>
              </a:rPr>
              <a:t>Thickens cervical mucus</a:t>
            </a:r>
            <a:endParaRPr lang="en-US">
              <a:solidFill>
                <a:srgbClr val="FF0000"/>
              </a:solidFill>
              <a:latin typeface="Arial" charset="0"/>
            </a:endParaRPr>
          </a:p>
        </p:txBody>
      </p:sp>
      <p:pic>
        <p:nvPicPr>
          <p:cNvPr id="24579" name="Picture 6" descr="103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22638"/>
            <a:ext cx="4419600" cy="3535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4580" name="Picture 8" descr="Progestin in pi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322638"/>
            <a:ext cx="4419600" cy="3535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143194901"/>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solidFill>
                  <a:srgbClr val="FF0000"/>
                </a:solidFill>
                <a:latin typeface="Arial" charset="0"/>
              </a:rPr>
              <a:t>Benefits of Birth Control Pills</a:t>
            </a:r>
            <a:endParaRPr lang="en-US" dirty="0"/>
          </a:p>
        </p:txBody>
      </p:sp>
      <p:sp>
        <p:nvSpPr>
          <p:cNvPr id="3" name="Content Placeholder 2"/>
          <p:cNvSpPr>
            <a:spLocks noGrp="1"/>
          </p:cNvSpPr>
          <p:nvPr>
            <p:ph sz="half" idx="1"/>
          </p:nvPr>
        </p:nvSpPr>
        <p:spPr/>
        <p:txBody>
          <a:bodyPr/>
          <a:lstStyle/>
          <a:p>
            <a:pPr lvl="1">
              <a:buClr>
                <a:schemeClr val="tx2"/>
              </a:buClr>
              <a:buFont typeface="Wingdings" charset="0"/>
              <a:buChar char="ü"/>
            </a:pPr>
            <a:endParaRPr lang="en-US" dirty="0">
              <a:solidFill>
                <a:srgbClr val="FF0000"/>
              </a:solidFill>
              <a:latin typeface="Arial" charset="0"/>
              <a:cs typeface="Arial" charset="0"/>
            </a:endParaRPr>
          </a:p>
          <a:p>
            <a:pPr lvl="1">
              <a:buClr>
                <a:schemeClr val="tx2"/>
              </a:buClr>
              <a:buFont typeface="Wingdings" charset="0"/>
              <a:buChar char="ü"/>
            </a:pPr>
            <a:r>
              <a:rPr lang="en-US" dirty="0">
                <a:solidFill>
                  <a:srgbClr val="FF0000"/>
                </a:solidFill>
                <a:latin typeface="Arial" charset="0"/>
                <a:cs typeface="Arial" charset="0"/>
              </a:rPr>
              <a:t>Prevents pregnancy</a:t>
            </a:r>
          </a:p>
          <a:p>
            <a:pPr lvl="1">
              <a:buClr>
                <a:schemeClr val="tx2"/>
              </a:buClr>
              <a:buFont typeface="Wingdings" charset="0"/>
              <a:buChar char="ü"/>
            </a:pPr>
            <a:r>
              <a:rPr lang="en-US" dirty="0">
                <a:solidFill>
                  <a:srgbClr val="FF0000"/>
                </a:solidFill>
                <a:latin typeface="Arial" charset="0"/>
                <a:cs typeface="Arial" charset="0"/>
              </a:rPr>
              <a:t>Eases menstrual cramps</a:t>
            </a:r>
          </a:p>
          <a:p>
            <a:pPr lvl="1">
              <a:buClr>
                <a:schemeClr val="tx2"/>
              </a:buClr>
              <a:buFont typeface="Wingdings" charset="0"/>
              <a:buChar char="ü"/>
            </a:pPr>
            <a:r>
              <a:rPr lang="en-US" dirty="0">
                <a:solidFill>
                  <a:srgbClr val="FF0000"/>
                </a:solidFill>
                <a:latin typeface="Arial" charset="0"/>
                <a:cs typeface="Arial" charset="0"/>
              </a:rPr>
              <a:t>Shortens period</a:t>
            </a:r>
          </a:p>
          <a:p>
            <a:pPr lvl="1">
              <a:buClr>
                <a:schemeClr val="tx2"/>
              </a:buClr>
              <a:buFont typeface="Wingdings" charset="0"/>
              <a:buChar char="ü"/>
            </a:pPr>
            <a:r>
              <a:rPr lang="en-US" dirty="0">
                <a:solidFill>
                  <a:srgbClr val="FF0000"/>
                </a:solidFill>
                <a:latin typeface="Arial" charset="0"/>
                <a:cs typeface="Arial" charset="0"/>
              </a:rPr>
              <a:t>Regulates period</a:t>
            </a:r>
            <a:endParaRPr lang="en-US" b="1" dirty="0">
              <a:solidFill>
                <a:srgbClr val="FF0000"/>
              </a:solidFill>
              <a:latin typeface="Arial" charset="0"/>
              <a:cs typeface="Arial" charset="0"/>
            </a:endParaRPr>
          </a:p>
          <a:p>
            <a:endParaRPr lang="en-US" dirty="0"/>
          </a:p>
        </p:txBody>
      </p:sp>
      <p:sp>
        <p:nvSpPr>
          <p:cNvPr id="4" name="Content Placeholder 3"/>
          <p:cNvSpPr>
            <a:spLocks noGrp="1"/>
          </p:cNvSpPr>
          <p:nvPr>
            <p:ph sz="half" idx="2"/>
          </p:nvPr>
        </p:nvSpPr>
        <p:spPr/>
        <p:txBody>
          <a:bodyPr/>
          <a:lstStyle/>
          <a:p>
            <a:pPr lvl="1">
              <a:lnSpc>
                <a:spcPct val="90000"/>
              </a:lnSpc>
              <a:buClr>
                <a:schemeClr val="tx2"/>
              </a:buClr>
              <a:buFont typeface="Wingdings" charset="0"/>
              <a:buChar char="ü"/>
            </a:pPr>
            <a:endParaRPr lang="en-US" sz="2800" dirty="0">
              <a:solidFill>
                <a:srgbClr val="FF0000"/>
              </a:solidFill>
              <a:latin typeface="Arial" charset="0"/>
              <a:cs typeface="Arial" charset="0"/>
            </a:endParaRPr>
          </a:p>
          <a:p>
            <a:pPr lvl="1">
              <a:lnSpc>
                <a:spcPct val="90000"/>
              </a:lnSpc>
              <a:buClr>
                <a:schemeClr val="tx2"/>
              </a:buClr>
              <a:buFont typeface="Wingdings" charset="0"/>
              <a:buChar char="ü"/>
            </a:pPr>
            <a:r>
              <a:rPr lang="en-US" sz="2800" dirty="0">
                <a:solidFill>
                  <a:srgbClr val="FF0000"/>
                </a:solidFill>
                <a:latin typeface="Arial" charset="0"/>
                <a:cs typeface="Arial" charset="0"/>
              </a:rPr>
              <a:t>Decreases incidence of ovarian cysts</a:t>
            </a:r>
          </a:p>
          <a:p>
            <a:pPr lvl="1">
              <a:lnSpc>
                <a:spcPct val="90000"/>
              </a:lnSpc>
              <a:buClr>
                <a:schemeClr val="tx2"/>
              </a:buClr>
              <a:buFont typeface="Wingdings" charset="0"/>
              <a:buChar char="ü"/>
            </a:pPr>
            <a:r>
              <a:rPr lang="en-US" sz="2800" dirty="0">
                <a:solidFill>
                  <a:srgbClr val="FF0000"/>
                </a:solidFill>
                <a:latin typeface="Arial" charset="0"/>
                <a:cs typeface="Arial" charset="0"/>
              </a:rPr>
              <a:t>Prevents ovarian and uterine cancer</a:t>
            </a:r>
          </a:p>
          <a:p>
            <a:pPr lvl="1">
              <a:lnSpc>
                <a:spcPct val="90000"/>
              </a:lnSpc>
              <a:buClr>
                <a:schemeClr val="tx2"/>
              </a:buClr>
              <a:buFont typeface="Wingdings" charset="0"/>
              <a:buChar char="ü"/>
            </a:pPr>
            <a:r>
              <a:rPr lang="en-US" sz="2800" dirty="0">
                <a:solidFill>
                  <a:srgbClr val="FF0000"/>
                </a:solidFill>
                <a:latin typeface="Arial" charset="0"/>
                <a:cs typeface="Arial" charset="0"/>
              </a:rPr>
              <a:t>Decreases acne</a:t>
            </a:r>
            <a:endParaRPr lang="en-US" sz="2800" b="1" dirty="0">
              <a:solidFill>
                <a:srgbClr val="FF0000"/>
              </a:solidFill>
              <a:latin typeface="Arial" charset="0"/>
              <a:cs typeface="Arial" charset="0"/>
            </a:endParaRPr>
          </a:p>
          <a:p>
            <a:endParaRPr lang="en-US" dirty="0"/>
          </a:p>
        </p:txBody>
      </p:sp>
    </p:spTree>
    <p:extLst>
      <p:ext uri="{BB962C8B-B14F-4D97-AF65-F5344CB8AC3E}">
        <p14:creationId xmlns:p14="http://schemas.microsoft.com/office/powerpoint/2010/main" val="2468433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CC"/>
                </a:solidFill>
              </a:rPr>
              <a:t>Side-Effects</a:t>
            </a:r>
            <a:br>
              <a:rPr lang="en-US" dirty="0">
                <a:solidFill>
                  <a:srgbClr val="0000CC"/>
                </a:solidFill>
              </a:rPr>
            </a:br>
            <a:endParaRPr lang="en-US" dirty="0"/>
          </a:p>
        </p:txBody>
      </p:sp>
      <p:sp>
        <p:nvSpPr>
          <p:cNvPr id="3" name="Content Placeholder 2"/>
          <p:cNvSpPr>
            <a:spLocks noGrp="1"/>
          </p:cNvSpPr>
          <p:nvPr>
            <p:ph sz="half" idx="1"/>
          </p:nvPr>
        </p:nvSpPr>
        <p:spPr/>
        <p:txBody>
          <a:bodyPr/>
          <a:lstStyle/>
          <a:p>
            <a:pPr>
              <a:buFontTx/>
              <a:buChar char="•"/>
            </a:pPr>
            <a:endParaRPr lang="en-US" dirty="0">
              <a:solidFill>
                <a:srgbClr val="0000CC"/>
              </a:solidFill>
            </a:endParaRPr>
          </a:p>
          <a:p>
            <a:pPr>
              <a:buFontTx/>
              <a:buChar char="•"/>
            </a:pPr>
            <a:r>
              <a:rPr lang="en-US" dirty="0">
                <a:solidFill>
                  <a:srgbClr val="0000CC"/>
                </a:solidFill>
              </a:rPr>
              <a:t>Breast tenderness</a:t>
            </a:r>
          </a:p>
          <a:p>
            <a:pPr>
              <a:buFontTx/>
              <a:buChar char="•"/>
            </a:pPr>
            <a:r>
              <a:rPr lang="en-US" dirty="0">
                <a:solidFill>
                  <a:srgbClr val="0000CC"/>
                </a:solidFill>
              </a:rPr>
              <a:t>Nausea</a:t>
            </a:r>
          </a:p>
          <a:p>
            <a:pPr>
              <a:buFontTx/>
              <a:buChar char="•"/>
            </a:pPr>
            <a:r>
              <a:rPr lang="en-US" dirty="0">
                <a:solidFill>
                  <a:srgbClr val="0000CC"/>
                </a:solidFill>
              </a:rPr>
              <a:t>Increase in headaches</a:t>
            </a:r>
            <a:endParaRPr lang="en-US" b="1" dirty="0">
              <a:solidFill>
                <a:srgbClr val="0000CC"/>
              </a:solidFill>
            </a:endParaRPr>
          </a:p>
          <a:p>
            <a:endParaRPr lang="en-US" dirty="0"/>
          </a:p>
        </p:txBody>
      </p:sp>
      <p:sp>
        <p:nvSpPr>
          <p:cNvPr id="4" name="Content Placeholder 3"/>
          <p:cNvSpPr>
            <a:spLocks noGrp="1"/>
          </p:cNvSpPr>
          <p:nvPr>
            <p:ph sz="half" idx="2"/>
          </p:nvPr>
        </p:nvSpPr>
        <p:spPr/>
        <p:txBody>
          <a:bodyPr/>
          <a:lstStyle/>
          <a:p>
            <a:pPr>
              <a:buFontTx/>
              <a:buChar char="•"/>
            </a:pPr>
            <a:endParaRPr lang="en-US" dirty="0">
              <a:solidFill>
                <a:srgbClr val="0000CC"/>
              </a:solidFill>
            </a:endParaRPr>
          </a:p>
          <a:p>
            <a:pPr>
              <a:buFontTx/>
              <a:buChar char="•"/>
            </a:pPr>
            <a:r>
              <a:rPr lang="en-US" dirty="0">
                <a:solidFill>
                  <a:srgbClr val="0000CC"/>
                </a:solidFill>
              </a:rPr>
              <a:t>Moodiness</a:t>
            </a:r>
          </a:p>
          <a:p>
            <a:pPr>
              <a:buFontTx/>
              <a:buChar char="•"/>
            </a:pPr>
            <a:r>
              <a:rPr lang="en-US" dirty="0">
                <a:solidFill>
                  <a:srgbClr val="0000CC"/>
                </a:solidFill>
              </a:rPr>
              <a:t>Weight change</a:t>
            </a:r>
          </a:p>
          <a:p>
            <a:pPr>
              <a:buFontTx/>
              <a:buChar char="•"/>
            </a:pPr>
            <a:r>
              <a:rPr lang="en-US" dirty="0">
                <a:solidFill>
                  <a:srgbClr val="0000CC"/>
                </a:solidFill>
              </a:rPr>
              <a:t>Spotting</a:t>
            </a:r>
          </a:p>
          <a:p>
            <a:endParaRPr lang="en-US" dirty="0"/>
          </a:p>
        </p:txBody>
      </p:sp>
    </p:spTree>
    <p:extLst>
      <p:ext uri="{BB962C8B-B14F-4D97-AF65-F5344CB8AC3E}">
        <p14:creationId xmlns:p14="http://schemas.microsoft.com/office/powerpoint/2010/main" val="3423457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pPr eaLnBrk="1" hangingPunct="1"/>
            <a:r>
              <a:rPr lang="en-US">
                <a:latin typeface="Arial" charset="0"/>
              </a:rPr>
              <a:t>Taking the Pill</a:t>
            </a:r>
          </a:p>
        </p:txBody>
      </p:sp>
      <p:sp>
        <p:nvSpPr>
          <p:cNvPr id="26626" name="Rectangle 3"/>
          <p:cNvSpPr>
            <a:spLocks noGrp="1" noChangeArrowheads="1"/>
          </p:cNvSpPr>
          <p:nvPr>
            <p:ph type="body" idx="1"/>
          </p:nvPr>
        </p:nvSpPr>
        <p:spPr/>
        <p:txBody>
          <a:bodyPr/>
          <a:lstStyle/>
          <a:p>
            <a:pPr eaLnBrk="1" hangingPunct="1"/>
            <a:r>
              <a:rPr lang="en-US" sz="2800">
                <a:latin typeface="Arial" charset="0"/>
              </a:rPr>
              <a:t>Once a day at the </a:t>
            </a:r>
            <a:r>
              <a:rPr lang="en-US" sz="2800" u="sng">
                <a:latin typeface="Arial" charset="0"/>
              </a:rPr>
              <a:t>same time</a:t>
            </a:r>
            <a:r>
              <a:rPr lang="en-US" sz="2800">
                <a:latin typeface="Arial" charset="0"/>
              </a:rPr>
              <a:t> everyday</a:t>
            </a:r>
          </a:p>
          <a:p>
            <a:pPr eaLnBrk="1" hangingPunct="1"/>
            <a:r>
              <a:rPr lang="en-US" sz="2800">
                <a:latin typeface="Arial" charset="0"/>
              </a:rPr>
              <a:t>Use condoms for first month</a:t>
            </a:r>
          </a:p>
          <a:p>
            <a:pPr eaLnBrk="1" hangingPunct="1"/>
            <a:r>
              <a:rPr lang="en-US" sz="2800">
                <a:latin typeface="Arial" charset="0"/>
              </a:rPr>
              <a:t>Use condoms when on antibiotics </a:t>
            </a:r>
          </a:p>
          <a:p>
            <a:pPr eaLnBrk="1" hangingPunct="1"/>
            <a:r>
              <a:rPr lang="en-US" sz="2800">
                <a:latin typeface="Arial" charset="0"/>
              </a:rPr>
              <a:t>Use condoms for 1 week if you miss a pill or take one late</a:t>
            </a:r>
          </a:p>
          <a:p>
            <a:pPr eaLnBrk="1" hangingPunct="1"/>
            <a:r>
              <a:rPr lang="en-US" sz="2800">
                <a:latin typeface="Arial" charset="0"/>
              </a:rPr>
              <a:t>The pill offers </a:t>
            </a:r>
            <a:r>
              <a:rPr lang="en-US" sz="2800" u="sng">
                <a:latin typeface="Arial" charset="0"/>
              </a:rPr>
              <a:t>no protection from STD</a:t>
            </a:r>
            <a:r>
              <a:rPr lang="ja-JP" altLang="en-US" sz="2800" u="sng">
                <a:latin typeface="Arial" charset="0"/>
              </a:rPr>
              <a:t>’</a:t>
            </a:r>
            <a:r>
              <a:rPr lang="en-US" altLang="ja-JP" sz="2800" u="sng">
                <a:latin typeface="Arial" charset="0"/>
              </a:rPr>
              <a:t>s</a:t>
            </a:r>
            <a:endParaRPr lang="en-US" altLang="ja-JP" sz="2800" b="1" u="sng">
              <a:latin typeface="Arial" charset="0"/>
            </a:endParaRPr>
          </a:p>
          <a:p>
            <a:pPr eaLnBrk="1" hangingPunct="1"/>
            <a:endParaRPr lang="en-US" sz="2800" b="1">
              <a:latin typeface="Arial" charset="0"/>
            </a:endParaRPr>
          </a:p>
        </p:txBody>
      </p:sp>
    </p:spTree>
    <p:extLst>
      <p:ext uri="{BB962C8B-B14F-4D97-AF65-F5344CB8AC3E}">
        <p14:creationId xmlns:p14="http://schemas.microsoft.com/office/powerpoint/2010/main" val="895907471"/>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pPr eaLnBrk="1" hangingPunct="1"/>
            <a:r>
              <a:rPr lang="en-US">
                <a:latin typeface="Arial" charset="0"/>
              </a:rPr>
              <a:t>Depo-Provera</a:t>
            </a:r>
          </a:p>
        </p:txBody>
      </p:sp>
      <p:sp>
        <p:nvSpPr>
          <p:cNvPr id="27650" name="Rectangle 3"/>
          <p:cNvSpPr>
            <a:spLocks noGrp="1" noChangeArrowheads="1"/>
          </p:cNvSpPr>
          <p:nvPr>
            <p:ph type="body" idx="1"/>
          </p:nvPr>
        </p:nvSpPr>
        <p:spPr>
          <a:xfrm>
            <a:off x="685800" y="1295400"/>
            <a:ext cx="8458200" cy="4114800"/>
          </a:xfrm>
        </p:spPr>
        <p:txBody>
          <a:bodyPr/>
          <a:lstStyle/>
          <a:p>
            <a:pPr eaLnBrk="1" hangingPunct="1"/>
            <a:r>
              <a:rPr lang="en-US" b="1">
                <a:latin typeface="Arial" charset="0"/>
              </a:rPr>
              <a:t>Birth control shot given once every three months to prevent pregnancy</a:t>
            </a:r>
          </a:p>
          <a:p>
            <a:pPr eaLnBrk="1" hangingPunct="1"/>
            <a:r>
              <a:rPr lang="en-US" b="1">
                <a:latin typeface="Arial" charset="0"/>
              </a:rPr>
              <a:t>99.7% effective preventing pregnancy</a:t>
            </a:r>
          </a:p>
          <a:p>
            <a:pPr eaLnBrk="1" hangingPunct="1"/>
            <a:r>
              <a:rPr lang="en-US" b="1">
                <a:latin typeface="Arial" charset="0"/>
              </a:rPr>
              <a:t>No daily pills to remember  </a:t>
            </a:r>
          </a:p>
        </p:txBody>
      </p:sp>
      <p:pic>
        <p:nvPicPr>
          <p:cNvPr id="27651" name="Picture 5" descr="de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733800"/>
            <a:ext cx="4419600" cy="3005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7652" name="Picture 7" descr="psdepoprove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3971925"/>
            <a:ext cx="3810000" cy="2886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92903854"/>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pPr eaLnBrk="1" hangingPunct="1"/>
            <a:r>
              <a:rPr lang="en-US">
                <a:latin typeface="Arial" charset="0"/>
              </a:rPr>
              <a:t>How does the shot work?</a:t>
            </a:r>
          </a:p>
        </p:txBody>
      </p:sp>
      <p:sp>
        <p:nvSpPr>
          <p:cNvPr id="28674" name="Rectangle 3"/>
          <p:cNvSpPr>
            <a:spLocks noGrp="1" noChangeArrowheads="1"/>
          </p:cNvSpPr>
          <p:nvPr>
            <p:ph type="body" idx="1"/>
          </p:nvPr>
        </p:nvSpPr>
        <p:spPr>
          <a:xfrm>
            <a:off x="762000" y="1295400"/>
            <a:ext cx="7772400" cy="4114800"/>
          </a:xfrm>
        </p:spPr>
        <p:txBody>
          <a:bodyPr/>
          <a:lstStyle/>
          <a:p>
            <a:pPr eaLnBrk="1" hangingPunct="1"/>
            <a:r>
              <a:rPr lang="en-US" b="1" dirty="0">
                <a:latin typeface="Arial" charset="0"/>
              </a:rPr>
              <a:t>The same way as the Pill</a:t>
            </a:r>
          </a:p>
          <a:p>
            <a:pPr eaLnBrk="1" hangingPunct="1"/>
            <a:r>
              <a:rPr lang="en-US" b="1" dirty="0">
                <a:latin typeface="Arial" charset="0"/>
              </a:rPr>
              <a:t>Stops ovulation</a:t>
            </a:r>
          </a:p>
          <a:p>
            <a:pPr eaLnBrk="1" hangingPunct="1"/>
            <a:r>
              <a:rPr lang="en-US" b="1" dirty="0">
                <a:latin typeface="Arial" charset="0"/>
              </a:rPr>
              <a:t>Stops menstrual cycles </a:t>
            </a:r>
          </a:p>
          <a:p>
            <a:pPr eaLnBrk="1" hangingPunct="1"/>
            <a:r>
              <a:rPr lang="en-US" b="1" dirty="0">
                <a:latin typeface="Arial" charset="0"/>
              </a:rPr>
              <a:t>Thickens cervical mucus</a:t>
            </a:r>
          </a:p>
        </p:txBody>
      </p:sp>
      <p:pic>
        <p:nvPicPr>
          <p:cNvPr id="28675" name="Picture 4" descr="103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86200"/>
            <a:ext cx="4419600" cy="297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8676" name="Picture 5" descr="Progestin in pi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200" y="3886200"/>
            <a:ext cx="34290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59060351"/>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a:latin typeface="Arial" charset="0"/>
              </a:rPr>
              <a:t>SIDE EFFECTS</a:t>
            </a:r>
          </a:p>
        </p:txBody>
      </p:sp>
      <p:sp>
        <p:nvSpPr>
          <p:cNvPr id="29698" name="Rectangle 3"/>
          <p:cNvSpPr>
            <a:spLocks noGrp="1" noChangeArrowheads="1"/>
          </p:cNvSpPr>
          <p:nvPr>
            <p:ph type="body" idx="1"/>
          </p:nvPr>
        </p:nvSpPr>
        <p:spPr/>
        <p:txBody>
          <a:bodyPr/>
          <a:lstStyle/>
          <a:p>
            <a:pPr eaLnBrk="1" hangingPunct="1">
              <a:lnSpc>
                <a:spcPct val="90000"/>
              </a:lnSpc>
            </a:pPr>
            <a:r>
              <a:rPr lang="en-US" sz="2800">
                <a:latin typeface="Arial" charset="0"/>
              </a:rPr>
              <a:t>Extremely irregular menstrual bleeding and spotting for 3-6 months!</a:t>
            </a:r>
          </a:p>
          <a:p>
            <a:pPr eaLnBrk="1" hangingPunct="1">
              <a:lnSpc>
                <a:spcPct val="90000"/>
              </a:lnSpc>
            </a:pPr>
            <a:r>
              <a:rPr lang="en-US" sz="3400" u="sng">
                <a:latin typeface="Arial" charset="0"/>
              </a:rPr>
              <a:t>NO PERIOD </a:t>
            </a:r>
            <a:r>
              <a:rPr lang="en-US" sz="3400">
                <a:latin typeface="Arial" charset="0"/>
                <a:sym typeface="Wingdings" charset="0"/>
              </a:rPr>
              <a:t> </a:t>
            </a:r>
            <a:r>
              <a:rPr lang="en-US" sz="3400">
                <a:latin typeface="Arial" charset="0"/>
              </a:rPr>
              <a:t>after 3-6 months </a:t>
            </a:r>
            <a:r>
              <a:rPr lang="en-US" sz="4400">
                <a:latin typeface="Arial" charset="0"/>
                <a:sym typeface="Wingdings" charset="0"/>
              </a:rPr>
              <a:t> </a:t>
            </a:r>
            <a:endParaRPr lang="en-US" sz="2800">
              <a:latin typeface="Arial" charset="0"/>
            </a:endParaRPr>
          </a:p>
          <a:p>
            <a:pPr eaLnBrk="1" hangingPunct="1">
              <a:lnSpc>
                <a:spcPct val="90000"/>
              </a:lnSpc>
            </a:pPr>
            <a:r>
              <a:rPr lang="en-US" sz="2800">
                <a:latin typeface="Arial" charset="0"/>
              </a:rPr>
              <a:t>Weight change </a:t>
            </a:r>
          </a:p>
          <a:p>
            <a:pPr eaLnBrk="1" hangingPunct="1">
              <a:lnSpc>
                <a:spcPct val="90000"/>
              </a:lnSpc>
            </a:pPr>
            <a:r>
              <a:rPr lang="en-US" sz="2800">
                <a:latin typeface="Arial" charset="0"/>
              </a:rPr>
              <a:t>Breast tenderness</a:t>
            </a:r>
          </a:p>
          <a:p>
            <a:pPr eaLnBrk="1" hangingPunct="1">
              <a:lnSpc>
                <a:spcPct val="90000"/>
              </a:lnSpc>
            </a:pPr>
            <a:r>
              <a:rPr lang="en-US" sz="2800">
                <a:latin typeface="Arial" charset="0"/>
              </a:rPr>
              <a:t>Mood change</a:t>
            </a:r>
          </a:p>
          <a:p>
            <a:pPr eaLnBrk="1" hangingPunct="1">
              <a:lnSpc>
                <a:spcPct val="90000"/>
              </a:lnSpc>
              <a:buFontTx/>
              <a:buNone/>
            </a:pPr>
            <a:endParaRPr lang="en-US" sz="2800">
              <a:latin typeface="Arial" charset="0"/>
            </a:endParaRPr>
          </a:p>
          <a:p>
            <a:pPr eaLnBrk="1" hangingPunct="1">
              <a:lnSpc>
                <a:spcPct val="90000"/>
              </a:lnSpc>
              <a:buFontTx/>
              <a:buNone/>
            </a:pPr>
            <a:r>
              <a:rPr lang="en-US" sz="2800">
                <a:latin typeface="Arial" charset="0"/>
              </a:rPr>
              <a:t>*NOT EVERY WOMAN HAS SIDE-EFFECTS!</a:t>
            </a:r>
          </a:p>
          <a:p>
            <a:pPr eaLnBrk="1" hangingPunct="1">
              <a:lnSpc>
                <a:spcPct val="90000"/>
              </a:lnSpc>
              <a:buFontTx/>
              <a:buNone/>
            </a:pPr>
            <a:endParaRPr lang="en-US" sz="2800" b="1">
              <a:latin typeface="Arial" charset="0"/>
            </a:endParaRPr>
          </a:p>
          <a:p>
            <a:pPr eaLnBrk="1" hangingPunct="1">
              <a:lnSpc>
                <a:spcPct val="90000"/>
              </a:lnSpc>
              <a:buFontTx/>
              <a:buNone/>
            </a:pPr>
            <a:endParaRPr lang="en-US" sz="2800" b="1">
              <a:latin typeface="Arial" charset="0"/>
            </a:endParaRPr>
          </a:p>
        </p:txBody>
      </p:sp>
    </p:spTree>
    <p:extLst>
      <p:ext uri="{BB962C8B-B14F-4D97-AF65-F5344CB8AC3E}">
        <p14:creationId xmlns:p14="http://schemas.microsoft.com/office/powerpoint/2010/main" val="2897810077"/>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pPr eaLnBrk="1" hangingPunct="1"/>
            <a:r>
              <a:rPr lang="en-US" dirty="0">
                <a:latin typeface="Arial" charset="0"/>
              </a:rPr>
              <a:t>The Patch</a:t>
            </a:r>
          </a:p>
        </p:txBody>
      </p:sp>
      <p:sp>
        <p:nvSpPr>
          <p:cNvPr id="30722" name="AutoShape 3" descr="jha60008fa-778492"/>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s-CO"/>
          </a:p>
        </p:txBody>
      </p:sp>
      <p:pic>
        <p:nvPicPr>
          <p:cNvPr id="30723" name="Picture 4" descr="jha60008fa-7784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2114550"/>
            <a:ext cx="3810000" cy="47434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0724" name="Picture 5" descr="nr555520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295400"/>
            <a:ext cx="4381500" cy="3733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97087809"/>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dirty="0"/>
              <a:t>… </a:t>
            </a:r>
            <a:r>
              <a:rPr lang="en-US" dirty="0">
                <a:latin typeface="Arial" charset="0"/>
              </a:rPr>
              <a:t>The Patch</a:t>
            </a:r>
            <a:endParaRPr lang="en-US" dirty="0"/>
          </a:p>
        </p:txBody>
      </p:sp>
      <p:sp>
        <p:nvSpPr>
          <p:cNvPr id="3" name="Content Placeholder 2"/>
          <p:cNvSpPr>
            <a:spLocks noGrp="1"/>
          </p:cNvSpPr>
          <p:nvPr>
            <p:ph idx="1"/>
          </p:nvPr>
        </p:nvSpPr>
        <p:spPr/>
        <p:txBody>
          <a:bodyPr/>
          <a:lstStyle/>
          <a:p>
            <a:endParaRPr lang="en-US" dirty="0">
              <a:solidFill>
                <a:srgbClr val="FF0000"/>
              </a:solidFill>
              <a:latin typeface="Times New Roman" pitchFamily="18" charset="0"/>
              <a:cs typeface="Times New Roman" pitchFamily="18" charset="0"/>
            </a:endParaRPr>
          </a:p>
          <a:p>
            <a:r>
              <a:rPr lang="en-US" dirty="0">
                <a:latin typeface="Times New Roman" pitchFamily="18" charset="0"/>
                <a:cs typeface="Times New Roman" pitchFamily="18" charset="0"/>
              </a:rPr>
              <a:t>It releases </a:t>
            </a:r>
            <a:r>
              <a:rPr lang="en-US" dirty="0" err="1">
                <a:latin typeface="Times New Roman" pitchFamily="18" charset="0"/>
                <a:cs typeface="Times New Roman" pitchFamily="18" charset="0"/>
              </a:rPr>
              <a:t>norelgestromin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ethinyl</a:t>
            </a:r>
            <a:r>
              <a:rPr lang="en-US" dirty="0">
                <a:latin typeface="Times New Roman" pitchFamily="18" charset="0"/>
                <a:cs typeface="Times New Roman" pitchFamily="18" charset="0"/>
              </a:rPr>
              <a:t> estradiol</a:t>
            </a:r>
          </a:p>
          <a:p>
            <a:r>
              <a:rPr lang="en-US" b="1" dirty="0">
                <a:latin typeface="Times New Roman" pitchFamily="18" charset="0"/>
                <a:cs typeface="Times New Roman" pitchFamily="18" charset="0"/>
              </a:rPr>
              <a:t>Weekly</a:t>
            </a:r>
            <a:r>
              <a:rPr lang="en-US" dirty="0">
                <a:latin typeface="Times New Roman" pitchFamily="18" charset="0"/>
                <a:cs typeface="Times New Roman" pitchFamily="18" charset="0"/>
              </a:rPr>
              <a:t> applied, for </a:t>
            </a:r>
            <a:r>
              <a:rPr lang="en-US" b="1" dirty="0">
                <a:latin typeface="Times New Roman" pitchFamily="18" charset="0"/>
                <a:cs typeface="Times New Roman" pitchFamily="18" charset="0"/>
              </a:rPr>
              <a:t>3 weeks</a:t>
            </a:r>
            <a:r>
              <a:rPr lang="en-US" dirty="0">
                <a:latin typeface="Times New Roman" pitchFamily="18" charset="0"/>
                <a:cs typeface="Times New Roman" pitchFamily="18" charset="0"/>
              </a:rPr>
              <a:t>, and the last week of the cycle is a </a:t>
            </a:r>
            <a:r>
              <a:rPr lang="en-US" b="1" dirty="0">
                <a:latin typeface="Times New Roman" pitchFamily="18" charset="0"/>
                <a:cs typeface="Times New Roman" pitchFamily="18" charset="0"/>
              </a:rPr>
              <a:t>patch-free week</a:t>
            </a:r>
          </a:p>
          <a:p>
            <a:r>
              <a:rPr lang="en-US" dirty="0">
                <a:latin typeface="Times New Roman" pitchFamily="18" charset="0"/>
                <a:cs typeface="Times New Roman" pitchFamily="18" charset="0"/>
              </a:rPr>
              <a:t>Normal activities can be done while using the patch</a:t>
            </a:r>
          </a:p>
          <a:p>
            <a:endParaRPr lang="en-US" dirty="0"/>
          </a:p>
        </p:txBody>
      </p:sp>
    </p:spTree>
    <p:extLst>
      <p:ext uri="{BB962C8B-B14F-4D97-AF65-F5344CB8AC3E}">
        <p14:creationId xmlns:p14="http://schemas.microsoft.com/office/powerpoint/2010/main" val="1714060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lstStyle/>
          <a:p>
            <a:pPr eaLnBrk="1" hangingPunct="1"/>
            <a:r>
              <a:rPr lang="en-US">
                <a:latin typeface="Arial" charset="0"/>
              </a:rPr>
              <a:t>IMPLANTS</a:t>
            </a:r>
          </a:p>
        </p:txBody>
      </p:sp>
      <p:sp>
        <p:nvSpPr>
          <p:cNvPr id="31746" name="Rectangle 3"/>
          <p:cNvSpPr>
            <a:spLocks noGrp="1" noChangeArrowheads="1"/>
          </p:cNvSpPr>
          <p:nvPr>
            <p:ph type="body" idx="1"/>
          </p:nvPr>
        </p:nvSpPr>
        <p:spPr/>
        <p:txBody>
          <a:bodyPr/>
          <a:lstStyle/>
          <a:p>
            <a:pPr eaLnBrk="1" hangingPunct="1">
              <a:lnSpc>
                <a:spcPct val="90000"/>
              </a:lnSpc>
            </a:pPr>
            <a:r>
              <a:rPr lang="en-US" sz="2800">
                <a:latin typeface="Arial" charset="0"/>
              </a:rPr>
              <a:t>Implants are placed in the body filled with hormone that prevents pregnancy</a:t>
            </a:r>
          </a:p>
          <a:p>
            <a:pPr eaLnBrk="1" hangingPunct="1">
              <a:lnSpc>
                <a:spcPct val="90000"/>
              </a:lnSpc>
            </a:pPr>
            <a:r>
              <a:rPr lang="en-US" sz="2800">
                <a:latin typeface="Arial" charset="0"/>
              </a:rPr>
              <a:t>Physically inserted in simple 15 minute outpatient procedure</a:t>
            </a:r>
          </a:p>
          <a:p>
            <a:pPr eaLnBrk="1" hangingPunct="1">
              <a:lnSpc>
                <a:spcPct val="90000"/>
              </a:lnSpc>
            </a:pPr>
            <a:r>
              <a:rPr lang="en-US" sz="2800">
                <a:latin typeface="Arial" charset="0"/>
              </a:rPr>
              <a:t>Plastic capsules the size of paper matchsticks inserted under the skin in the arm</a:t>
            </a:r>
          </a:p>
          <a:p>
            <a:pPr eaLnBrk="1" hangingPunct="1">
              <a:lnSpc>
                <a:spcPct val="90000"/>
              </a:lnSpc>
            </a:pPr>
            <a:r>
              <a:rPr lang="en-US" sz="2800">
                <a:latin typeface="Arial" charset="0"/>
              </a:rPr>
              <a:t>99.95% effectiveness rate</a:t>
            </a:r>
            <a:endParaRPr lang="en-US" sz="2800" b="1">
              <a:latin typeface="Arial" charset="0"/>
            </a:endParaRPr>
          </a:p>
          <a:p>
            <a:pPr eaLnBrk="1" hangingPunct="1">
              <a:lnSpc>
                <a:spcPct val="90000"/>
              </a:lnSpc>
            </a:pPr>
            <a:endParaRPr lang="en-US" sz="2800" b="1">
              <a:latin typeface="Arial" charset="0"/>
            </a:endParaRPr>
          </a:p>
        </p:txBody>
      </p:sp>
    </p:spTree>
    <p:extLst>
      <p:ext uri="{BB962C8B-B14F-4D97-AF65-F5344CB8AC3E}">
        <p14:creationId xmlns:p14="http://schemas.microsoft.com/office/powerpoint/2010/main" val="2192890700"/>
      </p:ext>
    </p:extLst>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a:xfrm>
            <a:off x="-914400" y="228600"/>
            <a:ext cx="8229600" cy="1052513"/>
          </a:xfrm>
        </p:spPr>
        <p:txBody>
          <a:bodyPr/>
          <a:lstStyle/>
          <a:p>
            <a:pPr eaLnBrk="1" hangingPunct="1"/>
            <a:r>
              <a:rPr lang="en-US" sz="4000">
                <a:latin typeface="Arial" charset="0"/>
              </a:rPr>
              <a:t>Norplant I  </a:t>
            </a:r>
            <a:r>
              <a:rPr lang="en-US" sz="2000">
                <a:latin typeface="Arial" charset="0"/>
              </a:rPr>
              <a:t>vs. </a:t>
            </a:r>
            <a:r>
              <a:rPr lang="en-US" sz="4000">
                <a:latin typeface="Arial" charset="0"/>
              </a:rPr>
              <a:t> Norplant II</a:t>
            </a:r>
          </a:p>
        </p:txBody>
      </p:sp>
      <p:sp>
        <p:nvSpPr>
          <p:cNvPr id="32770" name="Rectangle 3"/>
          <p:cNvSpPr>
            <a:spLocks noGrp="1" noChangeArrowheads="1"/>
          </p:cNvSpPr>
          <p:nvPr>
            <p:ph type="body" sz="half" idx="1"/>
          </p:nvPr>
        </p:nvSpPr>
        <p:spPr>
          <a:xfrm>
            <a:off x="533400" y="1219200"/>
            <a:ext cx="3811588" cy="1814429"/>
          </a:xfrm>
        </p:spPr>
        <p:txBody>
          <a:bodyPr/>
          <a:lstStyle/>
          <a:p>
            <a:pPr eaLnBrk="1" hangingPunct="1"/>
            <a:r>
              <a:rPr lang="en-US" dirty="0">
                <a:latin typeface="Arial" charset="0"/>
              </a:rPr>
              <a:t>Six capsules</a:t>
            </a:r>
          </a:p>
          <a:p>
            <a:pPr eaLnBrk="1" hangingPunct="1"/>
            <a:r>
              <a:rPr lang="en-US" dirty="0">
                <a:latin typeface="Arial" charset="0"/>
              </a:rPr>
              <a:t>Five years</a:t>
            </a:r>
            <a:endParaRPr lang="en-US" b="1" dirty="0">
              <a:latin typeface="Arial" charset="0"/>
            </a:endParaRPr>
          </a:p>
          <a:p>
            <a:pPr eaLnBrk="1" hangingPunct="1"/>
            <a:endParaRPr lang="en-US" b="1" dirty="0">
              <a:latin typeface="Arial" charset="0"/>
            </a:endParaRPr>
          </a:p>
        </p:txBody>
      </p:sp>
      <p:sp>
        <p:nvSpPr>
          <p:cNvPr id="32771" name="Rectangle 4"/>
          <p:cNvSpPr>
            <a:spLocks noGrp="1" noChangeArrowheads="1"/>
          </p:cNvSpPr>
          <p:nvPr>
            <p:ph type="body" sz="half" idx="2"/>
          </p:nvPr>
        </p:nvSpPr>
        <p:spPr>
          <a:xfrm>
            <a:off x="3276600" y="1219200"/>
            <a:ext cx="3813175" cy="4114800"/>
          </a:xfrm>
        </p:spPr>
        <p:txBody>
          <a:bodyPr/>
          <a:lstStyle/>
          <a:p>
            <a:pPr eaLnBrk="1" hangingPunct="1"/>
            <a:r>
              <a:rPr lang="en-US">
                <a:latin typeface="Arial" charset="0"/>
              </a:rPr>
              <a:t>Two capsules</a:t>
            </a:r>
          </a:p>
          <a:p>
            <a:pPr eaLnBrk="1" hangingPunct="1"/>
            <a:r>
              <a:rPr lang="en-US">
                <a:latin typeface="Arial" charset="0"/>
              </a:rPr>
              <a:t>Three years</a:t>
            </a:r>
            <a:endParaRPr lang="en-US" b="1">
              <a:latin typeface="Arial" charset="0"/>
            </a:endParaRPr>
          </a:p>
          <a:p>
            <a:pPr eaLnBrk="1" hangingPunct="1"/>
            <a:endParaRPr lang="en-US" b="1">
              <a:latin typeface="Arial" charset="0"/>
            </a:endParaRPr>
          </a:p>
        </p:txBody>
      </p:sp>
      <p:pic>
        <p:nvPicPr>
          <p:cNvPr id="32772" name="Picture 10" descr="Hormone-based contracepti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2346325"/>
            <a:ext cx="5943600" cy="451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104374043"/>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609600" y="171450"/>
            <a:ext cx="7772400" cy="1143000"/>
          </a:xfrm>
        </p:spPr>
        <p:txBody>
          <a:bodyPr/>
          <a:lstStyle/>
          <a:p>
            <a:pPr eaLnBrk="1" hangingPunct="1"/>
            <a:r>
              <a:rPr lang="en-US">
                <a:latin typeface="Arial" charset="0"/>
              </a:rPr>
              <a:t>Norplant Implant</a:t>
            </a:r>
          </a:p>
        </p:txBody>
      </p:sp>
      <p:sp>
        <p:nvSpPr>
          <p:cNvPr id="33794" name="Rectangle 4"/>
          <p:cNvSpPr>
            <a:spLocks noGrp="1" noChangeArrowheads="1"/>
          </p:cNvSpPr>
          <p:nvPr>
            <p:ph type="body" sz="half" idx="2"/>
          </p:nvPr>
        </p:nvSpPr>
        <p:spPr>
          <a:xfrm>
            <a:off x="4652963" y="1600200"/>
            <a:ext cx="4033837" cy="4525963"/>
          </a:xfrm>
        </p:spPr>
        <p:txBody>
          <a:bodyPr/>
          <a:lstStyle/>
          <a:p>
            <a:pPr eaLnBrk="1" hangingPunct="1"/>
            <a:endParaRPr lang="es-CO">
              <a:latin typeface="Arial" charset="0"/>
            </a:endParaRPr>
          </a:p>
        </p:txBody>
      </p:sp>
      <p:pic>
        <p:nvPicPr>
          <p:cNvPr id="33795" name="Picture 5"/>
          <p:cNvPicPr>
            <a:picLocks noGrp="1" noChangeAspect="1" noChangeArrowheads="1"/>
          </p:cNvPicPr>
          <p:nvPr>
            <p:ph type="body" sz="half" idx="1"/>
          </p:nvPr>
        </p:nvPicPr>
        <p:blipFill>
          <a:blip r:embed="rId2">
            <a:extLst>
              <a:ext uri="{28A0092B-C50C-407E-A947-70E740481C1C}">
                <a14:useLocalDpi xmlns:a14="http://schemas.microsoft.com/office/drawing/2010/main" val="0"/>
              </a:ext>
            </a:extLst>
          </a:blip>
          <a:srcRect/>
          <a:stretch>
            <a:fillRect/>
          </a:stretch>
        </p:blipFill>
        <p:spPr>
          <a:xfrm>
            <a:off x="0" y="4329113"/>
            <a:ext cx="4495800" cy="2528887"/>
          </a:xfrm>
        </p:spPr>
      </p:pic>
      <p:pic>
        <p:nvPicPr>
          <p:cNvPr id="33796" name="Picture 7" descr="norplantp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90600"/>
            <a:ext cx="4457700" cy="3276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3797" name="Picture 9" descr="b068b8e8f1d139eecf2fd8d0dee1b8c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219200"/>
            <a:ext cx="4572000" cy="5410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806528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p:txBody>
          <a:bodyPr/>
          <a:lstStyle/>
          <a:p>
            <a:pPr eaLnBrk="1" hangingPunct="1"/>
            <a:r>
              <a:rPr lang="en-US">
                <a:latin typeface="Arial" charset="0"/>
              </a:rPr>
              <a:t>Norplant Considerations</a:t>
            </a:r>
          </a:p>
        </p:txBody>
      </p:sp>
      <p:sp>
        <p:nvSpPr>
          <p:cNvPr id="34818" name="Rectangle 3"/>
          <p:cNvSpPr>
            <a:spLocks noGrp="1" noChangeArrowheads="1"/>
          </p:cNvSpPr>
          <p:nvPr>
            <p:ph type="body" idx="1"/>
          </p:nvPr>
        </p:nvSpPr>
        <p:spPr/>
        <p:txBody>
          <a:bodyPr/>
          <a:lstStyle/>
          <a:p>
            <a:pPr eaLnBrk="1" hangingPunct="1"/>
            <a:r>
              <a:rPr lang="en-US">
                <a:latin typeface="Arial" charset="0"/>
              </a:rPr>
              <a:t>Should be considered  long term birth control    </a:t>
            </a:r>
          </a:p>
          <a:p>
            <a:pPr eaLnBrk="1" hangingPunct="1"/>
            <a:r>
              <a:rPr lang="en-US">
                <a:latin typeface="Arial" charset="0"/>
              </a:rPr>
              <a:t>Requires no upkeep </a:t>
            </a:r>
            <a:r>
              <a:rPr lang="en-US">
                <a:latin typeface="Arial" charset="0"/>
                <a:sym typeface="Wingdings" charset="0"/>
              </a:rPr>
              <a:t></a:t>
            </a:r>
          </a:p>
          <a:p>
            <a:pPr eaLnBrk="1" hangingPunct="1"/>
            <a:r>
              <a:rPr lang="en-US">
                <a:latin typeface="Arial" charset="0"/>
                <a:sym typeface="Wingdings" charset="0"/>
              </a:rPr>
              <a:t>Extremely effective in pregnancy prevention &gt; 99%</a:t>
            </a:r>
          </a:p>
          <a:p>
            <a:pPr eaLnBrk="1" hangingPunct="1"/>
            <a:endParaRPr lang="en-US" b="1">
              <a:latin typeface="Arial" charset="0"/>
            </a:endParaRPr>
          </a:p>
        </p:txBody>
      </p:sp>
    </p:spTree>
    <p:extLst>
      <p:ext uri="{BB962C8B-B14F-4D97-AF65-F5344CB8AC3E}">
        <p14:creationId xmlns:p14="http://schemas.microsoft.com/office/powerpoint/2010/main" val="1833186140"/>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6" name="Rectangle 2"/>
          <p:cNvSpPr>
            <a:spLocks noGrp="1" noChangeArrowheads="1"/>
          </p:cNvSpPr>
          <p:nvPr>
            <p:ph type="ctrTitle"/>
          </p:nvPr>
        </p:nvSpPr>
        <p:spPr>
          <a:xfrm>
            <a:off x="762000" y="914400"/>
            <a:ext cx="7848600" cy="3200400"/>
          </a:xfrm>
        </p:spPr>
        <p:txBody>
          <a:bodyPr/>
          <a:lstStyle/>
          <a:p>
            <a:pPr eaLnBrk="1" hangingPunct="1"/>
            <a:r>
              <a:rPr lang="en-US" sz="3200">
                <a:latin typeface="Arial" charset="0"/>
              </a:rPr>
              <a:t>Emergency contraception pills can reduce the chance of a pregnancy </a:t>
            </a:r>
            <a:r>
              <a:rPr lang="en-US" sz="3200" u="sng">
                <a:latin typeface="Arial" charset="0"/>
              </a:rPr>
              <a:t>by 75%</a:t>
            </a:r>
            <a:r>
              <a:rPr lang="en-US" sz="3200">
                <a:latin typeface="Arial" charset="0"/>
              </a:rPr>
              <a:t> if taken </a:t>
            </a:r>
            <a:r>
              <a:rPr lang="en-US" sz="3200" u="sng">
                <a:latin typeface="Arial" charset="0"/>
              </a:rPr>
              <a:t>within 72</a:t>
            </a:r>
            <a:r>
              <a:rPr lang="en-US" sz="3200">
                <a:latin typeface="Arial" charset="0"/>
              </a:rPr>
              <a:t> hours of unprotected sex!</a:t>
            </a:r>
            <a:br>
              <a:rPr lang="en-US" sz="5000">
                <a:latin typeface="Arial" charset="0"/>
              </a:rPr>
            </a:br>
            <a:endParaRPr lang="en-US">
              <a:latin typeface="Arial" charset="0"/>
            </a:endParaRPr>
          </a:p>
        </p:txBody>
      </p:sp>
      <p:sp>
        <p:nvSpPr>
          <p:cNvPr id="103430" name="Rectangle 6"/>
          <p:cNvSpPr>
            <a:spLocks noChangeArrowheads="1"/>
          </p:cNvSpPr>
          <p:nvPr/>
        </p:nvSpPr>
        <p:spPr bwMode="auto">
          <a:xfrm>
            <a:off x="381000" y="304800"/>
            <a:ext cx="8112016" cy="707886"/>
          </a:xfrm>
          <a:prstGeom prst="rect">
            <a:avLst/>
          </a:prstGeom>
          <a:noFill/>
          <a:ln w="9525">
            <a:noFill/>
            <a:miter lim="800000"/>
            <a:headEnd/>
            <a:tailEnd/>
          </a:ln>
          <a:effectLst/>
        </p:spPr>
        <p:txBody>
          <a:bodyPr wrap="none">
            <a:spAutoFit/>
          </a:bodyPr>
          <a:lstStyle/>
          <a:p>
            <a:pPr>
              <a:defRPr/>
            </a:pPr>
            <a:r>
              <a:rPr lang="en-US" sz="4000" b="1" dirty="0">
                <a:solidFill>
                  <a:schemeClr val="tx2"/>
                </a:solidFill>
                <a:effectLst>
                  <a:outerShdw blurRad="38100" dist="38100" dir="2700000" algn="tl">
                    <a:srgbClr val="DDDDDD"/>
                  </a:outerShdw>
                </a:effectLst>
                <a:latin typeface="Lucida Sans" charset="0"/>
                <a:cs typeface="Arial" charset="0"/>
              </a:rPr>
              <a:t>Emergency Contraception (EP)</a:t>
            </a:r>
          </a:p>
        </p:txBody>
      </p:sp>
      <p:pic>
        <p:nvPicPr>
          <p:cNvPr id="35843" name="Picture 8" descr="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524375"/>
            <a:ext cx="3429000" cy="2333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5844" name="Picture 10" descr="Morning-After-Pill-Plan-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4114800"/>
            <a:ext cx="3657600" cy="2743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35845" name="Picture 12" descr="morning-after-pi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2971800"/>
            <a:ext cx="3429000" cy="2284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7653383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checkerboard(down)">
                                      <p:cBhvr>
                                        <p:cTn id="7" dur="500"/>
                                        <p:tgtEl>
                                          <p:spTgt spid="10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6"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457200" y="365125"/>
            <a:ext cx="8229600" cy="1052513"/>
          </a:xfrm>
        </p:spPr>
        <p:txBody>
          <a:bodyPr/>
          <a:lstStyle/>
          <a:p>
            <a:pPr eaLnBrk="1" hangingPunct="1"/>
            <a:r>
              <a:rPr lang="is-IS" sz="4000" b="1" dirty="0">
                <a:latin typeface="Arial" charset="0"/>
              </a:rPr>
              <a:t>… </a:t>
            </a:r>
            <a:r>
              <a:rPr lang="en-US" sz="4000" b="1" dirty="0">
                <a:latin typeface="Arial" charset="0"/>
              </a:rPr>
              <a:t>Emergency Contraception </a:t>
            </a:r>
            <a:endParaRPr lang="en-US" sz="4000" dirty="0">
              <a:latin typeface="Arial" charset="0"/>
            </a:endParaRPr>
          </a:p>
        </p:txBody>
      </p:sp>
      <p:sp>
        <p:nvSpPr>
          <p:cNvPr id="36866" name="Rectangle 3"/>
          <p:cNvSpPr>
            <a:spLocks noGrp="1" noChangeArrowheads="1"/>
          </p:cNvSpPr>
          <p:nvPr>
            <p:ph type="body" idx="1"/>
          </p:nvPr>
        </p:nvSpPr>
        <p:spPr/>
        <p:txBody>
          <a:bodyPr/>
          <a:lstStyle/>
          <a:p>
            <a:pPr eaLnBrk="1" hangingPunct="1">
              <a:lnSpc>
                <a:spcPct val="90000"/>
              </a:lnSpc>
              <a:buFontTx/>
              <a:buNone/>
            </a:pPr>
            <a:endParaRPr lang="en-US" sz="2800" b="1">
              <a:latin typeface="Arial" charset="0"/>
            </a:endParaRPr>
          </a:p>
          <a:p>
            <a:pPr eaLnBrk="1" hangingPunct="1">
              <a:lnSpc>
                <a:spcPct val="90000"/>
              </a:lnSpc>
            </a:pPr>
            <a:r>
              <a:rPr lang="en-US" sz="2900">
                <a:latin typeface="Arial" charset="0"/>
              </a:rPr>
              <a:t>Must be taken within 72 hours of the act of unprotected intercourse or failure of contraception method</a:t>
            </a:r>
          </a:p>
          <a:p>
            <a:pPr eaLnBrk="1" hangingPunct="1">
              <a:lnSpc>
                <a:spcPct val="90000"/>
              </a:lnSpc>
            </a:pPr>
            <a:r>
              <a:rPr lang="en-US" sz="2900">
                <a:latin typeface="Arial" charset="0"/>
              </a:rPr>
              <a:t>Must receive ECP from a physician</a:t>
            </a:r>
          </a:p>
          <a:p>
            <a:pPr eaLnBrk="1" hangingPunct="1">
              <a:lnSpc>
                <a:spcPct val="90000"/>
              </a:lnSpc>
            </a:pPr>
            <a:r>
              <a:rPr lang="en-US" sz="2900">
                <a:latin typeface="Arial" charset="0"/>
              </a:rPr>
              <a:t>75 – 84% effective in reducing pregnancy</a:t>
            </a:r>
          </a:p>
          <a:p>
            <a:pPr eaLnBrk="1" hangingPunct="1">
              <a:lnSpc>
                <a:spcPct val="90000"/>
              </a:lnSpc>
              <a:buFontTx/>
              <a:buNone/>
            </a:pPr>
            <a:endParaRPr lang="en-US" sz="2800" b="1">
              <a:latin typeface="Arial" charset="0"/>
            </a:endParaRPr>
          </a:p>
        </p:txBody>
      </p:sp>
    </p:spTree>
    <p:extLst>
      <p:ext uri="{BB962C8B-B14F-4D97-AF65-F5344CB8AC3E}">
        <p14:creationId xmlns:p14="http://schemas.microsoft.com/office/powerpoint/2010/main" val="661141374"/>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lstStyle/>
          <a:p>
            <a:r>
              <a:rPr lang="is-IS" b="1" dirty="0">
                <a:latin typeface="Arial" charset="0"/>
              </a:rPr>
              <a:t>… </a:t>
            </a:r>
            <a:r>
              <a:rPr lang="en-US" b="1" dirty="0">
                <a:latin typeface="Arial" charset="0"/>
              </a:rPr>
              <a:t>Emergency Contraception</a:t>
            </a:r>
            <a:endParaRPr lang="en-US" dirty="0">
              <a:latin typeface="Arial" charset="0"/>
            </a:endParaRPr>
          </a:p>
        </p:txBody>
      </p:sp>
      <p:sp>
        <p:nvSpPr>
          <p:cNvPr id="37890" name="Rectangle 3"/>
          <p:cNvSpPr>
            <a:spLocks noGrp="1" noChangeArrowheads="1"/>
          </p:cNvSpPr>
          <p:nvPr>
            <p:ph type="body" idx="1"/>
          </p:nvPr>
        </p:nvSpPr>
        <p:spPr/>
        <p:txBody>
          <a:bodyPr/>
          <a:lstStyle/>
          <a:p>
            <a:pPr eaLnBrk="1" hangingPunct="1"/>
            <a:r>
              <a:rPr lang="en-US" sz="2800">
                <a:latin typeface="Arial" charset="0"/>
              </a:rPr>
              <a:t>Floods  the ovaries with   high amount of hormone  and prevents ovulation</a:t>
            </a:r>
          </a:p>
          <a:p>
            <a:pPr eaLnBrk="1" hangingPunct="1"/>
            <a:r>
              <a:rPr lang="en-US" sz="2800">
                <a:latin typeface="Arial" charset="0"/>
              </a:rPr>
              <a:t>Alters the environment of the uterus, making it disruptive to the egg and sperm</a:t>
            </a:r>
          </a:p>
          <a:p>
            <a:pPr eaLnBrk="1" hangingPunct="1"/>
            <a:r>
              <a:rPr lang="en-US" sz="2800">
                <a:latin typeface="Arial" charset="0"/>
              </a:rPr>
              <a:t>Two sets of pills taken exactly 12 hours apart</a:t>
            </a:r>
          </a:p>
          <a:p>
            <a:pPr eaLnBrk="1" hangingPunct="1"/>
            <a:endParaRPr lang="en-US" sz="2800" b="1">
              <a:latin typeface="Arial" charset="0"/>
            </a:endParaRPr>
          </a:p>
          <a:p>
            <a:pPr eaLnBrk="1" hangingPunct="1"/>
            <a:endParaRPr lang="en-US" sz="2800" b="1">
              <a:latin typeface="Arial" charset="0"/>
            </a:endParaRPr>
          </a:p>
        </p:txBody>
      </p:sp>
    </p:spTree>
    <p:extLst>
      <p:ext uri="{BB962C8B-B14F-4D97-AF65-F5344CB8AC3E}">
        <p14:creationId xmlns:p14="http://schemas.microsoft.com/office/powerpoint/2010/main" val="2293615813"/>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pPr eaLnBrk="1" hangingPunct="1"/>
            <a:r>
              <a:rPr lang="en-US">
                <a:latin typeface="Arial" charset="0"/>
              </a:rPr>
              <a:t>BARRIER METHODS</a:t>
            </a:r>
          </a:p>
        </p:txBody>
      </p:sp>
      <p:sp>
        <p:nvSpPr>
          <p:cNvPr id="38914" name="Rectangle 3"/>
          <p:cNvSpPr>
            <a:spLocks noGrp="1" noChangeArrowheads="1"/>
          </p:cNvSpPr>
          <p:nvPr>
            <p:ph type="body" idx="1"/>
          </p:nvPr>
        </p:nvSpPr>
        <p:spPr/>
        <p:txBody>
          <a:bodyPr/>
          <a:lstStyle/>
          <a:p>
            <a:pPr eaLnBrk="1" hangingPunct="1"/>
            <a:r>
              <a:rPr lang="en-US" dirty="0">
                <a:latin typeface="Arial" charset="0"/>
              </a:rPr>
              <a:t>Spermicides</a:t>
            </a:r>
          </a:p>
          <a:p>
            <a:pPr eaLnBrk="1" hangingPunct="1"/>
            <a:r>
              <a:rPr lang="en-US" dirty="0">
                <a:latin typeface="Arial" charset="0"/>
              </a:rPr>
              <a:t>Male Condom</a:t>
            </a:r>
          </a:p>
          <a:p>
            <a:pPr eaLnBrk="1" hangingPunct="1"/>
            <a:r>
              <a:rPr lang="en-US" dirty="0">
                <a:latin typeface="Arial" charset="0"/>
              </a:rPr>
              <a:t>Female Condom</a:t>
            </a:r>
          </a:p>
          <a:p>
            <a:pPr eaLnBrk="1" hangingPunct="1"/>
            <a:r>
              <a:rPr lang="en-US" dirty="0">
                <a:latin typeface="Arial" charset="0"/>
              </a:rPr>
              <a:t>Diaphragm</a:t>
            </a:r>
          </a:p>
          <a:p>
            <a:pPr eaLnBrk="1" hangingPunct="1"/>
            <a:r>
              <a:rPr lang="en-US" dirty="0">
                <a:latin typeface="Arial" charset="0"/>
              </a:rPr>
              <a:t>Cervical Cap</a:t>
            </a:r>
          </a:p>
          <a:p>
            <a:pPr eaLnBrk="1" hangingPunct="1"/>
            <a:endParaRPr lang="en-US" b="1" dirty="0">
              <a:latin typeface="Arial" charset="0"/>
            </a:endParaRPr>
          </a:p>
          <a:p>
            <a:pPr eaLnBrk="1" hangingPunct="1"/>
            <a:endParaRPr lang="en-US" b="1" dirty="0">
              <a:latin typeface="Arial" charset="0"/>
            </a:endParaRPr>
          </a:p>
        </p:txBody>
      </p:sp>
    </p:spTree>
    <p:extLst>
      <p:ext uri="{BB962C8B-B14F-4D97-AF65-F5344CB8AC3E}">
        <p14:creationId xmlns:p14="http://schemas.microsoft.com/office/powerpoint/2010/main" val="2899509917"/>
      </p:ext>
    </p:extLst>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lstStyle/>
          <a:p>
            <a:pPr eaLnBrk="1" hangingPunct="1"/>
            <a:r>
              <a:rPr lang="is-IS" dirty="0">
                <a:latin typeface="Arial" charset="0"/>
              </a:rPr>
              <a:t>… </a:t>
            </a:r>
            <a:r>
              <a:rPr lang="en-US" dirty="0">
                <a:latin typeface="Arial" charset="0"/>
              </a:rPr>
              <a:t>BARRIER METHODS</a:t>
            </a:r>
          </a:p>
        </p:txBody>
      </p:sp>
      <p:sp>
        <p:nvSpPr>
          <p:cNvPr id="39938" name="Rectangle 3"/>
          <p:cNvSpPr>
            <a:spLocks noGrp="1" noChangeArrowheads="1"/>
          </p:cNvSpPr>
          <p:nvPr>
            <p:ph type="body" idx="1"/>
          </p:nvPr>
        </p:nvSpPr>
        <p:spPr/>
        <p:txBody>
          <a:bodyPr/>
          <a:lstStyle/>
          <a:p>
            <a:pPr eaLnBrk="1" hangingPunct="1"/>
            <a:r>
              <a:rPr lang="en-US">
                <a:latin typeface="Arial" charset="0"/>
              </a:rPr>
              <a:t>Prevents pregnancy blocks the egg and sperm from meeting  </a:t>
            </a:r>
          </a:p>
          <a:p>
            <a:pPr eaLnBrk="1" hangingPunct="1"/>
            <a:r>
              <a:rPr lang="en-US">
                <a:latin typeface="Arial" charset="0"/>
              </a:rPr>
              <a:t>Barrier methods have higher failure rates than hormonal methods due to design and human error</a:t>
            </a:r>
          </a:p>
          <a:p>
            <a:pPr eaLnBrk="1" hangingPunct="1"/>
            <a:endParaRPr lang="en-US">
              <a:latin typeface="Arial" charset="0"/>
            </a:endParaRPr>
          </a:p>
        </p:txBody>
      </p:sp>
    </p:spTree>
    <p:extLst>
      <p:ext uri="{BB962C8B-B14F-4D97-AF65-F5344CB8AC3E}">
        <p14:creationId xmlns:p14="http://schemas.microsoft.com/office/powerpoint/2010/main" val="3382614990"/>
      </p:ext>
    </p:extLst>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381000" y="0"/>
            <a:ext cx="8229600" cy="1143000"/>
          </a:xfrm>
        </p:spPr>
        <p:txBody>
          <a:bodyPr/>
          <a:lstStyle/>
          <a:p>
            <a:pPr eaLnBrk="1" hangingPunct="1"/>
            <a:r>
              <a:rPr lang="en-US">
                <a:latin typeface="Arial" charset="0"/>
              </a:rPr>
              <a:t>SPERMICIDES</a:t>
            </a:r>
          </a:p>
        </p:txBody>
      </p:sp>
      <p:sp>
        <p:nvSpPr>
          <p:cNvPr id="40962" name="Rectangle 3"/>
          <p:cNvSpPr>
            <a:spLocks noGrp="1" noChangeArrowheads="1"/>
          </p:cNvSpPr>
          <p:nvPr>
            <p:ph type="body" idx="1"/>
          </p:nvPr>
        </p:nvSpPr>
        <p:spPr>
          <a:xfrm>
            <a:off x="228600" y="914400"/>
            <a:ext cx="7772400" cy="4495800"/>
          </a:xfrm>
        </p:spPr>
        <p:txBody>
          <a:bodyPr/>
          <a:lstStyle/>
          <a:p>
            <a:pPr eaLnBrk="1" hangingPunct="1">
              <a:lnSpc>
                <a:spcPct val="90000"/>
              </a:lnSpc>
            </a:pPr>
            <a:r>
              <a:rPr lang="en-US" sz="2000">
                <a:latin typeface="Arial" charset="0"/>
              </a:rPr>
              <a:t>Chemicals kill  sperm in the vagina</a:t>
            </a:r>
          </a:p>
          <a:p>
            <a:pPr eaLnBrk="1" hangingPunct="1">
              <a:lnSpc>
                <a:spcPct val="90000"/>
              </a:lnSpc>
            </a:pPr>
            <a:r>
              <a:rPr lang="en-US" sz="2000">
                <a:latin typeface="Arial" charset="0"/>
              </a:rPr>
              <a:t>Different forms:</a:t>
            </a:r>
          </a:p>
          <a:p>
            <a:pPr eaLnBrk="1" hangingPunct="1">
              <a:lnSpc>
                <a:spcPct val="90000"/>
              </a:lnSpc>
              <a:buFontTx/>
              <a:buNone/>
            </a:pPr>
            <a:r>
              <a:rPr lang="en-US" sz="2000">
                <a:latin typeface="Arial" charset="0"/>
              </a:rPr>
              <a:t>	-Jelly			-Film</a:t>
            </a:r>
          </a:p>
          <a:p>
            <a:pPr eaLnBrk="1" hangingPunct="1">
              <a:lnSpc>
                <a:spcPct val="90000"/>
              </a:lnSpc>
              <a:buFontTx/>
              <a:buNone/>
            </a:pPr>
            <a:r>
              <a:rPr lang="en-US" sz="2000">
                <a:latin typeface="Arial" charset="0"/>
              </a:rPr>
              <a:t>	-Foam			-Suppository</a:t>
            </a:r>
          </a:p>
          <a:p>
            <a:pPr eaLnBrk="1" hangingPunct="1">
              <a:lnSpc>
                <a:spcPct val="90000"/>
              </a:lnSpc>
            </a:pPr>
            <a:r>
              <a:rPr lang="en-US" sz="2000">
                <a:latin typeface="Arial" charset="0"/>
              </a:rPr>
              <a:t>Some work instantly, others require pre-insertion</a:t>
            </a:r>
          </a:p>
          <a:p>
            <a:pPr eaLnBrk="1" hangingPunct="1">
              <a:lnSpc>
                <a:spcPct val="90000"/>
              </a:lnSpc>
            </a:pPr>
            <a:r>
              <a:rPr lang="en-US" sz="2000">
                <a:latin typeface="Arial" charset="0"/>
              </a:rPr>
              <a:t>Only 76% effective (used alone), should be used in combination with another method i.e., condoms</a:t>
            </a:r>
          </a:p>
          <a:p>
            <a:pPr eaLnBrk="1" hangingPunct="1">
              <a:lnSpc>
                <a:spcPct val="90000"/>
              </a:lnSpc>
            </a:pPr>
            <a:endParaRPr lang="en-US" sz="2000" b="1">
              <a:latin typeface="Arial" charset="0"/>
            </a:endParaRPr>
          </a:p>
        </p:txBody>
      </p:sp>
      <p:pic>
        <p:nvPicPr>
          <p:cNvPr id="40963" name="Picture 5" descr="spermici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0213" y="3200400"/>
            <a:ext cx="3633787" cy="3657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64" name="Picture 7" descr="Lifestyles-Spermicid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429000"/>
            <a:ext cx="2401888" cy="3086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0965" name="Picture 9" descr="spermici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505200"/>
            <a:ext cx="3200400" cy="2800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212344596"/>
      </p:ext>
    </p:extLst>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57200" y="0"/>
            <a:ext cx="8229600" cy="1143000"/>
          </a:xfrm>
        </p:spPr>
        <p:txBody>
          <a:bodyPr/>
          <a:lstStyle/>
          <a:p>
            <a:pPr eaLnBrk="1" hangingPunct="1"/>
            <a:r>
              <a:rPr lang="en-US">
                <a:latin typeface="Arial" charset="0"/>
              </a:rPr>
              <a:t>MALE CONDOM</a:t>
            </a:r>
          </a:p>
        </p:txBody>
      </p:sp>
      <p:sp>
        <p:nvSpPr>
          <p:cNvPr id="41986" name="Rectangle 3"/>
          <p:cNvSpPr>
            <a:spLocks noGrp="1" noChangeArrowheads="1"/>
          </p:cNvSpPr>
          <p:nvPr>
            <p:ph type="body" idx="1"/>
          </p:nvPr>
        </p:nvSpPr>
        <p:spPr>
          <a:xfrm>
            <a:off x="0" y="990600"/>
            <a:ext cx="8229600" cy="3498850"/>
          </a:xfrm>
        </p:spPr>
        <p:txBody>
          <a:bodyPr/>
          <a:lstStyle/>
          <a:p>
            <a:pPr marL="533400" indent="-533400" eaLnBrk="1" hangingPunct="1">
              <a:lnSpc>
                <a:spcPct val="90000"/>
              </a:lnSpc>
              <a:buFontTx/>
              <a:buNone/>
            </a:pPr>
            <a:r>
              <a:rPr lang="en-US" sz="2800" b="1">
                <a:latin typeface="Arial" charset="0"/>
              </a:rPr>
              <a:t>	</a:t>
            </a:r>
          </a:p>
          <a:p>
            <a:pPr marL="533400" indent="-533400" eaLnBrk="1" hangingPunct="1">
              <a:lnSpc>
                <a:spcPct val="90000"/>
              </a:lnSpc>
              <a:buFont typeface="Times" charset="0"/>
              <a:buChar char="•"/>
            </a:pPr>
            <a:r>
              <a:rPr lang="en-US" sz="2000">
                <a:latin typeface="Arial" charset="0"/>
              </a:rPr>
              <a:t>Most common and effective barrier method when used properly</a:t>
            </a:r>
          </a:p>
          <a:p>
            <a:pPr marL="533400" indent="-533400" eaLnBrk="1" hangingPunct="1">
              <a:lnSpc>
                <a:spcPct val="90000"/>
              </a:lnSpc>
              <a:buFont typeface="Times" charset="0"/>
              <a:buChar char="•"/>
            </a:pPr>
            <a:r>
              <a:rPr lang="en-US" sz="2000">
                <a:latin typeface="Arial" charset="0"/>
              </a:rPr>
              <a:t>Latex and Polyurethane should only be used in the prevention of pregnancy and spread of STD</a:t>
            </a:r>
            <a:r>
              <a:rPr lang="ja-JP" altLang="en-US" sz="2000">
                <a:latin typeface="Arial" charset="0"/>
              </a:rPr>
              <a:t>’</a:t>
            </a:r>
            <a:r>
              <a:rPr lang="en-US" altLang="ja-JP" sz="2000">
                <a:latin typeface="Arial" charset="0"/>
              </a:rPr>
              <a:t>s (including HIV)</a:t>
            </a:r>
          </a:p>
          <a:p>
            <a:pPr marL="533400" indent="-533400" eaLnBrk="1" hangingPunct="1">
              <a:lnSpc>
                <a:spcPct val="90000"/>
              </a:lnSpc>
              <a:buFont typeface="Times" charset="0"/>
              <a:buNone/>
            </a:pPr>
            <a:endParaRPr lang="en-US" sz="2000">
              <a:latin typeface="Arial" charset="0"/>
            </a:endParaRPr>
          </a:p>
          <a:p>
            <a:pPr marL="533400" indent="-533400" eaLnBrk="1" hangingPunct="1">
              <a:lnSpc>
                <a:spcPct val="90000"/>
              </a:lnSpc>
            </a:pPr>
            <a:endParaRPr lang="en-US" sz="2000" b="1">
              <a:latin typeface="Arial" charset="0"/>
            </a:endParaRPr>
          </a:p>
        </p:txBody>
      </p:sp>
      <p:pic>
        <p:nvPicPr>
          <p:cNvPr id="41987" name="Picture 5" descr="170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590800"/>
            <a:ext cx="5334000" cy="426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1988" name="Picture 7" descr="cond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38400"/>
            <a:ext cx="3713163" cy="4419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293157835"/>
      </p:ext>
    </p:extLst>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is-IS" dirty="0">
                <a:latin typeface="Arial" charset="0"/>
              </a:rPr>
              <a:t>… </a:t>
            </a:r>
            <a:r>
              <a:rPr lang="en-US" dirty="0">
                <a:latin typeface="Arial" charset="0"/>
              </a:rPr>
              <a:t>MALE CONDOM</a:t>
            </a:r>
          </a:p>
        </p:txBody>
      </p:sp>
      <p:sp>
        <p:nvSpPr>
          <p:cNvPr id="43010" name="Rectangle 3"/>
          <p:cNvSpPr>
            <a:spLocks noGrp="1" noChangeArrowheads="1"/>
          </p:cNvSpPr>
          <p:nvPr>
            <p:ph type="body" idx="1"/>
          </p:nvPr>
        </p:nvSpPr>
        <p:spPr/>
        <p:txBody>
          <a:bodyPr/>
          <a:lstStyle/>
          <a:p>
            <a:pPr eaLnBrk="1" hangingPunct="1">
              <a:lnSpc>
                <a:spcPct val="90000"/>
              </a:lnSpc>
            </a:pPr>
            <a:r>
              <a:rPr lang="en-US">
                <a:latin typeface="Arial" charset="0"/>
              </a:rPr>
              <a:t>Perfect effectiveness rate = 97%</a:t>
            </a:r>
          </a:p>
          <a:p>
            <a:pPr eaLnBrk="1" hangingPunct="1">
              <a:lnSpc>
                <a:spcPct val="90000"/>
              </a:lnSpc>
            </a:pPr>
            <a:r>
              <a:rPr lang="en-US">
                <a:latin typeface="Arial" charset="0"/>
              </a:rPr>
              <a:t>Typical effectiveness rate = 88%</a:t>
            </a:r>
          </a:p>
          <a:p>
            <a:pPr eaLnBrk="1" hangingPunct="1">
              <a:lnSpc>
                <a:spcPct val="90000"/>
              </a:lnSpc>
            </a:pPr>
            <a:r>
              <a:rPr lang="en-US">
                <a:latin typeface="Arial" charset="0"/>
              </a:rPr>
              <a:t>Latex and polyurethane condoms are available</a:t>
            </a:r>
          </a:p>
          <a:p>
            <a:pPr eaLnBrk="1" hangingPunct="1">
              <a:lnSpc>
                <a:spcPct val="90000"/>
              </a:lnSpc>
            </a:pPr>
            <a:r>
              <a:rPr lang="en-US">
                <a:latin typeface="Arial" charset="0"/>
              </a:rPr>
              <a:t>Combining condoms with spermicides raises effectiveness levels to 99%</a:t>
            </a:r>
          </a:p>
          <a:p>
            <a:pPr eaLnBrk="1" hangingPunct="1">
              <a:lnSpc>
                <a:spcPct val="90000"/>
              </a:lnSpc>
            </a:pPr>
            <a:endParaRPr lang="en-US" b="1">
              <a:latin typeface="Arial" charset="0"/>
            </a:endParaRPr>
          </a:p>
        </p:txBody>
      </p:sp>
      <p:pic>
        <p:nvPicPr>
          <p:cNvPr id="43011" name="Picture 5" descr="talkingcond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4757738"/>
            <a:ext cx="2152650" cy="2100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381024562"/>
      </p:ext>
    </p:extLst>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p:txBody>
          <a:bodyPr/>
          <a:lstStyle/>
          <a:p>
            <a:pPr eaLnBrk="1" hangingPunct="1"/>
            <a:r>
              <a:rPr lang="en-US">
                <a:latin typeface="Arial" charset="0"/>
              </a:rPr>
              <a:t>FEMALE CONDOM</a:t>
            </a:r>
          </a:p>
        </p:txBody>
      </p:sp>
      <p:sp>
        <p:nvSpPr>
          <p:cNvPr id="44034" name="Rectangle 3"/>
          <p:cNvSpPr>
            <a:spLocks noGrp="1" noChangeArrowheads="1"/>
          </p:cNvSpPr>
          <p:nvPr>
            <p:ph type="body" idx="1"/>
          </p:nvPr>
        </p:nvSpPr>
        <p:spPr/>
        <p:txBody>
          <a:bodyPr/>
          <a:lstStyle/>
          <a:p>
            <a:pPr eaLnBrk="1" hangingPunct="1">
              <a:lnSpc>
                <a:spcPct val="90000"/>
              </a:lnSpc>
            </a:pPr>
            <a:r>
              <a:rPr lang="en-US" sz="2800">
                <a:latin typeface="Arial" charset="0"/>
              </a:rPr>
              <a:t>Made as an alternative to male condoms</a:t>
            </a:r>
          </a:p>
          <a:p>
            <a:pPr eaLnBrk="1" hangingPunct="1">
              <a:lnSpc>
                <a:spcPct val="90000"/>
              </a:lnSpc>
            </a:pPr>
            <a:r>
              <a:rPr lang="en-US" sz="2800">
                <a:latin typeface="Arial" charset="0"/>
              </a:rPr>
              <a:t>Polyurethane</a:t>
            </a:r>
          </a:p>
          <a:p>
            <a:pPr eaLnBrk="1" hangingPunct="1">
              <a:lnSpc>
                <a:spcPct val="90000"/>
              </a:lnSpc>
            </a:pPr>
            <a:r>
              <a:rPr lang="en-US" sz="2800">
                <a:latin typeface="Arial" charset="0"/>
              </a:rPr>
              <a:t>Physically inserted in the vagina</a:t>
            </a:r>
          </a:p>
          <a:p>
            <a:pPr eaLnBrk="1" hangingPunct="1">
              <a:lnSpc>
                <a:spcPct val="90000"/>
              </a:lnSpc>
            </a:pPr>
            <a:r>
              <a:rPr lang="en-US" sz="2800">
                <a:latin typeface="Arial" charset="0"/>
              </a:rPr>
              <a:t>Perfect rate = 95%</a:t>
            </a:r>
          </a:p>
          <a:p>
            <a:pPr eaLnBrk="1" hangingPunct="1">
              <a:lnSpc>
                <a:spcPct val="90000"/>
              </a:lnSpc>
            </a:pPr>
            <a:r>
              <a:rPr lang="en-US" sz="2800">
                <a:latin typeface="Arial" charset="0"/>
              </a:rPr>
              <a:t>Typical rate = 79%</a:t>
            </a:r>
          </a:p>
          <a:p>
            <a:pPr eaLnBrk="1" hangingPunct="1">
              <a:lnSpc>
                <a:spcPct val="90000"/>
              </a:lnSpc>
            </a:pPr>
            <a:r>
              <a:rPr lang="en-US" sz="2800">
                <a:latin typeface="Arial" charset="0"/>
              </a:rPr>
              <a:t>Woman can use female condom if partner refuses</a:t>
            </a:r>
          </a:p>
          <a:p>
            <a:pPr eaLnBrk="1" hangingPunct="1">
              <a:lnSpc>
                <a:spcPct val="90000"/>
              </a:lnSpc>
            </a:pPr>
            <a:endParaRPr lang="en-US" sz="2800" b="1">
              <a:latin typeface="Arial" charset="0"/>
            </a:endParaRPr>
          </a:p>
        </p:txBody>
      </p:sp>
    </p:spTree>
    <p:extLst>
      <p:ext uri="{BB962C8B-B14F-4D97-AF65-F5344CB8AC3E}">
        <p14:creationId xmlns:p14="http://schemas.microsoft.com/office/powerpoint/2010/main" val="2071694855"/>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ctrTitle"/>
          </p:nvPr>
        </p:nvSpPr>
        <p:spPr>
          <a:xfrm>
            <a:off x="0" y="0"/>
            <a:ext cx="8458200" cy="1143000"/>
          </a:xfrm>
        </p:spPr>
        <p:txBody>
          <a:bodyPr/>
          <a:lstStyle/>
          <a:p>
            <a:pPr eaLnBrk="1" hangingPunct="1"/>
            <a:r>
              <a:rPr lang="en-US" i="1">
                <a:latin typeface="Arial" charset="0"/>
              </a:rPr>
              <a:t>Reality </a:t>
            </a:r>
            <a:r>
              <a:rPr lang="en-US" i="1">
                <a:latin typeface="Arial" charset="0"/>
                <a:sym typeface="Symbol" charset="0"/>
              </a:rPr>
              <a:t> </a:t>
            </a:r>
            <a:r>
              <a:rPr lang="en-US">
                <a:latin typeface="Arial" charset="0"/>
              </a:rPr>
              <a:t>: The Female Condom</a:t>
            </a:r>
          </a:p>
        </p:txBody>
      </p:sp>
      <p:pic>
        <p:nvPicPr>
          <p:cNvPr id="45058" name="Picture 16" descr="Female Cond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3352800"/>
            <a:ext cx="5257800" cy="350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5060" name="Picture 19" descr="female condom picture in ha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66800"/>
            <a:ext cx="4203700" cy="4876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5061" name="Picture 21" descr="contraceptionFemaleCond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914400"/>
            <a:ext cx="4800600" cy="2497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84956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p:txBody>
          <a:bodyPr/>
          <a:lstStyle/>
          <a:p>
            <a:pPr eaLnBrk="1" hangingPunct="1"/>
            <a:r>
              <a:rPr lang="en-US">
                <a:latin typeface="Arial" charset="0"/>
              </a:rPr>
              <a:t>Vaginal Ring (NuvaRing)</a:t>
            </a:r>
          </a:p>
        </p:txBody>
      </p:sp>
      <p:sp>
        <p:nvSpPr>
          <p:cNvPr id="46082" name="Rectangle 3"/>
          <p:cNvSpPr>
            <a:spLocks noGrp="1" noChangeArrowheads="1"/>
          </p:cNvSpPr>
          <p:nvPr>
            <p:ph type="body" idx="1"/>
          </p:nvPr>
        </p:nvSpPr>
        <p:spPr/>
        <p:txBody>
          <a:bodyPr/>
          <a:lstStyle/>
          <a:p>
            <a:pPr eaLnBrk="1" hangingPunct="1">
              <a:lnSpc>
                <a:spcPct val="90000"/>
              </a:lnSpc>
            </a:pPr>
            <a:r>
              <a:rPr lang="en-US" sz="2400">
                <a:latin typeface="Arial" charset="0"/>
              </a:rPr>
              <a:t>95-99% Effective A new ring is inserted into the vagina each month </a:t>
            </a:r>
          </a:p>
          <a:p>
            <a:pPr eaLnBrk="1" hangingPunct="1">
              <a:lnSpc>
                <a:spcPct val="90000"/>
              </a:lnSpc>
            </a:pPr>
            <a:r>
              <a:rPr lang="en-US" sz="2400">
                <a:latin typeface="Arial" charset="0"/>
              </a:rPr>
              <a:t>Does not require a "fitting" by a health care provider, does not require spermicide, can make periods more regular and less painful, no pill to take daily, ability to become pregnant returns quickly when use is stopped.</a:t>
            </a:r>
            <a:r>
              <a:rPr lang="en-US">
                <a:latin typeface="Arial" charset="0"/>
              </a:rPr>
              <a:t> </a:t>
            </a:r>
          </a:p>
        </p:txBody>
      </p:sp>
      <p:pic>
        <p:nvPicPr>
          <p:cNvPr id="46083" name="Picture 5" descr="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33975" y="3849688"/>
            <a:ext cx="4010025" cy="3008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6084" name="Picture 7" descr="200px-NuvaRing_compress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962400"/>
            <a:ext cx="1905000" cy="22669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6085" name="Text Box 9"/>
          <p:cNvSpPr txBox="1">
            <a:spLocks noChangeArrowheads="1"/>
          </p:cNvSpPr>
          <p:nvPr/>
        </p:nvSpPr>
        <p:spPr bwMode="auto">
          <a:xfrm>
            <a:off x="2590800" y="4419600"/>
            <a:ext cx="2438400" cy="2289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800"/>
              <a:t>NuvaRing is a flexible plastic (ethylene-vinyl acetate copolymer) ring that releases a low dose of a progestin and an estrogen over 3 weeks. </a:t>
            </a:r>
          </a:p>
        </p:txBody>
      </p:sp>
    </p:spTree>
    <p:extLst>
      <p:ext uri="{BB962C8B-B14F-4D97-AF65-F5344CB8AC3E}">
        <p14:creationId xmlns:p14="http://schemas.microsoft.com/office/powerpoint/2010/main" val="2289425638"/>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pPr eaLnBrk="1" hangingPunct="1"/>
            <a:r>
              <a:rPr lang="en-US" dirty="0">
                <a:latin typeface="Arial" charset="0"/>
              </a:rPr>
              <a:t>DIAPHRAGM</a:t>
            </a:r>
          </a:p>
        </p:txBody>
      </p:sp>
      <p:sp>
        <p:nvSpPr>
          <p:cNvPr id="47106" name="Rectangle 3"/>
          <p:cNvSpPr>
            <a:spLocks noGrp="1" noChangeArrowheads="1"/>
          </p:cNvSpPr>
          <p:nvPr>
            <p:ph type="body" idx="1"/>
          </p:nvPr>
        </p:nvSpPr>
        <p:spPr/>
        <p:txBody>
          <a:bodyPr/>
          <a:lstStyle/>
          <a:p>
            <a:pPr eaLnBrk="1" hangingPunct="1">
              <a:lnSpc>
                <a:spcPct val="90000"/>
              </a:lnSpc>
            </a:pPr>
            <a:r>
              <a:rPr lang="en-US" sz="2800">
                <a:latin typeface="Arial" charset="0"/>
              </a:rPr>
              <a:t>Perfect Effectiveness Rate = 94%</a:t>
            </a:r>
          </a:p>
          <a:p>
            <a:pPr eaLnBrk="1" hangingPunct="1">
              <a:lnSpc>
                <a:spcPct val="90000"/>
              </a:lnSpc>
            </a:pPr>
            <a:r>
              <a:rPr lang="en-US" sz="2800">
                <a:latin typeface="Arial" charset="0"/>
              </a:rPr>
              <a:t>Typical Effectiveness Rate = 80%</a:t>
            </a:r>
          </a:p>
          <a:p>
            <a:pPr eaLnBrk="1" hangingPunct="1">
              <a:lnSpc>
                <a:spcPct val="90000"/>
              </a:lnSpc>
            </a:pPr>
            <a:r>
              <a:rPr lang="en-US" sz="2800">
                <a:latin typeface="Arial" charset="0"/>
              </a:rPr>
              <a:t>Latex barrier placed inside vagina during intercourse</a:t>
            </a:r>
          </a:p>
          <a:p>
            <a:pPr eaLnBrk="1" hangingPunct="1">
              <a:lnSpc>
                <a:spcPct val="90000"/>
              </a:lnSpc>
            </a:pPr>
            <a:r>
              <a:rPr lang="en-US" sz="2800">
                <a:latin typeface="Arial" charset="0"/>
              </a:rPr>
              <a:t>Fitted by physician</a:t>
            </a:r>
          </a:p>
          <a:p>
            <a:pPr eaLnBrk="1" hangingPunct="1">
              <a:lnSpc>
                <a:spcPct val="90000"/>
              </a:lnSpc>
            </a:pPr>
            <a:r>
              <a:rPr lang="en-US" sz="2800">
                <a:latin typeface="Arial" charset="0"/>
              </a:rPr>
              <a:t>Spermicidal jelly before insertion</a:t>
            </a:r>
          </a:p>
          <a:p>
            <a:pPr eaLnBrk="1" hangingPunct="1">
              <a:lnSpc>
                <a:spcPct val="90000"/>
              </a:lnSpc>
            </a:pPr>
            <a:r>
              <a:rPr lang="en-US" sz="2800">
                <a:latin typeface="Arial" charset="0"/>
              </a:rPr>
              <a:t>Inserted up to 18 hours before intercourse and can be left in for a total of 24 hours</a:t>
            </a:r>
          </a:p>
          <a:p>
            <a:pPr eaLnBrk="1" hangingPunct="1">
              <a:lnSpc>
                <a:spcPct val="90000"/>
              </a:lnSpc>
            </a:pPr>
            <a:endParaRPr lang="en-US" sz="2800" b="1">
              <a:latin typeface="Arial" charset="0"/>
            </a:endParaRPr>
          </a:p>
        </p:txBody>
      </p:sp>
    </p:spTree>
    <p:extLst>
      <p:ext uri="{BB962C8B-B14F-4D97-AF65-F5344CB8AC3E}">
        <p14:creationId xmlns:p14="http://schemas.microsoft.com/office/powerpoint/2010/main" val="3046453723"/>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noChangeArrowheads="1"/>
          </p:cNvSpPr>
          <p:nvPr>
            <p:ph type="title"/>
          </p:nvPr>
        </p:nvSpPr>
        <p:spPr/>
        <p:txBody>
          <a:bodyPr/>
          <a:lstStyle/>
          <a:p>
            <a:pPr eaLnBrk="1" hangingPunct="1"/>
            <a:r>
              <a:rPr lang="is-IS" dirty="0">
                <a:latin typeface="Arial" charset="0"/>
              </a:rPr>
              <a:t>... </a:t>
            </a:r>
            <a:r>
              <a:rPr lang="en-US" dirty="0">
                <a:latin typeface="Arial" charset="0"/>
              </a:rPr>
              <a:t>DIAPHRAGM </a:t>
            </a:r>
          </a:p>
        </p:txBody>
      </p:sp>
      <p:pic>
        <p:nvPicPr>
          <p:cNvPr id="48130" name="Picture 6" descr="The diaphrag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49363"/>
            <a:ext cx="5486400" cy="56086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8132" name="Picture 9" descr="Diaphrag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209800"/>
            <a:ext cx="3810000" cy="3581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47091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p:txBody>
          <a:bodyPr/>
          <a:lstStyle/>
          <a:p>
            <a:pPr eaLnBrk="1" hangingPunct="1"/>
            <a:r>
              <a:rPr lang="en-US">
                <a:latin typeface="Arial" charset="0"/>
              </a:rPr>
              <a:t>CERVICAL CAP</a:t>
            </a:r>
          </a:p>
        </p:txBody>
      </p:sp>
      <p:sp>
        <p:nvSpPr>
          <p:cNvPr id="49154" name="Rectangle 3"/>
          <p:cNvSpPr>
            <a:spLocks noGrp="1" noChangeArrowheads="1"/>
          </p:cNvSpPr>
          <p:nvPr>
            <p:ph type="body" idx="1"/>
          </p:nvPr>
        </p:nvSpPr>
        <p:spPr/>
        <p:txBody>
          <a:bodyPr/>
          <a:lstStyle/>
          <a:p>
            <a:pPr eaLnBrk="1" hangingPunct="1">
              <a:lnSpc>
                <a:spcPct val="90000"/>
              </a:lnSpc>
            </a:pPr>
            <a:r>
              <a:rPr lang="en-US" sz="2800">
                <a:latin typeface="Arial" charset="0"/>
              </a:rPr>
              <a:t>Latex barrier inserted in vagina before intercourse</a:t>
            </a:r>
          </a:p>
          <a:p>
            <a:pPr eaLnBrk="1" hangingPunct="1">
              <a:lnSpc>
                <a:spcPct val="90000"/>
              </a:lnSpc>
            </a:pPr>
            <a:r>
              <a:rPr lang="ja-JP" altLang="en-US" sz="2800">
                <a:latin typeface="Arial" charset="0"/>
              </a:rPr>
              <a:t>“</a:t>
            </a:r>
            <a:r>
              <a:rPr lang="en-US" altLang="ja-JP" sz="2800">
                <a:latin typeface="Arial" charset="0"/>
              </a:rPr>
              <a:t>Caps</a:t>
            </a:r>
            <a:r>
              <a:rPr lang="ja-JP" altLang="en-US" sz="2800">
                <a:latin typeface="Arial" charset="0"/>
              </a:rPr>
              <a:t>”</a:t>
            </a:r>
            <a:r>
              <a:rPr lang="en-US" altLang="ja-JP" sz="2800">
                <a:latin typeface="Arial" charset="0"/>
              </a:rPr>
              <a:t> around cervix with suction</a:t>
            </a:r>
          </a:p>
          <a:p>
            <a:pPr eaLnBrk="1" hangingPunct="1">
              <a:lnSpc>
                <a:spcPct val="90000"/>
              </a:lnSpc>
            </a:pPr>
            <a:r>
              <a:rPr lang="en-US" sz="2800">
                <a:latin typeface="Arial" charset="0"/>
              </a:rPr>
              <a:t>Fill with spermicidal jelly prior to use</a:t>
            </a:r>
          </a:p>
          <a:p>
            <a:pPr eaLnBrk="1" hangingPunct="1">
              <a:lnSpc>
                <a:spcPct val="90000"/>
              </a:lnSpc>
            </a:pPr>
            <a:r>
              <a:rPr lang="en-US" sz="2800">
                <a:latin typeface="Arial" charset="0"/>
              </a:rPr>
              <a:t>Can be left in body for up to a total of 48 hours </a:t>
            </a:r>
          </a:p>
          <a:p>
            <a:pPr eaLnBrk="1" hangingPunct="1">
              <a:lnSpc>
                <a:spcPct val="90000"/>
              </a:lnSpc>
            </a:pPr>
            <a:r>
              <a:rPr lang="en-US" sz="2800">
                <a:latin typeface="Arial" charset="0"/>
              </a:rPr>
              <a:t>Must be left in place six hours after sexual intercourse</a:t>
            </a:r>
          </a:p>
          <a:p>
            <a:pPr eaLnBrk="1" hangingPunct="1">
              <a:lnSpc>
                <a:spcPct val="90000"/>
              </a:lnSpc>
            </a:pPr>
            <a:r>
              <a:rPr lang="en-US" sz="2800">
                <a:latin typeface="Arial" charset="0"/>
              </a:rPr>
              <a:t>Perfect effectiveness rate = 91%</a:t>
            </a:r>
          </a:p>
          <a:p>
            <a:pPr eaLnBrk="1" hangingPunct="1">
              <a:lnSpc>
                <a:spcPct val="90000"/>
              </a:lnSpc>
            </a:pPr>
            <a:r>
              <a:rPr lang="en-US" sz="2800">
                <a:latin typeface="Arial" charset="0"/>
              </a:rPr>
              <a:t>Typical effectiveness rate = 80%</a:t>
            </a:r>
          </a:p>
          <a:p>
            <a:pPr eaLnBrk="1" hangingPunct="1">
              <a:lnSpc>
                <a:spcPct val="90000"/>
              </a:lnSpc>
            </a:pPr>
            <a:endParaRPr lang="en-US" sz="2800" b="1">
              <a:latin typeface="Arial" charset="0"/>
            </a:endParaRPr>
          </a:p>
          <a:p>
            <a:pPr eaLnBrk="1" hangingPunct="1">
              <a:lnSpc>
                <a:spcPct val="90000"/>
              </a:lnSpc>
              <a:buFontTx/>
              <a:buNone/>
            </a:pPr>
            <a:endParaRPr lang="en-US" sz="2800" b="1">
              <a:latin typeface="Arial" charset="0"/>
            </a:endParaRPr>
          </a:p>
          <a:p>
            <a:pPr eaLnBrk="1" hangingPunct="1">
              <a:lnSpc>
                <a:spcPct val="90000"/>
              </a:lnSpc>
            </a:pPr>
            <a:endParaRPr lang="en-US" sz="2800" b="1">
              <a:latin typeface="Arial" charset="0"/>
            </a:endParaRPr>
          </a:p>
        </p:txBody>
      </p:sp>
    </p:spTree>
    <p:extLst>
      <p:ext uri="{BB962C8B-B14F-4D97-AF65-F5344CB8AC3E}">
        <p14:creationId xmlns:p14="http://schemas.microsoft.com/office/powerpoint/2010/main" val="231255314"/>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p:txBody>
          <a:bodyPr/>
          <a:lstStyle/>
          <a:p>
            <a:pPr eaLnBrk="1" hangingPunct="1"/>
            <a:r>
              <a:rPr lang="is-IS" dirty="0">
                <a:latin typeface="Arial" charset="0"/>
              </a:rPr>
              <a:t>… </a:t>
            </a:r>
            <a:r>
              <a:rPr lang="en-US" dirty="0">
                <a:latin typeface="Arial" charset="0"/>
              </a:rPr>
              <a:t>Cervical Cap</a:t>
            </a:r>
          </a:p>
        </p:txBody>
      </p:sp>
      <p:pic>
        <p:nvPicPr>
          <p:cNvPr id="50178" name="Picture 3" descr="Cervical ca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7125"/>
            <a:ext cx="5334000" cy="5730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0180" name="Picture 5" descr="Cervical ca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143000"/>
            <a:ext cx="3810000" cy="4572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661254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p:txBody>
          <a:bodyPr/>
          <a:lstStyle/>
          <a:p>
            <a:pPr eaLnBrk="1" hangingPunct="1"/>
            <a:r>
              <a:rPr lang="en-US" dirty="0">
                <a:latin typeface="Arial" charset="0"/>
              </a:rPr>
              <a:t>Sponge</a:t>
            </a:r>
          </a:p>
        </p:txBody>
      </p:sp>
      <p:sp>
        <p:nvSpPr>
          <p:cNvPr id="51202" name="Text Box 6"/>
          <p:cNvSpPr txBox="1">
            <a:spLocks noChangeArrowheads="1"/>
          </p:cNvSpPr>
          <p:nvPr/>
        </p:nvSpPr>
        <p:spPr bwMode="auto">
          <a:xfrm>
            <a:off x="4191000" y="6003925"/>
            <a:ext cx="4114800" cy="701675"/>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en-US" sz="1000"/>
              <a:t>The sponge is inserted by the woman into the vagina and covers the cervix blocking sperm from entering the cervix. The sponge also contains a spermicide that kills sperm. It is available without a prescription </a:t>
            </a:r>
          </a:p>
        </p:txBody>
      </p:sp>
      <p:pic>
        <p:nvPicPr>
          <p:cNvPr id="51203" name="Picture 10" descr="Spo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5562600" cy="4449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04" name="Picture 12" descr="spo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1524000"/>
            <a:ext cx="2895600" cy="3200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24026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normAutofit fontScale="90000"/>
          </a:bodyPr>
          <a:lstStyle/>
          <a:p>
            <a:pPr eaLnBrk="1" hangingPunct="1"/>
            <a:r>
              <a:rPr lang="en-US">
                <a:latin typeface="Arial" charset="0"/>
              </a:rPr>
              <a:t>INTRAUTERINE DEVICES (IUD)</a:t>
            </a:r>
          </a:p>
        </p:txBody>
      </p:sp>
      <p:sp>
        <p:nvSpPr>
          <p:cNvPr id="52226" name="Rectangle 3"/>
          <p:cNvSpPr>
            <a:spLocks noGrp="1" noChangeArrowheads="1"/>
          </p:cNvSpPr>
          <p:nvPr>
            <p:ph type="body" idx="1"/>
          </p:nvPr>
        </p:nvSpPr>
        <p:spPr>
          <a:xfrm>
            <a:off x="457200" y="1600200"/>
            <a:ext cx="4724400" cy="4525963"/>
          </a:xfrm>
        </p:spPr>
        <p:txBody>
          <a:bodyPr/>
          <a:lstStyle/>
          <a:p>
            <a:pPr eaLnBrk="1" hangingPunct="1">
              <a:lnSpc>
                <a:spcPct val="90000"/>
              </a:lnSpc>
            </a:pPr>
            <a:r>
              <a:rPr lang="en-US" sz="2400">
                <a:latin typeface="Arial" charset="0"/>
              </a:rPr>
              <a:t>T-shaped object placed in the uterus to prevent pregnancy</a:t>
            </a:r>
          </a:p>
          <a:p>
            <a:pPr eaLnBrk="1" hangingPunct="1">
              <a:lnSpc>
                <a:spcPct val="90000"/>
              </a:lnSpc>
            </a:pPr>
            <a:r>
              <a:rPr lang="en-US" sz="2400">
                <a:latin typeface="Arial" charset="0"/>
              </a:rPr>
              <a:t>Must be on period during insertion</a:t>
            </a:r>
          </a:p>
          <a:p>
            <a:pPr eaLnBrk="1" hangingPunct="1">
              <a:lnSpc>
                <a:spcPct val="90000"/>
              </a:lnSpc>
            </a:pPr>
            <a:r>
              <a:rPr lang="en-US" sz="2400">
                <a:latin typeface="Arial" charset="0"/>
              </a:rPr>
              <a:t>A Natural childbirth required to use</a:t>
            </a:r>
            <a:br>
              <a:rPr lang="en-US" sz="2400">
                <a:latin typeface="Arial" charset="0"/>
              </a:rPr>
            </a:br>
            <a:r>
              <a:rPr lang="en-US" sz="2400">
                <a:latin typeface="Arial" charset="0"/>
              </a:rPr>
              <a:t> IUD</a:t>
            </a:r>
          </a:p>
          <a:p>
            <a:pPr eaLnBrk="1" hangingPunct="1">
              <a:lnSpc>
                <a:spcPct val="90000"/>
              </a:lnSpc>
            </a:pPr>
            <a:r>
              <a:rPr lang="en-US" sz="2400">
                <a:latin typeface="Arial" charset="0"/>
              </a:rPr>
              <a:t>Extremely effective without using hormones &gt; 97 %</a:t>
            </a:r>
          </a:p>
          <a:p>
            <a:pPr eaLnBrk="1" hangingPunct="1">
              <a:lnSpc>
                <a:spcPct val="90000"/>
              </a:lnSpc>
            </a:pPr>
            <a:r>
              <a:rPr lang="en-US" sz="2400">
                <a:latin typeface="Arial" charset="0"/>
              </a:rPr>
              <a:t>Must be in monogamous relationship</a:t>
            </a:r>
          </a:p>
          <a:p>
            <a:pPr eaLnBrk="1" hangingPunct="1">
              <a:lnSpc>
                <a:spcPct val="90000"/>
              </a:lnSpc>
            </a:pPr>
            <a:endParaRPr lang="en-US" sz="2400" b="1">
              <a:latin typeface="Arial" charset="0"/>
            </a:endParaRPr>
          </a:p>
        </p:txBody>
      </p:sp>
      <p:pic>
        <p:nvPicPr>
          <p:cNvPr id="52227" name="Picture 5" descr="Intrauterine devi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752600"/>
            <a:ext cx="3962400" cy="510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24988100"/>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pPr eaLnBrk="1" hangingPunct="1"/>
            <a:r>
              <a:rPr lang="en-US">
                <a:latin typeface="Arial" charset="0"/>
              </a:rPr>
              <a:t>Copper T </a:t>
            </a:r>
            <a:r>
              <a:rPr lang="en-US" sz="2800">
                <a:latin typeface="Arial" charset="0"/>
              </a:rPr>
              <a:t>vs.. </a:t>
            </a:r>
            <a:r>
              <a:rPr lang="en-US">
                <a:latin typeface="Arial" charset="0"/>
              </a:rPr>
              <a:t>Progestasert</a:t>
            </a:r>
          </a:p>
        </p:txBody>
      </p:sp>
      <p:sp>
        <p:nvSpPr>
          <p:cNvPr id="53250" name="Rectangle 3"/>
          <p:cNvSpPr>
            <a:spLocks noGrp="1" noChangeArrowheads="1"/>
          </p:cNvSpPr>
          <p:nvPr>
            <p:ph type="body" sz="half" idx="1"/>
          </p:nvPr>
        </p:nvSpPr>
        <p:spPr>
          <a:xfrm>
            <a:off x="457200" y="1600200"/>
            <a:ext cx="4035425" cy="4525963"/>
          </a:xfrm>
        </p:spPr>
        <p:txBody>
          <a:bodyPr/>
          <a:lstStyle/>
          <a:p>
            <a:pPr eaLnBrk="1" hangingPunct="1"/>
            <a:r>
              <a:rPr lang="en-US" sz="2400">
                <a:latin typeface="Arial" charset="0"/>
              </a:rPr>
              <a:t>10 years</a:t>
            </a:r>
          </a:p>
          <a:p>
            <a:pPr eaLnBrk="1" hangingPunct="1"/>
            <a:r>
              <a:rPr lang="en-US" sz="2400">
                <a:latin typeface="Arial" charset="0"/>
              </a:rPr>
              <a:t>99.2 % effective</a:t>
            </a:r>
          </a:p>
          <a:p>
            <a:pPr eaLnBrk="1" hangingPunct="1"/>
            <a:r>
              <a:rPr lang="en-US" sz="2400">
                <a:latin typeface="Arial" charset="0"/>
              </a:rPr>
              <a:t>Copper on IUD acts as spermicide, IUD blocks egg from implanting</a:t>
            </a:r>
          </a:p>
          <a:p>
            <a:pPr eaLnBrk="1" hangingPunct="1"/>
            <a:r>
              <a:rPr lang="en-US" sz="2400">
                <a:latin typeface="Arial" charset="0"/>
              </a:rPr>
              <a:t>Must check string before sex and after shedding of uterine lining.</a:t>
            </a:r>
            <a:endParaRPr lang="en-US" sz="2400" b="1">
              <a:latin typeface="Arial" charset="0"/>
            </a:endParaRPr>
          </a:p>
        </p:txBody>
      </p:sp>
      <p:sp>
        <p:nvSpPr>
          <p:cNvPr id="53251" name="Rectangle 4"/>
          <p:cNvSpPr>
            <a:spLocks noGrp="1" noChangeArrowheads="1"/>
          </p:cNvSpPr>
          <p:nvPr>
            <p:ph type="body" sz="half" idx="2"/>
          </p:nvPr>
        </p:nvSpPr>
        <p:spPr>
          <a:xfrm>
            <a:off x="4649788" y="1600200"/>
            <a:ext cx="4037012" cy="4525963"/>
          </a:xfrm>
        </p:spPr>
        <p:txBody>
          <a:bodyPr/>
          <a:lstStyle/>
          <a:p>
            <a:pPr eaLnBrk="1" hangingPunct="1">
              <a:lnSpc>
                <a:spcPct val="90000"/>
              </a:lnSpc>
            </a:pPr>
            <a:r>
              <a:rPr lang="en-US" sz="2400">
                <a:latin typeface="Arial" charset="0"/>
              </a:rPr>
              <a:t>1 year</a:t>
            </a:r>
          </a:p>
          <a:p>
            <a:pPr eaLnBrk="1" hangingPunct="1">
              <a:lnSpc>
                <a:spcPct val="90000"/>
              </a:lnSpc>
            </a:pPr>
            <a:r>
              <a:rPr lang="en-US" sz="2400">
                <a:latin typeface="Arial" charset="0"/>
              </a:rPr>
              <a:t>98% effective</a:t>
            </a:r>
          </a:p>
          <a:p>
            <a:pPr eaLnBrk="1" hangingPunct="1">
              <a:lnSpc>
                <a:spcPct val="90000"/>
              </a:lnSpc>
            </a:pPr>
            <a:r>
              <a:rPr lang="en-US" sz="2400">
                <a:latin typeface="Arial" charset="0"/>
              </a:rPr>
              <a:t>T shaped plastic that releases hormones over a one year time frame</a:t>
            </a:r>
          </a:p>
          <a:p>
            <a:pPr eaLnBrk="1" hangingPunct="1">
              <a:lnSpc>
                <a:spcPct val="90000"/>
              </a:lnSpc>
            </a:pPr>
            <a:r>
              <a:rPr lang="en-US" sz="2400">
                <a:latin typeface="Arial" charset="0"/>
              </a:rPr>
              <a:t>Thickens mucus, blocking egg</a:t>
            </a:r>
          </a:p>
          <a:p>
            <a:pPr eaLnBrk="1" hangingPunct="1">
              <a:lnSpc>
                <a:spcPct val="90000"/>
              </a:lnSpc>
            </a:pPr>
            <a:r>
              <a:rPr lang="en-US" sz="2400">
                <a:latin typeface="Arial" charset="0"/>
              </a:rPr>
              <a:t>Check string before sex &amp; after shedding of uterine lining.</a:t>
            </a:r>
            <a:endParaRPr lang="en-US" sz="2400" b="1">
              <a:latin typeface="Arial" charset="0"/>
            </a:endParaRPr>
          </a:p>
          <a:p>
            <a:pPr eaLnBrk="1" hangingPunct="1">
              <a:lnSpc>
                <a:spcPct val="90000"/>
              </a:lnSpc>
              <a:buFontTx/>
              <a:buNone/>
            </a:pPr>
            <a:endParaRPr lang="en-US" sz="2400" b="1">
              <a:latin typeface="Arial" charset="0"/>
            </a:endParaRPr>
          </a:p>
        </p:txBody>
      </p:sp>
    </p:spTree>
    <p:extLst>
      <p:ext uri="{BB962C8B-B14F-4D97-AF65-F5344CB8AC3E}">
        <p14:creationId xmlns:p14="http://schemas.microsoft.com/office/powerpoint/2010/main" val="1048972182"/>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pPr eaLnBrk="1" hangingPunct="1"/>
            <a:r>
              <a:rPr lang="en-US">
                <a:latin typeface="Arial" charset="0"/>
              </a:rPr>
              <a:t>STERILIZATION</a:t>
            </a:r>
          </a:p>
        </p:txBody>
      </p:sp>
      <p:sp>
        <p:nvSpPr>
          <p:cNvPr id="54274" name="Rectangle 3"/>
          <p:cNvSpPr>
            <a:spLocks noGrp="1" noChangeArrowheads="1"/>
          </p:cNvSpPr>
          <p:nvPr>
            <p:ph type="body" idx="1"/>
          </p:nvPr>
        </p:nvSpPr>
        <p:spPr/>
        <p:txBody>
          <a:bodyPr/>
          <a:lstStyle/>
          <a:p>
            <a:pPr eaLnBrk="1" hangingPunct="1"/>
            <a:r>
              <a:rPr lang="en-US">
                <a:latin typeface="Arial" charset="0"/>
              </a:rPr>
              <a:t>Procedure performed on a man or a woman </a:t>
            </a:r>
            <a:r>
              <a:rPr lang="en-US" u="sng">
                <a:latin typeface="Arial" charset="0"/>
              </a:rPr>
              <a:t>permanently</a:t>
            </a:r>
            <a:r>
              <a:rPr lang="en-US">
                <a:latin typeface="Arial" charset="0"/>
              </a:rPr>
              <a:t> sterilizes</a:t>
            </a:r>
          </a:p>
          <a:p>
            <a:pPr eaLnBrk="1" hangingPunct="1"/>
            <a:r>
              <a:rPr lang="en-US">
                <a:latin typeface="Arial" charset="0"/>
              </a:rPr>
              <a:t>Female = Tubal Ligation</a:t>
            </a:r>
          </a:p>
          <a:p>
            <a:pPr eaLnBrk="1" hangingPunct="1"/>
            <a:r>
              <a:rPr lang="en-US">
                <a:latin typeface="Arial" charset="0"/>
              </a:rPr>
              <a:t>Male = Vasectomy</a:t>
            </a:r>
          </a:p>
        </p:txBody>
      </p:sp>
    </p:spTree>
    <p:extLst>
      <p:ext uri="{BB962C8B-B14F-4D97-AF65-F5344CB8AC3E}">
        <p14:creationId xmlns:p14="http://schemas.microsoft.com/office/powerpoint/2010/main" val="1763513287"/>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457200" y="0"/>
            <a:ext cx="8229600" cy="1143000"/>
          </a:xfrm>
        </p:spPr>
        <p:txBody>
          <a:bodyPr/>
          <a:lstStyle/>
          <a:p>
            <a:pPr eaLnBrk="1" hangingPunct="1"/>
            <a:r>
              <a:rPr lang="en-US">
                <a:latin typeface="Arial" charset="0"/>
              </a:rPr>
              <a:t>TUBAL LIGATION</a:t>
            </a:r>
          </a:p>
        </p:txBody>
      </p:sp>
      <p:sp>
        <p:nvSpPr>
          <p:cNvPr id="55298" name="Rectangle 3"/>
          <p:cNvSpPr>
            <a:spLocks noGrp="1" noChangeArrowheads="1"/>
          </p:cNvSpPr>
          <p:nvPr>
            <p:ph type="body" idx="1"/>
          </p:nvPr>
        </p:nvSpPr>
        <p:spPr>
          <a:xfrm>
            <a:off x="457200" y="990600"/>
            <a:ext cx="8229600" cy="4525963"/>
          </a:xfrm>
        </p:spPr>
        <p:txBody>
          <a:bodyPr/>
          <a:lstStyle/>
          <a:p>
            <a:pPr eaLnBrk="1" hangingPunct="1">
              <a:lnSpc>
                <a:spcPct val="90000"/>
              </a:lnSpc>
            </a:pPr>
            <a:r>
              <a:rPr lang="en-US" sz="2000">
                <a:latin typeface="Arial" charset="0"/>
              </a:rPr>
              <a:t>Surgical procedure performed on a woman</a:t>
            </a:r>
          </a:p>
          <a:p>
            <a:pPr eaLnBrk="1" hangingPunct="1">
              <a:lnSpc>
                <a:spcPct val="90000"/>
              </a:lnSpc>
            </a:pPr>
            <a:r>
              <a:rPr lang="en-US" sz="2000">
                <a:latin typeface="Arial" charset="0"/>
              </a:rPr>
              <a:t>Fallopian tubes are cut, tied, cauterized, prevents eggs from reaching sperm</a:t>
            </a:r>
          </a:p>
          <a:p>
            <a:pPr eaLnBrk="1" hangingPunct="1">
              <a:lnSpc>
                <a:spcPct val="90000"/>
              </a:lnSpc>
            </a:pPr>
            <a:r>
              <a:rPr lang="en-US" sz="2000">
                <a:latin typeface="Arial" charset="0"/>
              </a:rPr>
              <a:t>Failure rates vary by procedure, from 0.8%-3.7%</a:t>
            </a:r>
          </a:p>
          <a:p>
            <a:pPr eaLnBrk="1" hangingPunct="1">
              <a:lnSpc>
                <a:spcPct val="90000"/>
              </a:lnSpc>
            </a:pPr>
            <a:r>
              <a:rPr lang="en-US" sz="2000">
                <a:latin typeface="Arial" charset="0"/>
              </a:rPr>
              <a:t>May experience heavier periods</a:t>
            </a:r>
            <a:r>
              <a:rPr lang="en-US" sz="2000" b="1">
                <a:latin typeface="Arial" charset="0"/>
              </a:rPr>
              <a:t>  </a:t>
            </a:r>
          </a:p>
          <a:p>
            <a:pPr eaLnBrk="1" hangingPunct="1">
              <a:lnSpc>
                <a:spcPct val="90000"/>
              </a:lnSpc>
            </a:pPr>
            <a:endParaRPr lang="en-US" sz="2000" b="1">
              <a:latin typeface="Arial" charset="0"/>
            </a:endParaRPr>
          </a:p>
          <a:p>
            <a:pPr eaLnBrk="1" hangingPunct="1">
              <a:lnSpc>
                <a:spcPct val="90000"/>
              </a:lnSpc>
            </a:pPr>
            <a:endParaRPr lang="en-US" sz="2000" b="1">
              <a:latin typeface="Arial" charset="0"/>
            </a:endParaRPr>
          </a:p>
          <a:p>
            <a:pPr eaLnBrk="1" hangingPunct="1">
              <a:lnSpc>
                <a:spcPct val="90000"/>
              </a:lnSpc>
              <a:buFontTx/>
              <a:buNone/>
            </a:pPr>
            <a:endParaRPr lang="en-US" sz="2000" b="1">
              <a:latin typeface="Arial" charset="0"/>
            </a:endParaRPr>
          </a:p>
        </p:txBody>
      </p:sp>
      <p:pic>
        <p:nvPicPr>
          <p:cNvPr id="55299" name="Picture 5" descr="Tubal lig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13038"/>
            <a:ext cx="6553200" cy="4144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035522511"/>
      </p:ext>
    </p:extLst>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ctrTitle"/>
          </p:nvPr>
        </p:nvSpPr>
        <p:spPr>
          <a:xfrm>
            <a:off x="685800" y="609600"/>
            <a:ext cx="7772400" cy="1143000"/>
          </a:xfrm>
        </p:spPr>
        <p:txBody>
          <a:bodyPr>
            <a:normAutofit fontScale="90000"/>
          </a:bodyPr>
          <a:lstStyle/>
          <a:p>
            <a:pPr eaLnBrk="1" hangingPunct="1"/>
            <a:r>
              <a:rPr lang="en-US" b="1">
                <a:latin typeface="Arial" charset="0"/>
              </a:rPr>
              <a:t>LAPAROSCOPY-</a:t>
            </a:r>
            <a:r>
              <a:rPr lang="ja-JP" altLang="en-US" b="1">
                <a:latin typeface="Arial" charset="0"/>
              </a:rPr>
              <a:t>’</a:t>
            </a:r>
            <a:r>
              <a:rPr lang="en-US" altLang="ja-JP" b="1">
                <a:latin typeface="Arial" charset="0"/>
              </a:rPr>
              <a:t>BAND-AID</a:t>
            </a:r>
            <a:r>
              <a:rPr lang="ja-JP" altLang="en-US" b="1">
                <a:latin typeface="Arial" charset="0"/>
              </a:rPr>
              <a:t>’</a:t>
            </a:r>
            <a:r>
              <a:rPr lang="en-US" altLang="ja-JP" b="1">
                <a:latin typeface="Arial" charset="0"/>
              </a:rPr>
              <a:t> STERILIZATION</a:t>
            </a:r>
            <a:endParaRPr lang="en-US">
              <a:latin typeface="Arial" charset="0"/>
            </a:endParaRPr>
          </a:p>
        </p:txBody>
      </p:sp>
      <p:sp>
        <p:nvSpPr>
          <p:cNvPr id="135171" name="Rectangle 3"/>
          <p:cNvSpPr>
            <a:spLocks noGrp="1" noChangeArrowheads="1"/>
          </p:cNvSpPr>
          <p:nvPr>
            <p:ph type="subTitle" idx="1"/>
          </p:nvPr>
        </p:nvSpPr>
        <p:spPr/>
        <p:txBody>
          <a:bodyPr/>
          <a:lstStyle/>
          <a:p>
            <a:pPr eaLnBrk="1" hangingPunct="1"/>
            <a:endParaRPr lang="es-CO">
              <a:latin typeface="Arial" charset="0"/>
            </a:endParaRPr>
          </a:p>
        </p:txBody>
      </p:sp>
      <p:pic>
        <p:nvPicPr>
          <p:cNvPr id="135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93900"/>
            <a:ext cx="7315200" cy="4483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6324" name="Text Box 5"/>
          <p:cNvSpPr txBox="1">
            <a:spLocks noChangeArrowheads="1"/>
          </p:cNvSpPr>
          <p:nvPr/>
        </p:nvSpPr>
        <p:spPr bwMode="auto">
          <a:xfrm>
            <a:off x="1524000" y="838200"/>
            <a:ext cx="7010400" cy="45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endParaRPr lang="es-CO">
              <a:solidFill>
                <a:srgbClr val="00FF00"/>
              </a:solidFill>
              <a:latin typeface="Baskerville" charset="0"/>
            </a:endParaRPr>
          </a:p>
        </p:txBody>
      </p:sp>
    </p:spTree>
    <p:extLst>
      <p:ext uri="{BB962C8B-B14F-4D97-AF65-F5344CB8AC3E}">
        <p14:creationId xmlns:p14="http://schemas.microsoft.com/office/powerpoint/2010/main" val="35023153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170"/>
                                        </p:tgtEl>
                                        <p:attrNameLst>
                                          <p:attrName>style.visibility</p:attrName>
                                        </p:attrNameLst>
                                      </p:cBhvr>
                                      <p:to>
                                        <p:strVal val="visible"/>
                                      </p:to>
                                    </p:set>
                                    <p:anim calcmode="lin" valueType="num">
                                      <p:cBhvr additive="base">
                                        <p:cTn id="7" dur="500" fill="hold"/>
                                        <p:tgtEl>
                                          <p:spTgt spid="135170"/>
                                        </p:tgtEl>
                                        <p:attrNameLst>
                                          <p:attrName>ppt_x</p:attrName>
                                        </p:attrNameLst>
                                      </p:cBhvr>
                                      <p:tavLst>
                                        <p:tav tm="0">
                                          <p:val>
                                            <p:strVal val="0-#ppt_w/2"/>
                                          </p:val>
                                        </p:tav>
                                        <p:tav tm="100000">
                                          <p:val>
                                            <p:strVal val="#ppt_x"/>
                                          </p:val>
                                        </p:tav>
                                      </p:tavLst>
                                    </p:anim>
                                    <p:anim calcmode="lin" valueType="num">
                                      <p:cBhvr additive="base">
                                        <p:cTn id="8" dur="500" fill="hold"/>
                                        <p:tgtEl>
                                          <p:spTgt spid="1351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nodePh="1">
                                  <p:stCondLst>
                                    <p:cond delay="0"/>
                                  </p:stCondLst>
                                  <p:endCondLst>
                                    <p:cond evt="begin" delay="0">
                                      <p:tn val="11"/>
                                    </p:cond>
                                  </p:endCondLst>
                                  <p:childTnLst>
                                    <p:set>
                                      <p:cBhvr>
                                        <p:cTn id="12" dur="1" fill="hold">
                                          <p:stCondLst>
                                            <p:cond delay="0"/>
                                          </p:stCondLst>
                                        </p:cTn>
                                        <p:tgtEl>
                                          <p:spTgt spid="135171">
                                            <p:txEl>
                                              <p:pRg st="0" end="0"/>
                                            </p:txEl>
                                          </p:spTgt>
                                        </p:tgtEl>
                                        <p:attrNameLst>
                                          <p:attrName>style.visibility</p:attrName>
                                        </p:attrNameLst>
                                      </p:cBhvr>
                                      <p:to>
                                        <p:strVal val="visible"/>
                                      </p:to>
                                    </p:set>
                                    <p:anim calcmode="lin" valueType="num">
                                      <p:cBhvr additive="base">
                                        <p:cTn id="13" dur="500" fill="hold"/>
                                        <p:tgtEl>
                                          <p:spTgt spid="135171">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5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35172"/>
                                        </p:tgtEl>
                                        <p:attrNameLst>
                                          <p:attrName>style.visibility</p:attrName>
                                        </p:attrNameLst>
                                      </p:cBhvr>
                                      <p:to>
                                        <p:strVal val="visible"/>
                                      </p:to>
                                    </p:set>
                                    <p:anim calcmode="lin" valueType="num">
                                      <p:cBhvr additive="base">
                                        <p:cTn id="19" dur="500" fill="hold"/>
                                        <p:tgtEl>
                                          <p:spTgt spid="135172"/>
                                        </p:tgtEl>
                                        <p:attrNameLst>
                                          <p:attrName>ppt_x</p:attrName>
                                        </p:attrNameLst>
                                      </p:cBhvr>
                                      <p:tavLst>
                                        <p:tav tm="0">
                                          <p:val>
                                            <p:strVal val="0-#ppt_w/2"/>
                                          </p:val>
                                        </p:tav>
                                        <p:tav tm="100000">
                                          <p:val>
                                            <p:strVal val="#ppt_x"/>
                                          </p:val>
                                        </p:tav>
                                      </p:tavLst>
                                    </p:anim>
                                    <p:anim calcmode="lin" valueType="num">
                                      <p:cBhvr additive="base">
                                        <p:cTn id="20" dur="500" fill="hold"/>
                                        <p:tgtEl>
                                          <p:spTgt spid="13517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autoUpdateAnimBg="0"/>
      <p:bldP spid="135171"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pPr eaLnBrk="1" hangingPunct="1"/>
            <a:r>
              <a:rPr lang="en-US" dirty="0">
                <a:latin typeface="Arial" charset="0"/>
              </a:rPr>
              <a:t>VASECTOMY</a:t>
            </a:r>
          </a:p>
        </p:txBody>
      </p:sp>
      <p:sp>
        <p:nvSpPr>
          <p:cNvPr id="57346" name="Rectangle 3"/>
          <p:cNvSpPr>
            <a:spLocks noGrp="1" noChangeArrowheads="1"/>
          </p:cNvSpPr>
          <p:nvPr>
            <p:ph type="body" idx="1"/>
          </p:nvPr>
        </p:nvSpPr>
        <p:spPr/>
        <p:txBody>
          <a:bodyPr/>
          <a:lstStyle/>
          <a:p>
            <a:pPr eaLnBrk="1" hangingPunct="1">
              <a:lnSpc>
                <a:spcPct val="90000"/>
              </a:lnSpc>
            </a:pPr>
            <a:r>
              <a:rPr lang="en-US">
                <a:latin typeface="Arial" charset="0"/>
              </a:rPr>
              <a:t>Male sterilization procedure</a:t>
            </a:r>
          </a:p>
          <a:p>
            <a:pPr eaLnBrk="1" hangingPunct="1">
              <a:lnSpc>
                <a:spcPct val="90000"/>
              </a:lnSpc>
            </a:pPr>
            <a:r>
              <a:rPr lang="en-US">
                <a:latin typeface="Arial" charset="0"/>
              </a:rPr>
              <a:t>Ligation of Vas Deferens tube</a:t>
            </a:r>
          </a:p>
          <a:p>
            <a:pPr eaLnBrk="1" hangingPunct="1">
              <a:lnSpc>
                <a:spcPct val="90000"/>
              </a:lnSpc>
            </a:pPr>
            <a:r>
              <a:rPr lang="en-US">
                <a:latin typeface="Arial" charset="0"/>
              </a:rPr>
              <a:t>No-scalpel technique available</a:t>
            </a:r>
          </a:p>
          <a:p>
            <a:pPr eaLnBrk="1" hangingPunct="1">
              <a:lnSpc>
                <a:spcPct val="90000"/>
              </a:lnSpc>
            </a:pPr>
            <a:r>
              <a:rPr lang="en-US">
                <a:latin typeface="Arial" charset="0"/>
              </a:rPr>
              <a:t>Faster and easier recovery than a tubal ligation</a:t>
            </a:r>
          </a:p>
          <a:p>
            <a:pPr eaLnBrk="1" hangingPunct="1">
              <a:lnSpc>
                <a:spcPct val="90000"/>
              </a:lnSpc>
            </a:pPr>
            <a:r>
              <a:rPr lang="en-US">
                <a:latin typeface="Arial" charset="0"/>
              </a:rPr>
              <a:t>Failure rate = 0.1%, more effective than female sterilization</a:t>
            </a:r>
            <a:endParaRPr lang="en-US" b="1">
              <a:latin typeface="Arial" charset="0"/>
            </a:endParaRPr>
          </a:p>
          <a:p>
            <a:pPr eaLnBrk="1" hangingPunct="1">
              <a:lnSpc>
                <a:spcPct val="90000"/>
              </a:lnSpc>
            </a:pPr>
            <a:endParaRPr lang="en-US" b="1">
              <a:latin typeface="Arial" charset="0"/>
            </a:endParaRPr>
          </a:p>
        </p:txBody>
      </p:sp>
    </p:spTree>
    <p:extLst>
      <p:ext uri="{BB962C8B-B14F-4D97-AF65-F5344CB8AC3E}">
        <p14:creationId xmlns:p14="http://schemas.microsoft.com/office/powerpoint/2010/main" val="2045196943"/>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dirty="0"/>
              <a:t>… </a:t>
            </a:r>
            <a:r>
              <a:rPr lang="en-US" dirty="0">
                <a:latin typeface="Arial" charset="0"/>
              </a:rPr>
              <a:t>VASECTOMY</a:t>
            </a:r>
            <a:endParaRPr lang="en-US" dirty="0"/>
          </a:p>
        </p:txBody>
      </p:sp>
      <p:sp>
        <p:nvSpPr>
          <p:cNvPr id="3" name="Content Placeholder 2"/>
          <p:cNvSpPr>
            <a:spLocks noGrp="1"/>
          </p:cNvSpPr>
          <p:nvPr>
            <p:ph idx="1"/>
          </p:nvPr>
        </p:nvSpPr>
        <p:spPr/>
        <p:txBody>
          <a:bodyPr/>
          <a:lstStyle/>
          <a:p>
            <a:r>
              <a:rPr lang="en-US" dirty="0"/>
              <a:t>During a vasectomy (</a:t>
            </a:r>
            <a:r>
              <a:rPr lang="ja-JP" altLang="en-US" dirty="0"/>
              <a:t>“</a:t>
            </a:r>
            <a:r>
              <a:rPr lang="en-US" altLang="ja-JP" dirty="0"/>
              <a:t>cutting the vas</a:t>
            </a:r>
            <a:r>
              <a:rPr lang="ja-JP" altLang="en-US" dirty="0"/>
              <a:t>”</a:t>
            </a:r>
            <a:r>
              <a:rPr lang="en-US" altLang="ja-JP" dirty="0"/>
              <a:t>) a urologist cuts and ligates (ties off) the </a:t>
            </a:r>
            <a:r>
              <a:rPr lang="en-US" altLang="ja-JP" dirty="0" err="1"/>
              <a:t>ductus</a:t>
            </a:r>
            <a:r>
              <a:rPr lang="en-US" altLang="ja-JP" dirty="0"/>
              <a:t> deferens.  Sperm are still produced but cannot exit the body.  Sperm eventually deteriorate and are phagocytized.   A man is sterile, but because testosterone is still produced he retains his sex drive and secondary sex characteristics.  </a:t>
            </a:r>
            <a:endParaRPr lang="en-US" dirty="0"/>
          </a:p>
          <a:p>
            <a:endParaRPr lang="en-US" dirty="0"/>
          </a:p>
        </p:txBody>
      </p:sp>
    </p:spTree>
    <p:extLst>
      <p:ext uri="{BB962C8B-B14F-4D97-AF65-F5344CB8AC3E}">
        <p14:creationId xmlns:p14="http://schemas.microsoft.com/office/powerpoint/2010/main" val="2601206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dirty="0"/>
              <a:t>… </a:t>
            </a:r>
            <a:r>
              <a:rPr lang="en-US" dirty="0">
                <a:latin typeface="Arial" charset="0"/>
              </a:rPr>
              <a:t>VASECTOMY</a:t>
            </a:r>
            <a:endParaRPr lang="en-US" dirty="0"/>
          </a:p>
        </p:txBody>
      </p:sp>
      <p:pic>
        <p:nvPicPr>
          <p:cNvPr id="3" name="Picture 4" descr="vasectom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90800"/>
            <a:ext cx="4953000" cy="4267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descr="Before and After Vasectom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0163" y="2743200"/>
            <a:ext cx="4033837" cy="411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778845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normAutofit fontScale="90000"/>
          </a:bodyPr>
          <a:lstStyle/>
          <a:p>
            <a:pPr eaLnBrk="1" hangingPunct="1"/>
            <a:r>
              <a:rPr lang="en-US" b="1">
                <a:latin typeface="Arial" charset="0"/>
              </a:rPr>
              <a:t>METHODS BASED ON  INFORMATION</a:t>
            </a:r>
            <a:endParaRPr lang="en-US">
              <a:latin typeface="Arial" charset="0"/>
            </a:endParaRPr>
          </a:p>
        </p:txBody>
      </p:sp>
      <p:sp>
        <p:nvSpPr>
          <p:cNvPr id="59394" name="Rectangle 3"/>
          <p:cNvSpPr>
            <a:spLocks noGrp="1" noChangeArrowheads="1"/>
          </p:cNvSpPr>
          <p:nvPr>
            <p:ph type="body" idx="1"/>
          </p:nvPr>
        </p:nvSpPr>
        <p:spPr/>
        <p:txBody>
          <a:bodyPr/>
          <a:lstStyle/>
          <a:p>
            <a:pPr eaLnBrk="1" hangingPunct="1"/>
            <a:r>
              <a:rPr lang="en-US">
                <a:latin typeface="Arial" charset="0"/>
              </a:rPr>
              <a:t>Withdrawal</a:t>
            </a:r>
          </a:p>
          <a:p>
            <a:pPr eaLnBrk="1" hangingPunct="1"/>
            <a:r>
              <a:rPr lang="en-US">
                <a:latin typeface="Arial" charset="0"/>
              </a:rPr>
              <a:t>Natural Family Planning</a:t>
            </a:r>
          </a:p>
          <a:p>
            <a:pPr eaLnBrk="1" hangingPunct="1"/>
            <a:r>
              <a:rPr lang="en-US">
                <a:latin typeface="Arial" charset="0"/>
              </a:rPr>
              <a:t>Fertility Awareness Method</a:t>
            </a:r>
          </a:p>
          <a:p>
            <a:pPr eaLnBrk="1" hangingPunct="1"/>
            <a:r>
              <a:rPr lang="en-US">
                <a:latin typeface="Arial" charset="0"/>
              </a:rPr>
              <a:t>Abstinence</a:t>
            </a:r>
          </a:p>
        </p:txBody>
      </p:sp>
    </p:spTree>
    <p:extLst>
      <p:ext uri="{BB962C8B-B14F-4D97-AF65-F5344CB8AC3E}">
        <p14:creationId xmlns:p14="http://schemas.microsoft.com/office/powerpoint/2010/main" val="3663920053"/>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b="1">
                <a:latin typeface="Arial" charset="0"/>
              </a:rPr>
              <a:t>WITHDRAWAL</a:t>
            </a:r>
            <a:endParaRPr lang="en-US">
              <a:latin typeface="Arial" charset="0"/>
            </a:endParaRPr>
          </a:p>
        </p:txBody>
      </p:sp>
      <p:sp>
        <p:nvSpPr>
          <p:cNvPr id="60418" name="Rectangle 3"/>
          <p:cNvSpPr>
            <a:spLocks noGrp="1" noChangeArrowheads="1"/>
          </p:cNvSpPr>
          <p:nvPr>
            <p:ph type="body" idx="1"/>
          </p:nvPr>
        </p:nvSpPr>
        <p:spPr>
          <a:xfrm>
            <a:off x="685800" y="1771650"/>
            <a:ext cx="8458200" cy="4114800"/>
          </a:xfrm>
        </p:spPr>
        <p:txBody>
          <a:bodyPr/>
          <a:lstStyle/>
          <a:p>
            <a:pPr eaLnBrk="1" hangingPunct="1">
              <a:lnSpc>
                <a:spcPct val="90000"/>
              </a:lnSpc>
            </a:pPr>
            <a:r>
              <a:rPr lang="en-US" sz="2000">
                <a:latin typeface="Arial" charset="0"/>
              </a:rPr>
              <a:t>Removal of penis from the vagina </a:t>
            </a:r>
            <a:r>
              <a:rPr lang="en-US" sz="2000" u="sng">
                <a:latin typeface="Arial" charset="0"/>
              </a:rPr>
              <a:t>before</a:t>
            </a:r>
            <a:r>
              <a:rPr lang="en-US" sz="2000">
                <a:latin typeface="Arial" charset="0"/>
              </a:rPr>
              <a:t> ejaculation occurs</a:t>
            </a:r>
          </a:p>
          <a:p>
            <a:pPr eaLnBrk="1" hangingPunct="1">
              <a:lnSpc>
                <a:spcPct val="90000"/>
              </a:lnSpc>
            </a:pPr>
            <a:r>
              <a:rPr lang="en-US" sz="2000" u="sng">
                <a:latin typeface="Arial" charset="0"/>
              </a:rPr>
              <a:t>NOT</a:t>
            </a:r>
            <a:r>
              <a:rPr lang="en-US" sz="2000">
                <a:latin typeface="Arial" charset="0"/>
              </a:rPr>
              <a:t> a sufficient method of birth control by itself</a:t>
            </a:r>
          </a:p>
          <a:p>
            <a:pPr eaLnBrk="1" hangingPunct="1">
              <a:lnSpc>
                <a:spcPct val="90000"/>
              </a:lnSpc>
            </a:pPr>
            <a:r>
              <a:rPr lang="en-US" sz="2000">
                <a:latin typeface="Arial" charset="0"/>
              </a:rPr>
              <a:t>Effectiveness rate is 80% (very unpredictable in teens, wide variation)</a:t>
            </a:r>
          </a:p>
          <a:p>
            <a:pPr eaLnBrk="1" hangingPunct="1">
              <a:lnSpc>
                <a:spcPct val="90000"/>
              </a:lnSpc>
            </a:pPr>
            <a:r>
              <a:rPr lang="en-US" sz="2000" u="sng">
                <a:latin typeface="Arial" charset="0"/>
              </a:rPr>
              <a:t>1 of 5</a:t>
            </a:r>
            <a:r>
              <a:rPr lang="en-US" sz="2000">
                <a:latin typeface="Arial" charset="0"/>
              </a:rPr>
              <a:t> women practicing withdrawal become pregnant</a:t>
            </a:r>
          </a:p>
          <a:p>
            <a:pPr eaLnBrk="1" hangingPunct="1">
              <a:lnSpc>
                <a:spcPct val="90000"/>
              </a:lnSpc>
            </a:pPr>
            <a:r>
              <a:rPr lang="en-US" sz="2000">
                <a:latin typeface="Arial" charset="0"/>
              </a:rPr>
              <a:t>Very difficult for a male to </a:t>
            </a:r>
            <a:r>
              <a:rPr lang="ja-JP" altLang="en-US" sz="2000">
                <a:latin typeface="Arial" charset="0"/>
              </a:rPr>
              <a:t>‘</a:t>
            </a:r>
            <a:r>
              <a:rPr lang="en-US" altLang="ja-JP" sz="2000">
                <a:latin typeface="Arial" charset="0"/>
              </a:rPr>
              <a:t>control</a:t>
            </a:r>
            <a:r>
              <a:rPr lang="ja-JP" altLang="en-US" sz="2000">
                <a:latin typeface="Arial" charset="0"/>
              </a:rPr>
              <a:t>’</a:t>
            </a:r>
            <a:r>
              <a:rPr lang="en-US" altLang="ja-JP" sz="2000">
                <a:latin typeface="Arial" charset="0"/>
              </a:rPr>
              <a:t> </a:t>
            </a:r>
          </a:p>
          <a:p>
            <a:pPr eaLnBrk="1" hangingPunct="1">
              <a:lnSpc>
                <a:spcPct val="90000"/>
              </a:lnSpc>
            </a:pPr>
            <a:endParaRPr lang="en-US" sz="2000" b="1">
              <a:latin typeface="Arial" charset="0"/>
            </a:endParaRPr>
          </a:p>
        </p:txBody>
      </p:sp>
      <p:pic>
        <p:nvPicPr>
          <p:cNvPr id="60419" name="Picture 5" descr="concep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6463" y="3352800"/>
            <a:ext cx="2671762" cy="3505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0420" name="Picture 7" descr="withdraw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611563"/>
            <a:ext cx="3562350" cy="3246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2812763"/>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317500" y="52388"/>
            <a:ext cx="8637588" cy="1431925"/>
          </a:xfrm>
        </p:spPr>
        <p:txBody>
          <a:bodyPr>
            <a:normAutofit/>
          </a:bodyPr>
          <a:lstStyle/>
          <a:p>
            <a:pPr eaLnBrk="1" hangingPunct="1"/>
            <a:r>
              <a:rPr lang="en-US" b="1" dirty="0">
                <a:latin typeface="Arial" charset="0"/>
              </a:rPr>
              <a:t>Natural Family Planning</a:t>
            </a:r>
            <a:endParaRPr lang="en-US" dirty="0">
              <a:latin typeface="Arial" charset="0"/>
            </a:endParaRPr>
          </a:p>
        </p:txBody>
      </p:sp>
      <p:sp>
        <p:nvSpPr>
          <p:cNvPr id="61442" name="Rectangle 3"/>
          <p:cNvSpPr>
            <a:spLocks noGrp="1" noChangeArrowheads="1"/>
          </p:cNvSpPr>
          <p:nvPr>
            <p:ph type="body" idx="1"/>
          </p:nvPr>
        </p:nvSpPr>
        <p:spPr>
          <a:xfrm>
            <a:off x="685800" y="1676400"/>
            <a:ext cx="8458200" cy="4210050"/>
          </a:xfrm>
        </p:spPr>
        <p:txBody>
          <a:bodyPr>
            <a:normAutofit/>
          </a:bodyPr>
          <a:lstStyle/>
          <a:p>
            <a:pPr eaLnBrk="1" hangingPunct="1">
              <a:lnSpc>
                <a:spcPct val="90000"/>
              </a:lnSpc>
            </a:pPr>
            <a:r>
              <a:rPr lang="en-US" sz="2800" dirty="0">
                <a:latin typeface="Arial" charset="0"/>
              </a:rPr>
              <a:t>Women take a class on the menstrual cycle to calculate </a:t>
            </a:r>
            <a:r>
              <a:rPr lang="en-US" sz="2800" i="1" dirty="0">
                <a:latin typeface="Arial" charset="0"/>
              </a:rPr>
              <a:t>more</a:t>
            </a:r>
            <a:r>
              <a:rPr lang="en-US" sz="2800" dirty="0">
                <a:latin typeface="Arial" charset="0"/>
              </a:rPr>
              <a:t> </a:t>
            </a:r>
            <a:r>
              <a:rPr lang="en-US" sz="2800" i="1" dirty="0">
                <a:latin typeface="Arial" charset="0"/>
              </a:rPr>
              <a:t>fertile</a:t>
            </a:r>
            <a:r>
              <a:rPr lang="en-US" sz="2800" dirty="0">
                <a:latin typeface="Arial" charset="0"/>
              </a:rPr>
              <a:t> times</a:t>
            </a:r>
          </a:p>
          <a:p>
            <a:pPr eaLnBrk="1" hangingPunct="1">
              <a:lnSpc>
                <a:spcPct val="90000"/>
              </a:lnSpc>
            </a:pPr>
            <a:r>
              <a:rPr lang="en-US" sz="2800" dirty="0">
                <a:latin typeface="Arial" charset="0"/>
              </a:rPr>
              <a:t>Requires special equipment and cannot be self-taught</a:t>
            </a:r>
          </a:p>
          <a:p>
            <a:pPr eaLnBrk="1" hangingPunct="1">
              <a:lnSpc>
                <a:spcPct val="90000"/>
              </a:lnSpc>
            </a:pPr>
            <a:r>
              <a:rPr lang="en-US" sz="2800" dirty="0">
                <a:latin typeface="Arial" charset="0"/>
              </a:rPr>
              <a:t>NFP abstains from sex during the calculated fertile time</a:t>
            </a:r>
          </a:p>
          <a:p>
            <a:pPr eaLnBrk="1" hangingPunct="1">
              <a:lnSpc>
                <a:spcPct val="90000"/>
              </a:lnSpc>
            </a:pPr>
            <a:endParaRPr lang="en-US" sz="2800" b="1" dirty="0">
              <a:latin typeface="Arial" charset="0"/>
            </a:endParaRPr>
          </a:p>
        </p:txBody>
      </p:sp>
    </p:spTree>
    <p:extLst>
      <p:ext uri="{BB962C8B-B14F-4D97-AF65-F5344CB8AC3E}">
        <p14:creationId xmlns:p14="http://schemas.microsoft.com/office/powerpoint/2010/main" val="1785599253"/>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Arial" charset="0"/>
              </a:rPr>
              <a:t>Fertility Awareness Method</a:t>
            </a:r>
            <a:endParaRPr lang="en-US" dirty="0"/>
          </a:p>
        </p:txBody>
      </p:sp>
      <p:sp>
        <p:nvSpPr>
          <p:cNvPr id="3" name="Content Placeholder 2"/>
          <p:cNvSpPr>
            <a:spLocks noGrp="1"/>
          </p:cNvSpPr>
          <p:nvPr>
            <p:ph idx="1"/>
          </p:nvPr>
        </p:nvSpPr>
        <p:spPr/>
        <p:txBody>
          <a:bodyPr/>
          <a:lstStyle/>
          <a:p>
            <a:pPr>
              <a:lnSpc>
                <a:spcPct val="90000"/>
              </a:lnSpc>
            </a:pPr>
            <a:r>
              <a:rPr lang="en-US" dirty="0">
                <a:latin typeface="Arial" charset="0"/>
              </a:rPr>
              <a:t>FAM uses barrier methods during fertile time</a:t>
            </a:r>
          </a:p>
          <a:p>
            <a:pPr>
              <a:lnSpc>
                <a:spcPct val="90000"/>
              </a:lnSpc>
            </a:pPr>
            <a:r>
              <a:rPr lang="en-US" dirty="0">
                <a:latin typeface="Arial" charset="0"/>
              </a:rPr>
              <a:t>Perfect effectiveness rate = 91%</a:t>
            </a:r>
          </a:p>
          <a:p>
            <a:pPr>
              <a:lnSpc>
                <a:spcPct val="90000"/>
              </a:lnSpc>
            </a:pPr>
            <a:r>
              <a:rPr lang="en-US" dirty="0">
                <a:latin typeface="Arial" charset="0"/>
              </a:rPr>
              <a:t>Typical effectiveness rate = 75%</a:t>
            </a:r>
          </a:p>
          <a:p>
            <a:pPr>
              <a:lnSpc>
                <a:spcPct val="90000"/>
              </a:lnSpc>
            </a:pPr>
            <a:r>
              <a:rPr lang="en-US" u="sng" dirty="0">
                <a:latin typeface="Arial" charset="0"/>
              </a:rPr>
              <a:t>No 100% safe day</a:t>
            </a:r>
            <a:r>
              <a:rPr lang="en-US" dirty="0">
                <a:latin typeface="Arial" charset="0"/>
              </a:rPr>
              <a:t>-irregular periods </a:t>
            </a:r>
          </a:p>
          <a:p>
            <a:endParaRPr lang="en-US" dirty="0"/>
          </a:p>
        </p:txBody>
      </p:sp>
    </p:spTree>
    <p:extLst>
      <p:ext uri="{BB962C8B-B14F-4D97-AF65-F5344CB8AC3E}">
        <p14:creationId xmlns:p14="http://schemas.microsoft.com/office/powerpoint/2010/main" val="18174921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5" name="Picture 5" descr="01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
            <a:ext cx="8763000" cy="6572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0118949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Contraception Prevalence Rate</a:t>
            </a:r>
          </a:p>
        </p:txBody>
      </p:sp>
      <p:sp>
        <p:nvSpPr>
          <p:cNvPr id="3" name="Content Placeholder 2"/>
          <p:cNvSpPr>
            <a:spLocks noGrp="1"/>
          </p:cNvSpPr>
          <p:nvPr>
            <p:ph idx="1"/>
          </p:nvPr>
        </p:nvSpPr>
        <p:spPr/>
        <p:txBody>
          <a:bodyPr/>
          <a:lstStyle/>
          <a:p>
            <a:endParaRPr lang="en-US" u="sng" dirty="0"/>
          </a:p>
          <a:p>
            <a:r>
              <a:rPr lang="en-US" u="sng" dirty="0"/>
              <a:t>No. of women using contraception</a:t>
            </a:r>
            <a:r>
              <a:rPr lang="en-US" dirty="0"/>
              <a:t>  * 100   </a:t>
            </a:r>
          </a:p>
          <a:p>
            <a:pPr marL="0" indent="0">
              <a:buNone/>
            </a:pPr>
            <a:r>
              <a:rPr lang="en-US" dirty="0"/>
              <a:t>        No. of women ages 15-49     </a:t>
            </a:r>
          </a:p>
          <a:p>
            <a:endParaRPr lang="en-US" dirty="0"/>
          </a:p>
        </p:txBody>
      </p:sp>
    </p:spTree>
    <p:extLst>
      <p:ext uri="{BB962C8B-B14F-4D97-AF65-F5344CB8AC3E}">
        <p14:creationId xmlns:p14="http://schemas.microsoft.com/office/powerpoint/2010/main" val="2031321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b="1" dirty="0"/>
              <a:t>Married Women </a:t>
            </a:r>
            <a:br>
              <a:rPr lang="en-US" b="1" dirty="0"/>
            </a:br>
            <a:r>
              <a:rPr lang="en-GB" b="1" dirty="0"/>
              <a:t>15-49</a:t>
            </a:r>
            <a:r>
              <a:rPr lang="en-US" b="1" dirty="0"/>
              <a:t> – World [2017]</a:t>
            </a:r>
          </a:p>
        </p:txBody>
      </p:sp>
      <p:graphicFrame>
        <p:nvGraphicFramePr>
          <p:cNvPr id="5" name="Content Placeholder 4"/>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81287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b="1" dirty="0"/>
              <a:t>Married Women </a:t>
            </a:r>
            <a:br>
              <a:rPr lang="en-US" b="1" dirty="0"/>
            </a:br>
            <a:r>
              <a:rPr lang="en-GB" b="1" dirty="0"/>
              <a:t>15-49</a:t>
            </a:r>
            <a:r>
              <a:rPr lang="en-US" b="1" dirty="0"/>
              <a:t> – Africa [2017]</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0046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dirty="0"/>
              <a:t>Reasons for non-use of Contraception</a:t>
            </a:r>
          </a:p>
        </p:txBody>
      </p:sp>
      <p:sp>
        <p:nvSpPr>
          <p:cNvPr id="3" name="Content Placeholder 2"/>
          <p:cNvSpPr>
            <a:spLocks noGrp="1"/>
          </p:cNvSpPr>
          <p:nvPr>
            <p:ph idx="1"/>
          </p:nvPr>
        </p:nvSpPr>
        <p:spPr/>
        <p:txBody>
          <a:bodyPr/>
          <a:lstStyle/>
          <a:p>
            <a:endParaRPr lang="en-US" dirty="0"/>
          </a:p>
          <a:p>
            <a:r>
              <a:rPr lang="en-US" sz="4000" dirty="0">
                <a:latin typeface="Times New Roman"/>
                <a:cs typeface="Times New Roman"/>
              </a:rPr>
              <a:t>Fertility related </a:t>
            </a:r>
          </a:p>
          <a:p>
            <a:r>
              <a:rPr lang="en-US" sz="4000" dirty="0">
                <a:latin typeface="Times New Roman"/>
                <a:cs typeface="Times New Roman"/>
              </a:rPr>
              <a:t>Opposition to use</a:t>
            </a:r>
          </a:p>
          <a:p>
            <a:r>
              <a:rPr lang="en-US" sz="4000" dirty="0">
                <a:latin typeface="Times New Roman"/>
                <a:cs typeface="Times New Roman"/>
              </a:rPr>
              <a:t>Lack of knowledge</a:t>
            </a:r>
          </a:p>
          <a:p>
            <a:r>
              <a:rPr lang="en-US" sz="4000" dirty="0">
                <a:latin typeface="Times New Roman"/>
                <a:cs typeface="Times New Roman"/>
              </a:rPr>
              <a:t>Method related reasons</a:t>
            </a:r>
          </a:p>
        </p:txBody>
      </p:sp>
    </p:spTree>
    <p:extLst>
      <p:ext uri="{BB962C8B-B14F-4D97-AF65-F5344CB8AC3E}">
        <p14:creationId xmlns:p14="http://schemas.microsoft.com/office/powerpoint/2010/main" val="36019485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Fertility Related </a:t>
            </a:r>
          </a:p>
        </p:txBody>
      </p:sp>
      <p:sp>
        <p:nvSpPr>
          <p:cNvPr id="3" name="Content Placeholder 2"/>
          <p:cNvSpPr>
            <a:spLocks noGrp="1"/>
          </p:cNvSpPr>
          <p:nvPr>
            <p:ph idx="1"/>
          </p:nvPr>
        </p:nvSpPr>
        <p:spPr/>
        <p:txBody>
          <a:bodyPr/>
          <a:lstStyle/>
          <a:p>
            <a:pPr marL="0" indent="0">
              <a:buNone/>
            </a:pPr>
            <a:endParaRPr lang="en-US" dirty="0"/>
          </a:p>
          <a:p>
            <a:r>
              <a:rPr lang="en-US" sz="3600" dirty="0">
                <a:latin typeface="Times New Roman"/>
                <a:cs typeface="Times New Roman"/>
              </a:rPr>
              <a:t>Not having sex</a:t>
            </a:r>
          </a:p>
          <a:p>
            <a:r>
              <a:rPr lang="en-US" sz="3600" dirty="0">
                <a:latin typeface="Times New Roman"/>
                <a:cs typeface="Times New Roman"/>
              </a:rPr>
              <a:t>Infrequent sex</a:t>
            </a:r>
          </a:p>
          <a:p>
            <a:r>
              <a:rPr lang="en-US" sz="3600" dirty="0">
                <a:latin typeface="Times New Roman"/>
                <a:cs typeface="Times New Roman"/>
              </a:rPr>
              <a:t>Menopausal</a:t>
            </a:r>
          </a:p>
          <a:p>
            <a:r>
              <a:rPr lang="en-US" sz="3600" dirty="0">
                <a:latin typeface="Times New Roman"/>
                <a:cs typeface="Times New Roman"/>
              </a:rPr>
              <a:t>Postpartum infecundability</a:t>
            </a:r>
          </a:p>
          <a:p>
            <a:r>
              <a:rPr lang="en-US" sz="3600" dirty="0">
                <a:latin typeface="Times New Roman"/>
                <a:cs typeface="Times New Roman"/>
              </a:rPr>
              <a:t>Breastfeeding </a:t>
            </a:r>
          </a:p>
        </p:txBody>
      </p:sp>
    </p:spTree>
    <p:extLst>
      <p:ext uri="{BB962C8B-B14F-4D97-AF65-F5344CB8AC3E}">
        <p14:creationId xmlns:p14="http://schemas.microsoft.com/office/powerpoint/2010/main" val="1383695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Opposition to Use </a:t>
            </a:r>
          </a:p>
        </p:txBody>
      </p:sp>
      <p:sp>
        <p:nvSpPr>
          <p:cNvPr id="3" name="Content Placeholder 2"/>
          <p:cNvSpPr>
            <a:spLocks noGrp="1"/>
          </p:cNvSpPr>
          <p:nvPr>
            <p:ph idx="1"/>
          </p:nvPr>
        </p:nvSpPr>
        <p:spPr/>
        <p:txBody>
          <a:bodyPr/>
          <a:lstStyle/>
          <a:p>
            <a:endParaRPr lang="en-US" dirty="0"/>
          </a:p>
          <a:p>
            <a:r>
              <a:rPr lang="en-US" sz="4000" dirty="0">
                <a:latin typeface="Times New Roman"/>
                <a:cs typeface="Times New Roman"/>
              </a:rPr>
              <a:t>Partner opposed</a:t>
            </a:r>
          </a:p>
          <a:p>
            <a:endParaRPr lang="en-US" sz="4000" dirty="0">
              <a:latin typeface="Times New Roman"/>
              <a:cs typeface="Times New Roman"/>
            </a:endParaRPr>
          </a:p>
          <a:p>
            <a:r>
              <a:rPr lang="en-US" sz="4000" dirty="0">
                <a:latin typeface="Times New Roman"/>
                <a:cs typeface="Times New Roman"/>
              </a:rPr>
              <a:t>Religious prohibition</a:t>
            </a:r>
          </a:p>
          <a:p>
            <a:endParaRPr lang="en-US" dirty="0"/>
          </a:p>
        </p:txBody>
      </p:sp>
    </p:spTree>
    <p:extLst>
      <p:ext uri="{BB962C8B-B14F-4D97-AF65-F5344CB8AC3E}">
        <p14:creationId xmlns:p14="http://schemas.microsoft.com/office/powerpoint/2010/main" val="41471807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Lack of Knowledge</a:t>
            </a:r>
          </a:p>
        </p:txBody>
      </p:sp>
      <p:sp>
        <p:nvSpPr>
          <p:cNvPr id="3" name="Content Placeholder 2"/>
          <p:cNvSpPr>
            <a:spLocks noGrp="1"/>
          </p:cNvSpPr>
          <p:nvPr>
            <p:ph idx="1"/>
          </p:nvPr>
        </p:nvSpPr>
        <p:spPr/>
        <p:txBody>
          <a:bodyPr/>
          <a:lstStyle/>
          <a:p>
            <a:endParaRPr lang="en-US" dirty="0"/>
          </a:p>
          <a:p>
            <a:r>
              <a:rPr lang="en-US" sz="4000" dirty="0"/>
              <a:t>Knows no method</a:t>
            </a:r>
          </a:p>
          <a:p>
            <a:endParaRPr lang="en-US" sz="4000" dirty="0"/>
          </a:p>
          <a:p>
            <a:r>
              <a:rPr lang="en-US" sz="4000" dirty="0"/>
              <a:t>Knows no source</a:t>
            </a:r>
          </a:p>
          <a:p>
            <a:endParaRPr lang="en-US" sz="4000" dirty="0"/>
          </a:p>
        </p:txBody>
      </p:sp>
    </p:spTree>
    <p:extLst>
      <p:ext uri="{BB962C8B-B14F-4D97-AF65-F5344CB8AC3E}">
        <p14:creationId xmlns:p14="http://schemas.microsoft.com/office/powerpoint/2010/main" val="25549193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Method Related Reasons</a:t>
            </a:r>
          </a:p>
        </p:txBody>
      </p:sp>
      <p:sp>
        <p:nvSpPr>
          <p:cNvPr id="3" name="Content Placeholder 2"/>
          <p:cNvSpPr>
            <a:spLocks noGrp="1"/>
          </p:cNvSpPr>
          <p:nvPr>
            <p:ph idx="1"/>
          </p:nvPr>
        </p:nvSpPr>
        <p:spPr/>
        <p:txBody>
          <a:bodyPr/>
          <a:lstStyle/>
          <a:p>
            <a:r>
              <a:rPr lang="en-US" sz="3600" dirty="0">
                <a:latin typeface="Times New Roman"/>
                <a:cs typeface="Times New Roman"/>
              </a:rPr>
              <a:t>Health concerns</a:t>
            </a:r>
          </a:p>
          <a:p>
            <a:r>
              <a:rPr lang="en-US" sz="3600" dirty="0">
                <a:latin typeface="Times New Roman"/>
                <a:cs typeface="Times New Roman"/>
              </a:rPr>
              <a:t>Fear side effects</a:t>
            </a:r>
          </a:p>
          <a:p>
            <a:r>
              <a:rPr lang="en-US" sz="3600" dirty="0">
                <a:latin typeface="Times New Roman"/>
                <a:cs typeface="Times New Roman"/>
              </a:rPr>
              <a:t>Lack of access</a:t>
            </a:r>
          </a:p>
          <a:p>
            <a:r>
              <a:rPr lang="en-US" sz="3600" dirty="0">
                <a:latin typeface="Times New Roman"/>
                <a:cs typeface="Times New Roman"/>
              </a:rPr>
              <a:t>Expensive</a:t>
            </a:r>
          </a:p>
          <a:p>
            <a:r>
              <a:rPr lang="en-US" sz="3600" dirty="0">
                <a:latin typeface="Times New Roman"/>
                <a:cs typeface="Times New Roman"/>
              </a:rPr>
              <a:t>Inconvenient to use</a:t>
            </a:r>
          </a:p>
          <a:p>
            <a:r>
              <a:rPr lang="en-US" sz="3600" dirty="0">
                <a:latin typeface="Times New Roman"/>
                <a:cs typeface="Times New Roman"/>
              </a:rPr>
              <a:t>Interference with body processes </a:t>
            </a:r>
          </a:p>
          <a:p>
            <a:endParaRPr lang="en-US" dirty="0"/>
          </a:p>
        </p:txBody>
      </p:sp>
    </p:spTree>
    <p:extLst>
      <p:ext uri="{BB962C8B-B14F-4D97-AF65-F5344CB8AC3E}">
        <p14:creationId xmlns:p14="http://schemas.microsoft.com/office/powerpoint/2010/main" val="28891499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670030" y="1600200"/>
            <a:ext cx="5927430" cy="4772771"/>
          </a:xfrm>
          <a:prstGeom prst="rect">
            <a:avLst/>
          </a:prstGeom>
          <a:noFill/>
          <a:ln>
            <a:noFill/>
          </a:ln>
        </p:spPr>
      </p:pic>
    </p:spTree>
    <p:extLst>
      <p:ext uri="{BB962C8B-B14F-4D97-AF65-F5344CB8AC3E}">
        <p14:creationId xmlns:p14="http://schemas.microsoft.com/office/powerpoint/2010/main" val="3190040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3030</TotalTime>
  <Words>1477</Words>
  <Application>Microsoft Macintosh PowerPoint</Application>
  <PresentationFormat>On-screen Show (4:3)</PresentationFormat>
  <Paragraphs>260</Paragraphs>
  <Slides>59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59</vt:i4>
      </vt:variant>
    </vt:vector>
  </HeadingPairs>
  <TitlesOfParts>
    <vt:vector size="67" baseType="lpstr">
      <vt:lpstr>Arial</vt:lpstr>
      <vt:lpstr>Baskerville</vt:lpstr>
      <vt:lpstr>Calibri</vt:lpstr>
      <vt:lpstr>Lucida Sans</vt:lpstr>
      <vt:lpstr>Times</vt:lpstr>
      <vt:lpstr>Times New Roman</vt:lpstr>
      <vt:lpstr>Wingdings</vt:lpstr>
      <vt:lpstr>Office Theme</vt:lpstr>
      <vt:lpstr>Lecture 3</vt:lpstr>
      <vt:lpstr>Family Planning </vt:lpstr>
      <vt:lpstr>Family Planning Services</vt:lpstr>
      <vt:lpstr>Contraception </vt:lpstr>
      <vt:lpstr>Types of Birth Control</vt:lpstr>
      <vt:lpstr>PowerPoint Presentation</vt:lpstr>
      <vt:lpstr>Hormonal Methods</vt:lpstr>
      <vt:lpstr>Birth Control Pills</vt:lpstr>
      <vt:lpstr>How does the pill work?</vt:lpstr>
      <vt:lpstr>Benefits of Birth Control Pills</vt:lpstr>
      <vt:lpstr>Side-Effects </vt:lpstr>
      <vt:lpstr>Taking the Pill</vt:lpstr>
      <vt:lpstr>Depo-Provera</vt:lpstr>
      <vt:lpstr>How does the shot work?</vt:lpstr>
      <vt:lpstr>SIDE EFFECTS</vt:lpstr>
      <vt:lpstr>The Patch</vt:lpstr>
      <vt:lpstr>… The Patch</vt:lpstr>
      <vt:lpstr>IMPLANTS</vt:lpstr>
      <vt:lpstr>Norplant I  vs.  Norplant II</vt:lpstr>
      <vt:lpstr>Norplant Implant</vt:lpstr>
      <vt:lpstr>Norplant Considerations</vt:lpstr>
      <vt:lpstr>Emergency contraception pills can reduce the chance of a pregnancy by 75% if taken within 72 hours of unprotected sex! </vt:lpstr>
      <vt:lpstr>… Emergency Contraception </vt:lpstr>
      <vt:lpstr>… Emergency Contraception</vt:lpstr>
      <vt:lpstr>BARRIER METHODS</vt:lpstr>
      <vt:lpstr>… BARRIER METHODS</vt:lpstr>
      <vt:lpstr>SPERMICIDES</vt:lpstr>
      <vt:lpstr>MALE CONDOM</vt:lpstr>
      <vt:lpstr>… MALE CONDOM</vt:lpstr>
      <vt:lpstr>FEMALE CONDOM</vt:lpstr>
      <vt:lpstr>Reality  : The Female Condom</vt:lpstr>
      <vt:lpstr>Vaginal Ring (NuvaRing)</vt:lpstr>
      <vt:lpstr>DIAPHRAGM</vt:lpstr>
      <vt:lpstr>... DIAPHRAGM </vt:lpstr>
      <vt:lpstr>CERVICAL CAP</vt:lpstr>
      <vt:lpstr>… Cervical Cap</vt:lpstr>
      <vt:lpstr>Sponge</vt:lpstr>
      <vt:lpstr>INTRAUTERINE DEVICES (IUD)</vt:lpstr>
      <vt:lpstr>Copper T vs.. Progestasert</vt:lpstr>
      <vt:lpstr>STERILIZATION</vt:lpstr>
      <vt:lpstr>TUBAL LIGATION</vt:lpstr>
      <vt:lpstr>LAPAROSCOPY-’BAND-AID’ STERILIZATION</vt:lpstr>
      <vt:lpstr>VASECTOMY</vt:lpstr>
      <vt:lpstr>… VASECTOMY</vt:lpstr>
      <vt:lpstr>… VASECTOMY</vt:lpstr>
      <vt:lpstr>METHODS BASED ON  INFORMATION</vt:lpstr>
      <vt:lpstr>WITHDRAWAL</vt:lpstr>
      <vt:lpstr>Natural Family Planning</vt:lpstr>
      <vt:lpstr>Fertility Awareness Method</vt:lpstr>
      <vt:lpstr>PowerPoint Presentation</vt:lpstr>
      <vt:lpstr>Contraception Prevalence Rate</vt:lpstr>
      <vt:lpstr>Married Women  15-49 – World [2017]</vt:lpstr>
      <vt:lpstr>Married Women  15-49 – Africa [2017]</vt:lpstr>
      <vt:lpstr>Reasons for non-use of Contraception</vt:lpstr>
      <vt:lpstr>Fertility Related </vt:lpstr>
      <vt:lpstr>Opposition to Use </vt:lpstr>
      <vt:lpstr>Lack of Knowledge</vt:lpstr>
      <vt:lpstr>Method Related Reasons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Akwasi</dc:creator>
  <cp:lastModifiedBy>Akwasi Kumi-Kyereme</cp:lastModifiedBy>
  <cp:revision>70</cp:revision>
  <cp:lastPrinted>2015-02-10T13:17:47Z</cp:lastPrinted>
  <dcterms:created xsi:type="dcterms:W3CDTF">2012-09-03T14:42:04Z</dcterms:created>
  <dcterms:modified xsi:type="dcterms:W3CDTF">2021-02-01T20:34:02Z</dcterms:modified>
</cp:coreProperties>
</file>
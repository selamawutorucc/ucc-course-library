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8" r:id="rId1"/>
  </p:sldMasterIdLst>
  <p:sldIdLst>
    <p:sldId id="256" r:id="rId2"/>
    <p:sldId id="257" r:id="rId3"/>
    <p:sldId id="265" r:id="rId4"/>
    <p:sldId id="258" r:id="rId5"/>
    <p:sldId id="266" r:id="rId6"/>
    <p:sldId id="267" r:id="rId7"/>
    <p:sldId id="259" r:id="rId8"/>
    <p:sldId id="260" r:id="rId9"/>
    <p:sldId id="270" r:id="rId10"/>
    <p:sldId id="271" r:id="rId11"/>
    <p:sldId id="272" r:id="rId12"/>
    <p:sldId id="273" r:id="rId13"/>
    <p:sldId id="274" r:id="rId14"/>
    <p:sldId id="261" r:id="rId15"/>
    <p:sldId id="262" r:id="rId16"/>
    <p:sldId id="268" r:id="rId17"/>
    <p:sldId id="263" r:id="rId18"/>
    <p:sldId id="269" r:id="rId19"/>
    <p:sldId id="26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12A8AB-63CC-4EBE-91F6-8163C060D600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30FE9FE5-10A8-4971-9D3D-D75B1C243E65}">
      <dgm:prSet phldrT="[Text]"/>
      <dgm:spPr/>
      <dgm:t>
        <a:bodyPr/>
        <a:lstStyle/>
        <a:p>
          <a:r>
            <a:rPr lang="en-US" dirty="0"/>
            <a:t>Input</a:t>
          </a:r>
          <a:endParaRPr lang="en-ZA" dirty="0"/>
        </a:p>
      </dgm:t>
    </dgm:pt>
    <dgm:pt modelId="{8A3AA988-E34F-4282-A6F3-C4535E28B561}" type="parTrans" cxnId="{B3A6807C-D879-4314-820E-671D4829A27F}">
      <dgm:prSet/>
      <dgm:spPr/>
      <dgm:t>
        <a:bodyPr/>
        <a:lstStyle/>
        <a:p>
          <a:endParaRPr lang="en-ZA"/>
        </a:p>
      </dgm:t>
    </dgm:pt>
    <dgm:pt modelId="{17D8C676-E2F0-4AB4-8901-111C9DF9934B}" type="sibTrans" cxnId="{B3A6807C-D879-4314-820E-671D4829A27F}">
      <dgm:prSet/>
      <dgm:spPr/>
      <dgm:t>
        <a:bodyPr/>
        <a:lstStyle/>
        <a:p>
          <a:endParaRPr lang="en-ZA"/>
        </a:p>
      </dgm:t>
    </dgm:pt>
    <dgm:pt modelId="{2EA13129-8F03-492C-B918-BA335B027A09}">
      <dgm:prSet phldrT="[Text]"/>
      <dgm:spPr/>
      <dgm:t>
        <a:bodyPr/>
        <a:lstStyle/>
        <a:p>
          <a:r>
            <a:rPr lang="en-US" dirty="0"/>
            <a:t>Process</a:t>
          </a:r>
          <a:endParaRPr lang="en-ZA" dirty="0"/>
        </a:p>
      </dgm:t>
    </dgm:pt>
    <dgm:pt modelId="{E9376B6C-F233-4BD4-ABAD-51381991A485}" type="parTrans" cxnId="{71231296-347B-4C06-BDE9-C6397D40E698}">
      <dgm:prSet/>
      <dgm:spPr/>
      <dgm:t>
        <a:bodyPr/>
        <a:lstStyle/>
        <a:p>
          <a:endParaRPr lang="en-ZA"/>
        </a:p>
      </dgm:t>
    </dgm:pt>
    <dgm:pt modelId="{CDFF5683-9A6C-4137-98DD-E4C1E455ADAF}" type="sibTrans" cxnId="{71231296-347B-4C06-BDE9-C6397D40E698}">
      <dgm:prSet/>
      <dgm:spPr/>
      <dgm:t>
        <a:bodyPr/>
        <a:lstStyle/>
        <a:p>
          <a:endParaRPr lang="en-ZA"/>
        </a:p>
      </dgm:t>
    </dgm:pt>
    <dgm:pt modelId="{949F9A7A-27A8-46D7-B976-C4A73AB68FCA}">
      <dgm:prSet phldrT="[Text]"/>
      <dgm:spPr/>
      <dgm:t>
        <a:bodyPr/>
        <a:lstStyle/>
        <a:p>
          <a:r>
            <a:rPr lang="en-US" dirty="0"/>
            <a:t>Output</a:t>
          </a:r>
          <a:endParaRPr lang="en-ZA" dirty="0"/>
        </a:p>
      </dgm:t>
    </dgm:pt>
    <dgm:pt modelId="{CDFDD7FA-0669-4EB8-B29F-61B879CD7F91}" type="parTrans" cxnId="{1AA81E4C-124D-45BF-BCEF-0BA0816A8F90}">
      <dgm:prSet/>
      <dgm:spPr/>
      <dgm:t>
        <a:bodyPr/>
        <a:lstStyle/>
        <a:p>
          <a:endParaRPr lang="en-ZA"/>
        </a:p>
      </dgm:t>
    </dgm:pt>
    <dgm:pt modelId="{27E2A2F3-A9B5-4D0C-8927-66E38A42599C}" type="sibTrans" cxnId="{1AA81E4C-124D-45BF-BCEF-0BA0816A8F90}">
      <dgm:prSet/>
      <dgm:spPr/>
      <dgm:t>
        <a:bodyPr/>
        <a:lstStyle/>
        <a:p>
          <a:endParaRPr lang="en-ZA"/>
        </a:p>
      </dgm:t>
    </dgm:pt>
    <dgm:pt modelId="{865FD5EF-DCDB-423B-B332-D995D9D56AD2}" type="pres">
      <dgm:prSet presAssocID="{EC12A8AB-63CC-4EBE-91F6-8163C060D600}" presName="Name0" presStyleCnt="0">
        <dgm:presLayoutVars>
          <dgm:dir/>
          <dgm:resizeHandles val="exact"/>
        </dgm:presLayoutVars>
      </dgm:prSet>
      <dgm:spPr/>
    </dgm:pt>
    <dgm:pt modelId="{19931769-F015-4380-8BC7-6BFF2FFF7D94}" type="pres">
      <dgm:prSet presAssocID="{30FE9FE5-10A8-4971-9D3D-D75B1C243E65}" presName="node" presStyleLbl="node1" presStyleIdx="0" presStyleCnt="3">
        <dgm:presLayoutVars>
          <dgm:bulletEnabled val="1"/>
        </dgm:presLayoutVars>
      </dgm:prSet>
      <dgm:spPr/>
    </dgm:pt>
    <dgm:pt modelId="{52A7EC25-DFB6-48E6-B1DA-590561DA12B5}" type="pres">
      <dgm:prSet presAssocID="{17D8C676-E2F0-4AB4-8901-111C9DF9934B}" presName="sibTrans" presStyleLbl="sibTrans2D1" presStyleIdx="0" presStyleCnt="2"/>
      <dgm:spPr/>
    </dgm:pt>
    <dgm:pt modelId="{8CDCA7CB-8954-4737-B9EB-A4FD6EE36D6D}" type="pres">
      <dgm:prSet presAssocID="{17D8C676-E2F0-4AB4-8901-111C9DF9934B}" presName="connectorText" presStyleLbl="sibTrans2D1" presStyleIdx="0" presStyleCnt="2"/>
      <dgm:spPr/>
    </dgm:pt>
    <dgm:pt modelId="{3F248A4D-579C-4CB0-B1DC-0AF38C93C7EE}" type="pres">
      <dgm:prSet presAssocID="{2EA13129-8F03-492C-B918-BA335B027A09}" presName="node" presStyleLbl="node1" presStyleIdx="1" presStyleCnt="3">
        <dgm:presLayoutVars>
          <dgm:bulletEnabled val="1"/>
        </dgm:presLayoutVars>
      </dgm:prSet>
      <dgm:spPr/>
    </dgm:pt>
    <dgm:pt modelId="{87121985-4D3E-4C1B-A81C-373D679879E9}" type="pres">
      <dgm:prSet presAssocID="{CDFF5683-9A6C-4137-98DD-E4C1E455ADAF}" presName="sibTrans" presStyleLbl="sibTrans2D1" presStyleIdx="1" presStyleCnt="2"/>
      <dgm:spPr/>
    </dgm:pt>
    <dgm:pt modelId="{01E281D0-A99E-4E60-9249-A0B90E9E4985}" type="pres">
      <dgm:prSet presAssocID="{CDFF5683-9A6C-4137-98DD-E4C1E455ADAF}" presName="connectorText" presStyleLbl="sibTrans2D1" presStyleIdx="1" presStyleCnt="2"/>
      <dgm:spPr/>
    </dgm:pt>
    <dgm:pt modelId="{ECA09D94-2B24-48FE-8FD5-188971E64D4A}" type="pres">
      <dgm:prSet presAssocID="{949F9A7A-27A8-46D7-B976-C4A73AB68FCA}" presName="node" presStyleLbl="node1" presStyleIdx="2" presStyleCnt="3">
        <dgm:presLayoutVars>
          <dgm:bulletEnabled val="1"/>
        </dgm:presLayoutVars>
      </dgm:prSet>
      <dgm:spPr/>
    </dgm:pt>
  </dgm:ptLst>
  <dgm:cxnLst>
    <dgm:cxn modelId="{11EE8529-CA33-4594-B458-2A9214DF6778}" type="presOf" srcId="{EC12A8AB-63CC-4EBE-91F6-8163C060D600}" destId="{865FD5EF-DCDB-423B-B332-D995D9D56AD2}" srcOrd="0" destOrd="0" presId="urn:microsoft.com/office/officeart/2005/8/layout/process1"/>
    <dgm:cxn modelId="{FED19F63-7314-4605-8302-CF3773148F22}" type="presOf" srcId="{CDFF5683-9A6C-4137-98DD-E4C1E455ADAF}" destId="{01E281D0-A99E-4E60-9249-A0B90E9E4985}" srcOrd="1" destOrd="0" presId="urn:microsoft.com/office/officeart/2005/8/layout/process1"/>
    <dgm:cxn modelId="{55E7F067-9944-4424-9751-BBF1C037FB35}" type="presOf" srcId="{CDFF5683-9A6C-4137-98DD-E4C1E455ADAF}" destId="{87121985-4D3E-4C1B-A81C-373D679879E9}" srcOrd="0" destOrd="0" presId="urn:microsoft.com/office/officeart/2005/8/layout/process1"/>
    <dgm:cxn modelId="{1AA81E4C-124D-45BF-BCEF-0BA0816A8F90}" srcId="{EC12A8AB-63CC-4EBE-91F6-8163C060D600}" destId="{949F9A7A-27A8-46D7-B976-C4A73AB68FCA}" srcOrd="2" destOrd="0" parTransId="{CDFDD7FA-0669-4EB8-B29F-61B879CD7F91}" sibTransId="{27E2A2F3-A9B5-4D0C-8927-66E38A42599C}"/>
    <dgm:cxn modelId="{B3A6807C-D879-4314-820E-671D4829A27F}" srcId="{EC12A8AB-63CC-4EBE-91F6-8163C060D600}" destId="{30FE9FE5-10A8-4971-9D3D-D75B1C243E65}" srcOrd="0" destOrd="0" parTransId="{8A3AA988-E34F-4282-A6F3-C4535E28B561}" sibTransId="{17D8C676-E2F0-4AB4-8901-111C9DF9934B}"/>
    <dgm:cxn modelId="{71231296-347B-4C06-BDE9-C6397D40E698}" srcId="{EC12A8AB-63CC-4EBE-91F6-8163C060D600}" destId="{2EA13129-8F03-492C-B918-BA335B027A09}" srcOrd="1" destOrd="0" parTransId="{E9376B6C-F233-4BD4-ABAD-51381991A485}" sibTransId="{CDFF5683-9A6C-4137-98DD-E4C1E455ADAF}"/>
    <dgm:cxn modelId="{05FCC3A5-1FAD-4CFF-83CB-2DC324AA54E8}" type="presOf" srcId="{30FE9FE5-10A8-4971-9D3D-D75B1C243E65}" destId="{19931769-F015-4380-8BC7-6BFF2FFF7D94}" srcOrd="0" destOrd="0" presId="urn:microsoft.com/office/officeart/2005/8/layout/process1"/>
    <dgm:cxn modelId="{2FC045A9-E58E-4E63-945F-816BD4C58AFB}" type="presOf" srcId="{17D8C676-E2F0-4AB4-8901-111C9DF9934B}" destId="{8CDCA7CB-8954-4737-B9EB-A4FD6EE36D6D}" srcOrd="1" destOrd="0" presId="urn:microsoft.com/office/officeart/2005/8/layout/process1"/>
    <dgm:cxn modelId="{4B554AB7-BF7E-43E8-9AD5-A7B78C7CB641}" type="presOf" srcId="{17D8C676-E2F0-4AB4-8901-111C9DF9934B}" destId="{52A7EC25-DFB6-48E6-B1DA-590561DA12B5}" srcOrd="0" destOrd="0" presId="urn:microsoft.com/office/officeart/2005/8/layout/process1"/>
    <dgm:cxn modelId="{4EB551CB-6574-40CC-82E3-EE469F213D0E}" type="presOf" srcId="{949F9A7A-27A8-46D7-B976-C4A73AB68FCA}" destId="{ECA09D94-2B24-48FE-8FD5-188971E64D4A}" srcOrd="0" destOrd="0" presId="urn:microsoft.com/office/officeart/2005/8/layout/process1"/>
    <dgm:cxn modelId="{B1336ED0-45FD-433D-83A2-EEB02B47BD68}" type="presOf" srcId="{2EA13129-8F03-492C-B918-BA335B027A09}" destId="{3F248A4D-579C-4CB0-B1DC-0AF38C93C7EE}" srcOrd="0" destOrd="0" presId="urn:microsoft.com/office/officeart/2005/8/layout/process1"/>
    <dgm:cxn modelId="{CE45910F-5923-443A-9617-5FD95B366DAC}" type="presParOf" srcId="{865FD5EF-DCDB-423B-B332-D995D9D56AD2}" destId="{19931769-F015-4380-8BC7-6BFF2FFF7D94}" srcOrd="0" destOrd="0" presId="urn:microsoft.com/office/officeart/2005/8/layout/process1"/>
    <dgm:cxn modelId="{19CC443E-0878-4632-8589-8B76682E6931}" type="presParOf" srcId="{865FD5EF-DCDB-423B-B332-D995D9D56AD2}" destId="{52A7EC25-DFB6-48E6-B1DA-590561DA12B5}" srcOrd="1" destOrd="0" presId="urn:microsoft.com/office/officeart/2005/8/layout/process1"/>
    <dgm:cxn modelId="{5450F360-F99C-499D-87C1-139A1EE6C02A}" type="presParOf" srcId="{52A7EC25-DFB6-48E6-B1DA-590561DA12B5}" destId="{8CDCA7CB-8954-4737-B9EB-A4FD6EE36D6D}" srcOrd="0" destOrd="0" presId="urn:microsoft.com/office/officeart/2005/8/layout/process1"/>
    <dgm:cxn modelId="{2C510D1E-380F-4586-A297-0E8789F026A8}" type="presParOf" srcId="{865FD5EF-DCDB-423B-B332-D995D9D56AD2}" destId="{3F248A4D-579C-4CB0-B1DC-0AF38C93C7EE}" srcOrd="2" destOrd="0" presId="urn:microsoft.com/office/officeart/2005/8/layout/process1"/>
    <dgm:cxn modelId="{160F5F52-90FD-4EF0-834E-882DBB7D9717}" type="presParOf" srcId="{865FD5EF-DCDB-423B-B332-D995D9D56AD2}" destId="{87121985-4D3E-4C1B-A81C-373D679879E9}" srcOrd="3" destOrd="0" presId="urn:microsoft.com/office/officeart/2005/8/layout/process1"/>
    <dgm:cxn modelId="{24F7F7FE-7A84-41AC-8382-723E31B2BD77}" type="presParOf" srcId="{87121985-4D3E-4C1B-A81C-373D679879E9}" destId="{01E281D0-A99E-4E60-9249-A0B90E9E4985}" srcOrd="0" destOrd="0" presId="urn:microsoft.com/office/officeart/2005/8/layout/process1"/>
    <dgm:cxn modelId="{3456F4A2-00DC-4484-9042-48B1B5252961}" type="presParOf" srcId="{865FD5EF-DCDB-423B-B332-D995D9D56AD2}" destId="{ECA09D94-2B24-48FE-8FD5-188971E64D4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931769-F015-4380-8BC7-6BFF2FFF7D94}">
      <dsp:nvSpPr>
        <dsp:cNvPr id="0" name=""/>
        <dsp:cNvSpPr/>
      </dsp:nvSpPr>
      <dsp:spPr>
        <a:xfrm>
          <a:off x="4011" y="538884"/>
          <a:ext cx="1198970" cy="71938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Input</a:t>
          </a:r>
          <a:endParaRPr lang="en-ZA" sz="2400" kern="1200" dirty="0"/>
        </a:p>
      </dsp:txBody>
      <dsp:txXfrm>
        <a:off x="25081" y="559954"/>
        <a:ext cx="1156830" cy="677242"/>
      </dsp:txXfrm>
    </dsp:sp>
    <dsp:sp modelId="{52A7EC25-DFB6-48E6-B1DA-590561DA12B5}">
      <dsp:nvSpPr>
        <dsp:cNvPr id="0" name=""/>
        <dsp:cNvSpPr/>
      </dsp:nvSpPr>
      <dsp:spPr>
        <a:xfrm>
          <a:off x="1322878" y="749903"/>
          <a:ext cx="254181" cy="2973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200" kern="1200"/>
        </a:p>
      </dsp:txBody>
      <dsp:txXfrm>
        <a:off x="1322878" y="809372"/>
        <a:ext cx="177927" cy="178406"/>
      </dsp:txXfrm>
    </dsp:sp>
    <dsp:sp modelId="{3F248A4D-579C-4CB0-B1DC-0AF38C93C7EE}">
      <dsp:nvSpPr>
        <dsp:cNvPr id="0" name=""/>
        <dsp:cNvSpPr/>
      </dsp:nvSpPr>
      <dsp:spPr>
        <a:xfrm>
          <a:off x="1682569" y="538884"/>
          <a:ext cx="1198970" cy="719382"/>
        </a:xfrm>
        <a:prstGeom prst="roundRect">
          <a:avLst>
            <a:gd name="adj" fmla="val 10000"/>
          </a:avLst>
        </a:prstGeom>
        <a:solidFill>
          <a:schemeClr val="accent5">
            <a:hueOff val="5589159"/>
            <a:satOff val="-4817"/>
            <a:lumOff val="6373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Process</a:t>
          </a:r>
          <a:endParaRPr lang="en-ZA" sz="2400" kern="1200" dirty="0"/>
        </a:p>
      </dsp:txBody>
      <dsp:txXfrm>
        <a:off x="1703639" y="559954"/>
        <a:ext cx="1156830" cy="677242"/>
      </dsp:txXfrm>
    </dsp:sp>
    <dsp:sp modelId="{87121985-4D3E-4C1B-A81C-373D679879E9}">
      <dsp:nvSpPr>
        <dsp:cNvPr id="0" name=""/>
        <dsp:cNvSpPr/>
      </dsp:nvSpPr>
      <dsp:spPr>
        <a:xfrm>
          <a:off x="3001436" y="749903"/>
          <a:ext cx="254181" cy="2973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11178319"/>
            <a:satOff val="-9634"/>
            <a:lumOff val="127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200" kern="1200"/>
        </a:p>
      </dsp:txBody>
      <dsp:txXfrm>
        <a:off x="3001436" y="809372"/>
        <a:ext cx="177927" cy="178406"/>
      </dsp:txXfrm>
    </dsp:sp>
    <dsp:sp modelId="{ECA09D94-2B24-48FE-8FD5-188971E64D4A}">
      <dsp:nvSpPr>
        <dsp:cNvPr id="0" name=""/>
        <dsp:cNvSpPr/>
      </dsp:nvSpPr>
      <dsp:spPr>
        <a:xfrm>
          <a:off x="3361127" y="538884"/>
          <a:ext cx="1198970" cy="719382"/>
        </a:xfrm>
        <a:prstGeom prst="roundRect">
          <a:avLst>
            <a:gd name="adj" fmla="val 10000"/>
          </a:avLst>
        </a:prstGeom>
        <a:solidFill>
          <a:schemeClr val="accent5">
            <a:hueOff val="11178319"/>
            <a:satOff val="-9634"/>
            <a:lumOff val="12746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Output</a:t>
          </a:r>
          <a:endParaRPr lang="en-ZA" sz="2400" kern="1200" dirty="0"/>
        </a:p>
      </dsp:txBody>
      <dsp:txXfrm>
        <a:off x="3382197" y="559954"/>
        <a:ext cx="1156830" cy="6772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8000" y="761998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0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8105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1759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5390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2021/02/24</a:t>
            </a:fld>
            <a:endParaRPr lang="en-Z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8114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2021/02/24</a:t>
            </a:fld>
            <a:endParaRPr lang="en-ZA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561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2021/02/24</a:t>
            </a:fld>
            <a:endParaRPr lang="en-ZA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094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2021/02/24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251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2021/02/24</a:t>
            </a:fld>
            <a:endParaRPr lang="en-Z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9780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2021/02/24</a:t>
            </a:fld>
            <a:endParaRPr lang="en-Z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0135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2021/02/24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127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2021/02/24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917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EE54C2E-3709-4BF8-B017-9CB0A7DA5E96}" type="datetimeFigureOut">
              <a:rPr lang="en-ZA" smtClean="0"/>
              <a:t>2021/02/24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993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echtle.com/" TargetMode="External"/><Relationship Id="rId2" Type="http://schemas.openxmlformats.org/officeDocument/2006/relationships/hyperlink" Target="http://www.davescomputertip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learningcomputerscienceonlin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55352-A31E-4A9E-A7F5-5AA3CCE57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334" y="3048887"/>
            <a:ext cx="7315200" cy="1311587"/>
          </a:xfrm>
        </p:spPr>
        <p:txBody>
          <a:bodyPr>
            <a:normAutofit/>
          </a:bodyPr>
          <a:lstStyle/>
          <a:p>
            <a:r>
              <a:rPr lang="en-US" sz="8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</a:t>
            </a:r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ware I</a:t>
            </a:r>
            <a:endParaRPr lang="en-ZA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0D1D1-5BB8-4FCA-B02C-A1C9B5EC83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2578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B0D45-FA38-4E37-8C92-3EEAC0BAF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F3612-ED26-498A-B809-9F5FA3D80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Representation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Processor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Bus Channel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Power Supply</a:t>
            </a:r>
          </a:p>
          <a:p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763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0BD39-0D05-42B6-B67E-B5FEEB6A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038A2-1F23-46B4-B01B-0E00D1339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</a:t>
            </a:r>
          </a:p>
          <a:p>
            <a:pPr lvl="1"/>
            <a:r>
              <a:rPr lang="en-US" dirty="0"/>
              <a:t>Hardware</a:t>
            </a:r>
          </a:p>
          <a:p>
            <a:pPr lvl="2"/>
            <a:r>
              <a:rPr lang="en-US" dirty="0"/>
              <a:t>Tangible</a:t>
            </a:r>
          </a:p>
          <a:p>
            <a:pPr lvl="1"/>
            <a:r>
              <a:rPr lang="en-US" dirty="0"/>
              <a:t>Software	</a:t>
            </a:r>
          </a:p>
          <a:p>
            <a:pPr lvl="2"/>
            <a:r>
              <a:rPr lang="en-US" dirty="0"/>
              <a:t>Intangible</a:t>
            </a:r>
          </a:p>
          <a:p>
            <a:r>
              <a:rPr lang="en-US" dirty="0"/>
              <a:t>Computer System</a:t>
            </a:r>
          </a:p>
          <a:p>
            <a:pPr lvl="1"/>
            <a:r>
              <a:rPr lang="en-US" dirty="0"/>
              <a:t>Hardware</a:t>
            </a:r>
          </a:p>
          <a:p>
            <a:pPr lvl="1"/>
            <a:r>
              <a:rPr lang="en-US" dirty="0"/>
              <a:t>Software</a:t>
            </a:r>
          </a:p>
          <a:p>
            <a:pPr lvl="1"/>
            <a:r>
              <a:rPr lang="en-US" dirty="0"/>
              <a:t>Liveware</a:t>
            </a:r>
          </a:p>
          <a:p>
            <a:pPr lvl="2"/>
            <a:r>
              <a:rPr lang="en-US"/>
              <a:t>Users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30746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5C082-B2D9-48A5-9913-B5F3F4A68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Data</a:t>
            </a:r>
            <a:r>
              <a:rPr lang="en-US" dirty="0"/>
              <a:t> </a:t>
            </a:r>
            <a:r>
              <a:rPr lang="en-US" sz="3200" dirty="0"/>
              <a:t>Representation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EA50E-B8ED-4C94-AA52-78600D791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order to understand how computers process data, it is essential to understand how they represent data.</a:t>
            </a:r>
          </a:p>
          <a:p>
            <a:r>
              <a:rPr lang="en-US" dirty="0"/>
              <a:t>Data can be represented in analog or digital form</a:t>
            </a:r>
          </a:p>
          <a:p>
            <a:pPr lvl="1"/>
            <a:r>
              <a:rPr lang="en-US" dirty="0"/>
              <a:t>Analog is continuous</a:t>
            </a:r>
          </a:p>
          <a:p>
            <a:pPr lvl="2"/>
            <a:r>
              <a:rPr lang="en-US" dirty="0"/>
              <a:t>E.g. 1.0, 1.01, 1.02,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Digital is discrete</a:t>
            </a:r>
          </a:p>
          <a:p>
            <a:pPr lvl="2"/>
            <a:r>
              <a:rPr lang="en-US" dirty="0"/>
              <a:t>E.g. 1, 2, 3, </a:t>
            </a:r>
          </a:p>
          <a:p>
            <a:r>
              <a:rPr lang="en-US" dirty="0">
                <a:solidFill>
                  <a:srgbClr val="0070C0"/>
                </a:solidFill>
              </a:rPr>
              <a:t>B</a:t>
            </a:r>
            <a:r>
              <a:rPr lang="en-US" dirty="0"/>
              <a:t>inary Dig</a:t>
            </a:r>
            <a:r>
              <a:rPr lang="en-US" dirty="0">
                <a:solidFill>
                  <a:srgbClr val="0070C0"/>
                </a:solidFill>
              </a:rPr>
              <a:t>it</a:t>
            </a:r>
            <a:r>
              <a:rPr lang="en-US" dirty="0"/>
              <a:t>s (bit)</a:t>
            </a:r>
          </a:p>
          <a:p>
            <a:pPr lvl="1"/>
            <a:r>
              <a:rPr lang="en-US" dirty="0"/>
              <a:t>2 states</a:t>
            </a:r>
          </a:p>
          <a:p>
            <a:pPr lvl="1"/>
            <a:r>
              <a:rPr lang="en-US" dirty="0"/>
              <a:t>On / True / Electric Charge Present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Off / False / Electric Charge Absent</a:t>
            </a:r>
          </a:p>
          <a:p>
            <a:endParaRPr lang="en-ZA" dirty="0"/>
          </a:p>
        </p:txBody>
      </p:sp>
      <p:pic>
        <p:nvPicPr>
          <p:cNvPr id="4" name="Picture 2" descr="Glowing yellow light bulb Royalty Free Vector Image">
            <a:extLst>
              <a:ext uri="{FF2B5EF4-FFF2-40B4-BE49-F238E27FC236}">
                <a16:creationId xmlns:a16="http://schemas.microsoft.com/office/drawing/2014/main" id="{A5680F27-9EE8-407F-8D6A-F82C16E60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961" y="3855386"/>
            <a:ext cx="383118" cy="49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Object bulb off Royalty Free Vector Image - VectorStock">
            <a:extLst>
              <a:ext uri="{FF2B5EF4-FFF2-40B4-BE49-F238E27FC236}">
                <a16:creationId xmlns:a16="http://schemas.microsoft.com/office/drawing/2014/main" id="{549C6F40-A873-43BD-8AB5-E220687E2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961" y="4810125"/>
            <a:ext cx="497308" cy="53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75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D4571-F6D5-4C36-8B8C-1C2E9771D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</a:t>
            </a:r>
            <a:br>
              <a:rPr lang="en-US" dirty="0"/>
            </a:br>
            <a:r>
              <a:rPr lang="en-US" dirty="0"/>
              <a:t>Digit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810BC-AFD4-49D4-9C1C-7849F5D41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Computers represents data in digital form</a:t>
            </a:r>
          </a:p>
          <a:p>
            <a:pPr lvl="1"/>
            <a:r>
              <a:rPr lang="en-US" dirty="0"/>
              <a:t>Text</a:t>
            </a:r>
          </a:p>
          <a:p>
            <a:pPr lvl="1"/>
            <a:r>
              <a:rPr lang="en-US" dirty="0"/>
              <a:t>Numeric</a:t>
            </a:r>
          </a:p>
          <a:p>
            <a:pPr lvl="1"/>
            <a:r>
              <a:rPr lang="en-US" dirty="0"/>
              <a:t>Image</a:t>
            </a:r>
          </a:p>
          <a:p>
            <a:pPr lvl="1"/>
            <a:r>
              <a:rPr lang="en-US" dirty="0"/>
              <a:t>Sound</a:t>
            </a:r>
          </a:p>
          <a:p>
            <a:pPr lvl="1"/>
            <a:r>
              <a:rPr lang="en-US" dirty="0"/>
              <a:t>Video</a:t>
            </a:r>
          </a:p>
          <a:p>
            <a:r>
              <a:rPr lang="en-US" dirty="0"/>
              <a:t>Bits form Byte</a:t>
            </a:r>
          </a:p>
          <a:p>
            <a:pPr lvl="1"/>
            <a:r>
              <a:rPr lang="en-US" dirty="0"/>
              <a:t>Simple bit represents two states</a:t>
            </a:r>
          </a:p>
          <a:p>
            <a:pPr lvl="1"/>
            <a:r>
              <a:rPr lang="en-US" dirty="0"/>
              <a:t>Byte, collection of bits</a:t>
            </a:r>
          </a:p>
          <a:p>
            <a:pPr lvl="1"/>
            <a:r>
              <a:rPr lang="en-US" dirty="0"/>
              <a:t># of bits contained in a byte are defined by the c0ding scheme</a:t>
            </a:r>
          </a:p>
          <a:p>
            <a:r>
              <a:rPr lang="en-US" dirty="0"/>
              <a:t>Coding Scheme</a:t>
            </a:r>
          </a:p>
          <a:p>
            <a:pPr lvl="1"/>
            <a:r>
              <a:rPr lang="en-US" dirty="0"/>
              <a:t>American Standard Code for Information Interchange (ASCII)</a:t>
            </a:r>
          </a:p>
          <a:p>
            <a:pPr lvl="2"/>
            <a:r>
              <a:rPr lang="en-US" dirty="0"/>
              <a:t>7-bit for data + 1-bit for parity check</a:t>
            </a:r>
          </a:p>
          <a:p>
            <a:pPr lvl="2"/>
            <a:r>
              <a:rPr lang="en-US" dirty="0"/>
              <a:t>2</a:t>
            </a:r>
            <a:r>
              <a:rPr lang="en-US" baseline="30000" dirty="0"/>
              <a:t>8</a:t>
            </a:r>
            <a:r>
              <a:rPr lang="en-US" dirty="0"/>
              <a:t> = 256</a:t>
            </a:r>
          </a:p>
          <a:p>
            <a:pPr lvl="2"/>
            <a:r>
              <a:rPr lang="en-US" dirty="0"/>
              <a:t>De facto standard</a:t>
            </a:r>
          </a:p>
          <a:p>
            <a:pPr lvl="1"/>
            <a:r>
              <a:rPr lang="en-US" dirty="0"/>
              <a:t>Universal Code (UNICODE)</a:t>
            </a:r>
          </a:p>
          <a:p>
            <a:pPr lvl="2"/>
            <a:r>
              <a:rPr lang="en-US" dirty="0"/>
              <a:t>UTF-8, UTF-16, UTF-32</a:t>
            </a:r>
          </a:p>
          <a:p>
            <a:pPr lvl="2"/>
            <a:r>
              <a:rPr lang="en-US" dirty="0"/>
              <a:t>Widely used standard</a:t>
            </a:r>
          </a:p>
          <a:p>
            <a:pPr lvl="1"/>
            <a:r>
              <a:rPr lang="en-US" dirty="0"/>
              <a:t>Extended Binary Coded Decimal Interchange Code (EBCDIC)</a:t>
            </a:r>
          </a:p>
          <a:p>
            <a:pPr lvl="2"/>
            <a:r>
              <a:rPr lang="en-US" dirty="0"/>
              <a:t>8-bit</a:t>
            </a:r>
          </a:p>
          <a:p>
            <a:pPr lvl="2"/>
            <a:r>
              <a:rPr lang="en-US" dirty="0"/>
              <a:t>Mainly for mainframe computers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28167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B9D3-47FA-42B2-AE4A-8B9E6A484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the Word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A1EF3-EAF3-4D06-B5EE-68111C0EB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Byte collection</a:t>
            </a:r>
          </a:p>
          <a:p>
            <a:pPr lvl="1"/>
            <a:r>
              <a:rPr lang="en-US" dirty="0"/>
              <a:t>Word (2 bytes / 16 bits)</a:t>
            </a:r>
          </a:p>
          <a:p>
            <a:pPr lvl="1"/>
            <a:r>
              <a:rPr lang="en-US" dirty="0"/>
              <a:t>Double Word (4 bytes / 32 bits)</a:t>
            </a:r>
          </a:p>
          <a:p>
            <a:pPr lvl="1"/>
            <a:r>
              <a:rPr lang="en-US" dirty="0"/>
              <a:t>Quad Word (8 bytes / 64 bits)</a:t>
            </a:r>
          </a:p>
          <a:p>
            <a:pPr lvl="1"/>
            <a:r>
              <a:rPr lang="en-US" dirty="0"/>
              <a:t>Half Word (1 byte / 8 bits)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85963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16631-5D5B-4669-A8F8-5FE8292E9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AFEF9-C470-48E3-A995-2C8497893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blocks of the computer</a:t>
            </a:r>
          </a:p>
          <a:p>
            <a:r>
              <a:rPr lang="en-US" dirty="0"/>
              <a:t>Components are physical and tangible</a:t>
            </a:r>
          </a:p>
          <a:p>
            <a:r>
              <a:rPr lang="en-US" dirty="0"/>
              <a:t>Hardware </a:t>
            </a:r>
            <a:r>
              <a:rPr lang="en-US" dirty="0">
                <a:solidFill>
                  <a:srgbClr val="0070C0"/>
                </a:solidFill>
              </a:rPr>
              <a:t>(IPO)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Input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Processing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Output</a:t>
            </a:r>
          </a:p>
          <a:p>
            <a:pPr lvl="1"/>
            <a:r>
              <a:rPr lang="en-US" dirty="0"/>
              <a:t>Storage</a:t>
            </a:r>
          </a:p>
          <a:p>
            <a:pPr lvl="1"/>
            <a:r>
              <a:rPr lang="en-US" dirty="0"/>
              <a:t>Communication</a:t>
            </a:r>
          </a:p>
          <a:p>
            <a:endParaRPr lang="en-ZA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2D1576B-B68E-48D2-810A-1B8B00299F6A}"/>
              </a:ext>
            </a:extLst>
          </p:cNvPr>
          <p:cNvGrpSpPr/>
          <p:nvPr/>
        </p:nvGrpSpPr>
        <p:grpSpPr>
          <a:xfrm>
            <a:off x="6674096" y="2833496"/>
            <a:ext cx="4585179" cy="2887014"/>
            <a:chOff x="4597646" y="3690746"/>
            <a:chExt cx="4585179" cy="2887014"/>
          </a:xfrm>
        </p:grpSpPr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C0537E38-487A-423D-8EFD-4C3A336EEDA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91626221"/>
                </p:ext>
              </p:extLst>
            </p:nvPr>
          </p:nvGraphicFramePr>
          <p:xfrm>
            <a:off x="4597646" y="4216897"/>
            <a:ext cx="4564109" cy="179715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AAAB298-71FA-4ADA-A673-C60EA66FEE79}"/>
                </a:ext>
              </a:extLst>
            </p:cNvPr>
            <p:cNvGrpSpPr/>
            <p:nvPr/>
          </p:nvGrpSpPr>
          <p:grpSpPr>
            <a:xfrm>
              <a:off x="7962785" y="3690746"/>
              <a:ext cx="1198970" cy="719382"/>
              <a:chOff x="3361127" y="538884"/>
              <a:chExt cx="1198970" cy="719382"/>
            </a:xfrm>
            <a:solidFill>
              <a:schemeClr val="accent3">
                <a:lumMod val="75000"/>
              </a:schemeClr>
            </a:solidFill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9C199E1C-CAA1-4F63-AE1F-C231A05754CB}"/>
                  </a:ext>
                </a:extLst>
              </p:cNvPr>
              <p:cNvSpPr/>
              <p:nvPr/>
            </p:nvSpPr>
            <p:spPr>
              <a:xfrm>
                <a:off x="3361127" y="538884"/>
                <a:ext cx="1198970" cy="719382"/>
              </a:xfrm>
              <a:prstGeom prst="roundRect">
                <a:avLst>
                  <a:gd name="adj" fmla="val 10000"/>
                </a:avLst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11178319"/>
                  <a:satOff val="-9634"/>
                  <a:lumOff val="12746"/>
                  <a:alphaOff val="0"/>
                </a:schemeClr>
              </a:fillRef>
              <a:effectRef idx="0">
                <a:schemeClr val="accent5">
                  <a:hueOff val="11178319"/>
                  <a:satOff val="-9634"/>
                  <a:lumOff val="12746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7" name="Rectangle: Rounded Corners 4">
                <a:extLst>
                  <a:ext uri="{FF2B5EF4-FFF2-40B4-BE49-F238E27FC236}">
                    <a16:creationId xmlns:a16="http://schemas.microsoft.com/office/drawing/2014/main" id="{4C102510-8185-4260-BB10-7CC0DE763CBB}"/>
                  </a:ext>
                </a:extLst>
              </p:cNvPr>
              <p:cNvSpPr txBox="1"/>
              <p:nvPr/>
            </p:nvSpPr>
            <p:spPr>
              <a:xfrm>
                <a:off x="3382197" y="559954"/>
                <a:ext cx="1156830" cy="677242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400" kern="1200" dirty="0"/>
                  <a:t>Store</a:t>
                </a:r>
                <a:endParaRPr lang="en-ZA" sz="2400" kern="1200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A113525-8A4D-4654-BBA5-1C5A7F12309A}"/>
                </a:ext>
              </a:extLst>
            </p:cNvPr>
            <p:cNvGrpSpPr/>
            <p:nvPr/>
          </p:nvGrpSpPr>
          <p:grpSpPr>
            <a:xfrm>
              <a:off x="7983855" y="5858378"/>
              <a:ext cx="1198970" cy="719382"/>
              <a:chOff x="3361127" y="538884"/>
              <a:chExt cx="1198970" cy="719382"/>
            </a:xfrm>
            <a:solidFill>
              <a:schemeClr val="accent3">
                <a:lumMod val="75000"/>
              </a:schemeClr>
            </a:solidFill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2FDE7BF4-21C9-47C6-AA96-4D3360F37219}"/>
                  </a:ext>
                </a:extLst>
              </p:cNvPr>
              <p:cNvSpPr/>
              <p:nvPr/>
            </p:nvSpPr>
            <p:spPr>
              <a:xfrm>
                <a:off x="3361127" y="538884"/>
                <a:ext cx="1198970" cy="719382"/>
              </a:xfrm>
              <a:prstGeom prst="roundRect">
                <a:avLst>
                  <a:gd name="adj" fmla="val 10000"/>
                </a:avLst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11178319"/>
                  <a:satOff val="-9634"/>
                  <a:lumOff val="12746"/>
                  <a:alphaOff val="0"/>
                </a:schemeClr>
              </a:fillRef>
              <a:effectRef idx="0">
                <a:schemeClr val="accent5">
                  <a:hueOff val="11178319"/>
                  <a:satOff val="-9634"/>
                  <a:lumOff val="12746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0" name="Rectangle: Rounded Corners 4">
                <a:extLst>
                  <a:ext uri="{FF2B5EF4-FFF2-40B4-BE49-F238E27FC236}">
                    <a16:creationId xmlns:a16="http://schemas.microsoft.com/office/drawing/2014/main" id="{7340CEC8-D1F6-4B3B-9499-00BA697BFAFA}"/>
                  </a:ext>
                </a:extLst>
              </p:cNvPr>
              <p:cNvSpPr txBox="1"/>
              <p:nvPr/>
            </p:nvSpPr>
            <p:spPr>
              <a:xfrm>
                <a:off x="3382197" y="559954"/>
                <a:ext cx="1156830" cy="677242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/>
                  <a:t>Communicate</a:t>
                </a:r>
                <a:endParaRPr lang="en-ZA" sz="1200" kern="1200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132EE9C-9300-4C2C-9CAB-22E77036468C}"/>
                </a:ext>
              </a:extLst>
            </p:cNvPr>
            <p:cNvGrpSpPr/>
            <p:nvPr/>
          </p:nvGrpSpPr>
          <p:grpSpPr>
            <a:xfrm rot="16200000">
              <a:off x="8435180" y="4421706"/>
              <a:ext cx="254181" cy="297344"/>
              <a:chOff x="3001436" y="749903"/>
              <a:chExt cx="254181" cy="297344"/>
            </a:xfrm>
          </p:grpSpPr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DEF5B24B-815F-4ED0-AA21-E2963B81DF2E}"/>
                  </a:ext>
                </a:extLst>
              </p:cNvPr>
              <p:cNvSpPr/>
              <p:nvPr/>
            </p:nvSpPr>
            <p:spPr>
              <a:xfrm>
                <a:off x="3001436" y="749903"/>
                <a:ext cx="254181" cy="297344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11178319"/>
                  <a:satOff val="-9634"/>
                  <a:lumOff val="12746"/>
                  <a:alphaOff val="0"/>
                </a:schemeClr>
              </a:fillRef>
              <a:effectRef idx="0">
                <a:schemeClr val="accent5">
                  <a:hueOff val="11178319"/>
                  <a:satOff val="-9634"/>
                  <a:lumOff val="12746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3" name="Arrow: Right 4">
                <a:extLst>
                  <a:ext uri="{FF2B5EF4-FFF2-40B4-BE49-F238E27FC236}">
                    <a16:creationId xmlns:a16="http://schemas.microsoft.com/office/drawing/2014/main" id="{ED0B9A84-79AB-484A-B0F0-A99D574D46CE}"/>
                  </a:ext>
                </a:extLst>
              </p:cNvPr>
              <p:cNvSpPr txBox="1"/>
              <p:nvPr/>
            </p:nvSpPr>
            <p:spPr>
              <a:xfrm>
                <a:off x="3001436" y="809372"/>
                <a:ext cx="177927" cy="17840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ZA" sz="1200" kern="120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942BF1-5BBE-4138-9C0B-D85D222D2B9B}"/>
                </a:ext>
              </a:extLst>
            </p:cNvPr>
            <p:cNvGrpSpPr/>
            <p:nvPr/>
          </p:nvGrpSpPr>
          <p:grpSpPr>
            <a:xfrm rot="5400000">
              <a:off x="8460658" y="5531697"/>
              <a:ext cx="254181" cy="297344"/>
              <a:chOff x="3001436" y="749903"/>
              <a:chExt cx="254181" cy="297344"/>
            </a:xfrm>
          </p:grpSpPr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610E9249-1A4C-44D8-B50E-D619B6998893}"/>
                  </a:ext>
                </a:extLst>
              </p:cNvPr>
              <p:cNvSpPr/>
              <p:nvPr/>
            </p:nvSpPr>
            <p:spPr>
              <a:xfrm>
                <a:off x="3001436" y="749903"/>
                <a:ext cx="254181" cy="297344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11178319"/>
                  <a:satOff val="-9634"/>
                  <a:lumOff val="12746"/>
                  <a:alphaOff val="0"/>
                </a:schemeClr>
              </a:fillRef>
              <a:effectRef idx="0">
                <a:schemeClr val="accent5">
                  <a:hueOff val="11178319"/>
                  <a:satOff val="-9634"/>
                  <a:lumOff val="12746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6" name="Arrow: Right 4">
                <a:extLst>
                  <a:ext uri="{FF2B5EF4-FFF2-40B4-BE49-F238E27FC236}">
                    <a16:creationId xmlns:a16="http://schemas.microsoft.com/office/drawing/2014/main" id="{4F116A9E-A773-415C-9507-C2E048505033}"/>
                  </a:ext>
                </a:extLst>
              </p:cNvPr>
              <p:cNvSpPr txBox="1"/>
              <p:nvPr/>
            </p:nvSpPr>
            <p:spPr>
              <a:xfrm>
                <a:off x="3001436" y="809372"/>
                <a:ext cx="177927" cy="17840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ZA" sz="1200" kern="1200"/>
              </a:p>
            </p:txBody>
          </p:sp>
        </p:grpSp>
        <p:sp>
          <p:nvSpPr>
            <p:cNvPr id="17" name="Arrow: Bent-Up 16">
              <a:extLst>
                <a:ext uri="{FF2B5EF4-FFF2-40B4-BE49-F238E27FC236}">
                  <a16:creationId xmlns:a16="http://schemas.microsoft.com/office/drawing/2014/main" id="{7CEEEBC1-FFD3-4EC2-A190-BB5E1CDE5D7F}"/>
                </a:ext>
              </a:extLst>
            </p:cNvPr>
            <p:cNvSpPr/>
            <p:nvPr/>
          </p:nvSpPr>
          <p:spPr>
            <a:xfrm rot="5400000">
              <a:off x="7022099" y="3805990"/>
              <a:ext cx="638500" cy="1198969"/>
            </a:xfrm>
            <a:prstGeom prst="bentUpArrow">
              <a:avLst>
                <a:gd name="adj1" fmla="val 25000"/>
                <a:gd name="adj2" fmla="val 16237"/>
                <a:gd name="adj3" fmla="val 14691"/>
              </a:avLst>
            </a:prstGeom>
            <a:solidFill>
              <a:schemeClr val="accent3">
                <a:lumMod val="75000"/>
              </a:schemeClr>
            </a:solidFill>
            <a:scene3d>
              <a:camera prst="orthographicFront">
                <a:rot lat="10200000" lon="0" rev="21594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8" name="Arrow: Bent-Up 17">
              <a:extLst>
                <a:ext uri="{FF2B5EF4-FFF2-40B4-BE49-F238E27FC236}">
                  <a16:creationId xmlns:a16="http://schemas.microsoft.com/office/drawing/2014/main" id="{3130B9EF-5710-4786-B261-2EA6A3E120EF}"/>
                </a:ext>
              </a:extLst>
            </p:cNvPr>
            <p:cNvSpPr/>
            <p:nvPr/>
          </p:nvSpPr>
          <p:spPr>
            <a:xfrm rot="5400000">
              <a:off x="6915992" y="5321208"/>
              <a:ext cx="807814" cy="1198969"/>
            </a:xfrm>
            <a:prstGeom prst="bentUpArrow">
              <a:avLst>
                <a:gd name="adj1" fmla="val 16746"/>
                <a:gd name="adj2" fmla="val 16237"/>
                <a:gd name="adj3" fmla="val 14691"/>
              </a:avLst>
            </a:prstGeom>
            <a:solidFill>
              <a:schemeClr val="accent3">
                <a:lumMod val="75000"/>
              </a:schemeClr>
            </a:solidFill>
            <a:scene3d>
              <a:camera prst="orthographicFront">
                <a:rot lat="0" lon="0" rev="21594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</p:spTree>
    <p:extLst>
      <p:ext uri="{BB962C8B-B14F-4D97-AF65-F5344CB8AC3E}">
        <p14:creationId xmlns:p14="http://schemas.microsoft.com/office/powerpoint/2010/main" val="3040491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5EC0-CB07-47FB-9B82-778C1AC4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Processor</a:t>
            </a:r>
            <a:endParaRPr lang="en-Z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DC75FB-C6EC-4902-99BB-45C7F6AF9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025" y="947737"/>
            <a:ext cx="7867650" cy="433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786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27CC-9E9B-48E1-A60F-4922E927E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Processor contd.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6CD96-3086-4B91-BE8F-75116FDD1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Central Processing Unit / Microprocessor</a:t>
            </a:r>
          </a:p>
          <a:p>
            <a:r>
              <a:rPr lang="en-US" dirty="0"/>
              <a:t>Interprets and execute basic instructions that operate the computer</a:t>
            </a:r>
          </a:p>
          <a:p>
            <a:r>
              <a:rPr lang="en-US" dirty="0"/>
              <a:t>Components (Parts) of the CPU</a:t>
            </a:r>
          </a:p>
          <a:p>
            <a:pPr lvl="1"/>
            <a:r>
              <a:rPr lang="en-US" dirty="0"/>
              <a:t>Control Unit</a:t>
            </a:r>
          </a:p>
          <a:p>
            <a:pPr lvl="1"/>
            <a:r>
              <a:rPr lang="en-US" dirty="0"/>
              <a:t>Arithmetic Logic Unit (ALU)</a:t>
            </a:r>
          </a:p>
          <a:p>
            <a:pPr lvl="1"/>
            <a:r>
              <a:rPr lang="en-US" dirty="0"/>
              <a:t>Registers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62628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EDDEC-C43D-43B6-9033-C3310DB0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Unit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ADA7F-3485-4161-BC4D-C68300842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Directs and coordinates computer operations</a:t>
            </a:r>
          </a:p>
          <a:p>
            <a:r>
              <a:rPr lang="en-US" dirty="0"/>
              <a:t>Interprets instructions</a:t>
            </a:r>
          </a:p>
          <a:p>
            <a:r>
              <a:rPr lang="en-US" dirty="0"/>
              <a:t>Initiates appropriate action to carry out the instruction</a:t>
            </a:r>
          </a:p>
          <a:p>
            <a:r>
              <a:rPr lang="en-US" dirty="0"/>
              <a:t>Controls and directs the ALU, registers and buses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20523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BD99-BA4B-4528-AB1B-53C8DE6C8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ALU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E9D5B-9B0A-4AF7-B169-DAC697128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Performs arithmetic and comparison operations</a:t>
            </a:r>
          </a:p>
          <a:p>
            <a:pPr lvl="1"/>
            <a:r>
              <a:rPr lang="en-US" dirty="0"/>
              <a:t>Arithmetic – addition, division, multiplication &amp; subtraction</a:t>
            </a:r>
          </a:p>
          <a:p>
            <a:pPr lvl="1"/>
            <a:r>
              <a:rPr lang="en-US" dirty="0"/>
              <a:t>Comparison – less than, greater than, equal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09214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A6172-56FE-44F0-9A31-8A2E839FD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1D37-DA17-4A95-A165-6F482EAF0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staging area built into the CPU</a:t>
            </a:r>
          </a:p>
          <a:p>
            <a:r>
              <a:rPr lang="en-US" dirty="0"/>
              <a:t>Internal registers can only be accessed by the CPU</a:t>
            </a:r>
          </a:p>
          <a:p>
            <a:pPr lvl="1"/>
            <a:r>
              <a:rPr lang="en-US" dirty="0"/>
              <a:t>Some are user-accessible</a:t>
            </a:r>
          </a:p>
          <a:p>
            <a:r>
              <a:rPr lang="en-US" dirty="0"/>
              <a:t>Common types of registers</a:t>
            </a:r>
          </a:p>
          <a:p>
            <a:pPr lvl="1"/>
            <a:r>
              <a:rPr lang="en-US" dirty="0"/>
              <a:t>Instruction Register (IR)</a:t>
            </a:r>
          </a:p>
          <a:p>
            <a:pPr lvl="2"/>
            <a:r>
              <a:rPr lang="en-US" dirty="0"/>
              <a:t>Holds instruction that is currently being executed</a:t>
            </a:r>
          </a:p>
          <a:p>
            <a:pPr lvl="1"/>
            <a:r>
              <a:rPr lang="en-US" dirty="0"/>
              <a:t>Memory Buffer Register (MBR)</a:t>
            </a:r>
          </a:p>
          <a:p>
            <a:pPr lvl="2"/>
            <a:r>
              <a:rPr lang="en-US" dirty="0"/>
              <a:t>Holds data being transferred to/from main memory</a:t>
            </a:r>
          </a:p>
          <a:p>
            <a:pPr lvl="1"/>
            <a:r>
              <a:rPr lang="en-US" dirty="0"/>
              <a:t>Memory Address Register (MAR)</a:t>
            </a:r>
          </a:p>
          <a:p>
            <a:pPr lvl="2"/>
            <a:r>
              <a:rPr lang="en-US" dirty="0"/>
              <a:t>Holds the address (location) of the main memory for storing or retrieving data</a:t>
            </a:r>
          </a:p>
          <a:p>
            <a:pPr lvl="1"/>
            <a:r>
              <a:rPr lang="en-US" dirty="0"/>
              <a:t>Program Counter (PC)</a:t>
            </a:r>
          </a:p>
          <a:p>
            <a:pPr lvl="2"/>
            <a:r>
              <a:rPr lang="en-US" dirty="0"/>
              <a:t>Holds the address of the next instruction to be executed</a:t>
            </a:r>
          </a:p>
          <a:p>
            <a:pPr lvl="1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7292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63047-B770-4046-829A-EE6BBE253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processor structure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456FB-84A9-47F8-922A-1A39ABBCA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5514974"/>
            <a:ext cx="7315200" cy="603123"/>
          </a:xfrm>
        </p:spPr>
        <p:txBody>
          <a:bodyPr/>
          <a:lstStyle/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89BE9-C005-4A5F-93E7-A8A41F0F4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422" y="785812"/>
            <a:ext cx="8141903" cy="460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54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4D62-1C66-40C8-B8F8-38C6634C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 anchor="ctr">
            <a:normAutofit/>
          </a:bodyPr>
          <a:lstStyle/>
          <a:p>
            <a:r>
              <a:rPr lang="en-US" dirty="0"/>
              <a:t>Machine Cycle</a:t>
            </a:r>
            <a:endParaRPr lang="en-ZA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EB1D1C4-B352-4A5F-82CA-4F579E7827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/>
          <a:p>
            <a:r>
              <a:rPr lang="en-US" dirty="0"/>
              <a:t>Activities that take place during processor execution</a:t>
            </a:r>
          </a:p>
          <a:p>
            <a:r>
              <a:rPr lang="en-US" dirty="0"/>
              <a:t>Machine Cycle made up of two stages</a:t>
            </a:r>
          </a:p>
          <a:p>
            <a:pPr lvl="1"/>
            <a:r>
              <a:rPr lang="en-US" dirty="0"/>
              <a:t>Instruction cycle</a:t>
            </a:r>
          </a:p>
          <a:p>
            <a:pPr lvl="2"/>
            <a:r>
              <a:rPr lang="en-US" dirty="0"/>
              <a:t>Fetch</a:t>
            </a:r>
          </a:p>
          <a:p>
            <a:pPr lvl="2"/>
            <a:r>
              <a:rPr lang="en-US" dirty="0"/>
              <a:t>Decode</a:t>
            </a:r>
          </a:p>
          <a:p>
            <a:pPr lvl="1"/>
            <a:r>
              <a:rPr lang="en-US" dirty="0"/>
              <a:t>Execution cycle</a:t>
            </a:r>
          </a:p>
          <a:p>
            <a:pPr lvl="2"/>
            <a:r>
              <a:rPr lang="en-US" dirty="0"/>
              <a:t>Execute</a:t>
            </a:r>
          </a:p>
          <a:p>
            <a:pPr lvl="2"/>
            <a:r>
              <a:rPr lang="en-US" dirty="0"/>
              <a:t>Store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F3D1D-AE7B-4865-BF5D-60BC152CA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700" y="1637042"/>
            <a:ext cx="4362450" cy="36474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73420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18877-14D6-4C83-9818-99AEE602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Bus Channel</a:t>
            </a:r>
            <a:endParaRPr lang="en-ZA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77D08-C5A1-4697-831E-6F6A7CE43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pathway for transmitting electrical signals between devices and components.</a:t>
            </a:r>
          </a:p>
          <a:p>
            <a:r>
              <a:rPr lang="en-US" dirty="0"/>
              <a:t>Bits travel on a bus</a:t>
            </a:r>
          </a:p>
          <a:p>
            <a:r>
              <a:rPr lang="en-US" dirty="0"/>
              <a:t>Data Bus</a:t>
            </a:r>
          </a:p>
          <a:p>
            <a:pPr lvl="1"/>
            <a:r>
              <a:rPr lang="en-US" dirty="0"/>
              <a:t>Transmit bits that represents actual data</a:t>
            </a:r>
          </a:p>
          <a:p>
            <a:r>
              <a:rPr lang="en-US" dirty="0"/>
              <a:t>Address Bus</a:t>
            </a:r>
          </a:p>
          <a:p>
            <a:pPr lvl="1"/>
            <a:r>
              <a:rPr lang="en-US" dirty="0"/>
              <a:t>Transmits bits that represent the location (address) of where the data resides in memory</a:t>
            </a:r>
          </a:p>
          <a:p>
            <a:r>
              <a:rPr lang="en-US" dirty="0"/>
              <a:t>Bus Width</a:t>
            </a:r>
          </a:p>
          <a:p>
            <a:pPr lvl="1"/>
            <a:r>
              <a:rPr lang="en-US" dirty="0"/>
              <a:t>Determines the number of bits that can be transmitted at one time</a:t>
            </a:r>
          </a:p>
          <a:p>
            <a:pPr lvl="1"/>
            <a:r>
              <a:rPr lang="en-US" dirty="0"/>
              <a:t>Bus width influences the processor’s word</a:t>
            </a:r>
          </a:p>
          <a:p>
            <a:pPr lvl="1"/>
            <a:r>
              <a:rPr lang="en-US" dirty="0"/>
              <a:t>Buses have clocks that controls transmission speed of the bus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77506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4BE67-BD67-4D9C-B7D6-5939A981A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contd.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11814-D4D0-4A1F-8209-BCEA99F9F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Kinds of Buses</a:t>
            </a:r>
          </a:p>
          <a:p>
            <a:r>
              <a:rPr lang="en-US" dirty="0"/>
              <a:t>System bus</a:t>
            </a:r>
          </a:p>
          <a:p>
            <a:pPr lvl="1"/>
            <a:r>
              <a:rPr lang="en-US" dirty="0"/>
              <a:t>Connects the processor to the main memory</a:t>
            </a:r>
          </a:p>
          <a:p>
            <a:pPr lvl="1"/>
            <a:r>
              <a:rPr lang="en-US" dirty="0"/>
              <a:t>Part of the motherboard</a:t>
            </a:r>
          </a:p>
          <a:p>
            <a:pPr lvl="1"/>
            <a:r>
              <a:rPr lang="en-US" dirty="0"/>
              <a:t>Also called Front Side Bus (FSB)</a:t>
            </a:r>
          </a:p>
          <a:p>
            <a:r>
              <a:rPr lang="en-US" dirty="0"/>
              <a:t>Backside bus (BSB)</a:t>
            </a:r>
          </a:p>
          <a:p>
            <a:pPr lvl="1"/>
            <a:r>
              <a:rPr lang="en-US" dirty="0"/>
              <a:t>Connects the processor to the cache</a:t>
            </a:r>
          </a:p>
          <a:p>
            <a:r>
              <a:rPr lang="en-US" dirty="0"/>
              <a:t>Expansion bus</a:t>
            </a:r>
          </a:p>
          <a:p>
            <a:pPr lvl="1"/>
            <a:r>
              <a:rPr lang="en-US" dirty="0"/>
              <a:t>Connects the processor to other peripheral devices</a:t>
            </a:r>
          </a:p>
          <a:p>
            <a:pPr lvl="1"/>
            <a:r>
              <a:rPr lang="en-US" dirty="0"/>
              <a:t>E.g. video card</a:t>
            </a:r>
          </a:p>
          <a:p>
            <a:r>
              <a:rPr lang="en-US" dirty="0"/>
              <a:t>Examples of buses</a:t>
            </a:r>
          </a:p>
          <a:p>
            <a:pPr lvl="1"/>
            <a:r>
              <a:rPr lang="en-US" dirty="0"/>
              <a:t>USB (Universal Serial Bus)</a:t>
            </a:r>
          </a:p>
          <a:p>
            <a:pPr lvl="1"/>
            <a:r>
              <a:rPr lang="en-US" dirty="0"/>
              <a:t>SATA </a:t>
            </a:r>
          </a:p>
          <a:p>
            <a:pPr lvl="1"/>
            <a:r>
              <a:rPr lang="en-US" dirty="0"/>
              <a:t>SCSI (Small Computer System Interface)</a:t>
            </a:r>
          </a:p>
          <a:p>
            <a:pPr lvl="1"/>
            <a:r>
              <a:rPr lang="en-US" dirty="0"/>
              <a:t>PCI</a:t>
            </a:r>
          </a:p>
          <a:p>
            <a:pPr lvl="1"/>
            <a:r>
              <a:rPr lang="en-US" dirty="0"/>
              <a:t>Thunderbolt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04829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2294D-4472-4FCB-9A99-01F2D6C8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Supply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F944-4BD7-422A-9EE1-E0D6F1670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Computers run on electrical power</a:t>
            </a:r>
          </a:p>
          <a:p>
            <a:r>
              <a:rPr lang="en-US" dirty="0"/>
              <a:t>Electrical charge</a:t>
            </a:r>
          </a:p>
          <a:p>
            <a:pPr lvl="1"/>
            <a:r>
              <a:rPr lang="en-US" dirty="0"/>
              <a:t>Represents data (bits)</a:t>
            </a:r>
          </a:p>
          <a:p>
            <a:pPr lvl="1"/>
            <a:r>
              <a:rPr lang="en-US" dirty="0"/>
              <a:t>Provides power to drive the components</a:t>
            </a:r>
          </a:p>
          <a:p>
            <a:r>
              <a:rPr lang="en-US" dirty="0"/>
              <a:t>2 forms of electrical charge</a:t>
            </a:r>
          </a:p>
          <a:p>
            <a:pPr lvl="1"/>
            <a:r>
              <a:rPr lang="en-US" dirty="0"/>
              <a:t>Alternating Current (AC)</a:t>
            </a:r>
          </a:p>
          <a:p>
            <a:pPr lvl="2"/>
            <a:r>
              <a:rPr lang="en-US" dirty="0"/>
              <a:t>Unstable and spike prone</a:t>
            </a:r>
          </a:p>
          <a:p>
            <a:pPr lvl="2"/>
            <a:r>
              <a:rPr lang="en-US" dirty="0"/>
              <a:t>110 ~ 240 volts</a:t>
            </a:r>
          </a:p>
          <a:p>
            <a:pPr lvl="1"/>
            <a:r>
              <a:rPr lang="en-US" dirty="0"/>
              <a:t>Direct Current (DC)</a:t>
            </a:r>
          </a:p>
          <a:p>
            <a:pPr lvl="2"/>
            <a:r>
              <a:rPr lang="en-US" dirty="0"/>
              <a:t>Stable</a:t>
            </a:r>
          </a:p>
          <a:p>
            <a:pPr lvl="2"/>
            <a:r>
              <a:rPr lang="en-US" dirty="0"/>
              <a:t>5 ~ 15 volts</a:t>
            </a:r>
          </a:p>
          <a:p>
            <a:r>
              <a:rPr lang="en-US" dirty="0"/>
              <a:t>Power supply converts AC to DC</a:t>
            </a:r>
          </a:p>
          <a:p>
            <a:pPr lvl="1"/>
            <a:r>
              <a:rPr lang="en-US" dirty="0"/>
              <a:t>Contain a voltage switch</a:t>
            </a:r>
          </a:p>
          <a:p>
            <a:pPr lvl="1"/>
            <a:r>
              <a:rPr lang="en-US" dirty="0"/>
              <a:t>Fan to dissipate heat</a:t>
            </a:r>
          </a:p>
          <a:p>
            <a:pPr lvl="1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43276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32FB-06AF-4527-AAEC-AF63E7C8C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Supply contd.</a:t>
            </a:r>
            <a:endParaRPr lang="en-ZA" dirty="0"/>
          </a:p>
        </p:txBody>
      </p:sp>
      <p:pic>
        <p:nvPicPr>
          <p:cNvPr id="5" name="Content Placeholder 4" descr="A picture containing device, projector&#10;&#10;Description automatically generated">
            <a:hlinkClick r:id="rId2" action="ppaction://hlinksldjump" tooltip="Power Supply Unit"/>
            <a:extLst>
              <a:ext uri="{FF2B5EF4-FFF2-40B4-BE49-F238E27FC236}">
                <a16:creationId xmlns:a16="http://schemas.microsoft.com/office/drawing/2014/main" id="{D78335E0-26FC-4C5B-99F0-D4BFE2888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092" y="741422"/>
            <a:ext cx="4536564" cy="2605459"/>
          </a:xfrm>
        </p:spPr>
      </p:pic>
      <p:pic>
        <p:nvPicPr>
          <p:cNvPr id="2050" name="Picture 2" descr="Buy Lenovo 65W USB-C Standard AC Adapter (4X20M26272)">
            <a:hlinkClick r:id="rId2" action="ppaction://hlinksldjump" tooltip="AC Adapter"/>
            <a:extLst>
              <a:ext uri="{FF2B5EF4-FFF2-40B4-BE49-F238E27FC236}">
                <a16:creationId xmlns:a16="http://schemas.microsoft.com/office/drawing/2014/main" id="{0D21EF17-6016-4DCD-B6A8-5F3DC8B20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2338" y="3346881"/>
            <a:ext cx="3901367" cy="270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427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ECF0F-6FE6-4EBF-8CA8-BD5DC1110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72239-2193-4F2D-86DD-7E0E687B0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www.davescomputertips.com</a:t>
            </a:r>
            <a:endParaRPr lang="en-US" dirty="0"/>
          </a:p>
          <a:p>
            <a:r>
              <a:rPr lang="en-US" dirty="0">
                <a:hlinkClick r:id="rId3"/>
              </a:rPr>
              <a:t>www.bechtle.com</a:t>
            </a:r>
            <a:endParaRPr lang="en-US" dirty="0"/>
          </a:p>
          <a:p>
            <a:r>
              <a:rPr lang="en-US" dirty="0">
                <a:hlinkClick r:id="rId4"/>
              </a:rPr>
              <a:t>www.learningcomputerscienceonline.com</a:t>
            </a:r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04727472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_Slide.potx" id="{DECF55D9-F723-4FDC-AC67-9A2BFE5DBE7F}" vid="{C48E19B4-B144-4484-921E-82DA5FD2AD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Lec_Slide</Template>
  <TotalTime>2110</TotalTime>
  <Words>686</Words>
  <Application>Microsoft Office PowerPoint</Application>
  <PresentationFormat>Widescreen</PresentationFormat>
  <Paragraphs>162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Corbel</vt:lpstr>
      <vt:lpstr>Wingdings 2</vt:lpstr>
      <vt:lpstr>Frame</vt:lpstr>
      <vt:lpstr>Hardware I</vt:lpstr>
      <vt:lpstr>Overview</vt:lpstr>
      <vt:lpstr>Introduction</vt:lpstr>
      <vt:lpstr>Data Representation</vt:lpstr>
      <vt:lpstr>Binary Digit</vt:lpstr>
      <vt:lpstr>Byte the Word</vt:lpstr>
      <vt:lpstr>Component</vt:lpstr>
      <vt:lpstr>Processor</vt:lpstr>
      <vt:lpstr>Processor contd.</vt:lpstr>
      <vt:lpstr>Control Unit</vt:lpstr>
      <vt:lpstr>ALU</vt:lpstr>
      <vt:lpstr>Register</vt:lpstr>
      <vt:lpstr>The processor structure</vt:lpstr>
      <vt:lpstr>Machine Cycle</vt:lpstr>
      <vt:lpstr>Bus Channel</vt:lpstr>
      <vt:lpstr>Bus contd.</vt:lpstr>
      <vt:lpstr>Power Supply</vt:lpstr>
      <vt:lpstr>Power Supply contd.</vt:lpstr>
      <vt:lpstr>Acknowledgement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Kofi Akotoye, Mr</dc:creator>
  <cp:lastModifiedBy>Kofi Akotoye, Mr</cp:lastModifiedBy>
  <cp:revision>85</cp:revision>
  <dcterms:created xsi:type="dcterms:W3CDTF">2021-01-23T19:05:51Z</dcterms:created>
  <dcterms:modified xsi:type="dcterms:W3CDTF">2021-02-25T05:33:11Z</dcterms:modified>
</cp:coreProperties>
</file>
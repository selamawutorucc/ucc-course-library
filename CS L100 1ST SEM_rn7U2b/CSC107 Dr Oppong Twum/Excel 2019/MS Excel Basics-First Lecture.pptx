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0"/>
  </p:notesMasterIdLst>
  <p:sldIdLst>
    <p:sldId id="260" r:id="rId2"/>
    <p:sldId id="385" r:id="rId3"/>
    <p:sldId id="294" r:id="rId4"/>
    <p:sldId id="736" r:id="rId5"/>
    <p:sldId id="264" r:id="rId6"/>
    <p:sldId id="311" r:id="rId7"/>
    <p:sldId id="263" r:id="rId8"/>
    <p:sldId id="781" r:id="rId9"/>
    <p:sldId id="741" r:id="rId10"/>
    <p:sldId id="742" r:id="rId11"/>
    <p:sldId id="743" r:id="rId12"/>
    <p:sldId id="782" r:id="rId13"/>
    <p:sldId id="744" r:id="rId14"/>
    <p:sldId id="745" r:id="rId15"/>
    <p:sldId id="314" r:id="rId16"/>
    <p:sldId id="746" r:id="rId17"/>
    <p:sldId id="747" r:id="rId18"/>
    <p:sldId id="748" r:id="rId19"/>
    <p:sldId id="749" r:id="rId20"/>
    <p:sldId id="750" r:id="rId21"/>
    <p:sldId id="751" r:id="rId22"/>
    <p:sldId id="755" r:id="rId23"/>
    <p:sldId id="754" r:id="rId24"/>
    <p:sldId id="756" r:id="rId25"/>
    <p:sldId id="757" r:id="rId26"/>
    <p:sldId id="758" r:id="rId27"/>
    <p:sldId id="759" r:id="rId28"/>
    <p:sldId id="760" r:id="rId29"/>
    <p:sldId id="762" r:id="rId30"/>
    <p:sldId id="763" r:id="rId31"/>
    <p:sldId id="764" r:id="rId32"/>
    <p:sldId id="765" r:id="rId33"/>
    <p:sldId id="766" r:id="rId34"/>
    <p:sldId id="767" r:id="rId35"/>
    <p:sldId id="768" r:id="rId36"/>
    <p:sldId id="769" r:id="rId37"/>
    <p:sldId id="770" r:id="rId38"/>
    <p:sldId id="771" r:id="rId39"/>
    <p:sldId id="772" r:id="rId40"/>
    <p:sldId id="773" r:id="rId41"/>
    <p:sldId id="774" r:id="rId42"/>
    <p:sldId id="775" r:id="rId43"/>
    <p:sldId id="776" r:id="rId44"/>
    <p:sldId id="777" r:id="rId45"/>
    <p:sldId id="778" r:id="rId46"/>
    <p:sldId id="779" r:id="rId47"/>
    <p:sldId id="440" r:id="rId48"/>
    <p:sldId id="384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7531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713" autoAdjust="0"/>
  </p:normalViewPr>
  <p:slideViewPr>
    <p:cSldViewPr>
      <p:cViewPr varScale="1">
        <p:scale>
          <a:sx n="66" d="100"/>
          <a:sy n="66" d="100"/>
        </p:scale>
        <p:origin x="150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7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/>
            <a:t>Introduction </a:t>
          </a:r>
        </a:p>
        <a:p>
          <a:r>
            <a:rPr lang="en-US" dirty="0"/>
            <a:t>to </a:t>
          </a:r>
        </a:p>
        <a:p>
          <a:r>
            <a:rPr lang="en-US" dirty="0"/>
            <a:t>Microsoft Excel </a:t>
          </a:r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</dgm:pt>
  </dgm:ptLst>
  <dgm:cxnLst>
    <dgm:cxn modelId="{0B62D86B-A0DA-4B75-8C82-CC0B7B67BE45}" type="presOf" srcId="{7D821BC7-213D-4CEC-978A-9CFFE70F3D67}" destId="{9972E4C6-FDD6-4F32-8994-B9E0115268C3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9FF98F3C-4B54-499E-81E4-D4C2F1EE2959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 custT="1"/>
      <dgm:spPr/>
      <dgm:t>
        <a:bodyPr/>
        <a:lstStyle/>
        <a:p>
          <a:r>
            <a:rPr lang="en-US" sz="4800" dirty="0"/>
            <a:t>MS Excel Basics</a:t>
          </a:r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</dgm:pt>
  </dgm:ptLst>
  <dgm:cxnLst>
    <dgm:cxn modelId="{88175D38-BFA8-4D43-90FA-3BE39FD3975D}" type="presOf" srcId="{3DE9E547-3C66-4E5D-9D07-0515EED2B913}" destId="{46A1C575-DE29-4021-A28C-E1E7FA78085E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65DCDAFD-8909-4CCC-96D3-23F19B6A2257}" type="presOf" srcId="{7D821BC7-213D-4CEC-978A-9CFFE70F3D67}" destId="{9972E4C6-FDD6-4F32-8994-B9E0115268C3}" srcOrd="0" destOrd="0" presId="urn:microsoft.com/office/officeart/2005/8/layout/default#1"/>
    <dgm:cxn modelId="{D5A03DA0-5C1B-4D49-89F3-846B63674282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/>
            <a:t>How to explore Excel window</a:t>
          </a:r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/>
            <a:t>How to explore the backstage view</a:t>
          </a:r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/>
            <a:t>How to enter values in excel</a:t>
          </a:r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23F2D5E2-61FA-40AD-9F7D-BF405C8CDFAE}">
      <dgm:prSet/>
      <dgm:spPr/>
      <dgm:t>
        <a:bodyPr/>
        <a:lstStyle/>
        <a:p>
          <a:r>
            <a:rPr lang="en-US" dirty="0"/>
            <a:t>How to move around</a:t>
          </a:r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D032DDD3-5BE8-4773-89B2-68CD8965B3E6}">
      <dgm:prSet/>
      <dgm:spPr/>
      <dgm:t>
        <a:bodyPr/>
        <a:lstStyle/>
        <a:p>
          <a:r>
            <a:rPr lang="en-US" dirty="0"/>
            <a:t>How to save workbook</a:t>
          </a:r>
        </a:p>
      </dgm:t>
    </dgm:pt>
    <dgm:pt modelId="{81D33D49-3010-4917-BC50-D44BA8B22DF2}" type="parTrans" cxnId="{864161E3-D902-466F-A23C-0B9201C3B39B}">
      <dgm:prSet/>
      <dgm:spPr/>
      <dgm:t>
        <a:bodyPr/>
        <a:lstStyle/>
        <a:p>
          <a:endParaRPr lang="en-US"/>
        </a:p>
      </dgm:t>
    </dgm:pt>
    <dgm:pt modelId="{C692D208-6BD8-417E-A3C9-418AEBD7A4B3}" type="sibTrans" cxnId="{864161E3-D902-466F-A23C-0B9201C3B39B}">
      <dgm:prSet/>
      <dgm:spPr/>
      <dgm:t>
        <a:bodyPr/>
        <a:lstStyle/>
        <a:p>
          <a:endParaRPr lang="en-US"/>
        </a:p>
      </dgm:t>
    </dgm:pt>
    <dgm:pt modelId="{0C2A3C5A-0AE4-41C1-AA5D-5BC4E760C57F}">
      <dgm:prSet/>
      <dgm:spPr/>
      <dgm:t>
        <a:bodyPr/>
        <a:lstStyle/>
        <a:p>
          <a:r>
            <a:rPr lang="en-US" dirty="0"/>
            <a:t>How to create Worksheet</a:t>
          </a:r>
        </a:p>
      </dgm:t>
    </dgm:pt>
    <dgm:pt modelId="{C63CDA1C-7537-4175-AE85-DCCC8B9595D5}" type="parTrans" cxnId="{86E31C76-0D62-4F6E-AF30-DF0CF87F6868}">
      <dgm:prSet/>
      <dgm:spPr/>
      <dgm:t>
        <a:bodyPr/>
        <a:lstStyle/>
        <a:p>
          <a:endParaRPr lang="en-US"/>
        </a:p>
      </dgm:t>
    </dgm:pt>
    <dgm:pt modelId="{C25ACD3C-6ADA-4FCF-83F9-C46AF1053BB7}" type="sibTrans" cxnId="{86E31C76-0D62-4F6E-AF30-DF0CF87F6868}">
      <dgm:prSet/>
      <dgm:spPr/>
      <dgm:t>
        <a:bodyPr/>
        <a:lstStyle/>
        <a:p>
          <a:endParaRPr lang="en-US"/>
        </a:p>
      </dgm:t>
    </dgm:pt>
    <dgm:pt modelId="{B9D2FC92-ECB4-4D54-9508-F43A91E7E65C}">
      <dgm:prSet/>
      <dgm:spPr/>
      <dgm:t>
        <a:bodyPr/>
        <a:lstStyle/>
        <a:p>
          <a:r>
            <a:rPr lang="en-GB" dirty="0"/>
            <a:t>How to copy worksheet</a:t>
          </a:r>
        </a:p>
      </dgm:t>
    </dgm:pt>
    <dgm:pt modelId="{78D7DF5E-40D2-4C2E-A6D8-113A5982009C}" type="parTrans" cxnId="{7F547AE8-3119-406B-94F9-F606AA7491D7}">
      <dgm:prSet/>
      <dgm:spPr/>
      <dgm:t>
        <a:bodyPr/>
        <a:lstStyle/>
        <a:p>
          <a:endParaRPr lang="en-GB"/>
        </a:p>
      </dgm:t>
    </dgm:pt>
    <dgm:pt modelId="{E2B3D82B-B21B-4F72-B2BC-78A1696AD170}" type="sibTrans" cxnId="{7F547AE8-3119-406B-94F9-F606AA7491D7}">
      <dgm:prSet/>
      <dgm:spPr/>
      <dgm:t>
        <a:bodyPr/>
        <a:lstStyle/>
        <a:p>
          <a:endParaRPr lang="en-GB"/>
        </a:p>
      </dgm:t>
    </dgm:pt>
    <dgm:pt modelId="{476A1A6D-9E32-412F-852C-EA036D2EA443}">
      <dgm:prSet/>
      <dgm:spPr/>
      <dgm:t>
        <a:bodyPr/>
        <a:lstStyle/>
        <a:p>
          <a:r>
            <a:rPr lang="en-GB" dirty="0"/>
            <a:t>How to hide worksheet</a:t>
          </a:r>
        </a:p>
      </dgm:t>
    </dgm:pt>
    <dgm:pt modelId="{A6D156B3-65C8-4D8D-9BA4-CBE69004882B}" type="parTrans" cxnId="{9F622BE6-A9AE-4059-9547-F4054D63F899}">
      <dgm:prSet/>
      <dgm:spPr/>
      <dgm:t>
        <a:bodyPr/>
        <a:lstStyle/>
        <a:p>
          <a:endParaRPr lang="en-GB"/>
        </a:p>
      </dgm:t>
    </dgm:pt>
    <dgm:pt modelId="{3C054B08-0B7E-409B-8D87-F73633A89691}" type="sibTrans" cxnId="{9F622BE6-A9AE-4059-9547-F4054D63F899}">
      <dgm:prSet/>
      <dgm:spPr/>
      <dgm:t>
        <a:bodyPr/>
        <a:lstStyle/>
        <a:p>
          <a:endParaRPr lang="en-GB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E43CDCF3-D5B2-4556-A6FF-1FBA940E878F}" type="pres">
      <dgm:prSet presAssocID="{F9022B54-68C2-4973-9A00-460029290542}" presName="node" presStyleLbl="node1" presStyleIdx="0" presStyleCnt="8">
        <dgm:presLayoutVars>
          <dgm:bulletEnabled val="1"/>
        </dgm:presLayoutVars>
      </dgm:prSet>
      <dgm:spPr/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8">
        <dgm:presLayoutVars>
          <dgm:bulletEnabled val="1"/>
        </dgm:presLayoutVars>
      </dgm:prSet>
      <dgm:spPr/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8">
        <dgm:presLayoutVars>
          <dgm:bulletEnabled val="1"/>
        </dgm:presLayoutVars>
      </dgm:prSet>
      <dgm:spPr/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8">
        <dgm:presLayoutVars>
          <dgm:bulletEnabled val="1"/>
        </dgm:presLayoutVars>
      </dgm:prSet>
      <dgm:spPr/>
    </dgm:pt>
    <dgm:pt modelId="{E35D6D9B-6CD2-4458-885A-62ADB7B92653}" type="pres">
      <dgm:prSet presAssocID="{2155DDCB-A76B-4506-AD94-A2E4AE9F6F2F}" presName="sibTrans" presStyleCnt="0"/>
      <dgm:spPr/>
    </dgm:pt>
    <dgm:pt modelId="{A0EFA616-1553-4077-9D32-88AE20AC0552}" type="pres">
      <dgm:prSet presAssocID="{D032DDD3-5BE8-4773-89B2-68CD8965B3E6}" presName="node" presStyleLbl="node1" presStyleIdx="4" presStyleCnt="8">
        <dgm:presLayoutVars>
          <dgm:bulletEnabled val="1"/>
        </dgm:presLayoutVars>
      </dgm:prSet>
      <dgm:spPr/>
    </dgm:pt>
    <dgm:pt modelId="{4543EDFD-DAD7-4CC1-8700-DF379CC38E62}" type="pres">
      <dgm:prSet presAssocID="{C692D208-6BD8-417E-A3C9-418AEBD7A4B3}" presName="sibTrans" presStyleCnt="0"/>
      <dgm:spPr/>
    </dgm:pt>
    <dgm:pt modelId="{D944875E-4200-44D3-9F4D-D995865E5F68}" type="pres">
      <dgm:prSet presAssocID="{0C2A3C5A-0AE4-41C1-AA5D-5BC4E760C57F}" presName="node" presStyleLbl="node1" presStyleIdx="5" presStyleCnt="8">
        <dgm:presLayoutVars>
          <dgm:bulletEnabled val="1"/>
        </dgm:presLayoutVars>
      </dgm:prSet>
      <dgm:spPr/>
    </dgm:pt>
    <dgm:pt modelId="{78CB8F77-3CF7-4A24-AB1C-13517BFF6342}" type="pres">
      <dgm:prSet presAssocID="{C25ACD3C-6ADA-4FCF-83F9-C46AF1053BB7}" presName="sibTrans" presStyleCnt="0"/>
      <dgm:spPr/>
    </dgm:pt>
    <dgm:pt modelId="{4F3BB94F-726F-42B1-B2C9-9077543F3D05}" type="pres">
      <dgm:prSet presAssocID="{B9D2FC92-ECB4-4D54-9508-F43A91E7E65C}" presName="node" presStyleLbl="node1" presStyleIdx="6" presStyleCnt="8">
        <dgm:presLayoutVars>
          <dgm:bulletEnabled val="1"/>
        </dgm:presLayoutVars>
      </dgm:prSet>
      <dgm:spPr/>
    </dgm:pt>
    <dgm:pt modelId="{A5408A91-DCB4-4486-8086-1187B0570DB1}" type="pres">
      <dgm:prSet presAssocID="{E2B3D82B-B21B-4F72-B2BC-78A1696AD170}" presName="sibTrans" presStyleCnt="0"/>
      <dgm:spPr/>
    </dgm:pt>
    <dgm:pt modelId="{31EA35DB-A737-45B2-AEA8-3AC4C64F3EDA}" type="pres">
      <dgm:prSet presAssocID="{476A1A6D-9E32-412F-852C-EA036D2EA443}" presName="node" presStyleLbl="node1" presStyleIdx="7" presStyleCnt="8">
        <dgm:presLayoutVars>
          <dgm:bulletEnabled val="1"/>
        </dgm:presLayoutVars>
      </dgm:prSet>
      <dgm:spPr/>
    </dgm:pt>
  </dgm:ptLst>
  <dgm:cxnLst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6AAA590D-29DC-4E4C-8B98-98C454876ACA}" type="presOf" srcId="{0C2A3C5A-0AE4-41C1-AA5D-5BC4E760C57F}" destId="{D944875E-4200-44D3-9F4D-D995865E5F68}" srcOrd="0" destOrd="0" presId="urn:microsoft.com/office/officeart/2005/8/layout/default#1"/>
    <dgm:cxn modelId="{83122414-9691-4F6C-BC60-0171D826C93D}" type="presOf" srcId="{476A1A6D-9E32-412F-852C-EA036D2EA443}" destId="{31EA35DB-A737-45B2-AEA8-3AC4C64F3EDA}" srcOrd="0" destOrd="0" presId="urn:microsoft.com/office/officeart/2005/8/layout/default#1"/>
    <dgm:cxn modelId="{031BCA45-34A2-4E89-93EF-0C69AA13A8F0}" type="presOf" srcId="{23F2D5E2-61FA-40AD-9F7D-BF405C8CDFAE}" destId="{126D987F-03E4-4E3A-BED9-08B6BA3A15AB}" srcOrd="0" destOrd="0" presId="urn:microsoft.com/office/officeart/2005/8/layout/default#1"/>
    <dgm:cxn modelId="{DB5CF76F-016D-4F32-AE1E-423FE30EF2F6}" type="presOf" srcId="{F9022B54-68C2-4973-9A00-460029290542}" destId="{E43CDCF3-D5B2-4556-A6FF-1FBA940E878F}" srcOrd="0" destOrd="0" presId="urn:microsoft.com/office/officeart/2005/8/layout/default#1"/>
    <dgm:cxn modelId="{86E31C76-0D62-4F6E-AF30-DF0CF87F6868}" srcId="{3DE9E547-3C66-4E5D-9D07-0515EED2B913}" destId="{0C2A3C5A-0AE4-41C1-AA5D-5BC4E760C57F}" srcOrd="5" destOrd="0" parTransId="{C63CDA1C-7537-4175-AE85-DCCC8B9595D5}" sibTransId="{C25ACD3C-6ADA-4FCF-83F9-C46AF1053BB7}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5975DE9F-9538-4AC2-A004-1F0309A49A9F}" type="presOf" srcId="{BBBB9B4E-DA71-45DE-92BC-1EF247E5F9B2}" destId="{08678D36-F832-48B7-8548-C43AEE1F6A43}" srcOrd="0" destOrd="0" presId="urn:microsoft.com/office/officeart/2005/8/layout/default#1"/>
    <dgm:cxn modelId="{A8B40AA2-278C-4338-99E0-4615B7D73CD9}" type="presOf" srcId="{B9D2FC92-ECB4-4D54-9508-F43A91E7E65C}" destId="{4F3BB94F-726F-42B1-B2C9-9077543F3D05}" srcOrd="0" destOrd="0" presId="urn:microsoft.com/office/officeart/2005/8/layout/default#1"/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8C7B99DC-F8B1-492C-AD47-8DB1AB5E9999}" type="presOf" srcId="{C11B75ED-B46B-4BF2-80F2-DA583A75044E}" destId="{D32AB574-D896-42B8-809A-74BD322B19E9}" srcOrd="0" destOrd="0" presId="urn:microsoft.com/office/officeart/2005/8/layout/default#1"/>
    <dgm:cxn modelId="{FD5D13DE-A886-43C1-8176-BE8410373EBE}" type="presOf" srcId="{D032DDD3-5BE8-4773-89B2-68CD8965B3E6}" destId="{A0EFA616-1553-4077-9D32-88AE20AC0552}" srcOrd="0" destOrd="0" presId="urn:microsoft.com/office/officeart/2005/8/layout/default#1"/>
    <dgm:cxn modelId="{864161E3-D902-466F-A23C-0B9201C3B39B}" srcId="{3DE9E547-3C66-4E5D-9D07-0515EED2B913}" destId="{D032DDD3-5BE8-4773-89B2-68CD8965B3E6}" srcOrd="4" destOrd="0" parTransId="{81D33D49-3010-4917-BC50-D44BA8B22DF2}" sibTransId="{C692D208-6BD8-417E-A3C9-418AEBD7A4B3}"/>
    <dgm:cxn modelId="{9F622BE6-A9AE-4059-9547-F4054D63F899}" srcId="{3DE9E547-3C66-4E5D-9D07-0515EED2B913}" destId="{476A1A6D-9E32-412F-852C-EA036D2EA443}" srcOrd="7" destOrd="0" parTransId="{A6D156B3-65C8-4D8D-9BA4-CBE69004882B}" sibTransId="{3C054B08-0B7E-409B-8D87-F73633A89691}"/>
    <dgm:cxn modelId="{7F547AE8-3119-406B-94F9-F606AA7491D7}" srcId="{3DE9E547-3C66-4E5D-9D07-0515EED2B913}" destId="{B9D2FC92-ECB4-4D54-9508-F43A91E7E65C}" srcOrd="6" destOrd="0" parTransId="{78D7DF5E-40D2-4C2E-A6D8-113A5982009C}" sibTransId="{E2B3D82B-B21B-4F72-B2BC-78A1696AD170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C6831F33-A671-4D3A-9651-E6901DF4D6AC}" type="presParOf" srcId="{46A1C575-DE29-4021-A28C-E1E7FA78085E}" destId="{E43CDCF3-D5B2-4556-A6FF-1FBA940E878F}" srcOrd="0" destOrd="0" presId="urn:microsoft.com/office/officeart/2005/8/layout/default#1"/>
    <dgm:cxn modelId="{23A16BBC-1098-40CF-A0D5-9C900233786D}" type="presParOf" srcId="{46A1C575-DE29-4021-A28C-E1E7FA78085E}" destId="{54066D3B-676A-41CA-98B3-C0905E22B6EF}" srcOrd="1" destOrd="0" presId="urn:microsoft.com/office/officeart/2005/8/layout/default#1"/>
    <dgm:cxn modelId="{55059F0B-6C91-4088-9340-8226AFFF946D}" type="presParOf" srcId="{46A1C575-DE29-4021-A28C-E1E7FA78085E}" destId="{08678D36-F832-48B7-8548-C43AEE1F6A43}" srcOrd="2" destOrd="0" presId="urn:microsoft.com/office/officeart/2005/8/layout/default#1"/>
    <dgm:cxn modelId="{183C0D9A-7891-4D10-9A6B-84445838AF97}" type="presParOf" srcId="{46A1C575-DE29-4021-A28C-E1E7FA78085E}" destId="{94E3CC2B-92E4-4B0C-B930-B4411572BF9F}" srcOrd="3" destOrd="0" presId="urn:microsoft.com/office/officeart/2005/8/layout/default#1"/>
    <dgm:cxn modelId="{10FB1E55-51FE-4D10-8536-2E0EBE944374}" type="presParOf" srcId="{46A1C575-DE29-4021-A28C-E1E7FA78085E}" destId="{D32AB574-D896-42B8-809A-74BD322B19E9}" srcOrd="4" destOrd="0" presId="urn:microsoft.com/office/officeart/2005/8/layout/default#1"/>
    <dgm:cxn modelId="{9EDDF9FC-F073-4434-AE22-C4716365B1A3}" type="presParOf" srcId="{46A1C575-DE29-4021-A28C-E1E7FA78085E}" destId="{8FCDC96A-B844-4560-9827-3799EB37A607}" srcOrd="5" destOrd="0" presId="urn:microsoft.com/office/officeart/2005/8/layout/default#1"/>
    <dgm:cxn modelId="{62AA1254-BAAA-4C30-915B-8E8B8D5D39B6}" type="presParOf" srcId="{46A1C575-DE29-4021-A28C-E1E7FA78085E}" destId="{126D987F-03E4-4E3A-BED9-08B6BA3A15AB}" srcOrd="6" destOrd="0" presId="urn:microsoft.com/office/officeart/2005/8/layout/default#1"/>
    <dgm:cxn modelId="{DA7D4CFB-222D-4450-8AF0-D10DC3C95EA3}" type="presParOf" srcId="{46A1C575-DE29-4021-A28C-E1E7FA78085E}" destId="{E35D6D9B-6CD2-4458-885A-62ADB7B92653}" srcOrd="7" destOrd="0" presId="urn:microsoft.com/office/officeart/2005/8/layout/default#1"/>
    <dgm:cxn modelId="{6AE59283-A23C-4A44-A8A5-3A057903230C}" type="presParOf" srcId="{46A1C575-DE29-4021-A28C-E1E7FA78085E}" destId="{A0EFA616-1553-4077-9D32-88AE20AC0552}" srcOrd="8" destOrd="0" presId="urn:microsoft.com/office/officeart/2005/8/layout/default#1"/>
    <dgm:cxn modelId="{429B9619-7928-43DC-A3FE-1E9D2DB4D886}" type="presParOf" srcId="{46A1C575-DE29-4021-A28C-E1E7FA78085E}" destId="{4543EDFD-DAD7-4CC1-8700-DF379CC38E62}" srcOrd="9" destOrd="0" presId="urn:microsoft.com/office/officeart/2005/8/layout/default#1"/>
    <dgm:cxn modelId="{704D0315-1C8A-4D5F-A07E-7D3763651A72}" type="presParOf" srcId="{46A1C575-DE29-4021-A28C-E1E7FA78085E}" destId="{D944875E-4200-44D3-9F4D-D995865E5F68}" srcOrd="10" destOrd="0" presId="urn:microsoft.com/office/officeart/2005/8/layout/default#1"/>
    <dgm:cxn modelId="{3F5A64F1-66F4-44C1-BF95-02D94C0DFAD0}" type="presParOf" srcId="{46A1C575-DE29-4021-A28C-E1E7FA78085E}" destId="{78CB8F77-3CF7-4A24-AB1C-13517BFF6342}" srcOrd="11" destOrd="0" presId="urn:microsoft.com/office/officeart/2005/8/layout/default#1"/>
    <dgm:cxn modelId="{A0309069-2853-4FAA-AC09-2E967F751159}" type="presParOf" srcId="{46A1C575-DE29-4021-A28C-E1E7FA78085E}" destId="{4F3BB94F-726F-42B1-B2C9-9077543F3D05}" srcOrd="12" destOrd="0" presId="urn:microsoft.com/office/officeart/2005/8/layout/default#1"/>
    <dgm:cxn modelId="{B6D090FA-77F1-4532-850C-6322F5F68B9B}" type="presParOf" srcId="{46A1C575-DE29-4021-A28C-E1E7FA78085E}" destId="{A5408A91-DCB4-4486-8086-1187B0570DB1}" srcOrd="13" destOrd="0" presId="urn:microsoft.com/office/officeart/2005/8/layout/default#1"/>
    <dgm:cxn modelId="{07999851-A652-4497-BD02-78B00D8DF8BA}" type="presParOf" srcId="{46A1C575-DE29-4021-A28C-E1E7FA78085E}" destId="{31EA35DB-A737-45B2-AEA8-3AC4C64F3EDA}" srcOrd="14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/>
            <a:t>How to delete worksheet</a:t>
          </a:r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/>
            <a:t>How to close workbook</a:t>
          </a:r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/>
            <a:t>How to open workbook</a:t>
          </a:r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23F2D5E2-61FA-40AD-9F7D-BF405C8CDFAE}">
      <dgm:prSet/>
      <dgm:spPr/>
      <dgm:t>
        <a:bodyPr/>
        <a:lstStyle/>
        <a:p>
          <a:r>
            <a:rPr lang="en-US" dirty="0"/>
            <a:t>How to use context help in excel</a:t>
          </a:r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</dgm:pt>
    <dgm:pt modelId="{E43CDCF3-D5B2-4556-A6FF-1FBA940E878F}" type="pres">
      <dgm:prSet presAssocID="{F9022B54-68C2-4973-9A00-460029290542}" presName="node" presStyleLbl="node1" presStyleIdx="0" presStyleCnt="4">
        <dgm:presLayoutVars>
          <dgm:bulletEnabled val="1"/>
        </dgm:presLayoutVars>
      </dgm:prSet>
      <dgm:spPr/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4">
        <dgm:presLayoutVars>
          <dgm:bulletEnabled val="1"/>
        </dgm:presLayoutVars>
      </dgm:prSet>
      <dgm:spPr/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4">
        <dgm:presLayoutVars>
          <dgm:bulletEnabled val="1"/>
        </dgm:presLayoutVars>
      </dgm:prSet>
      <dgm:spPr/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4">
        <dgm:presLayoutVars>
          <dgm:bulletEnabled val="1"/>
        </dgm:presLayoutVars>
      </dgm:prSet>
      <dgm:spPr/>
    </dgm:pt>
  </dgm:ptLst>
  <dgm:cxnLst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B22B4283-A279-4AFB-A3E5-2A46ADDA7FE6}" type="presOf" srcId="{C11B75ED-B46B-4BF2-80F2-DA583A75044E}" destId="{D32AB574-D896-42B8-809A-74BD322B19E9}" srcOrd="0" destOrd="0" presId="urn:microsoft.com/office/officeart/2005/8/layout/default#1"/>
    <dgm:cxn modelId="{31217294-24E0-4BEF-8232-945035A8AD4E}" type="presOf" srcId="{3DE9E547-3C66-4E5D-9D07-0515EED2B913}" destId="{46A1C575-DE29-4021-A28C-E1E7FA78085E}" srcOrd="0" destOrd="0" presId="urn:microsoft.com/office/officeart/2005/8/layout/default#1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DDEACEAE-9F22-4876-8BE4-E9A2722E6E0E}" type="presOf" srcId="{F9022B54-68C2-4973-9A00-460029290542}" destId="{E43CDCF3-D5B2-4556-A6FF-1FBA940E878F}" srcOrd="0" destOrd="0" presId="urn:microsoft.com/office/officeart/2005/8/layout/default#1"/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0F3B32EC-7063-4445-BBBA-595449906008}" type="presOf" srcId="{BBBB9B4E-DA71-45DE-92BC-1EF247E5F9B2}" destId="{08678D36-F832-48B7-8548-C43AEE1F6A43}" srcOrd="0" destOrd="0" presId="urn:microsoft.com/office/officeart/2005/8/layout/default#1"/>
    <dgm:cxn modelId="{29C2BAEC-ED4D-4373-A7AC-67C709E24E0D}" type="presOf" srcId="{23F2D5E2-61FA-40AD-9F7D-BF405C8CDFAE}" destId="{126D987F-03E4-4E3A-BED9-08B6BA3A15AB}" srcOrd="0" destOrd="0" presId="urn:microsoft.com/office/officeart/2005/8/layout/default#1"/>
    <dgm:cxn modelId="{3DE9520B-3D7C-4FAB-906B-2D897AC21341}" type="presParOf" srcId="{46A1C575-DE29-4021-A28C-E1E7FA78085E}" destId="{E43CDCF3-D5B2-4556-A6FF-1FBA940E878F}" srcOrd="0" destOrd="0" presId="urn:microsoft.com/office/officeart/2005/8/layout/default#1"/>
    <dgm:cxn modelId="{AF2798AA-4FB0-4832-B5A8-F1B505E63B91}" type="presParOf" srcId="{46A1C575-DE29-4021-A28C-E1E7FA78085E}" destId="{54066D3B-676A-41CA-98B3-C0905E22B6EF}" srcOrd="1" destOrd="0" presId="urn:microsoft.com/office/officeart/2005/8/layout/default#1"/>
    <dgm:cxn modelId="{1B20A3D1-3449-4A00-ABFC-5DE469169C01}" type="presParOf" srcId="{46A1C575-DE29-4021-A28C-E1E7FA78085E}" destId="{08678D36-F832-48B7-8548-C43AEE1F6A43}" srcOrd="2" destOrd="0" presId="urn:microsoft.com/office/officeart/2005/8/layout/default#1"/>
    <dgm:cxn modelId="{F4F3D9FF-1A46-441C-814B-3A219E73A9FE}" type="presParOf" srcId="{46A1C575-DE29-4021-A28C-E1E7FA78085E}" destId="{94E3CC2B-92E4-4B0C-B930-B4411572BF9F}" srcOrd="3" destOrd="0" presId="urn:microsoft.com/office/officeart/2005/8/layout/default#1"/>
    <dgm:cxn modelId="{21457D86-0AB0-45E6-A240-35A619C7B1E5}" type="presParOf" srcId="{46A1C575-DE29-4021-A28C-E1E7FA78085E}" destId="{D32AB574-D896-42B8-809A-74BD322B19E9}" srcOrd="4" destOrd="0" presId="urn:microsoft.com/office/officeart/2005/8/layout/default#1"/>
    <dgm:cxn modelId="{C2232D43-9AA5-4C16-89DF-16B287F5E19F}" type="presParOf" srcId="{46A1C575-DE29-4021-A28C-E1E7FA78085E}" destId="{8FCDC96A-B844-4560-9827-3799EB37A607}" srcOrd="5" destOrd="0" presId="urn:microsoft.com/office/officeart/2005/8/layout/default#1"/>
    <dgm:cxn modelId="{9D77DE52-1789-4328-AE9A-C35529B7A16D}" type="presParOf" srcId="{46A1C575-DE29-4021-A28C-E1E7FA78085E}" destId="{126D987F-03E4-4E3A-BED9-08B6BA3A15AB}" srcOrd="6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Introduction </a:t>
          </a:r>
        </a:p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to </a:t>
          </a:r>
        </a:p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Microsoft Excel </a:t>
          </a:r>
        </a:p>
      </dsp:txBody>
      <dsp:txXfrm>
        <a:off x="162" y="1817"/>
        <a:ext cx="8838875" cy="4811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MS Excel Basics</a:t>
          </a:r>
        </a:p>
      </dsp:txBody>
      <dsp:txXfrm>
        <a:off x="162" y="1817"/>
        <a:ext cx="8838875" cy="48114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158829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How to explore Excel window</a:t>
          </a:r>
        </a:p>
      </dsp:txBody>
      <dsp:txXfrm>
        <a:off x="158829" y="1314"/>
        <a:ext cx="2662981" cy="1597788"/>
      </dsp:txXfrm>
    </dsp:sp>
    <dsp:sp modelId="{08678D36-F832-48B7-8548-C43AEE1F6A43}">
      <dsp:nvSpPr>
        <dsp:cNvPr id="0" name=""/>
        <dsp:cNvSpPr/>
      </dsp:nvSpPr>
      <dsp:spPr>
        <a:xfrm>
          <a:off x="3088109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25223"/>
                <a:satOff val="-624"/>
                <a:lumOff val="357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25223"/>
                <a:satOff val="-624"/>
                <a:lumOff val="357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25223"/>
                <a:satOff val="-624"/>
                <a:lumOff val="357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How to explore the backstage view</a:t>
          </a:r>
        </a:p>
      </dsp:txBody>
      <dsp:txXfrm>
        <a:off x="3088109" y="1314"/>
        <a:ext cx="2662981" cy="1597788"/>
      </dsp:txXfrm>
    </dsp:sp>
    <dsp:sp modelId="{D32AB574-D896-42B8-809A-74BD322B19E9}">
      <dsp:nvSpPr>
        <dsp:cNvPr id="0" name=""/>
        <dsp:cNvSpPr/>
      </dsp:nvSpPr>
      <dsp:spPr>
        <a:xfrm>
          <a:off x="6017388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0445"/>
                <a:satOff val="-1247"/>
                <a:lumOff val="713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0445"/>
                <a:satOff val="-1247"/>
                <a:lumOff val="713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0445"/>
                <a:satOff val="-1247"/>
                <a:lumOff val="71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How to enter values in excel</a:t>
          </a:r>
        </a:p>
      </dsp:txBody>
      <dsp:txXfrm>
        <a:off x="6017388" y="1314"/>
        <a:ext cx="2662981" cy="1597788"/>
      </dsp:txXfrm>
    </dsp:sp>
    <dsp:sp modelId="{126D987F-03E4-4E3A-BED9-08B6BA3A15AB}">
      <dsp:nvSpPr>
        <dsp:cNvPr id="0" name=""/>
        <dsp:cNvSpPr/>
      </dsp:nvSpPr>
      <dsp:spPr>
        <a:xfrm>
          <a:off x="158829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5668"/>
                <a:satOff val="-1871"/>
                <a:lumOff val="1070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5668"/>
                <a:satOff val="-1871"/>
                <a:lumOff val="1070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5668"/>
                <a:satOff val="-1871"/>
                <a:lumOff val="1070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How to move around</a:t>
          </a:r>
        </a:p>
      </dsp:txBody>
      <dsp:txXfrm>
        <a:off x="158829" y="1865401"/>
        <a:ext cx="2662981" cy="1597788"/>
      </dsp:txXfrm>
    </dsp:sp>
    <dsp:sp modelId="{A0EFA616-1553-4077-9D32-88AE20AC0552}">
      <dsp:nvSpPr>
        <dsp:cNvPr id="0" name=""/>
        <dsp:cNvSpPr/>
      </dsp:nvSpPr>
      <dsp:spPr>
        <a:xfrm>
          <a:off x="3088109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00890"/>
                <a:satOff val="-2494"/>
                <a:lumOff val="1427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00890"/>
                <a:satOff val="-2494"/>
                <a:lumOff val="1427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00890"/>
                <a:satOff val="-2494"/>
                <a:lumOff val="1427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How to save workbook</a:t>
          </a:r>
        </a:p>
      </dsp:txBody>
      <dsp:txXfrm>
        <a:off x="3088109" y="1865401"/>
        <a:ext cx="2662981" cy="1597788"/>
      </dsp:txXfrm>
    </dsp:sp>
    <dsp:sp modelId="{D944875E-4200-44D3-9F4D-D995865E5F68}">
      <dsp:nvSpPr>
        <dsp:cNvPr id="0" name=""/>
        <dsp:cNvSpPr/>
      </dsp:nvSpPr>
      <dsp:spPr>
        <a:xfrm>
          <a:off x="6017388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26113"/>
                <a:satOff val="-3118"/>
                <a:lumOff val="1784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26113"/>
                <a:satOff val="-3118"/>
                <a:lumOff val="1784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26113"/>
                <a:satOff val="-3118"/>
                <a:lumOff val="178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How to create Worksheet</a:t>
          </a:r>
        </a:p>
      </dsp:txBody>
      <dsp:txXfrm>
        <a:off x="6017388" y="1865401"/>
        <a:ext cx="2662981" cy="1597788"/>
      </dsp:txXfrm>
    </dsp:sp>
    <dsp:sp modelId="{4F3BB94F-726F-42B1-B2C9-9077543F3D05}">
      <dsp:nvSpPr>
        <dsp:cNvPr id="0" name=""/>
        <dsp:cNvSpPr/>
      </dsp:nvSpPr>
      <dsp:spPr>
        <a:xfrm>
          <a:off x="1623469" y="3729488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51335"/>
                <a:satOff val="-3741"/>
                <a:lumOff val="2141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51335"/>
                <a:satOff val="-3741"/>
                <a:lumOff val="2141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51335"/>
                <a:satOff val="-3741"/>
                <a:lumOff val="2141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/>
            <a:t>How to copy worksheet</a:t>
          </a:r>
        </a:p>
      </dsp:txBody>
      <dsp:txXfrm>
        <a:off x="1623469" y="3729488"/>
        <a:ext cx="2662981" cy="1597788"/>
      </dsp:txXfrm>
    </dsp:sp>
    <dsp:sp modelId="{31EA35DB-A737-45B2-AEA8-3AC4C64F3EDA}">
      <dsp:nvSpPr>
        <dsp:cNvPr id="0" name=""/>
        <dsp:cNvSpPr/>
      </dsp:nvSpPr>
      <dsp:spPr>
        <a:xfrm>
          <a:off x="4552749" y="3729488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100" kern="1200" dirty="0"/>
            <a:t>How to hide worksheet</a:t>
          </a:r>
        </a:p>
      </dsp:txBody>
      <dsp:txXfrm>
        <a:off x="4552749" y="3729488"/>
        <a:ext cx="2662981" cy="15977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118906" y="1961"/>
          <a:ext cx="4095898" cy="245753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How to delete worksheet</a:t>
          </a:r>
        </a:p>
      </dsp:txBody>
      <dsp:txXfrm>
        <a:off x="118906" y="1961"/>
        <a:ext cx="4095898" cy="2457539"/>
      </dsp:txXfrm>
    </dsp:sp>
    <dsp:sp modelId="{08678D36-F832-48B7-8548-C43AEE1F6A43}">
      <dsp:nvSpPr>
        <dsp:cNvPr id="0" name=""/>
        <dsp:cNvSpPr/>
      </dsp:nvSpPr>
      <dsp:spPr>
        <a:xfrm>
          <a:off x="4624394" y="1961"/>
          <a:ext cx="4095898" cy="245753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How to close workbook</a:t>
          </a:r>
        </a:p>
      </dsp:txBody>
      <dsp:txXfrm>
        <a:off x="4624394" y="1961"/>
        <a:ext cx="4095898" cy="2457539"/>
      </dsp:txXfrm>
    </dsp:sp>
    <dsp:sp modelId="{D32AB574-D896-42B8-809A-74BD322B19E9}">
      <dsp:nvSpPr>
        <dsp:cNvPr id="0" name=""/>
        <dsp:cNvSpPr/>
      </dsp:nvSpPr>
      <dsp:spPr>
        <a:xfrm>
          <a:off x="118906" y="2869090"/>
          <a:ext cx="4095898" cy="245753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How to open workbook</a:t>
          </a:r>
        </a:p>
      </dsp:txBody>
      <dsp:txXfrm>
        <a:off x="118906" y="2869090"/>
        <a:ext cx="4095898" cy="2457539"/>
      </dsp:txXfrm>
    </dsp:sp>
    <dsp:sp modelId="{126D987F-03E4-4E3A-BED9-08B6BA3A15AB}">
      <dsp:nvSpPr>
        <dsp:cNvPr id="0" name=""/>
        <dsp:cNvSpPr/>
      </dsp:nvSpPr>
      <dsp:spPr>
        <a:xfrm>
          <a:off x="4624394" y="2869090"/>
          <a:ext cx="4095898" cy="245753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How to use context help in excel</a:t>
          </a:r>
        </a:p>
      </dsp:txBody>
      <dsp:txXfrm>
        <a:off x="4624394" y="2869090"/>
        <a:ext cx="4095898" cy="24575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2/26/2023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581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406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589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530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63812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solidFill>
                  <a:prstClr val="black"/>
                </a:solidFill>
                <a:latin typeface="Calibri" pitchFamily="34" charset="0"/>
              </a:rPr>
              <a:pPr/>
              <a:t>47</a:t>
            </a:fld>
            <a:endParaRPr lang="en-US">
              <a:solidFill>
                <a:prstClr val="black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latin typeface="Calibri" pitchFamily="34" charset="0"/>
              </a:rPr>
              <a:pPr/>
              <a:t>48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itchFamily="34" charset="0"/>
              </a:rPr>
              <a:t>Discovering </a:t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>	Computers 2012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6606" y="3276600"/>
            <a:ext cx="395739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35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latin typeface="+mn-lt"/>
              </a:defRPr>
            </a:lvl1pPr>
            <a:lvl2pPr>
              <a:buFont typeface="Wingdings" pitchFamily="2" charset="2"/>
              <a:buChar char="v"/>
              <a:defRPr sz="3200">
                <a:latin typeface="+mn-lt"/>
              </a:defRPr>
            </a:lvl2pPr>
            <a:lvl3pPr>
              <a:defRPr sz="2800">
                <a:latin typeface="+mn-lt"/>
              </a:defRPr>
            </a:lvl3pPr>
            <a:lvl4pPr>
              <a:buFont typeface="Wingdings" pitchFamily="2" charset="2"/>
              <a:buChar char="v"/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2010 Pearson Education, Inc.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3-</a:t>
            </a:r>
            <a:fld id="{72C99F3E-92BD-47C6-B43F-19488E1C3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5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2775200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105730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51097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6096475"/>
              </p:ext>
            </p:extLst>
          </p:nvPr>
        </p:nvGraphicFramePr>
        <p:xfrm>
          <a:off x="28135" y="1268760"/>
          <a:ext cx="88392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15396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1EA35DB-A737-45B2-AEA8-3AC4C64F3E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>
                                            <p:graphicEl>
                                              <a:dgm id="{31EA35DB-A737-45B2-AEA8-3AC4C64F3E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726156"/>
              </p:ext>
            </p:extLst>
          </p:nvPr>
        </p:nvGraphicFramePr>
        <p:xfrm>
          <a:off x="28135" y="1268760"/>
          <a:ext cx="88392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50020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MS Excel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Microsoft Excel is a spread sheet tool capable of performing </a:t>
            </a:r>
            <a:r>
              <a:rPr lang="en-GB" sz="2800" b="1" dirty="0"/>
              <a:t>calculations</a:t>
            </a:r>
            <a:r>
              <a:rPr lang="en-GB" sz="2800" dirty="0"/>
              <a:t>, </a:t>
            </a:r>
            <a:r>
              <a:rPr lang="en-GB" sz="2800" b="1" dirty="0"/>
              <a:t>analysing data </a:t>
            </a:r>
            <a:r>
              <a:rPr lang="en-GB" sz="2800" dirty="0"/>
              <a:t>and </a:t>
            </a:r>
            <a:r>
              <a:rPr lang="en-GB" sz="2800" b="1" dirty="0"/>
              <a:t>integrating</a:t>
            </a:r>
            <a:r>
              <a:rPr lang="en-GB" sz="2800" dirty="0"/>
              <a:t> information from different programs.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Microsoft Excel is a commercial spread sheet application, written and distributed by Microsoft for Microsoft Windows and Mac OS X.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By default, documents saved in Excel 2010 upwards are saved with the </a:t>
            </a:r>
            <a:r>
              <a:rPr lang="en-GB" sz="2800" b="1" dirty="0">
                <a:solidFill>
                  <a:srgbClr val="FF0000"/>
                </a:solidFill>
              </a:rPr>
              <a:t>.xlsx </a:t>
            </a:r>
            <a:r>
              <a:rPr lang="en-GB" sz="2800" dirty="0"/>
              <a:t>extension whereas the file extension of the prior Excel versions are </a:t>
            </a:r>
            <a:r>
              <a:rPr lang="en-GB" sz="2800" b="1" dirty="0">
                <a:solidFill>
                  <a:srgbClr val="FF0000"/>
                </a:solidFill>
              </a:rPr>
              <a:t>.</a:t>
            </a:r>
            <a:r>
              <a:rPr lang="en-GB" sz="2800" b="1" dirty="0" err="1">
                <a:solidFill>
                  <a:srgbClr val="FF0000"/>
                </a:solidFill>
              </a:rPr>
              <a:t>xls</a:t>
            </a:r>
            <a:r>
              <a:rPr lang="en-GB" sz="2800" dirty="0"/>
              <a:t>.</a:t>
            </a:r>
            <a:endParaRPr lang="en-US" sz="28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43083"/>
            <a:ext cx="8839200" cy="57760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Getting Started Excel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620689"/>
            <a:ext cx="9144000" cy="6194228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solidFill>
                  <a:srgbClr val="FF0000"/>
                </a:solidFill>
              </a:rPr>
              <a:t>   </a:t>
            </a:r>
            <a:r>
              <a:rPr lang="en-US" dirty="0"/>
              <a:t>Office 2019 is engineered for </a:t>
            </a:r>
            <a:r>
              <a:rPr lang="en-US" b="1" dirty="0"/>
              <a:t>Windows 10</a:t>
            </a:r>
            <a:r>
              <a:rPr lang="en-US" dirty="0"/>
              <a:t>. </a:t>
            </a:r>
          </a:p>
          <a:p>
            <a:pPr algn="just">
              <a:buNone/>
            </a:pPr>
            <a:r>
              <a:rPr lang="en-US" dirty="0"/>
              <a:t>    </a:t>
            </a:r>
          </a:p>
          <a:p>
            <a:pPr algn="just">
              <a:buNone/>
            </a:pPr>
            <a:r>
              <a:rPr lang="en-US" dirty="0"/>
              <a:t>   You can start Excel 2019 from the </a:t>
            </a:r>
            <a:r>
              <a:rPr lang="en-US" b="1" dirty="0"/>
              <a:t>Start menu app list </a:t>
            </a:r>
            <a:r>
              <a:rPr lang="en-US" dirty="0"/>
              <a:t>or </a:t>
            </a:r>
            <a:r>
              <a:rPr lang="en-US" b="1" dirty="0"/>
              <a:t>tile area</a:t>
            </a:r>
            <a:r>
              <a:rPr lang="en-US" dirty="0"/>
              <a:t>, the </a:t>
            </a:r>
            <a:r>
              <a:rPr lang="en-US" b="1" dirty="0"/>
              <a:t>Start screen</a:t>
            </a:r>
            <a:r>
              <a:rPr lang="en-US" dirty="0"/>
              <a:t>, or the </a:t>
            </a:r>
            <a:r>
              <a:rPr lang="en-US" b="1" dirty="0"/>
              <a:t>taskbar search box</a:t>
            </a:r>
            <a:r>
              <a:rPr lang="en-US" dirty="0"/>
              <a:t>.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   You might also have a </a:t>
            </a:r>
            <a:r>
              <a:rPr lang="en-US" b="1" dirty="0"/>
              <a:t>shortcut to Excel </a:t>
            </a:r>
            <a:r>
              <a:rPr lang="en-US" dirty="0"/>
              <a:t>on your </a:t>
            </a:r>
            <a:r>
              <a:rPr lang="en-US" b="1" dirty="0"/>
              <a:t>desktop</a:t>
            </a:r>
            <a:r>
              <a:rPr lang="en-US" dirty="0"/>
              <a:t> or on the </a:t>
            </a:r>
            <a:r>
              <a:rPr lang="en-US" b="1" dirty="0"/>
              <a:t>Windows taskbar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02246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57150"/>
            <a:ext cx="8839200" cy="41323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Getting Started Excel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081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GB" b="1" dirty="0"/>
              <a:t>Step 1</a:t>
            </a:r>
            <a:r>
              <a:rPr lang="en-GB" dirty="0"/>
              <a:t> − Click the </a:t>
            </a:r>
            <a:r>
              <a:rPr lang="en-GB" b="1" dirty="0"/>
              <a:t>Start</a:t>
            </a:r>
            <a:r>
              <a:rPr lang="en-GB" dirty="0"/>
              <a:t> </a:t>
            </a:r>
            <a:r>
              <a:rPr lang="en-GB" b="1" dirty="0"/>
              <a:t>button</a:t>
            </a:r>
            <a:r>
              <a:rPr lang="en-GB" dirty="0"/>
              <a:t> </a:t>
            </a:r>
            <a:r>
              <a:rPr lang="en-US" dirty="0"/>
              <a:t>and then select </a:t>
            </a:r>
            <a:r>
              <a:rPr lang="en-US" b="1" dirty="0"/>
              <a:t>Microsoft excel  </a:t>
            </a:r>
            <a:r>
              <a:rPr lang="en-US" dirty="0"/>
              <a:t>from the options panel.</a:t>
            </a:r>
            <a:endParaRPr lang="en-GB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67BECB-936F-4CE2-8537-F4D2A02340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38" t="12346" r="39763"/>
          <a:stretch/>
        </p:blipFill>
        <p:spPr>
          <a:xfrm>
            <a:off x="971600" y="2060848"/>
            <a:ext cx="7344816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11903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99" y="20786"/>
            <a:ext cx="8839200" cy="47654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Getting Started Excel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4451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GB" b="1" dirty="0"/>
              <a:t>Step 2</a:t>
            </a:r>
            <a:r>
              <a:rPr lang="en-GB" dirty="0"/>
              <a:t> − Click on </a:t>
            </a:r>
            <a:r>
              <a:rPr lang="en-GB" b="1" dirty="0"/>
              <a:t>Blank document </a:t>
            </a:r>
            <a:r>
              <a:rPr lang="en-GB" dirty="0"/>
              <a:t>option from the menu.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BF0BC1-2AFA-47D9-B738-0B0629CB8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00809"/>
            <a:ext cx="9093398" cy="513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6135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Getting Started with Excel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4</a:t>
            </a:r>
          </a:p>
          <a:p>
            <a:pPr algn="just"/>
            <a:r>
              <a:rPr lang="en-GB" sz="2800" dirty="0"/>
              <a:t>This will launch the Microsoft Excel 2019 application and you will see the following excel window.</a:t>
            </a:r>
          </a:p>
          <a:p>
            <a:pPr marL="0" indent="0" algn="just">
              <a:buNone/>
            </a:pPr>
            <a:endParaRPr lang="en-GB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5B133-5BE0-43B7-991D-FE6C52E864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275"/>
          <a:stretch/>
        </p:blipFill>
        <p:spPr>
          <a:xfrm>
            <a:off x="0" y="1916832"/>
            <a:ext cx="9144000" cy="494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874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40466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GB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8221A8-0A8B-4586-9CBF-5AF8DB842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8680"/>
            <a:ext cx="9143999" cy="630932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8D838C-1259-46E2-BB1D-B36FB8AEB7C8}"/>
              </a:ext>
            </a:extLst>
          </p:cNvPr>
          <p:cNvCxnSpPr/>
          <p:nvPr/>
        </p:nvCxnSpPr>
        <p:spPr>
          <a:xfrm>
            <a:off x="5724128" y="2348880"/>
            <a:ext cx="2376264" cy="7200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AE70C6A-57BC-480F-BC9E-CEADDEEB884C}"/>
              </a:ext>
            </a:extLst>
          </p:cNvPr>
          <p:cNvSpPr/>
          <p:nvPr/>
        </p:nvSpPr>
        <p:spPr>
          <a:xfrm>
            <a:off x="8105622" y="2971800"/>
            <a:ext cx="914400" cy="6012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Column</a:t>
            </a:r>
          </a:p>
        </p:txBody>
      </p:sp>
    </p:spTree>
    <p:extLst>
      <p:ext uri="{BB962C8B-B14F-4D97-AF65-F5344CB8AC3E}">
        <p14:creationId xmlns:p14="http://schemas.microsoft.com/office/powerpoint/2010/main" val="415408963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File Tab</a:t>
            </a:r>
          </a:p>
          <a:p>
            <a:pPr algn="just"/>
            <a:r>
              <a:rPr lang="en-GB" sz="2800" dirty="0"/>
              <a:t>The File tab replaces the </a:t>
            </a:r>
            <a:r>
              <a:rPr lang="en-GB" sz="2800" b="1" dirty="0"/>
              <a:t>Office button </a:t>
            </a:r>
            <a:r>
              <a:rPr lang="en-GB" sz="2800" dirty="0"/>
              <a:t>from Excel 2007.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You can click it to check the </a:t>
            </a:r>
            <a:r>
              <a:rPr lang="en-GB" sz="2800" b="1" dirty="0"/>
              <a:t>Backstage view</a:t>
            </a:r>
            <a:r>
              <a:rPr lang="en-GB" sz="2800" dirty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The backstage view enables you to </a:t>
            </a:r>
            <a:r>
              <a:rPr lang="en-GB" sz="2800" b="1" dirty="0"/>
              <a:t>open or save files</a:t>
            </a:r>
            <a:r>
              <a:rPr lang="en-GB" sz="2800" dirty="0"/>
              <a:t>, </a:t>
            </a:r>
            <a:r>
              <a:rPr lang="en-GB" sz="2800" b="1" dirty="0"/>
              <a:t>create new sheets</a:t>
            </a:r>
            <a:r>
              <a:rPr lang="en-GB" sz="2800" dirty="0"/>
              <a:t>, </a:t>
            </a:r>
            <a:r>
              <a:rPr lang="en-GB" sz="2800" b="1" dirty="0"/>
              <a:t>print a sheet</a:t>
            </a:r>
            <a:r>
              <a:rPr lang="en-GB" sz="2800" dirty="0"/>
              <a:t>, and do other file-related operations.</a:t>
            </a:r>
          </a:p>
          <a:p>
            <a:pPr marL="0" indent="0" algn="just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755370628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 Backstage view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CAE0DDD-2754-4694-9DF2-E44CD7050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b="5525"/>
          <a:stretch/>
        </p:blipFill>
        <p:spPr>
          <a:xfrm>
            <a:off x="0" y="620688"/>
            <a:ext cx="9144000" cy="612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894710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Quick Access Toolbar</a:t>
            </a:r>
          </a:p>
          <a:p>
            <a:pPr algn="just"/>
            <a:r>
              <a:rPr lang="en-GB" sz="2800" dirty="0"/>
              <a:t>The Quick Access Toolbar can be located in one of two places: </a:t>
            </a:r>
            <a:r>
              <a:rPr lang="en-GB" sz="2800" b="1" dirty="0"/>
              <a:t>Upper-left corner</a:t>
            </a:r>
            <a:r>
              <a:rPr lang="en-GB" sz="2800" dirty="0"/>
              <a:t>, on the </a:t>
            </a:r>
            <a:r>
              <a:rPr lang="en-GB" sz="2800" b="1" dirty="0"/>
              <a:t>title bar</a:t>
            </a:r>
            <a:r>
              <a:rPr lang="en-GB" sz="2800" dirty="0"/>
              <a:t>. (</a:t>
            </a:r>
            <a:r>
              <a:rPr lang="en-GB" sz="2800" b="1" dirty="0"/>
              <a:t>default location</a:t>
            </a:r>
            <a:r>
              <a:rPr lang="en-GB" sz="2800" dirty="0"/>
              <a:t>)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The Quick Access Toolbar can also be relocated below the ribbon. 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Its purpose is to provide a convenient resting place for the Excel's most frequently used commands.</a:t>
            </a:r>
          </a:p>
          <a:p>
            <a:pPr marL="0" indent="0" algn="just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8718390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548680"/>
            <a:ext cx="8884096" cy="619268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Ribbon</a:t>
            </a:r>
          </a:p>
          <a:p>
            <a:pPr marL="0" indent="0">
              <a:buNone/>
            </a:pPr>
            <a:endParaRPr lang="en-GB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sz="2800" dirty="0"/>
              <a:t>Ribbon contains commands organized in three components −</a:t>
            </a:r>
          </a:p>
          <a:p>
            <a:endParaRPr lang="en-GB" sz="2800" dirty="0"/>
          </a:p>
          <a:p>
            <a:r>
              <a:rPr lang="en-GB" sz="2800" b="1" dirty="0"/>
              <a:t>Tabs</a:t>
            </a:r>
            <a:r>
              <a:rPr lang="en-GB" sz="2800" dirty="0"/>
              <a:t> − They appear across the top of the Ribbon and contain groups of related commands. </a:t>
            </a:r>
            <a:r>
              <a:rPr lang="en-GB" sz="2800" b="1" dirty="0"/>
              <a:t>Home</a:t>
            </a:r>
            <a:r>
              <a:rPr lang="en-GB" sz="2800" dirty="0"/>
              <a:t>, </a:t>
            </a:r>
            <a:r>
              <a:rPr lang="en-GB" sz="2800" b="1" dirty="0"/>
              <a:t>Insert</a:t>
            </a:r>
            <a:r>
              <a:rPr lang="en-GB" sz="2800" dirty="0"/>
              <a:t>, </a:t>
            </a:r>
            <a:r>
              <a:rPr lang="en-GB" sz="2800" b="1" dirty="0"/>
              <a:t>Page Layout </a:t>
            </a:r>
            <a:r>
              <a:rPr lang="en-GB" sz="2800" dirty="0"/>
              <a:t>are the examples of ribbon tabs.</a:t>
            </a:r>
          </a:p>
          <a:p>
            <a:endParaRPr lang="en-GB" sz="2800" dirty="0"/>
          </a:p>
          <a:p>
            <a:r>
              <a:rPr lang="en-GB" sz="2800" b="1" dirty="0"/>
              <a:t>Groups</a:t>
            </a:r>
            <a:r>
              <a:rPr lang="en-GB" sz="2800" dirty="0"/>
              <a:t> − They organize related commands; each group name appears below the group on the Ribbon. For example, group of commands related to </a:t>
            </a:r>
            <a:r>
              <a:rPr lang="en-GB" sz="2800" b="1" dirty="0"/>
              <a:t>fonts</a:t>
            </a:r>
            <a:r>
              <a:rPr lang="en-GB" sz="2800" dirty="0"/>
              <a:t> or group of commands related to </a:t>
            </a:r>
            <a:r>
              <a:rPr lang="en-GB" sz="2800" b="1" dirty="0"/>
              <a:t>alignment </a:t>
            </a:r>
            <a:r>
              <a:rPr lang="en-GB" sz="2800" dirty="0"/>
              <a:t>etc.</a:t>
            </a:r>
          </a:p>
          <a:p>
            <a:endParaRPr lang="en-GB" sz="2800" dirty="0"/>
          </a:p>
          <a:p>
            <a:r>
              <a:rPr lang="en-GB" sz="2800" dirty="0"/>
              <a:t> </a:t>
            </a:r>
            <a:r>
              <a:rPr lang="en-GB" sz="2800" b="1" dirty="0"/>
              <a:t>Commands</a:t>
            </a:r>
            <a:r>
              <a:rPr lang="en-GB" sz="2800" dirty="0"/>
              <a:t> − Commands appear within each group as mentioned above.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169B6-917F-4C85-914D-7365AEF23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980728"/>
            <a:ext cx="8812088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69172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116632"/>
            <a:ext cx="6629400" cy="35750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Showing and hiding the Ribbon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4136"/>
            <a:ext cx="9144000" cy="6383864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dirty="0"/>
              <a:t>   If you find that the Ribbon takes up too much screen space, you can hide it. </a:t>
            </a:r>
          </a:p>
          <a:p>
            <a:pPr algn="just">
              <a:buNone/>
            </a:pPr>
            <a:r>
              <a:rPr lang="en-US" dirty="0"/>
              <a:t>   To do this, click the </a:t>
            </a:r>
            <a:r>
              <a:rPr lang="en-US" b="1" dirty="0"/>
              <a:t>Ribbon Display Options arrow </a:t>
            </a:r>
            <a:r>
              <a:rPr lang="en-US" dirty="0"/>
              <a:t>in the </a:t>
            </a:r>
            <a:r>
              <a:rPr lang="en-US" b="1" dirty="0"/>
              <a:t>upper-right corner of the Ribbon</a:t>
            </a:r>
            <a:r>
              <a:rPr lang="en-US" dirty="0"/>
              <a:t>, then select the desired option from the drop-down menu:</a:t>
            </a:r>
          </a:p>
          <a:p>
            <a:pPr algn="just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DB44C9-C4E4-46ED-8F97-3324A7B65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3429000"/>
            <a:ext cx="6408712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0943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Title Bar</a:t>
            </a:r>
          </a:p>
          <a:p>
            <a:pPr algn="just"/>
            <a:r>
              <a:rPr lang="en-GB" sz="2800" dirty="0"/>
              <a:t>This lies in the </a:t>
            </a:r>
            <a:r>
              <a:rPr lang="en-GB" sz="2800" b="1" dirty="0"/>
              <a:t>middle</a:t>
            </a:r>
            <a:r>
              <a:rPr lang="en-GB" sz="2800" dirty="0"/>
              <a:t> and at the </a:t>
            </a:r>
            <a:r>
              <a:rPr lang="en-GB" sz="2800" b="1" dirty="0"/>
              <a:t>top</a:t>
            </a:r>
            <a:r>
              <a:rPr lang="en-GB" sz="2800" dirty="0"/>
              <a:t> of the window.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Title bar shows the program and the sheet titles.</a:t>
            </a:r>
          </a:p>
          <a:p>
            <a:endParaRPr lang="en-GB" sz="28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</a:rPr>
              <a:t>Using the Tell me feature</a:t>
            </a:r>
            <a:endParaRPr lang="en-GB" sz="4000" b="1" dirty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The tell me feature can be used to get excel related help anytime you like. </a:t>
            </a:r>
          </a:p>
          <a:p>
            <a:pPr algn="just"/>
            <a:r>
              <a:rPr lang="en-GB" sz="2800" dirty="0"/>
              <a:t>This provides nice tutorial on various subjects related to excel.</a:t>
            </a:r>
          </a:p>
        </p:txBody>
      </p:sp>
    </p:spTree>
    <p:extLst>
      <p:ext uri="{BB962C8B-B14F-4D97-AF65-F5344CB8AC3E}">
        <p14:creationId xmlns:p14="http://schemas.microsoft.com/office/powerpoint/2010/main" val="98791251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Zoom Control</a:t>
            </a:r>
          </a:p>
          <a:p>
            <a:pPr algn="just"/>
            <a:r>
              <a:rPr lang="en-GB" sz="2800" dirty="0"/>
              <a:t>Zoom control lets you zoom in for a closer look at your text.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The zoom control consists of a </a:t>
            </a:r>
            <a:r>
              <a:rPr lang="en-GB" sz="2800" b="1" dirty="0"/>
              <a:t>slider</a:t>
            </a:r>
            <a:r>
              <a:rPr lang="en-GB" sz="2800" dirty="0"/>
              <a:t> that you can slide </a:t>
            </a:r>
            <a:r>
              <a:rPr lang="en-GB" sz="2800" b="1" dirty="0"/>
              <a:t>left</a:t>
            </a:r>
            <a:r>
              <a:rPr lang="en-GB" sz="2800" dirty="0"/>
              <a:t> or </a:t>
            </a:r>
            <a:r>
              <a:rPr lang="en-GB" sz="2800" b="1" dirty="0"/>
              <a:t>right </a:t>
            </a:r>
            <a:r>
              <a:rPr lang="en-GB" sz="2800" dirty="0"/>
              <a:t>to zoom in or out.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The </a:t>
            </a:r>
            <a:r>
              <a:rPr lang="en-GB" sz="2800" b="1" dirty="0">
                <a:solidFill>
                  <a:srgbClr val="FF0000"/>
                </a:solidFill>
              </a:rPr>
              <a:t>+</a:t>
            </a:r>
            <a:r>
              <a:rPr lang="en-GB" sz="2800" dirty="0"/>
              <a:t> and </a:t>
            </a:r>
            <a:r>
              <a:rPr lang="en-GB" sz="2800" b="1" dirty="0">
                <a:solidFill>
                  <a:srgbClr val="FF0000"/>
                </a:solidFill>
              </a:rPr>
              <a:t>-</a:t>
            </a:r>
            <a:r>
              <a:rPr lang="en-GB" sz="2800" dirty="0"/>
              <a:t> buttons can be clicked to increase or decrease the zoom factor</a:t>
            </a:r>
          </a:p>
          <a:p>
            <a:pPr marL="0" indent="0" algn="just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145924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620688"/>
            <a:ext cx="8884096" cy="6237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Worksheet views.</a:t>
            </a:r>
          </a:p>
          <a:p>
            <a:pPr marL="0" indent="0" algn="just">
              <a:buNone/>
            </a:pPr>
            <a:r>
              <a:rPr lang="en-GB" sz="2800" dirty="0"/>
              <a:t>The group of </a:t>
            </a:r>
            <a:r>
              <a:rPr lang="en-GB" sz="2800" b="1" dirty="0"/>
              <a:t>three buttons </a:t>
            </a:r>
            <a:r>
              <a:rPr lang="en-GB" sz="2800" dirty="0"/>
              <a:t>located to the </a:t>
            </a:r>
            <a:r>
              <a:rPr lang="en-GB" sz="2800" b="1" dirty="0"/>
              <a:t>left of the Zoom control</a:t>
            </a:r>
            <a:r>
              <a:rPr lang="en-GB" sz="2800" dirty="0"/>
              <a:t>, near the bottom of the screen, lets you switch among Excel's various sheet views.</a:t>
            </a:r>
          </a:p>
          <a:p>
            <a:pPr algn="just"/>
            <a:r>
              <a:rPr lang="en-GB" sz="2800" b="1" dirty="0"/>
              <a:t>Normal Layout view </a:t>
            </a:r>
            <a:r>
              <a:rPr lang="en-GB" sz="2800" dirty="0"/>
              <a:t>− This displays the page in normal view.</a:t>
            </a:r>
          </a:p>
          <a:p>
            <a:pPr algn="just"/>
            <a:r>
              <a:rPr lang="en-GB" sz="2800" b="1" dirty="0"/>
              <a:t>Page Layout view </a:t>
            </a:r>
            <a:r>
              <a:rPr lang="en-GB" sz="2800" dirty="0"/>
              <a:t>− This displays pages exactly as they will appear when printed. This gives a full screen look of the document.</a:t>
            </a:r>
          </a:p>
          <a:p>
            <a:pPr algn="just"/>
            <a:r>
              <a:rPr lang="en-GB" sz="2800" b="1" dirty="0"/>
              <a:t>Page Break view </a:t>
            </a:r>
            <a:r>
              <a:rPr lang="en-GB" sz="2800" dirty="0"/>
              <a:t>− This shows a preview of where pages will break when printed.</a:t>
            </a:r>
          </a:p>
          <a:p>
            <a:pPr marL="0" indent="0" algn="just">
              <a:buNone/>
            </a:pPr>
            <a:endParaRPr lang="en-GB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AC80A-1237-4746-A2DE-6920536661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5517232"/>
            <a:ext cx="3409950" cy="110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95312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620688"/>
            <a:ext cx="8884096" cy="6120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Sheet Area</a:t>
            </a:r>
          </a:p>
          <a:p>
            <a:pPr algn="just"/>
            <a:r>
              <a:rPr lang="en-GB" sz="2800" dirty="0"/>
              <a:t>The area where you enter data. 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The flashing vertical bar is called the </a:t>
            </a:r>
            <a:r>
              <a:rPr lang="en-GB" sz="2800" b="1" dirty="0"/>
              <a:t>insertion point</a:t>
            </a:r>
            <a:r>
              <a:rPr lang="en-GB" sz="2800" dirty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 It represents the location where text will appear when you type.</a:t>
            </a:r>
          </a:p>
        </p:txBody>
      </p:sp>
    </p:spTree>
    <p:extLst>
      <p:ext uri="{BB962C8B-B14F-4D97-AF65-F5344CB8AC3E}">
        <p14:creationId xmlns:p14="http://schemas.microsoft.com/office/powerpoint/2010/main" val="2282816675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Row Bar</a:t>
            </a:r>
          </a:p>
          <a:p>
            <a:pPr algn="just"/>
            <a:r>
              <a:rPr lang="en-GB" sz="2800" dirty="0"/>
              <a:t>Rows are numbered from </a:t>
            </a:r>
            <a:r>
              <a:rPr lang="en-GB" sz="2800" b="1" dirty="0"/>
              <a:t>1</a:t>
            </a:r>
            <a:r>
              <a:rPr lang="en-GB" sz="2800" dirty="0"/>
              <a:t> onwards and keeps on increasing as you keep entering data. 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Maximum limit is </a:t>
            </a:r>
            <a:r>
              <a:rPr lang="en-GB" sz="2800" b="1" dirty="0">
                <a:solidFill>
                  <a:srgbClr val="FF0000"/>
                </a:solidFill>
              </a:rPr>
              <a:t>1,048,576</a:t>
            </a:r>
            <a:r>
              <a:rPr lang="en-GB" sz="2800" dirty="0"/>
              <a:t> rows.</a:t>
            </a:r>
          </a:p>
          <a:p>
            <a:pPr algn="just"/>
            <a:endParaRPr lang="en-GB" sz="2800" dirty="0"/>
          </a:p>
          <a:p>
            <a:pPr marL="0" indent="0" algn="just">
              <a:buNone/>
            </a:pPr>
            <a:r>
              <a:rPr lang="en-GB" sz="3600" b="1" dirty="0">
                <a:solidFill>
                  <a:srgbClr val="FF0000"/>
                </a:solidFill>
              </a:rPr>
              <a:t>Column Bar</a:t>
            </a:r>
          </a:p>
          <a:p>
            <a:pPr algn="just"/>
            <a:r>
              <a:rPr lang="en-GB" sz="2800" dirty="0"/>
              <a:t>Columns are numbered from </a:t>
            </a:r>
            <a:r>
              <a:rPr lang="en-GB" sz="2800" b="1" dirty="0">
                <a:solidFill>
                  <a:srgbClr val="FF0000"/>
                </a:solidFill>
              </a:rPr>
              <a:t>A</a:t>
            </a:r>
            <a:r>
              <a:rPr lang="en-GB" sz="2800" dirty="0">
                <a:solidFill>
                  <a:srgbClr val="FF0000"/>
                </a:solidFill>
              </a:rPr>
              <a:t> </a:t>
            </a:r>
            <a:r>
              <a:rPr lang="en-GB" sz="2800" dirty="0"/>
              <a:t>onwards and keeps on increasing as you keep entering data. </a:t>
            </a:r>
          </a:p>
          <a:p>
            <a:pPr algn="just"/>
            <a:r>
              <a:rPr lang="en-GB" sz="2800" dirty="0"/>
              <a:t>After </a:t>
            </a:r>
            <a:r>
              <a:rPr lang="en-GB" sz="2800" b="1" dirty="0">
                <a:solidFill>
                  <a:srgbClr val="FF0000"/>
                </a:solidFill>
              </a:rPr>
              <a:t>Z</a:t>
            </a:r>
            <a:r>
              <a:rPr lang="en-GB" sz="2800" dirty="0"/>
              <a:t>, it will start the series of </a:t>
            </a:r>
            <a:r>
              <a:rPr lang="en-GB" sz="2800" b="1" dirty="0">
                <a:solidFill>
                  <a:srgbClr val="FF0000"/>
                </a:solidFill>
              </a:rPr>
              <a:t>AA</a:t>
            </a:r>
            <a:r>
              <a:rPr lang="en-GB" sz="2800" dirty="0"/>
              <a:t>, </a:t>
            </a:r>
            <a:r>
              <a:rPr lang="en-GB" sz="2800" b="1" dirty="0">
                <a:solidFill>
                  <a:srgbClr val="FF0000"/>
                </a:solidFill>
              </a:rPr>
              <a:t>AB</a:t>
            </a:r>
            <a:r>
              <a:rPr lang="en-GB" sz="2800" dirty="0"/>
              <a:t> and so on. Maximum limit is </a:t>
            </a:r>
            <a:r>
              <a:rPr lang="en-GB" sz="2800" b="1" dirty="0">
                <a:solidFill>
                  <a:srgbClr val="FF0000"/>
                </a:solidFill>
              </a:rPr>
              <a:t>16,384</a:t>
            </a:r>
            <a:r>
              <a:rPr lang="en-GB" sz="2800" dirty="0"/>
              <a:t> columns.</a:t>
            </a:r>
          </a:p>
        </p:txBody>
      </p:sp>
    </p:spTree>
    <p:extLst>
      <p:ext uri="{BB962C8B-B14F-4D97-AF65-F5344CB8AC3E}">
        <p14:creationId xmlns:p14="http://schemas.microsoft.com/office/powerpoint/2010/main" val="503359022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548680"/>
            <a:ext cx="8884096" cy="61926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Status Bar.</a:t>
            </a:r>
          </a:p>
          <a:p>
            <a:pPr algn="just"/>
            <a:r>
              <a:rPr lang="en-GB" sz="2800" dirty="0"/>
              <a:t>This displays the current status of the active cell in the worksheet.</a:t>
            </a:r>
          </a:p>
          <a:p>
            <a:pPr marL="0" indent="0" algn="just">
              <a:buNone/>
            </a:pPr>
            <a:r>
              <a:rPr lang="en-GB" sz="2800" dirty="0"/>
              <a:t>A cell can be in either of these </a:t>
            </a:r>
            <a:r>
              <a:rPr lang="en-GB" sz="2800" b="1" dirty="0"/>
              <a:t>fours</a:t>
            </a:r>
            <a:r>
              <a:rPr lang="en-GB" sz="2800" dirty="0"/>
              <a:t> states:</a:t>
            </a:r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Ready</a:t>
            </a:r>
            <a:r>
              <a:rPr lang="en-GB" sz="2800" dirty="0"/>
              <a:t> mode which indicates that the worksheet is ready to accept user input.</a:t>
            </a:r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Edit</a:t>
            </a:r>
            <a:r>
              <a:rPr lang="en-GB" sz="2800" dirty="0"/>
              <a:t> mode indicates that cell is in editing mode, if it is not activated then you can activate editing mode by </a:t>
            </a:r>
            <a:r>
              <a:rPr lang="en-GB" sz="2800" b="1" dirty="0"/>
              <a:t>double-clicking on a cell.</a:t>
            </a:r>
          </a:p>
          <a:p>
            <a:pPr algn="just"/>
            <a:r>
              <a:rPr lang="en-GB" sz="2800" dirty="0"/>
              <a:t>A cell enters into </a:t>
            </a:r>
            <a:r>
              <a:rPr lang="en-GB" sz="2800" b="1" dirty="0">
                <a:solidFill>
                  <a:srgbClr val="FF0000"/>
                </a:solidFill>
              </a:rPr>
              <a:t>Enter </a:t>
            </a:r>
            <a:r>
              <a:rPr lang="en-GB" sz="2800" dirty="0"/>
              <a:t>mode when a user types data into a cell.</a:t>
            </a:r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Point</a:t>
            </a:r>
            <a:r>
              <a:rPr lang="en-GB" sz="2800" dirty="0"/>
              <a:t> mode triggers when a formula is being entered using a cell reference by mouse pointing or the arrow keys on the keyboard.</a:t>
            </a:r>
          </a:p>
        </p:txBody>
      </p:sp>
    </p:spTree>
    <p:extLst>
      <p:ext uri="{BB962C8B-B14F-4D97-AF65-F5344CB8AC3E}">
        <p14:creationId xmlns:p14="http://schemas.microsoft.com/office/powerpoint/2010/main" val="3511109359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Entering Values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548680"/>
            <a:ext cx="8884096" cy="6192688"/>
          </a:xfrm>
        </p:spPr>
        <p:txBody>
          <a:bodyPr>
            <a:normAutofit/>
          </a:bodyPr>
          <a:lstStyle/>
          <a:p>
            <a:pPr algn="just"/>
            <a:r>
              <a:rPr lang="en-GB" sz="2800" b="1" dirty="0"/>
              <a:t>Sheet area </a:t>
            </a:r>
            <a:r>
              <a:rPr lang="en-GB" sz="2800" dirty="0"/>
              <a:t>is the place where you type your text.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The </a:t>
            </a:r>
            <a:r>
              <a:rPr lang="en-GB" sz="2800" b="1" dirty="0"/>
              <a:t>flashing vertical bar </a:t>
            </a:r>
            <a:r>
              <a:rPr lang="en-GB" sz="2800" dirty="0"/>
              <a:t>is called the </a:t>
            </a:r>
            <a:r>
              <a:rPr lang="en-GB" sz="2800" b="1" dirty="0"/>
              <a:t>insertion point </a:t>
            </a:r>
            <a:r>
              <a:rPr lang="en-GB" sz="2800" dirty="0"/>
              <a:t>and it represents the location where text will appear when you type.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When you click on a box then the box is highlighted.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When you double click the box, the flashing vertical bar appears and you can start entering your data.</a:t>
            </a:r>
          </a:p>
        </p:txBody>
      </p:sp>
    </p:spTree>
    <p:extLst>
      <p:ext uri="{BB962C8B-B14F-4D97-AF65-F5344CB8AC3E}">
        <p14:creationId xmlns:p14="http://schemas.microsoft.com/office/powerpoint/2010/main" val="3631605835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Entering Values in Excel </a:t>
            </a:r>
          </a:p>
        </p:txBody>
      </p:sp>
      <p:pic>
        <p:nvPicPr>
          <p:cNvPr id="9218" name="Picture 2" descr="C:\Users\UCCSMS1\Desktop\images\enter_text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08720"/>
            <a:ext cx="8280920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74484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Entering Values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algn="just"/>
            <a:endParaRPr lang="en-GB" sz="2800" dirty="0"/>
          </a:p>
          <a:p>
            <a:pPr algn="just"/>
            <a:r>
              <a:rPr lang="en-GB" sz="2800" dirty="0"/>
              <a:t>keep your mouse cursor at the text insertion point and start typing whatever text you would like to type.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We have typed only two words "</a:t>
            </a:r>
            <a:r>
              <a:rPr lang="en-GB" sz="2800" b="1" dirty="0"/>
              <a:t>Hello Excel</a:t>
            </a:r>
            <a:r>
              <a:rPr lang="en-GB" sz="2800" dirty="0"/>
              <a:t>" as shown below. 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The text appears to the </a:t>
            </a:r>
            <a:r>
              <a:rPr lang="en-GB" sz="2800" b="1" dirty="0"/>
              <a:t>left of the insertion point</a:t>
            </a:r>
            <a:r>
              <a:rPr lang="en-GB" sz="2800" dirty="0"/>
              <a:t> as you type.</a:t>
            </a:r>
          </a:p>
        </p:txBody>
      </p:sp>
    </p:spTree>
    <p:extLst>
      <p:ext uri="{BB962C8B-B14F-4D97-AF65-F5344CB8AC3E}">
        <p14:creationId xmlns:p14="http://schemas.microsoft.com/office/powerpoint/2010/main" val="80814086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Entering Values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 lnSpcReduction="10000"/>
          </a:bodyPr>
          <a:lstStyle/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marL="0" indent="0" algn="just">
              <a:buNone/>
            </a:pPr>
            <a:r>
              <a:rPr lang="en-GB" sz="2800" dirty="0"/>
              <a:t>There are following three important points, which would help you while typing −</a:t>
            </a:r>
          </a:p>
          <a:p>
            <a:pPr algn="just"/>
            <a:r>
              <a:rPr lang="en-GB" sz="2800" dirty="0"/>
              <a:t>Press</a:t>
            </a:r>
            <a:r>
              <a:rPr lang="en-GB" sz="2800" b="1" dirty="0"/>
              <a:t> Tab</a:t>
            </a:r>
            <a:r>
              <a:rPr lang="en-GB" sz="2800" dirty="0"/>
              <a:t> to go to next column.</a:t>
            </a:r>
          </a:p>
          <a:p>
            <a:pPr algn="just"/>
            <a:r>
              <a:rPr lang="en-GB" sz="2800" dirty="0"/>
              <a:t>Press</a:t>
            </a:r>
            <a:r>
              <a:rPr lang="en-GB" sz="2800" b="1" dirty="0"/>
              <a:t> Enter </a:t>
            </a:r>
            <a:r>
              <a:rPr lang="en-GB" sz="2800" dirty="0"/>
              <a:t>to go to next row.</a:t>
            </a:r>
          </a:p>
          <a:p>
            <a:pPr algn="just"/>
            <a:r>
              <a:rPr lang="en-GB" sz="2800" dirty="0"/>
              <a:t>Press </a:t>
            </a:r>
            <a:r>
              <a:rPr lang="en-GB" sz="2800" b="1" dirty="0"/>
              <a:t>Alt + Enter </a:t>
            </a:r>
            <a:r>
              <a:rPr lang="en-GB" sz="2800" dirty="0"/>
              <a:t>to enter a new line in the same column.</a:t>
            </a:r>
          </a:p>
        </p:txBody>
      </p:sp>
      <p:pic>
        <p:nvPicPr>
          <p:cNvPr id="10243" name="Picture 3" descr="C:\Users\UCCSMS1\Desktop\images\hello_exce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20688"/>
            <a:ext cx="7272808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0601438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Entering Values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4838"/>
            <a:ext cx="9144000" cy="6253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4359227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Entering Values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12290" name="Picture 2" descr="C:\Users\UCCSMS1\Desktop\images\excel_sample_tex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48680"/>
            <a:ext cx="8784976" cy="619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074283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Entering Values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800" b="1" dirty="0"/>
              <a:t>Moving with Mouse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13314" name="Picture 2" descr="C:\Users\UCCSMS1\Desktop\images\excel_scroll_b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24744"/>
            <a:ext cx="7416824" cy="54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370097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Save Workbook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 </a:t>
            </a:r>
          </a:p>
          <a:p>
            <a:pPr algn="just"/>
            <a:r>
              <a:rPr lang="en-GB" sz="2800" dirty="0"/>
              <a:t>Click the File tab and select Save As option.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14338" name="Picture 2" descr="C:\Users\UCCSMS1\Desktop\images\save_a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772816"/>
            <a:ext cx="7488832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828126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Save Workbook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Select a folder where you would like to save the sheet, </a:t>
            </a:r>
            <a:r>
              <a:rPr lang="en-GB" sz="2800" b="1" dirty="0"/>
              <a:t>Enter file name</a:t>
            </a:r>
            <a:r>
              <a:rPr lang="en-GB" sz="2800" dirty="0"/>
              <a:t>, which you want to give to your sheet and Select a Save as type, by default it is </a:t>
            </a:r>
            <a:r>
              <a:rPr lang="en-GB" sz="2800" b="1" dirty="0"/>
              <a:t>.</a:t>
            </a:r>
            <a:r>
              <a:rPr lang="en-GB" sz="2800" b="1" dirty="0" err="1"/>
              <a:t>xlsx</a:t>
            </a:r>
            <a:r>
              <a:rPr lang="en-GB" sz="2800" b="1" dirty="0"/>
              <a:t> </a:t>
            </a:r>
            <a:r>
              <a:rPr lang="en-GB" sz="2800" dirty="0"/>
              <a:t>format.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15362" name="Picture 2" descr="C:\Users\UCCSMS1\Desktop\images\sav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564904"/>
            <a:ext cx="6097860" cy="4152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2631021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Creating New Worksheet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Right Click the </a:t>
            </a:r>
            <a:r>
              <a:rPr lang="en-GB" sz="2800" b="1" dirty="0"/>
              <a:t>Sheet Name </a:t>
            </a:r>
            <a:r>
              <a:rPr lang="en-GB" sz="2800" dirty="0"/>
              <a:t>and select </a:t>
            </a:r>
            <a:r>
              <a:rPr lang="en-GB" sz="2800" b="1" dirty="0"/>
              <a:t>Insert</a:t>
            </a:r>
            <a:r>
              <a:rPr lang="en-GB" sz="2800" dirty="0"/>
              <a:t> option.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16386" name="Picture 2" descr="C:\Users\UCCSMS1\Desktop\images\new_shee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772816"/>
            <a:ext cx="5715000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993731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Creating New Worksheet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Now you'll see the Insert dialog with select Worksheet option as selected from the general tab. Click the </a:t>
            </a:r>
            <a:r>
              <a:rPr lang="en-GB" sz="2800" b="1" dirty="0"/>
              <a:t>Ok</a:t>
            </a:r>
            <a:r>
              <a:rPr lang="en-GB" sz="2800" dirty="0"/>
              <a:t> button.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17410" name="Picture 2" descr="C:\Users\UCCSMS1\Desktop\images\insert_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276872"/>
            <a:ext cx="7056784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2342988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Creating New Worksheet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Now you should have your blank sheet as shown below ready to start typing your text.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You can use a short  cut </a:t>
            </a:r>
            <a:r>
              <a:rPr lang="en-GB" sz="2800" b="1" dirty="0">
                <a:solidFill>
                  <a:srgbClr val="FF0000"/>
                </a:solidFill>
              </a:rPr>
              <a:t>Shift+F11</a:t>
            </a:r>
            <a:r>
              <a:rPr lang="en-GB" sz="2800" dirty="0">
                <a:solidFill>
                  <a:srgbClr val="FF0000"/>
                </a:solidFill>
              </a:rPr>
              <a:t> </a:t>
            </a:r>
            <a:r>
              <a:rPr lang="en-GB" sz="2800" dirty="0"/>
              <a:t> to create a blank sheet anytime.</a:t>
            </a:r>
          </a:p>
          <a:p>
            <a:pPr marL="0" indent="0" algn="just">
              <a:buNone/>
            </a:pPr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18434" name="Picture 2" descr="C:\Users\UCCSMS1\Desktop\images\blank_shee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060848"/>
            <a:ext cx="6264696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758806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Copy Worksheet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Right Click the </a:t>
            </a:r>
            <a:r>
              <a:rPr lang="en-GB" sz="2800" b="1" dirty="0"/>
              <a:t>Sheet Name</a:t>
            </a:r>
            <a:r>
              <a:rPr lang="en-GB" sz="2800" dirty="0"/>
              <a:t> and select the </a:t>
            </a:r>
            <a:r>
              <a:rPr lang="en-GB" sz="2800" b="1" dirty="0"/>
              <a:t>Move or Copy </a:t>
            </a:r>
            <a:r>
              <a:rPr lang="en-GB" sz="2800" dirty="0"/>
              <a:t>option.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19458" name="Picture 2" descr="C:\Users\UCCSMS1\Desktop\images\copy_shee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844824"/>
            <a:ext cx="6120680" cy="460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339401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Copy Worksheet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Now you'll see the Move or Copy dialog with select Worksheet option as selected from the general tab. Click the </a:t>
            </a:r>
            <a:r>
              <a:rPr lang="en-GB" sz="2800" b="1" dirty="0"/>
              <a:t>Ok</a:t>
            </a:r>
            <a:r>
              <a:rPr lang="en-GB" sz="2800" dirty="0"/>
              <a:t> button.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20482" name="Picture 2" descr="C:\Users\UCCSMS1\Desktop\images\copy_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279786"/>
            <a:ext cx="5616624" cy="417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539830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Copy Worksheet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You can rename the sheet by </a:t>
            </a:r>
            <a:r>
              <a:rPr lang="en-GB" sz="2800" b="1" dirty="0"/>
              <a:t>double clicking </a:t>
            </a:r>
            <a:r>
              <a:rPr lang="en-GB" sz="2800" dirty="0"/>
              <a:t>on it. On double click, the sheet name becomes editable. Enter any name say Sheet5 and press Tab or Enter Key.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21506" name="Picture 2" descr="C:\Users\UCCSMS1\Desktop\images\copy_sheet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620688"/>
            <a:ext cx="7344816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2968580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Hiding Worksheet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Right Click the </a:t>
            </a:r>
            <a:r>
              <a:rPr lang="en-GB" sz="2800" b="1" dirty="0"/>
              <a:t>Sheet Name</a:t>
            </a:r>
            <a:r>
              <a:rPr lang="en-GB" sz="2800" dirty="0"/>
              <a:t> and select the </a:t>
            </a:r>
            <a:r>
              <a:rPr lang="en-GB" sz="2800" b="1" dirty="0"/>
              <a:t>Hide</a:t>
            </a:r>
            <a:r>
              <a:rPr lang="en-GB" sz="2800" dirty="0"/>
              <a:t> option. Sheet will get hidden.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22530" name="Picture 2" descr="C:\Users\UCCSMS1\Desktop\images\hide_shee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132856"/>
            <a:ext cx="6120680" cy="4304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570134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Unhiding Worksheet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Right Click on any Sheet Name and select the Unhide... option.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23554" name="Picture 2" descr="C:\Users\UCCSMS1\Desktop\images\unhide_shee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060848"/>
            <a:ext cx="5334000" cy="4132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427939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Worksheet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Right Click the Sheet Name and select the Delete option.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24578" name="Picture 2" descr="C:\Users\UCCSMS1\Desktop\images\delete_shee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844824"/>
            <a:ext cx="6264696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719046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Worksheet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Sheet will get deleted if it is empty, otherwise you'll see a confirmation message.</a:t>
            </a:r>
          </a:p>
          <a:p>
            <a:pPr algn="just"/>
            <a:r>
              <a:rPr lang="en-GB" sz="2800" dirty="0"/>
              <a:t>Press the Delete Button.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25602" name="Picture 2" descr="C:\Users\UCCSMS1\Desktop\images\delete_sheet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564904"/>
            <a:ext cx="7056784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197348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Close Workbook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Click the Close Button as shown below.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26626" name="Picture 2" descr="C:\Users\UCCSMS1\Desktop\images\close_workboo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73408"/>
            <a:ext cx="5343525" cy="453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557904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Close Workbook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You'll see a confirmation message to save the workbook.</a:t>
            </a:r>
          </a:p>
          <a:p>
            <a:pPr algn="just"/>
            <a:r>
              <a:rPr lang="en-GB" sz="2800" dirty="0"/>
              <a:t>Press the Save Button to save the workbook as we did in MS Excel - Save Workbook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27650" name="Picture 2" descr="C:\Users\UCCSMS1\Desktop\images\close_workbook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564904"/>
            <a:ext cx="6624736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499377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Open Workbook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800" dirty="0"/>
              <a:t>Click the </a:t>
            </a:r>
            <a:r>
              <a:rPr lang="en-GB" sz="2800" b="1" dirty="0"/>
              <a:t>File Menu </a:t>
            </a:r>
            <a:r>
              <a:rPr lang="en-GB" sz="2800" dirty="0"/>
              <a:t>as shown below. You can see the </a:t>
            </a:r>
            <a:r>
              <a:rPr lang="en-GB" sz="2800" b="1" dirty="0"/>
              <a:t>Open option</a:t>
            </a:r>
            <a:r>
              <a:rPr lang="en-GB" sz="2800" dirty="0"/>
              <a:t> in </a:t>
            </a:r>
            <a:r>
              <a:rPr lang="en-GB" sz="2800" b="1" dirty="0"/>
              <a:t>File Menu</a:t>
            </a:r>
            <a:r>
              <a:rPr lang="en-GB" sz="2800" dirty="0"/>
              <a:t>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28674" name="Picture 2" descr="C:\Users\UCCSMS1\Desktop\images\fileopenmenu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988840"/>
            <a:ext cx="6840760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0391251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Open Workbook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</a:p>
          <a:p>
            <a:pPr algn="just"/>
            <a:r>
              <a:rPr lang="en-GB" sz="2800" dirty="0"/>
              <a:t>Clicking the Open Option will open the browse dialog as shown below. Browse the directory and find the file you need to open.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29698" name="Picture 2" descr="C:\Users\UCCSMS1\Desktop\images\open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420888"/>
            <a:ext cx="6912768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600089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Open Workbook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3</a:t>
            </a:r>
          </a:p>
          <a:p>
            <a:pPr algn="just"/>
            <a:r>
              <a:rPr lang="en-GB" sz="2800" dirty="0"/>
              <a:t>Once you select the workbook your workbook will be opened as below.</a:t>
            </a:r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30722" name="Picture 2" descr="C:\Users\UCCSMS1\Desktop\images\openworkboo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988840"/>
            <a:ext cx="7056784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86707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Context Help in Excel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</a:t>
            </a:r>
          </a:p>
          <a:p>
            <a:pPr algn="just"/>
            <a:r>
              <a:rPr lang="en-GB" sz="2400" dirty="0"/>
              <a:t>MS Excel provides context sensitive help on </a:t>
            </a:r>
            <a:r>
              <a:rPr lang="en-GB" sz="2400" b="1" dirty="0"/>
              <a:t>mouse over</a:t>
            </a:r>
            <a:r>
              <a:rPr lang="en-GB" sz="2400" dirty="0"/>
              <a:t>.</a:t>
            </a:r>
          </a:p>
          <a:p>
            <a:pPr algn="just"/>
            <a:r>
              <a:rPr lang="en-GB" sz="2400" dirty="0"/>
              <a:t>To see context sensitive help for a particular Menu option, </a:t>
            </a:r>
            <a:r>
              <a:rPr lang="en-GB" sz="2400" b="1" dirty="0"/>
              <a:t>hover the mouse over the option for some time</a:t>
            </a:r>
            <a:r>
              <a:rPr lang="en-GB" sz="2400" dirty="0"/>
              <a:t>. </a:t>
            </a:r>
          </a:p>
          <a:p>
            <a:pPr algn="just"/>
            <a:r>
              <a:rPr lang="en-GB" sz="2400" dirty="0"/>
              <a:t>Then you can see the context sensitive Help as shown below.</a:t>
            </a:r>
          </a:p>
          <a:p>
            <a:pPr algn="just"/>
            <a:endParaRPr lang="en-GB" sz="2400" dirty="0"/>
          </a:p>
          <a:p>
            <a:pPr algn="just"/>
            <a:endParaRPr lang="en-GB" sz="2800" dirty="0"/>
          </a:p>
          <a:p>
            <a:pPr algn="just"/>
            <a:endParaRPr lang="en-GB" sz="2800" dirty="0"/>
          </a:p>
        </p:txBody>
      </p:sp>
      <p:pic>
        <p:nvPicPr>
          <p:cNvPr id="31746" name="Picture 2" descr="C:\Users\UCCSMS1\Desktop\images\context_sensitive_hel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737342"/>
            <a:ext cx="5067300" cy="396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82587"/>
      </p:ext>
    </p:extLst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/>
          </a:p>
          <a:p>
            <a:pPr algn="ctr">
              <a:buFont typeface="Arial" charset="0"/>
              <a:buNone/>
            </a:pPr>
            <a:endParaRPr lang="en-US" b="1"/>
          </a:p>
          <a:p>
            <a:pPr algn="ctr">
              <a:buFont typeface="Arial" charset="0"/>
              <a:buNone/>
            </a:pPr>
            <a:endParaRPr lang="en-US" sz="3200" b="1"/>
          </a:p>
        </p:txBody>
      </p:sp>
      <p:pic>
        <p:nvPicPr>
          <p:cNvPr id="4" name="Google Shape;273;p46"/>
          <p:cNvPicPr preferRelativeResize="0"/>
          <p:nvPr/>
        </p:nvPicPr>
        <p:blipFill rotWithShape="1">
          <a:blip r:embed="rId3">
            <a:alphaModFix/>
          </a:blip>
          <a:srcRect b="4789"/>
          <a:stretch/>
        </p:blipFill>
        <p:spPr>
          <a:xfrm>
            <a:off x="2339752" y="1340768"/>
            <a:ext cx="5256584" cy="4104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472022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/>
          </a:p>
          <a:p>
            <a:pPr algn="ctr">
              <a:buFont typeface="Arial" charset="0"/>
              <a:buNone/>
            </a:pPr>
            <a:endParaRPr lang="en-US" b="1"/>
          </a:p>
          <a:p>
            <a:pPr algn="ctr">
              <a:buFont typeface="Arial" charset="0"/>
              <a:buNone/>
            </a:pPr>
            <a:endParaRPr lang="en-US" sz="3200" b="1"/>
          </a:p>
        </p:txBody>
      </p:sp>
      <p:sp>
        <p:nvSpPr>
          <p:cNvPr id="5" name="Rectangle 4"/>
          <p:cNvSpPr/>
          <p:nvPr/>
        </p:nvSpPr>
        <p:spPr>
          <a:xfrm>
            <a:off x="2071670" y="2967335"/>
            <a:ext cx="5143536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GB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359839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11814</TotalTime>
  <Words>1671</Words>
  <Application>Microsoft Office PowerPoint</Application>
  <PresentationFormat>On-screen Show (4:3)</PresentationFormat>
  <Paragraphs>365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Arial Black</vt:lpstr>
      <vt:lpstr>Calibri</vt:lpstr>
      <vt:lpstr>Wingdings</vt:lpstr>
      <vt:lpstr>Office Theme</vt:lpstr>
      <vt:lpstr>PowerPoint Presentation</vt:lpstr>
      <vt:lpstr>PowerPoint Presentation</vt:lpstr>
      <vt:lpstr>Objectives Overview</vt:lpstr>
      <vt:lpstr>Objectives Overview</vt:lpstr>
      <vt:lpstr>MS Excel Basics</vt:lpstr>
      <vt:lpstr>Getting Started Excel 2019</vt:lpstr>
      <vt:lpstr>Getting Started Excel 2019</vt:lpstr>
      <vt:lpstr>Getting Started Excel 2019</vt:lpstr>
      <vt:lpstr>Getting Started with Excel 2019</vt:lpstr>
      <vt:lpstr>Explore Window in Excel 2019</vt:lpstr>
      <vt:lpstr>Explore Window in Excel 2019</vt:lpstr>
      <vt:lpstr> Backstage view</vt:lpstr>
      <vt:lpstr>Explore Window in Excel 2019</vt:lpstr>
      <vt:lpstr>Explore Window in Excel 2019</vt:lpstr>
      <vt:lpstr>Showing and hiding the Ribbon</vt:lpstr>
      <vt:lpstr>Explore Window in Excel 2019</vt:lpstr>
      <vt:lpstr>Explore Window in Excel </vt:lpstr>
      <vt:lpstr>Explore Window in Excel </vt:lpstr>
      <vt:lpstr>Explore Window in Excel </vt:lpstr>
      <vt:lpstr>Explore Window in Excel </vt:lpstr>
      <vt:lpstr>Explore Window in Excel </vt:lpstr>
      <vt:lpstr>Entering Values in Excel </vt:lpstr>
      <vt:lpstr>Entering Values in Excel </vt:lpstr>
      <vt:lpstr>Entering Values in Excel </vt:lpstr>
      <vt:lpstr>Entering Values in Excel </vt:lpstr>
      <vt:lpstr>Entering Values in Excel </vt:lpstr>
      <vt:lpstr>Entering Values in Excel </vt:lpstr>
      <vt:lpstr>Entering Values in Excel </vt:lpstr>
      <vt:lpstr>Save Workbook in Excel </vt:lpstr>
      <vt:lpstr>Save Workbook in Excel </vt:lpstr>
      <vt:lpstr>Creating New Worksheet</vt:lpstr>
      <vt:lpstr>Creating New Worksheet</vt:lpstr>
      <vt:lpstr>Creating New Worksheet</vt:lpstr>
      <vt:lpstr>Copy Worksheet in Excel </vt:lpstr>
      <vt:lpstr>Copy Worksheet in Excel </vt:lpstr>
      <vt:lpstr>Copy Worksheet in Excel </vt:lpstr>
      <vt:lpstr>Hiding Worksheet</vt:lpstr>
      <vt:lpstr>Unhiding Worksheet</vt:lpstr>
      <vt:lpstr>Delete Worksheet in Excel </vt:lpstr>
      <vt:lpstr>Delete Worksheet in Excel </vt:lpstr>
      <vt:lpstr>Close Workbook in Excel </vt:lpstr>
      <vt:lpstr>Close Workbook in Excel 2010</vt:lpstr>
      <vt:lpstr>Open Workbook in Excel </vt:lpstr>
      <vt:lpstr>Open Workbook in Excel </vt:lpstr>
      <vt:lpstr>Open Workbook in Excel </vt:lpstr>
      <vt:lpstr>Context Help in Excel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USER</cp:lastModifiedBy>
  <cp:revision>403</cp:revision>
  <dcterms:created xsi:type="dcterms:W3CDTF">2008-12-18T17:11:12Z</dcterms:created>
  <dcterms:modified xsi:type="dcterms:W3CDTF">2023-02-26T21:08:20Z</dcterms:modified>
</cp:coreProperties>
</file>
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1"/>
  </p:notesMasterIdLst>
  <p:sldIdLst>
    <p:sldId id="260" r:id="rId2"/>
    <p:sldId id="385" r:id="rId3"/>
    <p:sldId id="294" r:id="rId4"/>
    <p:sldId id="264" r:id="rId5"/>
    <p:sldId id="441" r:id="rId6"/>
    <p:sldId id="442" r:id="rId7"/>
    <p:sldId id="443" r:id="rId8"/>
    <p:sldId id="444" r:id="rId9"/>
    <p:sldId id="445" r:id="rId10"/>
    <p:sldId id="446" r:id="rId11"/>
    <p:sldId id="447" r:id="rId12"/>
    <p:sldId id="448" r:id="rId13"/>
    <p:sldId id="449" r:id="rId14"/>
    <p:sldId id="450" r:id="rId15"/>
    <p:sldId id="451" r:id="rId16"/>
    <p:sldId id="452" r:id="rId17"/>
    <p:sldId id="453" r:id="rId18"/>
    <p:sldId id="454" r:id="rId19"/>
    <p:sldId id="455" r:id="rId20"/>
    <p:sldId id="456" r:id="rId21"/>
    <p:sldId id="457" r:id="rId22"/>
    <p:sldId id="458" r:id="rId23"/>
    <p:sldId id="459" r:id="rId24"/>
    <p:sldId id="460" r:id="rId25"/>
    <p:sldId id="461" r:id="rId26"/>
    <p:sldId id="462" r:id="rId27"/>
    <p:sldId id="463" r:id="rId28"/>
    <p:sldId id="464" r:id="rId29"/>
    <p:sldId id="465" r:id="rId30"/>
    <p:sldId id="466" r:id="rId31"/>
    <p:sldId id="467" r:id="rId32"/>
    <p:sldId id="468" r:id="rId33"/>
    <p:sldId id="469" r:id="rId34"/>
    <p:sldId id="470" r:id="rId35"/>
    <p:sldId id="471" r:id="rId36"/>
    <p:sldId id="472" r:id="rId37"/>
    <p:sldId id="473" r:id="rId38"/>
    <p:sldId id="474" r:id="rId39"/>
    <p:sldId id="475" r:id="rId40"/>
    <p:sldId id="476" r:id="rId41"/>
    <p:sldId id="477" r:id="rId42"/>
    <p:sldId id="478" r:id="rId43"/>
    <p:sldId id="479" r:id="rId44"/>
    <p:sldId id="480" r:id="rId45"/>
    <p:sldId id="481" r:id="rId46"/>
    <p:sldId id="482" r:id="rId47"/>
    <p:sldId id="483" r:id="rId48"/>
    <p:sldId id="484" r:id="rId49"/>
    <p:sldId id="485" r:id="rId50"/>
    <p:sldId id="486" r:id="rId51"/>
    <p:sldId id="487" r:id="rId52"/>
    <p:sldId id="488" r:id="rId53"/>
    <p:sldId id="489" r:id="rId54"/>
    <p:sldId id="490" r:id="rId55"/>
    <p:sldId id="491" r:id="rId56"/>
    <p:sldId id="492" r:id="rId57"/>
    <p:sldId id="493" r:id="rId58"/>
    <p:sldId id="440" r:id="rId59"/>
    <p:sldId id="384"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13" autoAdjust="0"/>
  </p:normalViewPr>
  <p:slideViewPr>
    <p:cSldViewPr>
      <p:cViewPr varScale="1">
        <p:scale>
          <a:sx n="66" d="100"/>
          <a:sy n="66" d="100"/>
        </p:scale>
        <p:origin x="1506" y="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970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p>
        <a:p>
          <a:r>
            <a:rPr lang="en-US" dirty="0"/>
            <a:t>Microsoft Excel </a:t>
          </a:r>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custT="1"/>
      <dgm:spPr/>
      <dgm:t>
        <a:bodyPr/>
        <a:lstStyle/>
        <a:p>
          <a:r>
            <a:rPr lang="en-US" sz="4800" dirty="0"/>
            <a:t>Doing More with Excel</a:t>
          </a:r>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65DCDAFD-8909-4CCC-96D3-23F19B6A2257}" type="presOf" srcId="{7D821BC7-213D-4CEC-978A-9CFFE70F3D67}" destId="{9972E4C6-FDD6-4F32-8994-B9E0115268C3}" srcOrd="0" destOrd="0" presId="urn:microsoft.com/office/officeart/2005/8/layout/default#1"/>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a:t>How to use pivot tables in excel</a:t>
          </a:r>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a:t>How to use what-if-analysis in excel</a:t>
          </a:r>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a:t>How </a:t>
          </a:r>
          <a:r>
            <a:rPr lang="en-US" dirty="0" err="1"/>
            <a:t>excel’s</a:t>
          </a:r>
          <a:r>
            <a:rPr lang="en-US" dirty="0"/>
            <a:t> </a:t>
          </a:r>
          <a:r>
            <a:rPr lang="en-US" dirty="0" err="1"/>
            <a:t>Vlookup</a:t>
          </a:r>
          <a:r>
            <a:rPr lang="en-US" dirty="0"/>
            <a:t> function</a:t>
          </a:r>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endParaRPr lang="en-US" dirty="0"/>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endParaRPr lang="en-US" dirty="0"/>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DD6D7DD-EDB4-49BD-B2D7-2904746F16F9}">
      <dgm:prSet/>
      <dgm:spPr/>
      <dgm:t>
        <a:bodyPr/>
        <a:lstStyle/>
        <a:p>
          <a:endParaRPr lang="en-US" dirty="0"/>
        </a:p>
      </dgm:t>
    </dgm:pt>
    <dgm:pt modelId="{7DAA3B4A-706D-4CFB-93DC-D20404C2BD7E}" type="parTrans" cxnId="{755EC063-173A-4B5C-ABCC-24F3FF489A36}">
      <dgm:prSet/>
      <dgm:spPr/>
      <dgm:t>
        <a:bodyPr/>
        <a:lstStyle/>
        <a:p>
          <a:endParaRPr lang="en-US"/>
        </a:p>
      </dgm:t>
    </dgm:pt>
    <dgm:pt modelId="{8A17AD58-9530-4284-87F0-5AE4407E2671}" type="sibTrans" cxnId="{755EC063-173A-4B5C-ABCC-24F3FF489A36}">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E43CDCF3-D5B2-4556-A6FF-1FBA940E878F}" type="pres">
      <dgm:prSet presAssocID="{F9022B54-68C2-4973-9A00-460029290542}" presName="node" presStyleLbl="node1" presStyleIdx="0" presStyleCnt="6">
        <dgm:presLayoutVars>
          <dgm:bulletEnabled val="1"/>
        </dgm:presLayoutVars>
      </dgm:prSet>
      <dgm:spPr/>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6">
        <dgm:presLayoutVars>
          <dgm:bulletEnabled val="1"/>
        </dgm:presLayoutVars>
      </dgm:prSet>
      <dgm:spPr/>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6">
        <dgm:presLayoutVars>
          <dgm:bulletEnabled val="1"/>
        </dgm:presLayoutVars>
      </dgm:prSet>
      <dgm:spPr/>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6">
        <dgm:presLayoutVars>
          <dgm:bulletEnabled val="1"/>
        </dgm:presLayoutVars>
      </dgm:prSet>
      <dgm:spPr/>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6" custLinFactNeighborX="-2118">
        <dgm:presLayoutVars>
          <dgm:bulletEnabled val="1"/>
        </dgm:presLayoutVars>
      </dgm:prSet>
      <dgm:spPr/>
    </dgm:pt>
    <dgm:pt modelId="{0D95477D-6098-4F46-956E-7C515180A48C}" type="pres">
      <dgm:prSet presAssocID="{C692D208-6BD8-417E-A3C9-418AEBD7A4B3}" presName="sibTrans" presStyleCnt="0"/>
      <dgm:spPr/>
    </dgm:pt>
    <dgm:pt modelId="{D50D0F1F-4722-43DD-85F9-F30522F131A8}" type="pres">
      <dgm:prSet presAssocID="{0DD6D7DD-EDB4-49BD-B2D7-2904746F16F9}" presName="node" presStyleLbl="node1" presStyleIdx="5" presStyleCnt="6" custLinFactNeighborX="-2118">
        <dgm:presLayoutVars>
          <dgm:bulletEnabled val="1"/>
        </dgm:presLayoutVars>
      </dgm:prSet>
      <dgm:spPr/>
    </dgm:pt>
  </dgm:ptLst>
  <dgm:cxnLst>
    <dgm:cxn modelId="{8294D506-3CCF-46C3-9D45-09DDBBAFC9A2}" srcId="{3DE9E547-3C66-4E5D-9D07-0515EED2B913}" destId="{BBBB9B4E-DA71-45DE-92BC-1EF247E5F9B2}" srcOrd="1" destOrd="0" parTransId="{A9ED417C-F968-4650-A07D-E6C8B9F80C83}" sibTransId="{8B37F55B-F450-4B0B-98F7-A2B490DAC81A}"/>
    <dgm:cxn modelId="{755EC063-173A-4B5C-ABCC-24F3FF489A36}" srcId="{3DE9E547-3C66-4E5D-9D07-0515EED2B913}" destId="{0DD6D7DD-EDB4-49BD-B2D7-2904746F16F9}" srcOrd="5" destOrd="0" parTransId="{7DAA3B4A-706D-4CFB-93DC-D20404C2BD7E}" sibTransId="{8A17AD58-9530-4284-87F0-5AE4407E2671}"/>
    <dgm:cxn modelId="{031BCA45-34A2-4E89-93EF-0C69AA13A8F0}" type="presOf" srcId="{23F2D5E2-61FA-40AD-9F7D-BF405C8CDFAE}" destId="{126D987F-03E4-4E3A-BED9-08B6BA3A15AB}"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FBDBE29A-0A0F-4D97-8A3B-694C132A4FE5}" srcId="{3DE9E547-3C66-4E5D-9D07-0515EED2B913}" destId="{23F2D5E2-61FA-40AD-9F7D-BF405C8CDFAE}" srcOrd="3" destOrd="0" parTransId="{AB5E8461-293C-485A-87B5-1F0B83CE1442}" sibTransId="{2155DDCB-A76B-4506-AD94-A2E4AE9F6F2F}"/>
    <dgm:cxn modelId="{F069D99F-75D2-4885-9796-75E1AF8DABBC}" type="presOf" srcId="{0DD6D7DD-EDB4-49BD-B2D7-2904746F16F9}" destId="{D50D0F1F-4722-43DD-85F9-F30522F131A8}" srcOrd="0" destOrd="0" presId="urn:microsoft.com/office/officeart/2005/8/layout/default#1"/>
    <dgm:cxn modelId="{5975DE9F-9538-4AC2-A004-1F0309A49A9F}" type="presOf" srcId="{BBBB9B4E-DA71-45DE-92BC-1EF247E5F9B2}" destId="{08678D36-F832-48B7-8548-C43AEE1F6A43}" srcOrd="0" destOrd="0" presId="urn:microsoft.com/office/officeart/2005/8/layout/default#1"/>
    <dgm:cxn modelId="{0DB3BCB8-BFA0-457C-84E0-1D03CDEA15BA}" srcId="{3DE9E547-3C66-4E5D-9D07-0515EED2B913}" destId="{C11B75ED-B46B-4BF2-80F2-DA583A75044E}" srcOrd="2" destOrd="0" parTransId="{5645C486-8F55-4C5D-BAFE-57B0FB9C1457}" sibTransId="{0F8F958D-95B3-4287-AB04-371DBF737C1C}"/>
    <dgm:cxn modelId="{A36A33C9-5EC3-4472-82B9-956D1373C0B4}" srcId="{3DE9E547-3C66-4E5D-9D07-0515EED2B913}" destId="{F9022B54-68C2-4973-9A00-460029290542}" srcOrd="0" destOrd="0" parTransId="{0EBC0F7C-C083-479E-822C-AA3F278D062A}" sibTransId="{AEC43A17-FDDC-4261-BB01-B6005B7A4552}"/>
    <dgm:cxn modelId="{8C7B99DC-F8B1-492C-AD47-8DB1AB5E9999}" type="presOf" srcId="{C11B75ED-B46B-4BF2-80F2-DA583A75044E}" destId="{D32AB574-D896-42B8-809A-74BD322B19E9}" srcOrd="0" destOrd="0" presId="urn:microsoft.com/office/officeart/2005/8/layout/default#1"/>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4" destOrd="0" parTransId="{81D33D49-3010-4917-BC50-D44BA8B22DF2}" sibTransId="{C692D208-6BD8-417E-A3C9-418AEBD7A4B3}"/>
    <dgm:cxn modelId="{36C3BEF2-2DBA-42EB-9810-973BE445D0C7}" type="presOf" srcId="{3DE9E547-3C66-4E5D-9D07-0515EED2B913}" destId="{46A1C575-DE29-4021-A28C-E1E7FA78085E}"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 modelId="{776DB378-1808-493C-88B7-7620A603FCC8}" type="presParOf" srcId="{46A1C575-DE29-4021-A28C-E1E7FA78085E}" destId="{0D95477D-6098-4F46-956E-7C515180A48C}" srcOrd="9" destOrd="0" presId="urn:microsoft.com/office/officeart/2005/8/layout/default#1"/>
    <dgm:cxn modelId="{AB501389-F301-45A4-B978-AA80722B484B}" type="presParOf" srcId="{46A1C575-DE29-4021-A28C-E1E7FA78085E}" destId="{D50D0F1F-4722-43DD-85F9-F30522F131A8}" srcOrd="1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Introduction </a:t>
          </a:r>
        </a:p>
        <a:p>
          <a:pPr marL="0" lvl="0" indent="0" algn="ctr" defTabSz="2889250">
            <a:lnSpc>
              <a:spcPct val="90000"/>
            </a:lnSpc>
            <a:spcBef>
              <a:spcPct val="0"/>
            </a:spcBef>
            <a:spcAft>
              <a:spcPct val="35000"/>
            </a:spcAft>
            <a:buNone/>
          </a:pPr>
          <a:r>
            <a:rPr lang="en-US" sz="6500" kern="1200" dirty="0"/>
            <a:t>to </a:t>
          </a:r>
        </a:p>
        <a:p>
          <a:pPr marL="0" lvl="0" indent="0" algn="ctr" defTabSz="2889250">
            <a:lnSpc>
              <a:spcPct val="90000"/>
            </a:lnSpc>
            <a:spcBef>
              <a:spcPct val="0"/>
            </a:spcBef>
            <a:spcAft>
              <a:spcPct val="35000"/>
            </a:spcAft>
            <a:buNone/>
          </a:pPr>
          <a:r>
            <a:rPr lang="en-US" sz="6500" kern="1200" dirty="0"/>
            <a:t>Microsoft Excel </a:t>
          </a:r>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Doing More with Excel</a:t>
          </a:r>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0" y="868833"/>
          <a:ext cx="2762250" cy="165734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How to use pivot tables in excel</a:t>
          </a:r>
        </a:p>
      </dsp:txBody>
      <dsp:txXfrm>
        <a:off x="0" y="868833"/>
        <a:ext cx="2762250" cy="1657349"/>
      </dsp:txXfrm>
    </dsp:sp>
    <dsp:sp modelId="{08678D36-F832-48B7-8548-C43AEE1F6A43}">
      <dsp:nvSpPr>
        <dsp:cNvPr id="0" name=""/>
        <dsp:cNvSpPr/>
      </dsp:nvSpPr>
      <dsp:spPr>
        <a:xfrm>
          <a:off x="3038474" y="868833"/>
          <a:ext cx="2762250" cy="1657349"/>
        </a:xfrm>
        <a:prstGeom prst="rect">
          <a:avLst/>
        </a:prstGeom>
        <a:gradFill rotWithShape="0">
          <a:gsLst>
            <a:gs pos="0">
              <a:schemeClr val="accent4">
                <a:shade val="80000"/>
                <a:hueOff val="-35312"/>
                <a:satOff val="-873"/>
                <a:lumOff val="4998"/>
                <a:alphaOff val="0"/>
                <a:shade val="51000"/>
                <a:satMod val="130000"/>
              </a:schemeClr>
            </a:gs>
            <a:gs pos="80000">
              <a:schemeClr val="accent4">
                <a:shade val="80000"/>
                <a:hueOff val="-35312"/>
                <a:satOff val="-873"/>
                <a:lumOff val="4998"/>
                <a:alphaOff val="0"/>
                <a:shade val="93000"/>
                <a:satMod val="130000"/>
              </a:schemeClr>
            </a:gs>
            <a:gs pos="100000">
              <a:schemeClr val="accent4">
                <a:shade val="80000"/>
                <a:hueOff val="-35312"/>
                <a:satOff val="-873"/>
                <a:lumOff val="499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How to use what-if-analysis in excel</a:t>
          </a:r>
        </a:p>
      </dsp:txBody>
      <dsp:txXfrm>
        <a:off x="3038474" y="868833"/>
        <a:ext cx="2762250" cy="1657349"/>
      </dsp:txXfrm>
    </dsp:sp>
    <dsp:sp modelId="{D32AB574-D896-42B8-809A-74BD322B19E9}">
      <dsp:nvSpPr>
        <dsp:cNvPr id="0" name=""/>
        <dsp:cNvSpPr/>
      </dsp:nvSpPr>
      <dsp:spPr>
        <a:xfrm>
          <a:off x="6076950" y="868833"/>
          <a:ext cx="2762250" cy="1657349"/>
        </a:xfrm>
        <a:prstGeom prst="rect">
          <a:avLst/>
        </a:prstGeom>
        <a:gradFill rotWithShape="0">
          <a:gsLst>
            <a:gs pos="0">
              <a:schemeClr val="accent4">
                <a:shade val="80000"/>
                <a:hueOff val="-70623"/>
                <a:satOff val="-1746"/>
                <a:lumOff val="9995"/>
                <a:alphaOff val="0"/>
                <a:shade val="51000"/>
                <a:satMod val="130000"/>
              </a:schemeClr>
            </a:gs>
            <a:gs pos="80000">
              <a:schemeClr val="accent4">
                <a:shade val="80000"/>
                <a:hueOff val="-70623"/>
                <a:satOff val="-1746"/>
                <a:lumOff val="9995"/>
                <a:alphaOff val="0"/>
                <a:shade val="93000"/>
                <a:satMod val="130000"/>
              </a:schemeClr>
            </a:gs>
            <a:gs pos="100000">
              <a:schemeClr val="accent4">
                <a:shade val="80000"/>
                <a:hueOff val="-70623"/>
                <a:satOff val="-1746"/>
                <a:lumOff val="999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How </a:t>
          </a:r>
          <a:r>
            <a:rPr lang="en-US" sz="3100" kern="1200" dirty="0" err="1"/>
            <a:t>excel’s</a:t>
          </a:r>
          <a:r>
            <a:rPr lang="en-US" sz="3100" kern="1200" dirty="0"/>
            <a:t> </a:t>
          </a:r>
          <a:r>
            <a:rPr lang="en-US" sz="3100" kern="1200" dirty="0" err="1"/>
            <a:t>Vlookup</a:t>
          </a:r>
          <a:r>
            <a:rPr lang="en-US" sz="3100" kern="1200" dirty="0"/>
            <a:t> function</a:t>
          </a:r>
        </a:p>
      </dsp:txBody>
      <dsp:txXfrm>
        <a:off x="6076950" y="868833"/>
        <a:ext cx="2762250" cy="1657349"/>
      </dsp:txXfrm>
    </dsp:sp>
    <dsp:sp modelId="{126D987F-03E4-4E3A-BED9-08B6BA3A15AB}">
      <dsp:nvSpPr>
        <dsp:cNvPr id="0" name=""/>
        <dsp:cNvSpPr/>
      </dsp:nvSpPr>
      <dsp:spPr>
        <a:xfrm>
          <a:off x="0" y="2802408"/>
          <a:ext cx="2762250" cy="1657349"/>
        </a:xfrm>
        <a:prstGeom prst="rect">
          <a:avLst/>
        </a:prstGeom>
        <a:gradFill rotWithShape="0">
          <a:gsLst>
            <a:gs pos="0">
              <a:schemeClr val="accent4">
                <a:shade val="80000"/>
                <a:hueOff val="-105935"/>
                <a:satOff val="-2619"/>
                <a:lumOff val="14993"/>
                <a:alphaOff val="0"/>
                <a:shade val="51000"/>
                <a:satMod val="130000"/>
              </a:schemeClr>
            </a:gs>
            <a:gs pos="80000">
              <a:schemeClr val="accent4">
                <a:shade val="80000"/>
                <a:hueOff val="-105935"/>
                <a:satOff val="-2619"/>
                <a:lumOff val="14993"/>
                <a:alphaOff val="0"/>
                <a:shade val="93000"/>
                <a:satMod val="130000"/>
              </a:schemeClr>
            </a:gs>
            <a:gs pos="100000">
              <a:schemeClr val="accent4">
                <a:shade val="80000"/>
                <a:hueOff val="-105935"/>
                <a:satOff val="-2619"/>
                <a:lumOff val="1499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endParaRPr lang="en-US" sz="3100" kern="1200" dirty="0"/>
        </a:p>
      </dsp:txBody>
      <dsp:txXfrm>
        <a:off x="0" y="2802408"/>
        <a:ext cx="2762250" cy="1657349"/>
      </dsp:txXfrm>
    </dsp:sp>
    <dsp:sp modelId="{A0EFA616-1553-4077-9D32-88AE20AC0552}">
      <dsp:nvSpPr>
        <dsp:cNvPr id="0" name=""/>
        <dsp:cNvSpPr/>
      </dsp:nvSpPr>
      <dsp:spPr>
        <a:xfrm>
          <a:off x="2979970" y="2802408"/>
          <a:ext cx="2762250" cy="1657349"/>
        </a:xfrm>
        <a:prstGeom prst="rect">
          <a:avLst/>
        </a:prstGeom>
        <a:gradFill rotWithShape="0">
          <a:gsLst>
            <a:gs pos="0">
              <a:schemeClr val="accent4">
                <a:shade val="80000"/>
                <a:hueOff val="-141246"/>
                <a:satOff val="-3492"/>
                <a:lumOff val="19990"/>
                <a:alphaOff val="0"/>
                <a:shade val="51000"/>
                <a:satMod val="130000"/>
              </a:schemeClr>
            </a:gs>
            <a:gs pos="80000">
              <a:schemeClr val="accent4">
                <a:shade val="80000"/>
                <a:hueOff val="-141246"/>
                <a:satOff val="-3492"/>
                <a:lumOff val="19990"/>
                <a:alphaOff val="0"/>
                <a:shade val="93000"/>
                <a:satMod val="130000"/>
              </a:schemeClr>
            </a:gs>
            <a:gs pos="100000">
              <a:schemeClr val="accent4">
                <a:shade val="80000"/>
                <a:hueOff val="-141246"/>
                <a:satOff val="-3492"/>
                <a:lumOff val="1999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endParaRPr lang="en-US" sz="3100" kern="1200" dirty="0"/>
        </a:p>
      </dsp:txBody>
      <dsp:txXfrm>
        <a:off x="2979970" y="2802408"/>
        <a:ext cx="2762250" cy="1657349"/>
      </dsp:txXfrm>
    </dsp:sp>
    <dsp:sp modelId="{D50D0F1F-4722-43DD-85F9-F30522F131A8}">
      <dsp:nvSpPr>
        <dsp:cNvPr id="0" name=""/>
        <dsp:cNvSpPr/>
      </dsp:nvSpPr>
      <dsp:spPr>
        <a:xfrm>
          <a:off x="6018445" y="2802408"/>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endParaRPr lang="en-US" sz="3100" kern="1200" dirty="0"/>
        </a:p>
      </dsp:txBody>
      <dsp:txXfrm>
        <a:off x="6018445" y="2802408"/>
        <a:ext cx="2762250" cy="1657349"/>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3/16/2023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dirty="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dirty="0"/>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a:t>
            </a:fld>
            <a:endParaRPr lang="en-US" dirty="0"/>
          </a:p>
        </p:txBody>
      </p:sp>
    </p:spTree>
    <p:extLst>
      <p:ext uri="{BB962C8B-B14F-4D97-AF65-F5344CB8AC3E}">
        <p14:creationId xmlns:p14="http://schemas.microsoft.com/office/powerpoint/2010/main" val="3363006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a:t>
            </a:fld>
            <a:endParaRPr lang="en-US" dirty="0"/>
          </a:p>
        </p:txBody>
      </p:sp>
    </p:spTree>
    <p:extLst>
      <p:ext uri="{BB962C8B-B14F-4D97-AF65-F5344CB8AC3E}">
        <p14:creationId xmlns:p14="http://schemas.microsoft.com/office/powerpoint/2010/main" val="931882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a:t>
            </a:fld>
            <a:endParaRPr lang="en-US" dirty="0"/>
          </a:p>
        </p:txBody>
      </p:sp>
    </p:spTree>
    <p:extLst>
      <p:ext uri="{BB962C8B-B14F-4D97-AF65-F5344CB8AC3E}">
        <p14:creationId xmlns:p14="http://schemas.microsoft.com/office/powerpoint/2010/main" val="2355016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a:t>
            </a:fld>
            <a:endParaRPr lang="en-US" dirty="0"/>
          </a:p>
        </p:txBody>
      </p:sp>
    </p:spTree>
    <p:extLst>
      <p:ext uri="{BB962C8B-B14F-4D97-AF65-F5344CB8AC3E}">
        <p14:creationId xmlns:p14="http://schemas.microsoft.com/office/powerpoint/2010/main" val="1492571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a:t>
            </a:fld>
            <a:endParaRPr lang="en-US" dirty="0"/>
          </a:p>
        </p:txBody>
      </p:sp>
    </p:spTree>
    <p:extLst>
      <p:ext uri="{BB962C8B-B14F-4D97-AF65-F5344CB8AC3E}">
        <p14:creationId xmlns:p14="http://schemas.microsoft.com/office/powerpoint/2010/main" val="3922990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a:t>
            </a:fld>
            <a:endParaRPr lang="en-US" dirty="0"/>
          </a:p>
        </p:txBody>
      </p:sp>
    </p:spTree>
    <p:extLst>
      <p:ext uri="{BB962C8B-B14F-4D97-AF65-F5344CB8AC3E}">
        <p14:creationId xmlns:p14="http://schemas.microsoft.com/office/powerpoint/2010/main" val="1347551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a:t>
            </a:fld>
            <a:endParaRPr lang="en-US" dirty="0"/>
          </a:p>
        </p:txBody>
      </p:sp>
    </p:spTree>
    <p:extLst>
      <p:ext uri="{BB962C8B-B14F-4D97-AF65-F5344CB8AC3E}">
        <p14:creationId xmlns:p14="http://schemas.microsoft.com/office/powerpoint/2010/main" val="2014598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a:t>
            </a:fld>
            <a:endParaRPr lang="en-US" dirty="0"/>
          </a:p>
        </p:txBody>
      </p:sp>
    </p:spTree>
    <p:extLst>
      <p:ext uri="{BB962C8B-B14F-4D97-AF65-F5344CB8AC3E}">
        <p14:creationId xmlns:p14="http://schemas.microsoft.com/office/powerpoint/2010/main" val="4289045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a:t>
            </a:fld>
            <a:endParaRPr lang="en-US" dirty="0"/>
          </a:p>
        </p:txBody>
      </p:sp>
    </p:spTree>
    <p:extLst>
      <p:ext uri="{BB962C8B-B14F-4D97-AF65-F5344CB8AC3E}">
        <p14:creationId xmlns:p14="http://schemas.microsoft.com/office/powerpoint/2010/main" val="2470185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14</a:t>
            </a:fld>
            <a:endParaRPr lang="en-US" dirty="0"/>
          </a:p>
        </p:txBody>
      </p:sp>
    </p:spTree>
    <p:extLst>
      <p:ext uri="{BB962C8B-B14F-4D97-AF65-F5344CB8AC3E}">
        <p14:creationId xmlns:p14="http://schemas.microsoft.com/office/powerpoint/2010/main" val="179133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15</a:t>
            </a:fld>
            <a:endParaRPr lang="en-US" dirty="0"/>
          </a:p>
        </p:txBody>
      </p:sp>
    </p:spTree>
    <p:extLst>
      <p:ext uri="{BB962C8B-B14F-4D97-AF65-F5344CB8AC3E}">
        <p14:creationId xmlns:p14="http://schemas.microsoft.com/office/powerpoint/2010/main" val="173397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16</a:t>
            </a:fld>
            <a:endParaRPr lang="en-US" dirty="0"/>
          </a:p>
        </p:txBody>
      </p:sp>
    </p:spTree>
    <p:extLst>
      <p:ext uri="{BB962C8B-B14F-4D97-AF65-F5344CB8AC3E}">
        <p14:creationId xmlns:p14="http://schemas.microsoft.com/office/powerpoint/2010/main" val="3316834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17</a:t>
            </a:fld>
            <a:endParaRPr lang="en-US" dirty="0"/>
          </a:p>
        </p:txBody>
      </p:sp>
    </p:spTree>
    <p:extLst>
      <p:ext uri="{BB962C8B-B14F-4D97-AF65-F5344CB8AC3E}">
        <p14:creationId xmlns:p14="http://schemas.microsoft.com/office/powerpoint/2010/main" val="34069635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18</a:t>
            </a:fld>
            <a:endParaRPr lang="en-US" dirty="0"/>
          </a:p>
        </p:txBody>
      </p:sp>
    </p:spTree>
    <p:extLst>
      <p:ext uri="{BB962C8B-B14F-4D97-AF65-F5344CB8AC3E}">
        <p14:creationId xmlns:p14="http://schemas.microsoft.com/office/powerpoint/2010/main" val="2021550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19</a:t>
            </a:fld>
            <a:endParaRPr lang="en-US" dirty="0"/>
          </a:p>
        </p:txBody>
      </p:sp>
    </p:spTree>
    <p:extLst>
      <p:ext uri="{BB962C8B-B14F-4D97-AF65-F5344CB8AC3E}">
        <p14:creationId xmlns:p14="http://schemas.microsoft.com/office/powerpoint/2010/main" val="1288650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20</a:t>
            </a:fld>
            <a:endParaRPr lang="en-US" dirty="0"/>
          </a:p>
        </p:txBody>
      </p:sp>
    </p:spTree>
    <p:extLst>
      <p:ext uri="{BB962C8B-B14F-4D97-AF65-F5344CB8AC3E}">
        <p14:creationId xmlns:p14="http://schemas.microsoft.com/office/powerpoint/2010/main" val="390276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21</a:t>
            </a:fld>
            <a:endParaRPr lang="en-US" dirty="0"/>
          </a:p>
        </p:txBody>
      </p:sp>
    </p:spTree>
    <p:extLst>
      <p:ext uri="{BB962C8B-B14F-4D97-AF65-F5344CB8AC3E}">
        <p14:creationId xmlns:p14="http://schemas.microsoft.com/office/powerpoint/2010/main" val="804300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22</a:t>
            </a:fld>
            <a:endParaRPr lang="en-US" dirty="0"/>
          </a:p>
        </p:txBody>
      </p:sp>
    </p:spTree>
    <p:extLst>
      <p:ext uri="{BB962C8B-B14F-4D97-AF65-F5344CB8AC3E}">
        <p14:creationId xmlns:p14="http://schemas.microsoft.com/office/powerpoint/2010/main" val="3830450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23</a:t>
            </a:fld>
            <a:endParaRPr lang="en-US" dirty="0"/>
          </a:p>
        </p:txBody>
      </p:sp>
    </p:spTree>
    <p:extLst>
      <p:ext uri="{BB962C8B-B14F-4D97-AF65-F5344CB8AC3E}">
        <p14:creationId xmlns:p14="http://schemas.microsoft.com/office/powerpoint/2010/main" val="3234449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24</a:t>
            </a:fld>
            <a:endParaRPr lang="en-US" dirty="0"/>
          </a:p>
        </p:txBody>
      </p:sp>
    </p:spTree>
    <p:extLst>
      <p:ext uri="{BB962C8B-B14F-4D97-AF65-F5344CB8AC3E}">
        <p14:creationId xmlns:p14="http://schemas.microsoft.com/office/powerpoint/2010/main" val="379285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25</a:t>
            </a:fld>
            <a:endParaRPr lang="en-US" dirty="0"/>
          </a:p>
        </p:txBody>
      </p:sp>
    </p:spTree>
    <p:extLst>
      <p:ext uri="{BB962C8B-B14F-4D97-AF65-F5344CB8AC3E}">
        <p14:creationId xmlns:p14="http://schemas.microsoft.com/office/powerpoint/2010/main" val="5501181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26</a:t>
            </a:fld>
            <a:endParaRPr lang="en-US" dirty="0"/>
          </a:p>
        </p:txBody>
      </p:sp>
    </p:spTree>
    <p:extLst>
      <p:ext uri="{BB962C8B-B14F-4D97-AF65-F5344CB8AC3E}">
        <p14:creationId xmlns:p14="http://schemas.microsoft.com/office/powerpoint/2010/main" val="23220313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27</a:t>
            </a:fld>
            <a:endParaRPr lang="en-US" dirty="0"/>
          </a:p>
        </p:txBody>
      </p:sp>
    </p:spTree>
    <p:extLst>
      <p:ext uri="{BB962C8B-B14F-4D97-AF65-F5344CB8AC3E}">
        <p14:creationId xmlns:p14="http://schemas.microsoft.com/office/powerpoint/2010/main" val="15972921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28</a:t>
            </a:fld>
            <a:endParaRPr lang="en-US" dirty="0"/>
          </a:p>
        </p:txBody>
      </p:sp>
    </p:spTree>
    <p:extLst>
      <p:ext uri="{BB962C8B-B14F-4D97-AF65-F5344CB8AC3E}">
        <p14:creationId xmlns:p14="http://schemas.microsoft.com/office/powerpoint/2010/main" val="8669755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29</a:t>
            </a:fld>
            <a:endParaRPr lang="en-US" dirty="0"/>
          </a:p>
        </p:txBody>
      </p:sp>
    </p:spTree>
    <p:extLst>
      <p:ext uri="{BB962C8B-B14F-4D97-AF65-F5344CB8AC3E}">
        <p14:creationId xmlns:p14="http://schemas.microsoft.com/office/powerpoint/2010/main" val="549793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30</a:t>
            </a:fld>
            <a:endParaRPr lang="en-US" dirty="0"/>
          </a:p>
        </p:txBody>
      </p:sp>
    </p:spTree>
    <p:extLst>
      <p:ext uri="{BB962C8B-B14F-4D97-AF65-F5344CB8AC3E}">
        <p14:creationId xmlns:p14="http://schemas.microsoft.com/office/powerpoint/2010/main" val="20726795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31</a:t>
            </a:fld>
            <a:endParaRPr lang="en-US" dirty="0"/>
          </a:p>
        </p:txBody>
      </p:sp>
    </p:spTree>
    <p:extLst>
      <p:ext uri="{BB962C8B-B14F-4D97-AF65-F5344CB8AC3E}">
        <p14:creationId xmlns:p14="http://schemas.microsoft.com/office/powerpoint/2010/main" val="28345866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32</a:t>
            </a:fld>
            <a:endParaRPr lang="en-US" dirty="0"/>
          </a:p>
        </p:txBody>
      </p:sp>
    </p:spTree>
    <p:extLst>
      <p:ext uri="{BB962C8B-B14F-4D97-AF65-F5344CB8AC3E}">
        <p14:creationId xmlns:p14="http://schemas.microsoft.com/office/powerpoint/2010/main" val="39028925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33</a:t>
            </a:fld>
            <a:endParaRPr lang="en-US" dirty="0"/>
          </a:p>
        </p:txBody>
      </p:sp>
    </p:spTree>
    <p:extLst>
      <p:ext uri="{BB962C8B-B14F-4D97-AF65-F5344CB8AC3E}">
        <p14:creationId xmlns:p14="http://schemas.microsoft.com/office/powerpoint/2010/main" val="26970671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34</a:t>
            </a:fld>
            <a:endParaRPr lang="en-US" dirty="0"/>
          </a:p>
        </p:txBody>
      </p:sp>
    </p:spTree>
    <p:extLst>
      <p:ext uri="{BB962C8B-B14F-4D97-AF65-F5344CB8AC3E}">
        <p14:creationId xmlns:p14="http://schemas.microsoft.com/office/powerpoint/2010/main" val="34267236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35</a:t>
            </a:fld>
            <a:endParaRPr lang="en-US" dirty="0"/>
          </a:p>
        </p:txBody>
      </p:sp>
    </p:spTree>
    <p:extLst>
      <p:ext uri="{BB962C8B-B14F-4D97-AF65-F5344CB8AC3E}">
        <p14:creationId xmlns:p14="http://schemas.microsoft.com/office/powerpoint/2010/main" val="646564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36</a:t>
            </a:fld>
            <a:endParaRPr lang="en-US" dirty="0"/>
          </a:p>
        </p:txBody>
      </p:sp>
    </p:spTree>
    <p:extLst>
      <p:ext uri="{BB962C8B-B14F-4D97-AF65-F5344CB8AC3E}">
        <p14:creationId xmlns:p14="http://schemas.microsoft.com/office/powerpoint/2010/main" val="3683143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37</a:t>
            </a:fld>
            <a:endParaRPr lang="en-US" dirty="0"/>
          </a:p>
        </p:txBody>
      </p:sp>
    </p:spTree>
    <p:extLst>
      <p:ext uri="{BB962C8B-B14F-4D97-AF65-F5344CB8AC3E}">
        <p14:creationId xmlns:p14="http://schemas.microsoft.com/office/powerpoint/2010/main" val="31163656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38</a:t>
            </a:fld>
            <a:endParaRPr lang="en-US" dirty="0"/>
          </a:p>
        </p:txBody>
      </p:sp>
    </p:spTree>
    <p:extLst>
      <p:ext uri="{BB962C8B-B14F-4D97-AF65-F5344CB8AC3E}">
        <p14:creationId xmlns:p14="http://schemas.microsoft.com/office/powerpoint/2010/main" val="41745871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39</a:t>
            </a:fld>
            <a:endParaRPr lang="en-US" dirty="0"/>
          </a:p>
        </p:txBody>
      </p:sp>
    </p:spTree>
    <p:extLst>
      <p:ext uri="{BB962C8B-B14F-4D97-AF65-F5344CB8AC3E}">
        <p14:creationId xmlns:p14="http://schemas.microsoft.com/office/powerpoint/2010/main" val="12860951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40</a:t>
            </a:fld>
            <a:endParaRPr lang="en-US" dirty="0"/>
          </a:p>
        </p:txBody>
      </p:sp>
    </p:spTree>
    <p:extLst>
      <p:ext uri="{BB962C8B-B14F-4D97-AF65-F5344CB8AC3E}">
        <p14:creationId xmlns:p14="http://schemas.microsoft.com/office/powerpoint/2010/main" val="11387365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41</a:t>
            </a:fld>
            <a:endParaRPr lang="en-US" dirty="0"/>
          </a:p>
        </p:txBody>
      </p:sp>
    </p:spTree>
    <p:extLst>
      <p:ext uri="{BB962C8B-B14F-4D97-AF65-F5344CB8AC3E}">
        <p14:creationId xmlns:p14="http://schemas.microsoft.com/office/powerpoint/2010/main" val="32668924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42</a:t>
            </a:fld>
            <a:endParaRPr lang="en-US" dirty="0"/>
          </a:p>
        </p:txBody>
      </p:sp>
    </p:spTree>
    <p:extLst>
      <p:ext uri="{BB962C8B-B14F-4D97-AF65-F5344CB8AC3E}">
        <p14:creationId xmlns:p14="http://schemas.microsoft.com/office/powerpoint/2010/main" val="27400398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43</a:t>
            </a:fld>
            <a:endParaRPr lang="en-US" dirty="0"/>
          </a:p>
        </p:txBody>
      </p:sp>
    </p:spTree>
    <p:extLst>
      <p:ext uri="{BB962C8B-B14F-4D97-AF65-F5344CB8AC3E}">
        <p14:creationId xmlns:p14="http://schemas.microsoft.com/office/powerpoint/2010/main" val="41896245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44</a:t>
            </a:fld>
            <a:endParaRPr lang="en-US" dirty="0"/>
          </a:p>
        </p:txBody>
      </p:sp>
    </p:spTree>
    <p:extLst>
      <p:ext uri="{BB962C8B-B14F-4D97-AF65-F5344CB8AC3E}">
        <p14:creationId xmlns:p14="http://schemas.microsoft.com/office/powerpoint/2010/main" val="37944784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45</a:t>
            </a:fld>
            <a:endParaRPr lang="en-US" dirty="0"/>
          </a:p>
        </p:txBody>
      </p:sp>
    </p:spTree>
    <p:extLst>
      <p:ext uri="{BB962C8B-B14F-4D97-AF65-F5344CB8AC3E}">
        <p14:creationId xmlns:p14="http://schemas.microsoft.com/office/powerpoint/2010/main" val="30261761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46</a:t>
            </a:fld>
            <a:endParaRPr lang="en-US" dirty="0"/>
          </a:p>
        </p:txBody>
      </p:sp>
    </p:spTree>
    <p:extLst>
      <p:ext uri="{BB962C8B-B14F-4D97-AF65-F5344CB8AC3E}">
        <p14:creationId xmlns:p14="http://schemas.microsoft.com/office/powerpoint/2010/main" val="29651277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47</a:t>
            </a:fld>
            <a:endParaRPr lang="en-US" dirty="0"/>
          </a:p>
        </p:txBody>
      </p:sp>
    </p:spTree>
    <p:extLst>
      <p:ext uri="{BB962C8B-B14F-4D97-AF65-F5344CB8AC3E}">
        <p14:creationId xmlns:p14="http://schemas.microsoft.com/office/powerpoint/2010/main" val="21437411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48</a:t>
            </a:fld>
            <a:endParaRPr lang="en-US" dirty="0"/>
          </a:p>
        </p:txBody>
      </p:sp>
    </p:spTree>
    <p:extLst>
      <p:ext uri="{BB962C8B-B14F-4D97-AF65-F5344CB8AC3E}">
        <p14:creationId xmlns:p14="http://schemas.microsoft.com/office/powerpoint/2010/main" val="19722774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49</a:t>
            </a:fld>
            <a:endParaRPr lang="en-US" dirty="0"/>
          </a:p>
        </p:txBody>
      </p:sp>
    </p:spTree>
    <p:extLst>
      <p:ext uri="{BB962C8B-B14F-4D97-AF65-F5344CB8AC3E}">
        <p14:creationId xmlns:p14="http://schemas.microsoft.com/office/powerpoint/2010/main" val="34769938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50</a:t>
            </a:fld>
            <a:endParaRPr lang="en-US" dirty="0"/>
          </a:p>
        </p:txBody>
      </p:sp>
    </p:spTree>
    <p:extLst>
      <p:ext uri="{BB962C8B-B14F-4D97-AF65-F5344CB8AC3E}">
        <p14:creationId xmlns:p14="http://schemas.microsoft.com/office/powerpoint/2010/main" val="7014514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51</a:t>
            </a:fld>
            <a:endParaRPr lang="en-US" dirty="0"/>
          </a:p>
        </p:txBody>
      </p:sp>
    </p:spTree>
    <p:extLst>
      <p:ext uri="{BB962C8B-B14F-4D97-AF65-F5344CB8AC3E}">
        <p14:creationId xmlns:p14="http://schemas.microsoft.com/office/powerpoint/2010/main" val="35971380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52</a:t>
            </a:fld>
            <a:endParaRPr lang="en-US" dirty="0"/>
          </a:p>
        </p:txBody>
      </p:sp>
    </p:spTree>
    <p:extLst>
      <p:ext uri="{BB962C8B-B14F-4D97-AF65-F5344CB8AC3E}">
        <p14:creationId xmlns:p14="http://schemas.microsoft.com/office/powerpoint/2010/main" val="37719638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53</a:t>
            </a:fld>
            <a:endParaRPr lang="en-US" dirty="0"/>
          </a:p>
        </p:txBody>
      </p:sp>
    </p:spTree>
    <p:extLst>
      <p:ext uri="{BB962C8B-B14F-4D97-AF65-F5344CB8AC3E}">
        <p14:creationId xmlns:p14="http://schemas.microsoft.com/office/powerpoint/2010/main" val="11347856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54</a:t>
            </a:fld>
            <a:endParaRPr lang="en-US" dirty="0"/>
          </a:p>
        </p:txBody>
      </p:sp>
    </p:spTree>
    <p:extLst>
      <p:ext uri="{BB962C8B-B14F-4D97-AF65-F5344CB8AC3E}">
        <p14:creationId xmlns:p14="http://schemas.microsoft.com/office/powerpoint/2010/main" val="33660486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55</a:t>
            </a:fld>
            <a:endParaRPr lang="en-US" dirty="0"/>
          </a:p>
        </p:txBody>
      </p:sp>
    </p:spTree>
    <p:extLst>
      <p:ext uri="{BB962C8B-B14F-4D97-AF65-F5344CB8AC3E}">
        <p14:creationId xmlns:p14="http://schemas.microsoft.com/office/powerpoint/2010/main" val="11831078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56</a:t>
            </a:fld>
            <a:endParaRPr lang="en-US" dirty="0"/>
          </a:p>
        </p:txBody>
      </p:sp>
    </p:spTree>
    <p:extLst>
      <p:ext uri="{BB962C8B-B14F-4D97-AF65-F5344CB8AC3E}">
        <p14:creationId xmlns:p14="http://schemas.microsoft.com/office/powerpoint/2010/main" val="18783826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57</a:t>
            </a:fld>
            <a:endParaRPr lang="en-US" dirty="0"/>
          </a:p>
        </p:txBody>
      </p:sp>
    </p:spTree>
    <p:extLst>
      <p:ext uri="{BB962C8B-B14F-4D97-AF65-F5344CB8AC3E}">
        <p14:creationId xmlns:p14="http://schemas.microsoft.com/office/powerpoint/2010/main" val="19153275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58</a:t>
            </a:fld>
            <a:endParaRPr lang="en-US">
              <a:solidFill>
                <a:prstClr val="black"/>
              </a:solidFill>
              <a:latin typeface="Calibri"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59</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852775200"/>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56488708"/>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607789862"/>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7" dur="500"/>
                                        <p:tgtEl>
                                          <p:spTgt spid="7">
                                            <p:graphicEl>
                                              <a:dgm id="{D32AB574-D896-42B8-809A-74BD322B19E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22" dur="500"/>
                                        <p:tgtEl>
                                          <p:spTgt spid="7">
                                            <p:graphicEl>
                                              <a:dgm id="{126D987F-03E4-4E3A-BED9-08B6BA3A15A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2000"/>
                                  </p:stCondLst>
                                  <p:childTnLst>
                                    <p:set>
                                      <p:cBhvr>
                                        <p:cTn id="26"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7" dur="500"/>
                                        <p:tgtEl>
                                          <p:spTgt spid="7">
                                            <p:graphicEl>
                                              <a:dgm id="{A0EFA616-1553-4077-9D32-88AE20AC055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2000"/>
                                  </p:stCondLst>
                                  <p:childTnLst>
                                    <p:set>
                                      <p:cBhvr>
                                        <p:cTn id="31" dur="1" fill="hold">
                                          <p:stCondLst>
                                            <p:cond delay="0"/>
                                          </p:stCondLst>
                                        </p:cTn>
                                        <p:tgtEl>
                                          <p:spTgt spid="7">
                                            <p:graphicEl>
                                              <a:dgm id="{D50D0F1F-4722-43DD-85F9-F30522F131A8}"/>
                                            </p:graphicEl>
                                          </p:spTgt>
                                        </p:tgtEl>
                                        <p:attrNameLst>
                                          <p:attrName>style.visibility</p:attrName>
                                        </p:attrNameLst>
                                      </p:cBhvr>
                                      <p:to>
                                        <p:strVal val="visible"/>
                                      </p:to>
                                    </p:set>
                                    <p:animEffect transition="in" filter="dissolve">
                                      <p:cBhvr>
                                        <p:cTn id="32" dur="500"/>
                                        <p:tgtEl>
                                          <p:spTgt spid="7">
                                            <p:graphicEl>
                                              <a:dgm id="{D50D0F1F-4722-43DD-85F9-F30522F131A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Excel - Intro to PivotTables</a:t>
            </a:r>
            <a:endParaRPr lang="en-GB" dirty="0"/>
          </a:p>
        </p:txBody>
      </p:sp>
      <p:sp>
        <p:nvSpPr>
          <p:cNvPr id="3" name="Content Placeholder 2"/>
          <p:cNvSpPr>
            <a:spLocks noGrp="1"/>
          </p:cNvSpPr>
          <p:nvPr>
            <p:ph idx="1"/>
          </p:nvPr>
        </p:nvSpPr>
        <p:spPr>
          <a:xfrm>
            <a:off x="0" y="764704"/>
            <a:ext cx="9144000" cy="6093296"/>
          </a:xfrm>
        </p:spPr>
        <p:txBody>
          <a:bodyPr>
            <a:normAutofit/>
          </a:bodyPr>
          <a:lstStyle/>
          <a:p>
            <a:pPr algn="just"/>
            <a:r>
              <a:rPr lang="en-US" dirty="0"/>
              <a:t>When you have a lot of data, it can sometimes be difficult to analyze all of the information in your worksheet. </a:t>
            </a:r>
          </a:p>
          <a:p>
            <a:pPr algn="just"/>
            <a:endParaRPr lang="en-US" b="1" dirty="0"/>
          </a:p>
          <a:p>
            <a:pPr algn="just"/>
            <a:r>
              <a:rPr lang="en-US" b="1" dirty="0"/>
              <a:t>PivotTables</a:t>
            </a:r>
            <a:r>
              <a:rPr lang="en-US" dirty="0"/>
              <a:t> can help make your worksheets more manageable by </a:t>
            </a:r>
            <a:r>
              <a:rPr lang="en-US" b="1" dirty="0"/>
              <a:t>summarizing</a:t>
            </a:r>
            <a:r>
              <a:rPr lang="en-US" dirty="0"/>
              <a:t> data and allowing you to </a:t>
            </a:r>
            <a:r>
              <a:rPr lang="en-US" b="1" dirty="0"/>
              <a:t>manipulate</a:t>
            </a:r>
            <a:r>
              <a:rPr lang="en-US" dirty="0"/>
              <a:t> it in different ways.</a:t>
            </a:r>
            <a:endParaRPr lang="en-US" sz="28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Using PivotTables to answer questions</a:t>
            </a:r>
            <a:endParaRPr lang="en-GB" dirty="0"/>
          </a:p>
        </p:txBody>
      </p:sp>
      <p:sp>
        <p:nvSpPr>
          <p:cNvPr id="3" name="Content Placeholder 2"/>
          <p:cNvSpPr>
            <a:spLocks noGrp="1"/>
          </p:cNvSpPr>
          <p:nvPr>
            <p:ph idx="1"/>
          </p:nvPr>
        </p:nvSpPr>
        <p:spPr>
          <a:xfrm>
            <a:off x="0" y="620688"/>
            <a:ext cx="9144000" cy="6237312"/>
          </a:xfrm>
        </p:spPr>
        <p:txBody>
          <a:bodyPr>
            <a:normAutofit lnSpcReduction="10000"/>
          </a:bodyPr>
          <a:lstStyle/>
          <a:p>
            <a:pPr algn="just"/>
            <a:r>
              <a:rPr lang="en-US" dirty="0"/>
              <a:t>Consider the example below. Let's say we wanted to answer the question </a:t>
            </a:r>
            <a:r>
              <a:rPr lang="en-US" b="1" dirty="0"/>
              <a:t>What is the amount sold by each salesperson? </a:t>
            </a:r>
          </a:p>
          <a:p>
            <a:pPr algn="just"/>
            <a:endParaRPr lang="en-US" b="1" dirty="0"/>
          </a:p>
          <a:p>
            <a:pPr algn="just"/>
            <a:r>
              <a:rPr lang="en-US" dirty="0"/>
              <a:t>Answering it could be time consuming and difficult; each salesperson appears on multiple rows, and we would need to total all of their different orders individually. </a:t>
            </a:r>
          </a:p>
          <a:p>
            <a:pPr algn="just"/>
            <a:endParaRPr lang="en-US" dirty="0"/>
          </a:p>
          <a:p>
            <a:pPr algn="just"/>
            <a:r>
              <a:rPr lang="en-US" dirty="0"/>
              <a:t>We could use the </a:t>
            </a:r>
            <a:r>
              <a:rPr lang="en-US" b="1" dirty="0"/>
              <a:t>Subtotal</a:t>
            </a:r>
            <a:r>
              <a:rPr lang="en-US" dirty="0"/>
              <a:t> command to help find the total for each salesperson, but we would still have a lot of data to work with.</a:t>
            </a:r>
            <a:endParaRPr lang="en-US" sz="2800" dirty="0"/>
          </a:p>
        </p:txBody>
      </p:sp>
    </p:spTree>
    <p:extLst>
      <p:ext uri="{BB962C8B-B14F-4D97-AF65-F5344CB8AC3E}">
        <p14:creationId xmlns:p14="http://schemas.microsoft.com/office/powerpoint/2010/main" val="373863940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Using PivotTables to answer questions</a:t>
            </a:r>
            <a:endParaRPr lang="en-GB" dirty="0"/>
          </a:p>
        </p:txBody>
      </p:sp>
      <p:pic>
        <p:nvPicPr>
          <p:cNvPr id="5" name="Content Placeholder 4">
            <a:extLst>
              <a:ext uri="{FF2B5EF4-FFF2-40B4-BE49-F238E27FC236}">
                <a16:creationId xmlns:a16="http://schemas.microsoft.com/office/drawing/2014/main" id="{1D478E79-15B8-4AB8-8301-0E3E74C554C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3568" y="1124744"/>
            <a:ext cx="7488832" cy="4968552"/>
          </a:xfrm>
        </p:spPr>
      </p:pic>
    </p:spTree>
    <p:extLst>
      <p:ext uri="{BB962C8B-B14F-4D97-AF65-F5344CB8AC3E}">
        <p14:creationId xmlns:p14="http://schemas.microsoft.com/office/powerpoint/2010/main" val="262098005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Using PivotTables to answer questions</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Fortunately, a PivotTable can instantly </a:t>
            </a:r>
            <a:r>
              <a:rPr lang="en-US" b="1" dirty="0"/>
              <a:t>calculate</a:t>
            </a:r>
            <a:r>
              <a:rPr lang="en-US" dirty="0"/>
              <a:t> and </a:t>
            </a:r>
            <a:r>
              <a:rPr lang="en-US" b="1" dirty="0"/>
              <a:t>summarize</a:t>
            </a:r>
            <a:r>
              <a:rPr lang="en-US" dirty="0"/>
              <a:t> the data in a way that will make it much easier to read. When we're done, the PivotTable will look something like this:</a:t>
            </a:r>
          </a:p>
          <a:p>
            <a:pPr algn="just"/>
            <a:endParaRPr lang="en-US" dirty="0"/>
          </a:p>
        </p:txBody>
      </p:sp>
      <p:pic>
        <p:nvPicPr>
          <p:cNvPr id="5" name="Picture 4">
            <a:extLst>
              <a:ext uri="{FF2B5EF4-FFF2-40B4-BE49-F238E27FC236}">
                <a16:creationId xmlns:a16="http://schemas.microsoft.com/office/drawing/2014/main" id="{43560B89-ABCF-4085-8456-4ABE5C6B4C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3068960"/>
            <a:ext cx="5544616" cy="2376264"/>
          </a:xfrm>
          <a:prstGeom prst="rect">
            <a:avLst/>
          </a:prstGeom>
        </p:spPr>
      </p:pic>
    </p:spTree>
    <p:extLst>
      <p:ext uri="{BB962C8B-B14F-4D97-AF65-F5344CB8AC3E}">
        <p14:creationId xmlns:p14="http://schemas.microsoft.com/office/powerpoint/2010/main" val="240634766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Using PivotTables to answer questions</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Once you've created a PivotTable, you can use it to answer different questions by rearranging—or pivoting—the data. For example, let's say we wanted to answer What is the total amount sold in each month? We could modify our PivotTable to look like this:</a:t>
            </a:r>
          </a:p>
          <a:p>
            <a:pPr algn="just"/>
            <a:endParaRPr lang="en-US" dirty="0"/>
          </a:p>
          <a:p>
            <a:pPr algn="just"/>
            <a:endParaRPr lang="en-US" dirty="0"/>
          </a:p>
        </p:txBody>
      </p:sp>
      <p:pic>
        <p:nvPicPr>
          <p:cNvPr id="6" name="Picture 5">
            <a:extLst>
              <a:ext uri="{FF2B5EF4-FFF2-40B4-BE49-F238E27FC236}">
                <a16:creationId xmlns:a16="http://schemas.microsoft.com/office/drawing/2014/main" id="{E2CB37DA-89C8-492F-9089-5C04AA7FAE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3739344"/>
            <a:ext cx="5400600" cy="2065920"/>
          </a:xfrm>
          <a:prstGeom prst="rect">
            <a:avLst/>
          </a:prstGeom>
        </p:spPr>
      </p:pic>
    </p:spTree>
    <p:extLst>
      <p:ext uri="{BB962C8B-B14F-4D97-AF65-F5344CB8AC3E}">
        <p14:creationId xmlns:p14="http://schemas.microsoft.com/office/powerpoint/2010/main" val="69241458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create a PivotTable</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Select the </a:t>
            </a:r>
            <a:r>
              <a:rPr lang="en-US" b="1" dirty="0"/>
              <a:t>table</a:t>
            </a:r>
            <a:r>
              <a:rPr lang="en-US" dirty="0"/>
              <a:t> or </a:t>
            </a:r>
            <a:r>
              <a:rPr lang="en-US" b="1" dirty="0"/>
              <a:t>cells</a:t>
            </a:r>
            <a:r>
              <a:rPr lang="en-US" dirty="0"/>
              <a:t> (including column headers) you want to include in your PivotTable.</a:t>
            </a:r>
          </a:p>
          <a:p>
            <a:pPr algn="just"/>
            <a:endParaRPr lang="en-US" dirty="0"/>
          </a:p>
        </p:txBody>
      </p:sp>
      <p:pic>
        <p:nvPicPr>
          <p:cNvPr id="5" name="Picture 4">
            <a:extLst>
              <a:ext uri="{FF2B5EF4-FFF2-40B4-BE49-F238E27FC236}">
                <a16:creationId xmlns:a16="http://schemas.microsoft.com/office/drawing/2014/main" id="{DCEC9112-C501-44FA-9A73-A04A211DF9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1953736"/>
            <a:ext cx="7488832" cy="3923536"/>
          </a:xfrm>
          <a:prstGeom prst="rect">
            <a:avLst/>
          </a:prstGeom>
        </p:spPr>
      </p:pic>
    </p:spTree>
    <p:extLst>
      <p:ext uri="{BB962C8B-B14F-4D97-AF65-F5344CB8AC3E}">
        <p14:creationId xmlns:p14="http://schemas.microsoft.com/office/powerpoint/2010/main" val="37786386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create a PivotTable</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From the </a:t>
            </a:r>
            <a:r>
              <a:rPr lang="en-US" b="1" dirty="0"/>
              <a:t>Insert</a:t>
            </a:r>
            <a:r>
              <a:rPr lang="en-US" dirty="0"/>
              <a:t> tab, click the </a:t>
            </a:r>
            <a:r>
              <a:rPr lang="en-US" b="1" dirty="0"/>
              <a:t>PivotTable</a:t>
            </a:r>
            <a:r>
              <a:rPr lang="en-US" dirty="0"/>
              <a:t> command.</a:t>
            </a:r>
            <a:br>
              <a:rPr lang="en-US" dirty="0"/>
            </a:br>
            <a:endParaRPr lang="en-US" dirty="0"/>
          </a:p>
        </p:txBody>
      </p:sp>
      <p:pic>
        <p:nvPicPr>
          <p:cNvPr id="6" name="Picture 5">
            <a:extLst>
              <a:ext uri="{FF2B5EF4-FFF2-40B4-BE49-F238E27FC236}">
                <a16:creationId xmlns:a16="http://schemas.microsoft.com/office/drawing/2014/main" id="{D7941340-B7B5-46A7-9D82-B6A1977EEA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2209800"/>
            <a:ext cx="8136904" cy="3235424"/>
          </a:xfrm>
          <a:prstGeom prst="rect">
            <a:avLst/>
          </a:prstGeom>
        </p:spPr>
      </p:pic>
    </p:spTree>
    <p:extLst>
      <p:ext uri="{BB962C8B-B14F-4D97-AF65-F5344CB8AC3E}">
        <p14:creationId xmlns:p14="http://schemas.microsoft.com/office/powerpoint/2010/main" val="245329977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create a PivotTable</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The </a:t>
            </a:r>
            <a:r>
              <a:rPr lang="en-US" b="1" dirty="0"/>
              <a:t>Create PivotTable</a:t>
            </a:r>
            <a:r>
              <a:rPr lang="en-US" dirty="0"/>
              <a:t> dialog box will appear. Choose your settings, then click </a:t>
            </a:r>
            <a:r>
              <a:rPr lang="en-US" b="1" dirty="0"/>
              <a:t>OK</a:t>
            </a:r>
            <a:r>
              <a:rPr lang="en-US" dirty="0"/>
              <a:t>. In our example, we'll use </a:t>
            </a:r>
            <a:r>
              <a:rPr lang="en-US" b="1" dirty="0"/>
              <a:t>Table1</a:t>
            </a:r>
            <a:r>
              <a:rPr lang="en-US" dirty="0"/>
              <a:t> as our source data and place the PivotTable in a </a:t>
            </a:r>
            <a:r>
              <a:rPr lang="en-US" b="1" dirty="0"/>
              <a:t>new worksheet</a:t>
            </a:r>
            <a:r>
              <a:rPr lang="en-US" dirty="0"/>
              <a:t>.</a:t>
            </a:r>
          </a:p>
        </p:txBody>
      </p:sp>
      <p:pic>
        <p:nvPicPr>
          <p:cNvPr id="5" name="Picture 4">
            <a:extLst>
              <a:ext uri="{FF2B5EF4-FFF2-40B4-BE49-F238E27FC236}">
                <a16:creationId xmlns:a16="http://schemas.microsoft.com/office/drawing/2014/main" id="{AE35032E-0C5F-41EF-9902-37B20BA1A2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1760" y="2852936"/>
            <a:ext cx="4824536" cy="3672408"/>
          </a:xfrm>
          <a:prstGeom prst="rect">
            <a:avLst/>
          </a:prstGeom>
        </p:spPr>
      </p:pic>
    </p:spTree>
    <p:extLst>
      <p:ext uri="{BB962C8B-B14F-4D97-AF65-F5344CB8AC3E}">
        <p14:creationId xmlns:p14="http://schemas.microsoft.com/office/powerpoint/2010/main" val="341491550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create a PivotTable</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A blank </a:t>
            </a:r>
            <a:r>
              <a:rPr lang="en-US" b="1" dirty="0"/>
              <a:t>PivotTable</a:t>
            </a:r>
            <a:r>
              <a:rPr lang="en-US" dirty="0"/>
              <a:t> and </a:t>
            </a:r>
            <a:r>
              <a:rPr lang="en-US" b="1" dirty="0"/>
              <a:t>Field List </a:t>
            </a:r>
            <a:r>
              <a:rPr lang="en-US" dirty="0"/>
              <a:t>will appear in a new worksheet.</a:t>
            </a:r>
          </a:p>
        </p:txBody>
      </p:sp>
      <p:pic>
        <p:nvPicPr>
          <p:cNvPr id="6" name="Picture 5">
            <a:extLst>
              <a:ext uri="{FF2B5EF4-FFF2-40B4-BE49-F238E27FC236}">
                <a16:creationId xmlns:a16="http://schemas.microsoft.com/office/drawing/2014/main" id="{2501078C-63A1-4EC2-AC11-69B42CD704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362" y="1844824"/>
            <a:ext cx="6391275" cy="4680520"/>
          </a:xfrm>
          <a:prstGeom prst="rect">
            <a:avLst/>
          </a:prstGeom>
        </p:spPr>
      </p:pic>
    </p:spTree>
    <p:extLst>
      <p:ext uri="{BB962C8B-B14F-4D97-AF65-F5344CB8AC3E}">
        <p14:creationId xmlns:p14="http://schemas.microsoft.com/office/powerpoint/2010/main" val="9769855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create a PivotTable</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Once you create a PivotTable, you'll need to decide which </a:t>
            </a:r>
            <a:r>
              <a:rPr lang="en-US" b="1" dirty="0"/>
              <a:t>fields</a:t>
            </a:r>
            <a:r>
              <a:rPr lang="en-US" dirty="0"/>
              <a:t> to add. Each field is simply a </a:t>
            </a:r>
            <a:r>
              <a:rPr lang="en-US" b="1" dirty="0"/>
              <a:t>column header</a:t>
            </a:r>
            <a:r>
              <a:rPr lang="en-US" dirty="0"/>
              <a:t> from the source data. In the </a:t>
            </a:r>
            <a:r>
              <a:rPr lang="en-US" b="1" dirty="0"/>
              <a:t>PivotTable Fields </a:t>
            </a:r>
            <a:r>
              <a:rPr lang="en-US" dirty="0"/>
              <a:t>list, check the box for each field you want to add. In our example, we want to know the total </a:t>
            </a:r>
            <a:r>
              <a:rPr lang="en-US" b="1" dirty="0"/>
              <a:t>amount </a:t>
            </a:r>
            <a:r>
              <a:rPr lang="en-US" dirty="0"/>
              <a:t>sold by each </a:t>
            </a:r>
            <a:r>
              <a:rPr lang="en-US" b="1" dirty="0"/>
              <a:t>salesperson</a:t>
            </a:r>
            <a:r>
              <a:rPr lang="en-US" dirty="0"/>
              <a:t>, so we'll check the </a:t>
            </a:r>
            <a:r>
              <a:rPr lang="en-US" b="1" dirty="0"/>
              <a:t>Salesperson</a:t>
            </a:r>
            <a:r>
              <a:rPr lang="en-US" dirty="0"/>
              <a:t> and </a:t>
            </a:r>
            <a:r>
              <a:rPr lang="en-US" b="1" dirty="0"/>
              <a:t>Order Amount </a:t>
            </a:r>
            <a:r>
              <a:rPr lang="en-US" dirty="0"/>
              <a:t>fields.</a:t>
            </a:r>
          </a:p>
        </p:txBody>
      </p:sp>
      <p:pic>
        <p:nvPicPr>
          <p:cNvPr id="5" name="Picture 4">
            <a:extLst>
              <a:ext uri="{FF2B5EF4-FFF2-40B4-BE49-F238E27FC236}">
                <a16:creationId xmlns:a16="http://schemas.microsoft.com/office/drawing/2014/main" id="{909A132F-29D5-4750-9999-53791C0DB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7824" y="4221088"/>
            <a:ext cx="3600400" cy="2636912"/>
          </a:xfrm>
          <a:prstGeom prst="rect">
            <a:avLst/>
          </a:prstGeom>
        </p:spPr>
      </p:pic>
    </p:spTree>
    <p:extLst>
      <p:ext uri="{BB962C8B-B14F-4D97-AF65-F5344CB8AC3E}">
        <p14:creationId xmlns:p14="http://schemas.microsoft.com/office/powerpoint/2010/main" val="394778165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create a PivotTable</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The selected fields will be added to one of the four areas below. In our example, the </a:t>
            </a:r>
            <a:r>
              <a:rPr lang="en-US" b="1" dirty="0"/>
              <a:t>Salesperson</a:t>
            </a:r>
            <a:r>
              <a:rPr lang="en-US" dirty="0"/>
              <a:t> field has been added to the </a:t>
            </a:r>
            <a:r>
              <a:rPr lang="en-US" b="1" dirty="0"/>
              <a:t>Rows </a:t>
            </a:r>
            <a:r>
              <a:rPr lang="en-US" dirty="0"/>
              <a:t>area, while </a:t>
            </a:r>
            <a:r>
              <a:rPr lang="en-US" b="1" dirty="0"/>
              <a:t>Order Amount</a:t>
            </a:r>
            <a:r>
              <a:rPr lang="en-US" dirty="0"/>
              <a:t> has been added to </a:t>
            </a:r>
            <a:r>
              <a:rPr lang="en-US" b="1" dirty="0"/>
              <a:t>Values</a:t>
            </a:r>
            <a:r>
              <a:rPr lang="en-US" dirty="0"/>
              <a:t>. You can also </a:t>
            </a:r>
            <a:r>
              <a:rPr lang="en-US" b="1" dirty="0"/>
              <a:t>drag and drop</a:t>
            </a:r>
            <a:r>
              <a:rPr lang="en-US" dirty="0"/>
              <a:t> fields directly into the desired area.</a:t>
            </a:r>
          </a:p>
        </p:txBody>
      </p:sp>
      <p:pic>
        <p:nvPicPr>
          <p:cNvPr id="6" name="Picture 5">
            <a:extLst>
              <a:ext uri="{FF2B5EF4-FFF2-40B4-BE49-F238E27FC236}">
                <a16:creationId xmlns:a16="http://schemas.microsoft.com/office/drawing/2014/main" id="{90D5BE77-B125-491D-B804-8534082DD9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7524" y="3212976"/>
            <a:ext cx="3530699" cy="3528392"/>
          </a:xfrm>
          <a:prstGeom prst="rect">
            <a:avLst/>
          </a:prstGeom>
        </p:spPr>
      </p:pic>
    </p:spTree>
    <p:extLst>
      <p:ext uri="{BB962C8B-B14F-4D97-AF65-F5344CB8AC3E}">
        <p14:creationId xmlns:p14="http://schemas.microsoft.com/office/powerpoint/2010/main" val="10911745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create a PivotTable</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The PivotTable will calculate and summarize the selected fields. In our example, the PivotTable shows the </a:t>
            </a:r>
            <a:r>
              <a:rPr lang="en-US" b="1" dirty="0"/>
              <a:t>amount sold by each salesperson</a:t>
            </a:r>
            <a:r>
              <a:rPr lang="en-US" dirty="0"/>
              <a:t>.</a:t>
            </a:r>
          </a:p>
        </p:txBody>
      </p:sp>
      <p:pic>
        <p:nvPicPr>
          <p:cNvPr id="5" name="Picture 4">
            <a:extLst>
              <a:ext uri="{FF2B5EF4-FFF2-40B4-BE49-F238E27FC236}">
                <a16:creationId xmlns:a16="http://schemas.microsoft.com/office/drawing/2014/main" id="{C418C943-7B25-4CF9-BD3F-2CB91A9894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375" y="2564904"/>
            <a:ext cx="6953250" cy="4104456"/>
          </a:xfrm>
          <a:prstGeom prst="rect">
            <a:avLst/>
          </a:prstGeom>
        </p:spPr>
      </p:pic>
    </p:spTree>
    <p:extLst>
      <p:ext uri="{BB962C8B-B14F-4D97-AF65-F5344CB8AC3E}">
        <p14:creationId xmlns:p14="http://schemas.microsoft.com/office/powerpoint/2010/main" val="116956240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Pivoting data</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One of the best things about PivotTables is that they can quickly </a:t>
            </a:r>
            <a:r>
              <a:rPr lang="en-US" b="1" dirty="0"/>
              <a:t>pivot</a:t>
            </a:r>
            <a:r>
              <a:rPr lang="en-US" dirty="0"/>
              <a:t>—or reorganize—your data, allowing you to examine your worksheet in several ways. </a:t>
            </a:r>
          </a:p>
          <a:p>
            <a:pPr algn="just"/>
            <a:endParaRPr lang="en-US" dirty="0"/>
          </a:p>
          <a:p>
            <a:pPr algn="just"/>
            <a:r>
              <a:rPr lang="en-US" dirty="0"/>
              <a:t>Pivoting data can help you answer </a:t>
            </a:r>
            <a:r>
              <a:rPr lang="en-US" b="1" dirty="0"/>
              <a:t>different questions</a:t>
            </a:r>
            <a:r>
              <a:rPr lang="en-US" dirty="0"/>
              <a:t> and even </a:t>
            </a:r>
            <a:r>
              <a:rPr lang="en-US" b="1" dirty="0"/>
              <a:t>experiment</a:t>
            </a:r>
            <a:r>
              <a:rPr lang="en-US" dirty="0"/>
              <a:t> with your data to discover new trends and patterns.</a:t>
            </a:r>
          </a:p>
        </p:txBody>
      </p:sp>
    </p:spTree>
    <p:extLst>
      <p:ext uri="{BB962C8B-B14F-4D97-AF65-F5344CB8AC3E}">
        <p14:creationId xmlns:p14="http://schemas.microsoft.com/office/powerpoint/2010/main" val="343124113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add columns</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So far, our PivotTable has only shown </a:t>
            </a:r>
            <a:r>
              <a:rPr lang="en-US" b="1" dirty="0"/>
              <a:t>one column </a:t>
            </a:r>
            <a:r>
              <a:rPr lang="en-US" dirty="0"/>
              <a:t>of data at a time. To show </a:t>
            </a:r>
            <a:r>
              <a:rPr lang="en-US" b="1" dirty="0"/>
              <a:t>multiple columns</a:t>
            </a:r>
            <a:r>
              <a:rPr lang="en-US" dirty="0"/>
              <a:t>, you'll need to add a field to the Columns area.</a:t>
            </a:r>
          </a:p>
          <a:p>
            <a:pPr algn="just"/>
            <a:r>
              <a:rPr lang="en-US" dirty="0"/>
              <a:t>Drag a field from the </a:t>
            </a:r>
            <a:r>
              <a:rPr lang="en-US" b="1" dirty="0"/>
              <a:t>Field List </a:t>
            </a:r>
            <a:r>
              <a:rPr lang="en-US" dirty="0"/>
              <a:t>into the </a:t>
            </a:r>
            <a:r>
              <a:rPr lang="en-US" b="1" dirty="0"/>
              <a:t>Columns</a:t>
            </a:r>
            <a:r>
              <a:rPr lang="en-US" dirty="0"/>
              <a:t> area. In our example, we'll use the </a:t>
            </a:r>
            <a:r>
              <a:rPr lang="en-US" b="1" dirty="0"/>
              <a:t>Month</a:t>
            </a:r>
            <a:r>
              <a:rPr lang="en-US" dirty="0"/>
              <a:t> field.</a:t>
            </a:r>
          </a:p>
        </p:txBody>
      </p:sp>
      <p:pic>
        <p:nvPicPr>
          <p:cNvPr id="5" name="Picture 4">
            <a:extLst>
              <a:ext uri="{FF2B5EF4-FFF2-40B4-BE49-F238E27FC236}">
                <a16:creationId xmlns:a16="http://schemas.microsoft.com/office/drawing/2014/main" id="{3F7D0965-6EAD-4570-96D2-1BDCE10A02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7512" y="3284984"/>
            <a:ext cx="3918744" cy="3573016"/>
          </a:xfrm>
          <a:prstGeom prst="rect">
            <a:avLst/>
          </a:prstGeom>
        </p:spPr>
      </p:pic>
    </p:spTree>
    <p:extLst>
      <p:ext uri="{BB962C8B-B14F-4D97-AF65-F5344CB8AC3E}">
        <p14:creationId xmlns:p14="http://schemas.microsoft.com/office/powerpoint/2010/main" val="406591046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add columns</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The PivotTable will include multiple columns. In our example, there is now a column for each person's </a:t>
            </a:r>
            <a:r>
              <a:rPr lang="en-US" b="1" dirty="0"/>
              <a:t>monthly sales</a:t>
            </a:r>
            <a:r>
              <a:rPr lang="en-US" dirty="0"/>
              <a:t>, in addition to the </a:t>
            </a:r>
            <a:r>
              <a:rPr lang="en-US" b="1" dirty="0"/>
              <a:t>grand total</a:t>
            </a:r>
            <a:r>
              <a:rPr lang="en-US" dirty="0"/>
              <a:t>.</a:t>
            </a:r>
          </a:p>
        </p:txBody>
      </p:sp>
      <p:pic>
        <p:nvPicPr>
          <p:cNvPr id="6" name="Picture 5">
            <a:extLst>
              <a:ext uri="{FF2B5EF4-FFF2-40B4-BE49-F238E27FC236}">
                <a16:creationId xmlns:a16="http://schemas.microsoft.com/office/drawing/2014/main" id="{6D83BB95-FDA2-4F70-B784-F356DECF8C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2852936"/>
            <a:ext cx="7239000" cy="3672408"/>
          </a:xfrm>
          <a:prstGeom prst="rect">
            <a:avLst/>
          </a:prstGeom>
        </p:spPr>
      </p:pic>
    </p:spTree>
    <p:extLst>
      <p:ext uri="{BB962C8B-B14F-4D97-AF65-F5344CB8AC3E}">
        <p14:creationId xmlns:p14="http://schemas.microsoft.com/office/powerpoint/2010/main" val="524210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change a row or column</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b="1" dirty="0"/>
              <a:t>Changing </a:t>
            </a:r>
            <a:r>
              <a:rPr lang="en-US" dirty="0"/>
              <a:t>a row or column can give you a completely different perspective on your data. All you have to do is </a:t>
            </a:r>
            <a:r>
              <a:rPr lang="en-US" b="1" dirty="0"/>
              <a:t>remove</a:t>
            </a:r>
            <a:r>
              <a:rPr lang="en-US" dirty="0"/>
              <a:t> the field in question, then </a:t>
            </a:r>
            <a:r>
              <a:rPr lang="en-US" b="1" dirty="0"/>
              <a:t>replace</a:t>
            </a:r>
            <a:r>
              <a:rPr lang="en-US" dirty="0"/>
              <a:t> it with another.</a:t>
            </a:r>
          </a:p>
          <a:p>
            <a:pPr algn="just"/>
            <a:r>
              <a:rPr lang="en-US" dirty="0"/>
              <a:t>Drag the field you want to remove out of its </a:t>
            </a:r>
            <a:r>
              <a:rPr lang="en-US" b="1" dirty="0"/>
              <a:t>current area</a:t>
            </a:r>
            <a:r>
              <a:rPr lang="en-US" dirty="0"/>
              <a:t>. You can also uncheck the appropriate box in the Field List. In this example, we've removed the </a:t>
            </a:r>
            <a:r>
              <a:rPr lang="en-US" b="1" dirty="0"/>
              <a:t>Month</a:t>
            </a:r>
            <a:r>
              <a:rPr lang="en-US" dirty="0"/>
              <a:t> and </a:t>
            </a:r>
            <a:r>
              <a:rPr lang="en-US" b="1" dirty="0"/>
              <a:t>Salesperson</a:t>
            </a:r>
            <a:r>
              <a:rPr lang="en-US" dirty="0"/>
              <a:t> fields.</a:t>
            </a:r>
          </a:p>
        </p:txBody>
      </p:sp>
      <p:pic>
        <p:nvPicPr>
          <p:cNvPr id="5" name="Picture 4">
            <a:extLst>
              <a:ext uri="{FF2B5EF4-FFF2-40B4-BE49-F238E27FC236}">
                <a16:creationId xmlns:a16="http://schemas.microsoft.com/office/drawing/2014/main" id="{3C4389F0-E179-4E51-A893-81D4B2762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1851" y="4365104"/>
            <a:ext cx="4191000" cy="2492896"/>
          </a:xfrm>
          <a:prstGeom prst="rect">
            <a:avLst/>
          </a:prstGeom>
        </p:spPr>
      </p:pic>
    </p:spTree>
    <p:extLst>
      <p:ext uri="{BB962C8B-B14F-4D97-AF65-F5344CB8AC3E}">
        <p14:creationId xmlns:p14="http://schemas.microsoft.com/office/powerpoint/2010/main" val="142660411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change a row or column</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Drag a </a:t>
            </a:r>
            <a:r>
              <a:rPr lang="en-US" b="1" dirty="0"/>
              <a:t>new field</a:t>
            </a:r>
            <a:r>
              <a:rPr lang="en-US" dirty="0"/>
              <a:t> into the </a:t>
            </a:r>
            <a:r>
              <a:rPr lang="en-US" b="1" dirty="0"/>
              <a:t>desired area</a:t>
            </a:r>
            <a:r>
              <a:rPr lang="en-US" dirty="0"/>
              <a:t>. In our example, we'll place the </a:t>
            </a:r>
            <a:r>
              <a:rPr lang="en-US" b="1" dirty="0"/>
              <a:t>Region</a:t>
            </a:r>
            <a:r>
              <a:rPr lang="en-US" dirty="0"/>
              <a:t> field under </a:t>
            </a:r>
            <a:r>
              <a:rPr lang="en-US" b="1" dirty="0"/>
              <a:t>Rows</a:t>
            </a:r>
            <a:r>
              <a:rPr lang="en-US" dirty="0"/>
              <a:t>.</a:t>
            </a:r>
          </a:p>
        </p:txBody>
      </p:sp>
      <p:pic>
        <p:nvPicPr>
          <p:cNvPr id="6" name="Picture 5">
            <a:extLst>
              <a:ext uri="{FF2B5EF4-FFF2-40B4-BE49-F238E27FC236}">
                <a16:creationId xmlns:a16="http://schemas.microsoft.com/office/drawing/2014/main" id="{CDEA647A-827E-441F-AD21-8F5E3B9C2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7512" y="2060848"/>
            <a:ext cx="3228975" cy="4287564"/>
          </a:xfrm>
          <a:prstGeom prst="rect">
            <a:avLst/>
          </a:prstGeom>
        </p:spPr>
      </p:pic>
    </p:spTree>
    <p:extLst>
      <p:ext uri="{BB962C8B-B14F-4D97-AF65-F5344CB8AC3E}">
        <p14:creationId xmlns:p14="http://schemas.microsoft.com/office/powerpoint/2010/main" val="384822387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change a row or column</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The PivotTable will adjust—or pivot—to show the new data. In our example, it now shows the</a:t>
            </a:r>
            <a:r>
              <a:rPr lang="en-US" b="1" dirty="0"/>
              <a:t> amount sold by each region</a:t>
            </a:r>
            <a:r>
              <a:rPr lang="en-US" dirty="0"/>
              <a:t>.</a:t>
            </a:r>
          </a:p>
        </p:txBody>
      </p:sp>
      <p:pic>
        <p:nvPicPr>
          <p:cNvPr id="5" name="Picture 4">
            <a:extLst>
              <a:ext uri="{FF2B5EF4-FFF2-40B4-BE49-F238E27FC236}">
                <a16:creationId xmlns:a16="http://schemas.microsoft.com/office/drawing/2014/main" id="{569832BE-D3B1-413E-8462-81C5B7A053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0174" y="2492896"/>
            <a:ext cx="6556201" cy="4176464"/>
          </a:xfrm>
          <a:prstGeom prst="rect">
            <a:avLst/>
          </a:prstGeom>
        </p:spPr>
      </p:pic>
    </p:spTree>
    <p:extLst>
      <p:ext uri="{BB962C8B-B14F-4D97-AF65-F5344CB8AC3E}">
        <p14:creationId xmlns:p14="http://schemas.microsoft.com/office/powerpoint/2010/main" val="34696540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Excel - Doing More with PivotTables</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PivotTables can be used to summarize and analyze almost any type of data. </a:t>
            </a:r>
          </a:p>
          <a:p>
            <a:pPr algn="just"/>
            <a:endParaRPr lang="en-US" dirty="0"/>
          </a:p>
          <a:p>
            <a:pPr algn="just"/>
            <a:endParaRPr lang="en-US" dirty="0"/>
          </a:p>
          <a:p>
            <a:pPr algn="just"/>
            <a:r>
              <a:rPr lang="en-US" dirty="0"/>
              <a:t>To manipulate your PivotTable—and gain even more insight into your data—Excel offers three additional tools: </a:t>
            </a:r>
            <a:r>
              <a:rPr lang="en-US" b="1" dirty="0"/>
              <a:t>filters</a:t>
            </a:r>
            <a:r>
              <a:rPr lang="en-US" dirty="0"/>
              <a:t>, </a:t>
            </a:r>
            <a:r>
              <a:rPr lang="en-US" b="1" dirty="0"/>
              <a:t>slicers</a:t>
            </a:r>
            <a:r>
              <a:rPr lang="en-US" dirty="0"/>
              <a:t>, and </a:t>
            </a:r>
            <a:r>
              <a:rPr lang="en-US" b="1" dirty="0" err="1"/>
              <a:t>PivotCharts</a:t>
            </a:r>
            <a:r>
              <a:rPr lang="en-US" dirty="0"/>
              <a:t>.</a:t>
            </a:r>
          </a:p>
        </p:txBody>
      </p:sp>
    </p:spTree>
    <p:extLst>
      <p:ext uri="{BB962C8B-B14F-4D97-AF65-F5344CB8AC3E}">
        <p14:creationId xmlns:p14="http://schemas.microsoft.com/office/powerpoint/2010/main" val="23031246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Excel - Doing More with PivotTables</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PivotTables can be used to summarize and analyze almost any type of data. </a:t>
            </a:r>
          </a:p>
          <a:p>
            <a:pPr algn="just"/>
            <a:endParaRPr lang="en-US" dirty="0"/>
          </a:p>
          <a:p>
            <a:pPr algn="just"/>
            <a:endParaRPr lang="en-US" dirty="0"/>
          </a:p>
          <a:p>
            <a:pPr algn="just"/>
            <a:r>
              <a:rPr lang="en-US" dirty="0"/>
              <a:t>To manipulate your PivotTable—and gain even more insight into your data—Excel offers three additional tools: </a:t>
            </a:r>
            <a:r>
              <a:rPr lang="en-US" b="1" dirty="0"/>
              <a:t>filters</a:t>
            </a:r>
            <a:r>
              <a:rPr lang="en-US" dirty="0"/>
              <a:t>, </a:t>
            </a:r>
            <a:r>
              <a:rPr lang="en-US" b="1" dirty="0"/>
              <a:t>slicers</a:t>
            </a:r>
            <a:r>
              <a:rPr lang="en-US" dirty="0"/>
              <a:t>, and </a:t>
            </a:r>
            <a:r>
              <a:rPr lang="en-US" b="1" dirty="0" err="1"/>
              <a:t>PivotCharts</a:t>
            </a:r>
            <a:r>
              <a:rPr lang="en-US" dirty="0"/>
              <a:t>.</a:t>
            </a:r>
          </a:p>
        </p:txBody>
      </p:sp>
    </p:spTree>
    <p:extLst>
      <p:ext uri="{BB962C8B-B14F-4D97-AF65-F5344CB8AC3E}">
        <p14:creationId xmlns:p14="http://schemas.microsoft.com/office/powerpoint/2010/main" val="61876966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Filters</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Sometimes you may want focus on a certain section of your data. </a:t>
            </a:r>
          </a:p>
          <a:p>
            <a:pPr algn="just"/>
            <a:endParaRPr lang="en-US" b="1" dirty="0"/>
          </a:p>
          <a:p>
            <a:pPr algn="just"/>
            <a:r>
              <a:rPr lang="en-US" b="1" dirty="0"/>
              <a:t>Filters</a:t>
            </a:r>
            <a:r>
              <a:rPr lang="en-US" dirty="0"/>
              <a:t> can be used to </a:t>
            </a:r>
            <a:r>
              <a:rPr lang="en-US" b="1" dirty="0"/>
              <a:t>narrow down</a:t>
            </a:r>
            <a:r>
              <a:rPr lang="en-US" dirty="0"/>
              <a:t> the data in your PivotTable so you can view only the information you need.</a:t>
            </a:r>
          </a:p>
        </p:txBody>
      </p:sp>
    </p:spTree>
    <p:extLst>
      <p:ext uri="{BB962C8B-B14F-4D97-AF65-F5344CB8AC3E}">
        <p14:creationId xmlns:p14="http://schemas.microsoft.com/office/powerpoint/2010/main" val="310054891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a filter</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In the example below, we'll filter out certain </a:t>
            </a:r>
            <a:r>
              <a:rPr lang="en-US" b="1" dirty="0"/>
              <a:t>salespeople</a:t>
            </a:r>
            <a:r>
              <a:rPr lang="en-US" dirty="0"/>
              <a:t> to determine how their individual sales are impacting each region.</a:t>
            </a:r>
          </a:p>
          <a:p>
            <a:pPr algn="just"/>
            <a:r>
              <a:rPr lang="en-US" dirty="0"/>
              <a:t>Drag a field from the </a:t>
            </a:r>
            <a:r>
              <a:rPr lang="en-US" b="1" dirty="0"/>
              <a:t>Field List </a:t>
            </a:r>
            <a:r>
              <a:rPr lang="en-US" dirty="0"/>
              <a:t>to the </a:t>
            </a:r>
            <a:r>
              <a:rPr lang="en-US" b="1" dirty="0"/>
              <a:t>Filters </a:t>
            </a:r>
            <a:r>
              <a:rPr lang="en-US" dirty="0"/>
              <a:t>area. In this example, we'll use the </a:t>
            </a:r>
            <a:r>
              <a:rPr lang="en-US" b="1" dirty="0"/>
              <a:t>Salesperson</a:t>
            </a:r>
            <a:r>
              <a:rPr lang="en-US" dirty="0"/>
              <a:t> field.</a:t>
            </a:r>
          </a:p>
        </p:txBody>
      </p:sp>
      <p:pic>
        <p:nvPicPr>
          <p:cNvPr id="5" name="Picture 4">
            <a:extLst>
              <a:ext uri="{FF2B5EF4-FFF2-40B4-BE49-F238E27FC236}">
                <a16:creationId xmlns:a16="http://schemas.microsoft.com/office/drawing/2014/main" id="{416A9552-4734-47D3-A186-56E1BA250C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912" y="2996952"/>
            <a:ext cx="2476500" cy="3861048"/>
          </a:xfrm>
          <a:prstGeom prst="rect">
            <a:avLst/>
          </a:prstGeom>
        </p:spPr>
      </p:pic>
    </p:spTree>
    <p:extLst>
      <p:ext uri="{BB962C8B-B14F-4D97-AF65-F5344CB8AC3E}">
        <p14:creationId xmlns:p14="http://schemas.microsoft.com/office/powerpoint/2010/main" val="280826052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a filter</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The </a:t>
            </a:r>
            <a:r>
              <a:rPr lang="en-US" b="1" dirty="0"/>
              <a:t>filter</a:t>
            </a:r>
            <a:r>
              <a:rPr lang="en-US" dirty="0"/>
              <a:t> will appear above the PivotTable. Click the </a:t>
            </a:r>
            <a:r>
              <a:rPr lang="en-US" b="1" dirty="0"/>
              <a:t>drop-down arrow</a:t>
            </a:r>
            <a:r>
              <a:rPr lang="en-US" dirty="0"/>
              <a:t>, then check the box next to </a:t>
            </a:r>
            <a:r>
              <a:rPr lang="en-US" b="1" dirty="0"/>
              <a:t>Select Multiple Items</a:t>
            </a:r>
            <a:r>
              <a:rPr lang="en-US" dirty="0"/>
              <a:t>.</a:t>
            </a:r>
          </a:p>
        </p:txBody>
      </p:sp>
      <p:pic>
        <p:nvPicPr>
          <p:cNvPr id="6" name="Picture 5">
            <a:extLst>
              <a:ext uri="{FF2B5EF4-FFF2-40B4-BE49-F238E27FC236}">
                <a16:creationId xmlns:a16="http://schemas.microsoft.com/office/drawing/2014/main" id="{ED65804A-E53A-4718-8463-F74079E94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5986" y="2492896"/>
            <a:ext cx="5356373" cy="3888432"/>
          </a:xfrm>
          <a:prstGeom prst="rect">
            <a:avLst/>
          </a:prstGeom>
        </p:spPr>
      </p:pic>
    </p:spTree>
    <p:extLst>
      <p:ext uri="{BB962C8B-B14F-4D97-AF65-F5344CB8AC3E}">
        <p14:creationId xmlns:p14="http://schemas.microsoft.com/office/powerpoint/2010/main" val="198794384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a filter</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b="1" dirty="0"/>
              <a:t>Uncheck </a:t>
            </a:r>
            <a:r>
              <a:rPr lang="en-US" dirty="0"/>
              <a:t>the box next to any item you don't want to include in the PivotTable. In our example, we'll uncheck the boxes for a few salespeople, then click </a:t>
            </a:r>
            <a:r>
              <a:rPr lang="en-US" b="1" dirty="0"/>
              <a:t>OK</a:t>
            </a:r>
            <a:r>
              <a:rPr lang="en-US" dirty="0"/>
              <a:t>.</a:t>
            </a:r>
          </a:p>
        </p:txBody>
      </p:sp>
      <p:pic>
        <p:nvPicPr>
          <p:cNvPr id="5" name="Picture 4">
            <a:extLst>
              <a:ext uri="{FF2B5EF4-FFF2-40B4-BE49-F238E27FC236}">
                <a16:creationId xmlns:a16="http://schemas.microsoft.com/office/drawing/2014/main" id="{A3BD4992-5764-4DC6-A961-1BACC8741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2708920"/>
            <a:ext cx="5112568" cy="3672408"/>
          </a:xfrm>
          <a:prstGeom prst="rect">
            <a:avLst/>
          </a:prstGeom>
        </p:spPr>
      </p:pic>
    </p:spTree>
    <p:extLst>
      <p:ext uri="{BB962C8B-B14F-4D97-AF65-F5344CB8AC3E}">
        <p14:creationId xmlns:p14="http://schemas.microsoft.com/office/powerpoint/2010/main" val="370096108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a filter</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The PivotTable will </a:t>
            </a:r>
            <a:r>
              <a:rPr lang="en-US" b="1" dirty="0"/>
              <a:t>adjust</a:t>
            </a:r>
            <a:r>
              <a:rPr lang="en-US" dirty="0"/>
              <a:t> to reflect the changes.</a:t>
            </a:r>
          </a:p>
        </p:txBody>
      </p:sp>
      <p:pic>
        <p:nvPicPr>
          <p:cNvPr id="6" name="Picture 5">
            <a:extLst>
              <a:ext uri="{FF2B5EF4-FFF2-40B4-BE49-F238E27FC236}">
                <a16:creationId xmlns:a16="http://schemas.microsoft.com/office/drawing/2014/main" id="{CCE4444F-C9AF-4A78-82C4-F55EA73116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1700808"/>
            <a:ext cx="5904656" cy="3168352"/>
          </a:xfrm>
          <a:prstGeom prst="rect">
            <a:avLst/>
          </a:prstGeom>
        </p:spPr>
      </p:pic>
    </p:spTree>
    <p:extLst>
      <p:ext uri="{BB962C8B-B14F-4D97-AF65-F5344CB8AC3E}">
        <p14:creationId xmlns:p14="http://schemas.microsoft.com/office/powerpoint/2010/main" val="347692003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Slicers</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b="1" dirty="0"/>
              <a:t>Slicers</a:t>
            </a:r>
            <a:r>
              <a:rPr lang="en-US" dirty="0"/>
              <a:t> make filtering data in PivotTables even easier. Slicers are basically just </a:t>
            </a:r>
            <a:r>
              <a:rPr lang="en-US" b="1" dirty="0"/>
              <a:t>filters</a:t>
            </a:r>
            <a:r>
              <a:rPr lang="en-US" dirty="0"/>
              <a:t> but are easier and faster to use, allowing you to instantly pivot your data. </a:t>
            </a:r>
          </a:p>
          <a:p>
            <a:pPr algn="just"/>
            <a:endParaRPr lang="en-US" dirty="0"/>
          </a:p>
          <a:p>
            <a:pPr algn="just"/>
            <a:r>
              <a:rPr lang="en-US" dirty="0"/>
              <a:t>If you frequently filter your PivotTables, you may want to consider using slicers instead of filters.</a:t>
            </a:r>
          </a:p>
        </p:txBody>
      </p:sp>
    </p:spTree>
    <p:extLst>
      <p:ext uri="{BB962C8B-B14F-4D97-AF65-F5344CB8AC3E}">
        <p14:creationId xmlns:p14="http://schemas.microsoft.com/office/powerpoint/2010/main" val="52362647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a slicer</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Select </a:t>
            </a:r>
            <a:r>
              <a:rPr lang="en-US" b="1" dirty="0"/>
              <a:t>any cell </a:t>
            </a:r>
            <a:r>
              <a:rPr lang="en-US" dirty="0"/>
              <a:t>in the PivotTable.</a:t>
            </a:r>
          </a:p>
          <a:p>
            <a:pPr algn="just"/>
            <a:r>
              <a:rPr lang="en-US" dirty="0"/>
              <a:t>From the </a:t>
            </a:r>
            <a:r>
              <a:rPr lang="en-US" b="1" dirty="0"/>
              <a:t>Analyze</a:t>
            </a:r>
            <a:r>
              <a:rPr lang="en-US" dirty="0"/>
              <a:t> tab, click the </a:t>
            </a:r>
            <a:r>
              <a:rPr lang="en-US" b="1" dirty="0"/>
              <a:t>Insert Slicer</a:t>
            </a:r>
            <a:r>
              <a:rPr lang="en-US" dirty="0"/>
              <a:t> command.</a:t>
            </a:r>
          </a:p>
        </p:txBody>
      </p:sp>
      <p:pic>
        <p:nvPicPr>
          <p:cNvPr id="5" name="Picture 4">
            <a:extLst>
              <a:ext uri="{FF2B5EF4-FFF2-40B4-BE49-F238E27FC236}">
                <a16:creationId xmlns:a16="http://schemas.microsoft.com/office/drawing/2014/main" id="{D37D366F-2275-4EF2-A4E5-A9541B5DCE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2204864"/>
            <a:ext cx="7272808" cy="2160240"/>
          </a:xfrm>
          <a:prstGeom prst="rect">
            <a:avLst/>
          </a:prstGeom>
        </p:spPr>
      </p:pic>
    </p:spTree>
    <p:extLst>
      <p:ext uri="{BB962C8B-B14F-4D97-AF65-F5344CB8AC3E}">
        <p14:creationId xmlns:p14="http://schemas.microsoft.com/office/powerpoint/2010/main" val="391001518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a slicer</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A dialog box will appear. Check the box next to the desired </a:t>
            </a:r>
            <a:r>
              <a:rPr lang="en-US" b="1" dirty="0"/>
              <a:t>field</a:t>
            </a:r>
            <a:r>
              <a:rPr lang="en-US" dirty="0"/>
              <a:t>. In our example, we'll select </a:t>
            </a:r>
            <a:r>
              <a:rPr lang="en-US" b="1" dirty="0"/>
              <a:t>Salesperson</a:t>
            </a:r>
            <a:r>
              <a:rPr lang="en-US" dirty="0"/>
              <a:t>, then click </a:t>
            </a:r>
            <a:r>
              <a:rPr lang="en-US" b="1" dirty="0"/>
              <a:t>OK</a:t>
            </a:r>
            <a:r>
              <a:rPr lang="en-US" dirty="0"/>
              <a:t>.</a:t>
            </a:r>
            <a:br>
              <a:rPr lang="en-US" dirty="0"/>
            </a:br>
            <a:endParaRPr lang="en-US" dirty="0"/>
          </a:p>
        </p:txBody>
      </p:sp>
      <p:pic>
        <p:nvPicPr>
          <p:cNvPr id="6" name="Picture 5">
            <a:extLst>
              <a:ext uri="{FF2B5EF4-FFF2-40B4-BE49-F238E27FC236}">
                <a16:creationId xmlns:a16="http://schemas.microsoft.com/office/drawing/2014/main" id="{6007BDBC-253C-4B0D-83DD-E2FE593EF0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2420888"/>
            <a:ext cx="3489226" cy="3384376"/>
          </a:xfrm>
          <a:prstGeom prst="rect">
            <a:avLst/>
          </a:prstGeom>
        </p:spPr>
      </p:pic>
    </p:spTree>
    <p:extLst>
      <p:ext uri="{BB962C8B-B14F-4D97-AF65-F5344CB8AC3E}">
        <p14:creationId xmlns:p14="http://schemas.microsoft.com/office/powerpoint/2010/main" val="425441772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a slicer</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The slicer will appear next to the PivotTable. Each selected item will be highlighted in </a:t>
            </a:r>
            <a:r>
              <a:rPr lang="en-US" b="1" dirty="0"/>
              <a:t>blue</a:t>
            </a:r>
            <a:r>
              <a:rPr lang="en-US" dirty="0"/>
              <a:t>. In the example below, the slicer contains all eight salespeople, but only </a:t>
            </a:r>
            <a:r>
              <a:rPr lang="en-US" b="1" dirty="0"/>
              <a:t>five</a:t>
            </a:r>
            <a:r>
              <a:rPr lang="en-US" dirty="0"/>
              <a:t> of them are currently selected.</a:t>
            </a:r>
          </a:p>
        </p:txBody>
      </p:sp>
      <p:pic>
        <p:nvPicPr>
          <p:cNvPr id="5" name="Picture 4">
            <a:extLst>
              <a:ext uri="{FF2B5EF4-FFF2-40B4-BE49-F238E27FC236}">
                <a16:creationId xmlns:a16="http://schemas.microsoft.com/office/drawing/2014/main" id="{874AE091-F586-4EE0-B907-C7A9AF6DF9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3768" y="2852936"/>
            <a:ext cx="5976664" cy="3744416"/>
          </a:xfrm>
          <a:prstGeom prst="rect">
            <a:avLst/>
          </a:prstGeom>
        </p:spPr>
      </p:pic>
    </p:spTree>
    <p:extLst>
      <p:ext uri="{BB962C8B-B14F-4D97-AF65-F5344CB8AC3E}">
        <p14:creationId xmlns:p14="http://schemas.microsoft.com/office/powerpoint/2010/main" val="304105023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a slicer</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Just like filters, only </a:t>
            </a:r>
            <a:r>
              <a:rPr lang="en-US" b="1" dirty="0"/>
              <a:t>selected</a:t>
            </a:r>
            <a:r>
              <a:rPr lang="en-US" dirty="0"/>
              <a:t> items are used in the PivotTable. When you </a:t>
            </a:r>
            <a:r>
              <a:rPr lang="en-US" b="1" dirty="0"/>
              <a:t>select</a:t>
            </a:r>
            <a:r>
              <a:rPr lang="en-US" dirty="0"/>
              <a:t> or </a:t>
            </a:r>
            <a:r>
              <a:rPr lang="en-US" b="1" dirty="0"/>
              <a:t>deselect</a:t>
            </a:r>
            <a:r>
              <a:rPr lang="en-US" dirty="0"/>
              <a:t> an item, the PivotTable will instantly reflect the change. Try selecting different items to see how they affect the PivotTable. Press and hold the </a:t>
            </a:r>
            <a:r>
              <a:rPr lang="en-US" b="1" dirty="0"/>
              <a:t>Ctrl</a:t>
            </a:r>
            <a:r>
              <a:rPr lang="en-US" dirty="0"/>
              <a:t> key on your keyboard to select </a:t>
            </a:r>
            <a:r>
              <a:rPr lang="en-US" b="1" dirty="0"/>
              <a:t>multiple</a:t>
            </a:r>
            <a:r>
              <a:rPr lang="en-US" dirty="0"/>
              <a:t> items at once.</a:t>
            </a:r>
            <a:br>
              <a:rPr lang="en-US" dirty="0"/>
            </a:br>
            <a:endParaRPr lang="en-US" dirty="0"/>
          </a:p>
        </p:txBody>
      </p:sp>
      <p:pic>
        <p:nvPicPr>
          <p:cNvPr id="6" name="Picture 5">
            <a:extLst>
              <a:ext uri="{FF2B5EF4-FFF2-40B4-BE49-F238E27FC236}">
                <a16:creationId xmlns:a16="http://schemas.microsoft.com/office/drawing/2014/main" id="{650C9FE3-6C86-4165-8186-07C7B2491C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3429946"/>
            <a:ext cx="5476875" cy="3333750"/>
          </a:xfrm>
          <a:prstGeom prst="rect">
            <a:avLst/>
          </a:prstGeom>
        </p:spPr>
      </p:pic>
    </p:spTree>
    <p:extLst>
      <p:ext uri="{BB962C8B-B14F-4D97-AF65-F5344CB8AC3E}">
        <p14:creationId xmlns:p14="http://schemas.microsoft.com/office/powerpoint/2010/main" val="261209008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err="1"/>
              <a:t>PivotCharts</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err="1"/>
              <a:t>PivotCharts</a:t>
            </a:r>
            <a:r>
              <a:rPr lang="en-US" dirty="0"/>
              <a:t> are like regular charts, except they display data from a </a:t>
            </a:r>
            <a:r>
              <a:rPr lang="en-US" b="1" dirty="0"/>
              <a:t>PivotTable</a:t>
            </a:r>
            <a:r>
              <a:rPr lang="en-US" dirty="0"/>
              <a:t>. </a:t>
            </a:r>
          </a:p>
          <a:p>
            <a:pPr algn="just"/>
            <a:endParaRPr lang="en-US" dirty="0"/>
          </a:p>
          <a:p>
            <a:pPr algn="just"/>
            <a:r>
              <a:rPr lang="en-US" dirty="0"/>
              <a:t>Just like regular charts, you'll be able to select a </a:t>
            </a:r>
            <a:r>
              <a:rPr lang="en-US" b="1" dirty="0"/>
              <a:t>chart type</a:t>
            </a:r>
            <a:r>
              <a:rPr lang="en-US" dirty="0"/>
              <a:t>, </a:t>
            </a:r>
            <a:r>
              <a:rPr lang="en-US" b="1" dirty="0"/>
              <a:t>layout</a:t>
            </a:r>
            <a:r>
              <a:rPr lang="en-US" dirty="0"/>
              <a:t>, and </a:t>
            </a:r>
            <a:r>
              <a:rPr lang="en-US" b="1" dirty="0"/>
              <a:t>style</a:t>
            </a:r>
            <a:r>
              <a:rPr lang="en-US" dirty="0"/>
              <a:t> that will best represent the data.</a:t>
            </a:r>
          </a:p>
        </p:txBody>
      </p:sp>
    </p:spTree>
    <p:extLst>
      <p:ext uri="{BB962C8B-B14F-4D97-AF65-F5344CB8AC3E}">
        <p14:creationId xmlns:p14="http://schemas.microsoft.com/office/powerpoint/2010/main" val="418513256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create a </a:t>
            </a:r>
            <a:r>
              <a:rPr lang="en-US" dirty="0" err="1"/>
              <a:t>PivotCharts</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In the example below, our PivotTable is showing a portion of each region's sales figures. </a:t>
            </a:r>
          </a:p>
          <a:p>
            <a:pPr algn="just"/>
            <a:r>
              <a:rPr lang="en-US" dirty="0"/>
              <a:t>We'll use a PivotChart so we can see the information more clearly.</a:t>
            </a:r>
          </a:p>
          <a:p>
            <a:pPr algn="just"/>
            <a:endParaRPr lang="en-US" dirty="0"/>
          </a:p>
          <a:p>
            <a:pPr algn="just"/>
            <a:r>
              <a:rPr lang="en-US" dirty="0"/>
              <a:t>Select </a:t>
            </a:r>
            <a:r>
              <a:rPr lang="en-US" b="1" dirty="0"/>
              <a:t>any cell </a:t>
            </a:r>
            <a:r>
              <a:rPr lang="en-US" dirty="0"/>
              <a:t>in your PivotTable.</a:t>
            </a:r>
          </a:p>
          <a:p>
            <a:pPr algn="just"/>
            <a:r>
              <a:rPr lang="en-US" dirty="0"/>
              <a:t>From the </a:t>
            </a:r>
            <a:r>
              <a:rPr lang="en-US" b="1" dirty="0"/>
              <a:t>Insert</a:t>
            </a:r>
            <a:r>
              <a:rPr lang="en-US" dirty="0"/>
              <a:t> tab, click the </a:t>
            </a:r>
            <a:r>
              <a:rPr lang="en-US" b="1" dirty="0"/>
              <a:t>PivotChart</a:t>
            </a:r>
            <a:r>
              <a:rPr lang="en-US" dirty="0"/>
              <a:t> command.</a:t>
            </a:r>
          </a:p>
        </p:txBody>
      </p:sp>
      <p:pic>
        <p:nvPicPr>
          <p:cNvPr id="5" name="Picture 4">
            <a:extLst>
              <a:ext uri="{FF2B5EF4-FFF2-40B4-BE49-F238E27FC236}">
                <a16:creationId xmlns:a16="http://schemas.microsoft.com/office/drawing/2014/main" id="{AC6D5975-415A-4BD7-9C62-E2C40D0BDC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4725144"/>
            <a:ext cx="6953250" cy="1584176"/>
          </a:xfrm>
          <a:prstGeom prst="rect">
            <a:avLst/>
          </a:prstGeom>
        </p:spPr>
      </p:pic>
    </p:spTree>
    <p:extLst>
      <p:ext uri="{BB962C8B-B14F-4D97-AF65-F5344CB8AC3E}">
        <p14:creationId xmlns:p14="http://schemas.microsoft.com/office/powerpoint/2010/main" val="189140715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create a </a:t>
            </a:r>
            <a:r>
              <a:rPr lang="en-US" dirty="0" err="1"/>
              <a:t>PivotCharts</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The </a:t>
            </a:r>
            <a:r>
              <a:rPr lang="en-US" b="1" dirty="0"/>
              <a:t>Insert Chart </a:t>
            </a:r>
            <a:r>
              <a:rPr lang="en-US" dirty="0"/>
              <a:t>dialog box will appear. Select the desired </a:t>
            </a:r>
            <a:r>
              <a:rPr lang="en-US" b="1" dirty="0"/>
              <a:t>chart type </a:t>
            </a:r>
            <a:r>
              <a:rPr lang="en-US" dirty="0"/>
              <a:t>and </a:t>
            </a:r>
            <a:r>
              <a:rPr lang="en-US" b="1" dirty="0"/>
              <a:t>layout</a:t>
            </a:r>
            <a:r>
              <a:rPr lang="en-US" dirty="0"/>
              <a:t>, then click </a:t>
            </a:r>
            <a:r>
              <a:rPr lang="en-US" b="1" dirty="0"/>
              <a:t>OK</a:t>
            </a:r>
            <a:r>
              <a:rPr lang="en-US" dirty="0"/>
              <a:t>.</a:t>
            </a:r>
          </a:p>
        </p:txBody>
      </p:sp>
      <p:pic>
        <p:nvPicPr>
          <p:cNvPr id="6" name="Picture 5">
            <a:extLst>
              <a:ext uri="{FF2B5EF4-FFF2-40B4-BE49-F238E27FC236}">
                <a16:creationId xmlns:a16="http://schemas.microsoft.com/office/drawing/2014/main" id="{5F57CA00-18CF-4FC6-BE44-0FE5669D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1784003"/>
            <a:ext cx="6267450" cy="4669333"/>
          </a:xfrm>
          <a:prstGeom prst="rect">
            <a:avLst/>
          </a:prstGeom>
        </p:spPr>
      </p:pic>
    </p:spTree>
    <p:extLst>
      <p:ext uri="{BB962C8B-B14F-4D97-AF65-F5344CB8AC3E}">
        <p14:creationId xmlns:p14="http://schemas.microsoft.com/office/powerpoint/2010/main" val="61429808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create a </a:t>
            </a:r>
            <a:r>
              <a:rPr lang="en-US" dirty="0" err="1"/>
              <a:t>PivotCharts</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The </a:t>
            </a:r>
            <a:r>
              <a:rPr lang="en-US" b="1" dirty="0"/>
              <a:t>PivotChart</a:t>
            </a:r>
            <a:r>
              <a:rPr lang="en-US" dirty="0"/>
              <a:t> will appear.</a:t>
            </a:r>
          </a:p>
        </p:txBody>
      </p:sp>
      <p:pic>
        <p:nvPicPr>
          <p:cNvPr id="5" name="Picture 4">
            <a:extLst>
              <a:ext uri="{FF2B5EF4-FFF2-40B4-BE49-F238E27FC236}">
                <a16:creationId xmlns:a16="http://schemas.microsoft.com/office/drawing/2014/main" id="{5BF098B1-678F-4BD6-BA82-1B3850376E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375" y="1451570"/>
            <a:ext cx="6953250" cy="4857750"/>
          </a:xfrm>
          <a:prstGeom prst="rect">
            <a:avLst/>
          </a:prstGeom>
        </p:spPr>
      </p:pic>
    </p:spTree>
    <p:extLst>
      <p:ext uri="{BB962C8B-B14F-4D97-AF65-F5344CB8AC3E}">
        <p14:creationId xmlns:p14="http://schemas.microsoft.com/office/powerpoint/2010/main" val="242778477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create a </a:t>
            </a:r>
            <a:r>
              <a:rPr lang="en-US" dirty="0" err="1"/>
              <a:t>PivotCharts</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In the example below, we've changed the PivotTable to view the </a:t>
            </a:r>
            <a:r>
              <a:rPr lang="en-US" b="1" dirty="0"/>
              <a:t>monthly sales</a:t>
            </a:r>
            <a:r>
              <a:rPr lang="en-US" dirty="0"/>
              <a:t> for each salesperson.</a:t>
            </a:r>
          </a:p>
        </p:txBody>
      </p:sp>
      <p:pic>
        <p:nvPicPr>
          <p:cNvPr id="6" name="Picture 5">
            <a:extLst>
              <a:ext uri="{FF2B5EF4-FFF2-40B4-BE49-F238E27FC236}">
                <a16:creationId xmlns:a16="http://schemas.microsoft.com/office/drawing/2014/main" id="{687B4B3D-C9A4-481D-B9BF-19C8F9520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487" y="1710308"/>
            <a:ext cx="6953250" cy="4887044"/>
          </a:xfrm>
          <a:prstGeom prst="rect">
            <a:avLst/>
          </a:prstGeom>
        </p:spPr>
      </p:pic>
    </p:spTree>
    <p:extLst>
      <p:ext uri="{BB962C8B-B14F-4D97-AF65-F5344CB8AC3E}">
        <p14:creationId xmlns:p14="http://schemas.microsoft.com/office/powerpoint/2010/main" val="386225609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Excel - What-if Analysis</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Excel includes powerful tools to perform complex mathematical calculations, including what-if analysis. </a:t>
            </a:r>
          </a:p>
          <a:p>
            <a:pPr algn="just"/>
            <a:endParaRPr lang="en-US" dirty="0"/>
          </a:p>
          <a:p>
            <a:pPr algn="just"/>
            <a:r>
              <a:rPr lang="en-US" dirty="0"/>
              <a:t>This feature can help you experiment and answer questions with your data, even when the data is incomplete. </a:t>
            </a:r>
          </a:p>
          <a:p>
            <a:pPr algn="just"/>
            <a:endParaRPr lang="en-US" dirty="0"/>
          </a:p>
          <a:p>
            <a:pPr algn="just"/>
            <a:r>
              <a:rPr lang="en-US" dirty="0"/>
              <a:t>In this lesson, you will learn how to use a what-if analysis tool called </a:t>
            </a:r>
            <a:r>
              <a:rPr lang="en-US" b="1" dirty="0"/>
              <a:t>Goal Seek</a:t>
            </a:r>
            <a:r>
              <a:rPr lang="en-US" dirty="0"/>
              <a:t>.</a:t>
            </a:r>
          </a:p>
        </p:txBody>
      </p:sp>
    </p:spTree>
    <p:extLst>
      <p:ext uri="{BB962C8B-B14F-4D97-AF65-F5344CB8AC3E}">
        <p14:creationId xmlns:p14="http://schemas.microsoft.com/office/powerpoint/2010/main" val="6481329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Goal Seek</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Whenever you create a formula or function in Excel, you put various parts together to calculate a </a:t>
            </a:r>
            <a:r>
              <a:rPr lang="en-US" b="1" dirty="0"/>
              <a:t>result</a:t>
            </a:r>
            <a:r>
              <a:rPr lang="en-US" dirty="0"/>
              <a:t>.</a:t>
            </a:r>
          </a:p>
          <a:p>
            <a:pPr algn="just"/>
            <a:endParaRPr lang="en-US" dirty="0"/>
          </a:p>
          <a:p>
            <a:pPr algn="just"/>
            <a:r>
              <a:rPr lang="en-US" b="1" dirty="0"/>
              <a:t>Goal Seek </a:t>
            </a:r>
            <a:r>
              <a:rPr lang="en-US" dirty="0"/>
              <a:t>works in the opposite way: It lets you start with the </a:t>
            </a:r>
            <a:r>
              <a:rPr lang="en-US" b="1" dirty="0"/>
              <a:t>desired result</a:t>
            </a:r>
            <a:r>
              <a:rPr lang="en-US" dirty="0"/>
              <a:t>, and it calculates the </a:t>
            </a:r>
            <a:r>
              <a:rPr lang="en-US" b="1" dirty="0"/>
              <a:t>input value </a:t>
            </a:r>
            <a:r>
              <a:rPr lang="en-US" dirty="0"/>
              <a:t>that will give you that result. </a:t>
            </a:r>
          </a:p>
          <a:p>
            <a:pPr algn="just"/>
            <a:endParaRPr lang="en-US" dirty="0"/>
          </a:p>
          <a:p>
            <a:pPr algn="just"/>
            <a:r>
              <a:rPr lang="en-US" dirty="0"/>
              <a:t>We'll use a few examples to show how to use Goal Seek.</a:t>
            </a:r>
          </a:p>
        </p:txBody>
      </p:sp>
    </p:spTree>
    <p:extLst>
      <p:ext uri="{BB962C8B-B14F-4D97-AF65-F5344CB8AC3E}">
        <p14:creationId xmlns:p14="http://schemas.microsoft.com/office/powerpoint/2010/main" val="992476781"/>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1)</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Let's say you're enrolled in a class. </a:t>
            </a:r>
          </a:p>
          <a:p>
            <a:pPr algn="just"/>
            <a:endParaRPr lang="en-US" dirty="0"/>
          </a:p>
          <a:p>
            <a:pPr algn="just"/>
            <a:r>
              <a:rPr lang="en-US" dirty="0"/>
              <a:t>You currently have a grade of 65, and you need at least a 70 to pass the class. </a:t>
            </a:r>
          </a:p>
          <a:p>
            <a:pPr algn="just"/>
            <a:endParaRPr lang="en-US" dirty="0"/>
          </a:p>
          <a:p>
            <a:pPr algn="just"/>
            <a:r>
              <a:rPr lang="en-US" dirty="0"/>
              <a:t>Luckily, you have one final assignment that might be able to raise your average. </a:t>
            </a:r>
          </a:p>
          <a:p>
            <a:pPr algn="just"/>
            <a:endParaRPr lang="en-US" dirty="0"/>
          </a:p>
          <a:p>
            <a:pPr algn="just"/>
            <a:r>
              <a:rPr lang="en-US" dirty="0"/>
              <a:t>You can use Goal Seek to find out </a:t>
            </a:r>
            <a:r>
              <a:rPr lang="en-US" b="1" dirty="0"/>
              <a:t>what grade you need on the final assignment </a:t>
            </a:r>
            <a:r>
              <a:rPr lang="en-US" dirty="0"/>
              <a:t>to pass the class.</a:t>
            </a:r>
          </a:p>
        </p:txBody>
      </p:sp>
    </p:spTree>
    <p:extLst>
      <p:ext uri="{BB962C8B-B14F-4D97-AF65-F5344CB8AC3E}">
        <p14:creationId xmlns:p14="http://schemas.microsoft.com/office/powerpoint/2010/main" val="239406885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1)</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In the image below, you can see that the grades on the first four assignments are </a:t>
            </a:r>
            <a:r>
              <a:rPr lang="en-US" b="1" dirty="0"/>
              <a:t>58, 70, 72</a:t>
            </a:r>
            <a:r>
              <a:rPr lang="en-US" dirty="0"/>
              <a:t>, and </a:t>
            </a:r>
            <a:r>
              <a:rPr lang="en-US" b="1" dirty="0"/>
              <a:t>60</a:t>
            </a:r>
            <a:r>
              <a:rPr lang="en-US" dirty="0"/>
              <a:t>. </a:t>
            </a:r>
          </a:p>
          <a:p>
            <a:pPr algn="just"/>
            <a:endParaRPr lang="en-US" dirty="0"/>
          </a:p>
          <a:p>
            <a:pPr algn="just"/>
            <a:r>
              <a:rPr lang="en-US" dirty="0"/>
              <a:t>Even though we don't know what the fifth grade will be, we can write a formula—or function—that calculates the final grade.</a:t>
            </a:r>
          </a:p>
          <a:p>
            <a:pPr algn="just"/>
            <a:endParaRPr lang="en-US" dirty="0"/>
          </a:p>
          <a:p>
            <a:pPr algn="just"/>
            <a:r>
              <a:rPr lang="en-US" dirty="0"/>
              <a:t>In this case, each assignment is weighted equally, so all we have to do is average all five grades by typing </a:t>
            </a:r>
            <a:r>
              <a:rPr lang="en-US" b="1" dirty="0"/>
              <a:t>=AVERAGE(B2:B6).</a:t>
            </a:r>
          </a:p>
        </p:txBody>
      </p:sp>
    </p:spTree>
    <p:extLst>
      <p:ext uri="{BB962C8B-B14F-4D97-AF65-F5344CB8AC3E}">
        <p14:creationId xmlns:p14="http://schemas.microsoft.com/office/powerpoint/2010/main" val="103181877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1)</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Once we use Goal Seek, cell B6 will show us the minimum grade we'll need to make on that assignment.</a:t>
            </a:r>
            <a:endParaRPr lang="en-US" b="1" dirty="0"/>
          </a:p>
        </p:txBody>
      </p:sp>
      <p:pic>
        <p:nvPicPr>
          <p:cNvPr id="5" name="Picture 4">
            <a:extLst>
              <a:ext uri="{FF2B5EF4-FFF2-40B4-BE49-F238E27FC236}">
                <a16:creationId xmlns:a16="http://schemas.microsoft.com/office/drawing/2014/main" id="{9F2B684F-B3B0-49D9-9FEC-9CA35F3D23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856" y="1988840"/>
            <a:ext cx="4752528" cy="4104456"/>
          </a:xfrm>
          <a:prstGeom prst="rect">
            <a:avLst/>
          </a:prstGeom>
        </p:spPr>
      </p:pic>
    </p:spTree>
    <p:extLst>
      <p:ext uri="{BB962C8B-B14F-4D97-AF65-F5344CB8AC3E}">
        <p14:creationId xmlns:p14="http://schemas.microsoft.com/office/powerpoint/2010/main" val="39882494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1)</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Select the cell with the value you want to change. Whenever you use Goal Seek, you'll need to select a cell that already contains a </a:t>
            </a:r>
            <a:r>
              <a:rPr lang="en-US" b="1" dirty="0"/>
              <a:t>formula or function</a:t>
            </a:r>
            <a:r>
              <a:rPr lang="en-US" dirty="0"/>
              <a:t>. In our example, we'll select cell </a:t>
            </a:r>
            <a:r>
              <a:rPr lang="en-US" b="1" dirty="0"/>
              <a:t>B7</a:t>
            </a:r>
            <a:r>
              <a:rPr lang="en-US" dirty="0"/>
              <a:t> because it contains the formula </a:t>
            </a:r>
            <a:r>
              <a:rPr lang="en-US" b="1" dirty="0"/>
              <a:t>=AVERAGE(B2:B6).</a:t>
            </a:r>
          </a:p>
        </p:txBody>
      </p:sp>
      <p:pic>
        <p:nvPicPr>
          <p:cNvPr id="6" name="Picture 5">
            <a:extLst>
              <a:ext uri="{FF2B5EF4-FFF2-40B4-BE49-F238E27FC236}">
                <a16:creationId xmlns:a16="http://schemas.microsoft.com/office/drawing/2014/main" id="{9677A695-9948-4D2D-8E18-4200855675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3612" y="3068960"/>
            <a:ext cx="4191000" cy="3648075"/>
          </a:xfrm>
          <a:prstGeom prst="rect">
            <a:avLst/>
          </a:prstGeom>
        </p:spPr>
      </p:pic>
    </p:spTree>
    <p:extLst>
      <p:ext uri="{BB962C8B-B14F-4D97-AF65-F5344CB8AC3E}">
        <p14:creationId xmlns:p14="http://schemas.microsoft.com/office/powerpoint/2010/main" val="3528273076"/>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1)</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From the </a:t>
            </a:r>
            <a:r>
              <a:rPr lang="en-US" b="1" dirty="0"/>
              <a:t>Data</a:t>
            </a:r>
            <a:r>
              <a:rPr lang="en-US" dirty="0"/>
              <a:t> tab, click the </a:t>
            </a:r>
            <a:r>
              <a:rPr lang="en-US" b="1" dirty="0"/>
              <a:t>What-If Analysis </a:t>
            </a:r>
            <a:r>
              <a:rPr lang="en-US" dirty="0"/>
              <a:t>command, then select </a:t>
            </a:r>
            <a:r>
              <a:rPr lang="en-US" b="1" dirty="0"/>
              <a:t>Goal Seek </a:t>
            </a:r>
            <a:r>
              <a:rPr lang="en-US" dirty="0"/>
              <a:t>from the drop-down menu.</a:t>
            </a:r>
          </a:p>
          <a:p>
            <a:pPr algn="just"/>
            <a:endParaRPr lang="en-US" dirty="0"/>
          </a:p>
          <a:p>
            <a:pPr algn="just"/>
            <a:endParaRPr lang="en-US" dirty="0"/>
          </a:p>
          <a:p>
            <a:pPr algn="just"/>
            <a:endParaRPr lang="en-US" dirty="0"/>
          </a:p>
          <a:p>
            <a:pPr algn="just"/>
            <a:endParaRPr lang="en-US" dirty="0"/>
          </a:p>
          <a:p>
            <a:pPr algn="just"/>
            <a:r>
              <a:rPr lang="en-US" dirty="0"/>
              <a:t>A dialog box will appear with three fields. The first field, </a:t>
            </a:r>
            <a:r>
              <a:rPr lang="en-US" b="1" dirty="0"/>
              <a:t>Set cell</a:t>
            </a:r>
            <a:r>
              <a:rPr lang="en-US" dirty="0"/>
              <a:t>:, will contain the desired result. In our example, cell </a:t>
            </a:r>
            <a:r>
              <a:rPr lang="en-US" b="1" dirty="0"/>
              <a:t>B7</a:t>
            </a:r>
            <a:r>
              <a:rPr lang="en-US" dirty="0"/>
              <a:t> is already selected.</a:t>
            </a:r>
          </a:p>
          <a:p>
            <a:pPr algn="just"/>
            <a:endParaRPr lang="en-US" b="1" dirty="0"/>
          </a:p>
        </p:txBody>
      </p:sp>
      <p:pic>
        <p:nvPicPr>
          <p:cNvPr id="5" name="Picture 4">
            <a:extLst>
              <a:ext uri="{FF2B5EF4-FFF2-40B4-BE49-F238E27FC236}">
                <a16:creationId xmlns:a16="http://schemas.microsoft.com/office/drawing/2014/main" id="{30320D96-D050-42A4-900A-33DA5AA342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2276872"/>
            <a:ext cx="7776863" cy="1990725"/>
          </a:xfrm>
          <a:prstGeom prst="rect">
            <a:avLst/>
          </a:prstGeom>
        </p:spPr>
      </p:pic>
    </p:spTree>
    <p:extLst>
      <p:ext uri="{BB962C8B-B14F-4D97-AF65-F5344CB8AC3E}">
        <p14:creationId xmlns:p14="http://schemas.microsoft.com/office/powerpoint/2010/main" val="33415080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1)</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The third field, By </a:t>
            </a:r>
            <a:r>
              <a:rPr lang="en-US" b="1" dirty="0"/>
              <a:t>changing cell</a:t>
            </a:r>
            <a:r>
              <a:rPr lang="en-US" dirty="0"/>
              <a:t>:, is the cell where Goal Seek will place its answer. In our example, we'll select cell </a:t>
            </a:r>
            <a:r>
              <a:rPr lang="en-US" b="1" dirty="0"/>
              <a:t>B6</a:t>
            </a:r>
            <a:r>
              <a:rPr lang="en-US" dirty="0"/>
              <a:t> because we want to determine the grade we need to earn on the final assignment.</a:t>
            </a:r>
          </a:p>
          <a:p>
            <a:pPr algn="just"/>
            <a:r>
              <a:rPr lang="en-US" dirty="0"/>
              <a:t>When you're done, click </a:t>
            </a:r>
            <a:r>
              <a:rPr lang="en-US" b="1" dirty="0"/>
              <a:t>OK</a:t>
            </a:r>
            <a:r>
              <a:rPr lang="en-US" dirty="0"/>
              <a:t>.</a:t>
            </a:r>
            <a:endParaRPr lang="en-US" b="1" dirty="0"/>
          </a:p>
        </p:txBody>
      </p:sp>
      <p:pic>
        <p:nvPicPr>
          <p:cNvPr id="6" name="Picture 5">
            <a:extLst>
              <a:ext uri="{FF2B5EF4-FFF2-40B4-BE49-F238E27FC236}">
                <a16:creationId xmlns:a16="http://schemas.microsoft.com/office/drawing/2014/main" id="{92B406CA-EC15-45C2-87AA-B3DA45009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3228741"/>
            <a:ext cx="5505450" cy="3619500"/>
          </a:xfrm>
          <a:prstGeom prst="rect">
            <a:avLst/>
          </a:prstGeom>
        </p:spPr>
      </p:pic>
    </p:spTree>
    <p:extLst>
      <p:ext uri="{BB962C8B-B14F-4D97-AF65-F5344CB8AC3E}">
        <p14:creationId xmlns:p14="http://schemas.microsoft.com/office/powerpoint/2010/main" val="3437076928"/>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1)</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The dialog box will tell you if Goal Seek was able to find a solution. Click </a:t>
            </a:r>
            <a:r>
              <a:rPr lang="en-US" b="1" dirty="0"/>
              <a:t>OK</a:t>
            </a:r>
            <a:r>
              <a:rPr lang="en-US" dirty="0"/>
              <a:t>.</a:t>
            </a:r>
            <a:endParaRPr lang="en-US" b="1" dirty="0"/>
          </a:p>
        </p:txBody>
      </p:sp>
      <p:pic>
        <p:nvPicPr>
          <p:cNvPr id="5" name="Picture 4">
            <a:extLst>
              <a:ext uri="{FF2B5EF4-FFF2-40B4-BE49-F238E27FC236}">
                <a16:creationId xmlns:a16="http://schemas.microsoft.com/office/drawing/2014/main" id="{219BDE82-3102-45D9-901B-FE274A0FA1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2009775"/>
            <a:ext cx="5688632" cy="2643361"/>
          </a:xfrm>
          <a:prstGeom prst="rect">
            <a:avLst/>
          </a:prstGeom>
        </p:spPr>
      </p:pic>
    </p:spTree>
    <p:extLst>
      <p:ext uri="{BB962C8B-B14F-4D97-AF65-F5344CB8AC3E}">
        <p14:creationId xmlns:p14="http://schemas.microsoft.com/office/powerpoint/2010/main" val="300420977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1)</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The result will appear in the specified cell. In our example, Goal Seek calculated that we will need to score at least a 90 on the final assignment to earn a passing grade.</a:t>
            </a:r>
          </a:p>
        </p:txBody>
      </p:sp>
      <p:pic>
        <p:nvPicPr>
          <p:cNvPr id="6" name="Picture 5">
            <a:extLst>
              <a:ext uri="{FF2B5EF4-FFF2-40B4-BE49-F238E27FC236}">
                <a16:creationId xmlns:a16="http://schemas.microsoft.com/office/drawing/2014/main" id="{4DCB6F1E-4195-4616-8CE0-00A1AF6D77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856" y="2701418"/>
            <a:ext cx="4752528" cy="3609975"/>
          </a:xfrm>
          <a:prstGeom prst="rect">
            <a:avLst/>
          </a:prstGeom>
        </p:spPr>
      </p:pic>
    </p:spTree>
    <p:extLst>
      <p:ext uri="{BB962C8B-B14F-4D97-AF65-F5344CB8AC3E}">
        <p14:creationId xmlns:p14="http://schemas.microsoft.com/office/powerpoint/2010/main" val="110896568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2)</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Let's say you're planning an event and want to invite as many people as you can without exceeding a budget of </a:t>
            </a:r>
            <a:r>
              <a:rPr lang="en-US" b="1" dirty="0"/>
              <a:t>$500</a:t>
            </a:r>
            <a:r>
              <a:rPr lang="en-US" dirty="0"/>
              <a:t>. </a:t>
            </a:r>
          </a:p>
          <a:p>
            <a:pPr algn="just"/>
            <a:r>
              <a:rPr lang="en-US" dirty="0"/>
              <a:t>We can use Goal Seek to figure out how many people to invite. </a:t>
            </a:r>
          </a:p>
          <a:p>
            <a:pPr algn="just"/>
            <a:endParaRPr lang="en-US" dirty="0"/>
          </a:p>
          <a:p>
            <a:pPr algn="just"/>
            <a:r>
              <a:rPr lang="en-US" dirty="0"/>
              <a:t>In our example below, cell B5 contains the formula </a:t>
            </a:r>
            <a:r>
              <a:rPr lang="en-US" b="1" dirty="0"/>
              <a:t>=B2+B3*B4 </a:t>
            </a:r>
            <a:r>
              <a:rPr lang="en-US" dirty="0"/>
              <a:t>to calculate the total cost of a room reservation, plus the cost per person.</a:t>
            </a:r>
          </a:p>
        </p:txBody>
      </p:sp>
    </p:spTree>
    <p:extLst>
      <p:ext uri="{BB962C8B-B14F-4D97-AF65-F5344CB8AC3E}">
        <p14:creationId xmlns:p14="http://schemas.microsoft.com/office/powerpoint/2010/main" val="2234655600"/>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2)</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Select the cell with the value you want to change. In our example, we'll select cell </a:t>
            </a:r>
            <a:r>
              <a:rPr lang="en-US" b="1" dirty="0"/>
              <a:t>B5</a:t>
            </a:r>
            <a:r>
              <a:rPr lang="en-US" dirty="0"/>
              <a:t>.</a:t>
            </a:r>
          </a:p>
          <a:p>
            <a:pPr algn="just"/>
            <a:endParaRPr lang="en-US" dirty="0"/>
          </a:p>
          <a:p>
            <a:pPr algn="just"/>
            <a:endParaRPr lang="en-US" dirty="0"/>
          </a:p>
        </p:txBody>
      </p:sp>
      <p:pic>
        <p:nvPicPr>
          <p:cNvPr id="5" name="Picture 4">
            <a:extLst>
              <a:ext uri="{FF2B5EF4-FFF2-40B4-BE49-F238E27FC236}">
                <a16:creationId xmlns:a16="http://schemas.microsoft.com/office/drawing/2014/main" id="{41A7A24A-BA9C-470F-8058-8B408BE8DE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1" y="1700808"/>
            <a:ext cx="5472608" cy="3240360"/>
          </a:xfrm>
          <a:prstGeom prst="rect">
            <a:avLst/>
          </a:prstGeom>
        </p:spPr>
      </p:pic>
    </p:spTree>
    <p:extLst>
      <p:ext uri="{BB962C8B-B14F-4D97-AF65-F5344CB8AC3E}">
        <p14:creationId xmlns:p14="http://schemas.microsoft.com/office/powerpoint/2010/main" val="208538375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2)</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From the </a:t>
            </a:r>
            <a:r>
              <a:rPr lang="en-US" b="1" dirty="0"/>
              <a:t>Data</a:t>
            </a:r>
            <a:r>
              <a:rPr lang="en-US" dirty="0"/>
              <a:t> tab, click the </a:t>
            </a:r>
            <a:r>
              <a:rPr lang="en-US" b="1" dirty="0"/>
              <a:t>What-If Analysis </a:t>
            </a:r>
            <a:r>
              <a:rPr lang="en-US" dirty="0"/>
              <a:t>command, then select </a:t>
            </a:r>
            <a:r>
              <a:rPr lang="en-US" b="1" dirty="0"/>
              <a:t>Goal Seek </a:t>
            </a:r>
            <a:r>
              <a:rPr lang="en-US" dirty="0"/>
              <a:t>from the drop-down menu.</a:t>
            </a:r>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A dialog box will appear with three fields. The first field, </a:t>
            </a:r>
            <a:r>
              <a:rPr lang="en-US" b="1" dirty="0"/>
              <a:t>Set cell</a:t>
            </a:r>
            <a:r>
              <a:rPr lang="en-US" dirty="0"/>
              <a:t>:, will contain the desired result. In our example, cell B5 is already selected.</a:t>
            </a:r>
          </a:p>
          <a:p>
            <a:pPr algn="just"/>
            <a:endParaRPr lang="en-US" dirty="0"/>
          </a:p>
        </p:txBody>
      </p:sp>
      <p:pic>
        <p:nvPicPr>
          <p:cNvPr id="6" name="Picture 5">
            <a:extLst>
              <a:ext uri="{FF2B5EF4-FFF2-40B4-BE49-F238E27FC236}">
                <a16:creationId xmlns:a16="http://schemas.microsoft.com/office/drawing/2014/main" id="{8FFF6138-3067-4F20-BF0E-F3B179766D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708" y="2420888"/>
            <a:ext cx="7272808" cy="2291506"/>
          </a:xfrm>
          <a:prstGeom prst="rect">
            <a:avLst/>
          </a:prstGeom>
        </p:spPr>
      </p:pic>
    </p:spTree>
    <p:extLst>
      <p:ext uri="{BB962C8B-B14F-4D97-AF65-F5344CB8AC3E}">
        <p14:creationId xmlns:p14="http://schemas.microsoft.com/office/powerpoint/2010/main" val="461941187"/>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2)</a:t>
            </a:r>
            <a:endParaRPr lang="en-GB" dirty="0"/>
          </a:p>
        </p:txBody>
      </p:sp>
      <p:sp>
        <p:nvSpPr>
          <p:cNvPr id="3" name="Content Placeholder 2"/>
          <p:cNvSpPr>
            <a:spLocks noGrp="1"/>
          </p:cNvSpPr>
          <p:nvPr>
            <p:ph idx="1"/>
          </p:nvPr>
        </p:nvSpPr>
        <p:spPr>
          <a:xfrm>
            <a:off x="0" y="548680"/>
            <a:ext cx="9144000" cy="6309320"/>
          </a:xfrm>
        </p:spPr>
        <p:txBody>
          <a:bodyPr>
            <a:normAutofit lnSpcReduction="10000"/>
          </a:bodyPr>
          <a:lstStyle/>
          <a:p>
            <a:pPr algn="just"/>
            <a:r>
              <a:rPr lang="en-US" dirty="0"/>
              <a:t>The second field, To value:, is the desired result. </a:t>
            </a:r>
          </a:p>
          <a:p>
            <a:pPr algn="just"/>
            <a:r>
              <a:rPr lang="en-US" dirty="0"/>
              <a:t>In our example, we'll enter </a:t>
            </a:r>
            <a:r>
              <a:rPr lang="en-US" b="1" dirty="0"/>
              <a:t>500</a:t>
            </a:r>
            <a:r>
              <a:rPr lang="en-US" dirty="0"/>
              <a:t> because we only want to spend </a:t>
            </a:r>
            <a:r>
              <a:rPr lang="en-US" b="1" dirty="0"/>
              <a:t>$500</a:t>
            </a:r>
            <a:r>
              <a:rPr lang="en-US" dirty="0"/>
              <a:t>.</a:t>
            </a:r>
          </a:p>
          <a:p>
            <a:pPr algn="just"/>
            <a:endParaRPr lang="en-US" dirty="0"/>
          </a:p>
          <a:p>
            <a:pPr algn="just"/>
            <a:r>
              <a:rPr lang="en-US" dirty="0"/>
              <a:t>The third field, By changing cell:, is the cell where Goal Seek will place its answer. </a:t>
            </a:r>
          </a:p>
          <a:p>
            <a:pPr algn="just"/>
            <a:endParaRPr lang="en-US" dirty="0"/>
          </a:p>
          <a:p>
            <a:pPr algn="just"/>
            <a:r>
              <a:rPr lang="en-US" dirty="0"/>
              <a:t>In our example, we'll select cell </a:t>
            </a:r>
            <a:r>
              <a:rPr lang="en-US" b="1" dirty="0"/>
              <a:t>B4</a:t>
            </a:r>
            <a:r>
              <a:rPr lang="en-US" dirty="0"/>
              <a:t> because we want to know how many guests we can invite without spending more than $500.</a:t>
            </a:r>
          </a:p>
          <a:p>
            <a:pPr algn="just"/>
            <a:endParaRPr lang="en-US" dirty="0"/>
          </a:p>
          <a:p>
            <a:pPr algn="just"/>
            <a:r>
              <a:rPr lang="en-US" dirty="0"/>
              <a:t>When you're done, click </a:t>
            </a:r>
            <a:r>
              <a:rPr lang="en-US" b="1" dirty="0"/>
              <a:t>OK</a:t>
            </a:r>
            <a:r>
              <a:rPr lang="en-US" dirty="0"/>
              <a:t>.</a:t>
            </a:r>
          </a:p>
        </p:txBody>
      </p:sp>
    </p:spTree>
    <p:extLst>
      <p:ext uri="{BB962C8B-B14F-4D97-AF65-F5344CB8AC3E}">
        <p14:creationId xmlns:p14="http://schemas.microsoft.com/office/powerpoint/2010/main" val="185371072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2)</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The dialog box will tell you if Goal Seek was able to find a solution. Click </a:t>
            </a:r>
            <a:r>
              <a:rPr lang="en-US" b="1" dirty="0"/>
              <a:t>OK</a:t>
            </a:r>
            <a:r>
              <a:rPr lang="en-US" dirty="0"/>
              <a:t>.</a:t>
            </a:r>
          </a:p>
        </p:txBody>
      </p:sp>
      <p:pic>
        <p:nvPicPr>
          <p:cNvPr id="7" name="Picture 6">
            <a:extLst>
              <a:ext uri="{FF2B5EF4-FFF2-40B4-BE49-F238E27FC236}">
                <a16:creationId xmlns:a16="http://schemas.microsoft.com/office/drawing/2014/main" id="{FFBE4D9B-D20E-4030-83B2-6516F79228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692696"/>
            <a:ext cx="5791200" cy="4314825"/>
          </a:xfrm>
          <a:prstGeom prst="rect">
            <a:avLst/>
          </a:prstGeom>
        </p:spPr>
      </p:pic>
    </p:spTree>
    <p:extLst>
      <p:ext uri="{BB962C8B-B14F-4D97-AF65-F5344CB8AC3E}">
        <p14:creationId xmlns:p14="http://schemas.microsoft.com/office/powerpoint/2010/main" val="116289466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Goal Seek (example 2)</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The result will appear in the specified cell. In our example, Goal Seek calculated the answer to be approximately 18.62. In this case, our final answer needs to be a whole number, so we'll need to round the answer up or down. Because rounding up would cause us to exceed our budget, we'll round down to 18 guests.</a:t>
            </a:r>
          </a:p>
        </p:txBody>
      </p:sp>
      <p:pic>
        <p:nvPicPr>
          <p:cNvPr id="5" name="Picture 4">
            <a:extLst>
              <a:ext uri="{FF2B5EF4-FFF2-40B4-BE49-F238E27FC236}">
                <a16:creationId xmlns:a16="http://schemas.microsoft.com/office/drawing/2014/main" id="{2D72FDD0-D83F-41B7-BA56-96C05B97D9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912" y="3573016"/>
            <a:ext cx="4000500" cy="3096344"/>
          </a:xfrm>
          <a:prstGeom prst="rect">
            <a:avLst/>
          </a:prstGeom>
        </p:spPr>
      </p:pic>
    </p:spTree>
    <p:extLst>
      <p:ext uri="{BB962C8B-B14F-4D97-AF65-F5344CB8AC3E}">
        <p14:creationId xmlns:p14="http://schemas.microsoft.com/office/powerpoint/2010/main" val="3020007586"/>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Other types of what-if analysis</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For more advanced projects, you may want to consider the other types of what-if analysis: </a:t>
            </a:r>
            <a:r>
              <a:rPr lang="en-US" b="1" dirty="0"/>
              <a:t>scenarios </a:t>
            </a:r>
            <a:r>
              <a:rPr lang="en-US" dirty="0"/>
              <a:t>and </a:t>
            </a:r>
            <a:r>
              <a:rPr lang="en-US" b="1" dirty="0"/>
              <a:t>data tables</a:t>
            </a:r>
            <a:r>
              <a:rPr lang="en-US" dirty="0"/>
              <a:t>. </a:t>
            </a:r>
          </a:p>
          <a:p>
            <a:pPr algn="just"/>
            <a:endParaRPr lang="en-US" dirty="0"/>
          </a:p>
          <a:p>
            <a:pPr algn="just"/>
            <a:r>
              <a:rPr lang="en-US" dirty="0"/>
              <a:t>Instead of starting from the desired result and working backward, like with Goal Seek, these options allow you to test multiple values and see how the results change.</a:t>
            </a:r>
          </a:p>
        </p:txBody>
      </p:sp>
    </p:spTree>
    <p:extLst>
      <p:ext uri="{BB962C8B-B14F-4D97-AF65-F5344CB8AC3E}">
        <p14:creationId xmlns:p14="http://schemas.microsoft.com/office/powerpoint/2010/main" val="320280179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Other types of what-if analysis</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b="1" dirty="0"/>
              <a:t>Scenarios</a:t>
            </a:r>
            <a:r>
              <a:rPr lang="en-US" dirty="0"/>
              <a:t> let you substitute values for </a:t>
            </a:r>
            <a:r>
              <a:rPr lang="en-US" b="1" dirty="0"/>
              <a:t>multiple cells </a:t>
            </a:r>
            <a:r>
              <a:rPr lang="en-US" dirty="0"/>
              <a:t>(up to 32) at the same time. You can create as many scenarios as you want and then compare them without changing the values manually. In the example below, we're using scenarios to compare different venues for an upcoming event.</a:t>
            </a:r>
          </a:p>
        </p:txBody>
      </p:sp>
      <p:pic>
        <p:nvPicPr>
          <p:cNvPr id="5" name="Picture 4">
            <a:extLst>
              <a:ext uri="{FF2B5EF4-FFF2-40B4-BE49-F238E27FC236}">
                <a16:creationId xmlns:a16="http://schemas.microsoft.com/office/drawing/2014/main" id="{FEE93D67-5CB6-44CB-AA5B-1745538A4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862" y="3573016"/>
            <a:ext cx="7048500" cy="3168352"/>
          </a:xfrm>
          <a:prstGeom prst="rect">
            <a:avLst/>
          </a:prstGeom>
        </p:spPr>
      </p:pic>
    </p:spTree>
    <p:extLst>
      <p:ext uri="{BB962C8B-B14F-4D97-AF65-F5344CB8AC3E}">
        <p14:creationId xmlns:p14="http://schemas.microsoft.com/office/powerpoint/2010/main" val="1721347313"/>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Other types of what-if analysis</a:t>
            </a:r>
            <a:endParaRPr lang="en-GB"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dirty="0"/>
              <a:t>Data tables allow you to take one or two variables in a formula and replace them with as many different values as you want, then view the results in a table. This option is especially powerful because it shows multiple results at the same time, unlike scenarios or Goal Seek. In the example below, we can view 24 possible results for a car loan.</a:t>
            </a:r>
          </a:p>
        </p:txBody>
      </p:sp>
      <p:pic>
        <p:nvPicPr>
          <p:cNvPr id="6" name="Picture 5">
            <a:extLst>
              <a:ext uri="{FF2B5EF4-FFF2-40B4-BE49-F238E27FC236}">
                <a16:creationId xmlns:a16="http://schemas.microsoft.com/office/drawing/2014/main" id="{C3D81A3E-6C4B-4EAD-B218-5EEAFF543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4149080"/>
            <a:ext cx="5200650" cy="2533650"/>
          </a:xfrm>
          <a:prstGeom prst="rect">
            <a:avLst/>
          </a:prstGeom>
        </p:spPr>
      </p:pic>
    </p:spTree>
    <p:extLst>
      <p:ext uri="{BB962C8B-B14F-4D97-AF65-F5344CB8AC3E}">
        <p14:creationId xmlns:p14="http://schemas.microsoft.com/office/powerpoint/2010/main" val="3350341461"/>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14611</TotalTime>
  <Words>2655</Words>
  <Application>Microsoft Office PowerPoint</Application>
  <PresentationFormat>On-screen Show (4:3)</PresentationFormat>
  <Paragraphs>255</Paragraphs>
  <Slides>59</Slides>
  <Notes>59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Arial Black</vt:lpstr>
      <vt:lpstr>Calibri</vt:lpstr>
      <vt:lpstr>Wingdings</vt:lpstr>
      <vt:lpstr>Office Theme</vt:lpstr>
      <vt:lpstr>PowerPoint Presentation</vt:lpstr>
      <vt:lpstr>PowerPoint Presentation</vt:lpstr>
      <vt:lpstr>Objectives Overview</vt:lpstr>
      <vt:lpstr>Excel - Intro to PivotTables</vt:lpstr>
      <vt:lpstr>Using PivotTables to answer questions</vt:lpstr>
      <vt:lpstr>Using PivotTables to answer questions</vt:lpstr>
      <vt:lpstr>Using PivotTables to answer questions</vt:lpstr>
      <vt:lpstr>Using PivotTables to answer questions</vt:lpstr>
      <vt:lpstr>To create a PivotTable</vt:lpstr>
      <vt:lpstr>To create a PivotTable</vt:lpstr>
      <vt:lpstr>To create a PivotTable</vt:lpstr>
      <vt:lpstr>To create a PivotTable</vt:lpstr>
      <vt:lpstr>To create a PivotTable</vt:lpstr>
      <vt:lpstr>To create a PivotTable</vt:lpstr>
      <vt:lpstr>To create a PivotTable</vt:lpstr>
      <vt:lpstr>Pivoting data</vt:lpstr>
      <vt:lpstr>To add columns</vt:lpstr>
      <vt:lpstr>To add columns</vt:lpstr>
      <vt:lpstr>To change a row or column</vt:lpstr>
      <vt:lpstr>To change a row or column</vt:lpstr>
      <vt:lpstr>To change a row or column</vt:lpstr>
      <vt:lpstr>Excel - Doing More with PivotTables</vt:lpstr>
      <vt:lpstr>Excel - Doing More with PivotTables</vt:lpstr>
      <vt:lpstr>Filters</vt:lpstr>
      <vt:lpstr>To add a filter</vt:lpstr>
      <vt:lpstr>To add a filter</vt:lpstr>
      <vt:lpstr>To add a filter</vt:lpstr>
      <vt:lpstr>To add a filter</vt:lpstr>
      <vt:lpstr>Slicers</vt:lpstr>
      <vt:lpstr>To add a slicer</vt:lpstr>
      <vt:lpstr>To add a slicer</vt:lpstr>
      <vt:lpstr>To add a slicer</vt:lpstr>
      <vt:lpstr>To add a slicer</vt:lpstr>
      <vt:lpstr>PivotCharts</vt:lpstr>
      <vt:lpstr>To create a PivotCharts</vt:lpstr>
      <vt:lpstr>To create a PivotCharts</vt:lpstr>
      <vt:lpstr>To create a PivotCharts</vt:lpstr>
      <vt:lpstr>To create a PivotCharts</vt:lpstr>
      <vt:lpstr>Excel - What-if Analysis</vt:lpstr>
      <vt:lpstr>Goal Seek</vt:lpstr>
      <vt:lpstr>To use Goal Seek (example 1)</vt:lpstr>
      <vt:lpstr>To use Goal Seek (example 1)</vt:lpstr>
      <vt:lpstr>To use Goal Seek (example 1)</vt:lpstr>
      <vt:lpstr>To use Goal Seek (example 1)</vt:lpstr>
      <vt:lpstr>To use Goal Seek (example 1)</vt:lpstr>
      <vt:lpstr>To use Goal Seek (example 1)</vt:lpstr>
      <vt:lpstr>To use Goal Seek (example 1)</vt:lpstr>
      <vt:lpstr>To use Goal Seek (example 1)</vt:lpstr>
      <vt:lpstr>To use Goal Seek (example 2)</vt:lpstr>
      <vt:lpstr>To use Goal Seek (example 2)</vt:lpstr>
      <vt:lpstr>To use Goal Seek (example 2)</vt:lpstr>
      <vt:lpstr>To use Goal Seek (example 2)</vt:lpstr>
      <vt:lpstr>To use Goal Seek (example 2)</vt:lpstr>
      <vt:lpstr>To use Goal Seek (example 2)</vt:lpstr>
      <vt:lpstr>Other types of what-if analysis</vt:lpstr>
      <vt:lpstr>Other types of what-if analysis</vt:lpstr>
      <vt:lpstr>Other types of what-if analysis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USER</cp:lastModifiedBy>
  <cp:revision>678</cp:revision>
  <dcterms:created xsi:type="dcterms:W3CDTF">2008-12-18T17:11:12Z</dcterms:created>
  <dcterms:modified xsi:type="dcterms:W3CDTF">2023-03-16T15:03:22Z</dcterms:modified>
</cp:coreProperties>
</file>
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2"/>
  </p:notesMasterIdLst>
  <p:sldIdLst>
    <p:sldId id="260" r:id="rId2"/>
    <p:sldId id="385" r:id="rId3"/>
    <p:sldId id="294" r:id="rId4"/>
    <p:sldId id="264" r:id="rId5"/>
    <p:sldId id="514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29" r:id="rId21"/>
    <p:sldId id="530" r:id="rId22"/>
    <p:sldId id="531" r:id="rId23"/>
    <p:sldId id="532" r:id="rId24"/>
    <p:sldId id="533" r:id="rId25"/>
    <p:sldId id="534" r:id="rId26"/>
    <p:sldId id="535" r:id="rId27"/>
    <p:sldId id="536" r:id="rId28"/>
    <p:sldId id="537" r:id="rId29"/>
    <p:sldId id="538" r:id="rId30"/>
    <p:sldId id="539" r:id="rId31"/>
    <p:sldId id="540" r:id="rId32"/>
    <p:sldId id="541" r:id="rId33"/>
    <p:sldId id="542" r:id="rId34"/>
    <p:sldId id="543" r:id="rId35"/>
    <p:sldId id="544" r:id="rId36"/>
    <p:sldId id="545" r:id="rId37"/>
    <p:sldId id="546" r:id="rId38"/>
    <p:sldId id="547" r:id="rId39"/>
    <p:sldId id="548" r:id="rId40"/>
    <p:sldId id="549" r:id="rId41"/>
    <p:sldId id="550" r:id="rId42"/>
    <p:sldId id="551" r:id="rId43"/>
    <p:sldId id="552" r:id="rId44"/>
    <p:sldId id="553" r:id="rId45"/>
    <p:sldId id="554" r:id="rId46"/>
    <p:sldId id="555" r:id="rId47"/>
    <p:sldId id="556" r:id="rId48"/>
    <p:sldId id="557" r:id="rId49"/>
    <p:sldId id="558" r:id="rId50"/>
    <p:sldId id="559" r:id="rId51"/>
    <p:sldId id="560" r:id="rId52"/>
    <p:sldId id="561" r:id="rId53"/>
    <p:sldId id="562" r:id="rId54"/>
    <p:sldId id="563" r:id="rId55"/>
    <p:sldId id="564" r:id="rId56"/>
    <p:sldId id="565" r:id="rId57"/>
    <p:sldId id="566" r:id="rId58"/>
    <p:sldId id="567" r:id="rId59"/>
    <p:sldId id="568" r:id="rId60"/>
    <p:sldId id="569" r:id="rId61"/>
    <p:sldId id="570" r:id="rId62"/>
    <p:sldId id="571" r:id="rId63"/>
    <p:sldId id="572" r:id="rId64"/>
    <p:sldId id="573" r:id="rId65"/>
    <p:sldId id="574" r:id="rId66"/>
    <p:sldId id="575" r:id="rId67"/>
    <p:sldId id="576" r:id="rId68"/>
    <p:sldId id="577" r:id="rId69"/>
    <p:sldId id="578" r:id="rId70"/>
    <p:sldId id="579" r:id="rId71"/>
    <p:sldId id="580" r:id="rId72"/>
    <p:sldId id="581" r:id="rId73"/>
    <p:sldId id="582" r:id="rId74"/>
    <p:sldId id="583" r:id="rId75"/>
    <p:sldId id="584" r:id="rId76"/>
    <p:sldId id="585" r:id="rId77"/>
    <p:sldId id="586" r:id="rId78"/>
    <p:sldId id="587" r:id="rId79"/>
    <p:sldId id="588" r:id="rId80"/>
    <p:sldId id="589" r:id="rId81"/>
    <p:sldId id="590" r:id="rId82"/>
    <p:sldId id="591" r:id="rId83"/>
    <p:sldId id="592" r:id="rId84"/>
    <p:sldId id="593" r:id="rId85"/>
    <p:sldId id="594" r:id="rId86"/>
    <p:sldId id="595" r:id="rId87"/>
    <p:sldId id="596" r:id="rId88"/>
    <p:sldId id="597" r:id="rId89"/>
    <p:sldId id="598" r:id="rId90"/>
    <p:sldId id="599" r:id="rId91"/>
    <p:sldId id="600" r:id="rId92"/>
    <p:sldId id="601" r:id="rId93"/>
    <p:sldId id="602" r:id="rId94"/>
    <p:sldId id="603" r:id="rId95"/>
    <p:sldId id="604" r:id="rId96"/>
    <p:sldId id="605" r:id="rId97"/>
    <p:sldId id="606" r:id="rId98"/>
    <p:sldId id="607" r:id="rId99"/>
    <p:sldId id="608" r:id="rId100"/>
    <p:sldId id="609" r:id="rId101"/>
    <p:sldId id="610" r:id="rId102"/>
    <p:sldId id="611" r:id="rId103"/>
    <p:sldId id="612" r:id="rId104"/>
    <p:sldId id="613" r:id="rId105"/>
    <p:sldId id="614" r:id="rId106"/>
    <p:sldId id="615" r:id="rId107"/>
    <p:sldId id="616" r:id="rId108"/>
    <p:sldId id="617" r:id="rId109"/>
    <p:sldId id="618" r:id="rId110"/>
    <p:sldId id="619" r:id="rId111"/>
    <p:sldId id="620" r:id="rId112"/>
    <p:sldId id="621" r:id="rId113"/>
    <p:sldId id="622" r:id="rId114"/>
    <p:sldId id="623" r:id="rId115"/>
    <p:sldId id="624" r:id="rId116"/>
    <p:sldId id="625" r:id="rId117"/>
    <p:sldId id="626" r:id="rId118"/>
    <p:sldId id="627" r:id="rId119"/>
    <p:sldId id="628" r:id="rId120"/>
    <p:sldId id="629" r:id="rId121"/>
    <p:sldId id="630" r:id="rId122"/>
    <p:sldId id="631" r:id="rId123"/>
    <p:sldId id="632" r:id="rId124"/>
    <p:sldId id="633" r:id="rId125"/>
    <p:sldId id="634" r:id="rId126"/>
    <p:sldId id="635" r:id="rId127"/>
    <p:sldId id="636" r:id="rId128"/>
    <p:sldId id="638" r:id="rId129"/>
    <p:sldId id="639" r:id="rId130"/>
    <p:sldId id="640" r:id="rId131"/>
    <p:sldId id="641" r:id="rId132"/>
    <p:sldId id="642" r:id="rId133"/>
    <p:sldId id="643" r:id="rId134"/>
    <p:sldId id="644" r:id="rId135"/>
    <p:sldId id="645" r:id="rId136"/>
    <p:sldId id="647" r:id="rId137"/>
    <p:sldId id="646" r:id="rId138"/>
    <p:sldId id="648" r:id="rId139"/>
    <p:sldId id="649" r:id="rId140"/>
    <p:sldId id="650" r:id="rId141"/>
    <p:sldId id="651" r:id="rId142"/>
    <p:sldId id="652" r:id="rId143"/>
    <p:sldId id="653" r:id="rId144"/>
    <p:sldId id="654" r:id="rId145"/>
    <p:sldId id="655" r:id="rId146"/>
    <p:sldId id="656" r:id="rId147"/>
    <p:sldId id="657" r:id="rId148"/>
    <p:sldId id="658" r:id="rId149"/>
    <p:sldId id="660" r:id="rId150"/>
    <p:sldId id="661" r:id="rId151"/>
    <p:sldId id="659" r:id="rId152"/>
    <p:sldId id="662" r:id="rId153"/>
    <p:sldId id="663" r:id="rId154"/>
    <p:sldId id="664" r:id="rId155"/>
    <p:sldId id="665" r:id="rId156"/>
    <p:sldId id="666" r:id="rId157"/>
    <p:sldId id="667" r:id="rId158"/>
    <p:sldId id="668" r:id="rId159"/>
    <p:sldId id="669" r:id="rId160"/>
    <p:sldId id="670" r:id="rId161"/>
    <p:sldId id="671" r:id="rId162"/>
    <p:sldId id="672" r:id="rId163"/>
    <p:sldId id="673" r:id="rId164"/>
    <p:sldId id="674" r:id="rId165"/>
    <p:sldId id="675" r:id="rId166"/>
    <p:sldId id="676" r:id="rId167"/>
    <p:sldId id="677" r:id="rId168"/>
    <p:sldId id="678" r:id="rId169"/>
    <p:sldId id="679" r:id="rId170"/>
    <p:sldId id="680" r:id="rId171"/>
    <p:sldId id="681" r:id="rId172"/>
    <p:sldId id="682" r:id="rId173"/>
    <p:sldId id="683" r:id="rId174"/>
    <p:sldId id="684" r:id="rId175"/>
    <p:sldId id="685" r:id="rId176"/>
    <p:sldId id="686" r:id="rId177"/>
    <p:sldId id="687" r:id="rId178"/>
    <p:sldId id="688" r:id="rId179"/>
    <p:sldId id="440" r:id="rId180"/>
    <p:sldId id="384" r:id="rId1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</a:p>
        <a:p>
          <a:r>
            <a:rPr lang="en-US" dirty="0"/>
            <a:t>Microsoft word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Working with Objects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Learn more about working with tables 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Pictures and Text Wrapping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/>
            <a:t>How to use text boxes in word</a:t>
          </a:r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/>
            <a:t>How to align, group, order and rotate objects</a:t>
          </a:r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Add and modify charts</a:t>
          </a:r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23F2D5E2-61FA-40AD-9F7D-BF405C8CDFAE}">
      <dgm:prSet custT="1"/>
      <dgm:spPr/>
      <dgm:t>
        <a:bodyPr/>
        <a:lstStyle/>
        <a:p>
          <a:r>
            <a:rPr lang="en-US" dirty="0"/>
            <a:t>How to add and modify shapes</a:t>
          </a:r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C11B75ED-B46B-4BF2-80F2-DA583A75044E}">
      <dgm:prSet custT="1"/>
      <dgm:spPr/>
      <dgm:t>
        <a:bodyPr/>
        <a:lstStyle/>
        <a:p>
          <a:r>
            <a:rPr lang="en-US" dirty="0"/>
            <a:t>Formatting Pictures</a:t>
          </a:r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7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7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7">
        <dgm:presLayoutVars>
          <dgm:bulletEnabled val="1"/>
        </dgm:presLayoutVars>
      </dgm:prSet>
      <dgm:spPr/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7">
        <dgm:presLayoutVars>
          <dgm:bulletEnabled val="1"/>
        </dgm:presLayoutVars>
      </dgm:prSet>
      <dgm:spPr/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7">
        <dgm:presLayoutVars>
          <dgm:bulletEnabled val="1"/>
        </dgm:presLayoutVars>
      </dgm:prSet>
      <dgm:spPr/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7">
        <dgm:presLayoutVars>
          <dgm:bulletEnabled val="1"/>
        </dgm:presLayoutVars>
      </dgm:prSet>
      <dgm:spPr/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7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Introduction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to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Microsoft word </a:t>
          </a:r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Working with Objects</a:t>
          </a:r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32370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Learn more about working with tables </a:t>
          </a:r>
        </a:p>
      </dsp:txBody>
      <dsp:txXfrm>
        <a:off x="0" y="32370"/>
        <a:ext cx="2762250" cy="1657349"/>
      </dsp:txXfrm>
    </dsp:sp>
    <dsp:sp modelId="{08678D36-F832-48B7-8548-C43AEE1F6A43}">
      <dsp:nvSpPr>
        <dsp:cNvPr id="0" name=""/>
        <dsp:cNvSpPr/>
      </dsp:nvSpPr>
      <dsp:spPr>
        <a:xfrm>
          <a:off x="3038474" y="32370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9426"/>
                <a:satOff val="-728"/>
                <a:lumOff val="416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9426"/>
                <a:satOff val="-728"/>
                <a:lumOff val="416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9426"/>
                <a:satOff val="-728"/>
                <a:lumOff val="41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Pictures and Text Wrapping</a:t>
          </a:r>
        </a:p>
      </dsp:txBody>
      <dsp:txXfrm>
        <a:off x="3038474" y="32370"/>
        <a:ext cx="2762250" cy="1657349"/>
      </dsp:txXfrm>
    </dsp:sp>
    <dsp:sp modelId="{D32AB574-D896-42B8-809A-74BD322B19E9}">
      <dsp:nvSpPr>
        <dsp:cNvPr id="0" name=""/>
        <dsp:cNvSpPr/>
      </dsp:nvSpPr>
      <dsp:spPr>
        <a:xfrm>
          <a:off x="6076950" y="32370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Formatting Pictures</a:t>
          </a:r>
        </a:p>
      </dsp:txBody>
      <dsp:txXfrm>
        <a:off x="6076950" y="32370"/>
        <a:ext cx="2762250" cy="1657349"/>
      </dsp:txXfrm>
    </dsp:sp>
    <dsp:sp modelId="{126D987F-03E4-4E3A-BED9-08B6BA3A15AB}">
      <dsp:nvSpPr>
        <dsp:cNvPr id="0" name=""/>
        <dsp:cNvSpPr/>
      </dsp:nvSpPr>
      <dsp:spPr>
        <a:xfrm>
          <a:off x="0" y="1965945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How to add and modify shapes</a:t>
          </a:r>
        </a:p>
      </dsp:txBody>
      <dsp:txXfrm>
        <a:off x="0" y="1965945"/>
        <a:ext cx="2762250" cy="1657349"/>
      </dsp:txXfrm>
    </dsp:sp>
    <dsp:sp modelId="{A0EFA616-1553-4077-9D32-88AE20AC0552}">
      <dsp:nvSpPr>
        <dsp:cNvPr id="0" name=""/>
        <dsp:cNvSpPr/>
      </dsp:nvSpPr>
      <dsp:spPr>
        <a:xfrm>
          <a:off x="3038474" y="1965945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How to use text boxes in word</a:t>
          </a:r>
        </a:p>
      </dsp:txBody>
      <dsp:txXfrm>
        <a:off x="3038474" y="1965945"/>
        <a:ext cx="2762250" cy="1657349"/>
      </dsp:txXfrm>
    </dsp:sp>
    <dsp:sp modelId="{D944875E-4200-44D3-9F4D-D995865E5F68}">
      <dsp:nvSpPr>
        <dsp:cNvPr id="0" name=""/>
        <dsp:cNvSpPr/>
      </dsp:nvSpPr>
      <dsp:spPr>
        <a:xfrm>
          <a:off x="6076950" y="1965945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7131"/>
                <a:satOff val="-3638"/>
                <a:lumOff val="2082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7131"/>
                <a:satOff val="-3638"/>
                <a:lumOff val="2082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7131"/>
                <a:satOff val="-3638"/>
                <a:lumOff val="2082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How to align, group, order and rotate objects</a:t>
          </a:r>
        </a:p>
      </dsp:txBody>
      <dsp:txXfrm>
        <a:off x="6076950" y="1965945"/>
        <a:ext cx="2762250" cy="1657349"/>
      </dsp:txXfrm>
    </dsp:sp>
    <dsp:sp modelId="{4F3BB94F-726F-42B1-B2C9-9077543F3D05}">
      <dsp:nvSpPr>
        <dsp:cNvPr id="0" name=""/>
        <dsp:cNvSpPr/>
      </dsp:nvSpPr>
      <dsp:spPr>
        <a:xfrm>
          <a:off x="3038474" y="3899519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How to Add and modify charts</a:t>
          </a:r>
        </a:p>
      </dsp:txBody>
      <dsp:txXfrm>
        <a:off x="3038474" y="3899519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0297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0828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0136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361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1912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1279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4583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8287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7401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2785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4487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7760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5615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1296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54939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6808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7850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8757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1193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338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5095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52480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164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2938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9376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145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2171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0713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75035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50310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6378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806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72106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9868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84782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70138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44873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66397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69842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2497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41834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44599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56702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11812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528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12600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8385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46331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32186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66529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2284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87816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09119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97203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05746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38327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02186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87181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3187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5742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5492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04794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59481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76418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9327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84370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49868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07896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9234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011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21789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43108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128287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70258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09096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16885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589034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4354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72665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6196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83416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33156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46435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78341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97578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16690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59467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40659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95321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99394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88785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97682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46006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54360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399933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86729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21050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665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5219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816085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598088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23516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892703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42079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14019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6136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76071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439803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07113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960265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686938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2588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2744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92515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32626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827087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00595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30419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79371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875085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6406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568208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267209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431982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22172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199643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807015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179519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5773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21217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267203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871965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351202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1967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747637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179</a:t>
            </a:fld>
            <a:endParaRPr lang="en-US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180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472381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820892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914640"/>
              </p:ext>
            </p:extLst>
          </p:nvPr>
        </p:nvGraphicFramePr>
        <p:xfrm>
          <a:off x="28135" y="1268760"/>
          <a:ext cx="8839200" cy="558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a Table in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A table is a structure of </a:t>
            </a:r>
            <a:r>
              <a:rPr lang="en-GB" b="1" dirty="0"/>
              <a:t>vertical columns </a:t>
            </a:r>
            <a:r>
              <a:rPr lang="en-GB" dirty="0"/>
              <a:t>and </a:t>
            </a:r>
            <a:r>
              <a:rPr lang="en-GB" b="1" dirty="0"/>
              <a:t>horizontal rows </a:t>
            </a:r>
            <a:r>
              <a:rPr lang="en-GB" dirty="0"/>
              <a:t>with a </a:t>
            </a:r>
            <a:r>
              <a:rPr lang="en-GB" b="1" dirty="0"/>
              <a:t>cell</a:t>
            </a:r>
            <a:r>
              <a:rPr lang="en-GB" dirty="0"/>
              <a:t> at every intersection.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Each cell can contain text or graphics, and you can format the table in any way you want.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Usually the top row in the table is kept as a table header and can be used to put some informative instruction.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 </a:t>
            </a:r>
            <a:r>
              <a:rPr lang="en-GB" sz="2400" dirty="0"/>
              <a:t>followed by the </a:t>
            </a:r>
            <a:r>
              <a:rPr lang="en-GB" sz="2400" b="1" dirty="0"/>
              <a:t>Table button</a:t>
            </a:r>
            <a:r>
              <a:rPr lang="en-GB" sz="2400" dirty="0"/>
              <a:t>. This will display a </a:t>
            </a:r>
            <a:r>
              <a:rPr lang="en-GB" sz="2400" b="1" dirty="0"/>
              <a:t>simple grid </a:t>
            </a:r>
            <a:r>
              <a:rPr lang="en-GB" sz="2400" dirty="0"/>
              <a:t>as shown below. </a:t>
            </a:r>
          </a:p>
          <a:p>
            <a:pPr algn="just"/>
            <a:r>
              <a:rPr lang="en-GB" sz="2400" dirty="0"/>
              <a:t>When you move your mouse over the </a:t>
            </a:r>
            <a:r>
              <a:rPr lang="en-GB" sz="2400" b="1" dirty="0"/>
              <a:t>grid cells</a:t>
            </a:r>
            <a:r>
              <a:rPr lang="en-GB" sz="2400" dirty="0"/>
              <a:t>, it makes a table in the table that appears in the document. You can make your table having the desired number of </a:t>
            </a:r>
            <a:r>
              <a:rPr lang="en-GB" sz="2400" b="1" dirty="0"/>
              <a:t>rows</a:t>
            </a:r>
            <a:r>
              <a:rPr lang="en-GB" sz="2400" dirty="0"/>
              <a:t> and </a:t>
            </a:r>
            <a:r>
              <a:rPr lang="en-GB" sz="2400" b="1" dirty="0"/>
              <a:t>columns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EBC76-D018-4E5D-9346-0E15649D6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8961"/>
            <a:ext cx="9144000" cy="37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907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Click the square representing the </a:t>
            </a:r>
            <a:r>
              <a:rPr lang="en-GB" sz="2400" b="1" dirty="0"/>
              <a:t>lower-right corner of your table</a:t>
            </a:r>
            <a:r>
              <a:rPr lang="en-GB" sz="2400" dirty="0"/>
              <a:t>, which will create an actual table in your document and Word goes in the </a:t>
            </a:r>
            <a:r>
              <a:rPr lang="en-GB" sz="2400" b="1" dirty="0"/>
              <a:t>table design mode</a:t>
            </a:r>
            <a:r>
              <a:rPr lang="en-GB" sz="2400" dirty="0"/>
              <a:t>. </a:t>
            </a:r>
          </a:p>
          <a:p>
            <a:pPr algn="just"/>
            <a:r>
              <a:rPr lang="en-GB" sz="2400" dirty="0"/>
              <a:t>The table design mode has many options to work with as shown below.</a:t>
            </a:r>
          </a:p>
          <a:p>
            <a:pPr algn="just"/>
            <a:endParaRPr lang="en-US" sz="2400" dirty="0"/>
          </a:p>
        </p:txBody>
      </p:sp>
      <p:pic>
        <p:nvPicPr>
          <p:cNvPr id="2050" name="Picture 2" descr="C:\Users\UCCSMS1\Desktop\images\create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08920"/>
            <a:ext cx="533400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8948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This is an optional step that can be worked out if you want to have a </a:t>
            </a:r>
            <a:r>
              <a:rPr lang="en-GB" sz="2400" b="1" dirty="0"/>
              <a:t>fancy</a:t>
            </a:r>
            <a:r>
              <a:rPr lang="en-GB" sz="2400" dirty="0"/>
              <a:t> </a:t>
            </a:r>
            <a:r>
              <a:rPr lang="en-GB" sz="2400" b="1" dirty="0"/>
              <a:t>table</a:t>
            </a:r>
            <a:r>
              <a:rPr lang="en-GB" sz="2400" dirty="0"/>
              <a:t>. </a:t>
            </a:r>
          </a:p>
          <a:p>
            <a:pPr algn="just"/>
            <a:r>
              <a:rPr lang="en-GB" sz="2400" dirty="0"/>
              <a:t>Click the Table Styles button to display a gallery of table styles. When you move your mouse over any of the styles, it shows real time preview of your actual table.</a:t>
            </a:r>
          </a:p>
          <a:p>
            <a:pPr algn="just"/>
            <a:endParaRPr lang="en-US" sz="2400" dirty="0"/>
          </a:p>
        </p:txBody>
      </p:sp>
      <p:pic>
        <p:nvPicPr>
          <p:cNvPr id="3074" name="Picture 2" descr="C:\Users\UCCSMS1\Desktop\images\table_styl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924945"/>
            <a:ext cx="5334000" cy="39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749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400" dirty="0"/>
              <a:t>To select any of the styles, just click the built-in table style and you will see that the selected style has been applied on your table.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4098" name="Picture 2" descr="C:\Users\UCCSMS1\Desktop\images\table_styles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88840"/>
            <a:ext cx="5976664" cy="437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290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anywhere in the table you want to delete.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  <a:r>
              <a:rPr lang="en-GB" sz="2400" dirty="0"/>
              <a:t> 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Layout tab</a:t>
            </a:r>
            <a:r>
              <a:rPr lang="en-GB" sz="2400" dirty="0"/>
              <a:t>, and click the </a:t>
            </a:r>
            <a:r>
              <a:rPr lang="en-GB" sz="2400" b="1" dirty="0"/>
              <a:t>Delete Table option </a:t>
            </a:r>
            <a:r>
              <a:rPr lang="en-GB" sz="2400" dirty="0"/>
              <a:t>under the Delete Table Button to delete the complete table from the document along with its content.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5122" name="Picture 2" descr="C:\Users\UCCSMS1\Desktop\images\delete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140968"/>
            <a:ext cx="5334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904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a </a:t>
            </a:r>
            <a:r>
              <a:rPr lang="en-GB" sz="2400" b="1" dirty="0"/>
              <a:t>row</a:t>
            </a:r>
            <a:r>
              <a:rPr lang="en-GB" sz="2400" dirty="0"/>
              <a:t> where you want to add an additional row and then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Layout tab</a:t>
            </a:r>
            <a:r>
              <a:rPr lang="en-GB" sz="2400" dirty="0"/>
              <a:t>; it will show the following screen.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6146" name="Picture 2" descr="C:\Users\UCCSMS1\Desktop\images\add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276872"/>
            <a:ext cx="53340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618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Now use the </a:t>
            </a:r>
            <a:r>
              <a:rPr lang="en-GB" sz="2400" b="1" dirty="0"/>
              <a:t>Row &amp; Column group of buttons</a:t>
            </a:r>
            <a:r>
              <a:rPr lang="en-GB" sz="2400" dirty="0"/>
              <a:t> to add any row </a:t>
            </a:r>
            <a:r>
              <a:rPr lang="en-GB" sz="2400" b="1" dirty="0"/>
              <a:t>below or above </a:t>
            </a:r>
            <a:r>
              <a:rPr lang="en-GB" sz="2400" dirty="0"/>
              <a:t>to the selected row. </a:t>
            </a:r>
          </a:p>
          <a:p>
            <a:pPr algn="just"/>
            <a:r>
              <a:rPr lang="en-GB" sz="2400" dirty="0"/>
              <a:t>If you click the </a:t>
            </a:r>
            <a:r>
              <a:rPr lang="en-GB" sz="2400" b="1" dirty="0"/>
              <a:t>Insert Below button</a:t>
            </a:r>
            <a:r>
              <a:rPr lang="en-GB" sz="2400" dirty="0"/>
              <a:t>, it will add a row just below the selected row as follows.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7170" name="Picture 2" descr="C:\Users\UCCSMS1\Desktop\images\add_new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544692"/>
            <a:ext cx="6048672" cy="398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1448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a row which you want to delete from the table and then click the </a:t>
            </a:r>
            <a:r>
              <a:rPr lang="en-GB" sz="2400" b="1" dirty="0"/>
              <a:t>Layout tab</a:t>
            </a:r>
            <a:r>
              <a:rPr lang="en-GB" sz="2400" dirty="0"/>
              <a:t>; it will show the following screen.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8194" name="Picture 2" descr="C:\Users\UCCSMS1\Desktop\images\delete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60848"/>
            <a:ext cx="597666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1725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Layout tab</a:t>
            </a:r>
            <a:r>
              <a:rPr lang="en-GB" sz="2400" dirty="0"/>
              <a:t>, and then click the </a:t>
            </a:r>
            <a:r>
              <a:rPr lang="en-GB" sz="2400" b="1" dirty="0"/>
              <a:t>Delete Rows option </a:t>
            </a:r>
            <a:r>
              <a:rPr lang="en-GB" sz="2400" dirty="0"/>
              <a:t>under the Delete Table Button to delete the selected row.</a:t>
            </a:r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9218" name="Picture 2" descr="C:\Users\UCCSMS1\Desktop\images\delete_new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204864"/>
            <a:ext cx="5688632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7331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Column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a </a:t>
            </a:r>
            <a:r>
              <a:rPr lang="en-GB" sz="2400" b="1" dirty="0"/>
              <a:t>column</a:t>
            </a:r>
            <a:r>
              <a:rPr lang="en-GB" sz="2400" dirty="0"/>
              <a:t> where you want to add an additional column and then click the </a:t>
            </a:r>
            <a:r>
              <a:rPr lang="en-GB" sz="2400" b="1" dirty="0"/>
              <a:t>Layout tab</a:t>
            </a:r>
            <a:r>
              <a:rPr lang="en-GB" sz="2400" dirty="0"/>
              <a:t>; it will show the following screen.</a:t>
            </a:r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0242" name="Picture 2" descr="C:\Users\UCCSMS1\Desktop\images\add_colum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060848"/>
            <a:ext cx="5472608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7237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Column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Now use </a:t>
            </a:r>
            <a:r>
              <a:rPr lang="en-GB" sz="2800" b="1" dirty="0"/>
              <a:t>the Row &amp; Column group of buttons </a:t>
            </a:r>
            <a:r>
              <a:rPr lang="en-GB" sz="2800" dirty="0"/>
              <a:t>to add any column to the </a:t>
            </a:r>
            <a:r>
              <a:rPr lang="en-GB" sz="2800" b="1" dirty="0"/>
              <a:t>left or right </a:t>
            </a:r>
            <a:r>
              <a:rPr lang="en-GB" sz="2800" dirty="0"/>
              <a:t>of the selected column. </a:t>
            </a:r>
          </a:p>
          <a:p>
            <a:pPr algn="just"/>
            <a:r>
              <a:rPr lang="en-GB" sz="2800" dirty="0"/>
              <a:t>If you click the </a:t>
            </a:r>
            <a:r>
              <a:rPr lang="en-GB" sz="2800" b="1" dirty="0"/>
              <a:t>Insert Left button</a:t>
            </a:r>
            <a:r>
              <a:rPr lang="en-GB" sz="2800" dirty="0"/>
              <a:t>, it will add a column just left to the selected column as follows.</a:t>
            </a:r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1266" name="Picture 2" descr="C:\Users\UCCSMS1\Desktop\images\add_new_colum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958662"/>
            <a:ext cx="576064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5270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Column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dirty="0"/>
              <a:t>Click a </a:t>
            </a:r>
            <a:r>
              <a:rPr lang="en-GB" b="1" dirty="0"/>
              <a:t>column</a:t>
            </a:r>
            <a:r>
              <a:rPr lang="en-GB" dirty="0"/>
              <a:t> which you want to delete from the table and then click the </a:t>
            </a:r>
            <a:r>
              <a:rPr lang="en-GB" b="1" dirty="0"/>
              <a:t>Layout tab</a:t>
            </a:r>
            <a:r>
              <a:rPr lang="en-GB" dirty="0"/>
              <a:t>; it will show the following screen.</a:t>
            </a:r>
          </a:p>
          <a:p>
            <a:pPr algn="just"/>
            <a:endParaRPr lang="en-GB" dirty="0"/>
          </a:p>
          <a:p>
            <a:pPr marL="0" indent="0" algn="just">
              <a:buNone/>
            </a:pPr>
            <a:endParaRPr lang="en-GB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2290" name="Picture 2" descr="C:\Users\UCCSMS1\Desktop\images\delete_colum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668072"/>
            <a:ext cx="6336704" cy="416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011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Column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dirty="0"/>
              <a:t>Click the </a:t>
            </a:r>
            <a:r>
              <a:rPr lang="en-GB" b="1" dirty="0"/>
              <a:t>Layout tab</a:t>
            </a:r>
            <a:r>
              <a:rPr lang="en-GB" dirty="0"/>
              <a:t>, and click the </a:t>
            </a:r>
            <a:r>
              <a:rPr lang="en-GB" b="1" dirty="0"/>
              <a:t>Delete Column option </a:t>
            </a:r>
            <a:r>
              <a:rPr lang="en-GB" dirty="0"/>
              <a:t>under the Delete Table Button to delete the selected column.</a:t>
            </a:r>
          </a:p>
          <a:p>
            <a:pPr algn="just"/>
            <a:endParaRPr lang="en-GB" dirty="0"/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3314" name="Picture 2" descr="C:\Users\UCCSMS1\Desktop\images\delete_new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792942"/>
            <a:ext cx="5832648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3677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Move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Bring your mouse pointer over the table which you want to move from one location to another location. </a:t>
            </a:r>
          </a:p>
          <a:p>
            <a:pPr algn="just"/>
            <a:r>
              <a:rPr lang="en-GB" sz="2400" dirty="0"/>
              <a:t>As soon as you bring your mouse pointer inside the table, a small </a:t>
            </a:r>
            <a:r>
              <a:rPr lang="en-GB" sz="2400" b="1" dirty="0">
                <a:solidFill>
                  <a:srgbClr val="FF0000"/>
                </a:solidFill>
              </a:rPr>
              <a:t>Cross Icon </a:t>
            </a:r>
            <a:r>
              <a:rPr lang="en-GB" sz="2400" dirty="0"/>
              <a:t>will appear at the </a:t>
            </a:r>
            <a:r>
              <a:rPr lang="en-GB" sz="2400" b="1" dirty="0">
                <a:solidFill>
                  <a:srgbClr val="FF0000"/>
                </a:solidFill>
              </a:rPr>
              <a:t>top-left corner </a:t>
            </a:r>
            <a:r>
              <a:rPr lang="en-GB" sz="2400" dirty="0"/>
              <a:t>of the table as shown below.</a:t>
            </a:r>
          </a:p>
          <a:p>
            <a:pPr algn="just"/>
            <a:endParaRPr lang="en-GB" sz="2400" dirty="0"/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4338" name="Picture 2" descr="C:\Users\UCCSMS1\Desktop\images\cross_ic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684076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222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Move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000" dirty="0"/>
              <a:t>Click over the small </a:t>
            </a:r>
            <a:r>
              <a:rPr lang="en-GB" sz="2000" b="1" dirty="0"/>
              <a:t>Cross</a:t>
            </a:r>
            <a:r>
              <a:rPr lang="en-GB" sz="2000" dirty="0"/>
              <a:t> </a:t>
            </a:r>
            <a:r>
              <a:rPr lang="en-GB" sz="2000" b="1" dirty="0"/>
              <a:t>Icon</a:t>
            </a:r>
            <a:r>
              <a:rPr lang="en-GB" sz="2000" dirty="0"/>
              <a:t> which will select the whole table. Once the table is selected, use the </a:t>
            </a:r>
            <a:r>
              <a:rPr lang="en-GB" sz="2000" b="1" dirty="0"/>
              <a:t>Cut button </a:t>
            </a:r>
            <a:r>
              <a:rPr lang="en-GB" sz="2000" dirty="0"/>
              <a:t>or simply press the </a:t>
            </a:r>
            <a:r>
              <a:rPr lang="en-GB" sz="2000" b="1" dirty="0"/>
              <a:t>Ctrl + X</a:t>
            </a:r>
            <a:r>
              <a:rPr lang="en-GB" sz="2000" dirty="0"/>
              <a:t> keys to cut the table from its original location.</a:t>
            </a:r>
          </a:p>
          <a:p>
            <a:pPr marL="0" indent="0" algn="ctr">
              <a:buNone/>
            </a:pPr>
            <a:r>
              <a:rPr lang="en-GB" sz="2000" b="1" dirty="0">
                <a:solidFill>
                  <a:srgbClr val="FF0000"/>
                </a:solidFill>
              </a:rPr>
              <a:t>Step 3</a:t>
            </a:r>
            <a:r>
              <a:rPr lang="en-GB" sz="2000" dirty="0"/>
              <a:t> </a:t>
            </a:r>
          </a:p>
          <a:p>
            <a:pPr algn="just"/>
            <a:r>
              <a:rPr lang="en-GB" sz="2000" dirty="0"/>
              <a:t>Bring your insertion point at the location where you want to move the table and use Paste button or simply press </a:t>
            </a:r>
            <a:r>
              <a:rPr lang="en-GB" sz="2000" b="1" dirty="0"/>
              <a:t>Ctrl + V </a:t>
            </a:r>
            <a:r>
              <a:rPr lang="en-GB" sz="2000" dirty="0"/>
              <a:t>keys to paste the table at the new location.</a:t>
            </a:r>
          </a:p>
          <a:p>
            <a:pPr marL="0" indent="0" algn="just">
              <a:buNone/>
            </a:pPr>
            <a:endParaRPr lang="en-GB" sz="2000" dirty="0"/>
          </a:p>
          <a:p>
            <a:pPr algn="just"/>
            <a:endParaRPr lang="en-GB" sz="2000" dirty="0"/>
          </a:p>
          <a:p>
            <a:pPr algn="just"/>
            <a:endParaRPr lang="en-US" sz="2400" dirty="0"/>
          </a:p>
        </p:txBody>
      </p:sp>
      <p:pic>
        <p:nvPicPr>
          <p:cNvPr id="15362" name="Picture 2" descr="C:\Users\UCCSMS1\Desktop\images\moved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102124"/>
            <a:ext cx="5334000" cy="356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0330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Resize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Bring your mouse pointer over the table which you want to resize.</a:t>
            </a:r>
          </a:p>
          <a:p>
            <a:pPr algn="just"/>
            <a:r>
              <a:rPr lang="en-GB" sz="2400" dirty="0"/>
              <a:t>As soon as you bring your mouse pointer inside the table, a small </a:t>
            </a:r>
            <a:r>
              <a:rPr lang="en-GB" sz="2400" b="1" dirty="0"/>
              <a:t>Cross Icon </a:t>
            </a:r>
            <a:r>
              <a:rPr lang="en-GB" sz="2400" dirty="0"/>
              <a:t>will appear at the </a:t>
            </a:r>
            <a:r>
              <a:rPr lang="en-GB" sz="2400" b="1" dirty="0"/>
              <a:t>top-left corner </a:t>
            </a:r>
            <a:r>
              <a:rPr lang="en-GB" sz="2400" dirty="0"/>
              <a:t>and a small </a:t>
            </a:r>
            <a:r>
              <a:rPr lang="en-GB" sz="2400" b="1" dirty="0"/>
              <a:t>Resize Icon </a:t>
            </a:r>
            <a:r>
              <a:rPr lang="en-GB" sz="2400" dirty="0"/>
              <a:t>will appear at the </a:t>
            </a:r>
            <a:r>
              <a:rPr lang="en-GB" sz="2400" b="1" dirty="0"/>
              <a:t>bottom-right corner </a:t>
            </a:r>
            <a:r>
              <a:rPr lang="en-GB" sz="2400" dirty="0"/>
              <a:t>of the table as shown below.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6386" name="Picture 2" descr="C:\Users\UCCSMS1\Desktop\images\resize_ic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852936"/>
            <a:ext cx="6408712" cy="389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5941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Resize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Bring the mouse pointer over the </a:t>
            </a:r>
            <a:r>
              <a:rPr lang="en-GB" sz="2400" b="1" dirty="0"/>
              <a:t>Resize Icon </a:t>
            </a:r>
            <a:r>
              <a:rPr lang="en-GB" sz="2400" dirty="0"/>
              <a:t>till it changes to a </a:t>
            </a:r>
            <a:r>
              <a:rPr lang="en-GB" sz="2400" b="1" dirty="0"/>
              <a:t>diagonal double sided arrow </a:t>
            </a:r>
            <a:r>
              <a:rPr lang="en-GB" sz="2400" dirty="0"/>
              <a:t>and this is the time when you need to </a:t>
            </a:r>
            <a:r>
              <a:rPr lang="en-GB" sz="2400" b="1" dirty="0"/>
              <a:t>press the left mouse button </a:t>
            </a:r>
            <a:r>
              <a:rPr lang="en-GB" sz="2400" dirty="0"/>
              <a:t>and keep holding the button while resizing the table.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7410" name="Picture 2" descr="C:\Users\UCCSMS1\Desktop\images\resized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564904"/>
            <a:ext cx="5334000" cy="391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3632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Merging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Bring your mouse pointer position inside the first cell that you want to merge. </a:t>
            </a:r>
          </a:p>
          <a:p>
            <a:pPr algn="just"/>
            <a:r>
              <a:rPr lang="en-GB" sz="2400" dirty="0"/>
              <a:t>Now press the </a:t>
            </a:r>
            <a:r>
              <a:rPr lang="en-GB" sz="2400" b="1" dirty="0"/>
              <a:t>Shift key </a:t>
            </a:r>
            <a:r>
              <a:rPr lang="en-GB" sz="2400" dirty="0"/>
              <a:t>and click the </a:t>
            </a:r>
            <a:r>
              <a:rPr lang="en-GB" sz="2400" b="1" dirty="0"/>
              <a:t>cells</a:t>
            </a:r>
            <a:r>
              <a:rPr lang="en-GB" sz="2400" dirty="0"/>
              <a:t> around the cell which you want to merge into the first cell. </a:t>
            </a:r>
          </a:p>
          <a:p>
            <a:pPr algn="just"/>
            <a:r>
              <a:rPr lang="en-GB" sz="2400" dirty="0"/>
              <a:t>This will </a:t>
            </a:r>
            <a:r>
              <a:rPr lang="en-GB" sz="2400" b="1" dirty="0"/>
              <a:t>highlight</a:t>
            </a:r>
            <a:r>
              <a:rPr lang="en-GB" sz="2400" dirty="0"/>
              <a:t> the cells which you click and they will be ready to be merged.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8434" name="Picture 2" descr="C:\Users\UCCSMS1\Desktop\images\selected_cel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59455"/>
            <a:ext cx="53340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043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Merging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 </a:t>
            </a:r>
            <a:r>
              <a:rPr lang="en-GB" dirty="0"/>
              <a:t>Now click the </a:t>
            </a:r>
            <a:r>
              <a:rPr lang="en-GB" b="1" dirty="0"/>
              <a:t>Layout tab.</a:t>
            </a:r>
            <a:endParaRPr lang="en-GB" dirty="0"/>
          </a:p>
          <a:p>
            <a:pPr algn="just"/>
            <a:r>
              <a:rPr lang="en-GB" dirty="0"/>
              <a:t>Click the </a:t>
            </a:r>
            <a:r>
              <a:rPr lang="en-GB" b="1" dirty="0"/>
              <a:t>Merge Cells button </a:t>
            </a:r>
            <a:r>
              <a:rPr lang="en-GB" dirty="0"/>
              <a:t>which will merge all the selected </a:t>
            </a:r>
            <a:r>
              <a:rPr lang="en-GB" b="1" dirty="0"/>
              <a:t>cells</a:t>
            </a:r>
            <a:r>
              <a:rPr lang="en-GB" dirty="0"/>
              <a:t>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19458" name="Picture 2" descr="C:\Users\UCCSMS1\Desktop\images\merged_cel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068960"/>
            <a:ext cx="53340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6148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Split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dirty="0"/>
              <a:t>Bring your mouse pointer position anywhere in the row that should appear as the first row of the new table.</a:t>
            </a:r>
            <a:endParaRPr lang="en-US" dirty="0"/>
          </a:p>
        </p:txBody>
      </p:sp>
      <p:pic>
        <p:nvPicPr>
          <p:cNvPr id="20482" name="Picture 2" descr="C:\Users\UCCSMS1\Desktop\images\selected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780928"/>
            <a:ext cx="576064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349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Split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Now click the </a:t>
            </a:r>
            <a:r>
              <a:rPr lang="en-GB" sz="2800" b="1" dirty="0"/>
              <a:t>Layout tab</a:t>
            </a:r>
            <a:r>
              <a:rPr lang="en-GB" sz="2800" dirty="0"/>
              <a:t> and then </a:t>
            </a:r>
          </a:p>
          <a:p>
            <a:pPr algn="just"/>
            <a:r>
              <a:rPr lang="en-GB" sz="2800" dirty="0"/>
              <a:t>Click </a:t>
            </a:r>
            <a:r>
              <a:rPr lang="en-GB" sz="2800" b="1" dirty="0"/>
              <a:t>the Split Table button </a:t>
            </a:r>
            <a:r>
              <a:rPr lang="en-GB" sz="2800" dirty="0"/>
              <a:t>which will split the table into two tables and the selected row will become the first row of the lower table.</a:t>
            </a:r>
          </a:p>
          <a:p>
            <a:pPr algn="just"/>
            <a:endParaRPr lang="en-US" sz="2400" dirty="0"/>
          </a:p>
        </p:txBody>
      </p:sp>
      <p:pic>
        <p:nvPicPr>
          <p:cNvPr id="21506" name="Picture 2" descr="C:\Users\UCCSMS1\Desktop\images\split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996952"/>
            <a:ext cx="5904656" cy="384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6735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Split a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After splitting the table into two tables, you can further divide it into two parts and you can continue dividing the Word tables as long as a table has more than one row.</a:t>
            </a:r>
          </a:p>
          <a:p>
            <a:pPr algn="just"/>
            <a:endParaRPr lang="en-US" sz="2400" dirty="0"/>
          </a:p>
        </p:txBody>
      </p:sp>
      <p:pic>
        <p:nvPicPr>
          <p:cNvPr id="22530" name="Picture 2" descr="C:\Users\UCCSMS1\Desktop\images\split_table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08920"/>
            <a:ext cx="6120680" cy="395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439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Split a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dirty="0"/>
              <a:t>Bring your mouse pointer position inside the cell that has to be divided into multiple cells.</a:t>
            </a:r>
          </a:p>
          <a:p>
            <a:pPr algn="just"/>
            <a:endParaRPr lang="en-US" sz="2400" dirty="0"/>
          </a:p>
        </p:txBody>
      </p:sp>
      <p:pic>
        <p:nvPicPr>
          <p:cNvPr id="23554" name="Picture 2" descr="C:\Users\UCCSMS1\Desktop\images\selected_ce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636912"/>
            <a:ext cx="596220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7083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Split a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Now click the </a:t>
            </a:r>
            <a:r>
              <a:rPr lang="en-GB" sz="2800" b="1" dirty="0"/>
              <a:t>Layout tab </a:t>
            </a:r>
            <a:r>
              <a:rPr lang="en-GB" sz="2800" dirty="0"/>
              <a:t>and then click the </a:t>
            </a:r>
            <a:r>
              <a:rPr lang="en-GB" sz="2800" b="1" dirty="0"/>
              <a:t>Split Cells button</a:t>
            </a:r>
            <a:r>
              <a:rPr lang="en-GB" sz="2800" dirty="0"/>
              <a:t>; this will display a </a:t>
            </a:r>
            <a:r>
              <a:rPr lang="en-GB" sz="2800" b="1" dirty="0"/>
              <a:t>dialog box </a:t>
            </a:r>
            <a:r>
              <a:rPr lang="en-GB" sz="2800" dirty="0"/>
              <a:t>asking for the number of </a:t>
            </a:r>
            <a:r>
              <a:rPr lang="en-GB" sz="2800" b="1" dirty="0"/>
              <a:t>rows and columns </a:t>
            </a:r>
            <a:r>
              <a:rPr lang="en-GB" sz="2800" dirty="0"/>
              <a:t>to be created from the selected cell.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24578" name="Picture 2" descr="C:\Users\UCCSMS1\Desktop\images\cell_dialog_bo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609528"/>
            <a:ext cx="576064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4881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Split a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dirty="0"/>
              <a:t>Select the desired number of rows and columns that have to go into the resultant cell and </a:t>
            </a:r>
          </a:p>
          <a:p>
            <a:pPr algn="just"/>
            <a:r>
              <a:rPr lang="en-GB" dirty="0"/>
              <a:t>finally click the </a:t>
            </a:r>
            <a:r>
              <a:rPr lang="en-GB" b="1" dirty="0"/>
              <a:t>OK button</a:t>
            </a:r>
            <a:r>
              <a:rPr lang="en-GB" dirty="0"/>
              <a:t> to apply the result.</a:t>
            </a:r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25602" name="Picture 2" descr="C:\Users\UCCSMS1\Desktop\images\split_ce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924944"/>
            <a:ext cx="5760640" cy="386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4575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b="1" dirty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Consider the following table with the total number of rows. Click in a cell that should contain the sum of the rows.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26626" name="Picture 2" descr="C:\Users\UCCSMS1\Desktop\images\salary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76872"/>
            <a:ext cx="6912768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6785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1692"/>
            <a:ext cx="9144000" cy="65063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Now click the </a:t>
            </a:r>
            <a:r>
              <a:rPr lang="en-GB" sz="2400" b="1" dirty="0"/>
              <a:t>Layout tab </a:t>
            </a:r>
            <a:r>
              <a:rPr lang="en-GB" sz="2400" dirty="0"/>
              <a:t>and then click the </a:t>
            </a:r>
            <a:r>
              <a:rPr lang="en-GB" sz="2400" b="1" dirty="0"/>
              <a:t>Formula button</a:t>
            </a:r>
            <a:r>
              <a:rPr lang="en-GB" sz="2400" dirty="0"/>
              <a:t>; this will display a </a:t>
            </a:r>
            <a:r>
              <a:rPr lang="en-GB" sz="2400" b="1" dirty="0"/>
              <a:t>Formula Dialog Box </a:t>
            </a:r>
            <a:r>
              <a:rPr lang="en-GB" sz="2400" dirty="0"/>
              <a:t>which will suggest a default formula, which is </a:t>
            </a:r>
            <a:r>
              <a:rPr lang="en-GB" sz="2400" b="1" dirty="0">
                <a:solidFill>
                  <a:srgbClr val="FF0000"/>
                </a:solidFill>
              </a:rPr>
              <a:t>=SUM(LEFT)</a:t>
            </a:r>
            <a:r>
              <a:rPr lang="en-GB" sz="2400" dirty="0"/>
              <a:t> in our case.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You can select a number format using </a:t>
            </a:r>
            <a:r>
              <a:rPr lang="en-GB" sz="2400" b="1" dirty="0"/>
              <a:t>Number Format List Box </a:t>
            </a:r>
            <a:r>
              <a:rPr lang="en-GB" sz="2400" dirty="0"/>
              <a:t>to display the result or you can change the formula using the Formula List Box.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27650" name="Picture 2" descr="C:\Users\UCCSMS1\Desktop\images\formula_dialog_bo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362178"/>
            <a:ext cx="5334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6373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a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Now click </a:t>
            </a:r>
            <a:r>
              <a:rPr lang="en-GB" sz="2800" b="1" dirty="0"/>
              <a:t>OK</a:t>
            </a:r>
            <a:r>
              <a:rPr lang="en-GB" sz="2800" dirty="0"/>
              <a:t> to apply the formula and you will see that the left cells have been added and the sum has been put in the total cell where we wanted to have it.</a:t>
            </a:r>
          </a:p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28674" name="Picture 2" descr="C:\Users\UCCSMS1\Desktop\images\sum_res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636912"/>
            <a:ext cx="6046367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672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Cell Formulae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32656"/>
            <a:ext cx="8839200" cy="65253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8680"/>
            <a:ext cx="8280919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86295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Borders to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b="1" dirty="0"/>
              <a:t>Select</a:t>
            </a:r>
            <a:r>
              <a:rPr lang="en-GB" dirty="0"/>
              <a:t> the table to which you want to add border.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To select a table, click over the table anywhere which will make the </a:t>
            </a:r>
            <a:r>
              <a:rPr lang="en-GB" b="1" dirty="0"/>
              <a:t>Cross icon </a:t>
            </a:r>
            <a:r>
              <a:rPr lang="en-GB" dirty="0"/>
              <a:t>visible at the top-left corner of the table.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Click this </a:t>
            </a:r>
            <a:r>
              <a:rPr lang="en-GB" b="1" dirty="0"/>
              <a:t>cross icon </a:t>
            </a:r>
            <a:r>
              <a:rPr lang="en-GB" dirty="0"/>
              <a:t>to select the table.</a:t>
            </a:r>
          </a:p>
          <a:p>
            <a:pPr marL="0" indent="0" algn="just">
              <a:buNone/>
            </a:pPr>
            <a:endParaRPr lang="en-GB" dirty="0"/>
          </a:p>
          <a:p>
            <a:pPr algn="just"/>
            <a:endParaRPr lang="en-GB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54117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Borders to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home tab </a:t>
            </a:r>
            <a:r>
              <a:rPr lang="en-GB" sz="2800" dirty="0"/>
              <a:t>and then click the </a:t>
            </a:r>
            <a:r>
              <a:rPr lang="en-GB" sz="2800" b="1" dirty="0"/>
              <a:t>Border button </a:t>
            </a:r>
            <a:r>
              <a:rPr lang="en-GB" sz="2800" dirty="0"/>
              <a:t>to display a list of options to put a border around the selected table. </a:t>
            </a:r>
          </a:p>
          <a:p>
            <a:pPr algn="just"/>
            <a:r>
              <a:rPr lang="en-GB" sz="2800" dirty="0"/>
              <a:t>You can </a:t>
            </a:r>
            <a:r>
              <a:rPr lang="en-GB" sz="2800" b="1" dirty="0"/>
              <a:t>select any of the option available </a:t>
            </a:r>
            <a:r>
              <a:rPr lang="en-GB" sz="2800" dirty="0"/>
              <a:t>by simply clicking over it.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30722" name="Picture 2" descr="C:\Users\UCCSMS1\Desktop\images\table_bor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591" y="3201421"/>
            <a:ext cx="5946224" cy="363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593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Borders to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32656"/>
            <a:ext cx="88392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Try to add and remove different borders like left, right, top or bottom by selecting different options from the border options.</a:t>
            </a:r>
          </a:p>
          <a:p>
            <a:pPr algn="just"/>
            <a:endParaRPr lang="en-GB" sz="2800" dirty="0"/>
          </a:p>
          <a:p>
            <a:pPr algn="just"/>
            <a:endParaRPr lang="en-US" sz="2400" dirty="0"/>
          </a:p>
        </p:txBody>
      </p:sp>
      <p:pic>
        <p:nvPicPr>
          <p:cNvPr id="31746" name="Picture 2" descr="C:\Users\UCCSMS1\Desktop\images\table_border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503240"/>
            <a:ext cx="5979368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6175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Borders to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dirty="0"/>
              <a:t>You can apply border to any of the selected row or column. You can try it yourself.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5</a:t>
            </a:r>
            <a:endParaRPr lang="en-GB" dirty="0"/>
          </a:p>
          <a:p>
            <a:pPr algn="just"/>
            <a:r>
              <a:rPr lang="en-GB" dirty="0"/>
              <a:t>To delete the existing border, simply select the No Border option from the border options.</a:t>
            </a:r>
          </a:p>
          <a:p>
            <a:pPr marL="0" indent="0" algn="just">
              <a:buNone/>
            </a:pPr>
            <a:endParaRPr lang="en-GB" dirty="0"/>
          </a:p>
          <a:p>
            <a:pPr algn="just"/>
            <a:endParaRPr lang="en-GB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7889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Border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32656"/>
            <a:ext cx="88392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Border button </a:t>
            </a:r>
            <a:r>
              <a:rPr lang="en-GB" sz="2400" dirty="0"/>
              <a:t>to display a list of options to put a border.</a:t>
            </a:r>
          </a:p>
          <a:p>
            <a:pPr algn="just"/>
            <a:r>
              <a:rPr lang="en-GB" sz="2400" dirty="0"/>
              <a:t>Select the </a:t>
            </a:r>
            <a:r>
              <a:rPr lang="en-GB" sz="2400" b="1" dirty="0"/>
              <a:t>Border and Shading option </a:t>
            </a:r>
            <a:r>
              <a:rPr lang="en-GB" sz="2400" dirty="0"/>
              <a:t>available at the bottom of the list of options as shown in the screenshot. </a:t>
            </a:r>
          </a:p>
          <a:p>
            <a:pPr algn="just"/>
            <a:r>
              <a:rPr lang="en-GB" sz="2400" dirty="0"/>
              <a:t>This will display a </a:t>
            </a:r>
            <a:r>
              <a:rPr lang="en-GB" sz="2400" b="1" dirty="0"/>
              <a:t>Border and Shading dialog box</a:t>
            </a:r>
            <a:r>
              <a:rPr lang="en-GB" sz="2400" dirty="0"/>
              <a:t>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32770" name="Picture 2" descr="C:\Users\UCCSMS1\Desktop\images\table_borders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708920"/>
            <a:ext cx="5334000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530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Border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Border tab</a:t>
            </a:r>
            <a:r>
              <a:rPr lang="en-GB" sz="2800" dirty="0"/>
              <a:t>; this will display a list of border settings, styles and options whether this border should be applied to the table or text or paragraph.</a:t>
            </a:r>
          </a:p>
          <a:p>
            <a:pPr marL="0" indent="0" algn="just">
              <a:buNone/>
            </a:pPr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  <a:endParaRPr lang="en-GB" sz="2800" dirty="0"/>
          </a:p>
          <a:p>
            <a:pPr algn="just"/>
            <a:r>
              <a:rPr lang="en-GB" sz="2800" dirty="0"/>
              <a:t>You can use the Preview section to disable or enable left, right, top or bottom borders of the selected table or row or column.</a:t>
            </a:r>
          </a:p>
          <a:p>
            <a:pPr marL="0" indent="0" algn="just">
              <a:buNone/>
            </a:pPr>
            <a:endParaRPr lang="en-GB" sz="2800" dirty="0"/>
          </a:p>
          <a:p>
            <a:pPr algn="just"/>
            <a:endParaRPr lang="en-GB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51717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Border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dirty="0"/>
              <a:t>You can customize your border by setting its colour, width by using different width thickness available under the style section.</a:t>
            </a:r>
          </a:p>
          <a:p>
            <a:pPr algn="just"/>
            <a:endParaRPr lang="en-GB" dirty="0"/>
          </a:p>
          <a:p>
            <a:pPr algn="just"/>
            <a:endParaRPr lang="en-US" sz="2400" dirty="0"/>
          </a:p>
        </p:txBody>
      </p:sp>
      <p:pic>
        <p:nvPicPr>
          <p:cNvPr id="33794" name="Picture 2" descr="C:\Users\UCCSMS1\Desktop\images\stylish_table_bor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636912"/>
            <a:ext cx="7056784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657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Shades To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32656"/>
            <a:ext cx="88392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Select a row or column where you want to apply a shade of your choice.</a:t>
            </a:r>
          </a:p>
          <a:p>
            <a:pPr algn="just"/>
            <a:endParaRPr lang="en-GB" sz="2400" dirty="0"/>
          </a:p>
          <a:p>
            <a:pPr algn="just"/>
            <a:endParaRPr lang="en-US" sz="2400" dirty="0"/>
          </a:p>
        </p:txBody>
      </p:sp>
      <p:pic>
        <p:nvPicPr>
          <p:cNvPr id="34818" name="Picture 2" descr="C:\Users\UCCSMS1\Desktop\images\selected_table_r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6768752" cy="422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313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Shades To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32656"/>
            <a:ext cx="8839200" cy="6525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Border button </a:t>
            </a:r>
            <a:r>
              <a:rPr lang="en-GB" sz="2400" dirty="0"/>
              <a:t>to display a list of options to put a border.</a:t>
            </a:r>
          </a:p>
          <a:p>
            <a:pPr algn="just"/>
            <a:r>
              <a:rPr lang="en-GB" sz="2400" dirty="0"/>
              <a:t>Select the </a:t>
            </a:r>
            <a:r>
              <a:rPr lang="en-GB" sz="2400" b="1" dirty="0"/>
              <a:t>Border and Shading option </a:t>
            </a:r>
            <a:r>
              <a:rPr lang="en-GB" sz="2400" dirty="0"/>
              <a:t>available at the bottom of the list of options. </a:t>
            </a:r>
          </a:p>
          <a:p>
            <a:pPr algn="just"/>
            <a:r>
              <a:rPr lang="en-GB" sz="2400" dirty="0"/>
              <a:t>This will display a </a:t>
            </a:r>
            <a:r>
              <a:rPr lang="en-GB" sz="2400" b="1" dirty="0"/>
              <a:t>Border and Shading dialog box</a:t>
            </a:r>
            <a:r>
              <a:rPr lang="en-GB" sz="2400" dirty="0"/>
              <a:t>.</a:t>
            </a:r>
          </a:p>
          <a:p>
            <a:pPr algn="just"/>
            <a:endParaRPr lang="en-US" sz="2400" dirty="0"/>
          </a:p>
        </p:txBody>
      </p:sp>
      <p:pic>
        <p:nvPicPr>
          <p:cNvPr id="35842" name="Picture 2" descr="C:\Users\UCCSMS1\Desktop\images\table_shad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64904"/>
            <a:ext cx="5334000" cy="402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7687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Border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Shading </a:t>
            </a:r>
            <a:r>
              <a:rPr lang="en-GB" sz="2800" dirty="0"/>
              <a:t>tab which will display options to select </a:t>
            </a:r>
            <a:r>
              <a:rPr lang="en-GB" sz="2800" b="1" dirty="0"/>
              <a:t>fill</a:t>
            </a:r>
            <a:r>
              <a:rPr lang="en-GB" sz="2800" dirty="0"/>
              <a:t>, </a:t>
            </a:r>
            <a:r>
              <a:rPr lang="en-GB" sz="2800" b="1" dirty="0"/>
              <a:t>colour</a:t>
            </a:r>
            <a:r>
              <a:rPr lang="en-GB" sz="2800" dirty="0"/>
              <a:t> and </a:t>
            </a:r>
            <a:r>
              <a:rPr lang="en-GB" sz="2800" b="1" dirty="0"/>
              <a:t>style</a:t>
            </a:r>
            <a:r>
              <a:rPr lang="en-GB" sz="2800" dirty="0"/>
              <a:t> and whether this border should be applied to cell or table or selected portion of text.</a:t>
            </a:r>
          </a:p>
          <a:p>
            <a:pPr marL="0" indent="0" algn="just">
              <a:buNone/>
            </a:pPr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</a:t>
            </a:r>
            <a:endParaRPr lang="en-GB" sz="2800" dirty="0"/>
          </a:p>
          <a:p>
            <a:pPr algn="just"/>
            <a:r>
              <a:rPr lang="en-GB" sz="2800" dirty="0"/>
              <a:t>You can use the </a:t>
            </a:r>
            <a:r>
              <a:rPr lang="en-GB" sz="2800" b="1" dirty="0"/>
              <a:t>Preview</a:t>
            </a:r>
            <a:r>
              <a:rPr lang="en-GB" sz="2800" dirty="0"/>
              <a:t> section to have an idea about the expected result. </a:t>
            </a:r>
          </a:p>
          <a:p>
            <a:pPr algn="just"/>
            <a:r>
              <a:rPr lang="en-GB" sz="2800" dirty="0"/>
              <a:t>Once you are done, click the </a:t>
            </a:r>
            <a:r>
              <a:rPr lang="en-GB" sz="2800" b="1" dirty="0"/>
              <a:t>OK button </a:t>
            </a:r>
            <a:r>
              <a:rPr lang="en-GB" sz="2800" dirty="0"/>
              <a:t>to apply the result..</a:t>
            </a:r>
          </a:p>
          <a:p>
            <a:pPr marL="0" indent="0" algn="just">
              <a:buNone/>
            </a:pPr>
            <a:endParaRPr lang="en-GB" sz="2800" dirty="0"/>
          </a:p>
          <a:p>
            <a:pPr algn="just"/>
            <a:endParaRPr lang="en-GB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43440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Pictures and Text Wrapping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Adding pictures to your document can be a great way to illustrate important information and add decorative accents to existing text.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Used in moderation, pictures can improve the overall appearance of your document.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711400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picture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 have a specific image in mind, you can insert a picture from a file. In our example, we'll insert a picture saved locally on our computer.</a:t>
            </a:r>
            <a:endParaRPr lang="en-US" sz="2400" dirty="0"/>
          </a:p>
          <a:p>
            <a:pPr algn="just"/>
            <a:r>
              <a:rPr lang="en-US" dirty="0"/>
              <a:t>Place the </a:t>
            </a:r>
            <a:r>
              <a:rPr lang="en-US" b="1" dirty="0"/>
              <a:t>insertion point </a:t>
            </a:r>
            <a:r>
              <a:rPr lang="en-US" dirty="0"/>
              <a:t>where you want the image to appear.</a:t>
            </a:r>
          </a:p>
          <a:p>
            <a:pPr algn="just"/>
            <a:r>
              <a:rPr lang="en-US" dirty="0"/>
              <a:t>Select the </a:t>
            </a:r>
            <a:r>
              <a:rPr lang="en-US" b="1" dirty="0"/>
              <a:t>Insert tab </a:t>
            </a:r>
            <a:r>
              <a:rPr lang="en-US" dirty="0"/>
              <a:t>on the </a:t>
            </a:r>
            <a:r>
              <a:rPr lang="en-US" b="1" dirty="0"/>
              <a:t>Ribbon</a:t>
            </a:r>
            <a:r>
              <a:rPr lang="en-US" dirty="0"/>
              <a:t>, then click the </a:t>
            </a:r>
            <a:r>
              <a:rPr lang="en-US" b="1" dirty="0"/>
              <a:t>Pictures command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F33C8-3E7A-4A3E-B610-5A7D1C141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50" y="4193704"/>
            <a:ext cx="729615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14755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picture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Insert Picture dialog box </a:t>
            </a:r>
            <a:r>
              <a:rPr lang="en-US" dirty="0"/>
              <a:t>will appear. Navigate to the folder where your image is located, then </a:t>
            </a:r>
            <a:r>
              <a:rPr lang="en-US" b="1" dirty="0"/>
              <a:t>select</a:t>
            </a:r>
            <a:r>
              <a:rPr lang="en-US" dirty="0"/>
              <a:t> the image and click </a:t>
            </a:r>
            <a:r>
              <a:rPr lang="en-US" b="1" dirty="0"/>
              <a:t>Insert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FD63E-3F6E-400C-820B-B79426C642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787" b="40196"/>
          <a:stretch/>
        </p:blipFill>
        <p:spPr>
          <a:xfrm>
            <a:off x="1331640" y="2132856"/>
            <a:ext cx="6984776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52262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picture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image will appear in the document.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7B584-DE8D-43BB-87C0-08E93670B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695" y="1268760"/>
            <a:ext cx="9144000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27986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Resize an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resize an image, click and drag one of the </a:t>
            </a:r>
            <a:r>
              <a:rPr lang="en-US" b="1" dirty="0"/>
              <a:t>corner sizing handles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image will change size while keeping the same proportions. </a:t>
            </a:r>
          </a:p>
          <a:p>
            <a:pPr algn="just"/>
            <a:r>
              <a:rPr lang="en-US" dirty="0"/>
              <a:t>If you want to stretch it </a:t>
            </a:r>
            <a:r>
              <a:rPr lang="en-US" b="1" dirty="0"/>
              <a:t>horizontally</a:t>
            </a:r>
            <a:r>
              <a:rPr lang="en-US" dirty="0"/>
              <a:t> or </a:t>
            </a:r>
            <a:r>
              <a:rPr lang="en-US" b="1" dirty="0"/>
              <a:t>vertically</a:t>
            </a:r>
            <a:r>
              <a:rPr lang="en-US" dirty="0"/>
              <a:t>, you can use the </a:t>
            </a:r>
            <a:r>
              <a:rPr lang="en-US" b="1" dirty="0"/>
              <a:t>side sizing handles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6CF65-D079-48A2-90ED-17E92FC1D6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63" t="28991" r="25587" b="10780"/>
          <a:stretch/>
        </p:blipFill>
        <p:spPr>
          <a:xfrm>
            <a:off x="3491880" y="3740021"/>
            <a:ext cx="489654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49884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Changing text wrapping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 you insert a picture from a file, you may notice that it's </a:t>
            </a:r>
            <a:r>
              <a:rPr lang="en-US" b="1" dirty="0"/>
              <a:t>difficult to move it exactly where you want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is because the </a:t>
            </a:r>
            <a:r>
              <a:rPr lang="en-US" b="1" dirty="0"/>
              <a:t>text wrapping </a:t>
            </a:r>
            <a:r>
              <a:rPr lang="en-US" dirty="0"/>
              <a:t>for the image is </a:t>
            </a:r>
            <a:r>
              <a:rPr lang="en-US" b="1" dirty="0"/>
              <a:t>set to In Line with Text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You'll need to change the </a:t>
            </a:r>
            <a:r>
              <a:rPr lang="en-US" b="1" dirty="0"/>
              <a:t>text wrapping setting </a:t>
            </a:r>
            <a:r>
              <a:rPr lang="en-US" dirty="0"/>
              <a:t>if you want to move the </a:t>
            </a:r>
            <a:r>
              <a:rPr lang="en-US" b="1" dirty="0"/>
              <a:t>image freely</a:t>
            </a:r>
            <a:r>
              <a:rPr lang="en-US" dirty="0"/>
              <a:t>, or if you just want the text to wrap around the image in a more natural way.</a:t>
            </a:r>
          </a:p>
        </p:txBody>
      </p:sp>
    </p:spTree>
    <p:extLst>
      <p:ext uri="{BB962C8B-B14F-4D97-AF65-F5344CB8AC3E}">
        <p14:creationId xmlns:p14="http://schemas.microsoft.com/office/powerpoint/2010/main" val="1207901271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wrap text around an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Select</a:t>
            </a:r>
            <a:r>
              <a:rPr lang="en-US" dirty="0"/>
              <a:t> the </a:t>
            </a:r>
            <a:r>
              <a:rPr lang="en-US" b="1" dirty="0"/>
              <a:t>image</a:t>
            </a:r>
            <a:r>
              <a:rPr lang="en-US" dirty="0"/>
              <a:t> you want to </a:t>
            </a:r>
            <a:r>
              <a:rPr lang="en-US" b="1" dirty="0"/>
              <a:t>wrap text </a:t>
            </a:r>
            <a:r>
              <a:rPr lang="en-US" dirty="0"/>
              <a:t>around. The </a:t>
            </a:r>
            <a:r>
              <a:rPr lang="en-US" b="1" dirty="0"/>
              <a:t>Format tab </a:t>
            </a:r>
            <a:r>
              <a:rPr lang="en-US" dirty="0"/>
              <a:t>will appear on the right side of the Ribbon.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3134F-6582-454B-88B7-AAEC53F50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6831"/>
            <a:ext cx="9144000" cy="494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74070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wrap text around an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On the </a:t>
            </a:r>
            <a:r>
              <a:rPr lang="en-US" b="1" dirty="0"/>
              <a:t>Format tab</a:t>
            </a:r>
            <a:r>
              <a:rPr lang="en-US" dirty="0"/>
              <a:t>, click the </a:t>
            </a:r>
            <a:r>
              <a:rPr lang="en-US" b="1" dirty="0"/>
              <a:t>Wrap Text command </a:t>
            </a:r>
            <a:r>
              <a:rPr lang="en-US" dirty="0"/>
              <a:t>in the </a:t>
            </a:r>
            <a:r>
              <a:rPr lang="en-US" b="1" dirty="0"/>
              <a:t>Arrange group</a:t>
            </a:r>
            <a:r>
              <a:rPr lang="en-US" dirty="0"/>
              <a:t>, then select the desired text wrapping option.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our example, we'll select In </a:t>
            </a:r>
            <a:r>
              <a:rPr lang="en-US" b="1" dirty="0"/>
              <a:t>Front of Text </a:t>
            </a:r>
            <a:r>
              <a:rPr lang="en-US" dirty="0"/>
              <a:t>so we can freely move it </a:t>
            </a:r>
            <a:r>
              <a:rPr lang="en-US" b="1" dirty="0"/>
              <a:t>without affecting the text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also select More Layout Options to fine tune the layout.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597240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wrap text around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r>
              <a:rPr lang="en-US" dirty="0"/>
              <a:t>The text will wrap around the image. You can now </a:t>
            </a:r>
            <a:r>
              <a:rPr lang="en-US" b="1" dirty="0"/>
              <a:t>move</a:t>
            </a:r>
            <a:r>
              <a:rPr lang="en-US" dirty="0"/>
              <a:t> the image if you want. Just </a:t>
            </a:r>
            <a:r>
              <a:rPr lang="en-US" b="1" dirty="0"/>
              <a:t>click and drag </a:t>
            </a:r>
            <a:r>
              <a:rPr lang="en-US" dirty="0"/>
              <a:t>it to the desired </a:t>
            </a:r>
            <a:r>
              <a:rPr lang="en-US" b="1" dirty="0"/>
              <a:t>location</a:t>
            </a:r>
            <a:r>
              <a:rPr lang="en-US" dirty="0"/>
              <a:t>. As you move it, </a:t>
            </a:r>
            <a:r>
              <a:rPr lang="en-US" b="1" dirty="0"/>
              <a:t>alignment guides</a:t>
            </a:r>
            <a:r>
              <a:rPr lang="en-US" dirty="0"/>
              <a:t> will appear to help you align the image on the page.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F03A9-A5A6-4E02-A807-9645F8B2E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6951"/>
            <a:ext cx="9144000" cy="38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64509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wrap text around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You can also access text wrapping options by selecting the image and clicking the </a:t>
            </a:r>
            <a:r>
              <a:rPr lang="en-US" b="1" dirty="0"/>
              <a:t>Layout Options button</a:t>
            </a:r>
            <a:r>
              <a:rPr lang="en-US" dirty="0"/>
              <a:t> that appears at the </a:t>
            </a:r>
            <a:r>
              <a:rPr lang="en-US" b="1" dirty="0"/>
              <a:t>upper right corner </a:t>
            </a:r>
            <a:r>
              <a:rPr lang="en-US" dirty="0"/>
              <a:t>of the selected image.</a:t>
            </a:r>
          </a:p>
          <a:p>
            <a:pPr algn="just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1E3F7C-55DA-4C34-BA09-BC3B94DD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904"/>
            <a:ext cx="9144000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43731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Using a predefined text wrapping setting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Predefined text wrapping allows you to quickly move the image to a specific location on the page.</a:t>
            </a:r>
          </a:p>
          <a:p>
            <a:pPr algn="just"/>
            <a:r>
              <a:rPr lang="en-US" dirty="0"/>
              <a:t>The text will automatically wrap around the object so it's still easy to read.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A9B5F-7A43-4B1D-BD35-435548CD7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6912"/>
            <a:ext cx="9144000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39343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Inserting online pictures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If you don't have the picture you want on your computer, you can find a picture </a:t>
            </a:r>
            <a:r>
              <a:rPr lang="en-US" b="1" dirty="0"/>
              <a:t>online</a:t>
            </a:r>
            <a:r>
              <a:rPr lang="en-US" dirty="0"/>
              <a:t> to add to your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Word offers </a:t>
            </a:r>
            <a:r>
              <a:rPr lang="en-US" b="1" dirty="0"/>
              <a:t>two(2)</a:t>
            </a:r>
            <a:r>
              <a:rPr lang="en-US" dirty="0"/>
              <a:t> options for finding online pictures:</a:t>
            </a:r>
          </a:p>
          <a:p>
            <a:pPr algn="just"/>
            <a:endParaRPr lang="en-US" dirty="0"/>
          </a:p>
          <a:p>
            <a:pPr lvl="1" algn="just"/>
            <a:r>
              <a:rPr lang="en-US" b="1" dirty="0"/>
              <a:t>Bing Image Search</a:t>
            </a:r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OneDrive</a:t>
            </a:r>
          </a:p>
        </p:txBody>
      </p:sp>
    </p:spTree>
    <p:extLst>
      <p:ext uri="{BB962C8B-B14F-4D97-AF65-F5344CB8AC3E}">
        <p14:creationId xmlns:p14="http://schemas.microsoft.com/office/powerpoint/2010/main" val="3969517528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Inserting online pictures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b="1" dirty="0"/>
              <a:t>Bing Image Search</a:t>
            </a:r>
            <a:r>
              <a:rPr lang="en-US" dirty="0"/>
              <a:t>: You can use this option to search the Internet for images. By default, Bing only shows images that are licensed under </a:t>
            </a:r>
            <a:r>
              <a:rPr lang="en-US" b="1" dirty="0"/>
              <a:t>Creative Commons</a:t>
            </a:r>
            <a:r>
              <a:rPr lang="en-US" dirty="0"/>
              <a:t>, which means you can use them for your own projects.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However, you should click the link to the image's website to see if there are any restrictions on how it can be used.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5715145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Inserting online pictures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b="1" dirty="0"/>
              <a:t>Bing Image Search</a:t>
            </a:r>
            <a:r>
              <a:rPr lang="en-US" dirty="0"/>
              <a:t>: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5E972-3456-4E17-9CDC-E61BAE3F11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13" t="10580" r="12201" b="21978"/>
          <a:stretch/>
        </p:blipFill>
        <p:spPr>
          <a:xfrm>
            <a:off x="179512" y="1340768"/>
            <a:ext cx="8568952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9132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Inserting online pictures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b="1" dirty="0"/>
              <a:t>OneDrive: </a:t>
            </a:r>
            <a:r>
              <a:rPr lang="en-US" dirty="0"/>
              <a:t>You can insert an image stored on your OneDrive. </a:t>
            </a:r>
          </a:p>
          <a:p>
            <a:pPr algn="just"/>
            <a:r>
              <a:rPr lang="en-US" dirty="0"/>
              <a:t>You can also link other online accounts with your Microsoft account, including Facebook and Flickr.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0D861-4703-4B18-AABD-DC3538CBA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399" y="2780928"/>
            <a:ext cx="6829425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37552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an online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Place the </a:t>
            </a:r>
            <a:r>
              <a:rPr lang="en-US" b="1" dirty="0"/>
              <a:t>insertion point </a:t>
            </a:r>
            <a:r>
              <a:rPr lang="en-US" dirty="0"/>
              <a:t>where you want the image to appear.</a:t>
            </a:r>
          </a:p>
          <a:p>
            <a:pPr algn="just"/>
            <a:r>
              <a:rPr lang="en-US" dirty="0"/>
              <a:t>Select the </a:t>
            </a:r>
            <a:r>
              <a:rPr lang="en-US" b="1" dirty="0"/>
              <a:t>Insert tab</a:t>
            </a:r>
            <a:r>
              <a:rPr lang="en-US" dirty="0"/>
              <a:t>, then click the </a:t>
            </a:r>
            <a:r>
              <a:rPr lang="en-US" b="1" dirty="0"/>
              <a:t>Online Pictures </a:t>
            </a:r>
            <a:r>
              <a:rPr lang="en-US" dirty="0"/>
              <a:t>command.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9B871-1FC9-4453-A41A-143E8FEE4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852936"/>
            <a:ext cx="864096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61466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an online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 Insert Pictures dialog box will appear.</a:t>
            </a:r>
          </a:p>
          <a:p>
            <a:pPr algn="just"/>
            <a:r>
              <a:rPr lang="en-US" dirty="0"/>
              <a:t>Choose </a:t>
            </a:r>
            <a:r>
              <a:rPr lang="en-US" b="1" dirty="0"/>
              <a:t>Bing Image Search </a:t>
            </a:r>
            <a:r>
              <a:rPr lang="en-US" dirty="0"/>
              <a:t>or your </a:t>
            </a:r>
            <a:r>
              <a:rPr lang="en-US" b="1" dirty="0"/>
              <a:t>OneDrive</a:t>
            </a:r>
            <a:r>
              <a:rPr lang="en-US" dirty="0"/>
              <a:t>. In our example, we'll use Bing Image Search.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55DA2-488D-4FE7-A036-9FEFC64BF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2276872"/>
            <a:ext cx="756084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87487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an online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Press the </a:t>
            </a:r>
            <a:r>
              <a:rPr lang="en-US" b="1" dirty="0"/>
              <a:t>Enter key</a:t>
            </a:r>
            <a:r>
              <a:rPr lang="en-US" dirty="0"/>
              <a:t>. Your search results will appear in the box.</a:t>
            </a:r>
          </a:p>
          <a:p>
            <a:pPr algn="just"/>
            <a:r>
              <a:rPr lang="en-US" dirty="0"/>
              <a:t>Select the desired image, then click </a:t>
            </a:r>
            <a:r>
              <a:rPr lang="en-US" b="1" dirty="0"/>
              <a:t>Insert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77963-446B-4853-9060-B1DF883EB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42" y="2276872"/>
            <a:ext cx="7595939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10361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an online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 image will appear in the document.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C5C4A-3CCA-46C6-A596-CF881F46B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670"/>
            <a:ext cx="9144000" cy="555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33447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Word - Formatting Pictures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There are many ways to format pictures in Word.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instance, you can change the size or shape of an image to better suit your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also enhance its appearance using Word's image adjustment tools.</a:t>
            </a:r>
          </a:p>
        </p:txBody>
      </p:sp>
    </p:spTree>
    <p:extLst>
      <p:ext uri="{BB962C8B-B14F-4D97-AF65-F5344CB8AC3E}">
        <p14:creationId xmlns:p14="http://schemas.microsoft.com/office/powerpoint/2010/main" val="3908871578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crop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There are many ways to format pictures in Word.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instance, you can change the size or shape of an image to better suit your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also enhance its appearance using Word's image adjustment tools.</a:t>
            </a:r>
          </a:p>
        </p:txBody>
      </p:sp>
    </p:spTree>
    <p:extLst>
      <p:ext uri="{BB962C8B-B14F-4D97-AF65-F5344CB8AC3E}">
        <p14:creationId xmlns:p14="http://schemas.microsoft.com/office/powerpoint/2010/main" val="3447371091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crop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1"/>
            <a:ext cx="9144000" cy="6414047"/>
          </a:xfrm>
        </p:spPr>
        <p:txBody>
          <a:bodyPr/>
          <a:lstStyle/>
          <a:p>
            <a:pPr algn="just"/>
            <a:r>
              <a:rPr lang="en-US" dirty="0"/>
              <a:t>When you crop an image, part of the picture is removed. </a:t>
            </a:r>
          </a:p>
          <a:p>
            <a:pPr algn="just"/>
            <a:r>
              <a:rPr lang="en-US" dirty="0"/>
              <a:t>Cropping can be useful if you're working with an image that's too big and you want to focus on only part of it.</a:t>
            </a:r>
          </a:p>
          <a:p>
            <a:pPr algn="just"/>
            <a:r>
              <a:rPr lang="en-US" b="1" dirty="0"/>
              <a:t>Select</a:t>
            </a:r>
            <a:r>
              <a:rPr lang="en-US" dirty="0"/>
              <a:t> the image you want to crop. The </a:t>
            </a:r>
            <a:r>
              <a:rPr lang="en-US" b="1" dirty="0"/>
              <a:t>Format tab </a:t>
            </a:r>
            <a:r>
              <a:rPr lang="en-US" dirty="0"/>
              <a:t>will appear.</a:t>
            </a:r>
          </a:p>
          <a:p>
            <a:pPr algn="just"/>
            <a:r>
              <a:rPr lang="en-US" dirty="0"/>
              <a:t>From the </a:t>
            </a:r>
            <a:r>
              <a:rPr lang="en-US" b="1" dirty="0"/>
              <a:t>Format tab</a:t>
            </a:r>
            <a:r>
              <a:rPr lang="en-US" dirty="0"/>
              <a:t>, click the </a:t>
            </a:r>
            <a:r>
              <a:rPr lang="en-US" b="1" dirty="0"/>
              <a:t>Crop command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114D5-074B-4B78-958E-B8E8275D2F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67"/>
          <a:stretch/>
        </p:blipFill>
        <p:spPr>
          <a:xfrm>
            <a:off x="323528" y="4941168"/>
            <a:ext cx="8424936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94440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crop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1"/>
            <a:ext cx="9144000" cy="6414047"/>
          </a:xfrm>
        </p:spPr>
        <p:txBody>
          <a:bodyPr/>
          <a:lstStyle/>
          <a:p>
            <a:pPr algn="just"/>
            <a:r>
              <a:rPr lang="en-US" b="1" dirty="0"/>
              <a:t>Cropping handles </a:t>
            </a:r>
            <a:r>
              <a:rPr lang="en-US" dirty="0"/>
              <a:t>will appear on the sides and corners of the image. </a:t>
            </a:r>
          </a:p>
          <a:p>
            <a:pPr algn="just"/>
            <a:r>
              <a:rPr lang="en-US" b="1" dirty="0"/>
              <a:t>Click</a:t>
            </a:r>
            <a:r>
              <a:rPr lang="en-US" dirty="0"/>
              <a:t> and drag </a:t>
            </a:r>
            <a:r>
              <a:rPr lang="en-US" b="1" dirty="0"/>
              <a:t>any handle </a:t>
            </a:r>
            <a:r>
              <a:rPr lang="en-US" dirty="0"/>
              <a:t>to crop the image. Because the cropping handles are near the resizing handles, be careful not to drag a resizing handle by mistake..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8152F3-7A84-4212-83E2-303681BF7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" y="3573016"/>
            <a:ext cx="9144000" cy="326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49988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crop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1"/>
            <a:ext cx="9144000" cy="6414047"/>
          </a:xfrm>
        </p:spPr>
        <p:txBody>
          <a:bodyPr/>
          <a:lstStyle/>
          <a:p>
            <a:pPr algn="just"/>
            <a:r>
              <a:rPr lang="en-US" dirty="0"/>
              <a:t>To confirm, click the </a:t>
            </a:r>
            <a:r>
              <a:rPr lang="en-US" b="1" dirty="0"/>
              <a:t>Crop </a:t>
            </a:r>
            <a:r>
              <a:rPr lang="en-US" dirty="0"/>
              <a:t>command again. The image will be cropped.</a:t>
            </a:r>
          </a:p>
          <a:p>
            <a:pPr algn="just"/>
            <a:r>
              <a:rPr lang="en-US" dirty="0"/>
              <a:t>The corner handles are useful for simultaneously cropping the image </a:t>
            </a:r>
            <a:r>
              <a:rPr lang="en-US" b="1" dirty="0"/>
              <a:t>horizontally</a:t>
            </a:r>
            <a:r>
              <a:rPr lang="en-US" dirty="0"/>
              <a:t> and </a:t>
            </a:r>
            <a:r>
              <a:rPr lang="en-US" b="1" dirty="0"/>
              <a:t>vertically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74009-55BF-4A7C-B8A9-A95A965E6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2708920"/>
            <a:ext cx="9144000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2347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crop an image to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1"/>
            <a:ext cx="9144000" cy="6414047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Select the image you want to crop, then click the </a:t>
            </a:r>
            <a:r>
              <a:rPr lang="en-US" sz="2800" b="1" dirty="0"/>
              <a:t>Format tab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Click the </a:t>
            </a:r>
            <a:r>
              <a:rPr lang="en-US" sz="2800" b="1" dirty="0"/>
              <a:t>Crop drop-down arrow</a:t>
            </a:r>
            <a:r>
              <a:rPr lang="en-US" sz="2800" dirty="0"/>
              <a:t>. Hover over </a:t>
            </a:r>
            <a:r>
              <a:rPr lang="en-US" sz="2800" b="1" dirty="0"/>
              <a:t>Crop to Shap</a:t>
            </a:r>
            <a:r>
              <a:rPr lang="en-US" sz="2800" dirty="0"/>
              <a:t>e, then select the desired </a:t>
            </a:r>
            <a:r>
              <a:rPr lang="en-US" sz="2800" b="1" dirty="0"/>
              <a:t>shape</a:t>
            </a:r>
            <a:r>
              <a:rPr lang="en-US" sz="2800" dirty="0"/>
              <a:t> from the drop-down menu.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3F3606-AAB1-4623-A025-957863CD1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6912"/>
            <a:ext cx="9144000" cy="42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38753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crop an image to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1"/>
            <a:ext cx="9144000" cy="6414047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image will be cropped to the chosen shape.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EE76F-4D43-498C-AE77-D08C0B8D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4745"/>
            <a:ext cx="9144000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3250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add a border to a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Select </a:t>
            </a:r>
            <a:r>
              <a:rPr lang="en-US" sz="2400" dirty="0"/>
              <a:t>the picture you want to add a border to, then click the </a:t>
            </a:r>
            <a:r>
              <a:rPr lang="en-US" sz="2400" b="1" dirty="0"/>
              <a:t>Format tab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Click the </a:t>
            </a:r>
            <a:r>
              <a:rPr lang="en-US" sz="2400" b="1" dirty="0"/>
              <a:t>Picture Border </a:t>
            </a:r>
            <a:r>
              <a:rPr lang="en-US" sz="2400" dirty="0"/>
              <a:t>command. A drop-down menu will appear.</a:t>
            </a:r>
          </a:p>
          <a:p>
            <a:pPr algn="just"/>
            <a:r>
              <a:rPr lang="en-US" sz="2400" dirty="0"/>
              <a:t>From here, you can select a </a:t>
            </a:r>
            <a:r>
              <a:rPr lang="en-US" sz="2400" b="1" dirty="0"/>
              <a:t>color</a:t>
            </a:r>
            <a:r>
              <a:rPr lang="en-US" sz="2400" dirty="0"/>
              <a:t>, </a:t>
            </a:r>
            <a:r>
              <a:rPr lang="en-US" sz="2400" b="1" dirty="0"/>
              <a:t>weight</a:t>
            </a:r>
            <a:r>
              <a:rPr lang="en-US" sz="2400" dirty="0"/>
              <a:t> (thickness), and whether the line is </a:t>
            </a:r>
            <a:r>
              <a:rPr lang="en-US" sz="2400" b="1" dirty="0"/>
              <a:t>dashed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The border will appear around the image.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0CE12-67C7-4F3D-9243-7E289C6ED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4943"/>
            <a:ext cx="9144000" cy="396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38991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Making image adjustments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With Word's image adjustment tools, you can easily change properties like </a:t>
            </a:r>
            <a:r>
              <a:rPr lang="en-US" sz="2800" b="1" dirty="0"/>
              <a:t>color</a:t>
            </a:r>
            <a:r>
              <a:rPr lang="en-US" sz="2800" dirty="0"/>
              <a:t>, </a:t>
            </a:r>
            <a:r>
              <a:rPr lang="en-US" sz="2800" b="1" dirty="0"/>
              <a:t>contrast</a:t>
            </a:r>
            <a:r>
              <a:rPr lang="en-US" sz="2800" dirty="0"/>
              <a:t>, </a:t>
            </a:r>
            <a:r>
              <a:rPr lang="en-US" sz="2800" b="1" dirty="0"/>
              <a:t>saturation</a:t>
            </a:r>
            <a:r>
              <a:rPr lang="en-US" sz="2800" dirty="0"/>
              <a:t>, and tone.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Word also offers </a:t>
            </a:r>
            <a:r>
              <a:rPr lang="en-US" sz="2800" b="1" dirty="0"/>
              <a:t>built-in picture styles</a:t>
            </a:r>
            <a:r>
              <a:rPr lang="en-US" sz="2800" dirty="0"/>
              <a:t>, which can be used to add a frame, drop shadow, and other predefined effects.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When you're ready to adjust an image, simply select it. Then use the options below, which can be found on the </a:t>
            </a:r>
            <a:r>
              <a:rPr lang="en-US" sz="2800" b="1" dirty="0"/>
              <a:t>Format tab</a:t>
            </a:r>
            <a:r>
              <a:rPr lang="en-US" sz="2800" dirty="0"/>
              <a:t>.</a:t>
            </a:r>
          </a:p>
          <a:p>
            <a:pPr algn="just"/>
            <a:endParaRPr lang="en-US" sz="2400" b="1" dirty="0"/>
          </a:p>
          <a:p>
            <a:pPr algn="just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DAD97-C25A-4D8C-AADD-E214F1FF5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40" y="4581128"/>
            <a:ext cx="8496944" cy="21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40491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Corrections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From here, you can </a:t>
            </a:r>
            <a:r>
              <a:rPr lang="en-US" sz="2800" b="1" dirty="0"/>
              <a:t>sharpen</a:t>
            </a:r>
            <a:r>
              <a:rPr lang="en-US" sz="2800" dirty="0"/>
              <a:t> or </a:t>
            </a:r>
            <a:r>
              <a:rPr lang="en-US" sz="2800" b="1" dirty="0"/>
              <a:t>soften</a:t>
            </a:r>
            <a:r>
              <a:rPr lang="en-US" sz="2800" dirty="0"/>
              <a:t> the image to adjust how </a:t>
            </a:r>
            <a:r>
              <a:rPr lang="en-US" sz="2800" b="1" dirty="0"/>
              <a:t>clear or blurry </a:t>
            </a:r>
            <a:r>
              <a:rPr lang="en-US" sz="2800" dirty="0"/>
              <a:t>it appears. </a:t>
            </a:r>
          </a:p>
          <a:p>
            <a:pPr algn="just"/>
            <a:r>
              <a:rPr lang="en-US" sz="2800" dirty="0"/>
              <a:t>You can also adjust </a:t>
            </a:r>
            <a:r>
              <a:rPr lang="en-US" sz="2800" b="1" dirty="0"/>
              <a:t>brightness</a:t>
            </a:r>
            <a:r>
              <a:rPr lang="en-US" sz="2800" dirty="0"/>
              <a:t> and </a:t>
            </a:r>
            <a:r>
              <a:rPr lang="en-US" sz="2800" b="1" dirty="0"/>
              <a:t>contrast</a:t>
            </a:r>
            <a:r>
              <a:rPr lang="en-US" sz="2800" dirty="0"/>
              <a:t>, which affect the image's lightness and general intensity.</a:t>
            </a:r>
            <a:endParaRPr lang="en-US" sz="2400" b="1" dirty="0"/>
          </a:p>
          <a:p>
            <a:pPr algn="just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4A7DB-13F9-4712-8328-440A098D2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2204863"/>
            <a:ext cx="9144000" cy="468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98070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Using this command, you can adjust the image's </a:t>
            </a:r>
            <a:r>
              <a:rPr lang="en-US" sz="2800" b="1" dirty="0"/>
              <a:t>saturation</a:t>
            </a:r>
            <a:r>
              <a:rPr lang="en-US" sz="2800" dirty="0"/>
              <a:t> (how vibrant the colors appear), </a:t>
            </a:r>
            <a:r>
              <a:rPr lang="en-US" sz="2800" b="1" dirty="0"/>
              <a:t>tone</a:t>
            </a:r>
            <a:r>
              <a:rPr lang="en-US" sz="2800" dirty="0"/>
              <a:t> (the color temperature of the image, from cool to warm), and </a:t>
            </a:r>
            <a:r>
              <a:rPr lang="en-US" sz="2800" b="1" dirty="0"/>
              <a:t>coloring</a:t>
            </a:r>
            <a:r>
              <a:rPr lang="en-US" sz="2800" dirty="0"/>
              <a:t> (the overall tint of the image).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8CD7F-A38D-467D-8D62-167327068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4864"/>
            <a:ext cx="9144000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2594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Artistic Effects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Here, you can apply </a:t>
            </a:r>
            <a:r>
              <a:rPr lang="en-US" sz="2800" b="1" dirty="0"/>
              <a:t>special effects </a:t>
            </a:r>
            <a:r>
              <a:rPr lang="en-US" sz="2800" dirty="0"/>
              <a:t>to your image, such as pastel, watercolor, or glowing edges. Because the results are so bold, you may want to use these effects sparingly (especially in professional documents).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66BEB-BC19-4A0B-A3E7-E89363E48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4863"/>
            <a:ext cx="9144000" cy="46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89484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Picture Styles group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group contains different </a:t>
            </a:r>
            <a:r>
              <a:rPr lang="en-US" sz="2800" b="1" dirty="0"/>
              <a:t>predefined styles </a:t>
            </a:r>
            <a:r>
              <a:rPr lang="en-US" sz="2800" dirty="0"/>
              <a:t>that make image formatting even easier. </a:t>
            </a:r>
          </a:p>
          <a:p>
            <a:pPr algn="just"/>
            <a:r>
              <a:rPr lang="en-US" sz="2800" dirty="0"/>
              <a:t>Picture styles are designed to </a:t>
            </a:r>
            <a:r>
              <a:rPr lang="en-US" sz="2800" b="1" dirty="0"/>
              <a:t>frame</a:t>
            </a:r>
            <a:r>
              <a:rPr lang="en-US" sz="2800" dirty="0"/>
              <a:t> your image without changing its basic settings or effects.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B6040-D946-47D3-9021-242021A00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2204863"/>
            <a:ext cx="9144000" cy="46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51503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Picture Styles group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group contains different </a:t>
            </a:r>
            <a:r>
              <a:rPr lang="en-US" sz="2800" b="1" dirty="0"/>
              <a:t>predefined styles </a:t>
            </a:r>
            <a:r>
              <a:rPr lang="en-US" sz="2800" dirty="0"/>
              <a:t>that make image formatting even easier. </a:t>
            </a:r>
          </a:p>
          <a:p>
            <a:pPr algn="just"/>
            <a:r>
              <a:rPr lang="en-US" sz="2800" dirty="0"/>
              <a:t>Picture styles are designed to </a:t>
            </a:r>
            <a:r>
              <a:rPr lang="en-US" sz="2800" b="1" dirty="0"/>
              <a:t>frame</a:t>
            </a:r>
            <a:r>
              <a:rPr lang="en-US" sz="2800" dirty="0"/>
              <a:t> your image without changing its basic settings or effects.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B6040-D946-47D3-9021-242021A00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2204863"/>
            <a:ext cx="9144000" cy="46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96797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compress a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picture you want to compress, then navigate to the </a:t>
            </a:r>
            <a:r>
              <a:rPr lang="en-US" sz="2800" b="1" dirty="0"/>
              <a:t>Format tab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Click the </a:t>
            </a:r>
            <a:r>
              <a:rPr lang="en-US" sz="2800" b="1" dirty="0"/>
              <a:t>Compress Pictures command</a:t>
            </a:r>
            <a:r>
              <a:rPr lang="en-US" sz="2800" dirty="0"/>
              <a:t>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A </a:t>
            </a:r>
            <a:r>
              <a:rPr lang="en-US" sz="2400" b="1" dirty="0"/>
              <a:t>dialog box </a:t>
            </a:r>
            <a:r>
              <a:rPr lang="en-US" sz="2400" dirty="0"/>
              <a:t>will appear. Check the box next to </a:t>
            </a:r>
            <a:r>
              <a:rPr lang="en-US" sz="2400" b="1" dirty="0"/>
              <a:t>Delete cropped areas of pictures</a:t>
            </a:r>
            <a:r>
              <a:rPr lang="en-US" sz="2400" dirty="0"/>
              <a:t>. You can also choose whether to apply the settings to this </a:t>
            </a:r>
            <a:r>
              <a:rPr lang="en-US" sz="2400" b="1" dirty="0"/>
              <a:t>picture only </a:t>
            </a:r>
            <a:r>
              <a:rPr lang="en-US" sz="2400" dirty="0"/>
              <a:t>or to all pictures in the document.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965B0-55C6-41E4-8F9E-7E540E79A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62" y="2341254"/>
            <a:ext cx="8352928" cy="187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7600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compress a picture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Choose a </a:t>
            </a:r>
            <a:r>
              <a:rPr lang="en-US" sz="2800" b="1" dirty="0"/>
              <a:t>Target output</a:t>
            </a:r>
            <a:r>
              <a:rPr lang="en-US" sz="2800" dirty="0"/>
              <a:t>. If you are emailing your document, you may want to select </a:t>
            </a:r>
            <a:r>
              <a:rPr lang="en-US" sz="2800" b="1" dirty="0"/>
              <a:t>Email</a:t>
            </a:r>
            <a:r>
              <a:rPr lang="en-US" sz="2800" dirty="0"/>
              <a:t>, which produces the smallest file size.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Click </a:t>
            </a:r>
            <a:r>
              <a:rPr lang="en-US" sz="2800" b="1" dirty="0"/>
              <a:t>OK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9D0E8-1965-4BC0-958B-070633D95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564904"/>
            <a:ext cx="525658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09975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Word -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You can add a </a:t>
            </a:r>
            <a:r>
              <a:rPr lang="en-US" sz="2800" b="1" dirty="0"/>
              <a:t>variety of shapes </a:t>
            </a:r>
            <a:r>
              <a:rPr lang="en-US" sz="2800" dirty="0"/>
              <a:t>to your document, including </a:t>
            </a:r>
            <a:r>
              <a:rPr lang="en-US" sz="2800" b="1" dirty="0"/>
              <a:t>arrows</a:t>
            </a:r>
            <a:r>
              <a:rPr lang="en-US" sz="2800" dirty="0"/>
              <a:t>, </a:t>
            </a:r>
            <a:r>
              <a:rPr lang="en-US" sz="2800" b="1" dirty="0"/>
              <a:t>callouts</a:t>
            </a:r>
            <a:r>
              <a:rPr lang="en-US" sz="2800" dirty="0"/>
              <a:t>, </a:t>
            </a:r>
            <a:r>
              <a:rPr lang="en-US" sz="2800" b="1" dirty="0"/>
              <a:t>squares</a:t>
            </a:r>
            <a:r>
              <a:rPr lang="en-US" sz="2800" dirty="0"/>
              <a:t>, </a:t>
            </a:r>
            <a:r>
              <a:rPr lang="en-US" sz="2800" b="1" dirty="0"/>
              <a:t>stars</a:t>
            </a:r>
            <a:r>
              <a:rPr lang="en-US" sz="2800" dirty="0"/>
              <a:t>, and </a:t>
            </a:r>
            <a:r>
              <a:rPr lang="en-US" sz="2800" b="1" dirty="0"/>
              <a:t>flowchart shapes</a:t>
            </a:r>
            <a:r>
              <a:rPr lang="en-US" sz="2800" dirty="0"/>
              <a:t>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Want to set your name and address apart from the rest of your resume? </a:t>
            </a:r>
            <a:r>
              <a:rPr lang="en-US" sz="2800" b="1" dirty="0"/>
              <a:t>Use a line</a:t>
            </a:r>
            <a:r>
              <a:rPr lang="en-US" sz="2800" dirty="0"/>
              <a:t>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Need to create a diagram showing a timeline or process? </a:t>
            </a:r>
            <a:r>
              <a:rPr lang="en-US" sz="2800" b="1" dirty="0"/>
              <a:t>Use flowchart shapes</a:t>
            </a:r>
            <a:r>
              <a:rPr lang="en-US" sz="2800" dirty="0"/>
              <a:t>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While you may not need shapes in every document you create, they make word document visually </a:t>
            </a:r>
            <a:r>
              <a:rPr lang="en-US" sz="2800" b="1" dirty="0"/>
              <a:t>appealing</a:t>
            </a:r>
            <a:r>
              <a:rPr lang="en-US" sz="2800" dirty="0"/>
              <a:t> and also add </a:t>
            </a:r>
            <a:r>
              <a:rPr lang="en-US" sz="2800" b="1" dirty="0"/>
              <a:t>clarity</a:t>
            </a:r>
            <a:r>
              <a:rPr lang="en-US" sz="28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5373453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Select the </a:t>
            </a:r>
            <a:r>
              <a:rPr lang="en-US" sz="2800" b="1" dirty="0"/>
              <a:t>Insert tab</a:t>
            </a:r>
            <a:r>
              <a:rPr lang="en-US" sz="2800" dirty="0"/>
              <a:t>, then click the Shapes command. A drop-down menu of shapes will appear.</a:t>
            </a:r>
          </a:p>
          <a:p>
            <a:pPr algn="just"/>
            <a:r>
              <a:rPr lang="en-US" sz="2800" dirty="0"/>
              <a:t>Select the desired </a:t>
            </a:r>
            <a:r>
              <a:rPr lang="en-US" sz="2800" b="1" dirty="0"/>
              <a:t>shape</a:t>
            </a:r>
            <a:r>
              <a:rPr lang="en-US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1D773-A117-4347-93DC-DF8343AE7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988840"/>
            <a:ext cx="5904656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08891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Click</a:t>
            </a:r>
            <a:r>
              <a:rPr lang="en-US" sz="2800" dirty="0"/>
              <a:t> and </a:t>
            </a:r>
            <a:r>
              <a:rPr lang="en-US" sz="2800" b="1" dirty="0"/>
              <a:t>drag </a:t>
            </a:r>
            <a:r>
              <a:rPr lang="en-US" sz="2800" dirty="0"/>
              <a:t>in the desired location to add the shape to your document.</a:t>
            </a:r>
          </a:p>
          <a:p>
            <a:pPr algn="just"/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A0C03-52C7-42D8-9FD5-77ED92FFD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1384352"/>
            <a:ext cx="9144000" cy="54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15330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If you want, you can </a:t>
            </a:r>
            <a:r>
              <a:rPr lang="en-US" sz="2800" b="1" dirty="0"/>
              <a:t>enter text </a:t>
            </a:r>
            <a:r>
              <a:rPr lang="en-US" sz="2800" dirty="0"/>
              <a:t>in a </a:t>
            </a:r>
            <a:r>
              <a:rPr lang="en-US" sz="2800" b="1" dirty="0"/>
              <a:t>shape</a:t>
            </a:r>
            <a:r>
              <a:rPr lang="en-US" sz="2800" dirty="0"/>
              <a:t>. When the shape appears in your document, you can begin typing.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You can then use the formatting options on the Home tab to change the </a:t>
            </a:r>
            <a:r>
              <a:rPr lang="en-US" sz="2800" b="1" dirty="0"/>
              <a:t>font</a:t>
            </a:r>
            <a:r>
              <a:rPr lang="en-US" sz="2800" dirty="0"/>
              <a:t>, </a:t>
            </a:r>
            <a:r>
              <a:rPr lang="en-US" sz="2800" b="1" dirty="0"/>
              <a:t>font size</a:t>
            </a:r>
            <a:r>
              <a:rPr lang="en-US" sz="2800" dirty="0"/>
              <a:t>, or </a:t>
            </a:r>
            <a:r>
              <a:rPr lang="en-US" sz="2800" b="1" dirty="0"/>
              <a:t>color of the text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4E438-42F1-4E36-8940-32F0DD053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8921"/>
            <a:ext cx="9144000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36409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order of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endParaRPr lang="en-US" sz="2800" dirty="0"/>
          </a:p>
          <a:p>
            <a:pPr algn="just"/>
            <a:r>
              <a:rPr lang="en-US" sz="2800" dirty="0"/>
              <a:t>If one shape overlaps another, you may need to change the </a:t>
            </a:r>
            <a:r>
              <a:rPr lang="en-US" sz="2800" b="1" dirty="0"/>
              <a:t>ordering</a:t>
            </a:r>
            <a:r>
              <a:rPr lang="en-US" sz="2800" dirty="0"/>
              <a:t> so the correct shape appears in front.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You can bring a shape to the </a:t>
            </a:r>
            <a:r>
              <a:rPr lang="en-US" sz="2800" b="1" dirty="0"/>
              <a:t>front</a:t>
            </a:r>
            <a:r>
              <a:rPr lang="en-US" sz="2800" dirty="0"/>
              <a:t> or send it to the </a:t>
            </a:r>
            <a:r>
              <a:rPr lang="en-US" sz="2800" b="1" dirty="0"/>
              <a:t>back</a:t>
            </a:r>
            <a:r>
              <a:rPr lang="en-US" sz="2800" dirty="0"/>
              <a:t>. If you have multiple images, you can use </a:t>
            </a:r>
            <a:r>
              <a:rPr lang="en-US" sz="2800" b="1" dirty="0"/>
              <a:t>Bring to Front </a:t>
            </a:r>
            <a:r>
              <a:rPr lang="en-US" sz="2800" dirty="0"/>
              <a:t>or </a:t>
            </a:r>
            <a:r>
              <a:rPr lang="en-US" sz="2800" b="1" dirty="0"/>
              <a:t>Send to Back </a:t>
            </a:r>
            <a:r>
              <a:rPr lang="en-US" sz="2800" dirty="0"/>
              <a:t>to adjust the ordering.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You can also move a shape </a:t>
            </a:r>
            <a:r>
              <a:rPr lang="en-US" sz="2800" b="1" dirty="0"/>
              <a:t>in front </a:t>
            </a:r>
            <a:r>
              <a:rPr lang="en-US" sz="2800" dirty="0"/>
              <a:t>of or </a:t>
            </a:r>
            <a:r>
              <a:rPr lang="en-US" sz="2800" b="1" dirty="0"/>
              <a:t>behind text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3909713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order of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Right-click</a:t>
            </a:r>
            <a:r>
              <a:rPr lang="en-US" sz="2800" dirty="0"/>
              <a:t> the shape you want to move. </a:t>
            </a:r>
          </a:p>
          <a:p>
            <a:pPr algn="just"/>
            <a:r>
              <a:rPr lang="en-US" sz="2800" dirty="0"/>
              <a:t>In our example, we want the </a:t>
            </a:r>
            <a:r>
              <a:rPr lang="en-US" sz="2800" b="1" dirty="0"/>
              <a:t>heart</a:t>
            </a:r>
            <a:r>
              <a:rPr lang="en-US" sz="2800" dirty="0"/>
              <a:t> to appear </a:t>
            </a:r>
            <a:r>
              <a:rPr lang="en-US" sz="2800" b="1" dirty="0"/>
              <a:t>behind</a:t>
            </a:r>
            <a:r>
              <a:rPr lang="en-US" sz="2800" dirty="0"/>
              <a:t> the </a:t>
            </a:r>
            <a:r>
              <a:rPr lang="en-US" sz="2800" b="1" dirty="0"/>
              <a:t>ribbon,</a:t>
            </a:r>
            <a:r>
              <a:rPr lang="en-US" sz="2800" dirty="0"/>
              <a:t> so we'll </a:t>
            </a:r>
            <a:r>
              <a:rPr lang="en-US" sz="2800" b="1" dirty="0"/>
              <a:t>right-click</a:t>
            </a:r>
            <a:r>
              <a:rPr lang="en-US" sz="2800" dirty="0"/>
              <a:t> the heart.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50AD4-5AAB-4AFB-B9DA-9CB7D1169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0848"/>
            <a:ext cx="9144000" cy="47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13608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order of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the menu that appears, hover over </a:t>
            </a:r>
            <a:r>
              <a:rPr lang="en-US" sz="2800" b="1" dirty="0"/>
              <a:t>Bring to Front </a:t>
            </a:r>
            <a:r>
              <a:rPr lang="en-US" sz="2800" dirty="0"/>
              <a:t>or </a:t>
            </a:r>
            <a:r>
              <a:rPr lang="en-US" sz="2800" b="1" dirty="0"/>
              <a:t>Send to Back</a:t>
            </a:r>
            <a:r>
              <a:rPr lang="en-US" sz="2800" dirty="0"/>
              <a:t>. </a:t>
            </a:r>
          </a:p>
          <a:p>
            <a:pPr algn="just"/>
            <a:r>
              <a:rPr lang="en-US" sz="2800" dirty="0"/>
              <a:t>Several ordering options will appear. Select the desired ordering option. In this example, we'll choose </a:t>
            </a:r>
            <a:r>
              <a:rPr lang="en-US" sz="2800" b="1" dirty="0"/>
              <a:t>Send to Back</a:t>
            </a:r>
            <a:r>
              <a:rPr lang="en-US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C7CB5-3C89-47DA-9497-F9AB1131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903"/>
            <a:ext cx="9144000" cy="429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54179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order of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order of the shapes will change.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8E44D-49EA-41E8-B06C-8AFD4519A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759"/>
            <a:ext cx="9144000" cy="558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82236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order of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If you have several shapes placed on top of each other, it may be difficult to select an individual shape. </a:t>
            </a:r>
          </a:p>
          <a:p>
            <a:pPr algn="just"/>
            <a:r>
              <a:rPr lang="en-US" sz="2800" dirty="0"/>
              <a:t>The </a:t>
            </a:r>
            <a:r>
              <a:rPr lang="en-US" sz="2800" b="1" dirty="0"/>
              <a:t>Selection pane </a:t>
            </a:r>
            <a:r>
              <a:rPr lang="en-US" sz="2800" dirty="0"/>
              <a:t>allows you to select a shape and drag it to a new location. </a:t>
            </a:r>
          </a:p>
          <a:p>
            <a:pPr algn="just"/>
            <a:r>
              <a:rPr lang="en-US" sz="2800" dirty="0"/>
              <a:t>To access the Selection pane, click </a:t>
            </a:r>
            <a:r>
              <a:rPr lang="en-US" sz="2800" b="1" dirty="0"/>
              <a:t>Selection Pane </a:t>
            </a:r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9ED16-EAA1-424C-BF5C-881300DF0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3140967"/>
            <a:ext cx="7953375" cy="371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77646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resize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Select </a:t>
            </a:r>
            <a:r>
              <a:rPr lang="en-US" sz="2800" dirty="0"/>
              <a:t>the shape you want to </a:t>
            </a:r>
            <a:r>
              <a:rPr lang="en-US" sz="2800" b="1" dirty="0"/>
              <a:t>resize</a:t>
            </a:r>
            <a:r>
              <a:rPr lang="en-US" sz="2800" dirty="0"/>
              <a:t>. </a:t>
            </a:r>
          </a:p>
          <a:p>
            <a:pPr algn="just"/>
            <a:r>
              <a:rPr lang="en-US" sz="2800" b="1" dirty="0"/>
              <a:t>Sizing handles </a:t>
            </a:r>
            <a:r>
              <a:rPr lang="en-US" sz="2800" dirty="0"/>
              <a:t>will appear on the corners and sides of the shape.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A1D1E-14DA-409C-B880-209997331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988839"/>
            <a:ext cx="7056784" cy="45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45935"/>
      </p:ext>
    </p:extLst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resize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Click and drag the </a:t>
            </a:r>
            <a:r>
              <a:rPr lang="en-US" sz="2800" b="1" dirty="0"/>
              <a:t>sizing handles </a:t>
            </a:r>
            <a:r>
              <a:rPr lang="en-US" sz="2800" dirty="0"/>
              <a:t>until the shape is the desired size. </a:t>
            </a:r>
          </a:p>
          <a:p>
            <a:pPr algn="just"/>
            <a:r>
              <a:rPr lang="en-US" sz="2800" dirty="0"/>
              <a:t>You can use the corner sizing handles to change the shape's </a:t>
            </a:r>
            <a:r>
              <a:rPr lang="en-US" sz="2800" b="1" dirty="0"/>
              <a:t>height </a:t>
            </a:r>
            <a:r>
              <a:rPr lang="en-US" sz="2800" dirty="0"/>
              <a:t>and </a:t>
            </a:r>
            <a:r>
              <a:rPr lang="en-US" sz="2800" b="1" dirty="0"/>
              <a:t>width</a:t>
            </a:r>
            <a:r>
              <a:rPr lang="en-US" sz="2800" dirty="0"/>
              <a:t> at the same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71F89-EA8F-4EDC-A92E-0F0235DA9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348879"/>
            <a:ext cx="7128792" cy="439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1545"/>
      </p:ext>
    </p:extLst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resize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To </a:t>
            </a:r>
            <a:r>
              <a:rPr lang="en-US" sz="2800" b="1" dirty="0"/>
              <a:t>rotate </a:t>
            </a:r>
            <a:r>
              <a:rPr lang="en-US" sz="2800" dirty="0"/>
              <a:t>the shape, </a:t>
            </a:r>
            <a:r>
              <a:rPr lang="en-US" sz="2800" b="1" dirty="0"/>
              <a:t>click and drag </a:t>
            </a:r>
            <a:r>
              <a:rPr lang="en-US" sz="2800" dirty="0"/>
              <a:t>the </a:t>
            </a:r>
            <a:r>
              <a:rPr lang="en-US" sz="2800" b="1" dirty="0"/>
              <a:t>rotation handle</a:t>
            </a:r>
            <a:r>
              <a:rPr lang="en-US" sz="2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60FDC-8A69-4375-9791-3FE92A56C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40768"/>
            <a:ext cx="6840760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019997"/>
      </p:ext>
    </p:extLst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resize a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Some shapes also have one or more </a:t>
            </a:r>
            <a:r>
              <a:rPr lang="en-US" sz="2800" b="1" dirty="0"/>
              <a:t>yellow handles</a:t>
            </a:r>
            <a:r>
              <a:rPr lang="en-US" sz="2800" dirty="0"/>
              <a:t> that can be used to modify the shape. </a:t>
            </a:r>
          </a:p>
          <a:p>
            <a:pPr algn="just"/>
            <a:r>
              <a:rPr lang="en-US" sz="2800" dirty="0"/>
              <a:t>For example, with banner shapes you can adjust the position of the folds.</a:t>
            </a:r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0F157-9B76-4A41-93E3-C01291D83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564904"/>
            <a:ext cx="691276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63242"/>
      </p:ext>
    </p:extLst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Modifying shapes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Word allows you to modify your shapes in a variety of ways so you can tailor them to your projects.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You can </a:t>
            </a:r>
            <a:r>
              <a:rPr lang="en-US" sz="2800" b="1" dirty="0"/>
              <a:t>change</a:t>
            </a:r>
            <a:r>
              <a:rPr lang="en-US" sz="2800" dirty="0"/>
              <a:t> a shape into a </a:t>
            </a:r>
            <a:r>
              <a:rPr lang="en-US" sz="2800" b="1" dirty="0"/>
              <a:t>different shape</a:t>
            </a:r>
            <a:r>
              <a:rPr lang="en-US" sz="2800" dirty="0"/>
              <a:t>, </a:t>
            </a:r>
            <a:r>
              <a:rPr lang="en-US" sz="2800" b="1" dirty="0"/>
              <a:t>format a shape's style</a:t>
            </a:r>
            <a:r>
              <a:rPr lang="en-US" sz="2800" dirty="0"/>
              <a:t> and </a:t>
            </a:r>
            <a:r>
              <a:rPr lang="en-US" sz="2800" b="1" dirty="0"/>
              <a:t>color</a:t>
            </a:r>
            <a:r>
              <a:rPr lang="en-US" sz="2800" dirty="0"/>
              <a:t>, and add various </a:t>
            </a:r>
            <a:r>
              <a:rPr lang="en-US" sz="2800" b="1" dirty="0"/>
              <a:t>effects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179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Choosing a shape style allows you to apply preset colors and effects to quickly change the appearance of your shape.</a:t>
            </a:r>
          </a:p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shape you want to change.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F15F12-BBCA-4080-A575-B7A6DC28D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420888"/>
            <a:ext cx="6984776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27972"/>
      </p:ext>
    </p:extLst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</a:t>
            </a:r>
            <a:r>
              <a:rPr lang="en-US" sz="2800" b="1" dirty="0"/>
              <a:t>click</a:t>
            </a:r>
            <a:r>
              <a:rPr lang="en-US" sz="2800" dirty="0"/>
              <a:t> the </a:t>
            </a:r>
            <a:r>
              <a:rPr lang="en-US" sz="2800" b="1" dirty="0"/>
              <a:t>More</a:t>
            </a:r>
            <a:r>
              <a:rPr lang="en-US" sz="2800" dirty="0"/>
              <a:t> drop-down arrow in the </a:t>
            </a:r>
            <a:r>
              <a:rPr lang="en-US" sz="2800" b="1" dirty="0"/>
              <a:t>Shape Styles </a:t>
            </a:r>
            <a:r>
              <a:rPr lang="en-US" sz="2800" dirty="0"/>
              <a:t>group.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A drop-down menu of styles will appear. Select the </a:t>
            </a:r>
            <a:r>
              <a:rPr lang="en-US" sz="2800" b="1" dirty="0"/>
              <a:t>style</a:t>
            </a:r>
            <a:r>
              <a:rPr lang="en-US" sz="2800" dirty="0"/>
              <a:t> you want to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30E1F-176B-4907-81FB-137EF7FE7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4"/>
            <a:ext cx="8424936" cy="1656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F5BD5D-975D-4BC3-8B3E-3C1D7D8A2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933056"/>
            <a:ext cx="3933825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3836"/>
      </p:ext>
    </p:extLst>
  </p:cSld>
  <p:clrMapOvr>
    <a:masterClrMapping/>
  </p:clrMapOvr>
  <p:transition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shape will appear in the selected style.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1AF5D-6E18-4FFB-A4ED-4E88F7286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16" y="1268760"/>
            <a:ext cx="7128792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10019"/>
      </p:ext>
    </p:extLst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fill color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Select the shape you want to change.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5D6B3-0C04-4E8E-BF82-FDF0E04A7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12776"/>
            <a:ext cx="7056784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04173"/>
      </p:ext>
    </p:extLst>
  </p:cSld>
  <p:clrMapOvr>
    <a:masterClrMapping/>
  </p:clrMapOvr>
  <p:transition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fill color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click the </a:t>
            </a:r>
            <a:r>
              <a:rPr lang="en-US" sz="2800" b="1" dirty="0"/>
              <a:t>Shape Fill </a:t>
            </a:r>
            <a:r>
              <a:rPr lang="en-US" sz="2800" dirty="0"/>
              <a:t>drop-down arrow.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</a:t>
            </a:r>
            <a:r>
              <a:rPr lang="en-US" sz="2800" b="1" dirty="0"/>
              <a:t>color</a:t>
            </a:r>
            <a:r>
              <a:rPr lang="en-US" sz="2800" dirty="0"/>
              <a:t> you want to use.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To view additional color options, select </a:t>
            </a:r>
            <a:r>
              <a:rPr lang="en-US" sz="2800" b="1" dirty="0"/>
              <a:t>More Fill Colors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815EE-88FF-4C4A-8628-74A960971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969570"/>
            <a:ext cx="6048671" cy="38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02712"/>
      </p:ext>
    </p:extLst>
  </p:cSld>
  <p:clrMapOvr>
    <a:masterClrMapping/>
  </p:clrMapOvr>
  <p:transition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fill color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shape will appear in the selected fill color.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If you want to use a different type of fill, select </a:t>
            </a:r>
            <a:r>
              <a:rPr lang="en-US" sz="2800" b="1" dirty="0"/>
              <a:t>Gradient</a:t>
            </a:r>
            <a:r>
              <a:rPr lang="en-US" sz="2800" dirty="0"/>
              <a:t> or </a:t>
            </a:r>
            <a:r>
              <a:rPr lang="en-US" sz="2800" b="1" dirty="0"/>
              <a:t>Texture</a:t>
            </a:r>
            <a:r>
              <a:rPr lang="en-US" sz="2800" dirty="0"/>
              <a:t> from the drop-down menu. </a:t>
            </a:r>
          </a:p>
          <a:p>
            <a:pPr algn="just"/>
            <a:r>
              <a:rPr lang="en-US" sz="2800" dirty="0"/>
              <a:t>You can also </a:t>
            </a:r>
            <a:r>
              <a:rPr lang="en-US" sz="2800" b="1" dirty="0"/>
              <a:t>select No Fill </a:t>
            </a:r>
            <a:r>
              <a:rPr lang="en-US" sz="2800" dirty="0"/>
              <a:t>to make it transparent.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27B24-37BA-4CF6-8CA4-52E557BB2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052736"/>
            <a:ext cx="799288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47945"/>
      </p:ext>
    </p:ext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outline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</a:t>
            </a:r>
            <a:r>
              <a:rPr lang="en-US" sz="2800" b="1" dirty="0"/>
              <a:t>shape</a:t>
            </a:r>
            <a:r>
              <a:rPr lang="en-US" sz="2800" dirty="0"/>
              <a:t> you want to change.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1489C-220C-4094-B792-31CB3CA0B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556792"/>
            <a:ext cx="6768752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75060"/>
      </p:ext>
    </p:extLst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outline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click the </a:t>
            </a:r>
            <a:r>
              <a:rPr lang="en-US" sz="2800" b="1" dirty="0"/>
              <a:t>Shape Outline </a:t>
            </a:r>
            <a:r>
              <a:rPr lang="en-US" sz="2800" dirty="0"/>
              <a:t>drop-down arrow. The </a:t>
            </a:r>
            <a:r>
              <a:rPr lang="en-US" sz="2800" b="1" dirty="0"/>
              <a:t>Shape Outline menu </a:t>
            </a:r>
            <a:r>
              <a:rPr lang="en-US" sz="2800" dirty="0"/>
              <a:t>will appear.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Select the </a:t>
            </a:r>
            <a:r>
              <a:rPr lang="en-US" sz="2800" b="1" dirty="0"/>
              <a:t>color</a:t>
            </a:r>
            <a:r>
              <a:rPr lang="en-US" sz="2800" dirty="0"/>
              <a:t> you want to use. If you want to make the outline transparent, </a:t>
            </a:r>
            <a:r>
              <a:rPr lang="en-US" sz="2800" b="1" dirty="0"/>
              <a:t>select No Outline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ED0A6-495A-47F7-94DB-17DEB7BDA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7" y="2708920"/>
            <a:ext cx="6120680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53268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outline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shape</a:t>
            </a:r>
            <a:r>
              <a:rPr lang="en-US" sz="2800" dirty="0"/>
              <a:t> will appear in the </a:t>
            </a:r>
            <a:r>
              <a:rPr lang="en-US" sz="2800" b="1" dirty="0"/>
              <a:t>selected outline color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22FDD-12A0-4199-8A45-8D584A91F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2" y="1523456"/>
            <a:ext cx="6984776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94779"/>
      </p:ext>
    </p:ext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outline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From the </a:t>
            </a:r>
            <a:r>
              <a:rPr lang="en-US" sz="2800" b="1" dirty="0"/>
              <a:t>drop-down menu</a:t>
            </a:r>
            <a:r>
              <a:rPr lang="en-US" sz="2800" dirty="0"/>
              <a:t>, you can change the outline </a:t>
            </a:r>
            <a:r>
              <a:rPr lang="en-US" sz="2800" b="1" dirty="0"/>
              <a:t>color</a:t>
            </a:r>
            <a:r>
              <a:rPr lang="en-US" sz="2800" dirty="0"/>
              <a:t>, </a:t>
            </a:r>
            <a:r>
              <a:rPr lang="en-US" sz="2800" b="1" dirty="0"/>
              <a:t>weight</a:t>
            </a:r>
            <a:r>
              <a:rPr lang="en-US" sz="2800" dirty="0"/>
              <a:t> (thickness), and whether it is a </a:t>
            </a:r>
            <a:r>
              <a:rPr lang="en-US" sz="2800" b="1" dirty="0"/>
              <a:t>dashed</a:t>
            </a:r>
            <a:r>
              <a:rPr lang="en-US" sz="2800" dirty="0"/>
              <a:t> line.</a:t>
            </a:r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EA829-A14D-42C6-925E-79BE1BA94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649" y="1412775"/>
            <a:ext cx="5626695" cy="53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55659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add shape effects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Select the shape you want to change.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009E9-1121-4E68-9E8D-B30754358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40768"/>
            <a:ext cx="655272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62628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add shape effects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click the </a:t>
            </a:r>
            <a:r>
              <a:rPr lang="en-US" sz="2800" b="1" dirty="0"/>
              <a:t>Shape Effects </a:t>
            </a:r>
            <a:r>
              <a:rPr lang="en-US" sz="2800" dirty="0"/>
              <a:t>drop-down arrow. </a:t>
            </a:r>
          </a:p>
          <a:p>
            <a:pPr algn="just"/>
            <a:r>
              <a:rPr lang="en-US" sz="2800" dirty="0"/>
              <a:t>In the menu that appears, </a:t>
            </a:r>
            <a:r>
              <a:rPr lang="en-US" sz="2800" b="1" dirty="0"/>
              <a:t>hover the mouse over the style of effect </a:t>
            </a:r>
            <a:r>
              <a:rPr lang="en-US" sz="2800" dirty="0"/>
              <a:t>you want to add, then </a:t>
            </a:r>
            <a:r>
              <a:rPr lang="en-US" sz="2800" b="1" dirty="0"/>
              <a:t>select</a:t>
            </a:r>
            <a:r>
              <a:rPr lang="en-US" sz="2800" dirty="0"/>
              <a:t> the desired </a:t>
            </a:r>
            <a:r>
              <a:rPr lang="en-US" sz="2800" b="1" dirty="0"/>
              <a:t>preset effect</a:t>
            </a:r>
            <a:r>
              <a:rPr lang="en-US" sz="2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F414E-7BD3-459C-909B-F638F864D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348880"/>
            <a:ext cx="5734050" cy="45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63843"/>
      </p:ext>
    </p:extLst>
  </p:cSld>
  <p:clrMapOvr>
    <a:masterClrMapping/>
  </p:clrMapOvr>
  <p:transition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add shape effects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shape will appear with the selected effect.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14838-9B95-472B-A87E-7FABB98D5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8"/>
            <a:ext cx="7128792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77157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add shape effects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To further adjust your shape effects, select </a:t>
            </a:r>
            <a:r>
              <a:rPr lang="en-US" sz="2800" b="1" dirty="0"/>
              <a:t>Options</a:t>
            </a:r>
            <a:r>
              <a:rPr lang="en-US" sz="2800" dirty="0"/>
              <a:t> at the end of each menu. </a:t>
            </a:r>
          </a:p>
          <a:p>
            <a:pPr algn="just"/>
            <a:r>
              <a:rPr lang="en-US" sz="2800" dirty="0"/>
              <a:t>The Format Shape pane will appear, allowing you to customize the effects.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E4E93-31DE-49BB-A485-2DAEB7B80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2132856"/>
            <a:ext cx="6667500" cy="4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05147"/>
      </p:ext>
    </p:extLst>
  </p:cSld>
  <p:clrMapOvr>
    <a:masterClrMapping/>
  </p:clrMapOvr>
  <p:transition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to a different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</a:t>
            </a:r>
            <a:r>
              <a:rPr lang="en-US" sz="2800" b="1" dirty="0"/>
              <a:t>shape</a:t>
            </a:r>
            <a:r>
              <a:rPr lang="en-US" sz="2800" dirty="0"/>
              <a:t> you want to change. The </a:t>
            </a:r>
            <a:r>
              <a:rPr lang="en-US" sz="2800" b="1" dirty="0"/>
              <a:t>Format tab </a:t>
            </a:r>
            <a:r>
              <a:rPr lang="en-US" sz="2800" dirty="0"/>
              <a:t>will appear.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FD144-C175-462D-BBB5-4D0427757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56792"/>
            <a:ext cx="6768752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34892"/>
      </p:ext>
    </p:extLst>
  </p:cSld>
  <p:clrMapOvr>
    <a:masterClrMapping/>
  </p:clrMapOvr>
  <p:transition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to a different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</a:t>
            </a:r>
            <a:r>
              <a:rPr lang="en-US" sz="2800" b="1" dirty="0"/>
              <a:t>click</a:t>
            </a:r>
            <a:r>
              <a:rPr lang="en-US" sz="2800" dirty="0"/>
              <a:t> the </a:t>
            </a:r>
            <a:r>
              <a:rPr lang="en-US" sz="2800" b="1" dirty="0"/>
              <a:t>Edit Shape command</a:t>
            </a:r>
            <a:r>
              <a:rPr lang="en-US" sz="2800" dirty="0"/>
              <a:t>. </a:t>
            </a:r>
          </a:p>
          <a:p>
            <a:pPr algn="just"/>
            <a:r>
              <a:rPr lang="en-US" sz="2800" dirty="0"/>
              <a:t>In the menu that appears, hover the mouse over </a:t>
            </a:r>
            <a:r>
              <a:rPr lang="en-US" sz="2800" b="1" dirty="0"/>
              <a:t>Change Shape</a:t>
            </a:r>
            <a:r>
              <a:rPr lang="en-US" sz="2800" dirty="0"/>
              <a:t>, then select the desired </a:t>
            </a:r>
            <a:r>
              <a:rPr lang="en-US" sz="2800" b="1" dirty="0"/>
              <a:t>shape</a:t>
            </a:r>
            <a:r>
              <a:rPr lang="en-US" sz="2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72137-97F0-46C5-B7BD-92B319EAA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12" y="1844824"/>
            <a:ext cx="5591324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31837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to a different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7"/>
            <a:ext cx="9144000" cy="655806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new shape will appear.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76DFC-3454-4034-8CF9-C9D2747C4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340768"/>
            <a:ext cx="7632848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52183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Word - Text Boxes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7"/>
            <a:ext cx="9144000" cy="6270031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Text boxes can be useful for drawing attention to specific text.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They can also be helpful when you need to move text around in your document.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Word allows you to format text boxes and the text within them using a variety of styles and effects.</a:t>
            </a:r>
          </a:p>
        </p:txBody>
      </p:sp>
    </p:spTree>
    <p:extLst>
      <p:ext uri="{BB962C8B-B14F-4D97-AF65-F5344CB8AC3E}">
        <p14:creationId xmlns:p14="http://schemas.microsoft.com/office/powerpoint/2010/main" val="437718155"/>
      </p:ext>
    </p:extLst>
  </p:cSld>
  <p:clrMapOvr>
    <a:masterClrMapping/>
  </p:clrMapOvr>
  <p:transition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7"/>
            <a:ext cx="9144000" cy="6270031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Select the </a:t>
            </a:r>
            <a:r>
              <a:rPr lang="en-US" sz="2800" b="1" dirty="0"/>
              <a:t>Insert tab</a:t>
            </a:r>
            <a:r>
              <a:rPr lang="en-US" sz="2800" dirty="0"/>
              <a:t>, then click the </a:t>
            </a:r>
            <a:r>
              <a:rPr lang="en-US" sz="2800" b="1" dirty="0"/>
              <a:t>Text Box </a:t>
            </a:r>
            <a:r>
              <a:rPr lang="en-US" sz="2800" dirty="0"/>
              <a:t>command in the </a:t>
            </a:r>
            <a:r>
              <a:rPr lang="en-US" sz="2800" b="1" dirty="0"/>
              <a:t>Text group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  <a:p>
            <a:pPr algn="just"/>
            <a:r>
              <a:rPr lang="en-US" sz="2800" dirty="0"/>
              <a:t>A drop-down menu will appear. Select </a:t>
            </a:r>
            <a:r>
              <a:rPr lang="en-US" sz="2800" b="1" dirty="0"/>
              <a:t>Draw Text Box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08800-CAE2-449E-A00B-1284D3E0B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" y="1556792"/>
            <a:ext cx="9144000" cy="1368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E8744-0F95-4D12-AB69-0CC74131D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573017"/>
            <a:ext cx="4200525" cy="32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1192"/>
      </p:ext>
    </p:extLst>
  </p:cSld>
  <p:clrMapOvr>
    <a:masterClrMapping/>
  </p:clrMapOvr>
  <p:transition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7"/>
            <a:ext cx="9144000" cy="6270031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Click and drag anywhere on the document to create the text box.</a:t>
            </a:r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4F76E-4105-47F3-AAB2-BA69E0131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772816"/>
            <a:ext cx="511256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7019"/>
      </p:ext>
    </p:extLst>
  </p:cSld>
  <p:clrMapOvr>
    <a:masterClrMapping/>
  </p:clrMapOvr>
  <p:transition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7"/>
            <a:ext cx="9144000" cy="6270031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insertion point will appear inside the text box. </a:t>
            </a:r>
          </a:p>
          <a:p>
            <a:pPr algn="just"/>
            <a:r>
              <a:rPr lang="en-US" sz="2800" dirty="0"/>
              <a:t>You can now type to create text inside the text box.</a:t>
            </a:r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330E1-A8AA-4288-8264-05C05EBD4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916831"/>
            <a:ext cx="6480720" cy="51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64270"/>
      </p:ext>
    </p:extLst>
  </p:cSld>
  <p:clrMapOvr>
    <a:masterClrMapping/>
  </p:clrMapOvr>
  <p:transition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If you want, you can select the text and then change the </a:t>
            </a:r>
            <a:r>
              <a:rPr lang="en-US" sz="2400" b="1" dirty="0"/>
              <a:t>font</a:t>
            </a:r>
            <a:r>
              <a:rPr lang="en-US" sz="2400" dirty="0"/>
              <a:t>, </a:t>
            </a:r>
            <a:r>
              <a:rPr lang="en-US" sz="2400" b="1" dirty="0"/>
              <a:t>color</a:t>
            </a:r>
            <a:r>
              <a:rPr lang="en-US" sz="2400" dirty="0"/>
              <a:t>, and </a:t>
            </a:r>
            <a:r>
              <a:rPr lang="en-US" sz="2400" b="1" dirty="0"/>
              <a:t>size</a:t>
            </a:r>
            <a:r>
              <a:rPr lang="en-US" sz="2400" dirty="0"/>
              <a:t> by using the commands on the </a:t>
            </a:r>
            <a:r>
              <a:rPr lang="en-US" sz="2400" b="1" dirty="0"/>
              <a:t>Format</a:t>
            </a:r>
            <a:r>
              <a:rPr lang="en-US" sz="2400" dirty="0"/>
              <a:t> and </a:t>
            </a:r>
            <a:r>
              <a:rPr lang="en-US" sz="2400" b="1" dirty="0"/>
              <a:t>Home</a:t>
            </a:r>
            <a:r>
              <a:rPr lang="en-US" sz="2400" dirty="0"/>
              <a:t> </a:t>
            </a:r>
            <a:r>
              <a:rPr lang="en-US" sz="2400" b="1" dirty="0"/>
              <a:t>tabs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To learn more about using these formatting commands, review our </a:t>
            </a:r>
            <a:r>
              <a:rPr lang="en-US" sz="2400" b="1" dirty="0"/>
              <a:t>Formatting Text lesson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/>
              <a:t>Click</a:t>
            </a:r>
            <a:r>
              <a:rPr lang="en-US" sz="2400" dirty="0"/>
              <a:t> anywhere </a:t>
            </a:r>
            <a:r>
              <a:rPr lang="en-US" sz="2400" b="1" dirty="0"/>
              <a:t>outside the text </a:t>
            </a:r>
            <a:r>
              <a:rPr lang="en-US" sz="2400" dirty="0"/>
              <a:t>box to return to your document.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6AAEB-BA67-4676-A90E-A15AA4D93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2708920"/>
            <a:ext cx="5909642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06251"/>
      </p:ext>
    </p:extLst>
  </p:cSld>
  <p:clrMapOvr>
    <a:masterClrMapping/>
  </p:clrMapOvr>
  <p:transition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insert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You can also select one of the </a:t>
            </a:r>
            <a:r>
              <a:rPr lang="en-US" sz="2400" b="1" dirty="0"/>
              <a:t>built-in text boxes </a:t>
            </a:r>
            <a:r>
              <a:rPr lang="en-US" sz="2400" dirty="0"/>
              <a:t>that have predefined colors, fonts, positions, and sizes. </a:t>
            </a:r>
          </a:p>
          <a:p>
            <a:pPr algn="just"/>
            <a:r>
              <a:rPr lang="en-US" sz="2400" dirty="0"/>
              <a:t>If you choose this option, the text box will appear automatically, so you will not need to draw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665EC-F494-4B57-9EFE-24834CCA5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132856"/>
            <a:ext cx="468052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43734"/>
      </p:ext>
    </p:extLst>
  </p:cSld>
  <p:clrMapOvr>
    <a:masterClrMapping/>
  </p:clrMapOvr>
  <p:transition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move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Click</a:t>
            </a:r>
            <a:r>
              <a:rPr lang="en-US" sz="2800" dirty="0"/>
              <a:t> the </a:t>
            </a:r>
            <a:r>
              <a:rPr lang="en-US" sz="2800" b="1" dirty="0"/>
              <a:t>text box </a:t>
            </a:r>
            <a:r>
              <a:rPr lang="en-US" sz="2800" dirty="0"/>
              <a:t>you want to move.</a:t>
            </a:r>
          </a:p>
          <a:p>
            <a:pPr algn="just"/>
            <a:r>
              <a:rPr lang="en-US" sz="2800" b="1" dirty="0"/>
              <a:t>Hover</a:t>
            </a:r>
            <a:r>
              <a:rPr lang="en-US" sz="2800" dirty="0"/>
              <a:t> the mouse over one of the edges of the text box. The mouse will change into a </a:t>
            </a:r>
            <a:r>
              <a:rPr lang="en-US" sz="2800" b="1" dirty="0"/>
              <a:t>cross with arrows</a:t>
            </a:r>
            <a:r>
              <a:rPr lang="en-US" sz="2800" dirty="0"/>
              <a:t>.</a:t>
            </a:r>
          </a:p>
          <a:p>
            <a:pPr algn="just"/>
            <a:r>
              <a:rPr lang="en-US" sz="2800" b="1" dirty="0"/>
              <a:t>Click </a:t>
            </a:r>
            <a:r>
              <a:rPr lang="en-US" sz="2800" dirty="0"/>
              <a:t>and </a:t>
            </a:r>
            <a:r>
              <a:rPr lang="en-US" sz="2800" b="1" dirty="0"/>
              <a:t>drag</a:t>
            </a:r>
            <a:r>
              <a:rPr lang="en-US" sz="2800" dirty="0"/>
              <a:t> the text box to the desired </a:t>
            </a:r>
            <a:r>
              <a:rPr lang="en-US" sz="2800" b="1" dirty="0"/>
              <a:t>location</a:t>
            </a:r>
            <a:r>
              <a:rPr lang="en-US" sz="2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B5AD4-CA50-4E4B-A849-068A2833E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645428"/>
            <a:ext cx="4896544" cy="375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4180"/>
      </p:ext>
    </p:extLst>
  </p:cSld>
  <p:clrMapOvr>
    <a:masterClrMapping/>
  </p:clrMapOvr>
  <p:transition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resize a text box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Click</a:t>
            </a:r>
            <a:r>
              <a:rPr lang="en-US" sz="2800" dirty="0"/>
              <a:t> the </a:t>
            </a:r>
            <a:r>
              <a:rPr lang="en-US" sz="2800" b="1" dirty="0"/>
              <a:t>text box </a:t>
            </a:r>
            <a:r>
              <a:rPr lang="en-US" sz="2800" dirty="0"/>
              <a:t>you want to resize.</a:t>
            </a:r>
          </a:p>
          <a:p>
            <a:pPr algn="just"/>
            <a:r>
              <a:rPr lang="en-US" sz="2800" b="1" dirty="0"/>
              <a:t>Click</a:t>
            </a:r>
            <a:r>
              <a:rPr lang="en-US" sz="2800" dirty="0"/>
              <a:t> and </a:t>
            </a:r>
            <a:r>
              <a:rPr lang="en-US" sz="2800" b="1" dirty="0"/>
              <a:t>drag</a:t>
            </a:r>
            <a:r>
              <a:rPr lang="en-US" sz="2800" dirty="0"/>
              <a:t> any of the </a:t>
            </a:r>
            <a:r>
              <a:rPr lang="en-US" sz="2800" b="1" dirty="0"/>
              <a:t>sizing handles</a:t>
            </a:r>
            <a:r>
              <a:rPr lang="en-US" sz="2800" dirty="0"/>
              <a:t> on the </a:t>
            </a:r>
            <a:r>
              <a:rPr lang="en-US" sz="2800" b="1" dirty="0"/>
              <a:t>corners or sides</a:t>
            </a:r>
            <a:r>
              <a:rPr lang="en-US" sz="2800" dirty="0"/>
              <a:t> of the text box until it is the desired size.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1D6BF-6DB5-4D66-8F28-19B013897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492896"/>
            <a:ext cx="5112567" cy="350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65738"/>
      </p:ext>
    </p:extLst>
  </p:cSld>
  <p:clrMapOvr>
    <a:masterClrMapping/>
  </p:clrMapOvr>
  <p:transition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Modifying text boxes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Word offers several options for changing the way text boxes appear in your document.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You can change the </a:t>
            </a:r>
            <a:r>
              <a:rPr lang="en-US" sz="2800" b="1" dirty="0"/>
              <a:t>shape</a:t>
            </a:r>
            <a:r>
              <a:rPr lang="en-US" sz="2800" dirty="0"/>
              <a:t>, </a:t>
            </a:r>
            <a:r>
              <a:rPr lang="en-US" sz="2800" b="1" dirty="0"/>
              <a:t>style</a:t>
            </a:r>
            <a:r>
              <a:rPr lang="en-US" sz="2800" dirty="0"/>
              <a:t>, and </a:t>
            </a:r>
            <a:r>
              <a:rPr lang="en-US" sz="2800" b="1" dirty="0"/>
              <a:t>color</a:t>
            </a:r>
            <a:r>
              <a:rPr lang="en-US" sz="2800" dirty="0"/>
              <a:t> of text boxes or add various effects.</a:t>
            </a:r>
          </a:p>
        </p:txBody>
      </p:sp>
    </p:spTree>
    <p:extLst>
      <p:ext uri="{BB962C8B-B14F-4D97-AF65-F5344CB8AC3E}">
        <p14:creationId xmlns:p14="http://schemas.microsoft.com/office/powerpoint/2010/main" val="1690053189"/>
      </p:ext>
    </p:extLst>
  </p:cSld>
  <p:clrMapOvr>
    <a:masterClrMapping/>
  </p:clrMapOvr>
  <p:transition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Choosing a </a:t>
            </a:r>
            <a:r>
              <a:rPr lang="en-US" sz="2800" b="1" dirty="0"/>
              <a:t>shape style </a:t>
            </a:r>
            <a:r>
              <a:rPr lang="en-US" sz="2800" dirty="0"/>
              <a:t>allows you to apply preset colors and effects to quickly change the appearance of your text box.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</a:t>
            </a:r>
            <a:r>
              <a:rPr lang="en-US" sz="2800" b="1" dirty="0"/>
              <a:t>text box </a:t>
            </a:r>
            <a:r>
              <a:rPr lang="en-US" sz="2800" dirty="0"/>
              <a:t>you want to change.</a:t>
            </a:r>
          </a:p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</a:t>
            </a:r>
            <a:r>
              <a:rPr lang="en-US" sz="2800" b="1" dirty="0"/>
              <a:t>click</a:t>
            </a:r>
            <a:r>
              <a:rPr lang="en-US" sz="2800" dirty="0"/>
              <a:t> the </a:t>
            </a:r>
            <a:r>
              <a:rPr lang="en-US" sz="2800" b="1" dirty="0"/>
              <a:t>More drop-down arrow </a:t>
            </a:r>
            <a:r>
              <a:rPr lang="en-US" sz="2800" dirty="0"/>
              <a:t>in the </a:t>
            </a:r>
            <a:r>
              <a:rPr lang="en-US" sz="2800" b="1" dirty="0"/>
              <a:t>Shape Styles group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256B0-024D-40C9-8658-6D839B856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077071"/>
            <a:ext cx="8496944" cy="23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61242"/>
      </p:ext>
    </p:extLst>
  </p:cSld>
  <p:clrMapOvr>
    <a:masterClrMapping/>
  </p:clrMapOvr>
  <p:transition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</a:t>
            </a:r>
            <a:r>
              <a:rPr lang="en-US" sz="2800" b="1" dirty="0"/>
              <a:t>drop-down menu </a:t>
            </a:r>
            <a:r>
              <a:rPr lang="en-US" sz="2800" dirty="0"/>
              <a:t>of </a:t>
            </a:r>
            <a:r>
              <a:rPr lang="en-US" sz="2800" b="1" dirty="0"/>
              <a:t>styles</a:t>
            </a:r>
            <a:r>
              <a:rPr lang="en-US" sz="2800" dirty="0"/>
              <a:t> will appear. </a:t>
            </a:r>
          </a:p>
          <a:p>
            <a:pPr algn="just"/>
            <a:r>
              <a:rPr lang="en-US" sz="2800" dirty="0"/>
              <a:t>Select the </a:t>
            </a:r>
            <a:r>
              <a:rPr lang="en-US" sz="2800" b="1" dirty="0"/>
              <a:t>style</a:t>
            </a:r>
            <a:r>
              <a:rPr lang="en-US" sz="2800" dirty="0"/>
              <a:t> you want to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2AE73-3017-457E-A639-519ABC685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700807"/>
            <a:ext cx="5256584" cy="504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09100"/>
      </p:ext>
    </p:extLst>
  </p:cSld>
  <p:clrMapOvr>
    <a:masterClrMapping/>
  </p:clrMapOvr>
  <p:transition>
    <p:fad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shape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text box will appear in the </a:t>
            </a:r>
            <a:r>
              <a:rPr lang="en-US" b="1" dirty="0"/>
              <a:t>selected style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7604E-4ADF-4A26-9164-1696249C4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556791"/>
            <a:ext cx="5549602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59736"/>
      </p:ext>
    </p:extLst>
  </p:cSld>
  <p:clrMapOvr>
    <a:masterClrMapping/>
  </p:clrMapOvr>
  <p:transition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text box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Changing the shape of a text box can be a useful option for creating an interesting look in your document.</a:t>
            </a:r>
          </a:p>
          <a:p>
            <a:pPr algn="just"/>
            <a:r>
              <a:rPr lang="en-US" dirty="0"/>
              <a:t>Select the text box you want to change. The </a:t>
            </a:r>
            <a:r>
              <a:rPr lang="en-US" b="1" dirty="0"/>
              <a:t>Format tab </a:t>
            </a:r>
            <a:r>
              <a:rPr lang="en-US" dirty="0"/>
              <a:t>will appear.</a:t>
            </a:r>
          </a:p>
          <a:p>
            <a:pPr algn="just"/>
            <a:r>
              <a:rPr lang="en-US" dirty="0"/>
              <a:t>From the </a:t>
            </a:r>
            <a:r>
              <a:rPr lang="en-US" b="1" dirty="0"/>
              <a:t>Format tab</a:t>
            </a:r>
            <a:r>
              <a:rPr lang="en-US" dirty="0"/>
              <a:t>, click the </a:t>
            </a:r>
            <a:r>
              <a:rPr lang="en-US" b="1" dirty="0"/>
              <a:t>Edit Shape command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FF51B-BFFA-42B5-8352-CB2FD2E55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509119"/>
            <a:ext cx="8839200" cy="18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17879"/>
      </p:ext>
    </p:extLst>
  </p:cSld>
  <p:clrMapOvr>
    <a:masterClrMapping/>
  </p:clrMapOvr>
  <p:transition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text box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Hover the mouse over </a:t>
            </a:r>
            <a:r>
              <a:rPr lang="en-US" b="1" dirty="0"/>
              <a:t>Change Shape</a:t>
            </a:r>
            <a:r>
              <a:rPr lang="en-US" dirty="0"/>
              <a:t>, then select the desired </a:t>
            </a:r>
            <a:r>
              <a:rPr lang="en-US" b="1" dirty="0"/>
              <a:t>shape</a:t>
            </a:r>
            <a:r>
              <a:rPr lang="en-US" dirty="0"/>
              <a:t> from the menu that appears.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AA107-BC5C-45C3-8897-9729101C0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988839"/>
            <a:ext cx="7128792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62744"/>
      </p:ext>
    </p:extLst>
  </p:cSld>
  <p:clrMapOvr>
    <a:masterClrMapping/>
  </p:clrMapOvr>
  <p:transition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change the text box shape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text box will appear formatted as the shape.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27EF7-5E61-40B2-A5D6-34FF3B7D5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397696"/>
            <a:ext cx="6336704" cy="519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85641"/>
      </p:ext>
    </p:extLst>
  </p:cSld>
  <p:clrMapOvr>
    <a:masterClrMapping/>
  </p:clrMapOvr>
  <p:transition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Word - Aligning, Ordering, and Grouping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There may be times when your documents have </a:t>
            </a:r>
            <a:r>
              <a:rPr lang="en-US" b="1" dirty="0"/>
              <a:t>multiple objects</a:t>
            </a:r>
            <a:r>
              <a:rPr lang="en-US" dirty="0"/>
              <a:t>, such as </a:t>
            </a:r>
            <a:r>
              <a:rPr lang="en-US" b="1" dirty="0"/>
              <a:t>pictures</a:t>
            </a:r>
            <a:r>
              <a:rPr lang="en-US" dirty="0"/>
              <a:t>, </a:t>
            </a:r>
            <a:r>
              <a:rPr lang="en-US" b="1" dirty="0"/>
              <a:t>shapes</a:t>
            </a:r>
            <a:r>
              <a:rPr lang="en-US" dirty="0"/>
              <a:t>, and </a:t>
            </a:r>
            <a:r>
              <a:rPr lang="en-US" b="1" dirty="0"/>
              <a:t>text boxes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arrange the objects any way you want by </a:t>
            </a:r>
            <a:r>
              <a:rPr lang="en-US" b="1" dirty="0"/>
              <a:t>aligning</a:t>
            </a:r>
            <a:r>
              <a:rPr lang="en-US" dirty="0"/>
              <a:t>, </a:t>
            </a:r>
            <a:r>
              <a:rPr lang="en-US" b="1" dirty="0"/>
              <a:t>grouping</a:t>
            </a:r>
            <a:r>
              <a:rPr lang="en-US" dirty="0"/>
              <a:t>, </a:t>
            </a:r>
            <a:r>
              <a:rPr lang="en-US" b="1" dirty="0"/>
              <a:t>ordering</a:t>
            </a:r>
            <a:r>
              <a:rPr lang="en-US" dirty="0"/>
              <a:t>, and </a:t>
            </a:r>
            <a:r>
              <a:rPr lang="en-US" b="1" dirty="0"/>
              <a:t>rotating</a:t>
            </a:r>
            <a:r>
              <a:rPr lang="en-US" dirty="0"/>
              <a:t> them in various ways.</a:t>
            </a:r>
          </a:p>
        </p:txBody>
      </p:sp>
    </p:spTree>
    <p:extLst>
      <p:ext uri="{BB962C8B-B14F-4D97-AF65-F5344CB8AC3E}">
        <p14:creationId xmlns:p14="http://schemas.microsoft.com/office/powerpoint/2010/main" val="2701009319"/>
      </p:ext>
    </p:extLst>
  </p:cSld>
  <p:clrMapOvr>
    <a:masterClrMapping/>
  </p:clrMapOvr>
  <p:transition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align two or more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There may be times when your documents have </a:t>
            </a:r>
            <a:r>
              <a:rPr lang="en-US" b="1" dirty="0"/>
              <a:t>multiple objects</a:t>
            </a:r>
            <a:r>
              <a:rPr lang="en-US" dirty="0"/>
              <a:t>, such as </a:t>
            </a:r>
            <a:r>
              <a:rPr lang="en-US" b="1" dirty="0"/>
              <a:t>pictures</a:t>
            </a:r>
            <a:r>
              <a:rPr lang="en-US" dirty="0"/>
              <a:t>, </a:t>
            </a:r>
            <a:r>
              <a:rPr lang="en-US" b="1" dirty="0"/>
              <a:t>shapes</a:t>
            </a:r>
            <a:r>
              <a:rPr lang="en-US" dirty="0"/>
              <a:t>, and </a:t>
            </a:r>
            <a:r>
              <a:rPr lang="en-US" b="1" dirty="0"/>
              <a:t>text boxes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arrange the objects any way you want by </a:t>
            </a:r>
            <a:r>
              <a:rPr lang="en-US" b="1" dirty="0"/>
              <a:t>aligning</a:t>
            </a:r>
            <a:r>
              <a:rPr lang="en-US" dirty="0"/>
              <a:t>, </a:t>
            </a:r>
            <a:r>
              <a:rPr lang="en-US" b="1" dirty="0"/>
              <a:t>grouping</a:t>
            </a:r>
            <a:r>
              <a:rPr lang="en-US" dirty="0"/>
              <a:t>, </a:t>
            </a:r>
            <a:r>
              <a:rPr lang="en-US" b="1" dirty="0"/>
              <a:t>ordering</a:t>
            </a:r>
            <a:r>
              <a:rPr lang="en-US" dirty="0"/>
              <a:t>, and </a:t>
            </a:r>
            <a:r>
              <a:rPr lang="en-US" b="1" dirty="0"/>
              <a:t>rotating</a:t>
            </a:r>
            <a:r>
              <a:rPr lang="en-US" dirty="0"/>
              <a:t> them in various ways.</a:t>
            </a:r>
          </a:p>
        </p:txBody>
      </p:sp>
    </p:spTree>
    <p:extLst>
      <p:ext uri="{BB962C8B-B14F-4D97-AF65-F5344CB8AC3E}">
        <p14:creationId xmlns:p14="http://schemas.microsoft.com/office/powerpoint/2010/main" val="3386361152"/>
      </p:ext>
    </p:extLst>
  </p:cSld>
  <p:clrMapOvr>
    <a:masterClrMapping/>
  </p:clrMapOvr>
  <p:transition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align two or more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Hold the </a:t>
            </a:r>
            <a:r>
              <a:rPr lang="en-US" b="1" dirty="0"/>
              <a:t>Shift (or Ctrl) </a:t>
            </a:r>
            <a:r>
              <a:rPr lang="en-US" dirty="0"/>
              <a:t>key and click the objects you want to align. </a:t>
            </a:r>
          </a:p>
          <a:p>
            <a:pPr algn="just"/>
            <a:r>
              <a:rPr lang="en-US" dirty="0"/>
              <a:t>In our example, we'll select the </a:t>
            </a:r>
            <a:r>
              <a:rPr lang="en-US" b="1" dirty="0"/>
              <a:t>four shapes </a:t>
            </a:r>
            <a:r>
              <a:rPr lang="en-US" dirty="0"/>
              <a:t>on the right.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F8757-FEF7-430B-9068-60F0A5E3C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8" t="3127" r="1356" b="29630"/>
          <a:stretch/>
        </p:blipFill>
        <p:spPr>
          <a:xfrm>
            <a:off x="323528" y="2708920"/>
            <a:ext cx="8280920" cy="367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6982"/>
      </p:ext>
    </p:extLst>
  </p:cSld>
  <p:clrMapOvr>
    <a:masterClrMapping/>
  </p:clrMapOvr>
  <p:transition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align two or more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Format tab</a:t>
            </a:r>
            <a:r>
              <a:rPr lang="en-US" dirty="0"/>
              <a:t>, click the </a:t>
            </a:r>
            <a:r>
              <a:rPr lang="en-US" b="1" dirty="0"/>
              <a:t>Align command</a:t>
            </a:r>
            <a:r>
              <a:rPr lang="en-US" dirty="0"/>
              <a:t>, then select one of the </a:t>
            </a:r>
            <a:r>
              <a:rPr lang="en-US" b="1" dirty="0"/>
              <a:t>alignment options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our example, we'll choose </a:t>
            </a:r>
            <a:r>
              <a:rPr lang="en-US" b="1" dirty="0"/>
              <a:t>Align Right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4122B-420A-4A1F-AC6F-D9845B7CF4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" b="14516"/>
          <a:stretch/>
        </p:blipFill>
        <p:spPr>
          <a:xfrm>
            <a:off x="539552" y="2492896"/>
            <a:ext cx="8064896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46690"/>
      </p:ext>
    </p:extLst>
  </p:cSld>
  <p:clrMapOvr>
    <a:masterClrMapping/>
  </p:clrMapOvr>
  <p:transition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align two or more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objects will be aligned based on the selected option. </a:t>
            </a:r>
          </a:p>
          <a:p>
            <a:pPr algn="just"/>
            <a:r>
              <a:rPr lang="en-US" dirty="0"/>
              <a:t>In our example, the shapes are now aligned with each other.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21852-D6A9-42A5-A386-E3B215D52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6" t="4862" r="1553" b="24386"/>
          <a:stretch/>
        </p:blipFill>
        <p:spPr>
          <a:xfrm>
            <a:off x="179512" y="3140967"/>
            <a:ext cx="8496944" cy="324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48897"/>
      </p:ext>
    </p:extLst>
  </p:cSld>
  <p:clrMapOvr>
    <a:masterClrMapping/>
  </p:clrMapOvr>
  <p:transition>
    <p:fade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distribute objects evenly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 have arranged your objects in a row or column, you may want them to be an </a:t>
            </a:r>
            <a:r>
              <a:rPr lang="en-US" b="1" dirty="0"/>
              <a:t>equal distance </a:t>
            </a:r>
            <a:r>
              <a:rPr lang="en-US" dirty="0"/>
              <a:t>from one another for a neater appearance.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do this by </a:t>
            </a:r>
            <a:r>
              <a:rPr lang="en-US" b="1" dirty="0"/>
              <a:t>distributing the objects </a:t>
            </a:r>
            <a:r>
              <a:rPr lang="en-US" dirty="0"/>
              <a:t>horizontally or vertically.</a:t>
            </a:r>
          </a:p>
        </p:txBody>
      </p:sp>
    </p:spTree>
    <p:extLst>
      <p:ext uri="{BB962C8B-B14F-4D97-AF65-F5344CB8AC3E}">
        <p14:creationId xmlns:p14="http://schemas.microsoft.com/office/powerpoint/2010/main" val="1834576808"/>
      </p:ext>
    </p:extLst>
  </p:cSld>
  <p:clrMapOvr>
    <a:masterClrMapping/>
  </p:clrMapOvr>
  <p:transition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distribute objects evenly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Hold the </a:t>
            </a:r>
            <a:r>
              <a:rPr lang="en-US" sz="2800" b="1" dirty="0"/>
              <a:t>Shift (or Ctrl) key </a:t>
            </a:r>
            <a:r>
              <a:rPr lang="en-US" sz="2800" dirty="0"/>
              <a:t>and click the objects you want to distribute.</a:t>
            </a:r>
          </a:p>
          <a:p>
            <a:pPr algn="just"/>
            <a:r>
              <a:rPr lang="en-US" sz="2800" dirty="0"/>
              <a:t>On the </a:t>
            </a:r>
            <a:r>
              <a:rPr lang="en-US" sz="2800" b="1" dirty="0"/>
              <a:t>Format tab</a:t>
            </a:r>
            <a:r>
              <a:rPr lang="en-US" sz="2800" dirty="0"/>
              <a:t>, click the </a:t>
            </a:r>
            <a:r>
              <a:rPr lang="en-US" sz="2800" b="1" dirty="0"/>
              <a:t>Align command</a:t>
            </a:r>
            <a:r>
              <a:rPr lang="en-US" sz="2800" dirty="0"/>
              <a:t>, then </a:t>
            </a:r>
            <a:r>
              <a:rPr lang="en-US" sz="2800" b="1" dirty="0"/>
              <a:t>select Distribute Horizontally </a:t>
            </a:r>
            <a:r>
              <a:rPr lang="en-US" sz="2800" dirty="0"/>
              <a:t>or </a:t>
            </a:r>
            <a:r>
              <a:rPr lang="en-US" sz="2800" b="1" dirty="0"/>
              <a:t>Distribute Vertically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AEC61-7BDD-4989-9601-46BE40C5DE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7" b="17440"/>
          <a:stretch/>
        </p:blipFill>
        <p:spPr>
          <a:xfrm>
            <a:off x="971600" y="2789808"/>
            <a:ext cx="7247012" cy="373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24004"/>
      </p:ext>
    </p:extLst>
  </p:cSld>
  <p:clrMapOvr>
    <a:masterClrMapping/>
  </p:clrMapOvr>
  <p:transition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distribute objects evenly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objects will be evenly spaced from one another.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33A38-1E3A-43DD-BD67-A20DDF228B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00" t="6032" r="1584" b="25613"/>
          <a:stretch/>
        </p:blipFill>
        <p:spPr>
          <a:xfrm>
            <a:off x="611560" y="1844824"/>
            <a:ext cx="756084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35670"/>
      </p:ext>
    </p:extLst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Grouping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At times, you may want to group multiple objects into one object so they will stay together.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is usually easier than selecting them individually, and it also allows you to resize and move all of the objects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129045964"/>
      </p:ext>
    </p:extLst>
  </p:cSld>
  <p:clrMapOvr>
    <a:masterClrMapping/>
  </p:clrMapOvr>
  <p:transition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group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Hold the </a:t>
            </a:r>
            <a:r>
              <a:rPr lang="en-US" b="1" dirty="0"/>
              <a:t>Shift (or Ctrl) </a:t>
            </a:r>
            <a:r>
              <a:rPr lang="en-US" dirty="0"/>
              <a:t>key and click the objects you want to group.</a:t>
            </a:r>
          </a:p>
          <a:p>
            <a:pPr algn="just"/>
            <a:r>
              <a:rPr lang="en-US" dirty="0"/>
              <a:t>Click the </a:t>
            </a:r>
            <a:r>
              <a:rPr lang="en-US" b="1" dirty="0"/>
              <a:t>Group command </a:t>
            </a:r>
            <a:r>
              <a:rPr lang="en-US" dirty="0"/>
              <a:t>on the </a:t>
            </a:r>
            <a:r>
              <a:rPr lang="en-US" b="1" dirty="0"/>
              <a:t>Format tab</a:t>
            </a:r>
            <a:r>
              <a:rPr lang="en-US" dirty="0"/>
              <a:t>, then select </a:t>
            </a:r>
            <a:r>
              <a:rPr lang="en-US" b="1" dirty="0"/>
              <a:t>Group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C3D27-FAB4-4B9F-BC07-419631A465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0" t="11332" r="-999" b="15821"/>
          <a:stretch/>
        </p:blipFill>
        <p:spPr>
          <a:xfrm>
            <a:off x="395536" y="2996952"/>
            <a:ext cx="8280920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84616"/>
      </p:ext>
    </p:extLst>
  </p:cSld>
  <p:clrMapOvr>
    <a:masterClrMapping/>
  </p:clrMapOvr>
  <p:transition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ungroup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Select</a:t>
            </a:r>
            <a:r>
              <a:rPr lang="en-US" dirty="0"/>
              <a:t> the grouped object. From the </a:t>
            </a:r>
            <a:r>
              <a:rPr lang="en-US" b="1" dirty="0"/>
              <a:t>Format tab</a:t>
            </a:r>
            <a:r>
              <a:rPr lang="en-US" dirty="0"/>
              <a:t>,</a:t>
            </a:r>
          </a:p>
          <a:p>
            <a:pPr algn="just"/>
            <a:r>
              <a:rPr lang="en-US" b="1" dirty="0"/>
              <a:t>Click</a:t>
            </a:r>
            <a:r>
              <a:rPr lang="en-US" dirty="0"/>
              <a:t> the </a:t>
            </a:r>
            <a:r>
              <a:rPr lang="en-US" b="1" dirty="0"/>
              <a:t>Group</a:t>
            </a:r>
            <a:r>
              <a:rPr lang="en-US" dirty="0"/>
              <a:t> command and select </a:t>
            </a:r>
            <a:r>
              <a:rPr lang="en-US" b="1" dirty="0"/>
              <a:t>Ungroup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79490C-837D-4F46-98B2-AA01ED3CB2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9" b="17554"/>
          <a:stretch/>
        </p:blipFill>
        <p:spPr>
          <a:xfrm>
            <a:off x="395536" y="2060848"/>
            <a:ext cx="8352928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68546"/>
      </p:ext>
    </p:extLst>
  </p:cSld>
  <p:clrMapOvr>
    <a:masterClrMapping/>
  </p:clrMapOvr>
  <p:transition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ungroup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objects will be ungrouped.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5A00F-0C63-400F-A638-C75E7ED261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06" t="5819" r="2093" b="25455"/>
          <a:stretch/>
        </p:blipFill>
        <p:spPr>
          <a:xfrm>
            <a:off x="1619672" y="1412776"/>
            <a:ext cx="6120680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79389"/>
      </p:ext>
    </p:extLst>
  </p:cSld>
  <p:clrMapOvr>
    <a:masterClrMapping/>
  </p:clrMapOvr>
  <p:transition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Ordering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addition to aligning objects, Word gives you the ability to </a:t>
            </a:r>
            <a:r>
              <a:rPr lang="en-US" b="1" dirty="0"/>
              <a:t>arrange objects </a:t>
            </a:r>
            <a:r>
              <a:rPr lang="en-US" dirty="0"/>
              <a:t>in a </a:t>
            </a:r>
            <a:r>
              <a:rPr lang="en-US" b="1" dirty="0"/>
              <a:t>specific order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ordering is important when two or more objects </a:t>
            </a:r>
            <a:r>
              <a:rPr lang="en-US" b="1" dirty="0"/>
              <a:t>overlap</a:t>
            </a:r>
            <a:r>
              <a:rPr lang="en-US" dirty="0"/>
              <a:t> because it determines which objects are in the </a:t>
            </a:r>
            <a:r>
              <a:rPr lang="en-US" b="1" dirty="0"/>
              <a:t>front</a:t>
            </a:r>
            <a:r>
              <a:rPr lang="en-US" dirty="0"/>
              <a:t> or the </a:t>
            </a:r>
            <a:r>
              <a:rPr lang="en-US" b="1" dirty="0"/>
              <a:t>back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5355945"/>
      </p:ext>
    </p:extLst>
  </p:cSld>
  <p:clrMapOvr>
    <a:masterClrMapping/>
  </p:clrMapOvr>
  <p:transition>
    <p:fade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Understanding levels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Objects are placed on different levels according to the order in which they were inserted into a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the example below, if we move the waves image to the beginning of the document, it covers the image of the bird.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is because the image is currently on the highest—or top—level. However, we can change its level to put it behind the other objects.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5797"/>
      </p:ext>
    </p:extLst>
  </p:cSld>
  <p:clrMapOvr>
    <a:masterClrMapping/>
  </p:clrMapOvr>
  <p:transition>
    <p:fade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Understanding levels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07055A-295F-4638-8F93-BF962542F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1258" r="26484" b="31221"/>
          <a:stretch/>
        </p:blipFill>
        <p:spPr>
          <a:xfrm>
            <a:off x="30269" y="1312167"/>
            <a:ext cx="4389031" cy="4125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263AF7-17C7-4C91-B596-BA922F6044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26" t="3778" r="21650" b="29969"/>
          <a:stretch/>
        </p:blipFill>
        <p:spPr>
          <a:xfrm>
            <a:off x="4724700" y="1207604"/>
            <a:ext cx="4034218" cy="423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47269"/>
      </p:ext>
    </p:extLst>
  </p:cSld>
  <p:clrMapOvr>
    <a:masterClrMapping/>
  </p:clrMapOvr>
  <p:transition>
    <p:fade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an object's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object you want to move. In our example, we'll select the image of the </a:t>
            </a:r>
            <a:r>
              <a:rPr lang="en-US" sz="2800" b="1" dirty="0"/>
              <a:t>waves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From the </a:t>
            </a:r>
            <a:r>
              <a:rPr lang="en-US" sz="2800" b="1" dirty="0"/>
              <a:t>Format tab</a:t>
            </a:r>
            <a:r>
              <a:rPr lang="en-US" sz="2800" dirty="0"/>
              <a:t>, click the </a:t>
            </a:r>
            <a:r>
              <a:rPr lang="en-US" sz="2800" b="1" dirty="0"/>
              <a:t>Bring Forward or Send Backward command </a:t>
            </a:r>
            <a:r>
              <a:rPr lang="en-US" sz="2800" dirty="0"/>
              <a:t>to change the object's ordering by </a:t>
            </a:r>
            <a:r>
              <a:rPr lang="en-US" sz="2800" b="1" dirty="0"/>
              <a:t>one level</a:t>
            </a:r>
            <a:r>
              <a:rPr lang="en-US" sz="2800" dirty="0"/>
              <a:t>. In our example, we'll select </a:t>
            </a:r>
            <a:r>
              <a:rPr lang="en-US" sz="2800" b="1" dirty="0"/>
              <a:t>Send Backward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D163B-0AF5-4C9E-A95D-A161A614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924944"/>
            <a:ext cx="4035902" cy="3805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4C3293-1410-47AF-9D79-651B3C8FD0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013" r="27950" b="17785"/>
          <a:stretch/>
        </p:blipFill>
        <p:spPr>
          <a:xfrm>
            <a:off x="4394926" y="2924943"/>
            <a:ext cx="4392488" cy="380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38191"/>
      </p:ext>
    </p:extLst>
  </p:cSld>
  <p:clrMapOvr>
    <a:masterClrMapping/>
  </p:clrMapOvr>
  <p:transition>
    <p:fade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an object's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Select</a:t>
            </a:r>
            <a:r>
              <a:rPr lang="en-US" sz="2800" dirty="0"/>
              <a:t> the object you want to move. In our example, we'll select the image of the </a:t>
            </a:r>
            <a:r>
              <a:rPr lang="en-US" sz="2800" b="1" dirty="0"/>
              <a:t>waves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From the </a:t>
            </a:r>
            <a:r>
              <a:rPr lang="en-US" sz="2800" b="1" dirty="0"/>
              <a:t>Format tab</a:t>
            </a:r>
            <a:r>
              <a:rPr lang="en-US" sz="2800" dirty="0"/>
              <a:t>, click the </a:t>
            </a:r>
            <a:r>
              <a:rPr lang="en-US" sz="2800" b="1" dirty="0"/>
              <a:t>Bring Forward or Send Backward command </a:t>
            </a:r>
            <a:r>
              <a:rPr lang="en-US" sz="2800" dirty="0"/>
              <a:t>to change the object's ordering by </a:t>
            </a:r>
            <a:r>
              <a:rPr lang="en-US" sz="2800" b="1" dirty="0"/>
              <a:t>one level</a:t>
            </a:r>
            <a:r>
              <a:rPr lang="en-US" sz="2800" dirty="0"/>
              <a:t>. In our example, we'll select </a:t>
            </a:r>
            <a:r>
              <a:rPr lang="en-US" sz="2800" b="1" dirty="0"/>
              <a:t>Send Backward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D163B-0AF5-4C9E-A95D-A161A614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924944"/>
            <a:ext cx="4035902" cy="3805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4C3293-1410-47AF-9D79-651B3C8FD0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013" r="27950" b="17785"/>
          <a:stretch/>
        </p:blipFill>
        <p:spPr>
          <a:xfrm>
            <a:off x="4394926" y="2924943"/>
            <a:ext cx="4392488" cy="380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39907"/>
      </p:ext>
    </p:extLst>
  </p:cSld>
  <p:clrMapOvr>
    <a:masterClrMapping/>
  </p:clrMapOvr>
  <p:transition>
    <p:fade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an object's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If you want to move an object behind or in front of several objects, it's usually faster to use </a:t>
            </a:r>
            <a:r>
              <a:rPr lang="en-US" sz="2800" b="1" dirty="0"/>
              <a:t>Bring Forward or Send Backward</a:t>
            </a:r>
            <a:r>
              <a:rPr lang="en-US" sz="2800" dirty="0"/>
              <a:t> instead of clicking the other ordering command multiple times.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90936-601C-4AA3-88D0-A476C818E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2897"/>
            <a:ext cx="9144000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74308"/>
      </p:ext>
    </p:extLst>
  </p:cSld>
  <p:clrMapOvr>
    <a:masterClrMapping/>
  </p:clrMapOvr>
  <p:transition>
    <p:fad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rotate or flip an object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If you need to turn an object so it faces a different direction, you can </a:t>
            </a:r>
            <a:r>
              <a:rPr lang="en-US" sz="2800" b="1" dirty="0"/>
              <a:t>rotate it </a:t>
            </a:r>
            <a:r>
              <a:rPr lang="en-US" sz="2800" dirty="0"/>
              <a:t>to the left or right, or you can </a:t>
            </a:r>
            <a:r>
              <a:rPr lang="en-US" sz="2800" b="1" dirty="0"/>
              <a:t>flip it </a:t>
            </a:r>
            <a:r>
              <a:rPr lang="en-US" sz="2800" dirty="0"/>
              <a:t>horizontally or vertically.</a:t>
            </a:r>
          </a:p>
          <a:p>
            <a:pPr algn="just"/>
            <a:r>
              <a:rPr lang="en-US" dirty="0"/>
              <a:t>With the desired object selected, click the </a:t>
            </a:r>
            <a:r>
              <a:rPr lang="en-US" b="1" dirty="0"/>
              <a:t>Rotate command </a:t>
            </a:r>
            <a:r>
              <a:rPr lang="en-US" dirty="0"/>
              <a:t>on the </a:t>
            </a:r>
            <a:r>
              <a:rPr lang="en-US" b="1" dirty="0"/>
              <a:t>Format tab</a:t>
            </a:r>
            <a:r>
              <a:rPr lang="en-US" dirty="0"/>
              <a:t>, then choose the desired </a:t>
            </a:r>
            <a:r>
              <a:rPr lang="en-US" b="1" dirty="0"/>
              <a:t>rotation option</a:t>
            </a:r>
            <a:r>
              <a:rPr lang="en-US" dirty="0"/>
              <a:t>. In our example, we'll choose </a:t>
            </a:r>
            <a:r>
              <a:rPr lang="en-US" b="1" dirty="0"/>
              <a:t>rotate left 90 degrees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51F07-7DA7-4400-80BD-B593EC6A10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63" t="21987" r="25588" b="26188"/>
          <a:stretch/>
        </p:blipFill>
        <p:spPr>
          <a:xfrm>
            <a:off x="3131840" y="3933057"/>
            <a:ext cx="5184576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08013"/>
      </p:ext>
    </p:extLst>
  </p:cSld>
  <p:clrMapOvr>
    <a:masterClrMapping/>
  </p:clrMapOvr>
  <p:transition>
    <p:fade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Word - Charts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chart is a tool you can use to </a:t>
            </a:r>
            <a:r>
              <a:rPr lang="en-US" sz="2800" b="1" dirty="0"/>
              <a:t>communicate information graphically</a:t>
            </a:r>
            <a:r>
              <a:rPr lang="en-US" sz="2800" dirty="0"/>
              <a:t>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Including a chart in your document can help you illustrate numerical data like comparisons and trends so it's easier for the reader to understand.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91675"/>
      </p:ext>
    </p:extLst>
  </p:cSld>
  <p:clrMapOvr>
    <a:masterClrMapping/>
  </p:clrMapOvr>
  <p:transition>
    <p:fade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31949-2CF7-4E9C-82C4-5BD8A69B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9144000" cy="6414046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There are several types of charts to choose from.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To use charts effectively, you'll need to understand what makes each one unique.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6AA308-3277-43B6-AC81-B2105367A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5" y="2564904"/>
            <a:ext cx="734481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88865"/>
      </p:ext>
    </p:extLst>
  </p:cSld>
  <p:clrMapOvr>
    <a:masterClrMapping/>
  </p:clrMapOvr>
  <p:transition>
    <p:fade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C1F811-6F5E-4CDA-933E-A5EDB066E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20688"/>
            <a:ext cx="8280919" cy="5760640"/>
          </a:xfrm>
        </p:spPr>
      </p:pic>
    </p:spTree>
    <p:extLst>
      <p:ext uri="{BB962C8B-B14F-4D97-AF65-F5344CB8AC3E}">
        <p14:creationId xmlns:p14="http://schemas.microsoft.com/office/powerpoint/2010/main" val="4276893500"/>
      </p:ext>
    </p:extLst>
  </p:cSld>
  <p:clrMapOvr>
    <a:masterClrMapping/>
  </p:clrMapOvr>
  <p:transition>
    <p:fade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7511442-C20D-4768-BB24-0B3FE4ECE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692696"/>
            <a:ext cx="8136904" cy="5688632"/>
          </a:xfrm>
        </p:spPr>
      </p:pic>
    </p:spTree>
    <p:extLst>
      <p:ext uri="{BB962C8B-B14F-4D97-AF65-F5344CB8AC3E}">
        <p14:creationId xmlns:p14="http://schemas.microsoft.com/office/powerpoint/2010/main" val="2099990508"/>
      </p:ext>
    </p:extLst>
  </p:cSld>
  <p:clrMapOvr>
    <a:masterClrMapping/>
  </p:clrMapOvr>
  <p:transition>
    <p:fade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64D4B0-97BC-440A-956E-9DD31AA42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836712"/>
            <a:ext cx="8496943" cy="5616624"/>
          </a:xfrm>
        </p:spPr>
      </p:pic>
    </p:spTree>
    <p:extLst>
      <p:ext uri="{BB962C8B-B14F-4D97-AF65-F5344CB8AC3E}">
        <p14:creationId xmlns:p14="http://schemas.microsoft.com/office/powerpoint/2010/main" val="1460400698"/>
      </p:ext>
    </p:extLst>
  </p:cSld>
  <p:clrMapOvr>
    <a:masterClrMapping/>
  </p:clrMapOvr>
  <p:transition>
    <p:fade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1C194F-687F-4614-869C-97DA4B79E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96752"/>
            <a:ext cx="7416823" cy="4824535"/>
          </a:xfrm>
        </p:spPr>
      </p:pic>
    </p:spTree>
    <p:extLst>
      <p:ext uri="{BB962C8B-B14F-4D97-AF65-F5344CB8AC3E}">
        <p14:creationId xmlns:p14="http://schemas.microsoft.com/office/powerpoint/2010/main" val="3605233665"/>
      </p:ext>
    </p:extLst>
  </p:cSld>
  <p:clrMapOvr>
    <a:masterClrMapping/>
  </p:clrMapOvr>
  <p:transition>
    <p:fade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FB36CD-5401-483A-93D4-8433E02E6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24744"/>
            <a:ext cx="7848872" cy="5400600"/>
          </a:xfrm>
        </p:spPr>
      </p:pic>
    </p:spTree>
    <p:extLst>
      <p:ext uri="{BB962C8B-B14F-4D97-AF65-F5344CB8AC3E}">
        <p14:creationId xmlns:p14="http://schemas.microsoft.com/office/powerpoint/2010/main" val="3809094869"/>
      </p:ext>
    </p:extLst>
  </p:cSld>
  <p:clrMapOvr>
    <a:masterClrMapping/>
  </p:clrMapOvr>
  <p:transition>
    <p:fade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Types of charts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928A0F-7423-45C8-970C-5EC297C2B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52736"/>
            <a:ext cx="8208912" cy="4962593"/>
          </a:xfrm>
        </p:spPr>
      </p:pic>
    </p:spTree>
    <p:extLst>
      <p:ext uri="{BB962C8B-B14F-4D97-AF65-F5344CB8AC3E}">
        <p14:creationId xmlns:p14="http://schemas.microsoft.com/office/powerpoint/2010/main" val="3844784125"/>
      </p:ext>
    </p:extLst>
  </p:cSld>
  <p:clrMapOvr>
    <a:masterClrMapping/>
  </p:clrMapOvr>
  <p:transition>
    <p:fade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Identifying the parts of a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CC59F-158A-4466-BF0C-0A0D1231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8991600" cy="6120680"/>
          </a:xfrm>
        </p:spPr>
        <p:txBody>
          <a:bodyPr/>
          <a:lstStyle/>
          <a:p>
            <a:pPr algn="just"/>
            <a:r>
              <a:rPr lang="en-US" dirty="0"/>
              <a:t>In addition to chart types, you'll need to understand how to read a chart. </a:t>
            </a:r>
          </a:p>
          <a:p>
            <a:pPr algn="just"/>
            <a:r>
              <a:rPr lang="en-US" dirty="0"/>
              <a:t>Charts contain several different elements—or parts—that can help you interpret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DBEAB-992B-44BE-A976-1042DBDA1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2937"/>
            <a:ext cx="914400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69319"/>
      </p:ext>
    </p:extLst>
  </p:cSld>
  <p:clrMapOvr>
    <a:masterClrMapping/>
  </p:clrMapOvr>
  <p:transition>
    <p:fade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Identifying the parts of a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CC59F-158A-4466-BF0C-0A0D1231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8991600" cy="6120680"/>
          </a:xfrm>
        </p:spPr>
        <p:txBody>
          <a:bodyPr/>
          <a:lstStyle/>
          <a:p>
            <a:pPr algn="just"/>
            <a:r>
              <a:rPr lang="en-US" b="1" dirty="0"/>
              <a:t>Chart Title</a:t>
            </a:r>
            <a:r>
              <a:rPr lang="en-US" dirty="0"/>
              <a:t>: The title should clearly describe what the chart is illustrating.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Vertical Axis</a:t>
            </a:r>
            <a:r>
              <a:rPr lang="en-US" dirty="0"/>
              <a:t>: 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/>
              <a:t>vertical axis </a:t>
            </a:r>
            <a:r>
              <a:rPr lang="en-US" dirty="0"/>
              <a:t>(also known as the </a:t>
            </a:r>
            <a:r>
              <a:rPr lang="en-US" b="1" dirty="0"/>
              <a:t>y axis</a:t>
            </a:r>
            <a:r>
              <a:rPr lang="en-US" dirty="0"/>
              <a:t>) is the </a:t>
            </a:r>
            <a:r>
              <a:rPr lang="en-US" b="1" dirty="0"/>
              <a:t>vertical part of the chart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Here, the vertical axis measures the value of the columns. </a:t>
            </a:r>
          </a:p>
          <a:p>
            <a:pPr lvl="1" algn="just"/>
            <a:r>
              <a:rPr lang="en-US" dirty="0"/>
              <a:t>In this example, the measured value is each genre's </a:t>
            </a:r>
            <a:r>
              <a:rPr lang="en-US" b="1" dirty="0"/>
              <a:t>total sales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37364"/>
      </p:ext>
    </p:extLst>
  </p:cSld>
  <p:clrMapOvr>
    <a:masterClrMapping/>
  </p:clrMapOvr>
  <p:transition>
    <p:fade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Identifying the parts of a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CC59F-158A-4466-BF0C-0A0D1231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8991600" cy="612068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Horizontal Axis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/>
              <a:t>horizontal axis </a:t>
            </a:r>
            <a:r>
              <a:rPr lang="en-US" dirty="0"/>
              <a:t>(also known as the </a:t>
            </a:r>
            <a:r>
              <a:rPr lang="en-US" b="1" dirty="0"/>
              <a:t>x axis</a:t>
            </a:r>
            <a:r>
              <a:rPr lang="en-US" dirty="0"/>
              <a:t>) is the </a:t>
            </a:r>
            <a:r>
              <a:rPr lang="en-US" b="1" dirty="0"/>
              <a:t>horizontal part of the chart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Here, the horizontal axis identifies the categories in the chart. </a:t>
            </a:r>
          </a:p>
          <a:p>
            <a:pPr lvl="1" algn="just"/>
            <a:r>
              <a:rPr lang="en-US" dirty="0"/>
              <a:t>In this example, each genre is placed in its own group.</a:t>
            </a:r>
          </a:p>
          <a:p>
            <a:pPr algn="just"/>
            <a:r>
              <a:rPr lang="en-US" b="1" dirty="0"/>
              <a:t>Data Series</a:t>
            </a:r>
          </a:p>
          <a:p>
            <a:pPr lvl="1" algn="just"/>
            <a:r>
              <a:rPr lang="en-US" dirty="0"/>
              <a:t>The data series consists of the related data points in a chart. </a:t>
            </a:r>
          </a:p>
          <a:p>
            <a:pPr lvl="1" algn="just"/>
            <a:r>
              <a:rPr lang="en-US" dirty="0"/>
              <a:t>In this example, as we can see in the legend, the </a:t>
            </a:r>
            <a:r>
              <a:rPr lang="en-US" b="1" dirty="0"/>
              <a:t>yellow columns</a:t>
            </a:r>
            <a:r>
              <a:rPr lang="en-US" dirty="0"/>
              <a:t> represent </a:t>
            </a:r>
            <a:r>
              <a:rPr lang="en-US" b="1" dirty="0"/>
              <a:t>net sales in February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071606"/>
      </p:ext>
    </p:extLst>
  </p:cSld>
  <p:clrMapOvr>
    <a:masterClrMapping/>
  </p:clrMapOvr>
  <p:transition>
    <p:fade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Identifying the parts of a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CC59F-158A-4466-BF0C-0A0D1231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8991600" cy="612068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Legend</a:t>
            </a:r>
          </a:p>
          <a:p>
            <a:pPr lvl="1" algn="just"/>
            <a:r>
              <a:rPr lang="en-US" dirty="0"/>
              <a:t>The legend identifies which data series each color on the chart represents. </a:t>
            </a:r>
          </a:p>
          <a:p>
            <a:pPr lvl="1" algn="just"/>
            <a:r>
              <a:rPr lang="en-US" dirty="0"/>
              <a:t>In this example, the legend identifies the different months in the chart.</a:t>
            </a:r>
          </a:p>
        </p:txBody>
      </p:sp>
    </p:spTree>
    <p:extLst>
      <p:ext uri="{BB962C8B-B14F-4D97-AF65-F5344CB8AC3E}">
        <p14:creationId xmlns:p14="http://schemas.microsoft.com/office/powerpoint/2010/main" val="2901988517"/>
      </p:ext>
    </p:extLst>
  </p:cSld>
  <p:clrMapOvr>
    <a:masterClrMapping/>
  </p:clrMapOvr>
  <p:transition>
    <p:fade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Place the </a:t>
            </a:r>
            <a:r>
              <a:rPr lang="en-US" b="1" dirty="0"/>
              <a:t>insertion point </a:t>
            </a:r>
            <a:r>
              <a:rPr lang="en-US" dirty="0"/>
              <a:t>where you want the chart to appear.</a:t>
            </a:r>
          </a:p>
          <a:p>
            <a:pPr algn="just"/>
            <a:r>
              <a:rPr lang="en-US" dirty="0"/>
              <a:t>Navigate to the </a:t>
            </a:r>
            <a:r>
              <a:rPr lang="en-US" b="1" dirty="0"/>
              <a:t>Insert tab</a:t>
            </a:r>
            <a:r>
              <a:rPr lang="en-US" dirty="0"/>
              <a:t>, then click the </a:t>
            </a:r>
            <a:r>
              <a:rPr lang="en-US" b="1" dirty="0"/>
              <a:t>Chart command</a:t>
            </a:r>
            <a:r>
              <a:rPr lang="en-US" dirty="0"/>
              <a:t> in the </a:t>
            </a:r>
            <a:r>
              <a:rPr lang="en-US" b="1" dirty="0"/>
              <a:t>Illustrations </a:t>
            </a:r>
            <a:r>
              <a:rPr lang="en-US" dirty="0"/>
              <a:t>group.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9F832A-520F-4921-9E70-CC24B38EF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851438"/>
            <a:ext cx="8712968" cy="367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74468"/>
      </p:ext>
    </p:extLst>
  </p:cSld>
  <p:clrMapOvr>
    <a:masterClrMapping/>
  </p:clrMapOvr>
  <p:transition>
    <p:fade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A dialog box will appear. To view your options, choose a </a:t>
            </a:r>
            <a:r>
              <a:rPr lang="en-US" b="1" dirty="0"/>
              <a:t>chart type </a:t>
            </a:r>
            <a:r>
              <a:rPr lang="en-US" dirty="0"/>
              <a:t>from the left pane, then browse the </a:t>
            </a:r>
            <a:r>
              <a:rPr lang="en-US" b="1" dirty="0"/>
              <a:t>charts </a:t>
            </a:r>
            <a:r>
              <a:rPr lang="en-US" dirty="0"/>
              <a:t>on the right.</a:t>
            </a:r>
          </a:p>
          <a:p>
            <a:pPr algn="just"/>
            <a:r>
              <a:rPr lang="en-US" dirty="0"/>
              <a:t>Select the desired </a:t>
            </a:r>
            <a:r>
              <a:rPr lang="en-US" b="1" dirty="0"/>
              <a:t>chart</a:t>
            </a:r>
            <a:r>
              <a:rPr lang="en-US" dirty="0"/>
              <a:t>, then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4ED1C4-8BEF-4F9D-AB78-E4179CCB9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37" y="2636912"/>
            <a:ext cx="6867525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26307"/>
      </p:ext>
    </p:extLst>
  </p:cSld>
  <p:clrMapOvr>
    <a:masterClrMapping/>
  </p:clrMapOvr>
  <p:transition>
    <p:fade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A chart and spreadsheet window will appear. The text in the spreadsheet is merely a </a:t>
            </a:r>
            <a:r>
              <a:rPr lang="en-US" b="1" dirty="0"/>
              <a:t>placeholder</a:t>
            </a:r>
            <a:r>
              <a:rPr lang="en-US" dirty="0"/>
              <a:t> that you'll need to replace with your own source data. The source data is what Word will use to create the chart.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8BE54-4F7D-49F8-B0C4-9E6D68013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924944"/>
            <a:ext cx="6885384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79218"/>
      </p:ext>
    </p:extLst>
  </p:cSld>
  <p:clrMapOvr>
    <a:masterClrMapping/>
  </p:clrMapOvr>
  <p:transition>
    <p:fade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Enter your source data into the spreadsheet.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7F4F1-A6FE-4CC2-BBF8-2FEE1BFBB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68760"/>
            <a:ext cx="756084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74647"/>
      </p:ext>
    </p:extLst>
  </p:cSld>
  <p:clrMapOvr>
    <a:masterClrMapping/>
  </p:clrMapOvr>
  <p:transition>
    <p:fade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Only the data enclosed in the </a:t>
            </a:r>
            <a:r>
              <a:rPr lang="en-US" b="1" dirty="0"/>
              <a:t>blue box </a:t>
            </a:r>
            <a:r>
              <a:rPr lang="en-US" dirty="0"/>
              <a:t>will appear in the chart. If necessary, click and drag the </a:t>
            </a:r>
            <a:r>
              <a:rPr lang="en-US" b="1" dirty="0"/>
              <a:t>lower-right corner </a:t>
            </a:r>
            <a:r>
              <a:rPr lang="en-US" dirty="0"/>
              <a:t>of the blue box to manually increase or decrease the data range.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15AA0-8B82-4C0E-A784-2F2E27089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852936"/>
            <a:ext cx="792088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72930"/>
      </p:ext>
    </p:extLst>
  </p:cSld>
  <p:clrMapOvr>
    <a:masterClrMapping/>
  </p:clrMapOvr>
  <p:transition>
    <p:fade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When you're done, click </a:t>
            </a:r>
            <a:r>
              <a:rPr lang="en-US" b="1" dirty="0"/>
              <a:t>X</a:t>
            </a:r>
            <a:r>
              <a:rPr lang="en-US" dirty="0"/>
              <a:t> to close the spreadsheet window.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B9F3B-04FF-49B9-AF19-004AD9A98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938719"/>
            <a:ext cx="7488832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01220"/>
      </p:ext>
    </p:extLst>
  </p:cSld>
  <p:clrMapOvr>
    <a:masterClrMapping/>
  </p:clrMapOvr>
  <p:transition>
    <p:fade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insert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The chart will be complete.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D01-F2F8-4F12-B18D-4C6FD14DCB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89"/>
          <a:stretch/>
        </p:blipFill>
        <p:spPr>
          <a:xfrm>
            <a:off x="323528" y="1340769"/>
            <a:ext cx="8424936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29287"/>
      </p:ext>
    </p:extLst>
  </p:cSld>
  <p:clrMapOvr>
    <a:masterClrMapping/>
  </p:clrMapOvr>
  <p:transition>
    <p:fade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edit a chart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To edit your chart again, simply select it, then click the </a:t>
            </a:r>
            <a:r>
              <a:rPr lang="en-US" b="1" dirty="0"/>
              <a:t>Edit Data </a:t>
            </a:r>
            <a:r>
              <a:rPr lang="en-US" dirty="0"/>
              <a:t>command on the </a:t>
            </a:r>
            <a:r>
              <a:rPr lang="en-US" b="1" dirty="0"/>
              <a:t>Design tab</a:t>
            </a:r>
            <a:r>
              <a:rPr lang="en-US" dirty="0"/>
              <a:t>. The spreadsheet window will reappear..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9E07F-AC45-43A7-A750-64EEC7263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71750"/>
            <a:ext cx="8596064" cy="26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64453"/>
      </p:ext>
    </p:extLst>
  </p:cSld>
  <p:clrMapOvr>
    <a:masterClrMapping/>
  </p:clrMapOvr>
  <p:transition>
    <p:fade/>
  </p:transition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Modifying charts with chart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There are many ways to customize and organize your chart in Word.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For example, you can quickly change the </a:t>
            </a:r>
            <a:r>
              <a:rPr lang="en-US" b="1" dirty="0"/>
              <a:t>chart type</a:t>
            </a:r>
            <a:r>
              <a:rPr lang="en-US" dirty="0"/>
              <a:t>, </a:t>
            </a:r>
            <a:r>
              <a:rPr lang="en-US" b="1" dirty="0"/>
              <a:t>rearrange </a:t>
            </a:r>
            <a:r>
              <a:rPr lang="en-US" dirty="0"/>
              <a:t>the data, and even change the chart's </a:t>
            </a:r>
            <a:r>
              <a:rPr lang="en-US" b="1" dirty="0"/>
              <a:t>appearance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07529"/>
      </p:ext>
    </p:extLst>
  </p:cSld>
  <p:clrMapOvr>
    <a:masterClrMapping/>
  </p:clrMapOvr>
  <p:transition>
    <p:fade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switch row and column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Select the </a:t>
            </a:r>
            <a:r>
              <a:rPr lang="en-US" b="1" dirty="0"/>
              <a:t>chart</a:t>
            </a:r>
            <a:r>
              <a:rPr lang="en-US" dirty="0"/>
              <a:t> you want to modify. The </a:t>
            </a:r>
            <a:r>
              <a:rPr lang="en-US" b="1" dirty="0"/>
              <a:t>Design tab </a:t>
            </a:r>
            <a:r>
              <a:rPr lang="en-US" dirty="0"/>
              <a:t>will appear on the right side of the Ribbon.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C15DA3-4320-4977-8A85-BA6BE112D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2816"/>
            <a:ext cx="9144000" cy="508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43484"/>
      </p:ext>
    </p:extLst>
  </p:cSld>
  <p:clrMapOvr>
    <a:masterClrMapping/>
  </p:clrMapOvr>
  <p:transition>
    <p:fade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switch row and column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381328"/>
          </a:xfrm>
        </p:spPr>
        <p:txBody>
          <a:bodyPr/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Design tab</a:t>
            </a:r>
            <a:r>
              <a:rPr lang="en-US" dirty="0"/>
              <a:t>, click the </a:t>
            </a:r>
            <a:r>
              <a:rPr lang="en-US" b="1" dirty="0"/>
              <a:t>Edit Data </a:t>
            </a:r>
            <a:r>
              <a:rPr lang="en-US" dirty="0"/>
              <a:t>command in the </a:t>
            </a:r>
            <a:r>
              <a:rPr lang="en-US" b="1" dirty="0"/>
              <a:t>Data</a:t>
            </a:r>
            <a:r>
              <a:rPr lang="en-US" dirty="0"/>
              <a:t> group.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Click the </a:t>
            </a:r>
            <a:r>
              <a:rPr lang="en-US" b="1" dirty="0"/>
              <a:t>chart </a:t>
            </a:r>
            <a:r>
              <a:rPr lang="en-US" dirty="0"/>
              <a:t>again to reselect it, then click the </a:t>
            </a:r>
            <a:r>
              <a:rPr lang="en-US" b="1" dirty="0"/>
              <a:t>Switch Row/Column </a:t>
            </a:r>
            <a:r>
              <a:rPr lang="en-US" dirty="0"/>
              <a:t>command.</a:t>
            </a:r>
          </a:p>
          <a:p>
            <a:pPr algn="just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83EC55-3F4D-41B4-9470-B01B0736A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40" y="1556792"/>
            <a:ext cx="8496944" cy="1690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4D31D-A0B1-4799-B649-9ADDFE5B4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40" y="4581128"/>
            <a:ext cx="849694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02624"/>
      </p:ext>
    </p:extLst>
  </p:cSld>
  <p:clrMapOvr>
    <a:masterClrMapping/>
  </p:clrMapOvr>
  <p:transition>
    <p:fade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switch row and column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 rows and columns will be </a:t>
            </a:r>
            <a:r>
              <a:rPr lang="en-US" b="1" dirty="0"/>
              <a:t>switched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our example, the data is now grouped by month, with columns for each genre.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B607B-72A2-4928-B25B-34718ADB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2856"/>
            <a:ext cx="9144000" cy="4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89259"/>
      </p:ext>
    </p:extLst>
  </p:cSld>
  <p:clrMapOvr>
    <a:masterClrMapping/>
  </p:clrMapOvr>
  <p:transition>
    <p:fade/>
  </p:transition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type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If you find that your chosen chart type isn't suited to your data, you can change it to a different one.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our example, we'll change the chart type from a column chart to a line chart.</a:t>
            </a:r>
          </a:p>
        </p:txBody>
      </p:sp>
    </p:spTree>
    <p:extLst>
      <p:ext uri="{BB962C8B-B14F-4D97-AF65-F5344CB8AC3E}">
        <p14:creationId xmlns:p14="http://schemas.microsoft.com/office/powerpoint/2010/main" val="3685527820"/>
      </p:ext>
    </p:extLst>
  </p:cSld>
  <p:clrMapOvr>
    <a:masterClrMapping/>
  </p:clrMapOvr>
  <p:transition>
    <p:fade/>
  </p:transition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type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b="1" dirty="0"/>
              <a:t>Select </a:t>
            </a:r>
            <a:r>
              <a:rPr lang="en-US" dirty="0"/>
              <a:t>the </a:t>
            </a:r>
            <a:r>
              <a:rPr lang="en-US" b="1" dirty="0"/>
              <a:t>chart</a:t>
            </a:r>
            <a:r>
              <a:rPr lang="en-US" dirty="0"/>
              <a:t> you want to change. The </a:t>
            </a:r>
            <a:r>
              <a:rPr lang="en-US" b="1" dirty="0"/>
              <a:t>Design</a:t>
            </a:r>
            <a:r>
              <a:rPr lang="en-US" dirty="0"/>
              <a:t> tab will appear.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From the </a:t>
            </a:r>
            <a:r>
              <a:rPr lang="en-US" b="1" dirty="0"/>
              <a:t>Design tab</a:t>
            </a:r>
            <a:r>
              <a:rPr lang="en-US" dirty="0"/>
              <a:t>, click the </a:t>
            </a:r>
            <a:r>
              <a:rPr lang="en-US" b="1" dirty="0"/>
              <a:t>Change Chart Type</a:t>
            </a:r>
            <a:r>
              <a:rPr lang="en-US" dirty="0"/>
              <a:t> command.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B77E9-F3AC-4182-ADCA-FE710FFDF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648792"/>
            <a:ext cx="8568952" cy="25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75618"/>
      </p:ext>
    </p:extLst>
  </p:cSld>
  <p:clrMapOvr>
    <a:masterClrMapping/>
  </p:clrMapOvr>
  <p:transition>
    <p:fade/>
  </p:transition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type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A dialog box will appear. </a:t>
            </a:r>
          </a:p>
          <a:p>
            <a:pPr algn="just"/>
            <a:r>
              <a:rPr lang="en-US" b="1" dirty="0"/>
              <a:t>Select</a:t>
            </a:r>
            <a:r>
              <a:rPr lang="en-US" dirty="0"/>
              <a:t> the desired chart, then click OK.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C7C59-40A5-4670-A9F6-C75E2F1AC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8352927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55478"/>
      </p:ext>
    </p:extLst>
  </p:cSld>
  <p:clrMapOvr>
    <a:masterClrMapping/>
  </p:clrMapOvr>
  <p:transition>
    <p:fade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type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 new chart type will be applied. </a:t>
            </a:r>
          </a:p>
          <a:p>
            <a:pPr algn="just"/>
            <a:r>
              <a:rPr lang="en-US" dirty="0"/>
              <a:t>In our example, the line chart makes it easier to see trends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BB9BB-561E-4658-8AFD-3196166637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5"/>
          <a:stretch/>
        </p:blipFill>
        <p:spPr>
          <a:xfrm>
            <a:off x="539552" y="2132856"/>
            <a:ext cx="8136904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21196"/>
      </p:ext>
    </p:extLst>
  </p:cSld>
  <p:clrMapOvr>
    <a:masterClrMapping/>
  </p:clrMapOvr>
  <p:transition>
    <p:fade/>
  </p:transition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layout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Select the </a:t>
            </a:r>
            <a:r>
              <a:rPr lang="en-US" b="1" dirty="0"/>
              <a:t>chart</a:t>
            </a:r>
            <a:r>
              <a:rPr lang="en-US" dirty="0"/>
              <a:t> you want to modify. The </a:t>
            </a:r>
            <a:r>
              <a:rPr lang="en-US" b="1" dirty="0"/>
              <a:t>Design</a:t>
            </a:r>
            <a:r>
              <a:rPr lang="en-US" dirty="0"/>
              <a:t> tab will appear.</a:t>
            </a:r>
          </a:p>
          <a:p>
            <a:pPr algn="just"/>
            <a:r>
              <a:rPr lang="en-US" dirty="0"/>
              <a:t>From the </a:t>
            </a:r>
            <a:r>
              <a:rPr lang="en-US" b="1" dirty="0"/>
              <a:t>Design</a:t>
            </a:r>
            <a:r>
              <a:rPr lang="en-US" dirty="0"/>
              <a:t> tab, click the </a:t>
            </a:r>
            <a:r>
              <a:rPr lang="en-US" b="1" dirty="0"/>
              <a:t>Quick Layout</a:t>
            </a:r>
            <a:r>
              <a:rPr lang="en-US" dirty="0"/>
              <a:t> command.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31E8C-7D2D-42F1-A075-9014BFE38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068960"/>
            <a:ext cx="8352928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22782"/>
      </p:ext>
    </p:extLst>
  </p:cSld>
  <p:clrMapOvr>
    <a:masterClrMapping/>
  </p:clrMapOvr>
  <p:transition>
    <p:fade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layout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Choose the desired </a:t>
            </a:r>
            <a:r>
              <a:rPr lang="en-US" b="1" dirty="0"/>
              <a:t>layout</a:t>
            </a:r>
            <a:r>
              <a:rPr lang="en-US" dirty="0"/>
              <a:t> from the drop-down menu.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FD931-9636-4886-92F9-228073A1F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62124"/>
            <a:ext cx="7173416" cy="44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41415"/>
      </p:ext>
    </p:extLst>
  </p:cSld>
  <p:clrMapOvr>
    <a:masterClrMapping/>
  </p:clrMapOvr>
  <p:transition>
    <p:fade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layout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 chart will update to reflect the new layout.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C2ED4-27A0-4217-AE58-42091565E5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3"/>
          <a:stretch/>
        </p:blipFill>
        <p:spPr>
          <a:xfrm>
            <a:off x="323528" y="1412776"/>
            <a:ext cx="828092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06939"/>
      </p:ext>
    </p:extLst>
  </p:cSld>
  <p:clrMapOvr>
    <a:masterClrMapping/>
  </p:clrMapOvr>
  <p:transition>
    <p:fade/>
  </p:transition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Select the </a:t>
            </a:r>
            <a:r>
              <a:rPr lang="en-US" b="1" dirty="0"/>
              <a:t>chart</a:t>
            </a:r>
            <a:r>
              <a:rPr lang="en-US" dirty="0"/>
              <a:t> you want to modify. The </a:t>
            </a:r>
            <a:r>
              <a:rPr lang="en-US" b="1" dirty="0"/>
              <a:t>Design</a:t>
            </a:r>
            <a:r>
              <a:rPr lang="en-US" dirty="0"/>
              <a:t> tab will appear.</a:t>
            </a:r>
          </a:p>
          <a:p>
            <a:pPr algn="just"/>
            <a:r>
              <a:rPr lang="en-US" dirty="0"/>
              <a:t>From the </a:t>
            </a:r>
            <a:r>
              <a:rPr lang="en-US" b="1" dirty="0"/>
              <a:t>Design</a:t>
            </a:r>
            <a:r>
              <a:rPr lang="en-US" dirty="0"/>
              <a:t> tab, click the </a:t>
            </a:r>
            <a:r>
              <a:rPr lang="en-US" b="1" dirty="0"/>
              <a:t>More</a:t>
            </a:r>
            <a:r>
              <a:rPr lang="en-US" dirty="0"/>
              <a:t> drop-down arrow in the </a:t>
            </a:r>
            <a:r>
              <a:rPr lang="en-US" b="1" dirty="0"/>
              <a:t>Chart Styles </a:t>
            </a:r>
            <a:r>
              <a:rPr lang="en-US" dirty="0"/>
              <a:t>group.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33249-2C0C-4FD9-A929-59161E9F3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40968"/>
            <a:ext cx="8496944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89167"/>
      </p:ext>
    </p:extLst>
  </p:cSld>
  <p:clrMapOvr>
    <a:masterClrMapping/>
  </p:clrMapOvr>
  <p:transition>
    <p:fade/>
  </p:transition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A drop-down menu of styles will appear. Select the </a:t>
            </a:r>
            <a:r>
              <a:rPr lang="en-US" b="1" dirty="0"/>
              <a:t>style </a:t>
            </a:r>
            <a:r>
              <a:rPr lang="en-US" dirty="0"/>
              <a:t>you want.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67750-79D8-4DF7-95B9-8AB65B7DF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800"/>
            <a:ext cx="820891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08323"/>
      </p:ext>
    </p:extLst>
  </p:cSld>
  <p:clrMapOvr>
    <a:masterClrMapping/>
  </p:clrMapOvr>
  <p:transition>
    <p:fade/>
  </p:transition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The chart style will be applied.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E2A3D-5A0F-45B5-B314-22CF3FB6B5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3"/>
          <a:stretch/>
        </p:blipFill>
        <p:spPr>
          <a:xfrm>
            <a:off x="179512" y="1412776"/>
            <a:ext cx="8568952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90191"/>
      </p:ext>
    </p:extLst>
  </p:cSld>
  <p:clrMapOvr>
    <a:masterClrMapping/>
  </p:clrMapOvr>
  <p:transition>
    <p:fade/>
  </p:transition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To change the chart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700F4-2456-4F53-9A7B-F5202FA3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/>
          <a:lstStyle/>
          <a:p>
            <a:pPr algn="just"/>
            <a:r>
              <a:rPr lang="en-US" dirty="0"/>
              <a:t>For even faster customization, use the formatting shortcuts to the right of your chart.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These allow you to adjust the </a:t>
            </a:r>
            <a:r>
              <a:rPr lang="en-US" b="1" dirty="0"/>
              <a:t>chart style</a:t>
            </a:r>
            <a:r>
              <a:rPr lang="en-US" dirty="0"/>
              <a:t>, </a:t>
            </a:r>
            <a:r>
              <a:rPr lang="en-US" b="1" dirty="0"/>
              <a:t>chart elements</a:t>
            </a:r>
            <a:r>
              <a:rPr lang="en-US" dirty="0"/>
              <a:t>, and even add </a:t>
            </a:r>
            <a:r>
              <a:rPr lang="en-US" b="1" dirty="0"/>
              <a:t>filters</a:t>
            </a:r>
            <a:r>
              <a:rPr lang="en-US" dirty="0"/>
              <a:t> to your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5BDA6-271E-4AF8-BFAB-3FD89E890E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3"/>
          <a:stretch/>
        </p:blipFill>
        <p:spPr>
          <a:xfrm>
            <a:off x="611560" y="3284984"/>
            <a:ext cx="7920880" cy="352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9491"/>
      </p:ext>
    </p:extLst>
  </p:cSld>
  <p:clrMapOvr>
    <a:masterClrMapping/>
  </p:clrMapOvr>
  <p:transition>
    <p:fade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7137</TotalTime>
  <Words>6693</Words>
  <Application>Microsoft Office PowerPoint</Application>
  <PresentationFormat>On-screen Show (4:3)</PresentationFormat>
  <Paragraphs>871</Paragraphs>
  <Slides>180</Slides>
  <Notes>180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180</vt:i4>
      </vt:variant>
    </vt:vector>
  </HeadingPairs>
  <TitlesOfParts>
    <vt:vector size="185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Objectives Overview</vt:lpstr>
      <vt:lpstr>Create a Table in Word </vt:lpstr>
      <vt:lpstr>Create a Table</vt:lpstr>
      <vt:lpstr>Create a Table</vt:lpstr>
      <vt:lpstr>Create a Table</vt:lpstr>
      <vt:lpstr>Create a Table</vt:lpstr>
      <vt:lpstr>Delete a Table</vt:lpstr>
      <vt:lpstr>Add a Row</vt:lpstr>
      <vt:lpstr>Add a Row</vt:lpstr>
      <vt:lpstr>Delete a Row</vt:lpstr>
      <vt:lpstr>Delete a Row</vt:lpstr>
      <vt:lpstr>Add a Column</vt:lpstr>
      <vt:lpstr>Add a Column</vt:lpstr>
      <vt:lpstr>Delete a Column</vt:lpstr>
      <vt:lpstr>Delete a Column</vt:lpstr>
      <vt:lpstr>Move a Table</vt:lpstr>
      <vt:lpstr>Move a Table</vt:lpstr>
      <vt:lpstr>Resize a Table</vt:lpstr>
      <vt:lpstr>Resize a Table</vt:lpstr>
      <vt:lpstr>Merging Cells</vt:lpstr>
      <vt:lpstr>Merging Cells</vt:lpstr>
      <vt:lpstr>Split a Table</vt:lpstr>
      <vt:lpstr>Split a Table</vt:lpstr>
      <vt:lpstr>Split a Table</vt:lpstr>
      <vt:lpstr>Split a Cell</vt:lpstr>
      <vt:lpstr>Split a Cell</vt:lpstr>
      <vt:lpstr>Split a Cell</vt:lpstr>
      <vt:lpstr>Add a Formula</vt:lpstr>
      <vt:lpstr>Add a Formula</vt:lpstr>
      <vt:lpstr>Add a Formula</vt:lpstr>
      <vt:lpstr>Cell Formulae</vt:lpstr>
      <vt:lpstr>Add Borders to Table</vt:lpstr>
      <vt:lpstr>Add Borders to Table</vt:lpstr>
      <vt:lpstr>Add Borders to Table</vt:lpstr>
      <vt:lpstr>Add Borders to Table</vt:lpstr>
      <vt:lpstr>Using Border Options</vt:lpstr>
      <vt:lpstr>Using Border Options</vt:lpstr>
      <vt:lpstr>Using Border Options</vt:lpstr>
      <vt:lpstr>Add Shades To Table</vt:lpstr>
      <vt:lpstr>Add Shades To Table</vt:lpstr>
      <vt:lpstr>Using Border Options</vt:lpstr>
      <vt:lpstr>Pictures and Text Wrapping</vt:lpstr>
      <vt:lpstr>To insert a picture from a file</vt:lpstr>
      <vt:lpstr>To insert a picture from a file</vt:lpstr>
      <vt:lpstr>To insert a picture from a file</vt:lpstr>
      <vt:lpstr>Resize an image</vt:lpstr>
      <vt:lpstr>Changing text wrapping settings</vt:lpstr>
      <vt:lpstr>To wrap text around an image</vt:lpstr>
      <vt:lpstr>To wrap text around an image</vt:lpstr>
      <vt:lpstr>To wrap text around an image</vt:lpstr>
      <vt:lpstr>To wrap text around an image</vt:lpstr>
      <vt:lpstr>Using a predefined text wrapping setting</vt:lpstr>
      <vt:lpstr>Inserting online pictures</vt:lpstr>
      <vt:lpstr>Inserting online pictures</vt:lpstr>
      <vt:lpstr>Inserting online pictures</vt:lpstr>
      <vt:lpstr>Inserting online pictures</vt:lpstr>
      <vt:lpstr>To insert an online picture</vt:lpstr>
      <vt:lpstr>To insert an online picture</vt:lpstr>
      <vt:lpstr>To insert an online picture</vt:lpstr>
      <vt:lpstr>To insert an online picture</vt:lpstr>
      <vt:lpstr>Word - Formatting Pictures</vt:lpstr>
      <vt:lpstr>To crop an image</vt:lpstr>
      <vt:lpstr>To crop an image</vt:lpstr>
      <vt:lpstr>To crop an image</vt:lpstr>
      <vt:lpstr>To crop an image</vt:lpstr>
      <vt:lpstr>To crop an image to a shape</vt:lpstr>
      <vt:lpstr>To crop an image to a shape</vt:lpstr>
      <vt:lpstr>To add a border to a picture</vt:lpstr>
      <vt:lpstr>Making image adjustments</vt:lpstr>
      <vt:lpstr>Corrections</vt:lpstr>
      <vt:lpstr>Color</vt:lpstr>
      <vt:lpstr>Artistic Effects</vt:lpstr>
      <vt:lpstr>Picture Styles group</vt:lpstr>
      <vt:lpstr>Picture Styles group</vt:lpstr>
      <vt:lpstr>To compress a picture</vt:lpstr>
      <vt:lpstr>To compress a picture</vt:lpstr>
      <vt:lpstr>Word - Shapes</vt:lpstr>
      <vt:lpstr>To insert a shape</vt:lpstr>
      <vt:lpstr>To insert a shape</vt:lpstr>
      <vt:lpstr>To insert a shape</vt:lpstr>
      <vt:lpstr>To change the order of shapes</vt:lpstr>
      <vt:lpstr>To change the order of shapes</vt:lpstr>
      <vt:lpstr>To change the order of shapes</vt:lpstr>
      <vt:lpstr>To change the order of shapes</vt:lpstr>
      <vt:lpstr>To change the order of shapes</vt:lpstr>
      <vt:lpstr>To resize a shape</vt:lpstr>
      <vt:lpstr>To resize a shape</vt:lpstr>
      <vt:lpstr>To resize a shape</vt:lpstr>
      <vt:lpstr>To resize a shape</vt:lpstr>
      <vt:lpstr>Modifying shapes</vt:lpstr>
      <vt:lpstr>To change the shape style</vt:lpstr>
      <vt:lpstr>To change the shape style</vt:lpstr>
      <vt:lpstr>To change the shape style</vt:lpstr>
      <vt:lpstr>To change the shape fill color</vt:lpstr>
      <vt:lpstr>To change the shape fill color</vt:lpstr>
      <vt:lpstr>To change the shape fill color</vt:lpstr>
      <vt:lpstr>To change the shape outline</vt:lpstr>
      <vt:lpstr>To change the shape outline</vt:lpstr>
      <vt:lpstr>To change the shape outline</vt:lpstr>
      <vt:lpstr>To change the shape outline</vt:lpstr>
      <vt:lpstr>To add shape effects</vt:lpstr>
      <vt:lpstr>To add shape effects</vt:lpstr>
      <vt:lpstr>To add shape effects</vt:lpstr>
      <vt:lpstr>To add shape effects</vt:lpstr>
      <vt:lpstr>To change to a different shape</vt:lpstr>
      <vt:lpstr>To change to a different shape</vt:lpstr>
      <vt:lpstr>To change to a different shape</vt:lpstr>
      <vt:lpstr>Word - Text Boxes</vt:lpstr>
      <vt:lpstr>To insert a text box</vt:lpstr>
      <vt:lpstr>To insert a text box</vt:lpstr>
      <vt:lpstr>To insert a text box</vt:lpstr>
      <vt:lpstr>To insert a text box</vt:lpstr>
      <vt:lpstr>To insert a text box</vt:lpstr>
      <vt:lpstr>To move a text box</vt:lpstr>
      <vt:lpstr>To resize a text box</vt:lpstr>
      <vt:lpstr>Modifying text boxes</vt:lpstr>
      <vt:lpstr>To change the shape style</vt:lpstr>
      <vt:lpstr>To change the shape style</vt:lpstr>
      <vt:lpstr>To change the shape style</vt:lpstr>
      <vt:lpstr>To change the text box shape</vt:lpstr>
      <vt:lpstr>To change the text box shape</vt:lpstr>
      <vt:lpstr>To change the text box shape</vt:lpstr>
      <vt:lpstr>Word - Aligning, Ordering, and Grouping Objects</vt:lpstr>
      <vt:lpstr>To align two or more objects</vt:lpstr>
      <vt:lpstr>To align two or more objects</vt:lpstr>
      <vt:lpstr>To align two or more objects</vt:lpstr>
      <vt:lpstr>To align two or more objects</vt:lpstr>
      <vt:lpstr>To distribute objects evenly</vt:lpstr>
      <vt:lpstr>To distribute objects evenly</vt:lpstr>
      <vt:lpstr>To distribute objects evenly</vt:lpstr>
      <vt:lpstr>Grouping objects</vt:lpstr>
      <vt:lpstr>To group objects</vt:lpstr>
      <vt:lpstr>To ungroup objects</vt:lpstr>
      <vt:lpstr>To ungroup objects</vt:lpstr>
      <vt:lpstr>Ordering objects</vt:lpstr>
      <vt:lpstr>Understanding levels</vt:lpstr>
      <vt:lpstr>Understanding levels</vt:lpstr>
      <vt:lpstr>To change an object's level</vt:lpstr>
      <vt:lpstr>To change an object's level</vt:lpstr>
      <vt:lpstr>To change an object's level</vt:lpstr>
      <vt:lpstr>To rotate or flip an object</vt:lpstr>
      <vt:lpstr>Word - Charts</vt:lpstr>
      <vt:lpstr>Types of charts</vt:lpstr>
      <vt:lpstr>Types of charts</vt:lpstr>
      <vt:lpstr>Types of charts</vt:lpstr>
      <vt:lpstr>Types of charts</vt:lpstr>
      <vt:lpstr>Types of charts</vt:lpstr>
      <vt:lpstr>Types of charts</vt:lpstr>
      <vt:lpstr>Types of charts</vt:lpstr>
      <vt:lpstr>Identifying the parts of a chart</vt:lpstr>
      <vt:lpstr>Identifying the parts of a chart</vt:lpstr>
      <vt:lpstr>Identifying the parts of a chart</vt:lpstr>
      <vt:lpstr>Identifying the parts of a chart</vt:lpstr>
      <vt:lpstr>To insert a chart</vt:lpstr>
      <vt:lpstr>To insert a chart</vt:lpstr>
      <vt:lpstr>To insert a chart</vt:lpstr>
      <vt:lpstr>To insert a chart</vt:lpstr>
      <vt:lpstr>To insert a chart</vt:lpstr>
      <vt:lpstr>To insert a chart</vt:lpstr>
      <vt:lpstr>To insert a chart</vt:lpstr>
      <vt:lpstr>To edit a chart</vt:lpstr>
      <vt:lpstr>Modifying charts with chart tools</vt:lpstr>
      <vt:lpstr>To switch row and column data</vt:lpstr>
      <vt:lpstr>To switch row and column data</vt:lpstr>
      <vt:lpstr>To switch row and column data</vt:lpstr>
      <vt:lpstr>To change the chart type</vt:lpstr>
      <vt:lpstr>To change the chart type</vt:lpstr>
      <vt:lpstr>To change the chart type</vt:lpstr>
      <vt:lpstr>To change the chart type</vt:lpstr>
      <vt:lpstr>To change the chart layout</vt:lpstr>
      <vt:lpstr>To change the chart layout</vt:lpstr>
      <vt:lpstr>To change the chart layout</vt:lpstr>
      <vt:lpstr>To change the chart style</vt:lpstr>
      <vt:lpstr>To change the chart style</vt:lpstr>
      <vt:lpstr>To change the chart style</vt:lpstr>
      <vt:lpstr>To change the chart style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USER</cp:lastModifiedBy>
  <cp:revision>403</cp:revision>
  <dcterms:created xsi:type="dcterms:W3CDTF">2008-12-18T17:11:12Z</dcterms:created>
  <dcterms:modified xsi:type="dcterms:W3CDTF">2023-02-11T06:34:32Z</dcterms:modified>
</cp:coreProperties>
</file>
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2"/>
  </p:notesMasterIdLst>
  <p:sldIdLst>
    <p:sldId id="260" r:id="rId2"/>
    <p:sldId id="385" r:id="rId3"/>
    <p:sldId id="294" r:id="rId4"/>
    <p:sldId id="518" r:id="rId5"/>
    <p:sldId id="519" r:id="rId6"/>
    <p:sldId id="520" r:id="rId7"/>
    <p:sldId id="521" r:id="rId8"/>
    <p:sldId id="522" r:id="rId9"/>
    <p:sldId id="524" r:id="rId10"/>
    <p:sldId id="523" r:id="rId11"/>
    <p:sldId id="525" r:id="rId12"/>
    <p:sldId id="526" r:id="rId13"/>
    <p:sldId id="527" r:id="rId14"/>
    <p:sldId id="528" r:id="rId15"/>
    <p:sldId id="529" r:id="rId16"/>
    <p:sldId id="530" r:id="rId17"/>
    <p:sldId id="531" r:id="rId18"/>
    <p:sldId id="532" r:id="rId19"/>
    <p:sldId id="533" r:id="rId20"/>
    <p:sldId id="534" r:id="rId21"/>
    <p:sldId id="535" r:id="rId22"/>
    <p:sldId id="536" r:id="rId23"/>
    <p:sldId id="537" r:id="rId24"/>
    <p:sldId id="538" r:id="rId25"/>
    <p:sldId id="539" r:id="rId26"/>
    <p:sldId id="540" r:id="rId27"/>
    <p:sldId id="541" r:id="rId28"/>
    <p:sldId id="542" r:id="rId29"/>
    <p:sldId id="543" r:id="rId30"/>
    <p:sldId id="544" r:id="rId31"/>
    <p:sldId id="545" r:id="rId32"/>
    <p:sldId id="546" r:id="rId33"/>
    <p:sldId id="547" r:id="rId34"/>
    <p:sldId id="548" r:id="rId35"/>
    <p:sldId id="549" r:id="rId36"/>
    <p:sldId id="550" r:id="rId37"/>
    <p:sldId id="551" r:id="rId38"/>
    <p:sldId id="552" r:id="rId39"/>
    <p:sldId id="553" r:id="rId40"/>
    <p:sldId id="554" r:id="rId41"/>
    <p:sldId id="555" r:id="rId42"/>
    <p:sldId id="556" r:id="rId43"/>
    <p:sldId id="557" r:id="rId44"/>
    <p:sldId id="558" r:id="rId45"/>
    <p:sldId id="560" r:id="rId46"/>
    <p:sldId id="559" r:id="rId47"/>
    <p:sldId id="561" r:id="rId48"/>
    <p:sldId id="562" r:id="rId49"/>
    <p:sldId id="563" r:id="rId50"/>
    <p:sldId id="564" r:id="rId51"/>
    <p:sldId id="565" r:id="rId52"/>
    <p:sldId id="566" r:id="rId53"/>
    <p:sldId id="567" r:id="rId54"/>
    <p:sldId id="568" r:id="rId55"/>
    <p:sldId id="569" r:id="rId56"/>
    <p:sldId id="570" r:id="rId57"/>
    <p:sldId id="572" r:id="rId58"/>
    <p:sldId id="571" r:id="rId59"/>
    <p:sldId id="440" r:id="rId60"/>
    <p:sldId id="384" r:id="rId6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7531"/>
    <a:srgbClr val="EEEB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4660"/>
  </p:normalViewPr>
  <p:slideViewPr>
    <p:cSldViewPr>
      <p:cViewPr varScale="1">
        <p:scale>
          <a:sx n="68" d="100"/>
          <a:sy n="68" d="100"/>
        </p:scale>
        <p:origin x="144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01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7D821BC7-213D-4CEC-978A-9CFFE70F3D67}">
      <dgm:prSet/>
      <dgm:spPr/>
      <dgm:t>
        <a:bodyPr/>
        <a:lstStyle/>
        <a:p>
          <a:r>
            <a:rPr lang="en-US" dirty="0"/>
            <a:t>Introduction </a:t>
          </a:r>
        </a:p>
        <a:p>
          <a:r>
            <a:rPr lang="en-US" dirty="0"/>
            <a:t>to </a:t>
          </a:r>
        </a:p>
        <a:p>
          <a:r>
            <a:rPr lang="en-US" dirty="0"/>
            <a:t>Microsoft word </a:t>
          </a:r>
        </a:p>
      </dgm:t>
    </dgm:pt>
    <dgm:pt modelId="{ED2C2DDE-E64A-4045-9DC7-203AF2A63846}" type="parTrans" cxnId="{331EC4E3-DC32-4A83-872F-34DD2D9EAD5A}">
      <dgm:prSet/>
      <dgm:spPr/>
      <dgm:t>
        <a:bodyPr/>
        <a:lstStyle/>
        <a:p>
          <a:endParaRPr lang="en-US"/>
        </a:p>
      </dgm:t>
    </dgm:pt>
    <dgm:pt modelId="{AC409FAE-4704-48A8-9261-8AFBDD18865D}" type="sibTrans" cxnId="{331EC4E3-DC32-4A83-872F-34DD2D9EAD5A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</dgm:pt>
    <dgm:pt modelId="{9972E4C6-FDD6-4F32-8994-B9E0115268C3}" type="pres">
      <dgm:prSet presAssocID="{7D821BC7-213D-4CEC-978A-9CFFE70F3D67}" presName="node" presStyleLbl="node1" presStyleIdx="0" presStyleCnt="1" custScaleX="110222" custLinFactNeighborY="-1666">
        <dgm:presLayoutVars>
          <dgm:bulletEnabled val="1"/>
        </dgm:presLayoutVars>
      </dgm:prSet>
      <dgm:spPr/>
    </dgm:pt>
  </dgm:ptLst>
  <dgm:cxnLst>
    <dgm:cxn modelId="{0B62D86B-A0DA-4B75-8C82-CC0B7B67BE45}" type="presOf" srcId="{7D821BC7-213D-4CEC-978A-9CFFE70F3D67}" destId="{9972E4C6-FDD6-4F32-8994-B9E0115268C3}" srcOrd="0" destOrd="0" presId="urn:microsoft.com/office/officeart/2005/8/layout/default#1"/>
    <dgm:cxn modelId="{331EC4E3-DC32-4A83-872F-34DD2D9EAD5A}" srcId="{3DE9E547-3C66-4E5D-9D07-0515EED2B913}" destId="{7D821BC7-213D-4CEC-978A-9CFFE70F3D67}" srcOrd="0" destOrd="0" parTransId="{ED2C2DDE-E64A-4045-9DC7-203AF2A63846}" sibTransId="{AC409FAE-4704-48A8-9261-8AFBDD18865D}"/>
    <dgm:cxn modelId="{36C3BEF2-2DBA-42EB-9810-973BE445D0C7}" type="presOf" srcId="{3DE9E547-3C66-4E5D-9D07-0515EED2B913}" destId="{46A1C575-DE29-4021-A28C-E1E7FA78085E}" srcOrd="0" destOrd="0" presId="urn:microsoft.com/office/officeart/2005/8/layout/default#1"/>
    <dgm:cxn modelId="{9FF98F3C-4B54-499E-81E4-D4C2F1EE2959}" type="presParOf" srcId="{46A1C575-DE29-4021-A28C-E1E7FA78085E}" destId="{9972E4C6-FDD6-4F32-8994-B9E0115268C3}" srcOrd="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7D821BC7-213D-4CEC-978A-9CFFE70F3D67}">
      <dgm:prSet/>
      <dgm:spPr/>
      <dgm:t>
        <a:bodyPr/>
        <a:lstStyle/>
        <a:p>
          <a:r>
            <a:rPr lang="en-US" dirty="0"/>
            <a:t>Collaboration and Reviewing</a:t>
          </a:r>
        </a:p>
      </dgm:t>
    </dgm:pt>
    <dgm:pt modelId="{ED2C2DDE-E64A-4045-9DC7-203AF2A63846}" type="parTrans" cxnId="{331EC4E3-DC32-4A83-872F-34DD2D9EAD5A}">
      <dgm:prSet/>
      <dgm:spPr/>
      <dgm:t>
        <a:bodyPr/>
        <a:lstStyle/>
        <a:p>
          <a:endParaRPr lang="en-US"/>
        </a:p>
      </dgm:t>
    </dgm:pt>
    <dgm:pt modelId="{AC409FAE-4704-48A8-9261-8AFBDD18865D}" type="sibTrans" cxnId="{331EC4E3-DC32-4A83-872F-34DD2D9EAD5A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</dgm:pt>
    <dgm:pt modelId="{9972E4C6-FDD6-4F32-8994-B9E0115268C3}" type="pres">
      <dgm:prSet presAssocID="{7D821BC7-213D-4CEC-978A-9CFFE70F3D67}" presName="node" presStyleLbl="node1" presStyleIdx="0" presStyleCnt="1" custScaleX="110222" custLinFactNeighborY="-1666">
        <dgm:presLayoutVars>
          <dgm:bulletEnabled val="1"/>
        </dgm:presLayoutVars>
      </dgm:prSet>
      <dgm:spPr/>
    </dgm:pt>
  </dgm:ptLst>
  <dgm:cxnLst>
    <dgm:cxn modelId="{88175D38-BFA8-4D43-90FA-3BE39FD3975D}" type="presOf" srcId="{3DE9E547-3C66-4E5D-9D07-0515EED2B913}" destId="{46A1C575-DE29-4021-A28C-E1E7FA78085E}" srcOrd="0" destOrd="0" presId="urn:microsoft.com/office/officeart/2005/8/layout/default#1"/>
    <dgm:cxn modelId="{331EC4E3-DC32-4A83-872F-34DD2D9EAD5A}" srcId="{3DE9E547-3C66-4E5D-9D07-0515EED2B913}" destId="{7D821BC7-213D-4CEC-978A-9CFFE70F3D67}" srcOrd="0" destOrd="0" parTransId="{ED2C2DDE-E64A-4045-9DC7-203AF2A63846}" sibTransId="{AC409FAE-4704-48A8-9261-8AFBDD18865D}"/>
    <dgm:cxn modelId="{65DCDAFD-8909-4CCC-96D3-23F19B6A2257}" type="presOf" srcId="{7D821BC7-213D-4CEC-978A-9CFFE70F3D67}" destId="{9972E4C6-FDD6-4F32-8994-B9E0115268C3}" srcOrd="0" destOrd="0" presId="urn:microsoft.com/office/officeart/2005/8/layout/default#1"/>
    <dgm:cxn modelId="{D5A03DA0-5C1B-4D49-89F3-846B63674282}" type="presParOf" srcId="{46A1C575-DE29-4021-A28C-E1E7FA78085E}" destId="{9972E4C6-FDD6-4F32-8994-B9E0115268C3}" srcOrd="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F9022B54-68C2-4973-9A00-460029290542}">
      <dgm:prSet phldrT="[Text]"/>
      <dgm:spPr/>
      <dgm:t>
        <a:bodyPr/>
        <a:lstStyle/>
        <a:p>
          <a:r>
            <a:rPr lang="en-US" dirty="0"/>
            <a:t>How to use review features available in word</a:t>
          </a:r>
        </a:p>
      </dgm:t>
    </dgm:pt>
    <dgm:pt modelId="{0EBC0F7C-C083-479E-822C-AA3F278D062A}" type="parTrans" cxnId="{A36A33C9-5EC3-4472-82B9-956D1373C0B4}">
      <dgm:prSet/>
      <dgm:spPr/>
      <dgm:t>
        <a:bodyPr/>
        <a:lstStyle/>
        <a:p>
          <a:endParaRPr lang="en-US"/>
        </a:p>
      </dgm:t>
    </dgm:pt>
    <dgm:pt modelId="{AEC43A17-FDDC-4261-BB01-B6005B7A4552}" type="sibTrans" cxnId="{A36A33C9-5EC3-4472-82B9-956D1373C0B4}">
      <dgm:prSet/>
      <dgm:spPr/>
      <dgm:t>
        <a:bodyPr/>
        <a:lstStyle/>
        <a:p>
          <a:endParaRPr lang="en-US"/>
        </a:p>
      </dgm:t>
    </dgm:pt>
    <dgm:pt modelId="{BBBB9B4E-DA71-45DE-92BC-1EF247E5F9B2}">
      <dgm:prSet/>
      <dgm:spPr/>
      <dgm:t>
        <a:bodyPr/>
        <a:lstStyle/>
        <a:p>
          <a:r>
            <a:rPr lang="en-US" dirty="0"/>
            <a:t>How to use to track changes and comments when collaborating on documents</a:t>
          </a:r>
        </a:p>
      </dgm:t>
    </dgm:pt>
    <dgm:pt modelId="{A9ED417C-F968-4650-A07D-E6C8B9F80C83}" type="parTrans" cxnId="{8294D506-3CCF-46C3-9D45-09DDBBAFC9A2}">
      <dgm:prSet/>
      <dgm:spPr/>
      <dgm:t>
        <a:bodyPr/>
        <a:lstStyle/>
        <a:p>
          <a:endParaRPr lang="en-US"/>
        </a:p>
      </dgm:t>
    </dgm:pt>
    <dgm:pt modelId="{8B37F55B-F450-4B0B-98F7-A2B490DAC81A}" type="sibTrans" cxnId="{8294D506-3CCF-46C3-9D45-09DDBBAFC9A2}">
      <dgm:prSet/>
      <dgm:spPr/>
      <dgm:t>
        <a:bodyPr/>
        <a:lstStyle/>
        <a:p>
          <a:endParaRPr lang="en-US"/>
        </a:p>
      </dgm:t>
    </dgm:pt>
    <dgm:pt modelId="{C11B75ED-B46B-4BF2-80F2-DA583A75044E}">
      <dgm:prSet/>
      <dgm:spPr/>
      <dgm:t>
        <a:bodyPr/>
        <a:lstStyle/>
        <a:p>
          <a:r>
            <a:rPr lang="en-US" dirty="0"/>
            <a:t>How to add security to a word</a:t>
          </a:r>
        </a:p>
        <a:p>
          <a:endParaRPr lang="en-US" dirty="0"/>
        </a:p>
      </dgm:t>
    </dgm:pt>
    <dgm:pt modelId="{5645C486-8F55-4C5D-BAFE-57B0FB9C1457}" type="parTrans" cxnId="{0DB3BCB8-BFA0-457C-84E0-1D03CDEA15BA}">
      <dgm:prSet/>
      <dgm:spPr/>
      <dgm:t>
        <a:bodyPr/>
        <a:lstStyle/>
        <a:p>
          <a:endParaRPr lang="en-US"/>
        </a:p>
      </dgm:t>
    </dgm:pt>
    <dgm:pt modelId="{0F8F958D-95B3-4287-AB04-371DBF737C1C}" type="sibTrans" cxnId="{0DB3BCB8-BFA0-457C-84E0-1D03CDEA15BA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</dgm:pt>
    <dgm:pt modelId="{E43CDCF3-D5B2-4556-A6FF-1FBA940E878F}" type="pres">
      <dgm:prSet presAssocID="{F9022B54-68C2-4973-9A00-460029290542}" presName="node" presStyleLbl="node1" presStyleIdx="0" presStyleCnt="3">
        <dgm:presLayoutVars>
          <dgm:bulletEnabled val="1"/>
        </dgm:presLayoutVars>
      </dgm:prSet>
      <dgm:spPr/>
    </dgm:pt>
    <dgm:pt modelId="{54066D3B-676A-41CA-98B3-C0905E22B6EF}" type="pres">
      <dgm:prSet presAssocID="{AEC43A17-FDDC-4261-BB01-B6005B7A4552}" presName="sibTrans" presStyleCnt="0"/>
      <dgm:spPr/>
    </dgm:pt>
    <dgm:pt modelId="{08678D36-F832-48B7-8548-C43AEE1F6A43}" type="pres">
      <dgm:prSet presAssocID="{BBBB9B4E-DA71-45DE-92BC-1EF247E5F9B2}" presName="node" presStyleLbl="node1" presStyleIdx="1" presStyleCnt="3">
        <dgm:presLayoutVars>
          <dgm:bulletEnabled val="1"/>
        </dgm:presLayoutVars>
      </dgm:prSet>
      <dgm:spPr/>
    </dgm:pt>
    <dgm:pt modelId="{94E3CC2B-92E4-4B0C-B930-B4411572BF9F}" type="pres">
      <dgm:prSet presAssocID="{8B37F55B-F450-4B0B-98F7-A2B490DAC81A}" presName="sibTrans" presStyleCnt="0"/>
      <dgm:spPr/>
    </dgm:pt>
    <dgm:pt modelId="{D32AB574-D896-42B8-809A-74BD322B19E9}" type="pres">
      <dgm:prSet presAssocID="{C11B75ED-B46B-4BF2-80F2-DA583A75044E}" presName="node" presStyleLbl="node1" presStyleIdx="2" presStyleCnt="3">
        <dgm:presLayoutVars>
          <dgm:bulletEnabled val="1"/>
        </dgm:presLayoutVars>
      </dgm:prSet>
      <dgm:spPr/>
    </dgm:pt>
  </dgm:ptLst>
  <dgm:cxnLst>
    <dgm:cxn modelId="{8294D506-3CCF-46C3-9D45-09DDBBAFC9A2}" srcId="{3DE9E547-3C66-4E5D-9D07-0515EED2B913}" destId="{BBBB9B4E-DA71-45DE-92BC-1EF247E5F9B2}" srcOrd="1" destOrd="0" parTransId="{A9ED417C-F968-4650-A07D-E6C8B9F80C83}" sibTransId="{8B37F55B-F450-4B0B-98F7-A2B490DAC81A}"/>
    <dgm:cxn modelId="{DB5CF76F-016D-4F32-AE1E-423FE30EF2F6}" type="presOf" srcId="{F9022B54-68C2-4973-9A00-460029290542}" destId="{E43CDCF3-D5B2-4556-A6FF-1FBA940E878F}" srcOrd="0" destOrd="0" presId="urn:microsoft.com/office/officeart/2005/8/layout/default#1"/>
    <dgm:cxn modelId="{5975DE9F-9538-4AC2-A004-1F0309A49A9F}" type="presOf" srcId="{BBBB9B4E-DA71-45DE-92BC-1EF247E5F9B2}" destId="{08678D36-F832-48B7-8548-C43AEE1F6A43}" srcOrd="0" destOrd="0" presId="urn:microsoft.com/office/officeart/2005/8/layout/default#1"/>
    <dgm:cxn modelId="{0DB3BCB8-BFA0-457C-84E0-1D03CDEA15BA}" srcId="{3DE9E547-3C66-4E5D-9D07-0515EED2B913}" destId="{C11B75ED-B46B-4BF2-80F2-DA583A75044E}" srcOrd="2" destOrd="0" parTransId="{5645C486-8F55-4C5D-BAFE-57B0FB9C1457}" sibTransId="{0F8F958D-95B3-4287-AB04-371DBF737C1C}"/>
    <dgm:cxn modelId="{A36A33C9-5EC3-4472-82B9-956D1373C0B4}" srcId="{3DE9E547-3C66-4E5D-9D07-0515EED2B913}" destId="{F9022B54-68C2-4973-9A00-460029290542}" srcOrd="0" destOrd="0" parTransId="{0EBC0F7C-C083-479E-822C-AA3F278D062A}" sibTransId="{AEC43A17-FDDC-4261-BB01-B6005B7A4552}"/>
    <dgm:cxn modelId="{8C7B99DC-F8B1-492C-AD47-8DB1AB5E9999}" type="presOf" srcId="{C11B75ED-B46B-4BF2-80F2-DA583A75044E}" destId="{D32AB574-D896-42B8-809A-74BD322B19E9}" srcOrd="0" destOrd="0" presId="urn:microsoft.com/office/officeart/2005/8/layout/default#1"/>
    <dgm:cxn modelId="{36C3BEF2-2DBA-42EB-9810-973BE445D0C7}" type="presOf" srcId="{3DE9E547-3C66-4E5D-9D07-0515EED2B913}" destId="{46A1C575-DE29-4021-A28C-E1E7FA78085E}" srcOrd="0" destOrd="0" presId="urn:microsoft.com/office/officeart/2005/8/layout/default#1"/>
    <dgm:cxn modelId="{C6831F33-A671-4D3A-9651-E6901DF4D6AC}" type="presParOf" srcId="{46A1C575-DE29-4021-A28C-E1E7FA78085E}" destId="{E43CDCF3-D5B2-4556-A6FF-1FBA940E878F}" srcOrd="0" destOrd="0" presId="urn:microsoft.com/office/officeart/2005/8/layout/default#1"/>
    <dgm:cxn modelId="{23A16BBC-1098-40CF-A0D5-9C900233786D}" type="presParOf" srcId="{46A1C575-DE29-4021-A28C-E1E7FA78085E}" destId="{54066D3B-676A-41CA-98B3-C0905E22B6EF}" srcOrd="1" destOrd="0" presId="urn:microsoft.com/office/officeart/2005/8/layout/default#1"/>
    <dgm:cxn modelId="{55059F0B-6C91-4088-9340-8226AFFF946D}" type="presParOf" srcId="{46A1C575-DE29-4021-A28C-E1E7FA78085E}" destId="{08678D36-F832-48B7-8548-C43AEE1F6A43}" srcOrd="2" destOrd="0" presId="urn:microsoft.com/office/officeart/2005/8/layout/default#1"/>
    <dgm:cxn modelId="{183C0D9A-7891-4D10-9A6B-84445838AF97}" type="presParOf" srcId="{46A1C575-DE29-4021-A28C-E1E7FA78085E}" destId="{94E3CC2B-92E4-4B0C-B930-B4411572BF9F}" srcOrd="3" destOrd="0" presId="urn:microsoft.com/office/officeart/2005/8/layout/default#1"/>
    <dgm:cxn modelId="{10FB1E55-51FE-4D10-8536-2E0EBE944374}" type="presParOf" srcId="{46A1C575-DE29-4021-A28C-E1E7FA78085E}" destId="{D32AB574-D896-42B8-809A-74BD322B19E9}" srcOrd="4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2E4C6-FDD6-4F32-8994-B9E0115268C3}">
      <dsp:nvSpPr>
        <dsp:cNvPr id="0" name=""/>
        <dsp:cNvSpPr/>
      </dsp:nvSpPr>
      <dsp:spPr>
        <a:xfrm>
          <a:off x="162" y="1817"/>
          <a:ext cx="8838875" cy="481149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Introduction </a:t>
          </a:r>
        </a:p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to </a:t>
          </a:r>
        </a:p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Microsoft word </a:t>
          </a:r>
        </a:p>
      </dsp:txBody>
      <dsp:txXfrm>
        <a:off x="162" y="1817"/>
        <a:ext cx="8838875" cy="48114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2E4C6-FDD6-4F32-8994-B9E0115268C3}">
      <dsp:nvSpPr>
        <dsp:cNvPr id="0" name=""/>
        <dsp:cNvSpPr/>
      </dsp:nvSpPr>
      <dsp:spPr>
        <a:xfrm>
          <a:off x="162" y="1817"/>
          <a:ext cx="8838875" cy="481149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Collaboration and Reviewing</a:t>
          </a:r>
        </a:p>
      </dsp:txBody>
      <dsp:txXfrm>
        <a:off x="162" y="1817"/>
        <a:ext cx="8838875" cy="48114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CDCF3-D5B2-4556-A6FF-1FBA940E878F}">
      <dsp:nvSpPr>
        <dsp:cNvPr id="0" name=""/>
        <dsp:cNvSpPr/>
      </dsp:nvSpPr>
      <dsp:spPr>
        <a:xfrm>
          <a:off x="118906" y="1961"/>
          <a:ext cx="4095898" cy="245753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How to use review features available in word</a:t>
          </a:r>
        </a:p>
      </dsp:txBody>
      <dsp:txXfrm>
        <a:off x="118906" y="1961"/>
        <a:ext cx="4095898" cy="2457539"/>
      </dsp:txXfrm>
    </dsp:sp>
    <dsp:sp modelId="{08678D36-F832-48B7-8548-C43AEE1F6A43}">
      <dsp:nvSpPr>
        <dsp:cNvPr id="0" name=""/>
        <dsp:cNvSpPr/>
      </dsp:nvSpPr>
      <dsp:spPr>
        <a:xfrm>
          <a:off x="4624394" y="1961"/>
          <a:ext cx="4095898" cy="245753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88279"/>
                <a:satOff val="-2183"/>
                <a:lumOff val="1249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88279"/>
                <a:satOff val="-2183"/>
                <a:lumOff val="1249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88279"/>
                <a:satOff val="-2183"/>
                <a:lumOff val="124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How to use to track changes and comments when collaborating on documents</a:t>
          </a:r>
        </a:p>
      </dsp:txBody>
      <dsp:txXfrm>
        <a:off x="4624394" y="1961"/>
        <a:ext cx="4095898" cy="2457539"/>
      </dsp:txXfrm>
    </dsp:sp>
    <dsp:sp modelId="{D32AB574-D896-42B8-809A-74BD322B19E9}">
      <dsp:nvSpPr>
        <dsp:cNvPr id="0" name=""/>
        <dsp:cNvSpPr/>
      </dsp:nvSpPr>
      <dsp:spPr>
        <a:xfrm>
          <a:off x="2371650" y="2869090"/>
          <a:ext cx="4095898" cy="245753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How to add security to a word</a:t>
          </a:r>
        </a:p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 dirty="0"/>
        </a:p>
      </dsp:txBody>
      <dsp:txXfrm>
        <a:off x="2371650" y="2869090"/>
        <a:ext cx="4095898" cy="24575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1ACEF-6E31-49EA-9B4B-336BC171E6AE}" type="datetimeFigureOut">
              <a:rPr lang="en-US" smtClean="0"/>
              <a:pPr/>
              <a:t>2/11/2023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81F64-38B6-442F-BAD6-2D03BCFD5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94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975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315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4781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70648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04377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96862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0898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87789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35303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5272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24029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81953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8043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68943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14493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4746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9566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81557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97333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6558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8149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5187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2220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41099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0448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90548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3602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58289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73191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3131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2555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58945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65010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23754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75941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627693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611226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560869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26152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15540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42568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795554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607583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18683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20120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66251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4920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065034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36246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52517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214046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075762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794404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53041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69342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96C858E7-ADF8-44F4-9725-358398E79A0E}" type="slidenum">
              <a:rPr lang="en-US" smtClean="0">
                <a:solidFill>
                  <a:prstClr val="black"/>
                </a:solidFill>
                <a:latin typeface="Calibri" pitchFamily="34" charset="0"/>
              </a:rPr>
              <a:pPr/>
              <a:t>59</a:t>
            </a:fld>
            <a:endParaRPr lang="en-US">
              <a:solidFill>
                <a:prstClr val="black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96C858E7-ADF8-44F4-9725-358398E79A0E}" type="slidenum">
              <a:rPr lang="en-US" smtClean="0">
                <a:latin typeface="Calibri" pitchFamily="34" charset="0"/>
              </a:rPr>
              <a:pPr/>
              <a:t>60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 userDrawn="1"/>
        </p:nvSpPr>
        <p:spPr>
          <a:xfrm>
            <a:off x="1219200" y="5486400"/>
            <a:ext cx="3581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>
              <a:defRPr sz="4800">
                <a:latin typeface="Arial Black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Your Interactive Guide to the Digital World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0" y="4267200"/>
            <a:ext cx="4876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Arial Black" pitchFamily="34" charset="0"/>
              </a:rPr>
              <a:t>Discovering </a:t>
            </a:r>
            <a:br>
              <a:rPr lang="en-US" sz="3200" dirty="0">
                <a:latin typeface="Arial Black" pitchFamily="34" charset="0"/>
              </a:rPr>
            </a:br>
            <a:r>
              <a:rPr lang="en-US" sz="3200" dirty="0">
                <a:latin typeface="Arial Black" pitchFamily="34" charset="0"/>
              </a:rPr>
              <a:t>	Computers 2012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6606" y="3276600"/>
            <a:ext cx="3957394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32358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Discovering Computers 2012: Chapter 1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latin typeface="+mn-lt"/>
              </a:defRPr>
            </a:lvl1pPr>
            <a:lvl2pPr>
              <a:buFont typeface="Wingdings" pitchFamily="2" charset="2"/>
              <a:buChar char="v"/>
              <a:defRPr sz="3200">
                <a:latin typeface="+mn-lt"/>
              </a:defRPr>
            </a:lvl2pPr>
            <a:lvl3pPr>
              <a:defRPr sz="2800">
                <a:latin typeface="+mn-lt"/>
              </a:defRPr>
            </a:lvl3pPr>
            <a:lvl4pPr>
              <a:buFont typeface="Wingdings" pitchFamily="2" charset="2"/>
              <a:buChar char="v"/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2010 Pearson Education, Inc.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3-</a:t>
            </a:r>
            <a:fld id="{72C99F3E-92BD-47C6-B43F-19488E1C38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59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20000"/>
                <a:lumOff val="80000"/>
              </a:schemeClr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Discovering Computers 2012: Chapter 1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1920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DB7531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accent4">
              <a:lumMod val="75000"/>
            </a:schemeClr>
          </a:solidFill>
          <a:latin typeface="+mj-lt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2714448"/>
              </p:ext>
            </p:extLst>
          </p:nvPr>
        </p:nvGraphicFramePr>
        <p:xfrm>
          <a:off x="152400" y="1196752"/>
          <a:ext cx="8839200" cy="4975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3701297"/>
              </p:ext>
            </p:extLst>
          </p:nvPr>
        </p:nvGraphicFramePr>
        <p:xfrm>
          <a:off x="152400" y="1196752"/>
          <a:ext cx="8839200" cy="4975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951097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Overview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126081"/>
              </p:ext>
            </p:extLst>
          </p:nvPr>
        </p:nvGraphicFramePr>
        <p:xfrm>
          <a:off x="28135" y="1268760"/>
          <a:ext cx="8839200" cy="5328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515396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Word - Checking Spelling and Grammar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04664"/>
            <a:ext cx="8839200" cy="6336704"/>
          </a:xfrm>
        </p:spPr>
        <p:txBody>
          <a:bodyPr>
            <a:normAutofit/>
          </a:bodyPr>
          <a:lstStyle/>
          <a:p>
            <a:pPr algn="just"/>
            <a:endParaRPr lang="en-US"/>
          </a:p>
          <a:p>
            <a:pPr algn="just"/>
            <a:r>
              <a:rPr lang="en-US"/>
              <a:t>Worried </a:t>
            </a:r>
            <a:r>
              <a:rPr lang="en-US" dirty="0"/>
              <a:t>about making mistakes when you type? Don't be.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Word provides you with several </a:t>
            </a:r>
            <a:r>
              <a:rPr lang="en-US" b="1" dirty="0"/>
              <a:t>proofing features</a:t>
            </a:r>
            <a:r>
              <a:rPr lang="en-US" dirty="0"/>
              <a:t>—including the </a:t>
            </a:r>
            <a:r>
              <a:rPr lang="en-US" b="1" dirty="0"/>
              <a:t>Spelling and Grammar </a:t>
            </a:r>
            <a:r>
              <a:rPr lang="en-US" dirty="0"/>
              <a:t>tool—that can help you produce professional, error-free documents.</a:t>
            </a:r>
          </a:p>
        </p:txBody>
      </p:sp>
    </p:spTree>
    <p:extLst>
      <p:ext uri="{BB962C8B-B14F-4D97-AF65-F5344CB8AC3E}">
        <p14:creationId xmlns:p14="http://schemas.microsoft.com/office/powerpoint/2010/main" val="155037874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run a Spelling and Grammar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04664"/>
            <a:ext cx="8839200" cy="633670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Wrongly spell Resources as “</a:t>
            </a:r>
            <a:r>
              <a:rPr lang="en-US" b="1" dirty="0" err="1"/>
              <a:t>Resoucres</a:t>
            </a:r>
            <a:r>
              <a:rPr lang="en-US" dirty="0"/>
              <a:t>” in word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From the </a:t>
            </a:r>
            <a:r>
              <a:rPr lang="en-US" b="1" dirty="0"/>
              <a:t>Review</a:t>
            </a:r>
            <a:r>
              <a:rPr lang="en-US" dirty="0"/>
              <a:t> tab, click the </a:t>
            </a:r>
            <a:r>
              <a:rPr lang="en-US" b="1" dirty="0"/>
              <a:t>Spelling &amp; Grammar</a:t>
            </a:r>
            <a:r>
              <a:rPr lang="en-US" dirty="0"/>
              <a:t> command.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E5A551-23B7-47C7-8827-B8C56D8955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140968"/>
            <a:ext cx="8740080" cy="259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95889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run a Spelling and Grammar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33670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</a:t>
            </a:r>
            <a:r>
              <a:rPr lang="en-US" b="1" dirty="0"/>
              <a:t>Spelling and Grammar pane </a:t>
            </a:r>
            <a:r>
              <a:rPr lang="en-US" dirty="0"/>
              <a:t>will appear on the right. </a:t>
            </a:r>
          </a:p>
          <a:p>
            <a:pPr algn="just"/>
            <a:r>
              <a:rPr lang="en-US" dirty="0"/>
              <a:t>For each error in your document, Word will offer one or more suggestions. Click a </a:t>
            </a:r>
            <a:r>
              <a:rPr lang="en-US" b="1" dirty="0"/>
              <a:t>suggestion</a:t>
            </a:r>
            <a:r>
              <a:rPr lang="en-US" dirty="0"/>
              <a:t> to correct the error.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150E7F-C539-427E-B494-14ECCB64EA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12" y="2609850"/>
            <a:ext cx="4320480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35250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run a Spelling and Grammar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336704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Word will move through each error until you have reviewed all of them. </a:t>
            </a:r>
          </a:p>
          <a:p>
            <a:pPr algn="just"/>
            <a:r>
              <a:rPr lang="en-US" dirty="0"/>
              <a:t>After the last error has been reviewed, a dialog box will appear confirming that the spelling and grammar check is complete. Click </a:t>
            </a:r>
            <a:r>
              <a:rPr lang="en-US" b="1" dirty="0"/>
              <a:t>OK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If no suggestions are given, you can </a:t>
            </a:r>
            <a:r>
              <a:rPr lang="en-US" b="1" dirty="0"/>
              <a:t>manually </a:t>
            </a:r>
            <a:r>
              <a:rPr lang="en-US" dirty="0"/>
              <a:t>type the correct spelling in your document.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34E167-000A-49F1-9303-0EE6E81359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2780928"/>
            <a:ext cx="5400600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28726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Ignoring "errors"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33670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The spelling and grammar check is </a:t>
            </a:r>
            <a:r>
              <a:rPr lang="en-US" b="1" dirty="0"/>
              <a:t>not always correct</a:t>
            </a:r>
            <a:r>
              <a:rPr lang="en-US" dirty="0"/>
              <a:t>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Particularly with grammar, there are many errors Word will not notice.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There are also times when the spelling and grammar check will say something is an error when it's actually not.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If Word says something is an error, you can choose not to change it.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Depending on whether it's a spelling or grammatical error, you can choose from several options.</a:t>
            </a:r>
          </a:p>
        </p:txBody>
      </p:sp>
    </p:spTree>
    <p:extLst>
      <p:ext uri="{BB962C8B-B14F-4D97-AF65-F5344CB8AC3E}">
        <p14:creationId xmlns:p14="http://schemas.microsoft.com/office/powerpoint/2010/main" val="713760532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For spelling "errors"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336704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Ignore Once</a:t>
            </a:r>
            <a:r>
              <a:rPr lang="en-US" dirty="0"/>
              <a:t>: This will skip the word without changing it.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Ignore All</a:t>
            </a:r>
            <a:r>
              <a:rPr lang="en-US" dirty="0"/>
              <a:t>: This will skip the word without changing it, and it will also skip all other instances of the word in the document.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Add to Dictionary</a:t>
            </a:r>
            <a:r>
              <a:rPr lang="en-US" dirty="0"/>
              <a:t>: This adds the word to the dictionary so it will never come up as an error. Make sure the word is spelled correctly before choosing this option.</a:t>
            </a:r>
          </a:p>
        </p:txBody>
      </p:sp>
    </p:spTree>
    <p:extLst>
      <p:ext uri="{BB962C8B-B14F-4D97-AF65-F5344CB8AC3E}">
        <p14:creationId xmlns:p14="http://schemas.microsoft.com/office/powerpoint/2010/main" val="88138944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For spelling "errors"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DAE1C7-D630-441C-9A45-5B2A4C92D4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703385"/>
            <a:ext cx="6912768" cy="5965974"/>
          </a:xfrm>
        </p:spPr>
      </p:pic>
    </p:spTree>
    <p:extLst>
      <p:ext uri="{BB962C8B-B14F-4D97-AF65-F5344CB8AC3E}">
        <p14:creationId xmlns:p14="http://schemas.microsoft.com/office/powerpoint/2010/main" val="47316727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Automatic spelling and grammar checking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336704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By default, Word automatically checks your document for </a:t>
            </a:r>
            <a:r>
              <a:rPr lang="en-US" sz="2800" b="1" dirty="0"/>
              <a:t>spelling and grammar errors</a:t>
            </a:r>
            <a:r>
              <a:rPr lang="en-US" sz="2800" dirty="0"/>
              <a:t>, so you may not even need to run a separate check. </a:t>
            </a:r>
          </a:p>
          <a:p>
            <a:pPr algn="just"/>
            <a:r>
              <a:rPr lang="en-US" sz="2800" dirty="0"/>
              <a:t>These errors are indicated by </a:t>
            </a:r>
            <a:r>
              <a:rPr lang="en-US" sz="2800" b="1" dirty="0"/>
              <a:t>colored lines below </a:t>
            </a:r>
            <a:r>
              <a:rPr lang="en-US" sz="2800" dirty="0"/>
              <a:t>the text.</a:t>
            </a:r>
          </a:p>
          <a:p>
            <a:pPr lvl="1" algn="just"/>
            <a:r>
              <a:rPr lang="en-US" sz="2400" dirty="0"/>
              <a:t>The </a:t>
            </a:r>
            <a:r>
              <a:rPr lang="en-US" sz="2400" b="1" dirty="0"/>
              <a:t>red line </a:t>
            </a:r>
            <a:r>
              <a:rPr lang="en-US" sz="2400" dirty="0"/>
              <a:t>indicates a misspelled word.</a:t>
            </a:r>
          </a:p>
          <a:p>
            <a:pPr lvl="1" algn="just"/>
            <a:r>
              <a:rPr lang="en-US" sz="2400" dirty="0"/>
              <a:t>The </a:t>
            </a:r>
            <a:r>
              <a:rPr lang="en-US" sz="2400" b="1" dirty="0"/>
              <a:t>blue line</a:t>
            </a:r>
            <a:r>
              <a:rPr lang="en-US" sz="2400" dirty="0"/>
              <a:t> indicates a grammatical error, which can include misused words.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F1495A-7E5A-42A4-811F-41A5BD7B2A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645024"/>
            <a:ext cx="8712968" cy="283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63877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Automatic spelling and grammar checking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336704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A </a:t>
            </a:r>
            <a:r>
              <a:rPr lang="en-US" sz="2800" b="1" dirty="0"/>
              <a:t>misused word</a:t>
            </a:r>
            <a:r>
              <a:rPr lang="en-US" sz="2800" dirty="0"/>
              <a:t>—also known as a </a:t>
            </a:r>
            <a:r>
              <a:rPr lang="en-US" sz="2800" b="1" dirty="0"/>
              <a:t>contextual spelling error</a:t>
            </a:r>
            <a:r>
              <a:rPr lang="en-US" sz="2800" dirty="0"/>
              <a:t>—occurs when a word is spelled correctly but used incorrectly. 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For example, if you used the phrase </a:t>
            </a:r>
            <a:r>
              <a:rPr lang="en-US" sz="2800" b="1" dirty="0"/>
              <a:t>Deer Mr. Theodore </a:t>
            </a:r>
            <a:r>
              <a:rPr lang="en-US" sz="2800" dirty="0"/>
              <a:t>at the beginning of a letter, </a:t>
            </a:r>
            <a:r>
              <a:rPr lang="en-US" sz="2800" b="1" dirty="0"/>
              <a:t>deer</a:t>
            </a:r>
            <a:r>
              <a:rPr lang="en-US" sz="2800" dirty="0"/>
              <a:t> would be a contextual spelling error. 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b="1" dirty="0"/>
              <a:t>Deer </a:t>
            </a:r>
            <a:r>
              <a:rPr lang="en-US" sz="2800" dirty="0"/>
              <a:t>is spelled correctly, but it is used incorrectly in the letter. The correct word is </a:t>
            </a:r>
            <a:r>
              <a:rPr lang="en-US" sz="2800" b="1" dirty="0"/>
              <a:t>Dear</a:t>
            </a:r>
            <a:r>
              <a:rPr lang="en-US" sz="2800" dirty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2923438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correct spelling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/>
              <a:t>Right-click</a:t>
            </a:r>
            <a:r>
              <a:rPr lang="en-US" sz="2800" dirty="0"/>
              <a:t> the </a:t>
            </a:r>
            <a:r>
              <a:rPr lang="en-US" sz="2800" b="1" dirty="0"/>
              <a:t>underlined word</a:t>
            </a:r>
            <a:r>
              <a:rPr lang="en-US" sz="2800" dirty="0"/>
              <a:t>, then select the </a:t>
            </a:r>
            <a:r>
              <a:rPr lang="en-US" sz="2800" b="1" dirty="0"/>
              <a:t>correct spelling </a:t>
            </a:r>
            <a:r>
              <a:rPr lang="en-US" sz="2800" dirty="0"/>
              <a:t>from the list of suggestions.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marL="0" indent="0" algn="just">
              <a:buNone/>
            </a:pPr>
            <a:endParaRPr lang="en-US" sz="2800" dirty="0"/>
          </a:p>
          <a:p>
            <a:pPr algn="just"/>
            <a:r>
              <a:rPr lang="en-US" dirty="0"/>
              <a:t>The corrected word will appear in the document.</a:t>
            </a:r>
          </a:p>
          <a:p>
            <a:pPr algn="just"/>
            <a:r>
              <a:rPr lang="en-US" dirty="0"/>
              <a:t>You can also choose to </a:t>
            </a:r>
            <a:r>
              <a:rPr lang="en-US" b="1" dirty="0"/>
              <a:t>Ignore All </a:t>
            </a:r>
            <a:r>
              <a:rPr lang="en-US" dirty="0"/>
              <a:t>instances of an underlined word or add it to the </a:t>
            </a:r>
            <a:r>
              <a:rPr lang="en-US" b="1" dirty="0"/>
              <a:t>dictionary</a:t>
            </a:r>
            <a:r>
              <a:rPr lang="en-US" dirty="0"/>
              <a:t>.</a:t>
            </a:r>
          </a:p>
          <a:p>
            <a:pPr algn="just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9E8C8E-EABC-4FE1-9718-D4AAF0963A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1772816"/>
            <a:ext cx="5184576" cy="280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466513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correct grammar errors: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/>
              <a:t>Right-click</a:t>
            </a:r>
            <a:r>
              <a:rPr lang="en-US" sz="2800" dirty="0"/>
              <a:t> the </a:t>
            </a:r>
            <a:r>
              <a:rPr lang="en-US" sz="2800" b="1" dirty="0"/>
              <a:t>underlined word or phrase</a:t>
            </a:r>
            <a:r>
              <a:rPr lang="en-US" sz="2800" dirty="0"/>
              <a:t>, then select the </a:t>
            </a:r>
            <a:r>
              <a:rPr lang="en-US" sz="2800" b="1" dirty="0"/>
              <a:t>correct spelling or phrase </a:t>
            </a:r>
            <a:r>
              <a:rPr lang="en-US" sz="2800" dirty="0"/>
              <a:t>from the list of suggestions.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The corrected phrase will appear in the document.</a:t>
            </a:r>
          </a:p>
          <a:p>
            <a:pPr algn="just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BD35A1-9880-4A9F-920B-C6971C1242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628800"/>
            <a:ext cx="7848872" cy="35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95734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To change the automatic spelling and grammar check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6712"/>
            <a:ext cx="9144000" cy="6021288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/>
              <a:t>Click</a:t>
            </a:r>
            <a:r>
              <a:rPr lang="en-US" sz="2800" dirty="0"/>
              <a:t> the </a:t>
            </a:r>
            <a:r>
              <a:rPr lang="en-US" sz="2800" b="1" dirty="0"/>
              <a:t>File tab </a:t>
            </a:r>
            <a:r>
              <a:rPr lang="en-US" sz="2800" dirty="0"/>
              <a:t>to access </a:t>
            </a:r>
            <a:r>
              <a:rPr lang="en-US" sz="2800" b="1" dirty="0"/>
              <a:t>Backstage view</a:t>
            </a:r>
            <a:r>
              <a:rPr lang="en-US" sz="2800" dirty="0"/>
              <a:t>, then click </a:t>
            </a:r>
            <a:r>
              <a:rPr lang="en-US" sz="2800" b="1" dirty="0"/>
              <a:t>Options.</a:t>
            </a:r>
          </a:p>
          <a:p>
            <a:pPr algn="just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D2E749-7F04-498C-A9D4-1C0D194892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916832"/>
            <a:ext cx="7200800" cy="3672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381671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To change the automatic spelling and grammar check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6712"/>
            <a:ext cx="9144000" cy="602128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A dialog box will appear.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On the left side of the dialog box, select </a:t>
            </a:r>
            <a:r>
              <a:rPr lang="en-US" b="1" dirty="0"/>
              <a:t>Proofing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From here, you have several options to choose from.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For example, if you don't want Word to mark </a:t>
            </a:r>
            <a:r>
              <a:rPr lang="en-US" b="1" dirty="0"/>
              <a:t>spelling errors</a:t>
            </a:r>
            <a:r>
              <a:rPr lang="en-US" dirty="0"/>
              <a:t>, </a:t>
            </a:r>
            <a:r>
              <a:rPr lang="en-US" b="1" dirty="0"/>
              <a:t>grammar errors</a:t>
            </a:r>
            <a:r>
              <a:rPr lang="en-US" dirty="0"/>
              <a:t>, or </a:t>
            </a:r>
            <a:r>
              <a:rPr lang="en-US" b="1" dirty="0"/>
              <a:t>frequently confused words </a:t>
            </a:r>
            <a:r>
              <a:rPr lang="en-US" dirty="0"/>
              <a:t>automatically, simply uncheck the desired option.</a:t>
            </a:r>
          </a:p>
        </p:txBody>
      </p:sp>
    </p:spTree>
    <p:extLst>
      <p:ext uri="{BB962C8B-B14F-4D97-AF65-F5344CB8AC3E}">
        <p14:creationId xmlns:p14="http://schemas.microsoft.com/office/powerpoint/2010/main" val="4038214291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To change the automatic spelling and grammar check settings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4704"/>
            <a:ext cx="9144000" cy="6093296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If you've turned off the automatic spelling and/or grammar checks, you can still go to the </a:t>
            </a:r>
            <a:r>
              <a:rPr lang="en-US" sz="2800" b="1" dirty="0"/>
              <a:t>Review tab </a:t>
            </a:r>
            <a:r>
              <a:rPr lang="en-US" sz="2800" dirty="0"/>
              <a:t>and click the </a:t>
            </a:r>
            <a:r>
              <a:rPr lang="en-US" sz="2800" b="1" dirty="0"/>
              <a:t>Spelling &amp; Grammar </a:t>
            </a:r>
            <a:r>
              <a:rPr lang="en-US" sz="2800" dirty="0"/>
              <a:t>command to run a new check.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CF60DB-3CCB-4B2D-A4A4-C0C163995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764704"/>
            <a:ext cx="8496944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769817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hide spelling and grammar errors in a document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4704"/>
            <a:ext cx="9144000" cy="6093296"/>
          </a:xfrm>
        </p:spPr>
        <p:txBody>
          <a:bodyPr>
            <a:normAutofit/>
          </a:bodyPr>
          <a:lstStyle/>
          <a:p>
            <a:r>
              <a:rPr lang="en-US" sz="2400" dirty="0"/>
              <a:t>Click the </a:t>
            </a:r>
            <a:r>
              <a:rPr lang="en-US" sz="2400" b="1" dirty="0"/>
              <a:t>File tab </a:t>
            </a:r>
            <a:r>
              <a:rPr lang="en-US" sz="2400" dirty="0"/>
              <a:t>to go to </a:t>
            </a:r>
            <a:r>
              <a:rPr lang="en-US" sz="2400" b="1" dirty="0"/>
              <a:t>Backstage view</a:t>
            </a:r>
            <a:r>
              <a:rPr lang="en-US" sz="2400" dirty="0"/>
              <a:t>, then click </a:t>
            </a:r>
            <a:r>
              <a:rPr lang="en-US" sz="2400" b="1" dirty="0"/>
              <a:t>Options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A dialog box will appear. Select </a:t>
            </a:r>
            <a:r>
              <a:rPr lang="en-US" sz="2400" b="1" dirty="0"/>
              <a:t>Proofing</a:t>
            </a:r>
            <a:r>
              <a:rPr lang="en-US" sz="2400" dirty="0"/>
              <a:t>, then check the box next to </a:t>
            </a:r>
            <a:r>
              <a:rPr lang="en-US" sz="2400" b="1" dirty="0"/>
              <a:t>Hide spelling errors in this document only</a:t>
            </a:r>
            <a:r>
              <a:rPr lang="en-US" sz="2400" dirty="0"/>
              <a:t> and </a:t>
            </a:r>
            <a:r>
              <a:rPr lang="en-US" sz="2400" b="1" dirty="0"/>
              <a:t>Hide grammar errors in this document only</a:t>
            </a:r>
            <a:r>
              <a:rPr lang="en-US" sz="2400" dirty="0"/>
              <a:t>, then click </a:t>
            </a:r>
            <a:r>
              <a:rPr lang="en-US" sz="2400" b="1" dirty="0"/>
              <a:t>OK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The lines in the document will be hidden.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16897E-A9F6-4320-8322-AF8258ACD0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3068960"/>
            <a:ext cx="8352928" cy="199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470926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Word - Track Changes and Comments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4704"/>
            <a:ext cx="9144000" cy="609329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Let's say someone asks you to proofread or collaborate on a document.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If you had a printed copy, you might use a red pen to cross out sentences, mark misspellings, and add comments in the margins.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Word allows you to do all of these things electronically using the </a:t>
            </a:r>
            <a:r>
              <a:rPr lang="en-US" b="1" dirty="0"/>
              <a:t>Track Changes </a:t>
            </a:r>
            <a:r>
              <a:rPr lang="en-US" dirty="0"/>
              <a:t>and </a:t>
            </a:r>
            <a:r>
              <a:rPr lang="en-US" b="1" dirty="0"/>
              <a:t>Comments features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2420794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Understanding Track Changes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When you turn on </a:t>
            </a:r>
            <a:r>
              <a:rPr lang="en-US" b="1" dirty="0"/>
              <a:t>Track Changes</a:t>
            </a:r>
            <a:r>
              <a:rPr lang="en-US" dirty="0"/>
              <a:t>, every change you make to the document will appear as a colored </a:t>
            </a:r>
            <a:r>
              <a:rPr lang="en-US" b="1" dirty="0"/>
              <a:t>markup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If you delete text, it won't disappear; instead, the text will be </a:t>
            </a:r>
            <a:r>
              <a:rPr lang="en-US" b="1" dirty="0"/>
              <a:t>crossed out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If you add text, it will be </a:t>
            </a:r>
            <a:r>
              <a:rPr lang="en-US" b="1" dirty="0"/>
              <a:t>underlined</a:t>
            </a:r>
            <a:r>
              <a:rPr lang="en-US" dirty="0"/>
              <a:t>. This allows you to see edits before making the changes permanent.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If there are multiple reviewers, each person will be assigned a different markup color.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0747A5-4C77-413B-B6B2-2B37A0ACB5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3861048"/>
            <a:ext cx="7488832" cy="165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140559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/>
              <a:t>To turn on Track Changes</a:t>
            </a:r>
            <a:endParaRPr lang="en-US" sz="32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From the </a:t>
            </a:r>
            <a:r>
              <a:rPr lang="en-US" b="1" dirty="0"/>
              <a:t>Review tab</a:t>
            </a:r>
            <a:r>
              <a:rPr lang="en-US" dirty="0"/>
              <a:t>, click the </a:t>
            </a:r>
            <a:r>
              <a:rPr lang="en-US" b="1" dirty="0"/>
              <a:t>Track Changes </a:t>
            </a:r>
            <a:r>
              <a:rPr lang="en-US" dirty="0"/>
              <a:t>command.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27834B-2E43-4C0F-B0A3-6A9B734CA2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276872"/>
            <a:ext cx="8208912" cy="259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001361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/>
              <a:t>To turn on Track Changes</a:t>
            </a:r>
            <a:endParaRPr lang="en-US" sz="32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Track Changes will be turned on. </a:t>
            </a:r>
          </a:p>
          <a:p>
            <a:pPr algn="just"/>
            <a:r>
              <a:rPr lang="en-US" dirty="0"/>
              <a:t>From this point on, any changes you make to the document will appear as colored markups.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Your tracked changes may look different from those seen above, depending on your computer's markup settings.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60A8DE-2DE1-40D9-8383-7EC61CB771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2564904"/>
            <a:ext cx="8424936" cy="219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036830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Reviewing changes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Tracked changes are really just suggested changes.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To become permanent, they must be accepted.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On the other hand, the original author may disagree with some of the tracked changes and choose to reject them.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610612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accept or reject changes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Select the change you want to accept or reject.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351B45-C65F-4ABF-BBD3-96D1E6370D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340768"/>
            <a:ext cx="8352928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052305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accept or reject changes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From the </a:t>
            </a:r>
            <a:r>
              <a:rPr lang="en-US" b="1" dirty="0"/>
              <a:t>Review</a:t>
            </a:r>
            <a:r>
              <a:rPr lang="en-US" dirty="0"/>
              <a:t> </a:t>
            </a:r>
            <a:r>
              <a:rPr lang="en-US" b="1" dirty="0"/>
              <a:t>tab</a:t>
            </a:r>
            <a:r>
              <a:rPr lang="en-US" dirty="0"/>
              <a:t>, click the </a:t>
            </a:r>
            <a:r>
              <a:rPr lang="en-US" b="1" dirty="0"/>
              <a:t>Accept</a:t>
            </a:r>
            <a:r>
              <a:rPr lang="en-US" dirty="0"/>
              <a:t> or </a:t>
            </a:r>
            <a:r>
              <a:rPr lang="en-US" b="1" dirty="0"/>
              <a:t>Reject </a:t>
            </a:r>
            <a:r>
              <a:rPr lang="en-US" dirty="0"/>
              <a:t>command.</a:t>
            </a:r>
          </a:p>
          <a:p>
            <a:pPr algn="just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CC32D1-60FB-4EDA-AEEE-A617901911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772816"/>
            <a:ext cx="8496944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765157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accept or reject changes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markup will disappear, and Word will automatically jump to the next change.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You can continue accepting or rejecting each change until you have reviewed all of them.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281075-C08D-4B8F-9F37-083C888F4F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703340"/>
            <a:ext cx="8496944" cy="245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190803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accept or reject changes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When you're finished, click the </a:t>
            </a:r>
            <a:r>
              <a:rPr lang="en-US" b="1" dirty="0"/>
              <a:t>Track Changes </a:t>
            </a:r>
            <a:r>
              <a:rPr lang="en-US" dirty="0"/>
              <a:t>command to </a:t>
            </a:r>
            <a:r>
              <a:rPr lang="en-US" b="1" dirty="0"/>
              <a:t>turn off </a:t>
            </a:r>
            <a:r>
              <a:rPr lang="en-US" dirty="0"/>
              <a:t>Track Changes.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CA0658-50BC-496D-BB8B-501D17314F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132856"/>
            <a:ext cx="8136904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763165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accept or reject changes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To accept all changes at once, click the </a:t>
            </a:r>
            <a:r>
              <a:rPr lang="en-US" b="1" dirty="0"/>
              <a:t>Accept</a:t>
            </a:r>
            <a:r>
              <a:rPr lang="en-US" dirty="0"/>
              <a:t> drop-down arrow, then select </a:t>
            </a:r>
            <a:r>
              <a:rPr lang="en-US" b="1" dirty="0"/>
              <a:t>Accept All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If you no longer want to track your changes, you can select </a:t>
            </a:r>
            <a:r>
              <a:rPr lang="en-US" b="1" dirty="0"/>
              <a:t>Accept All and Stop Tracking</a:t>
            </a:r>
            <a:r>
              <a:rPr lang="en-US" dirty="0"/>
              <a:t>.</a:t>
            </a:r>
          </a:p>
          <a:p>
            <a:pPr algn="just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41D866-9794-45D1-B91B-DC09932869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524" y="3284984"/>
            <a:ext cx="8568952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838214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hide tracked changes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From the </a:t>
            </a:r>
            <a:r>
              <a:rPr lang="en-US" b="1" dirty="0"/>
              <a:t>Review tab</a:t>
            </a:r>
            <a:r>
              <a:rPr lang="en-US" dirty="0"/>
              <a:t>, click the </a:t>
            </a:r>
            <a:r>
              <a:rPr lang="en-US" b="1" dirty="0"/>
              <a:t>Display for Review </a:t>
            </a:r>
            <a:r>
              <a:rPr lang="en-US" dirty="0"/>
              <a:t>command to the right of the Track Changes command.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B7A8A-F615-4AF5-BDBB-2A3B180EA9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305050"/>
            <a:ext cx="8280919" cy="29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929363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hide tracked changes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Select the desired option from the drop-down menu. </a:t>
            </a:r>
          </a:p>
          <a:p>
            <a:pPr algn="just"/>
            <a:r>
              <a:rPr lang="en-US" dirty="0"/>
              <a:t>In our example, we'll select </a:t>
            </a:r>
            <a:r>
              <a:rPr lang="en-US" b="1" dirty="0"/>
              <a:t>No</a:t>
            </a:r>
            <a:r>
              <a:rPr lang="en-US" dirty="0"/>
              <a:t> </a:t>
            </a:r>
            <a:r>
              <a:rPr lang="en-US" b="1" dirty="0"/>
              <a:t>Markup</a:t>
            </a:r>
            <a:r>
              <a:rPr lang="en-US" dirty="0"/>
              <a:t> to preview the final version of the document before accepting the changes.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9089DC-FDAE-4011-A25D-394E094F40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3410456"/>
            <a:ext cx="8208912" cy="289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323719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hide tracked changes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You can also click the marker in the left margin to switch between </a:t>
            </a:r>
            <a:r>
              <a:rPr lang="en-US" b="1" dirty="0"/>
              <a:t>Simple Markup </a:t>
            </a:r>
            <a:r>
              <a:rPr lang="en-US" dirty="0"/>
              <a:t>and </a:t>
            </a:r>
            <a:r>
              <a:rPr lang="en-US" b="1" dirty="0"/>
              <a:t>All Markup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ECC974-D8F4-4AE6-927C-BC515CBF39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060848"/>
            <a:ext cx="7848872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772319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show revisions in balloons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From the </a:t>
            </a:r>
            <a:r>
              <a:rPr lang="en-US" b="1" dirty="0"/>
              <a:t>Review tab</a:t>
            </a:r>
            <a:r>
              <a:rPr lang="en-US" dirty="0"/>
              <a:t>, click </a:t>
            </a:r>
            <a:r>
              <a:rPr lang="en-US" b="1" dirty="0"/>
              <a:t>Show Markup </a:t>
            </a:r>
            <a:r>
              <a:rPr lang="en-US" dirty="0"/>
              <a:t>&gt; </a:t>
            </a:r>
            <a:r>
              <a:rPr lang="en-US" b="1" dirty="0"/>
              <a:t>Balloons</a:t>
            </a:r>
            <a:r>
              <a:rPr lang="en-US" dirty="0"/>
              <a:t> &gt; </a:t>
            </a:r>
            <a:r>
              <a:rPr lang="en-US" b="1" dirty="0"/>
              <a:t>Show Revisions in Balloons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2DF093-E290-4CCC-8548-026CE36CB4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885950"/>
            <a:ext cx="8424936" cy="3847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862892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To show revisions in balloons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Most revisions will appear in the right margin, although any added text will still appear inline.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1AE132-4A7B-4574-A92A-A7D06CA97A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37" y="1844825"/>
            <a:ext cx="8620125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886390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688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Comments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Sometimes you may want to add a comment to provide feedback instead of editing a document.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While it's often used in combination with Track Changes, you don't necessarily need to have Track Changes turned on to add comments.</a:t>
            </a:r>
          </a:p>
        </p:txBody>
      </p:sp>
    </p:spTree>
    <p:extLst>
      <p:ext uri="{BB962C8B-B14F-4D97-AF65-F5344CB8AC3E}">
        <p14:creationId xmlns:p14="http://schemas.microsoft.com/office/powerpoint/2010/main" val="1558173488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688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To add comments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Highlight some text</a:t>
            </a:r>
            <a:r>
              <a:rPr lang="en-US" dirty="0"/>
              <a:t>, or place the </a:t>
            </a:r>
            <a:r>
              <a:rPr lang="en-US" b="1" dirty="0"/>
              <a:t>insertion point </a:t>
            </a:r>
            <a:r>
              <a:rPr lang="en-US" dirty="0"/>
              <a:t>where you want the comment to appear.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D1FCF7-30C8-491F-9A2F-57947CCC2B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988840"/>
            <a:ext cx="7776864" cy="374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35993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688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To add comments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From the </a:t>
            </a:r>
            <a:r>
              <a:rPr lang="en-US" b="1" dirty="0"/>
              <a:t>Review tab</a:t>
            </a:r>
            <a:r>
              <a:rPr lang="en-US" dirty="0"/>
              <a:t>, click the </a:t>
            </a:r>
            <a:r>
              <a:rPr lang="en-US" b="1" dirty="0"/>
              <a:t>New Comment </a:t>
            </a:r>
            <a:r>
              <a:rPr lang="en-US" dirty="0"/>
              <a:t>command</a:t>
            </a:r>
            <a:r>
              <a:rPr lang="en-US" b="1" dirty="0"/>
              <a:t>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B87DD1-94B8-420D-819A-AC6761488B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7" y="2060848"/>
            <a:ext cx="8136904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383955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688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To add comments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Type your comment. </a:t>
            </a:r>
          </a:p>
          <a:p>
            <a:pPr algn="just"/>
            <a:r>
              <a:rPr lang="en-US" dirty="0"/>
              <a:t>When you're done, you can close the comment box by pressing the Esc key or by clicking anywhere outside the comment box.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71EEFA-6227-47C5-B51D-344ED0762C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2793702"/>
            <a:ext cx="8712968" cy="351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45348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688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To delete comments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Select the comment you want to delete.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From the </a:t>
            </a:r>
            <a:r>
              <a:rPr lang="en-US" b="1" dirty="0"/>
              <a:t>Review tab</a:t>
            </a:r>
            <a:r>
              <a:rPr lang="en-US" dirty="0"/>
              <a:t>, click the </a:t>
            </a:r>
            <a:r>
              <a:rPr lang="en-US" b="1" dirty="0"/>
              <a:t>Delete</a:t>
            </a:r>
            <a:r>
              <a:rPr lang="en-US" dirty="0"/>
              <a:t> command.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The comment will be deleted.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18BB6A-F247-4CEA-AD34-227247CC19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169368"/>
            <a:ext cx="7848871" cy="1971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EC186E-2046-4BA9-B3D3-A4BDF34CC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4035649"/>
            <a:ext cx="7848871" cy="168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816727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688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To delete comments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To delete all comments, click the </a:t>
            </a:r>
            <a:r>
              <a:rPr lang="en-US" b="1" dirty="0"/>
              <a:t>Delete</a:t>
            </a:r>
            <a:r>
              <a:rPr lang="en-US" dirty="0"/>
              <a:t> drop-down arrow and select </a:t>
            </a:r>
            <a:r>
              <a:rPr lang="en-US" b="1" dirty="0"/>
              <a:t>Delete All Comments in Document</a:t>
            </a:r>
            <a:r>
              <a:rPr lang="en-US" dirty="0"/>
              <a:t>.</a:t>
            </a:r>
          </a:p>
          <a:p>
            <a:pPr algn="just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73B595-5D8E-4134-91D9-87C29EFB35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424112"/>
            <a:ext cx="7560840" cy="309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624267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688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Comparing documents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If you edit a document without tracking changes, it's still possible to use reviewing features such as </a:t>
            </a:r>
            <a:r>
              <a:rPr lang="en-US" b="1" dirty="0"/>
              <a:t>Accept</a:t>
            </a:r>
            <a:r>
              <a:rPr lang="en-US" dirty="0"/>
              <a:t> and </a:t>
            </a:r>
            <a:r>
              <a:rPr lang="en-US" b="1" dirty="0"/>
              <a:t>Reject</a:t>
            </a:r>
            <a:r>
              <a:rPr lang="en-US" dirty="0"/>
              <a:t>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You can do this by </a:t>
            </a:r>
            <a:r>
              <a:rPr lang="en-US" b="1" dirty="0"/>
              <a:t>comparing</a:t>
            </a:r>
            <a:r>
              <a:rPr lang="en-US" dirty="0"/>
              <a:t> two versions of the document.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All you need is the </a:t>
            </a:r>
            <a:r>
              <a:rPr lang="en-US" b="1" dirty="0"/>
              <a:t>original document </a:t>
            </a:r>
            <a:r>
              <a:rPr lang="en-US" dirty="0"/>
              <a:t>and the </a:t>
            </a:r>
            <a:r>
              <a:rPr lang="en-US" b="1" dirty="0"/>
              <a:t>revised document </a:t>
            </a:r>
            <a:r>
              <a:rPr lang="en-US" dirty="0"/>
              <a:t>(the documents must also have different file names).</a:t>
            </a:r>
          </a:p>
        </p:txBody>
      </p:sp>
    </p:spTree>
    <p:extLst>
      <p:ext uri="{BB962C8B-B14F-4D97-AF65-F5344CB8AC3E}">
        <p14:creationId xmlns:p14="http://schemas.microsoft.com/office/powerpoint/2010/main" val="1663018581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688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To compare two documents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From the </a:t>
            </a:r>
            <a:r>
              <a:rPr lang="en-US" b="1" dirty="0"/>
              <a:t>Review tab</a:t>
            </a:r>
            <a:r>
              <a:rPr lang="en-US" dirty="0"/>
              <a:t>, click the </a:t>
            </a:r>
            <a:r>
              <a:rPr lang="en-US" b="1" dirty="0"/>
              <a:t>Compare</a:t>
            </a:r>
            <a:r>
              <a:rPr lang="en-US" dirty="0"/>
              <a:t> command, then select </a:t>
            </a:r>
            <a:r>
              <a:rPr lang="en-US" b="1" dirty="0"/>
              <a:t>Compare</a:t>
            </a:r>
            <a:r>
              <a:rPr lang="en-US" dirty="0"/>
              <a:t> from the drop-down menu.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CF8CB5-0D84-46AF-8B47-5F720C680E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976437"/>
            <a:ext cx="7416823" cy="325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879707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48680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To compare two documents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dialog box will appear. </a:t>
            </a:r>
          </a:p>
          <a:p>
            <a:pPr algn="just"/>
            <a:r>
              <a:rPr lang="en-US" dirty="0"/>
              <a:t>Choose your </a:t>
            </a:r>
            <a:r>
              <a:rPr lang="en-US" b="1" dirty="0"/>
              <a:t>Original document</a:t>
            </a:r>
            <a:r>
              <a:rPr lang="en-US" dirty="0"/>
              <a:t> by clicking the drop-down arrow and selecting the document from the list. </a:t>
            </a:r>
          </a:p>
          <a:p>
            <a:pPr algn="just"/>
            <a:r>
              <a:rPr lang="en-US" dirty="0"/>
              <a:t>If the file is not in the list, click the </a:t>
            </a:r>
            <a:r>
              <a:rPr lang="en-US" b="1" dirty="0"/>
              <a:t>Browse </a:t>
            </a:r>
            <a:r>
              <a:rPr lang="en-US" dirty="0"/>
              <a:t>button to locate it.</a:t>
            </a:r>
          </a:p>
          <a:p>
            <a:pPr algn="just"/>
            <a:r>
              <a:rPr lang="en-US" dirty="0"/>
              <a:t>Choose the </a:t>
            </a:r>
            <a:r>
              <a:rPr lang="en-US" b="1" dirty="0"/>
              <a:t>Revised document</a:t>
            </a:r>
            <a:r>
              <a:rPr lang="en-US" dirty="0"/>
              <a:t>, then click </a:t>
            </a:r>
            <a:r>
              <a:rPr lang="en-US" b="1" dirty="0"/>
              <a:t>OK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1448C9-E05A-44E1-A8B0-019FA2410C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4303440"/>
            <a:ext cx="7200800" cy="255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035539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To compare two documents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Word will compare the two files to determine what was changed and then create a new document. </a:t>
            </a:r>
          </a:p>
          <a:p>
            <a:pPr algn="just"/>
            <a:r>
              <a:rPr lang="en-US" sz="2400" dirty="0"/>
              <a:t>The changes will appear as colored </a:t>
            </a:r>
            <a:r>
              <a:rPr lang="en-US" sz="2400" b="1" dirty="0"/>
              <a:t>markups</a:t>
            </a:r>
            <a:r>
              <a:rPr lang="en-US" sz="2400" dirty="0"/>
              <a:t>, just like </a:t>
            </a:r>
            <a:r>
              <a:rPr lang="en-US" sz="2400" b="1" dirty="0"/>
              <a:t>Track Changes</a:t>
            </a:r>
            <a:r>
              <a:rPr lang="en-US" sz="2400" dirty="0"/>
              <a:t>. </a:t>
            </a:r>
          </a:p>
          <a:p>
            <a:pPr algn="just"/>
            <a:r>
              <a:rPr lang="en-US" sz="2400" dirty="0"/>
              <a:t>You can then use the </a:t>
            </a:r>
            <a:r>
              <a:rPr lang="en-US" sz="2400" b="1" dirty="0"/>
              <a:t>Accept</a:t>
            </a:r>
            <a:r>
              <a:rPr lang="en-US" sz="2400" dirty="0"/>
              <a:t> and </a:t>
            </a:r>
            <a:r>
              <a:rPr lang="en-US" sz="2400" b="1" dirty="0"/>
              <a:t>Reject</a:t>
            </a:r>
            <a:r>
              <a:rPr lang="en-US" sz="2400" dirty="0"/>
              <a:t> commands to finalize the document.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860259-D850-4FAB-B9F0-CB99E77E72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564905"/>
            <a:ext cx="8712968" cy="4293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831413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48680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Inspecting and Protecting Documents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Before sharing a document, you'll want to make sure it doesn't include any information you want to keep private.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You may also want to discourage others from editing your file.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Fortunately, Word includes several tools to help </a:t>
            </a:r>
            <a:r>
              <a:rPr lang="en-US" b="1" dirty="0"/>
              <a:t>inspect</a:t>
            </a:r>
            <a:r>
              <a:rPr lang="en-US" dirty="0"/>
              <a:t> and </a:t>
            </a:r>
            <a:r>
              <a:rPr lang="en-US" b="1" dirty="0"/>
              <a:t>protect</a:t>
            </a:r>
            <a:r>
              <a:rPr lang="en-US" dirty="0"/>
              <a:t> your document.</a:t>
            </a:r>
          </a:p>
        </p:txBody>
      </p:sp>
    </p:spTree>
    <p:extLst>
      <p:ext uri="{BB962C8B-B14F-4D97-AF65-F5344CB8AC3E}">
        <p14:creationId xmlns:p14="http://schemas.microsoft.com/office/powerpoint/2010/main" val="323365391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48680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The Document Inspector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Whenever you create or edit a document, certain personal information may be added to the file automatically, like information about the document's author.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You can use the Document Inspector to remove this type of information before sharing a document with others.</a:t>
            </a:r>
          </a:p>
          <a:p>
            <a:pPr marL="0" indent="0" algn="just">
              <a:buNone/>
            </a:pPr>
            <a:r>
              <a:rPr lang="en-US" b="1" dirty="0"/>
              <a:t>NOTE</a:t>
            </a:r>
            <a:r>
              <a:rPr lang="en-US" dirty="0"/>
              <a:t>:</a:t>
            </a:r>
          </a:p>
          <a:p>
            <a:pPr algn="just"/>
            <a:r>
              <a:rPr lang="en-US" dirty="0"/>
              <a:t>Because some changes may be permanent, it's a good idea to use </a:t>
            </a:r>
            <a:r>
              <a:rPr lang="en-US" b="1" dirty="0"/>
              <a:t>Save As </a:t>
            </a:r>
            <a:r>
              <a:rPr lang="en-US" dirty="0"/>
              <a:t>to create a backup copy of your document before using the Document Inspector.</a:t>
            </a:r>
          </a:p>
        </p:txBody>
      </p:sp>
    </p:spTree>
    <p:extLst>
      <p:ext uri="{BB962C8B-B14F-4D97-AF65-F5344CB8AC3E}">
        <p14:creationId xmlns:p14="http://schemas.microsoft.com/office/powerpoint/2010/main" val="1088922506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48680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To use the Document Inspector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Click the </a:t>
            </a:r>
            <a:r>
              <a:rPr lang="en-US" b="1" dirty="0"/>
              <a:t>File tab </a:t>
            </a:r>
            <a:r>
              <a:rPr lang="en-US" dirty="0"/>
              <a:t>to go to </a:t>
            </a:r>
            <a:r>
              <a:rPr lang="en-US" b="1" dirty="0"/>
              <a:t>Backstage view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From the </a:t>
            </a:r>
            <a:r>
              <a:rPr lang="en-US" b="1" dirty="0"/>
              <a:t>Info</a:t>
            </a:r>
            <a:r>
              <a:rPr lang="en-US" dirty="0"/>
              <a:t> pane, click </a:t>
            </a:r>
            <a:r>
              <a:rPr lang="en-US" b="1" dirty="0"/>
              <a:t>Check for Issues</a:t>
            </a:r>
            <a:r>
              <a:rPr lang="en-US" dirty="0"/>
              <a:t>, then select </a:t>
            </a:r>
            <a:r>
              <a:rPr lang="en-US" b="1" dirty="0"/>
              <a:t>Inspect Document </a:t>
            </a:r>
            <a:r>
              <a:rPr lang="en-US" dirty="0"/>
              <a:t>from the drop-down menu.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7FAE36-02C3-490C-A93C-4E3CC807BE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2780928"/>
            <a:ext cx="6391275" cy="407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192046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48680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To use the Document Inspector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</a:t>
            </a:r>
            <a:r>
              <a:rPr lang="en-US" b="1" dirty="0"/>
              <a:t>Document Inspector </a:t>
            </a:r>
            <a:r>
              <a:rPr lang="en-US" dirty="0"/>
              <a:t>will appear. </a:t>
            </a:r>
          </a:p>
          <a:p>
            <a:pPr algn="just"/>
            <a:r>
              <a:rPr lang="en-US" dirty="0"/>
              <a:t>Check or uncheck the boxes, depending on the content you want to review, then click </a:t>
            </a:r>
            <a:r>
              <a:rPr lang="en-US" b="1" dirty="0"/>
              <a:t>Inspect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In our example, we'll leave everything selected.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15FFFB-80D0-49A9-BF36-C0D508A592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2708920"/>
            <a:ext cx="7920880" cy="414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805611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To use the Document Inspector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inspection results will show an </a:t>
            </a:r>
            <a:r>
              <a:rPr lang="en-US" b="1" dirty="0"/>
              <a:t>exclamation mark</a:t>
            </a:r>
            <a:r>
              <a:rPr lang="en-US" dirty="0"/>
              <a:t> for any categories where it found potentially sensitive data, and it will also have a </a:t>
            </a:r>
            <a:r>
              <a:rPr lang="en-US" b="1" dirty="0"/>
              <a:t>Remove All </a:t>
            </a:r>
            <a:r>
              <a:rPr lang="en-US" dirty="0"/>
              <a:t>button for each of these categories. Click </a:t>
            </a:r>
            <a:r>
              <a:rPr lang="en-US" b="1" dirty="0"/>
              <a:t>Remove All</a:t>
            </a:r>
            <a:r>
              <a:rPr lang="en-US" dirty="0"/>
              <a:t> to remove the data.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0F51FD-90E4-4676-B3DD-FC9A67A02D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88" y="3000360"/>
            <a:ext cx="5105400" cy="433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779051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Protecting your document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By default, anyone with access to your document will be able to open, copy, and edit its content unless you </a:t>
            </a:r>
            <a:r>
              <a:rPr lang="en-US" b="1" dirty="0"/>
              <a:t>protect</a:t>
            </a:r>
            <a:r>
              <a:rPr lang="en-US" dirty="0"/>
              <a:t> it. </a:t>
            </a:r>
          </a:p>
          <a:p>
            <a:pPr algn="just"/>
            <a:r>
              <a:rPr lang="en-US" dirty="0"/>
              <a:t>There are several ways to protect a document, depending on your needs.</a:t>
            </a:r>
          </a:p>
        </p:txBody>
      </p:sp>
    </p:spTree>
    <p:extLst>
      <p:ext uri="{BB962C8B-B14F-4D97-AF65-F5344CB8AC3E}">
        <p14:creationId xmlns:p14="http://schemas.microsoft.com/office/powerpoint/2010/main" val="992861847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To protect your document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Click the </a:t>
            </a:r>
            <a:r>
              <a:rPr lang="en-US" b="1" dirty="0"/>
              <a:t>File tab </a:t>
            </a:r>
            <a:r>
              <a:rPr lang="en-US" dirty="0"/>
              <a:t>to go to </a:t>
            </a:r>
            <a:r>
              <a:rPr lang="en-US" b="1" dirty="0"/>
              <a:t>Backstage view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From the </a:t>
            </a:r>
            <a:r>
              <a:rPr lang="en-US" b="1" dirty="0"/>
              <a:t>Info</a:t>
            </a:r>
            <a:r>
              <a:rPr lang="en-US" dirty="0"/>
              <a:t> pane, click the </a:t>
            </a:r>
            <a:r>
              <a:rPr lang="en-US" b="1" dirty="0"/>
              <a:t>Protect Document </a:t>
            </a:r>
            <a:r>
              <a:rPr lang="en-US" dirty="0"/>
              <a:t>command.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08304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To protect your document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6"/>
            <a:ext cx="9144000" cy="652534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In the drop-down menu, choose the option that best suits your needs. </a:t>
            </a:r>
          </a:p>
          <a:p>
            <a:pPr algn="just"/>
            <a:r>
              <a:rPr lang="en-US" dirty="0"/>
              <a:t>In our example, we'll select </a:t>
            </a:r>
            <a:r>
              <a:rPr lang="en-US" b="1" dirty="0"/>
              <a:t>Mark as Final</a:t>
            </a:r>
            <a:r>
              <a:rPr lang="en-US" dirty="0"/>
              <a:t>. Marking your document as final is a good way to discourage others from editing the file, while other options give you more control if you need it.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6C00AC-7308-44D7-8350-4A096CE304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712" y="3429000"/>
            <a:ext cx="688657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627830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To protect your document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6"/>
            <a:ext cx="9144000" cy="652534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dialog box will appear prompting you to save. Click </a:t>
            </a:r>
            <a:r>
              <a:rPr lang="en-US" b="1" dirty="0"/>
              <a:t>OK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Another dialog box will appear. Click OK.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6777A8-0C48-4950-A4F8-A14E10A40F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556792"/>
            <a:ext cx="7920880" cy="180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8037E2-A55F-4F64-846B-5473940727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4581128"/>
            <a:ext cx="7920880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644388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To protect your document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6"/>
            <a:ext cx="9144000" cy="6525344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/>
              <a:t>The document will be </a:t>
            </a:r>
            <a:r>
              <a:rPr lang="en-US" b="1" dirty="0"/>
              <a:t>marked as final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Whenever others open the file, a bar will appear at the top to discourage them from editing the document.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b="1" dirty="0"/>
              <a:t>NOTE</a:t>
            </a:r>
            <a:r>
              <a:rPr lang="en-US" dirty="0"/>
              <a:t>:</a:t>
            </a:r>
          </a:p>
          <a:p>
            <a:pPr lvl="1" algn="just"/>
            <a:r>
              <a:rPr lang="en-US" dirty="0"/>
              <a:t>Marking a document as final will not actually prevent others from editing it because they can just select </a:t>
            </a:r>
            <a:r>
              <a:rPr lang="en-US" b="1" dirty="0"/>
              <a:t>Edit Anyway</a:t>
            </a:r>
            <a:r>
              <a:rPr lang="en-US" dirty="0"/>
              <a:t>. If you want to prevent people from editing the document, you can use </a:t>
            </a:r>
            <a:r>
              <a:rPr lang="en-US" b="1" dirty="0"/>
              <a:t>the Restrict Access </a:t>
            </a:r>
            <a:r>
              <a:rPr lang="en-US" dirty="0"/>
              <a:t>option</a:t>
            </a:r>
            <a:r>
              <a:rPr lang="en-US" b="1" dirty="0"/>
              <a:t> </a:t>
            </a:r>
            <a:r>
              <a:rPr lang="en-US" dirty="0"/>
              <a:t>instead.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C03707-4BDC-4F0D-9ADA-29E442ED46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2060848"/>
            <a:ext cx="8928992" cy="23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31932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How to encrypt a document with password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6"/>
            <a:ext cx="9144000" cy="652534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Click the </a:t>
            </a:r>
            <a:r>
              <a:rPr lang="en-US" b="1" dirty="0"/>
              <a:t>File tab </a:t>
            </a:r>
            <a:r>
              <a:rPr lang="en-US" dirty="0"/>
              <a:t>to go to </a:t>
            </a:r>
            <a:r>
              <a:rPr lang="en-US" b="1" dirty="0"/>
              <a:t>Backstage view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From the </a:t>
            </a:r>
            <a:r>
              <a:rPr lang="en-US" b="1" dirty="0"/>
              <a:t>Info</a:t>
            </a:r>
            <a:r>
              <a:rPr lang="en-US" dirty="0"/>
              <a:t> pane, click the </a:t>
            </a:r>
            <a:r>
              <a:rPr lang="en-US" b="1" dirty="0"/>
              <a:t>Protect Document </a:t>
            </a:r>
            <a:r>
              <a:rPr lang="en-US" dirty="0"/>
              <a:t>command.</a:t>
            </a:r>
          </a:p>
          <a:p>
            <a:pPr algn="just"/>
            <a:r>
              <a:rPr lang="en-US" dirty="0"/>
              <a:t>Click on </a:t>
            </a:r>
            <a:r>
              <a:rPr lang="en-US" b="1" dirty="0"/>
              <a:t>encrypt with password</a:t>
            </a:r>
          </a:p>
          <a:p>
            <a:pPr algn="just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8B2C4C-D12E-4A38-98A4-BBE67B441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24943"/>
            <a:ext cx="9144000" cy="393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811443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How to encrypt a document with password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6"/>
            <a:ext cx="9144000" cy="6525344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Encrypt Document dialog box </a:t>
            </a:r>
            <a:r>
              <a:rPr lang="en-US" dirty="0"/>
              <a:t>will appear start typing the desired password you want. Click </a:t>
            </a:r>
            <a:r>
              <a:rPr lang="en-US" b="1" dirty="0"/>
              <a:t>OK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algn="just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407624-94E6-4A67-A68A-9286B30FDC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1338"/>
          <a:stretch/>
        </p:blipFill>
        <p:spPr>
          <a:xfrm>
            <a:off x="683568" y="1772816"/>
            <a:ext cx="7776864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087709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How to encrypt a document with password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6"/>
            <a:ext cx="9144000" cy="652534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Retype password to confirm password and click on ok. 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Close the document and reopen the document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algn="just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CD8F99-5D3B-4C0E-993C-AB639BE433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2125" b="29146"/>
          <a:stretch/>
        </p:blipFill>
        <p:spPr>
          <a:xfrm>
            <a:off x="1763688" y="1412776"/>
            <a:ext cx="6048672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144995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How to remove the password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6"/>
            <a:ext cx="9144000" cy="652534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Click the </a:t>
            </a:r>
            <a:r>
              <a:rPr lang="en-US" b="1" dirty="0"/>
              <a:t>File tab </a:t>
            </a:r>
            <a:r>
              <a:rPr lang="en-US" dirty="0"/>
              <a:t>to go to </a:t>
            </a:r>
            <a:r>
              <a:rPr lang="en-US" b="1" dirty="0"/>
              <a:t>Backstage view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From the </a:t>
            </a:r>
            <a:r>
              <a:rPr lang="en-US" b="1" dirty="0"/>
              <a:t>Info</a:t>
            </a:r>
            <a:r>
              <a:rPr lang="en-US" dirty="0"/>
              <a:t> pane, click the </a:t>
            </a:r>
            <a:r>
              <a:rPr lang="en-US" b="1" dirty="0"/>
              <a:t>Protect Document </a:t>
            </a:r>
            <a:r>
              <a:rPr lang="en-US" dirty="0"/>
              <a:t>command.</a:t>
            </a:r>
          </a:p>
          <a:p>
            <a:pPr algn="just"/>
            <a:r>
              <a:rPr lang="en-US" dirty="0"/>
              <a:t>Click on </a:t>
            </a:r>
            <a:r>
              <a:rPr lang="en-US" b="1" dirty="0"/>
              <a:t>encrypt with password</a:t>
            </a:r>
          </a:p>
          <a:p>
            <a:pPr algn="just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A6C1BE-4AB2-4833-A4B4-7F3BE428F1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3700" b="16410"/>
          <a:stretch/>
        </p:blipFill>
        <p:spPr>
          <a:xfrm>
            <a:off x="1691680" y="2708920"/>
            <a:ext cx="6696744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237368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How to remove the password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9913E8-E979-4E26-84F3-006AEF5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2656"/>
            <a:ext cx="9144000" cy="652534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Delete the password in the password in the encrypt document dialogue box.</a:t>
            </a:r>
          </a:p>
          <a:p>
            <a:pPr algn="just"/>
            <a:r>
              <a:rPr lang="en-US" dirty="0"/>
              <a:t>Click on the OK button to remove the password.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algn="just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96E1C-DAE3-43E2-A3D6-0B17528234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781" r="38188" b="31792"/>
          <a:stretch/>
        </p:blipFill>
        <p:spPr>
          <a:xfrm>
            <a:off x="1043608" y="2420888"/>
            <a:ext cx="7272808" cy="392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680628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0" y="357188"/>
            <a:ext cx="9429750" cy="6500812"/>
          </a:xfrm>
        </p:spPr>
        <p:txBody>
          <a:bodyPr lIns="90488" tIns="44450" rIns="90488" bIns="44450"/>
          <a:lstStyle/>
          <a:p>
            <a:pPr algn="ctr">
              <a:buFont typeface="Arial" charset="0"/>
              <a:buNone/>
            </a:pPr>
            <a:endParaRPr lang="en-US" sz="3200" b="1"/>
          </a:p>
          <a:p>
            <a:pPr algn="ctr">
              <a:buFont typeface="Arial" charset="0"/>
              <a:buNone/>
            </a:pPr>
            <a:endParaRPr lang="en-US" b="1"/>
          </a:p>
          <a:p>
            <a:pPr algn="ctr">
              <a:buFont typeface="Arial" charset="0"/>
              <a:buNone/>
            </a:pPr>
            <a:endParaRPr lang="en-US" sz="3200" b="1"/>
          </a:p>
        </p:txBody>
      </p:sp>
      <p:pic>
        <p:nvPicPr>
          <p:cNvPr id="4" name="Google Shape;273;p46"/>
          <p:cNvPicPr preferRelativeResize="0"/>
          <p:nvPr/>
        </p:nvPicPr>
        <p:blipFill rotWithShape="1">
          <a:blip r:embed="rId3">
            <a:alphaModFix/>
          </a:blip>
          <a:srcRect b="4789"/>
          <a:stretch/>
        </p:blipFill>
        <p:spPr>
          <a:xfrm>
            <a:off x="2339752" y="1340768"/>
            <a:ext cx="5256584" cy="41044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1472022"/>
      </p:ext>
    </p:extLst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0" y="357188"/>
            <a:ext cx="9429750" cy="6500812"/>
          </a:xfrm>
        </p:spPr>
        <p:txBody>
          <a:bodyPr lIns="90488" tIns="44450" rIns="90488" bIns="44450"/>
          <a:lstStyle/>
          <a:p>
            <a:pPr algn="ctr">
              <a:buFont typeface="Arial" charset="0"/>
              <a:buNone/>
            </a:pPr>
            <a:endParaRPr lang="en-US" sz="3200" b="1"/>
          </a:p>
          <a:p>
            <a:pPr algn="ctr">
              <a:buFont typeface="Arial" charset="0"/>
              <a:buNone/>
            </a:pPr>
            <a:endParaRPr lang="en-US" b="1"/>
          </a:p>
          <a:p>
            <a:pPr algn="ctr">
              <a:buFont typeface="Arial" charset="0"/>
              <a:buNone/>
            </a:pPr>
            <a:endParaRPr lang="en-US" sz="3200" b="1"/>
          </a:p>
        </p:txBody>
      </p:sp>
      <p:sp>
        <p:nvSpPr>
          <p:cNvPr id="5" name="Rectangle 4"/>
          <p:cNvSpPr/>
          <p:nvPr/>
        </p:nvSpPr>
        <p:spPr>
          <a:xfrm>
            <a:off x="2071670" y="2967335"/>
            <a:ext cx="5143536" cy="9233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5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THANK YOU</a:t>
            </a:r>
            <a:endParaRPr lang="en-GB" sz="5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2359839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9008</TotalTime>
  <Words>2312</Words>
  <Application>Microsoft Office PowerPoint</Application>
  <PresentationFormat>On-screen Show (4:3)</PresentationFormat>
  <Paragraphs>360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5" baseType="lpstr">
      <vt:lpstr>Arial</vt:lpstr>
      <vt:lpstr>Arial Black</vt:lpstr>
      <vt:lpstr>Calibri</vt:lpstr>
      <vt:lpstr>Wingdings</vt:lpstr>
      <vt:lpstr>Office Theme</vt:lpstr>
      <vt:lpstr>PowerPoint Presentation</vt:lpstr>
      <vt:lpstr>PowerPoint Presentation</vt:lpstr>
      <vt:lpstr>Objectives Overview</vt:lpstr>
      <vt:lpstr>Word - Checking Spelling and Grammar</vt:lpstr>
      <vt:lpstr>To run a Spelling and Grammar check</vt:lpstr>
      <vt:lpstr>To run a Spelling and Grammar check</vt:lpstr>
      <vt:lpstr>To run a Spelling and Grammar check</vt:lpstr>
      <vt:lpstr>Ignoring "errors"</vt:lpstr>
      <vt:lpstr>For spelling "errors"</vt:lpstr>
      <vt:lpstr>For spelling "errors"</vt:lpstr>
      <vt:lpstr>Automatic spelling and grammar checking</vt:lpstr>
      <vt:lpstr>Automatic spelling and grammar checking</vt:lpstr>
      <vt:lpstr>To correct spelling errors</vt:lpstr>
      <vt:lpstr>To correct grammar errors:</vt:lpstr>
      <vt:lpstr>To change the automatic spelling and grammar check settings</vt:lpstr>
      <vt:lpstr>To change the automatic spelling and grammar check settings</vt:lpstr>
      <vt:lpstr>To change the automatic spelling and grammar check settings</vt:lpstr>
      <vt:lpstr>To hide spelling and grammar errors in a document</vt:lpstr>
      <vt:lpstr>Word - Track Changes and Comments</vt:lpstr>
      <vt:lpstr>Understanding Track Changes</vt:lpstr>
      <vt:lpstr>To turn on Track Changes</vt:lpstr>
      <vt:lpstr>To turn on Track Changes</vt:lpstr>
      <vt:lpstr>Reviewing changes</vt:lpstr>
      <vt:lpstr>To accept or reject changes</vt:lpstr>
      <vt:lpstr>To accept or reject changes</vt:lpstr>
      <vt:lpstr>To accept or reject changes</vt:lpstr>
      <vt:lpstr>To accept or reject changes</vt:lpstr>
      <vt:lpstr>To accept or reject changes</vt:lpstr>
      <vt:lpstr>To hide tracked changes</vt:lpstr>
      <vt:lpstr>To hide tracked changes</vt:lpstr>
      <vt:lpstr>To hide tracked changes</vt:lpstr>
      <vt:lpstr>To show revisions in balloons</vt:lpstr>
      <vt:lpstr>To show revisions in balloons</vt:lpstr>
      <vt:lpstr>Comments</vt:lpstr>
      <vt:lpstr>To add comments</vt:lpstr>
      <vt:lpstr>To add comments</vt:lpstr>
      <vt:lpstr>To add comments</vt:lpstr>
      <vt:lpstr>To delete comments</vt:lpstr>
      <vt:lpstr>To delete comments</vt:lpstr>
      <vt:lpstr>Comparing documents</vt:lpstr>
      <vt:lpstr>To compare two documents</vt:lpstr>
      <vt:lpstr>To compare two documents</vt:lpstr>
      <vt:lpstr>To compare two documents</vt:lpstr>
      <vt:lpstr>Inspecting and Protecting Documents</vt:lpstr>
      <vt:lpstr>The Document Inspector</vt:lpstr>
      <vt:lpstr>To use the Document Inspector</vt:lpstr>
      <vt:lpstr>To use the Document Inspector</vt:lpstr>
      <vt:lpstr>To use the Document Inspector</vt:lpstr>
      <vt:lpstr>Protecting your document</vt:lpstr>
      <vt:lpstr>To protect your document</vt:lpstr>
      <vt:lpstr>To protect your document</vt:lpstr>
      <vt:lpstr>To protect your document</vt:lpstr>
      <vt:lpstr>To protect your document</vt:lpstr>
      <vt:lpstr>How to encrypt a document with password </vt:lpstr>
      <vt:lpstr>How to encrypt a document with password </vt:lpstr>
      <vt:lpstr>How to encrypt a document with password </vt:lpstr>
      <vt:lpstr>How to remove the password </vt:lpstr>
      <vt:lpstr>How to remove the password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steven</dc:creator>
  <cp:lastModifiedBy>USER</cp:lastModifiedBy>
  <cp:revision>363</cp:revision>
  <dcterms:created xsi:type="dcterms:W3CDTF">2008-12-18T17:11:12Z</dcterms:created>
  <dcterms:modified xsi:type="dcterms:W3CDTF">2023-02-11T06:38:05Z</dcterms:modified>
</cp:coreProperties>
</file>
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92" r:id="rId5"/>
    <p:sldId id="293" r:id="rId6"/>
    <p:sldId id="291" r:id="rId7"/>
    <p:sldId id="294" r:id="rId8"/>
    <p:sldId id="434" r:id="rId9"/>
    <p:sldId id="315" r:id="rId10"/>
    <p:sldId id="316" r:id="rId11"/>
    <p:sldId id="318" r:id="rId12"/>
    <p:sldId id="319" r:id="rId13"/>
    <p:sldId id="320" r:id="rId14"/>
    <p:sldId id="321" r:id="rId15"/>
    <p:sldId id="322" r:id="rId16"/>
    <p:sldId id="323" r:id="rId17"/>
    <p:sldId id="324" r:id="rId18"/>
    <p:sldId id="325" r:id="rId19"/>
    <p:sldId id="326" r:id="rId20"/>
    <p:sldId id="328" r:id="rId21"/>
    <p:sldId id="329" r:id="rId22"/>
    <p:sldId id="327" r:id="rId23"/>
    <p:sldId id="336" r:id="rId24"/>
    <p:sldId id="337" r:id="rId25"/>
    <p:sldId id="338" r:id="rId26"/>
    <p:sldId id="333" r:id="rId27"/>
    <p:sldId id="332" r:id="rId28"/>
    <p:sldId id="669" r:id="rId29"/>
    <p:sldId id="339" r:id="rId30"/>
    <p:sldId id="344" r:id="rId31"/>
    <p:sldId id="353" r:id="rId32"/>
    <p:sldId id="371" r:id="rId33"/>
    <p:sldId id="372" r:id="rId34"/>
    <p:sldId id="373" r:id="rId35"/>
    <p:sldId id="374" r:id="rId36"/>
    <p:sldId id="375" r:id="rId37"/>
    <p:sldId id="386" r:id="rId38"/>
    <p:sldId id="376" r:id="rId39"/>
    <p:sldId id="377" r:id="rId40"/>
    <p:sldId id="378" r:id="rId41"/>
    <p:sldId id="379" r:id="rId42"/>
    <p:sldId id="380" r:id="rId43"/>
    <p:sldId id="381" r:id="rId44"/>
    <p:sldId id="382" r:id="rId45"/>
    <p:sldId id="383" r:id="rId46"/>
    <p:sldId id="384" r:id="rId47"/>
    <p:sldId id="385" r:id="rId48"/>
    <p:sldId id="422" r:id="rId49"/>
    <p:sldId id="423" r:id="rId50"/>
    <p:sldId id="424" r:id="rId51"/>
    <p:sldId id="425" r:id="rId52"/>
    <p:sldId id="426" r:id="rId53"/>
    <p:sldId id="427" r:id="rId54"/>
    <p:sldId id="428" r:id="rId55"/>
    <p:sldId id="429" r:id="rId56"/>
    <p:sldId id="430" r:id="rId57"/>
    <p:sldId id="431" r:id="rId58"/>
    <p:sldId id="432" r:id="rId59"/>
    <p:sldId id="433" r:id="rId60"/>
    <p:sldId id="505" r:id="rId61"/>
    <p:sldId id="506" r:id="rId62"/>
    <p:sldId id="507" r:id="rId63"/>
    <p:sldId id="508" r:id="rId64"/>
    <p:sldId id="509" r:id="rId65"/>
    <p:sldId id="510" r:id="rId66"/>
    <p:sldId id="511" r:id="rId67"/>
    <p:sldId id="512" r:id="rId68"/>
    <p:sldId id="513" r:id="rId69"/>
    <p:sldId id="514" r:id="rId70"/>
    <p:sldId id="515" r:id="rId71"/>
    <p:sldId id="516" r:id="rId72"/>
    <p:sldId id="517" r:id="rId73"/>
    <p:sldId id="518" r:id="rId74"/>
    <p:sldId id="519" r:id="rId75"/>
    <p:sldId id="554" r:id="rId76"/>
    <p:sldId id="258" r:id="rId77"/>
    <p:sldId id="259" r:id="rId78"/>
    <p:sldId id="260" r:id="rId79"/>
    <p:sldId id="261" r:id="rId80"/>
    <p:sldId id="262" r:id="rId81"/>
    <p:sldId id="263" r:id="rId82"/>
    <p:sldId id="264" r:id="rId83"/>
    <p:sldId id="265" r:id="rId84"/>
    <p:sldId id="266" r:id="rId85"/>
    <p:sldId id="267" r:id="rId86"/>
    <p:sldId id="268" r:id="rId87"/>
    <p:sldId id="269" r:id="rId88"/>
    <p:sldId id="276" r:id="rId89"/>
    <p:sldId id="270" r:id="rId90"/>
    <p:sldId id="296" r:id="rId91"/>
    <p:sldId id="271" r:id="rId92"/>
    <p:sldId id="272" r:id="rId93"/>
    <p:sldId id="273" r:id="rId94"/>
    <p:sldId id="274" r:id="rId95"/>
    <p:sldId id="275" r:id="rId96"/>
    <p:sldId id="283" r:id="rId97"/>
    <p:sldId id="284" r:id="rId98"/>
    <p:sldId id="285" r:id="rId99"/>
    <p:sldId id="286" r:id="rId100"/>
    <p:sldId id="287" r:id="rId101"/>
    <p:sldId id="290" r:id="rId102"/>
    <p:sldId id="288" r:id="rId103"/>
    <p:sldId id="289" r:id="rId104"/>
    <p:sldId id="345" r:id="rId105"/>
    <p:sldId id="346" r:id="rId106"/>
    <p:sldId id="347" r:id="rId107"/>
    <p:sldId id="348" r:id="rId108"/>
    <p:sldId id="349" r:id="rId109"/>
    <p:sldId id="350" r:id="rId110"/>
    <p:sldId id="351" r:id="rId111"/>
    <p:sldId id="352" r:id="rId112"/>
    <p:sldId id="362" r:id="rId113"/>
    <p:sldId id="363" r:id="rId114"/>
    <p:sldId id="364" r:id="rId115"/>
    <p:sldId id="366" r:id="rId116"/>
    <p:sldId id="365" r:id="rId117"/>
    <p:sldId id="367" r:id="rId118"/>
    <p:sldId id="368" r:id="rId119"/>
    <p:sldId id="369" r:id="rId120"/>
    <p:sldId id="522" r:id="rId121"/>
    <p:sldId id="523" r:id="rId122"/>
    <p:sldId id="524" r:id="rId123"/>
    <p:sldId id="534" r:id="rId124"/>
    <p:sldId id="525" r:id="rId125"/>
    <p:sldId id="526" r:id="rId126"/>
    <p:sldId id="527" r:id="rId127"/>
    <p:sldId id="530" r:id="rId128"/>
    <p:sldId id="535" r:id="rId129"/>
    <p:sldId id="528" r:id="rId130"/>
    <p:sldId id="531" r:id="rId131"/>
    <p:sldId id="532" r:id="rId132"/>
    <p:sldId id="533" r:id="rId133"/>
    <p:sldId id="544" r:id="rId134"/>
    <p:sldId id="545" r:id="rId135"/>
    <p:sldId id="546" r:id="rId136"/>
    <p:sldId id="547" r:id="rId137"/>
    <p:sldId id="548" r:id="rId138"/>
    <p:sldId id="549" r:id="rId139"/>
    <p:sldId id="550" r:id="rId140"/>
    <p:sldId id="552" r:id="rId141"/>
    <p:sldId id="551" r:id="rId1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5" Type="http://schemas.openxmlformats.org/officeDocument/2006/relationships/tableStyles" Target="tableStyles.xml"/><Relationship Id="rId144" Type="http://schemas.openxmlformats.org/officeDocument/2006/relationships/viewProps" Target="viewProps.xml"/><Relationship Id="rId143" Type="http://schemas.openxmlformats.org/officeDocument/2006/relationships/presProps" Target="presProps.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7210" y="574040"/>
            <a:ext cx="11449050" cy="2387600"/>
          </a:xfrm>
        </p:spPr>
        <p:txBody>
          <a:bodyPr>
            <a:normAutofit/>
          </a:bodyPr>
          <a:lstStyle/>
          <a:p>
            <a:pPr algn="ctr"/>
            <a:r>
              <a:rPr lang="en-US" b="1" dirty="0">
                <a:latin typeface="Times New Roman" panose="02020603050405020304" charset="0"/>
                <a:cs typeface="Times New Roman" panose="02020603050405020304" charset="0"/>
              </a:rPr>
              <a:t>CMS 107: COMMUNICATIVE SKILLS</a:t>
            </a:r>
            <a:endParaRPr lang="en-US" b="1"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709295" y="3101975"/>
            <a:ext cx="10788650" cy="3500755"/>
          </a:xfrm>
        </p:spPr>
        <p:txBody>
          <a:bodyPr>
            <a:normAutofit/>
          </a:bodyPr>
          <a:lstStyle/>
          <a:p>
            <a:r>
              <a:rPr lang="en-US" sz="4570" b="1">
                <a:latin typeface="Times New Roman" panose="02020603050405020304" charset="0"/>
                <a:cs typeface="Times New Roman" panose="02020603050405020304" charset="0"/>
              </a:rPr>
              <a:t>GROUP: 48 &amp; 49</a:t>
            </a:r>
            <a:endParaRPr lang="en-US" sz="3200" b="1">
              <a:latin typeface="Times New Roman" panose="02020603050405020304" charset="0"/>
              <a:cs typeface="Times New Roman" panose="02020603050405020304" charset="0"/>
            </a:endParaRPr>
          </a:p>
          <a:p>
            <a:endParaRPr lang="en-US" sz="3200" b="1">
              <a:latin typeface="Times New Roman" panose="02020603050405020304" charset="0"/>
              <a:cs typeface="Times New Roman" panose="02020603050405020304" charset="0"/>
            </a:endParaRPr>
          </a:p>
          <a:p>
            <a:r>
              <a:rPr lang="en-US" sz="3570" b="1">
                <a:latin typeface="Times New Roman" panose="02020603050405020304" charset="0"/>
                <a:cs typeface="Times New Roman" panose="02020603050405020304" charset="0"/>
              </a:rPr>
              <a:t>LECTURER: ENOCH ACQUAH-FYNN</a:t>
            </a:r>
            <a:endParaRPr lang="en-US" sz="3200" b="1">
              <a:latin typeface="Times New Roman" panose="02020603050405020304" charset="0"/>
              <a:cs typeface="Times New Roman" panose="02020603050405020304" charset="0"/>
            </a:endParaRPr>
          </a:p>
          <a:p>
            <a:r>
              <a:rPr lang="en-US" sz="5335" b="1">
                <a:latin typeface="Times New Roman" panose="02020603050405020304" charset="0"/>
                <a:cs typeface="Times New Roman" panose="02020603050405020304" charset="0"/>
              </a:rPr>
              <a:t>0243406891/0576189903</a:t>
            </a:r>
            <a:endParaRPr lang="en-US" sz="5335" b="1">
              <a:latin typeface="Times New Roman" panose="02020603050405020304" charset="0"/>
              <a:cs typeface="Times New Roman" panose="02020603050405020304" charset="0"/>
            </a:endParaRPr>
          </a:p>
          <a:p>
            <a:endParaRPr lang="en-US" sz="5335"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b="1">
                <a:latin typeface="Times New Roman" panose="02020603050405020304" charset="0"/>
                <a:cs typeface="Times New Roman" panose="02020603050405020304" charset="0"/>
              </a:rPr>
              <a:t>CONTENT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1920" y="1691005"/>
            <a:ext cx="11948160" cy="5135245"/>
          </a:xfrm>
        </p:spPr>
        <p:txBody>
          <a:bodyPr>
            <a:normAutofit lnSpcReduction="20000"/>
          </a:bodyPr>
          <a:p>
            <a:pPr algn="just">
              <a:buFont typeface="Wingdings" panose="05000000000000000000" charset="0"/>
              <a:buChar char="v"/>
            </a:pPr>
            <a:r>
              <a:rPr lang="en-US" sz="3200">
                <a:latin typeface="Times New Roman" panose="02020603050405020304" charset="0"/>
                <a:cs typeface="Times New Roman" panose="02020603050405020304" charset="0"/>
              </a:rPr>
              <a:t>OUTLINE</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SUMMARY</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CORRECTING OF ALL ERRORS (Spellings, Punctuations &amp; 								   Capitalization)</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sym typeface="+mn-ea"/>
              </a:rPr>
              <a:t>SUBJECT VERB AGREEMENT</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COORDINATION AND SUBORDINATION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COMPONENTS OF A TEXT/PASSAGE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68655" y="1825625"/>
            <a:ext cx="10901680" cy="4351655"/>
          </a:xfrm>
        </p:spPr>
        <p:txBody>
          <a:bodyPr/>
          <a:p>
            <a:pPr marL="0" indent="0" algn="just">
              <a:buFont typeface="Wingdings" panose="05000000000000000000" charset="0"/>
              <a:buNone/>
            </a:pPr>
            <a:r>
              <a:rPr lang="en-US" sz="3200">
                <a:latin typeface="Times New Roman" panose="02020603050405020304" charset="0"/>
                <a:cs typeface="Times New Roman" panose="02020603050405020304" charset="0"/>
              </a:rPr>
              <a:t>There are three broad divisions of a text:</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Introductory paragraph/First paragraph.</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Body paragraph</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Concluding paragraph/Summary</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b="1">
                <a:latin typeface="Times New Roman" panose="02020603050405020304" charset="0"/>
                <a:cs typeface="Times New Roman" panose="02020603050405020304" charset="0"/>
              </a:rPr>
              <a:t>THINGS TO LOOK OUT FOR IN A PARAGRAPH</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A topic sentence (it is the controlling idea of a paragraph).</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Supporting sentences (other sentences used to explain the topic sentence).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Each body paragraph in a text with a topic sentence can be termed as a major division.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Each body paragraph in a text with supporting sentences can be used as minor divisions.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Last paragraph is the concluding paragraph/summary.</a:t>
            </a:r>
            <a:endParaRPr lang="en-US" sz="32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64465"/>
            <a:ext cx="10515600" cy="1078230"/>
          </a:xfrm>
        </p:spPr>
        <p:txBody>
          <a:bodyPr/>
          <a:p>
            <a:pPr algn="ctr"/>
            <a:r>
              <a:rPr lang="en-US" b="1">
                <a:latin typeface="Times New Roman" panose="02020603050405020304" charset="0"/>
                <a:cs typeface="Times New Roman" panose="02020603050405020304" charset="0"/>
              </a:rPr>
              <a:t>OUTLINE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59385" y="1593850"/>
            <a:ext cx="11843385" cy="5108575"/>
          </a:xfrm>
        </p:spPr>
        <p:txBody>
          <a:bodyPr/>
          <a:p>
            <a:pPr algn="just"/>
            <a:r>
              <a:rPr lang="en-US" sz="3200">
                <a:latin typeface="Times New Roman" panose="02020603050405020304" charset="0"/>
                <a:cs typeface="Times New Roman" panose="02020603050405020304" charset="0"/>
              </a:rPr>
              <a:t>It is defined as a detailed formal statement of a spoken or written text.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also a tool used to organize a written composition.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All relevant points in the text are noted in the outline.</a:t>
            </a:r>
            <a:endParaRPr lang="en-US" sz="3200">
              <a:latin typeface="Times New Roman" panose="02020603050405020304" charset="0"/>
              <a:cs typeface="Times New Roman" panose="02020603050405020304" charset="0"/>
            </a:endParaRPr>
          </a:p>
          <a:p>
            <a:pPr marL="0" indent="0" algn="ctr">
              <a:buNone/>
            </a:pPr>
            <a:r>
              <a:rPr lang="en-US" sz="3200" b="1">
                <a:latin typeface="Times New Roman" panose="02020603050405020304" charset="0"/>
                <a:cs typeface="Times New Roman" panose="02020603050405020304" charset="0"/>
              </a:rPr>
              <a:t>RULES FOR OUTLINE</a:t>
            </a:r>
            <a:endParaRPr lang="en-US" sz="3200" b="1">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Heading/Title.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Labelling of divisions. (Major and minor).</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Indentation. (Leaving space).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2715"/>
            <a:ext cx="10515600" cy="882650"/>
          </a:xfrm>
        </p:spPr>
        <p:txBody>
          <a:bodyPr/>
          <a:p>
            <a:pPr algn="ctr"/>
            <a:r>
              <a:rPr lang="en-US" b="1">
                <a:latin typeface="Times New Roman" panose="02020603050405020304" charset="0"/>
                <a:cs typeface="Times New Roman" panose="02020603050405020304" charset="0"/>
              </a:rPr>
              <a:t>OUTLINE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5740" y="1300480"/>
            <a:ext cx="11766550" cy="5432425"/>
          </a:xfrm>
        </p:spPr>
        <p:txBody>
          <a:bodyPr>
            <a:normAutofit fontScale="25000"/>
          </a:bodyPr>
          <a:p>
            <a:pPr marL="0" indent="0" algn="ctr">
              <a:buNone/>
            </a:pPr>
            <a:r>
              <a:rPr lang="en-US" sz="12800" b="1">
                <a:latin typeface="Times New Roman" panose="02020603050405020304" charset="0"/>
                <a:cs typeface="Times New Roman" panose="02020603050405020304" charset="0"/>
              </a:rPr>
              <a:t>TITLE/HEADING</a:t>
            </a:r>
            <a:endParaRPr lang="en-US" sz="12800">
              <a:latin typeface="Times New Roman" panose="02020603050405020304" charset="0"/>
              <a:cs typeface="Times New Roman" panose="02020603050405020304" charset="0"/>
            </a:endParaRPr>
          </a:p>
          <a:p>
            <a:pPr marL="971550" lvl="1" indent="-514350" algn="just">
              <a:buFont typeface="+mj-lt"/>
              <a:buAutoNum type="alphaUcPeriod"/>
            </a:pPr>
            <a:r>
              <a:rPr lang="en-US" sz="12800">
                <a:latin typeface="Times New Roman" panose="02020603050405020304" charset="0"/>
                <a:cs typeface="Times New Roman" panose="02020603050405020304" charset="0"/>
              </a:rPr>
              <a:t>Topic Sentence in the First Paragraph</a:t>
            </a:r>
            <a:endParaRPr lang="en-US" sz="12800">
              <a:latin typeface="Times New Roman" panose="02020603050405020304" charset="0"/>
              <a:cs typeface="Times New Roman" panose="02020603050405020304" charset="0"/>
            </a:endParaRPr>
          </a:p>
          <a:p>
            <a:pPr marL="1428750" lvl="2" indent="-514350" algn="just">
              <a:buFont typeface="+mj-lt"/>
              <a:buAutoNum type="arabicPeriod"/>
            </a:pPr>
            <a:r>
              <a:rPr lang="en-US" sz="12800">
                <a:latin typeface="Times New Roman" panose="02020603050405020304" charset="0"/>
                <a:cs typeface="Times New Roman" panose="02020603050405020304" charset="0"/>
              </a:rPr>
              <a:t>First Major supporting sentence under Topic Sentence</a:t>
            </a:r>
            <a:endParaRPr lang="en-US" sz="12800">
              <a:latin typeface="Times New Roman" panose="02020603050405020304" charset="0"/>
              <a:cs typeface="Times New Roman" panose="02020603050405020304" charset="0"/>
            </a:endParaRPr>
          </a:p>
          <a:p>
            <a:pPr marL="1885950" lvl="3" indent="-514350" algn="just">
              <a:buFont typeface="+mj-lt"/>
              <a:buAutoNum type="alphaLcPeriod"/>
            </a:pPr>
            <a:r>
              <a:rPr lang="en-US" sz="12800">
                <a:latin typeface="Times New Roman" panose="02020603050405020304" charset="0"/>
                <a:cs typeface="Times New Roman" panose="02020603050405020304" charset="0"/>
              </a:rPr>
              <a:t>First minor sentence under First Major (example)</a:t>
            </a:r>
            <a:endParaRPr lang="en-US" sz="12800">
              <a:latin typeface="Times New Roman" panose="02020603050405020304" charset="0"/>
              <a:cs typeface="Times New Roman" panose="02020603050405020304" charset="0"/>
            </a:endParaRPr>
          </a:p>
          <a:p>
            <a:pPr marL="1885950" lvl="3" indent="-514350" algn="just">
              <a:buFont typeface="+mj-lt"/>
              <a:buAutoNum type="alphaLcPeriod"/>
            </a:pPr>
            <a:r>
              <a:rPr lang="en-US" sz="12800">
                <a:latin typeface="Times New Roman" panose="02020603050405020304" charset="0"/>
                <a:cs typeface="Times New Roman" panose="02020603050405020304" charset="0"/>
              </a:rPr>
              <a:t>Second minor sentence under First Major (example)</a:t>
            </a:r>
            <a:endParaRPr lang="en-US" sz="12800">
              <a:latin typeface="Times New Roman" panose="02020603050405020304" charset="0"/>
              <a:cs typeface="Times New Roman" panose="02020603050405020304" charset="0"/>
            </a:endParaRPr>
          </a:p>
          <a:p>
            <a:pPr marL="1371600" lvl="3" indent="0" algn="just">
              <a:buFont typeface="+mj-lt"/>
              <a:buNone/>
            </a:pPr>
            <a:endParaRPr lang="en-US" sz="12800">
              <a:latin typeface="Times New Roman" panose="02020603050405020304" charset="0"/>
              <a:cs typeface="Times New Roman" panose="02020603050405020304" charset="0"/>
            </a:endParaRPr>
          </a:p>
          <a:p>
            <a:pPr marL="971550" lvl="1" indent="-514350" algn="just">
              <a:buFont typeface="+mj-lt"/>
              <a:buAutoNum type="alphaUcPeriod"/>
            </a:pPr>
            <a:r>
              <a:rPr lang="en-US" sz="12800">
                <a:latin typeface="Times New Roman" panose="02020603050405020304" charset="0"/>
                <a:cs typeface="Times New Roman" panose="02020603050405020304" charset="0"/>
                <a:sym typeface="+mn-ea"/>
              </a:rPr>
              <a:t>Topic Sentence in the Second Paragraph</a:t>
            </a:r>
            <a:endParaRPr lang="en-US" sz="12800">
              <a:latin typeface="Times New Roman" panose="02020603050405020304" charset="0"/>
              <a:cs typeface="Times New Roman" panose="02020603050405020304" charset="0"/>
            </a:endParaRPr>
          </a:p>
          <a:p>
            <a:pPr marL="1428750" lvl="2" indent="-514350" algn="just">
              <a:buFont typeface="+mj-lt"/>
              <a:buAutoNum type="arabicPeriod"/>
            </a:pPr>
            <a:r>
              <a:rPr lang="en-US" sz="12800">
                <a:latin typeface="Times New Roman" panose="02020603050405020304" charset="0"/>
                <a:cs typeface="Times New Roman" panose="02020603050405020304" charset="0"/>
                <a:sym typeface="+mn-ea"/>
              </a:rPr>
              <a:t>First Major supporting sentence under Topic Sentence</a:t>
            </a:r>
            <a:endParaRPr lang="en-US" sz="12800">
              <a:latin typeface="Times New Roman" panose="02020603050405020304" charset="0"/>
              <a:cs typeface="Times New Roman" panose="02020603050405020304" charset="0"/>
            </a:endParaRPr>
          </a:p>
          <a:p>
            <a:pPr marL="1885950" lvl="3" indent="-514350" algn="just">
              <a:buFont typeface="+mj-lt"/>
              <a:buAutoNum type="alphaLcPeriod"/>
            </a:pPr>
            <a:r>
              <a:rPr lang="en-US" sz="12800">
                <a:latin typeface="Times New Roman" panose="02020603050405020304" charset="0"/>
                <a:cs typeface="Times New Roman" panose="02020603050405020304" charset="0"/>
                <a:sym typeface="+mn-ea"/>
              </a:rPr>
              <a:t>First minor sentence under First Major (example)</a:t>
            </a:r>
            <a:endParaRPr lang="en-US" sz="12800">
              <a:latin typeface="Times New Roman" panose="02020603050405020304" charset="0"/>
              <a:cs typeface="Times New Roman" panose="02020603050405020304" charset="0"/>
            </a:endParaRPr>
          </a:p>
          <a:p>
            <a:pPr marL="1885950" lvl="3" indent="-514350" algn="just">
              <a:buFont typeface="+mj-lt"/>
              <a:buAutoNum type="alphaLcPeriod"/>
            </a:pPr>
            <a:r>
              <a:rPr lang="en-US" sz="12800">
                <a:latin typeface="Times New Roman" panose="02020603050405020304" charset="0"/>
                <a:cs typeface="Times New Roman" panose="02020603050405020304" charset="0"/>
                <a:sym typeface="+mn-ea"/>
              </a:rPr>
              <a:t>Second minor sentence under First Major (example)</a:t>
            </a:r>
            <a:endParaRPr lang="en-US" sz="8000">
              <a:latin typeface="Times New Roman" panose="02020603050405020304" charset="0"/>
              <a:cs typeface="Times New Roman" panose="02020603050405020304" charset="0"/>
            </a:endParaRPr>
          </a:p>
          <a:p>
            <a:pPr marL="1371600" lvl="3" indent="0" algn="just">
              <a:buFont typeface="+mj-lt"/>
              <a:buNone/>
            </a:pPr>
            <a:endParaRPr lang="en-US" sz="8000">
              <a:latin typeface="Times New Roman" panose="02020603050405020304" charset="0"/>
              <a:cs typeface="Times New Roman" panose="02020603050405020304" charset="0"/>
            </a:endParaRPr>
          </a:p>
          <a:p>
            <a:pPr marL="1371600" lvl="3" indent="0" algn="just">
              <a:buFont typeface="+mj-lt"/>
              <a:buNone/>
            </a:pPr>
            <a:endParaRPr lang="en-US" sz="8000">
              <a:latin typeface="Times New Roman" panose="02020603050405020304" charset="0"/>
              <a:cs typeface="Times New Roman" panose="02020603050405020304" charset="0"/>
            </a:endParaRPr>
          </a:p>
          <a:p>
            <a:pPr marL="1371600" lvl="3" indent="0" algn="just">
              <a:buFont typeface="+mj-lt"/>
              <a:buNone/>
            </a:pPr>
            <a:endParaRPr lang="en-US" sz="1755">
              <a:latin typeface="Times New Roman" panose="02020603050405020304" charset="0"/>
              <a:cs typeface="Times New Roman" panose="02020603050405020304" charset="0"/>
            </a:endParaRPr>
          </a:p>
          <a:p>
            <a:pPr marL="1371600" lvl="3" indent="0" algn="just">
              <a:buFont typeface="+mj-lt"/>
              <a:buNone/>
            </a:pPr>
            <a:endParaRPr lang="en-US" sz="1755">
              <a:latin typeface="Times New Roman" panose="02020603050405020304" charset="0"/>
              <a:cs typeface="Times New Roman" panose="02020603050405020304" charset="0"/>
            </a:endParaRPr>
          </a:p>
          <a:p>
            <a:pPr marL="0" indent="0" algn="just">
              <a:buFont typeface="+mj-lt"/>
              <a:buNone/>
            </a:pP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8590"/>
            <a:ext cx="10515600" cy="1094740"/>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1</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11760" y="1243330"/>
            <a:ext cx="11967845" cy="5520690"/>
          </a:xfrm>
        </p:spPr>
        <p:txBody>
          <a:bodyPr>
            <a:normAutofit fontScale="90000" lnSpcReduction="10000"/>
          </a:bodyPr>
          <a:p>
            <a:pPr marL="0" indent="0" algn="just">
              <a:buNone/>
            </a:pPr>
            <a:r>
              <a:rPr lang="en-US" sz="3200">
                <a:latin typeface="Times New Roman" panose="02020603050405020304" charset="0"/>
                <a:cs typeface="Times New Roman" panose="02020603050405020304" charset="0"/>
              </a:rPr>
              <a:t>Three passions, simple but overwhelmingly strong, have governed my life: the longing for love, the search for knowledge and unbearable pity for the suffering of mankind. These passions like great winds, have blown me hither and thither, in wayward course, over a deep ocean of anguish reaching to the very verge of despair.</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I have sought love, first, because it brings ecstacy- ecstasy so great that i would often have sacrificed all the rest of my life for a few hours of its joy. I have sought it, next, which one’s shivering consciousness looks over the rim of the world into the cold unfathomable lifeless abyss. I have sought it, finally, because in the union of love, I have seen, in a mystic miniature, the prefiguring vision of the heaven that saints and poets have imagined. This is what I sought and though it might seem too good for human life, this is what, at last, I have found.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8590"/>
            <a:ext cx="10515600" cy="863600"/>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1</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11760" y="1012190"/>
            <a:ext cx="11967845" cy="5520690"/>
          </a:xfrm>
        </p:spPr>
        <p:txBody>
          <a:bodyPr>
            <a:noAutofit/>
          </a:bodyPr>
          <a:p>
            <a:pPr marL="0" indent="0" algn="just">
              <a:buNone/>
            </a:pPr>
            <a:r>
              <a:rPr lang="en-US" sz="2900">
                <a:latin typeface="Times New Roman" panose="02020603050405020304" charset="0"/>
                <a:cs typeface="Times New Roman" panose="02020603050405020304" charset="0"/>
              </a:rPr>
              <a:t>With equal passion, I have sought knowledge. I have wished to understand the hearts of men. I have wished to know why the stars shine. A little of this, but not much, I have achieved.</a:t>
            </a:r>
            <a:endParaRPr lang="en-US" sz="2900">
              <a:latin typeface="Times New Roman" panose="02020603050405020304" charset="0"/>
              <a:cs typeface="Times New Roman" panose="02020603050405020304" charset="0"/>
            </a:endParaRPr>
          </a:p>
          <a:p>
            <a:pPr marL="0" indent="0" algn="just">
              <a:buNone/>
            </a:pPr>
            <a:endParaRPr lang="en-US" sz="2900">
              <a:latin typeface="Times New Roman" panose="02020603050405020304" charset="0"/>
              <a:cs typeface="Times New Roman" panose="02020603050405020304" charset="0"/>
            </a:endParaRPr>
          </a:p>
          <a:p>
            <a:pPr marL="0" indent="0" algn="just">
              <a:buNone/>
            </a:pPr>
            <a:r>
              <a:rPr lang="en-US" sz="2900">
                <a:latin typeface="Times New Roman" panose="02020603050405020304" charset="0"/>
                <a:cs typeface="Times New Roman" panose="02020603050405020304" charset="0"/>
              </a:rPr>
              <a:t>Love and knowledge, as far as they were possible, led upwards towards the heavens. But always pity brought me back to earth. Echoes of cries of pain reverberate in my heart. Children in famine, victims tortured by oppressors, helpless old people, a hated burden to their sons, and the whole world of loneliness, poverty and pain make a mockery of what human life should be. I long to alleviate the evil, but I cannot, and I too suffer.</a:t>
            </a:r>
            <a:endParaRPr lang="en-US" sz="2900">
              <a:latin typeface="Times New Roman" panose="02020603050405020304" charset="0"/>
              <a:cs typeface="Times New Roman" panose="02020603050405020304" charset="0"/>
            </a:endParaRPr>
          </a:p>
          <a:p>
            <a:pPr marL="0" indent="0" algn="just">
              <a:buNone/>
            </a:pPr>
            <a:endParaRPr lang="en-US" sz="2900">
              <a:latin typeface="Times New Roman" panose="02020603050405020304" charset="0"/>
              <a:cs typeface="Times New Roman" panose="02020603050405020304" charset="0"/>
            </a:endParaRPr>
          </a:p>
          <a:p>
            <a:pPr marL="0" indent="0" algn="just">
              <a:buNone/>
            </a:pPr>
            <a:r>
              <a:rPr lang="en-US" sz="2900">
                <a:latin typeface="Times New Roman" panose="02020603050405020304" charset="0"/>
                <a:cs typeface="Times New Roman" panose="02020603050405020304" charset="0"/>
              </a:rPr>
              <a:t>This has been my life. I have found it worth living, and would gladly live it again if the chance were offered me. </a:t>
            </a:r>
            <a:endParaRPr lang="en-US" sz="29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2325" y="227330"/>
            <a:ext cx="10515600" cy="861695"/>
          </a:xfrm>
        </p:spPr>
        <p:txBody>
          <a:bodyPr>
            <a:normAutofit fontScale="90000"/>
          </a:bodyPr>
          <a:p>
            <a:pPr algn="ctr"/>
            <a:r>
              <a:rPr lang="en-US" b="1">
                <a:latin typeface="Times New Roman" panose="02020603050405020304" charset="0"/>
                <a:cs typeface="Times New Roman" panose="02020603050405020304" charset="0"/>
              </a:rPr>
              <a:t>THREE PASSIONS OF LIFE</a:t>
            </a:r>
            <a:br>
              <a:rPr lang="en-US" b="1">
                <a:latin typeface="Times New Roman" panose="02020603050405020304" charset="0"/>
                <a:cs typeface="Times New Roman" panose="02020603050405020304" charset="0"/>
              </a:rPr>
            </a:b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010285"/>
            <a:ext cx="12191365" cy="5847715"/>
          </a:xfrm>
        </p:spPr>
        <p:txBody>
          <a:bodyPr>
            <a:normAutofit lnSpcReduction="20000"/>
          </a:bodyPr>
          <a:p>
            <a:pPr marL="571500" indent="-571500" algn="just">
              <a:buFont typeface="+mj-lt"/>
              <a:buAutoNum type="romanUcPeriod"/>
            </a:pPr>
            <a:r>
              <a:rPr lang="en-US" sz="3200">
                <a:latin typeface="Times New Roman" panose="02020603050405020304" charset="0"/>
                <a:cs typeface="Times New Roman" panose="02020603050405020304" charset="0"/>
              </a:rPr>
              <a:t>The three passions that have governed my life.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The longing for love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The search for knowledge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The unbearable pity of mankind</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II.   I have sought for love.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It brings ecstasy.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It relieves loneliness.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It makes me have visions of heaven.</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III.  I have sought knowledge.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It helps to understand the hearts of men.</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It helps to understand why the stars shine.</a:t>
            </a:r>
            <a:endParaRPr lang="en-US" sz="3200">
              <a:latin typeface="Times New Roman" panose="02020603050405020304" charset="0"/>
              <a:cs typeface="Times New Roman" panose="02020603050405020304" charset="0"/>
            </a:endParaRPr>
          </a:p>
          <a:p>
            <a:pPr marL="0" indent="0" algn="just">
              <a:buFont typeface="+mj-l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22325" y="227330"/>
            <a:ext cx="10515600" cy="861695"/>
          </a:xfrm>
        </p:spPr>
        <p:txBody>
          <a:bodyPr>
            <a:normAutofit fontScale="90000"/>
          </a:bodyPr>
          <a:p>
            <a:pPr algn="ctr"/>
            <a:r>
              <a:rPr lang="en-US" b="1">
                <a:latin typeface="Times New Roman" panose="02020603050405020304" charset="0"/>
                <a:cs typeface="Times New Roman" panose="02020603050405020304" charset="0"/>
              </a:rPr>
              <a:t>THREE PASSIONS OF LIFE</a:t>
            </a:r>
            <a:br>
              <a:rPr lang="en-US" b="1">
                <a:latin typeface="Times New Roman" panose="02020603050405020304" charset="0"/>
                <a:cs typeface="Times New Roman" panose="02020603050405020304" charset="0"/>
              </a:rPr>
            </a:b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89660"/>
            <a:ext cx="12191365" cy="5768340"/>
          </a:xfrm>
        </p:spPr>
        <p:txBody>
          <a:bodyPr>
            <a:normAutofit lnSpcReduction="20000"/>
          </a:bodyPr>
          <a:p>
            <a:pPr marL="0" indent="0" algn="just">
              <a:buFont typeface="+mj-lt"/>
              <a:buNone/>
            </a:pPr>
            <a:r>
              <a:rPr lang="en-US" sz="3200">
                <a:latin typeface="Times New Roman" panose="02020603050405020304" charset="0"/>
                <a:cs typeface="Times New Roman" panose="02020603050405020304" charset="0"/>
                <a:sym typeface="+mn-ea"/>
              </a:rPr>
              <a:t>IV.  The unbearable pity for mankind.</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sym typeface="+mn-ea"/>
              </a:rPr>
              <a:t>         A. It  always brings me back to earth about:</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children in famine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victims tortured</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helpless old people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d) loneliness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e) poverty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f) pain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7565" y="427990"/>
            <a:ext cx="10515600" cy="861695"/>
          </a:xfrm>
        </p:spPr>
        <p:txBody>
          <a:bodyPr>
            <a:normAutofit fontScale="90000"/>
          </a:bodyPr>
          <a:p>
            <a:pPr algn="ctr"/>
            <a:r>
              <a:rPr lang="en-US" b="1">
                <a:latin typeface="Times New Roman" panose="02020603050405020304" charset="0"/>
                <a:cs typeface="Times New Roman" panose="02020603050405020304" charset="0"/>
              </a:rPr>
              <a:t>STATE FUNDING AND POLITICAL PARTIES pg 19</a:t>
            </a:r>
            <a:br>
              <a:rPr lang="en-US" b="1">
                <a:latin typeface="Times New Roman" panose="02020603050405020304" charset="0"/>
                <a:cs typeface="Times New Roman" panose="02020603050405020304" charset="0"/>
              </a:rPr>
            </a:b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89660"/>
            <a:ext cx="12191365" cy="5768340"/>
          </a:xfrm>
        </p:spPr>
        <p:txBody>
          <a:bodyPr>
            <a:normAutofit fontScale="90000" lnSpcReduction="20000"/>
          </a:bodyPr>
          <a:p>
            <a:pPr marL="0" indent="0" algn="just">
              <a:buFont typeface="+mj-lt"/>
              <a:buNone/>
            </a:pPr>
            <a:r>
              <a:rPr lang="en-US" sz="3200">
                <a:latin typeface="Times New Roman" panose="02020603050405020304" charset="0"/>
                <a:cs typeface="Times New Roman" panose="02020603050405020304" charset="0"/>
                <a:sym typeface="+mn-ea"/>
              </a:rPr>
              <a:t>I.  The state funding poltical parties is up for public discussion</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sym typeface="+mn-ea"/>
              </a:rPr>
              <a:t>         A. Some speakers at MDC urged the state to fund political parties   		before enforcing the political parties law.</a:t>
            </a:r>
            <a:endParaRPr lang="en-US" sz="3200">
              <a:latin typeface="Times New Roman" panose="02020603050405020304" charset="0"/>
              <a:cs typeface="Times New Roman" panose="02020603050405020304" charset="0"/>
              <a:sym typeface="+mn-ea"/>
            </a:endParaRPr>
          </a:p>
          <a:p>
            <a:pPr marL="0" indent="0" algn="just">
              <a:buFont typeface="+mj-lt"/>
              <a:buNone/>
            </a:pPr>
            <a:r>
              <a:rPr lang="en-US" sz="3200">
                <a:latin typeface="Times New Roman" panose="02020603050405020304" charset="0"/>
                <a:cs typeface="Times New Roman" panose="02020603050405020304" charset="0"/>
                <a:sym typeface="+mn-ea"/>
              </a:rPr>
              <a:t>		a) How will the funding be done?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Majority leader in parliament argued that the state should fund 		 	the parties since Ghana had taken part of the multi-party 			democracy.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The media advices all weak political parties to come together to 			form one strong and formidable party to win power one day.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D. How will the money be disbursed?</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Will all parties have equal amount?</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Will it execute according to popularity, strength or financial 			capability?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E. Two political giants NPP and NDC fund their own political activities.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fontScale="90000" lnSpcReduction="10000"/>
          </a:bodyPr>
          <a:p>
            <a:pPr marL="0" indent="0" algn="just">
              <a:buNone/>
            </a:pPr>
            <a:r>
              <a:rPr lang="en-US" sz="3200">
                <a:latin typeface="Times New Roman" panose="02020603050405020304" charset="0"/>
                <a:cs typeface="Times New Roman" panose="02020603050405020304" charset="0"/>
              </a:rPr>
              <a:t>The teenage deserves all the sympathy in this world. In his jaundiced vision, the whole world has wronged him.</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very chicken and geese in the house are against him and when he approaches them, they scurry and scatter in disarray. Just because he is going to hurl a few rocks at them, these spoil-sports scamper away in dread of him. It really annoys him no end when he sees the same fowls flock around his younger brother and sister, and even eat corn out of their insignificant hands. Silly fowls!</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dog, Fido, which he Akora, had brought in as a puppy four years ago, and fed with the leftovers from his plate barks furiously at him when he swaggers into the yard attired in his tattered blue jeans, his patched anorak, and other fashionable castaway items of clothing that he has salvaged from the family archives. Especially when he tops this unearthly spectacle of himself by donning one of his friend’s trendy hats, Fido barks and barks. Silly dog!</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cat, Mitty, annoys him even the more with its grudging silence. Just because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lnSpcReduction="10000"/>
          </a:bodyPr>
          <a:p>
            <a:pPr marL="0" indent="0" algn="just">
              <a:buNone/>
            </a:pPr>
            <a:r>
              <a:rPr lang="en-US" sz="3200">
                <a:latin typeface="Times New Roman" panose="02020603050405020304" charset="0"/>
                <a:cs typeface="Times New Roman" panose="02020603050405020304" charset="0"/>
              </a:rPr>
              <a:t>he has not seen the inside of a bathroom for the past two weeks, the cat sniffs very noisily. Whenever he passes by, it opens only one eye to wink at him peevishly, and dozes off again, creating thereby an air of being thoroughly fed with the sight of him. Akora does not like that cat’s sniffing much, but he dislikes its one-eyed wink even more. Surely, the beret should consider him worthy of a two-eyed open gaze? Silly cat!</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Then, there are the younger members of his family. Kojo is two full years younger than him. Yet, if he, Akora, orders him to sew the hole in the seat of his jeans, Kojo behaves as if he does not understand the language, they have been brought up speaking. Aba is even worse. When he commands her to bring him some food from the kitchen without telling their mother, she merely giggles and giggles. Silly boy and silly girl!</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lnSpcReduction="10000"/>
          </a:bodyPr>
          <a:p>
            <a:pPr marL="0" indent="0" algn="just">
              <a:buNone/>
            </a:pPr>
            <a:r>
              <a:rPr lang="en-US" sz="3200">
                <a:latin typeface="Times New Roman" panose="02020603050405020304" charset="0"/>
                <a:cs typeface="Times New Roman" panose="02020603050405020304" charset="0"/>
              </a:rPr>
              <a:t>But worse of all was sheer life. Life has been treacherous to him. What all these unsightly spots on his face? What with only three strands of whiskers in the name of moustache? What with his body outgrowing his favourite pair of faded jeans? And horror of horrors, he is now getting dandruff. Silly life!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Poor teenager, it really is unfair that people around you should see you as worse than a pain in the neck. But never mind. You are so right, of course.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4780"/>
            <a:ext cx="10515600" cy="946150"/>
          </a:xfrm>
        </p:spPr>
        <p:txBody>
          <a:bodyPr>
            <a:normAutofit fontScale="90000"/>
          </a:bodyPr>
          <a:p>
            <a:pPr algn="ct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A TEENAGER AND HIS WORLD</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99515"/>
            <a:ext cx="12191365" cy="5659120"/>
          </a:xfrm>
        </p:spPr>
        <p:txBody>
          <a:bodyPr>
            <a:normAutofit fontScale="90000" lnSpcReduction="10000"/>
          </a:bodyPr>
          <a:p>
            <a:pPr marL="571500" indent="-571500" algn="just">
              <a:buFont typeface="+mj-lt"/>
              <a:buAutoNum type="romanUcPeriod"/>
            </a:pPr>
            <a:r>
              <a:rPr lang="en-US" sz="3200">
                <a:latin typeface="Times New Roman" panose="02020603050405020304" charset="0"/>
                <a:cs typeface="Times New Roman" panose="02020603050405020304" charset="0"/>
              </a:rPr>
              <a:t>Things that wrong him</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Domestic Animals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 The chicken and geese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they scurry and scutter when he approaches them.</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 the same fowls also eat corn out of his younger 					     brother and sister’s insignificant hands.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The dog</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it barks furiously at him because he looks strange.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The cat</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it sniffs very noisily at him because he smells.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 it opens only one eye to wink at him peevishly.</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Younger members of his family</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4780"/>
            <a:ext cx="10515600" cy="946150"/>
          </a:xfrm>
        </p:spPr>
        <p:txBody>
          <a:bodyPr>
            <a:normAutofit fontScale="90000"/>
          </a:bodyPr>
          <a:p>
            <a:pPr algn="ct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A TEENAGER AND HIS WORLD</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99515"/>
            <a:ext cx="12191365" cy="5659120"/>
          </a:xfrm>
        </p:spPr>
        <p:txBody>
          <a:bodyPr>
            <a:normAutofit lnSpcReduction="20000"/>
          </a:bodyPr>
          <a:p>
            <a:pPr marL="0" indent="0" algn="just">
              <a:buFont typeface="+mj-lt"/>
              <a:buNone/>
            </a:pPr>
            <a:r>
              <a:rPr lang="en-US" sz="3200">
                <a:latin typeface="Times New Roman" panose="02020603050405020304" charset="0"/>
                <a:cs typeface="Times New Roman" panose="02020603050405020304" charset="0"/>
              </a:rPr>
              <a:t>		a. His brother (Kojo):</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does not obey his orders.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 pretends he does not understand the language they 				    were both brought up with.</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b. His sister (Aba):</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does not obey his commands.</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 disrespects him.</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c. Life: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 it has been treacherous to him.</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 he has unsightly spots on his face.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iii. his moustache is made up of only three strands.  </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41300"/>
            <a:ext cx="10515600" cy="924560"/>
          </a:xfrm>
        </p:spPr>
        <p:txBody>
          <a:bodyPr/>
          <a:p>
            <a:pPr algn="ctr"/>
            <a:r>
              <a:rPr lang="en-US" b="1">
                <a:latin typeface="Times New Roman" panose="02020603050405020304" charset="0"/>
                <a:cs typeface="Times New Roman" panose="02020603050405020304" charset="0"/>
              </a:rPr>
              <a:t>SUMMARY</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5105" y="1331595"/>
            <a:ext cx="11798300" cy="5309235"/>
          </a:xfrm>
        </p:spPr>
        <p:txBody>
          <a:bodyPr>
            <a:normAutofit lnSpcReduction="10000"/>
          </a:bodyPr>
          <a:p>
            <a:pPr algn="just"/>
            <a:r>
              <a:rPr lang="en-US" sz="3200">
                <a:latin typeface="Times New Roman" panose="02020603050405020304" charset="0"/>
                <a:cs typeface="Times New Roman" panose="02020603050405020304" charset="0"/>
              </a:rPr>
              <a:t>Summary means to condense a lengthy piece of information into a precise form.</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A summary provides relevant ideas in a text.</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a reduction technique for making notes.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used to take notes.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We use summary in our daily activities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7475"/>
            <a:ext cx="10515600" cy="770890"/>
          </a:xfrm>
        </p:spPr>
        <p:txBody>
          <a:bodyPr/>
          <a:p>
            <a:pPr algn="ctr"/>
            <a:r>
              <a:rPr lang="en-US" b="1">
                <a:latin typeface="Times New Roman" panose="02020603050405020304" charset="0"/>
                <a:cs typeface="Times New Roman" panose="02020603050405020304" charset="0"/>
              </a:rPr>
              <a:t>HOW TO WRITE A GOOD SUMMARY</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70" y="1258570"/>
            <a:ext cx="12190730" cy="5276215"/>
          </a:xfrm>
        </p:spPr>
        <p:txBody>
          <a:bodyPr>
            <a:normAutofit fontScale="90000"/>
          </a:bodyPr>
          <a:p>
            <a:pPr algn="just"/>
            <a:r>
              <a:rPr lang="en-US" sz="4570">
                <a:latin typeface="Times New Roman" panose="02020603050405020304" charset="0"/>
                <a:cs typeface="Times New Roman" panose="02020603050405020304" charset="0"/>
              </a:rPr>
              <a:t>Pay attention to the summary task.</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Read the text thoroughly.</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Provide a suitable title.</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sym typeface="+mn-ea"/>
              </a:rPr>
              <a:t>Outline the text.</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Identify the topic sentences and supporting sentences.</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Avoid unnecessary details.</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Draft your summary by putting together your outline.</a:t>
            </a:r>
            <a:endParaRPr lang="en-US" sz="457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8590"/>
            <a:ext cx="10515600" cy="1094740"/>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1</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11760" y="1243330"/>
            <a:ext cx="11967845" cy="5520690"/>
          </a:xfrm>
        </p:spPr>
        <p:txBody>
          <a:bodyPr>
            <a:normAutofit lnSpcReduction="20000"/>
          </a:bodyPr>
          <a:p>
            <a:pPr marL="0" indent="0" algn="just">
              <a:buNone/>
            </a:pPr>
            <a:r>
              <a:rPr lang="en-US" sz="3200">
                <a:latin typeface="Times New Roman" panose="02020603050405020304" charset="0"/>
                <a:cs typeface="Times New Roman" panose="02020603050405020304" charset="0"/>
              </a:rPr>
              <a:t>Three passions, simple but overwhelmingly strong, have governed my life: the longing for love, the search for knowledge and unbearable pity for the suffering of mankind. These passions like great winds, have blown me hither and thither, in ayward course, over a deep ocean of anguish reaching to the very verge of despair.</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I have sought love, first, because it brings ecstacy- ecstasy so great that i would oten have sacrificed all the rest of my life for a few hours of its joy. I have sought it, next, which one’s shivering consciousness looks over the rim of the world into the cold unfathomable lifeless abyss. I have sought it, finally, because in the union of love, I have seen, in a mystic miniature, the prefiguring vision of the heaven that saints and poets have imagined. This is what I sought and thouh it might seem too</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good for human life, this is what, at last, I have found.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8590"/>
            <a:ext cx="10515600" cy="863600"/>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1</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11760" y="1012190"/>
            <a:ext cx="11967845" cy="5520690"/>
          </a:xfrm>
        </p:spPr>
        <p:txBody>
          <a:bodyPr>
            <a:noAutofit/>
          </a:bodyPr>
          <a:p>
            <a:pPr marL="0" indent="0" algn="just">
              <a:buNone/>
            </a:pPr>
            <a:r>
              <a:rPr lang="en-US" sz="2900">
                <a:latin typeface="Times New Roman" panose="02020603050405020304" charset="0"/>
                <a:cs typeface="Times New Roman" panose="02020603050405020304" charset="0"/>
              </a:rPr>
              <a:t>With equal passion, I have sought knowledge. I have wished to understand the hearts of men. I have wished to know why the stars shine. A little of this, but not much, I have achieved.</a:t>
            </a:r>
            <a:endParaRPr lang="en-US" sz="2900">
              <a:latin typeface="Times New Roman" panose="02020603050405020304" charset="0"/>
              <a:cs typeface="Times New Roman" panose="02020603050405020304" charset="0"/>
            </a:endParaRPr>
          </a:p>
          <a:p>
            <a:pPr marL="0" indent="0" algn="just">
              <a:buNone/>
            </a:pPr>
            <a:endParaRPr lang="en-US" sz="2900">
              <a:latin typeface="Times New Roman" panose="02020603050405020304" charset="0"/>
              <a:cs typeface="Times New Roman" panose="02020603050405020304" charset="0"/>
            </a:endParaRPr>
          </a:p>
          <a:p>
            <a:pPr marL="0" indent="0" algn="just">
              <a:buNone/>
            </a:pPr>
            <a:r>
              <a:rPr lang="en-US" sz="2900">
                <a:latin typeface="Times New Roman" panose="02020603050405020304" charset="0"/>
                <a:cs typeface="Times New Roman" panose="02020603050405020304" charset="0"/>
              </a:rPr>
              <a:t>Love and knowledge, as far as they were possible, led upwards towards the heavens. But always pity brought me back to earth. Echoes of cries of pain reverberate in my heart. Children in famine, victims tortured by oppressors, helpless old people, a hated burden to their sons, and the whole world of loneliness, poverty and pain make a mockery of what human life should be. I long to alleviate the evil, but I cannot, and I too suffer.</a:t>
            </a:r>
            <a:endParaRPr lang="en-US" sz="2900">
              <a:latin typeface="Times New Roman" panose="02020603050405020304" charset="0"/>
              <a:cs typeface="Times New Roman" panose="02020603050405020304" charset="0"/>
            </a:endParaRPr>
          </a:p>
          <a:p>
            <a:pPr marL="0" indent="0" algn="just">
              <a:buNone/>
            </a:pPr>
            <a:endParaRPr lang="en-US" sz="2900">
              <a:latin typeface="Times New Roman" panose="02020603050405020304" charset="0"/>
              <a:cs typeface="Times New Roman" panose="02020603050405020304" charset="0"/>
            </a:endParaRPr>
          </a:p>
          <a:p>
            <a:pPr marL="0" indent="0" algn="just">
              <a:buNone/>
            </a:pPr>
            <a:r>
              <a:rPr lang="en-US" sz="2900">
                <a:latin typeface="Times New Roman" panose="02020603050405020304" charset="0"/>
                <a:cs typeface="Times New Roman" panose="02020603050405020304" charset="0"/>
              </a:rPr>
              <a:t>This has been my life. I have found it worth living, and would gladly live it again if the chance were offered me. </a:t>
            </a:r>
            <a:endParaRPr lang="en-US" sz="29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54075" y="179705"/>
            <a:ext cx="10515600" cy="1079500"/>
          </a:xfrm>
        </p:spPr>
        <p:txBody>
          <a:bodyPr>
            <a:normAutofit fontScale="90000"/>
          </a:bodyPr>
          <a:p>
            <a:pPr algn="ctr"/>
            <a:r>
              <a:rPr lang="en-US" b="1">
                <a:latin typeface="Times New Roman" panose="02020603050405020304" charset="0"/>
                <a:cs typeface="Times New Roman" panose="02020603050405020304" charset="0"/>
              </a:rPr>
              <a:t>SAMPLE TEXT 1</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PASSIONS OF LIFE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3510" y="1624965"/>
            <a:ext cx="11936730" cy="4754245"/>
          </a:xfrm>
        </p:spPr>
        <p:txBody>
          <a:bodyPr/>
          <a:p>
            <a:pPr marL="0" indent="0" algn="just">
              <a:buNone/>
            </a:pPr>
            <a:r>
              <a:rPr lang="en-US" sz="3200" b="1">
                <a:latin typeface="Times New Roman" panose="02020603050405020304" charset="0"/>
                <a:cs typeface="Times New Roman" panose="02020603050405020304" charset="0"/>
              </a:rPr>
              <a:t>Write a one paragraph summary (110 words) on the above passage.</a:t>
            </a:r>
            <a:endParaRPr lang="en-US" sz="3200" b="1">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Three passions have governed my life. These are the longing for love, knowledge and unbearable pity for mankind. I sought for love because it brings ecstasy. Love also relieves loneliness and helps me see visions of heaven. I sought for knowledge based on two reasons: it helps me understand the heart of man and why the stars shine. The unbearable pity for mankind also brings me back to earth to feel the pain for children in famine, victims tortured by oppressors, helpless old people and the world of loneliness. Pity also makes mockery of life. This is a lifestyle I would love to live again if I had another chance.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fontScale="90000" lnSpcReduction="10000"/>
          </a:bodyPr>
          <a:p>
            <a:pPr marL="0" indent="0" algn="just">
              <a:buNone/>
            </a:pPr>
            <a:r>
              <a:rPr lang="en-US" sz="3200">
                <a:latin typeface="Times New Roman" panose="02020603050405020304" charset="0"/>
                <a:cs typeface="Times New Roman" panose="02020603050405020304" charset="0"/>
              </a:rPr>
              <a:t>The teenage deserves all the sympathy in this world. In his jaundiced vision, the whole world has wronged him.</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very chicken and geese in the house are against him and when he approaches them, they scurry and scatter in disarray. Just because he is going to hurl a few rocks at them, these spoil-sports scamper away in dread of him. It really annoys him no end when he sees the same fowls flock around his younger brother and sister, and even eat corn out of their insignificant hands. Silly fowls!</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dog, Fido, which he Akora, had brought in as a puppy four years ago, and fed with the leftovers from his plate barks furiously at him when he swaggers into the yard attired in his tattered blue jeans, his patched anorak, and other fashionable castaway items of clothing that he has salvaged from the family archives. Especially when he tops this unearthly spectacle of himself by donning one of his friend’s trendy hats, Fido barks and barks. Silly dog!</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cat, Mitty, annoys him even the more with its grudging silence. Just because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lnSpcReduction="10000"/>
          </a:bodyPr>
          <a:p>
            <a:pPr marL="0" indent="0" algn="just">
              <a:buNone/>
            </a:pPr>
            <a:r>
              <a:rPr lang="en-US" sz="3200">
                <a:latin typeface="Times New Roman" panose="02020603050405020304" charset="0"/>
                <a:cs typeface="Times New Roman" panose="02020603050405020304" charset="0"/>
              </a:rPr>
              <a:t>Just because he has not seen the inside of a bathroom for the past two weeks, the cat sniffs very noisily. Whenever he passes by, it opens only one eye to wink at him peevishly, and dozes off again, creating thereby an air of being thoroughly fed with the sight of him. Akora does not like that cat’s sniffing much, but he dislikes its one-eyed wink even more. Surely, the beret should consider him worthy of a two-eyed open gaze? Silly cat!</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Then, there are the younger members of his family. Kojo is two full years younger than him. Yet, if he, Akora, orders him to sew the hole in the seat of his jens, Kojo behaves as if he does not understand the language, they have been brought up speaking. Aba is even worse. When he commands her to bring him some food from the kitchen without telling their mother, she merely giggles and giggles. Silly boy and silly girl!</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1162685"/>
          </a:xfrm>
        </p:spPr>
        <p:txBody>
          <a:bodyPr>
            <a:normAutofit fontScale="90000"/>
          </a:bodyPr>
          <a:p>
            <a:pPr algn="ctr"/>
            <a:r>
              <a:rPr lang="en-US" b="1">
                <a:latin typeface="Times New Roman" panose="02020603050405020304" charset="0"/>
                <a:cs typeface="Times New Roman" panose="02020603050405020304" charset="0"/>
              </a:rPr>
              <a:t>SAMPLE ANALYSIS</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TEXT 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53820"/>
            <a:ext cx="12191365" cy="5504815"/>
          </a:xfrm>
        </p:spPr>
        <p:txBody>
          <a:bodyPr>
            <a:normAutofit lnSpcReduction="10000"/>
          </a:bodyPr>
          <a:p>
            <a:pPr marL="0" indent="0" algn="just">
              <a:buNone/>
            </a:pPr>
            <a:r>
              <a:rPr lang="en-US" sz="3200">
                <a:latin typeface="Times New Roman" panose="02020603050405020304" charset="0"/>
                <a:cs typeface="Times New Roman" panose="02020603050405020304" charset="0"/>
              </a:rPr>
              <a:t>But worse of all was sheer life. Life has been treacherous to him. What all these unsightly spots on his face? What with only three strands of whiskers in the name of moustache? What with his body outgrowing his favourite pair of faded jeans? And horror of horrors, he is now getting dandruff. Silly life!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Poor teenager, it really is unfair that people around you should see you as worse than a pain in the neck. But never mind. You are so right, of course.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54075" y="179705"/>
            <a:ext cx="10515600" cy="1079500"/>
          </a:xfrm>
        </p:spPr>
        <p:txBody>
          <a:bodyPr>
            <a:normAutofit fontScale="90000"/>
          </a:bodyPr>
          <a:p>
            <a:pPr algn="ctr"/>
            <a:r>
              <a:rPr lang="en-US" b="1">
                <a:latin typeface="Times New Roman" panose="02020603050405020304" charset="0"/>
                <a:cs typeface="Times New Roman" panose="02020603050405020304" charset="0"/>
              </a:rPr>
              <a:t>SAMPLE TEXT 1</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AKORA AND HIS WORLD</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3510" y="1624965"/>
            <a:ext cx="11936730" cy="5032375"/>
          </a:xfrm>
        </p:spPr>
        <p:txBody>
          <a:bodyPr>
            <a:normAutofit lnSpcReduction="10000"/>
          </a:bodyPr>
          <a:p>
            <a:pPr marL="0" indent="0" algn="just">
              <a:buNone/>
            </a:pPr>
            <a:r>
              <a:rPr lang="en-US" sz="3200" b="1">
                <a:latin typeface="Times New Roman" panose="02020603050405020304" charset="0"/>
                <a:cs typeface="Times New Roman" panose="02020603050405020304" charset="0"/>
              </a:rPr>
              <a:t>Write a one paragraph summary (about 120 words) on the above passage.</a:t>
            </a:r>
            <a:endParaRPr lang="en-US" sz="3200" b="1">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Akora, the poor teenager, is highly worried about three main issues: domestic animals, siblings and life. His first worry is demonstrated by his chicken, geese, dog and cat. The chicken and geese are always afraid of him and scatter anytime they find him around. Akora is also worried by the way his two siblings disrespect him. They disobey him any time he commands any of them to do something for him. His siblings show insolence by pretending they do not understand the same mother tongue they were brought up with. One more thing that makes him sad is how life has treated him. He has ugly spots on his face and few strands of whiskers as moustache.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charset="0"/>
                <a:cs typeface="Times New Roman" panose="02020603050405020304" charset="0"/>
              </a:rPr>
              <a:t>EXERCISE 1 &amp; 2</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19710" y="1691640"/>
            <a:ext cx="11556365" cy="5029200"/>
          </a:xfrm>
        </p:spPr>
        <p:txBody>
          <a:bodyPr>
            <a:normAutofit lnSpcReduction="10000"/>
          </a:bodyPr>
          <a:p>
            <a:pPr algn="just"/>
            <a:r>
              <a:rPr lang="en-US" sz="3200">
                <a:latin typeface="Times New Roman" panose="02020603050405020304" charset="0"/>
                <a:cs typeface="Times New Roman" panose="02020603050405020304" charset="0"/>
              </a:rPr>
              <a:t>Page 78</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Exercise one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Write a one paragraph summary (about 120 words) on the following passage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Page 79</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Exercise two (Assignment)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sym typeface="+mn-ea"/>
              </a:rPr>
              <a:t>Write a one paragraph summary (about 120 words) on the following passage</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charset="0"/>
                <a:cs typeface="Times New Roman" panose="02020603050405020304" charset="0"/>
              </a:rPr>
              <a:t>MASTERING SPELLINGS</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19710" y="1691640"/>
            <a:ext cx="11556365" cy="5029200"/>
          </a:xfrm>
        </p:spPr>
        <p:txBody>
          <a:bodyPr>
            <a:normAutofit lnSpcReduction="10000"/>
          </a:bodyPr>
          <a:p>
            <a:pPr algn="just"/>
            <a:r>
              <a:rPr lang="en-US" sz="3200">
                <a:latin typeface="Times New Roman" panose="02020603050405020304" charset="0"/>
                <a:cs typeface="Times New Roman" panose="02020603050405020304" charset="0"/>
              </a:rPr>
              <a:t>Page 83</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Troublesome words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Commonly misspelled words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Spelling rules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Forming noun plurals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Page 95</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Exercise two (Assignment)</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fontScale="90000"/>
          </a:bodyPr>
          <a:p>
            <a:pPr algn="ctr"/>
            <a:r>
              <a:rPr lang="en-US" b="1">
                <a:latin typeface="Times New Roman" panose="02020603050405020304" charset="0"/>
                <a:cs typeface="Times New Roman" panose="02020603050405020304" charset="0"/>
              </a:rPr>
              <a:t>CORRECTING SPELLING ERRORS IN A TEXT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548765"/>
            <a:ext cx="12191365" cy="5308600"/>
          </a:xfrm>
        </p:spPr>
        <p:txBody>
          <a:bodyPr>
            <a:normAutofit fontScale="90000"/>
          </a:bodyPr>
          <a:p>
            <a:pPr marL="0" indent="0" algn="just">
              <a:buNone/>
            </a:pPr>
            <a:r>
              <a:rPr lang="en-US" sz="3200">
                <a:latin typeface="Times New Roman" panose="02020603050405020304" charset="0"/>
                <a:cs typeface="Times New Roman" panose="02020603050405020304" charset="0"/>
              </a:rPr>
              <a:t>Rewrite the following passage and correct all words that have been 						misspelt.</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It is sad that Ghanians have destroyed the environment recklessly through the indiscriminite dumping of rubish and industral waste, galamsey activities, loging, diforestation, water polution and other forms of ecological degradeition. Although some compatriots have been strugling for decades to meet an apreciable level of good sanitation and clean environment, we have still not made the mark. The establishment of the National Sanitation Day (NSD) was to encourige people to clean their suroundings and the streets but this has unfotunately been poorly responded to. Our streets and guters are chorked with gabage. Many houses are without toilets, while the public one are woefuly inadequate; a situation which forces people to deficate openly.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fontScale="90000"/>
          </a:bodyPr>
          <a:p>
            <a:pPr algn="ctr"/>
            <a:r>
              <a:rPr lang="en-US" b="1">
                <a:latin typeface="Times New Roman" panose="02020603050405020304" charset="0"/>
                <a:cs typeface="Times New Roman" panose="02020603050405020304" charset="0"/>
              </a:rPr>
              <a:t>CORRECTING SPELLING ERRORS IN A TEXT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765935"/>
            <a:ext cx="12191365" cy="5091430"/>
          </a:xfrm>
        </p:spPr>
        <p:txBody>
          <a:bodyPr>
            <a:noAutofit/>
          </a:bodyPr>
          <a:p>
            <a:pPr marL="0" indent="0" algn="just">
              <a:buNone/>
            </a:pPr>
            <a:r>
              <a:rPr lang="en-US" sz="3100">
                <a:latin typeface="Times New Roman" panose="02020603050405020304" charset="0"/>
                <a:cs typeface="Times New Roman" panose="02020603050405020304" charset="0"/>
              </a:rPr>
              <a:t>Gender is a primary mrker of social and economic strutification. Regardless of ones socioeconomic class there are systematic gender differences in material wellbeing, although the degree of inequality is a characteristic of most societies, with males on average better positioned in social economic and political hierrarchies. For more than two decades, the goal of reducing gender inequity has held a prominent place in international organizations and in national strategy statements millennium development goal 3 reflects the global attention to the issue of gender problem and has been providing the impitus for governments to elimenate gender inequity in primary and secondary education by 2025 where do we stand today with regards to gender paritty there is growing recognition that wellbeing is a mutlidimentional concept. </a:t>
            </a:r>
            <a:endParaRPr lang="en-US" sz="3100">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fontScale="90000"/>
          </a:bodyPr>
          <a:p>
            <a:pPr algn="ctr"/>
            <a:r>
              <a:rPr lang="en-US" b="1">
                <a:latin typeface="Times New Roman" panose="02020603050405020304" charset="0"/>
                <a:cs typeface="Times New Roman" panose="02020603050405020304" charset="0"/>
              </a:rPr>
              <a:t>CORRECTING SPELLING ERRORS IN A TEXT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765935"/>
            <a:ext cx="12191365" cy="5091430"/>
          </a:xfrm>
        </p:spPr>
        <p:txBody>
          <a:bodyPr>
            <a:normAutofit/>
          </a:bodyPr>
          <a:p>
            <a:pPr marL="0" indent="0" algn="just">
              <a:buNone/>
            </a:pPr>
            <a:r>
              <a:rPr lang="en-US" sz="3200">
                <a:latin typeface="Times New Roman" panose="02020603050405020304" charset="0"/>
                <a:cs typeface="Times New Roman" panose="02020603050405020304" charset="0"/>
                <a:sym typeface="+mn-ea"/>
              </a:rPr>
              <a:t>That framework is reflected in three key domains: capabilities livelihoods and agency the first of these categories is of intrinsic value and it also generates the pre-conditions for securing one’s</a:t>
            </a:r>
            <a:r>
              <a:rPr lang="en-US" sz="3200">
                <a:latin typeface="Times New Roman" panose="02020603050405020304" charset="0"/>
                <a:cs typeface="Times New Roman" panose="02020603050405020304" charset="0"/>
              </a:rPr>
              <a:t> economic wellbeing via engagement in production and economic decision making. Womens share of managerial positions is useful indicators in this domain.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0"/>
            <a:ext cx="11844655" cy="1129665"/>
          </a:xfrm>
        </p:spPr>
        <p:txBody>
          <a:bodyPr>
            <a:normAutofit fontScale="90000"/>
          </a:bodyPr>
          <a:p>
            <a:pPr algn="ctr"/>
            <a:r>
              <a:rPr lang="en-US" b="1">
                <a:latin typeface="Times New Roman" panose="02020603050405020304" charset="0"/>
                <a:cs typeface="Times New Roman" panose="02020603050405020304" charset="0"/>
              </a:rPr>
              <a:t>UNDERSTANDING PUNCTUATION &amp; CAPITALIZATION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978535"/>
            <a:ext cx="12193270" cy="5878830"/>
          </a:xfrm>
        </p:spPr>
        <p:txBody>
          <a:bodyPr>
            <a:normAutofit fontScale="50000"/>
          </a:bodyPr>
          <a:p>
            <a:pPr algn="just"/>
            <a:r>
              <a:rPr lang="en-US" sz="4570">
                <a:latin typeface="Times New Roman" panose="02020603050405020304" charset="0"/>
                <a:cs typeface="Times New Roman" panose="02020603050405020304" charset="0"/>
              </a:rPr>
              <a:t>The comma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semi-colon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colon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apostrophe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Quotation marks (‘’,“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full stop/period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parentheses (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question mark (?)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exclamation mark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Brackets{ } [ ]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Ellipsis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The hypen and the dash (-) </a:t>
            </a:r>
            <a:endParaRPr lang="en-US" sz="4570">
              <a:latin typeface="Times New Roman" panose="02020603050405020304" charset="0"/>
              <a:cs typeface="Times New Roman" panose="02020603050405020304" charset="0"/>
            </a:endParaRPr>
          </a:p>
          <a:p>
            <a:pPr algn="just"/>
            <a:r>
              <a:rPr lang="en-US" sz="4570">
                <a:latin typeface="Times New Roman" panose="02020603050405020304" charset="0"/>
                <a:cs typeface="Times New Roman" panose="02020603050405020304" charset="0"/>
              </a:rPr>
              <a:t>Capitalization (Capital letters)</a:t>
            </a:r>
            <a:endParaRPr lang="en-US" sz="457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95580"/>
            <a:ext cx="11844655" cy="1016635"/>
          </a:xfrm>
        </p:spPr>
        <p:txBody>
          <a:bodyPr>
            <a:normAutofit/>
          </a:bodyPr>
          <a:p>
            <a:pPr algn="ctr"/>
            <a:r>
              <a:rPr lang="en-US" b="1">
                <a:latin typeface="Times New Roman" panose="02020603050405020304" charset="0"/>
                <a:cs typeface="Times New Roman" panose="02020603050405020304" charset="0"/>
              </a:rPr>
              <a:t>THE COMMA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211580"/>
            <a:ext cx="11938000" cy="5507990"/>
          </a:xfrm>
        </p:spPr>
        <p:txBody>
          <a:bodyPr>
            <a:normAutofit lnSpcReduction="10000"/>
          </a:bodyPr>
          <a:p>
            <a:pPr marL="0" indent="0" algn="just">
              <a:buNone/>
            </a:pPr>
            <a:r>
              <a:rPr lang="en-US" sz="3200">
                <a:latin typeface="Times New Roman" panose="02020603050405020304" charset="0"/>
                <a:cs typeface="Times New Roman" panose="02020603050405020304" charset="0"/>
              </a:rPr>
              <a:t>A) Use a comma to seperate two independent clauses joined by a coordinating conjunction (and, but, or nor, for, yet, so). 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mini-bus robber had an easy job, for the windows were open.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students who are in the Red House scored higher marks in the first test, and the Gold House students did better in the second.</a:t>
            </a:r>
            <a:endParaRPr lang="en-US" sz="3200">
              <a:latin typeface="Times New Roman" panose="02020603050405020304" charset="0"/>
              <a:cs typeface="Times New Roman" panose="02020603050405020304" charset="0"/>
            </a:endParaRPr>
          </a:p>
          <a:p>
            <a:pPr marL="0" indent="0" algn="just">
              <a:buNone/>
            </a:pPr>
            <a:r>
              <a:rPr lang="en-US" sz="3200" b="1">
                <a:latin typeface="Times New Roman" panose="02020603050405020304" charset="0"/>
                <a:cs typeface="Times New Roman" panose="02020603050405020304" charset="0"/>
              </a:rPr>
              <a:t>Note:</a:t>
            </a:r>
            <a:r>
              <a:rPr lang="en-US" sz="3200">
                <a:latin typeface="Times New Roman" panose="02020603050405020304" charset="0"/>
                <a:cs typeface="Times New Roman" panose="02020603050405020304" charset="0"/>
              </a:rPr>
              <a:t> Do not use comma between independent clauses not joined by a coordinating conjuction (use a semi-colon instead (;). Example: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 sprained his arm; his temper was  ruined.</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Note: Do not use a comma between very short independent clauses. Eg: </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 sings, and she dances (incorrect).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 sings and she dances. (correct).</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95580"/>
            <a:ext cx="11844655" cy="1016635"/>
          </a:xfrm>
        </p:spPr>
        <p:txBody>
          <a:bodyPr>
            <a:normAutofit/>
          </a:bodyPr>
          <a:p>
            <a:pPr algn="ctr"/>
            <a:r>
              <a:rPr lang="en-US" b="1">
                <a:latin typeface="Times New Roman" panose="02020603050405020304" charset="0"/>
                <a:cs typeface="Times New Roman" panose="02020603050405020304" charset="0"/>
              </a:rPr>
              <a:t>THE COMMA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211580"/>
            <a:ext cx="11938000" cy="5507990"/>
          </a:xfrm>
        </p:spPr>
        <p:txBody>
          <a:bodyPr>
            <a:normAutofit/>
          </a:bodyPr>
          <a:p>
            <a:pPr marL="0" indent="0" algn="just">
              <a:buNone/>
            </a:pPr>
            <a:r>
              <a:rPr lang="en-US" sz="3200">
                <a:latin typeface="Times New Roman" panose="02020603050405020304" charset="0"/>
                <a:cs typeface="Times New Roman" panose="02020603050405020304" charset="0"/>
              </a:rPr>
              <a:t>B) Use a comma to seperate words, phrases, or clauses in a series of three or more: </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Words: Mary went to the Kaneshie market and bought items: onions, tomatoes, pepper, beef, and oil.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Phrases: The fashion magazine is available in bookshops, in supermarkets, at news-stands, and on social media.</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Clauses: Akweley read intensively, she selected the right exam questions, she planned her exams well, and she worked within the given time frame.</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95580"/>
            <a:ext cx="11844655" cy="1016635"/>
          </a:xfrm>
        </p:spPr>
        <p:txBody>
          <a:bodyPr>
            <a:normAutofit/>
          </a:bodyPr>
          <a:p>
            <a:pPr algn="ctr"/>
            <a:r>
              <a:rPr lang="en-US" b="1">
                <a:latin typeface="Times New Roman" panose="02020603050405020304" charset="0"/>
                <a:cs typeface="Times New Roman" panose="02020603050405020304" charset="0"/>
              </a:rPr>
              <a:t>THE COMMA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211580"/>
            <a:ext cx="11938000" cy="5507990"/>
          </a:xfrm>
        </p:spPr>
        <p:txBody>
          <a:bodyPr>
            <a:normAutofit/>
          </a:bodyPr>
          <a:p>
            <a:pPr marL="0" indent="0" algn="just">
              <a:buNone/>
            </a:pPr>
            <a:r>
              <a:rPr lang="en-US" sz="3200">
                <a:latin typeface="Times New Roman" panose="02020603050405020304" charset="0"/>
                <a:cs typeface="Times New Roman" panose="02020603050405020304" charset="0"/>
              </a:rPr>
              <a:t>C) The comma is used to set off a long prepositional phrase or an introductory subordinate adverbial clause from the main clause of a sentence. 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In the drought year of 1920, many Africans left the continent for Europe. (Preposition clause).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If you had studied very hard at the university, you would have made a good class. (Adverbial clause).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Note: There would be no need for a comma when the subordinate clause follows the main clause Example: ‘You would have made a good class if you had studied very hard at the university.’</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95580"/>
            <a:ext cx="11844655" cy="1016635"/>
          </a:xfrm>
        </p:spPr>
        <p:txBody>
          <a:bodyPr>
            <a:normAutofit/>
          </a:bodyPr>
          <a:p>
            <a:pPr algn="ctr"/>
            <a:r>
              <a:rPr lang="en-US" b="1">
                <a:latin typeface="Times New Roman" panose="02020603050405020304" charset="0"/>
                <a:cs typeface="Times New Roman" panose="02020603050405020304" charset="0"/>
              </a:rPr>
              <a:t>THE COMMA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211580"/>
            <a:ext cx="11938000" cy="5507990"/>
          </a:xfrm>
        </p:spPr>
        <p:txBody>
          <a:bodyPr>
            <a:normAutofit/>
          </a:bodyPr>
          <a:p>
            <a:pPr marL="0" indent="0" algn="just">
              <a:buNone/>
            </a:pPr>
            <a:r>
              <a:rPr lang="en-US" sz="3200">
                <a:latin typeface="Times New Roman" panose="02020603050405020304" charset="0"/>
                <a:cs typeface="Times New Roman" panose="02020603050405020304" charset="0"/>
              </a:rPr>
              <a:t>D) The comma is used after a non-finite or verbless clause at the initial part of a sentence. 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Broken down in the middle of the road, my vehicle was pushed to the pavement by two students (non-finite clause).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When in the army, John learnt how to defend himself in a physical fight (verbless clause).</a:t>
            </a:r>
            <a:endParaRPr lang="en-US" sz="3200">
              <a:latin typeface="Times New Roman" panose="02020603050405020304" charset="0"/>
              <a:cs typeface="Times New Roman" panose="02020603050405020304" charset="0"/>
            </a:endParaRPr>
          </a:p>
          <a:p>
            <a:pPr marL="0" indent="0" algn="just">
              <a:buNone/>
            </a:pPr>
            <a:r>
              <a:rPr lang="en-US" sz="3200" b="1">
                <a:latin typeface="Times New Roman" panose="02020603050405020304" charset="0"/>
                <a:cs typeface="Times New Roman" panose="02020603050405020304" charset="0"/>
              </a:rPr>
              <a:t>Note</a:t>
            </a:r>
            <a:r>
              <a:rPr lang="en-US" sz="3200">
                <a:latin typeface="Times New Roman" panose="02020603050405020304" charset="0"/>
                <a:cs typeface="Times New Roman" panose="02020603050405020304" charset="0"/>
              </a:rPr>
              <a:t>: A non-finite does not have a subject and its verb does not mark tense. </a:t>
            </a:r>
            <a:r>
              <a:rPr lang="en-US" sz="3200" b="1">
                <a:latin typeface="Times New Roman" panose="02020603050405020304" charset="0"/>
                <a:cs typeface="Times New Roman" panose="02020603050405020304" charset="0"/>
              </a:rPr>
              <a:t>Note</a:t>
            </a:r>
            <a:r>
              <a:rPr lang="en-US" sz="3200">
                <a:latin typeface="Times New Roman" panose="02020603050405020304" charset="0"/>
                <a:cs typeface="Times New Roman" panose="02020603050405020304" charset="0"/>
              </a:rPr>
              <a:t> a verbless clause has no verb in it.</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54075" y="179705"/>
            <a:ext cx="10515600" cy="1079500"/>
          </a:xfrm>
        </p:spPr>
        <p:txBody>
          <a:bodyPr>
            <a:normAutofit fontScale="90000"/>
          </a:bodyPr>
          <a:p>
            <a:pPr algn="ctr"/>
            <a:r>
              <a:rPr lang="en-US" b="1">
                <a:latin typeface="Times New Roman" panose="02020603050405020304" charset="0"/>
                <a:cs typeface="Times New Roman" panose="02020603050405020304" charset="0"/>
              </a:rPr>
              <a:t>SAMPLE TEXT 1</a:t>
            </a:r>
            <a:br>
              <a:rPr lang="en-US" b="1">
                <a:latin typeface="Times New Roman" panose="02020603050405020304" charset="0"/>
                <a:cs typeface="Times New Roman" panose="02020603050405020304" charset="0"/>
              </a:rPr>
            </a:br>
            <a:r>
              <a:rPr lang="en-US" b="1">
                <a:latin typeface="Times New Roman" panose="02020603050405020304" charset="0"/>
                <a:cs typeface="Times New Roman" panose="02020603050405020304" charset="0"/>
              </a:rPr>
              <a:t>AKORA AND HIS WORLD</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3510" y="1624965"/>
            <a:ext cx="11936730" cy="5032375"/>
          </a:xfrm>
        </p:spPr>
        <p:txBody>
          <a:bodyPr>
            <a:normAutofit lnSpcReduction="10000"/>
          </a:bodyPr>
          <a:p>
            <a:pPr marL="0" indent="0" algn="just">
              <a:buNone/>
            </a:pPr>
            <a:r>
              <a:rPr lang="en-US" sz="3200" b="1">
                <a:latin typeface="Times New Roman" panose="02020603050405020304" charset="0"/>
                <a:cs typeface="Times New Roman" panose="02020603050405020304" charset="0"/>
              </a:rPr>
              <a:t>Rewrite the following text restoring the appropriate commas(,) in its rightful place.</a:t>
            </a:r>
            <a:endParaRPr lang="en-US" sz="3200" b="1">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Akora the poor teenager is highly worried about three main issues: domestic animals siblings and life. His first worry is demonstrated by his chicken geese dog and cat. The chicken and geese are always afraid of him and scatter anytime they find him around. Akora is also worried by the way his two siblings disrespect him. They disobey him any time he commands any of them to do something for him. His siblings show insolence by pretending they do not understand the same mother tongue they were brought up with. One more thing that makes him sad is how life has treated him. He has ugly spots on his face and few strands of whiskers as moustache.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SEMI-COLON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888365"/>
            <a:ext cx="11938000" cy="5831205"/>
          </a:xfrm>
        </p:spPr>
        <p:txBody>
          <a:bodyPr>
            <a:normAutofit fontScale="90000"/>
          </a:bodyPr>
          <a:p>
            <a:pPr marL="0" indent="0" algn="just">
              <a:lnSpc>
                <a:spcPct val="100000"/>
              </a:lnSpc>
              <a:buNone/>
            </a:pPr>
            <a:r>
              <a:rPr lang="en-US" sz="3200">
                <a:latin typeface="Times New Roman" panose="02020603050405020304" charset="0"/>
                <a:cs typeface="Times New Roman" panose="02020603050405020304" charset="0"/>
              </a:rPr>
              <a:t>It signals a greater break in thought than the comma. It is, however, closer to a period/full stop than to a comma in most of its uses and is often interchangeable with the period.</a:t>
            </a:r>
            <a:endParaRPr lang="en-US" sz="3200">
              <a:latin typeface="Times New Roman" panose="02020603050405020304" charset="0"/>
              <a:cs typeface="Times New Roman" panose="02020603050405020304" charset="0"/>
            </a:endParaRPr>
          </a:p>
          <a:p>
            <a:pPr marL="0" indent="0" algn="just">
              <a:lnSpc>
                <a:spcPct val="100000"/>
              </a:lnSpc>
              <a:buNone/>
            </a:pPr>
            <a:r>
              <a:rPr lang="en-US" sz="3200">
                <a:latin typeface="Times New Roman" panose="02020603050405020304" charset="0"/>
                <a:cs typeface="Times New Roman" panose="02020603050405020304" charset="0"/>
              </a:rPr>
              <a:t>A) Use a semi-colon to seperate closely related independent clauses that are not joined by a coordinating conjuction:</a:t>
            </a:r>
            <a:endParaRPr lang="en-US" sz="3200">
              <a:latin typeface="Times New Roman" panose="02020603050405020304" charset="0"/>
              <a:cs typeface="Times New Roman" panose="02020603050405020304" charset="0"/>
            </a:endParaRPr>
          </a:p>
          <a:p>
            <a:pPr algn="just">
              <a:lnSpc>
                <a:spcPct val="100000"/>
              </a:lnSpc>
            </a:pPr>
            <a:r>
              <a:rPr lang="en-US" sz="3200">
                <a:latin typeface="Times New Roman" panose="02020603050405020304" charset="0"/>
                <a:cs typeface="Times New Roman" panose="02020603050405020304" charset="0"/>
              </a:rPr>
              <a:t>One of the twins has traveled all over the world; the other rarely leaves home.</a:t>
            </a:r>
            <a:endParaRPr lang="en-US" sz="3200">
              <a:latin typeface="Times New Roman" panose="02020603050405020304" charset="0"/>
              <a:cs typeface="Times New Roman" panose="02020603050405020304" charset="0"/>
            </a:endParaRPr>
          </a:p>
          <a:p>
            <a:pPr algn="just">
              <a:lnSpc>
                <a:spcPct val="100000"/>
              </a:lnSpc>
            </a:pPr>
            <a:r>
              <a:rPr lang="en-US" sz="3200">
                <a:latin typeface="Times New Roman" panose="02020603050405020304" charset="0"/>
                <a:cs typeface="Times New Roman" panose="02020603050405020304" charset="0"/>
              </a:rPr>
              <a:t>His mother won’t let him; she is afarid he might get hurt. </a:t>
            </a:r>
            <a:endParaRPr lang="en-US" sz="3200">
              <a:latin typeface="Times New Roman" panose="02020603050405020304" charset="0"/>
              <a:cs typeface="Times New Roman" panose="02020603050405020304" charset="0"/>
            </a:endParaRPr>
          </a:p>
          <a:p>
            <a:pPr marL="0" indent="0" algn="just">
              <a:lnSpc>
                <a:spcPct val="100000"/>
              </a:lnSpc>
              <a:buNone/>
            </a:pPr>
            <a:r>
              <a:rPr lang="en-US" sz="3200">
                <a:latin typeface="Times New Roman" panose="02020603050405020304" charset="0"/>
                <a:cs typeface="Times New Roman" panose="02020603050405020304" charset="0"/>
              </a:rPr>
              <a:t>Note: The semi-colon is particularly effective for showing balance or contrast between two independent clauses. For example:</a:t>
            </a:r>
            <a:endParaRPr lang="en-US" sz="3200">
              <a:latin typeface="Times New Roman" panose="02020603050405020304" charset="0"/>
              <a:cs typeface="Times New Roman" panose="02020603050405020304" charset="0"/>
            </a:endParaRPr>
          </a:p>
          <a:p>
            <a:pPr algn="just">
              <a:lnSpc>
                <a:spcPct val="100000"/>
              </a:lnSpc>
            </a:pPr>
            <a:r>
              <a:rPr lang="en-US" sz="3200">
                <a:latin typeface="Times New Roman" panose="02020603050405020304" charset="0"/>
                <a:cs typeface="Times New Roman" panose="02020603050405020304" charset="0"/>
              </a:rPr>
              <a:t>The forest abound with wildlife; the rivers teem with fish.</a:t>
            </a:r>
            <a:endParaRPr lang="en-US" sz="3200">
              <a:latin typeface="Times New Roman" panose="02020603050405020304" charset="0"/>
              <a:cs typeface="Times New Roman" panose="02020603050405020304" charset="0"/>
            </a:endParaRPr>
          </a:p>
          <a:p>
            <a:pPr algn="just">
              <a:lnSpc>
                <a:spcPct val="100000"/>
              </a:lnSpc>
            </a:pPr>
            <a:r>
              <a:rPr lang="en-US" sz="3200">
                <a:latin typeface="Times New Roman" panose="02020603050405020304" charset="0"/>
                <a:cs typeface="Times New Roman" panose="02020603050405020304" charset="0"/>
              </a:rPr>
              <a:t>Many people are willing to give advice; they are much less inclined to take it.</a:t>
            </a:r>
            <a:endParaRPr lang="en-US" sz="3200">
              <a:latin typeface="Times New Roman" panose="02020603050405020304" charset="0"/>
              <a:cs typeface="Times New Roman" panose="02020603050405020304" charset="0"/>
            </a:endParaRPr>
          </a:p>
          <a:p>
            <a:pPr marL="0" indent="0" algn="just">
              <a:lnSpc>
                <a:spcPct val="100000"/>
              </a:lnSpc>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SEMI-COLON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fontScale="90000"/>
          </a:bodyPr>
          <a:p>
            <a:pPr marL="0" indent="0" algn="just">
              <a:lnSpc>
                <a:spcPct val="100000"/>
              </a:lnSpc>
              <a:buNone/>
            </a:pPr>
            <a:r>
              <a:rPr lang="en-US" sz="3600">
                <a:latin typeface="Times New Roman" panose="02020603050405020304" charset="0"/>
                <a:cs typeface="Times New Roman" panose="02020603050405020304" charset="0"/>
              </a:rPr>
              <a:t>B) Use a semi-colon between independent clauses when the second clause begins with a transitional expression (conjunctive adverb) such as therefore, however, nevertheless, thus, moreover, also, besides, consequently, meanwhile, otherwise, then, furthermore, likewise, in fact, still, hence, in addition, for example, etc.</a:t>
            </a:r>
            <a:endParaRPr lang="en-US" sz="3600">
              <a:latin typeface="Times New Roman" panose="02020603050405020304" charset="0"/>
              <a:cs typeface="Times New Roman" panose="02020603050405020304" charset="0"/>
            </a:endParaRPr>
          </a:p>
          <a:p>
            <a:pPr marL="0" indent="0" algn="just">
              <a:buNone/>
            </a:pPr>
            <a:r>
              <a:rPr lang="en-US" sz="3600">
                <a:latin typeface="Times New Roman" panose="02020603050405020304" charset="0"/>
                <a:cs typeface="Times New Roman" panose="02020603050405020304" charset="0"/>
              </a:rPr>
              <a:t>Note: A comma comes in front of the transitional connective. The following are examples:</a:t>
            </a:r>
            <a:endParaRPr lang="en-US" sz="3600">
              <a:latin typeface="Times New Roman" panose="02020603050405020304" charset="0"/>
              <a:cs typeface="Times New Roman" panose="02020603050405020304" charset="0"/>
            </a:endParaRPr>
          </a:p>
          <a:p>
            <a:pPr algn="just"/>
            <a:r>
              <a:rPr lang="en-US" sz="3600">
                <a:latin typeface="Times New Roman" panose="02020603050405020304" charset="0"/>
                <a:cs typeface="Times New Roman" panose="02020603050405020304" charset="0"/>
              </a:rPr>
              <a:t>The gadget won’t work; therefore, there is no sense in buying it.</a:t>
            </a:r>
            <a:endParaRPr lang="en-US" sz="3600">
              <a:latin typeface="Times New Roman" panose="02020603050405020304" charset="0"/>
              <a:cs typeface="Times New Roman" panose="02020603050405020304" charset="0"/>
            </a:endParaRPr>
          </a:p>
          <a:p>
            <a:pPr algn="just"/>
            <a:r>
              <a:rPr lang="en-US" sz="3600">
                <a:latin typeface="Times New Roman" panose="02020603050405020304" charset="0"/>
                <a:cs typeface="Times New Roman" panose="02020603050405020304" charset="0"/>
              </a:rPr>
              <a:t>His argument has some merit; however, sometimes he overelaborates. </a:t>
            </a: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SEMI-COLON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a:bodyPr>
          <a:p>
            <a:pPr marL="0" indent="0" algn="just">
              <a:lnSpc>
                <a:spcPct val="100000"/>
              </a:lnSpc>
              <a:buNone/>
            </a:pPr>
            <a:r>
              <a:rPr lang="en-US" sz="3600">
                <a:latin typeface="Times New Roman" panose="02020603050405020304" charset="0"/>
                <a:cs typeface="Times New Roman" panose="02020603050405020304" charset="0"/>
              </a:rPr>
              <a:t>C) Use a semi-colon to seperate items in a series when one or more of the items contains commas: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judges for the beauty pageant were Mrs. Johnson, a fashion designer; Mrs. Anum, a beauty therapist; Mr Sackeyfio, a trainer; and Dr. Rauf, a lecturer.</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mid-semester examinations will be administered on Monday, July 5; Wednesday, July 7; and Friday, July 9.</a:t>
            </a: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SEMI-COLON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a:bodyPr>
          <a:p>
            <a:pPr marL="0" indent="0" algn="just">
              <a:lnSpc>
                <a:spcPct val="100000"/>
              </a:lnSpc>
              <a:buNone/>
            </a:pPr>
            <a:r>
              <a:rPr lang="en-US" sz="3600">
                <a:latin typeface="Times New Roman" panose="02020603050405020304" charset="0"/>
                <a:cs typeface="Times New Roman" panose="02020603050405020304" charset="0"/>
              </a:rPr>
              <a:t>D) Use a semi-colon between independent clauses joined by a coordinating conjuction when there are commas within the clauses: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Having studied all night, Kweku entered the exam confidently; but he still found the test items challenging.</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In modern time, people can purchase what they need from malls, supermarkets, and discount stores; but in colonial days, when such opportunities did not exist, people relied on general stores and peddlers.</a:t>
            </a: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marL="0" indent="0" algn="just">
              <a:lnSpc>
                <a:spcPct val="100000"/>
              </a:lnSpc>
              <a:buNone/>
            </a:pPr>
            <a:r>
              <a:rPr lang="en-US" sz="3600">
                <a:latin typeface="Times New Roman" panose="02020603050405020304" charset="0"/>
                <a:cs typeface="Times New Roman" panose="02020603050405020304" charset="0"/>
              </a:rPr>
              <a:t>The colon introduces the material which follows it. It may be a list or a statement.</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A) Use a colon to separate a list of items from an introductory statement, which often contains the words “as follows”, “the following”, “these”, or “a number”. Note that the list is usually in apposition to some word in the statement:</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Ama went to the West Hills Mall and bought the following items: shoes, bags, cosmetics, drinks and cutlery.</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hotel offers four types of accommodation: a single room with bath, private villa, suite and cabin.</a:t>
            </a: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marL="0" indent="0" algn="just">
              <a:lnSpc>
                <a:spcPct val="100000"/>
              </a:lnSpc>
              <a:buNone/>
            </a:pPr>
            <a:r>
              <a:rPr lang="en-US" sz="3600">
                <a:latin typeface="Times New Roman" panose="02020603050405020304" charset="0"/>
                <a:cs typeface="Times New Roman" panose="02020603050405020304" charset="0"/>
              </a:rPr>
              <a:t>B) Use a colon to separate an introductory statement from an explanation and an appositive:</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We hired Nana Ama for two reasons: Her expertise and experience.</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Take these words of advice: Never despair.</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His adventures had earned him the nickname: Table of men.</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C) Use a colon to introduce a long quotation.</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Mark Anthony: O’pardon me, thou bleeding piece of earth.</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marL="0" indent="0" algn="just">
              <a:lnSpc>
                <a:spcPct val="100000"/>
              </a:lnSpc>
              <a:buNone/>
            </a:pPr>
            <a:r>
              <a:rPr lang="en-US" sz="3600">
                <a:latin typeface="Times New Roman" panose="02020603050405020304" charset="0"/>
                <a:cs typeface="Times New Roman" panose="02020603050405020304" charset="0"/>
              </a:rPr>
              <a:t>D) Use a colon to introduce a formal quotation or question.</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president declared: “We must all adhere to the COVID-19 safety protocols.”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fundamental question is: In which direction is our country heading?</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E) Use a colon to separate a second independent clause that explains the first clause.</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The heir apparent’s intentions are clear: He wants to inherit the throne.</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marL="0" indent="0" algn="just">
              <a:lnSpc>
                <a:spcPct val="100000"/>
              </a:lnSpc>
              <a:buNone/>
            </a:pPr>
            <a:r>
              <a:rPr lang="en-US" sz="3600">
                <a:latin typeface="Times New Roman" panose="02020603050405020304" charset="0"/>
                <a:cs typeface="Times New Roman" panose="02020603050405020304" charset="0"/>
              </a:rPr>
              <a:t>F) Use a colon to separate a salutation from the body of a business letter.</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Dear Madam/Sir:</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Dear Prof. Boateng:</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G) Use</a:t>
            </a:r>
            <a:r>
              <a:rPr lang="en-US" sz="3600">
                <a:latin typeface="Times New Roman" panose="02020603050405020304" charset="0"/>
                <a:cs typeface="Times New Roman" panose="02020603050405020304" charset="0"/>
                <a:sym typeface="+mn-ea"/>
              </a:rPr>
              <a:t> a colon to separate hour  and minutes in expression of time and chapter numbers from verse numbers in references from the Bible;</a:t>
            </a:r>
            <a:endParaRPr lang="en-US" sz="3600">
              <a:latin typeface="Times New Roman" panose="02020603050405020304" charset="0"/>
              <a:cs typeface="Times New Roman" panose="02020603050405020304" charset="0"/>
              <a:sym typeface="+mn-ea"/>
            </a:endParaRPr>
          </a:p>
          <a:p>
            <a:pPr algn="just">
              <a:lnSpc>
                <a:spcPct val="100000"/>
              </a:lnSpc>
            </a:pPr>
            <a:r>
              <a:rPr lang="en-US" sz="3600">
                <a:latin typeface="Times New Roman" panose="02020603050405020304" charset="0"/>
                <a:cs typeface="Times New Roman" panose="02020603050405020304" charset="0"/>
                <a:sym typeface="+mn-ea"/>
              </a:rPr>
              <a:t>9:30am</a:t>
            </a:r>
            <a:endParaRPr lang="en-US" sz="3600">
              <a:latin typeface="Times New Roman" panose="02020603050405020304" charset="0"/>
              <a:cs typeface="Times New Roman" panose="02020603050405020304" charset="0"/>
              <a:sym typeface="+mn-ea"/>
            </a:endParaRPr>
          </a:p>
          <a:p>
            <a:pPr algn="just">
              <a:lnSpc>
                <a:spcPct val="100000"/>
              </a:lnSpc>
            </a:pPr>
            <a:r>
              <a:rPr lang="en-US" sz="3600">
                <a:latin typeface="Times New Roman" panose="02020603050405020304" charset="0"/>
                <a:cs typeface="Times New Roman" panose="02020603050405020304" charset="0"/>
                <a:sym typeface="+mn-ea"/>
              </a:rPr>
              <a:t>John 3:16 </a:t>
            </a: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COLON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fontScale="90000"/>
          </a:bodyPr>
          <a:p>
            <a:pPr marL="0" indent="0" algn="just">
              <a:lnSpc>
                <a:spcPct val="100000"/>
              </a:lnSpc>
              <a:buNone/>
            </a:pPr>
            <a:r>
              <a:rPr lang="en-US" sz="3600">
                <a:latin typeface="Times New Roman" panose="02020603050405020304" charset="0"/>
                <a:cs typeface="Times New Roman" panose="02020603050405020304" charset="0"/>
              </a:rPr>
              <a:t>H) Use a colon to separate parts of a title:</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General Knowledge of Literature: An Introduction to Literary Devices.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Persuasion in Advertising: A study of the Print Media in Ghana.</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I) Use</a:t>
            </a:r>
            <a:r>
              <a:rPr lang="en-US" sz="3600">
                <a:latin typeface="Times New Roman" panose="02020603050405020304" charset="0"/>
                <a:cs typeface="Times New Roman" panose="02020603050405020304" charset="0"/>
                <a:sym typeface="+mn-ea"/>
              </a:rPr>
              <a:t> a colon to separate certain parts of a Bibliography Entry: City and Publisher; volume (or date) and pages.</a:t>
            </a:r>
            <a:endParaRPr lang="en-US" sz="3600">
              <a:latin typeface="Times New Roman" panose="02020603050405020304" charset="0"/>
              <a:cs typeface="Times New Roman" panose="02020603050405020304" charset="0"/>
              <a:sym typeface="+mn-ea"/>
            </a:endParaRPr>
          </a:p>
          <a:p>
            <a:pPr algn="just">
              <a:lnSpc>
                <a:spcPct val="100000"/>
              </a:lnSpc>
            </a:pPr>
            <a:r>
              <a:rPr lang="en-US" sz="3600">
                <a:latin typeface="Times New Roman" panose="02020603050405020304" charset="0"/>
                <a:cs typeface="Times New Roman" panose="02020603050405020304" charset="0"/>
                <a:sym typeface="+mn-ea"/>
              </a:rPr>
              <a:t>Quirk, R. &amp; Greenbaum, S. (1973). A University Grammar of English. Dorling Kindersley: India.</a:t>
            </a:r>
            <a:endParaRPr lang="en-US" sz="3600">
              <a:latin typeface="Times New Roman" panose="02020603050405020304" charset="0"/>
              <a:cs typeface="Times New Roman" panose="02020603050405020304" charset="0"/>
              <a:sym typeface="+mn-ea"/>
            </a:endParaRPr>
          </a:p>
          <a:p>
            <a:pPr algn="just">
              <a:lnSpc>
                <a:spcPct val="100000"/>
              </a:lnSpc>
            </a:pPr>
            <a:r>
              <a:rPr lang="en-US" sz="3600">
                <a:latin typeface="Times New Roman" panose="02020603050405020304" charset="0"/>
                <a:cs typeface="Times New Roman" panose="02020603050405020304" charset="0"/>
                <a:sym typeface="+mn-ea"/>
              </a:rPr>
              <a:t>Allen, R. H. (1991). “Rhetoric of Science”, College English 53:284.</a:t>
            </a: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APOSTROPHE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marL="0" indent="0" algn="just">
              <a:lnSpc>
                <a:spcPct val="100000"/>
              </a:lnSpc>
              <a:buNone/>
            </a:pPr>
            <a:r>
              <a:rPr lang="en-US" sz="3600">
                <a:latin typeface="Times New Roman" panose="02020603050405020304" charset="0"/>
                <a:cs typeface="Times New Roman" panose="02020603050405020304" charset="0"/>
              </a:rPr>
              <a:t>It is used to show the omission of letters or numbers, to form the plural of letters or numbers, and to form possessive nouns.</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A) Use an apostrophe to show that a letter or letters have been omitted in forming contractions: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Let’s - Let us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O’clock - Of the clock</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She’s - She is/She has</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B) Add an apostrophe and an -s to make a singular noun possessive:</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APOSTROPHE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175385"/>
            <a:ext cx="11938000" cy="5544185"/>
          </a:xfrm>
        </p:spPr>
        <p:txBody>
          <a:bodyPr>
            <a:normAutofit lnSpcReduction="10000"/>
          </a:bodyPr>
          <a:p>
            <a:pPr algn="just">
              <a:lnSpc>
                <a:spcPct val="100000"/>
              </a:lnSpc>
            </a:pPr>
            <a:r>
              <a:rPr lang="en-US" sz="3600">
                <a:latin typeface="Times New Roman" panose="02020603050405020304" charset="0"/>
                <a:cs typeface="Times New Roman" panose="02020603050405020304" charset="0"/>
              </a:rPr>
              <a:t>Cat - the cat’s tail</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Person - a person’s legal right</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Note: For singular nouns ending in -s, you can either add an apostrophe and an -s or add just an apostrophe. Which ever system you follow be consistent. Here are some examples: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Doris’s or Doris’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Princess’s or princess’</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C) Add an apostrophe and an -s to a plural noun that does not end in -s to show possession.</a:t>
            </a: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APOSTROPHE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887730"/>
            <a:ext cx="11938000" cy="5846445"/>
          </a:xfrm>
        </p:spPr>
        <p:txBody>
          <a:bodyPr>
            <a:normAutofit lnSpcReduction="20000"/>
          </a:bodyPr>
          <a:p>
            <a:pPr algn="just">
              <a:lnSpc>
                <a:spcPct val="100000"/>
              </a:lnSpc>
            </a:pPr>
            <a:r>
              <a:rPr lang="en-US" sz="3600">
                <a:latin typeface="Times New Roman" panose="02020603050405020304" charset="0"/>
                <a:cs typeface="Times New Roman" panose="02020603050405020304" charset="0"/>
              </a:rPr>
              <a:t>Women - Women’s rights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People - People’s views</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B) Add only an apostrophe to show  possession when a plural noun ends in -s: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Lecturers - lecturers’ recommendations</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Students - students’ forum</a:t>
            </a:r>
            <a:endParaRPr lang="en-US" sz="3600">
              <a:latin typeface="Times New Roman" panose="02020603050405020304" charset="0"/>
              <a:cs typeface="Times New Roman" panose="02020603050405020304" charset="0"/>
            </a:endParaRPr>
          </a:p>
          <a:p>
            <a:pPr marL="0" indent="0" algn="just">
              <a:lnSpc>
                <a:spcPct val="100000"/>
              </a:lnSpc>
              <a:buNone/>
            </a:pPr>
            <a:r>
              <a:rPr lang="en-US" sz="3600">
                <a:latin typeface="Times New Roman" panose="02020603050405020304" charset="0"/>
                <a:cs typeface="Times New Roman" panose="02020603050405020304" charset="0"/>
              </a:rPr>
              <a:t>E)Use an apostrophe to  show that the first two numbers have been omitted from a year:</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1965 - ‘65</a:t>
            </a:r>
            <a:endParaRPr lang="en-US" sz="3600">
              <a:latin typeface="Times New Roman" panose="02020603050405020304" charset="0"/>
              <a:cs typeface="Times New Roman" panose="02020603050405020304" charset="0"/>
            </a:endParaRPr>
          </a:p>
          <a:p>
            <a:pPr algn="just">
              <a:lnSpc>
                <a:spcPct val="100000"/>
              </a:lnSpc>
            </a:pPr>
            <a:r>
              <a:rPr lang="en-US" sz="3600">
                <a:latin typeface="Times New Roman" panose="02020603050405020304" charset="0"/>
                <a:cs typeface="Times New Roman" panose="02020603050405020304" charset="0"/>
              </a:rPr>
              <a:t>1973 - ‘73</a:t>
            </a:r>
            <a:endParaRPr lang="en-US" sz="3600">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APOSTROPHE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887730"/>
            <a:ext cx="11938000" cy="5846445"/>
          </a:xfrm>
        </p:spPr>
        <p:txBody>
          <a:bodyPr>
            <a:normAutofit fontScale="70000"/>
          </a:bodyPr>
          <a:p>
            <a:pPr marL="0" indent="0" algn="just">
              <a:lnSpc>
                <a:spcPct val="100000"/>
              </a:lnSpc>
              <a:buNone/>
            </a:pPr>
            <a:r>
              <a:rPr lang="en-US" sz="4445">
                <a:latin typeface="Times New Roman" panose="02020603050405020304" charset="0"/>
                <a:cs typeface="Times New Roman" panose="02020603050405020304" charset="0"/>
              </a:rPr>
              <a:t>F) Use an apostrophe to form the plural of letters, numbers and words: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Richard is in his early 50’s.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His grade included four A’s and three B’s.</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Note: No apostrophe is needed when making centuries and decades plural.</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No one knows what the 2030s will be like.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Photography was invented during the 1800s.</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G)Words expressing time or amount usually form their possessives just as other nouns do.</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A week’s stay</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Two month’s pay</a:t>
            </a: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18110"/>
            <a:ext cx="11844655" cy="769620"/>
          </a:xfrm>
        </p:spPr>
        <p:txBody>
          <a:bodyPr>
            <a:normAutofit/>
          </a:bodyPr>
          <a:p>
            <a:pPr algn="ctr"/>
            <a:r>
              <a:rPr lang="en-US" b="1">
                <a:latin typeface="Times New Roman" panose="02020603050405020304" charset="0"/>
                <a:cs typeface="Times New Roman" panose="02020603050405020304" charset="0"/>
              </a:rPr>
              <a:t>THE APOSTROPHE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887730"/>
            <a:ext cx="11938000" cy="5846445"/>
          </a:xfrm>
        </p:spPr>
        <p:txBody>
          <a:bodyPr>
            <a:normAutofit/>
          </a:bodyPr>
          <a:p>
            <a:pPr marL="0" indent="0" algn="just">
              <a:lnSpc>
                <a:spcPct val="100000"/>
              </a:lnSpc>
              <a:buNone/>
            </a:pPr>
            <a:r>
              <a:rPr lang="en-US" sz="4445">
                <a:latin typeface="Times New Roman" panose="02020603050405020304" charset="0"/>
                <a:cs typeface="Times New Roman" panose="02020603050405020304" charset="0"/>
              </a:rPr>
              <a:t>H) In spite of the fact that possessive personal interrogative pronouns do not take apostrophes (his, hers, its, ours, yours, theirs) possessive indefinite pronouns do:</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anybody’s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someone else’s</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 ”) OR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567180"/>
            <a:ext cx="11938000" cy="5166995"/>
          </a:xfrm>
        </p:spPr>
        <p:txBody>
          <a:bodyPr>
            <a:normAutofit fontScale="90000" lnSpcReduction="20000"/>
          </a:bodyPr>
          <a:p>
            <a:pPr marL="0" indent="0" algn="just">
              <a:lnSpc>
                <a:spcPct val="100000"/>
              </a:lnSpc>
              <a:buNone/>
            </a:pPr>
            <a:r>
              <a:rPr lang="en-US" sz="4445">
                <a:latin typeface="Times New Roman" panose="02020603050405020304" charset="0"/>
                <a:cs typeface="Times New Roman" panose="02020603050405020304" charset="0"/>
              </a:rPr>
              <a:t>They usually occur in pairs and they enclose a word or a group of words separating them from the rest of the sentence. The following are the uses of the double quotation mark:</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A)To enclose the exact words of a speaker in direct speech (discourse):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The lecturer said, “I’ll be travelling abroad to pursue a PhD programme.”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“Why is everyone so happy today?” asked Yaw.</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 ”) OR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567180"/>
            <a:ext cx="11938000" cy="5166995"/>
          </a:xfrm>
        </p:spPr>
        <p:txBody>
          <a:bodyPr>
            <a:normAutofit lnSpcReduction="20000"/>
          </a:bodyPr>
          <a:p>
            <a:pPr marL="0" indent="0" algn="just">
              <a:lnSpc>
                <a:spcPct val="100000"/>
              </a:lnSpc>
              <a:buNone/>
            </a:pPr>
            <a:r>
              <a:rPr lang="en-US" sz="4445">
                <a:latin typeface="Times New Roman" panose="02020603050405020304" charset="0"/>
                <a:cs typeface="Times New Roman" panose="02020603050405020304" charset="0"/>
              </a:rPr>
              <a:t>2. Use double quotation marks only to enclose a speaker’s exact words. Do not use quotation marks in an indirect or reported quotation (speech). For example: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“Is everybody comfortably seated?” Kojo inquired. (direct speech)</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Kojo inquired if everybody was comfortably seated. (indirect speech)</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 ”) OR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567180"/>
            <a:ext cx="11938000" cy="5166995"/>
          </a:xfrm>
        </p:spPr>
        <p:txBody>
          <a:bodyPr>
            <a:normAutofit lnSpcReduction="20000"/>
          </a:bodyPr>
          <a:p>
            <a:pPr marL="0" indent="0" algn="just">
              <a:lnSpc>
                <a:spcPct val="100000"/>
              </a:lnSpc>
              <a:buNone/>
            </a:pPr>
            <a:r>
              <a:rPr lang="en-US" sz="4445">
                <a:latin typeface="Times New Roman" panose="02020603050405020304" charset="0"/>
                <a:cs typeface="Times New Roman" panose="02020603050405020304" charset="0"/>
              </a:rPr>
              <a:t>B) Use double quotation marks to enclose the exact words of a writer (when you quote a writer verbatim). For example: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In Deutronomy 28:13, we read “The Lord will make you the head, not the tail...”.</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C) Use double quotation marks to enclose the titles of articles, poems, songs, essays, short stories, book chapters, television programs:</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 ”) OR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567180"/>
            <a:ext cx="11938000" cy="5166995"/>
          </a:xfrm>
        </p:spPr>
        <p:txBody>
          <a:bodyPr>
            <a:normAutofit fontScale="70000"/>
          </a:bodyPr>
          <a:p>
            <a:pPr marL="0" indent="0" algn="just">
              <a:lnSpc>
                <a:spcPct val="100000"/>
              </a:lnSpc>
              <a:buNone/>
            </a:pPr>
            <a:r>
              <a:rPr lang="en-US" sz="4445">
                <a:latin typeface="Times New Roman" panose="02020603050405020304" charset="0"/>
                <a:cs typeface="Times New Roman" panose="02020603050405020304" charset="0"/>
              </a:rPr>
              <a:t>B) Use double quotation marks to enclose the exact words of a writer (when you quote a writer verbatim). For example: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In Deutronomy 28:13, we read “The Lord will make you the head, not the tail...”.</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C) Use double quotation marks to enclose the titles of articles, poems, songs, essays, short stories, book chapters, television programs: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 The poem “Death be not Proud” is one of the metaphysical literary works.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“Amazing Grace” is a famous Christian hymn.</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 ”) OR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567180"/>
            <a:ext cx="11938000" cy="5166995"/>
          </a:xfrm>
        </p:spPr>
        <p:txBody>
          <a:bodyPr>
            <a:normAutofit fontScale="90000" lnSpcReduction="10000"/>
          </a:bodyPr>
          <a:p>
            <a:pPr marL="0" indent="0" algn="just">
              <a:lnSpc>
                <a:spcPct val="100000"/>
              </a:lnSpc>
              <a:buNone/>
            </a:pPr>
            <a:r>
              <a:rPr lang="en-US" sz="4445">
                <a:latin typeface="Times New Roman" panose="02020603050405020304" charset="0"/>
                <a:cs typeface="Times New Roman" panose="02020603050405020304" charset="0"/>
              </a:rPr>
              <a:t>D) Use double quotation marks to identify words which are being discussed as words:</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The word “soiree” comes from French; the word “prima facie” comes from Latin.</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E) Use double quotation marks to set off a word or a group of words under discussion:</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Currently, “corona virus” has become a global pandemic and it has affected every facet of human existence.</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393190"/>
            <a:ext cx="11938000" cy="5464175"/>
          </a:xfrm>
        </p:spPr>
        <p:txBody>
          <a:bodyPr>
            <a:normAutofit fontScale="90000" lnSpcReduction="10000"/>
          </a:bodyPr>
          <a:p>
            <a:pPr marL="0" indent="0" algn="just">
              <a:lnSpc>
                <a:spcPct val="100000"/>
              </a:lnSpc>
              <a:buNone/>
            </a:pPr>
            <a:r>
              <a:rPr lang="en-US" sz="4445">
                <a:latin typeface="Times New Roman" panose="02020603050405020304" charset="0"/>
                <a:cs typeface="Times New Roman" panose="02020603050405020304" charset="0"/>
              </a:rPr>
              <a:t>Single quotation marks occur in pairs and are used to enclose a quotation within a quotation:</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A. Use a single quotation mark to enclose a direct quotation that occurs inside another quotation.</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The MC asked, “Who said, ‘Cowards die many times before their death’?”</a:t>
            </a:r>
            <a:endParaRPr lang="en-US" sz="4445">
              <a:latin typeface="Times New Roman" panose="02020603050405020304" charset="0"/>
              <a:cs typeface="Times New Roman" panose="02020603050405020304" charset="0"/>
            </a:endParaRPr>
          </a:p>
          <a:p>
            <a:pPr marL="0" indent="0" algn="just">
              <a:lnSpc>
                <a:spcPct val="100000"/>
              </a:lnSpc>
              <a:buNone/>
            </a:pPr>
            <a:r>
              <a:rPr lang="en-US" sz="4445">
                <a:latin typeface="Times New Roman" panose="02020603050405020304" charset="0"/>
                <a:cs typeface="Times New Roman" panose="02020603050405020304" charset="0"/>
              </a:rPr>
              <a:t>B)Use single quotation marks to enclose titles normally enclosed in double quotation marks when these titles occur within a direct quotation.</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9230" y="159385"/>
            <a:ext cx="11844655" cy="887095"/>
          </a:xfrm>
        </p:spPr>
        <p:txBody>
          <a:bodyPr>
            <a:normAutofit fontScale="90000"/>
          </a:bodyPr>
          <a:p>
            <a:pPr algn="ctr"/>
            <a:r>
              <a:rPr lang="en-US" b="1">
                <a:latin typeface="Times New Roman" panose="02020603050405020304" charset="0"/>
                <a:cs typeface="Times New Roman" panose="02020603050405020304" charset="0"/>
              </a:rPr>
              <a:t>QUOTATION MARKS (INVERTED COMMAS) SINGLE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95885" y="1393190"/>
            <a:ext cx="11938000" cy="5464175"/>
          </a:xfrm>
        </p:spPr>
        <p:txBody>
          <a:bodyPr>
            <a:normAutofit/>
          </a:bodyPr>
          <a:p>
            <a:pPr algn="just">
              <a:lnSpc>
                <a:spcPct val="100000"/>
              </a:lnSpc>
            </a:pPr>
            <a:r>
              <a:rPr lang="en-US" sz="4445">
                <a:latin typeface="Times New Roman" panose="02020603050405020304" charset="0"/>
                <a:cs typeface="Times New Roman" panose="02020603050405020304" charset="0"/>
              </a:rPr>
              <a:t>Ayikwei said, “I just listened to Bob Marley’s song ‘No Woman no Cry’ and the lyrics made a lot of sense to me.”</a:t>
            </a:r>
            <a:endParaRPr lang="en-US" sz="4445">
              <a:latin typeface="Times New Roman" panose="02020603050405020304" charset="0"/>
              <a:cs typeface="Times New Roman" panose="02020603050405020304" charset="0"/>
            </a:endParaRPr>
          </a:p>
          <a:p>
            <a:pPr algn="just">
              <a:lnSpc>
                <a:spcPct val="100000"/>
              </a:lnSpc>
            </a:pPr>
            <a:r>
              <a:rPr lang="en-US" sz="4445">
                <a:latin typeface="Times New Roman" panose="02020603050405020304" charset="0"/>
                <a:cs typeface="Times New Roman" panose="02020603050405020304" charset="0"/>
              </a:rPr>
              <a:t>Ayikwei asked, “Who said, ‘I just listened to Bob Marley’s song ‘No woman no Cry’ and the lyrics made a lot of sense to me’?”</a:t>
            </a: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marL="0" indent="0" algn="just">
              <a:lnSpc>
                <a:spcPct val="100000"/>
              </a:lnSpc>
              <a:buNone/>
            </a:pPr>
            <a:endParaRPr lang="en-US" sz="4445">
              <a:latin typeface="Times New Roman" panose="02020603050405020304" charset="0"/>
              <a:cs typeface="Times New Roman" panose="02020603050405020304" charset="0"/>
            </a:endParaRPr>
          </a:p>
          <a:p>
            <a:pPr algn="just">
              <a:lnSpc>
                <a:spcPct val="100000"/>
              </a:lnSpc>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lnSpc>
                <a:spcPct val="100000"/>
              </a:lnSpc>
              <a:buNone/>
            </a:pPr>
            <a:endParaRPr lang="en-US" sz="36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QUESTION MARK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lnSpcReduction="20000"/>
          </a:bodyPr>
          <a:p>
            <a:pPr marL="0" indent="0">
              <a:buNone/>
            </a:pPr>
            <a:r>
              <a:rPr lang="en-US" sz="3200">
                <a:latin typeface="Times New Roman" panose="02020603050405020304" charset="0"/>
                <a:cs typeface="Times New Roman" panose="02020603050405020304" charset="0"/>
              </a:rPr>
              <a:t>A question ends with a question mark which separates it from the sentence that follows.</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A) Use a question mark after a direct question:</a:t>
            </a:r>
            <a:endParaRPr lang="en-US" sz="3200">
              <a:latin typeface="Times New Roman" panose="02020603050405020304" charset="0"/>
              <a:cs typeface="Times New Roman" panose="02020603050405020304" charset="0"/>
            </a:endParaRPr>
          </a:p>
          <a:p>
            <a:r>
              <a:rPr lang="en-US" sz="3200">
                <a:latin typeface="Times New Roman" panose="02020603050405020304" charset="0"/>
                <a:cs typeface="Times New Roman" panose="02020603050405020304" charset="0"/>
              </a:rPr>
              <a:t>What are your views on campus relationship?</a:t>
            </a:r>
            <a:endParaRPr lang="en-US" sz="3200">
              <a:latin typeface="Times New Roman" panose="02020603050405020304" charset="0"/>
              <a:cs typeface="Times New Roman" panose="02020603050405020304" charset="0"/>
            </a:endParaRPr>
          </a:p>
          <a:p>
            <a:r>
              <a:rPr lang="en-US" sz="3200">
                <a:latin typeface="Times New Roman" panose="02020603050405020304" charset="0"/>
                <a:cs typeface="Times New Roman" panose="02020603050405020304" charset="0"/>
              </a:rPr>
              <a:t>Have you received all your exams scripts?</a:t>
            </a:r>
            <a:endParaRPr lang="en-US" sz="3200">
              <a:latin typeface="Times New Roman" panose="02020603050405020304" charset="0"/>
              <a:cs typeface="Times New Roman" panose="02020603050405020304" charset="0"/>
            </a:endParaRPr>
          </a:p>
          <a:p>
            <a:pPr marL="0" indent="0">
              <a:buNone/>
            </a:pP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B) Use a question mark at the end of a question tag;</a:t>
            </a:r>
            <a:endParaRPr lang="en-US" sz="3200">
              <a:latin typeface="Times New Roman" panose="02020603050405020304" charset="0"/>
              <a:cs typeface="Times New Roman" panose="02020603050405020304" charset="0"/>
            </a:endParaRPr>
          </a:p>
          <a:p>
            <a:r>
              <a:rPr lang="en-US" sz="3200">
                <a:latin typeface="Times New Roman" panose="02020603050405020304" charset="0"/>
                <a:cs typeface="Times New Roman" panose="02020603050405020304" charset="0"/>
              </a:rPr>
              <a:t>It is very cold outside the hall, isn’t it?</a:t>
            </a:r>
            <a:endParaRPr lang="en-US" sz="3200">
              <a:latin typeface="Times New Roman" panose="02020603050405020304" charset="0"/>
              <a:cs typeface="Times New Roman" panose="02020603050405020304" charset="0"/>
            </a:endParaRPr>
          </a:p>
          <a:p>
            <a:r>
              <a:rPr lang="en-US" sz="3200">
                <a:latin typeface="Times New Roman" panose="02020603050405020304" charset="0"/>
                <a:cs typeface="Times New Roman" panose="02020603050405020304" charset="0"/>
              </a:rPr>
              <a:t>The students have studied well for the quiz, haven’t they?</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NOTE: A question may be in a declarative sentences form. For, example, “You met her on a plane?” The question mark signals the tone in which it would be spoken.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QUESTION MARK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a:bodyPr>
          <a:p>
            <a:pPr marL="0" indent="0">
              <a:buNone/>
            </a:pPr>
            <a:r>
              <a:rPr lang="en-US" sz="3600">
                <a:latin typeface="Times New Roman" panose="02020603050405020304" charset="0"/>
                <a:cs typeface="Times New Roman" panose="02020603050405020304" charset="0"/>
              </a:rPr>
              <a:t>C) Use a question mark within parentheses to indicate doubt or uncertainty:</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Kwesi’s funny (?) remarks were unbearable.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I think the trainer (?) should intensify his effort.</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Note: Do not use a question mark after an indirect question form:</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We asked what the jubilation was about.</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Would you please sign the documents.</a:t>
            </a:r>
            <a:endParaRPr lang="en-US" sz="3600">
              <a:latin typeface="Times New Roman" panose="02020603050405020304" charset="0"/>
              <a:cs typeface="Times New Roman" panose="020206030504050203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QUESTION MARK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a:bodyPr>
          <a:p>
            <a:pPr marL="0" indent="0">
              <a:buNone/>
            </a:pPr>
            <a:r>
              <a:rPr lang="en-US" sz="3600">
                <a:latin typeface="Times New Roman" panose="02020603050405020304" charset="0"/>
                <a:cs typeface="Times New Roman" panose="02020603050405020304" charset="0"/>
              </a:rPr>
              <a:t>C) Use a question mark within parentheses to indicate doubt or uncertainty:</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Kwesi’s funny (?) remarks were unbearable.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I think the trainer (?) should intensify his effort.</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Note: Do not use a question mark after an indirect question or a polite request in a question form:</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We asked what the jubilation was about.</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Would you please sign the documents.</a:t>
            </a:r>
            <a:endParaRPr lang="en-US" sz="3600">
              <a:latin typeface="Times New Roman" panose="02020603050405020304" charset="0"/>
              <a:cs typeface="Times New Roman" panose="020206030504050203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EXCLAMATION MARK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fontScale="90000" lnSpcReduction="20000"/>
          </a:bodyPr>
          <a:p>
            <a:pPr marL="0" indent="0">
              <a:buNone/>
            </a:pPr>
            <a:r>
              <a:rPr lang="en-US" sz="3600">
                <a:latin typeface="Times New Roman" panose="02020603050405020304" charset="0"/>
                <a:cs typeface="Times New Roman" panose="02020603050405020304" charset="0"/>
              </a:rPr>
              <a:t>An exclamation mark indicates strong feeling.</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an exclamation mark after a strong imperative sentence: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Shut the door! There are mosquitoes outside.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Sit down!. There is so much disorder in the room.</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Note: A mild imperative can end with a full-stop. An exclamation mark shows stronger feeling. For example: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Please, wait for the bus.</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Run quickly.</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B) Place an exclamation mark after interjections:</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Help! The boy is drowning!</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Never! That’s impossible!</a:t>
            </a:r>
            <a:endParaRPr lang="en-US" sz="3600">
              <a:latin typeface="Times New Roman" panose="02020603050405020304" charset="0"/>
              <a:cs typeface="Times New Roman" panose="0202060305040502030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EXCLAMATION MARK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fontScale="90000" lnSpcReduction="10000"/>
          </a:bodyPr>
          <a:p>
            <a:pPr marL="0" indent="0">
              <a:buNone/>
            </a:pPr>
            <a:r>
              <a:rPr lang="en-US" sz="3600">
                <a:latin typeface="Times New Roman" panose="02020603050405020304" charset="0"/>
                <a:cs typeface="Times New Roman" panose="02020603050405020304" charset="0"/>
              </a:rPr>
              <a:t>C) Use an exclamation mark after interjections:</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Oh! Wow! Gosh! Oops! Ouch! Gee! Ah!</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Note:</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1. Interjections are not grammatically related to the rest of the sentence; they serve as independent elements to show feeling or to attract attention.</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2. Do not use an exclamation point after  mild interjection or a sentence that suggests only mild excitement or emotion.</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3. Do not use the exclamation mark more than once, or with other punctuation marks like question mark or a full-stop.</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That’s outrageous!!! ( its inappropriate, one is sufficient !)</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You fell again?! ( its also inappropriate: use either? or!) </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FULL STOP OR PERIOD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fontScale="90000" lnSpcReduction="20000"/>
          </a:bodyPr>
          <a:p>
            <a:pPr marL="0" indent="0">
              <a:buNone/>
            </a:pPr>
            <a:r>
              <a:rPr lang="en-US" sz="3600">
                <a:latin typeface="Times New Roman" panose="02020603050405020304" charset="0"/>
                <a:cs typeface="Times New Roman" panose="02020603050405020304" charset="0"/>
              </a:rPr>
              <a:t>The full stop or period marks the emd of a declarative or imperative sentence. It is also used to show the omission of letters in abbreviations. The following are illustrations of its use:</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a full stop after a declarative sentence oa statement:</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I hope you are studying very hard.</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University students are proficient in English.</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B) Use a period after a mild imperative sentence or command:</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Buy academic materials for your university programme.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Please wait for a few minutes.</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Stop waisting your time on campus.</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985520"/>
          </a:xfrm>
        </p:spPr>
        <p:txBody>
          <a:bodyPr/>
          <a:p>
            <a:pPr algn="ctr"/>
            <a:r>
              <a:rPr lang="en-US" b="1">
                <a:latin typeface="Times New Roman" panose="02020603050405020304" charset="0"/>
                <a:cs typeface="Times New Roman" panose="02020603050405020304" charset="0"/>
              </a:rPr>
              <a:t>THE FULL STOP OR PERIOD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18895"/>
            <a:ext cx="12192000" cy="5414010"/>
          </a:xfrm>
        </p:spPr>
        <p:txBody>
          <a:bodyPr>
            <a:normAutofit fontScale="90000" lnSpcReduction="20000"/>
          </a:bodyPr>
          <a:p>
            <a:pPr marL="0" indent="0">
              <a:buNone/>
            </a:pPr>
            <a:r>
              <a:rPr lang="en-US" sz="3600">
                <a:latin typeface="Times New Roman" panose="02020603050405020304" charset="0"/>
                <a:cs typeface="Times New Roman" panose="02020603050405020304" charset="0"/>
              </a:rPr>
              <a:t>C) Use a full stop to mark abbreviation or initials:</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Dr., Hon., Rev., Mr., Col., Fr., M.D., Mrs.,Esq., Prof.</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B.A., B.Sc., M.Phil., Ph.D., Dip. ED., M.Ed., M.A.</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Charles O. Boateng, Y.M.K. Kofie, Peter A. T. France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Ave., Vol., A.M., P.M.</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D) Use a period after a number or letter in a formal outline:</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1. Cause of road accidents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 Over speeding</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B. Lack of knowledge of road signs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C. Reckless driving</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739140"/>
          </a:xfrm>
        </p:spPr>
        <p:txBody>
          <a:bodyPr/>
          <a:p>
            <a:pPr algn="ctr"/>
            <a:r>
              <a:rPr lang="en-US" b="1">
                <a:latin typeface="Times New Roman" panose="02020603050405020304" charset="0"/>
                <a:cs typeface="Times New Roman" panose="02020603050405020304" charset="0"/>
              </a:rPr>
              <a:t>THE FULL STOP OR PERIOD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56640"/>
            <a:ext cx="12192000" cy="5676265"/>
          </a:xfrm>
        </p:spPr>
        <p:txBody>
          <a:bodyPr>
            <a:normAutofit fontScale="90000" lnSpcReduction="20000"/>
          </a:bodyPr>
          <a:p>
            <a:pPr marL="0" indent="0">
              <a:buNone/>
            </a:pPr>
            <a:r>
              <a:rPr lang="en-US" sz="3600">
                <a:latin typeface="Times New Roman" panose="02020603050405020304" charset="0"/>
                <a:cs typeface="Times New Roman" panose="02020603050405020304" charset="0"/>
              </a:rPr>
              <a:t>E) Use  period in a spaced group of three (...) to show Ellipsis (the intentional omission of words) in a quoted text:</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Barrack Obama, who was the first Black American President, contributed immensely to developments in his country.</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Barrack Obama ... contributed immensely to developments in bis country.</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F) The full stop is used in dialogue:</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A greeting: Good evening.</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A mild exclamation (not within a sentence): </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Good. </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Wonderful.</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739140"/>
          </a:xfrm>
        </p:spPr>
        <p:txBody>
          <a:bodyPr/>
          <a:p>
            <a:pPr algn="ctr"/>
            <a:r>
              <a:rPr lang="en-US" b="1">
                <a:latin typeface="Times New Roman" panose="02020603050405020304" charset="0"/>
                <a:cs typeface="Times New Roman" panose="02020603050405020304" charset="0"/>
              </a:rPr>
              <a:t>PARENTHESES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56640"/>
            <a:ext cx="12192000" cy="5676265"/>
          </a:xfrm>
        </p:spPr>
        <p:txBody>
          <a:bodyPr>
            <a:normAutofit/>
          </a:bodyPr>
          <a:p>
            <a:pPr marL="0" indent="0">
              <a:buNone/>
            </a:pPr>
            <a:r>
              <a:rPr lang="en-US" sz="3600">
                <a:latin typeface="Times New Roman" panose="02020603050405020304" charset="0"/>
                <a:cs typeface="Times New Roman" panose="02020603050405020304" charset="0"/>
              </a:rPr>
              <a:t>Parentheses are used to enclose elements that interrupt a sentence. Words in parentheses are set aside from the rest of the sentence. Parentheses enclose items that are really additional information. The following are their uses: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parentheses to set off supplementary material:</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That ancient painting (probably the most original in the exhibition) at first attracted little attention.</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Mrs Keelson’s cosmetic shop (exotic collection) is located at the university campus.</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739140"/>
          </a:xfrm>
        </p:spPr>
        <p:txBody>
          <a:bodyPr/>
          <a:p>
            <a:pPr algn="ctr"/>
            <a:r>
              <a:rPr lang="en-US" b="1">
                <a:latin typeface="Times New Roman" panose="02020603050405020304" charset="0"/>
                <a:cs typeface="Times New Roman" panose="02020603050405020304" charset="0"/>
              </a:rPr>
              <a:t>PARENTHESES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56640"/>
            <a:ext cx="12192000" cy="5676265"/>
          </a:xfrm>
        </p:spPr>
        <p:txBody>
          <a:bodyPr>
            <a:normAutofit/>
          </a:bodyPr>
          <a:p>
            <a:pPr marL="0" indent="0">
              <a:buNone/>
            </a:pPr>
            <a:r>
              <a:rPr lang="en-US" sz="3600">
                <a:latin typeface="Times New Roman" panose="02020603050405020304" charset="0"/>
                <a:cs typeface="Times New Roman" panose="02020603050405020304" charset="0"/>
              </a:rPr>
              <a:t>Parentheses are used to enclose elements that interrupt a sentence. Words in parentheses are set aside from the rest of the sentence. Parentheses enclose items that are really additional information. The following are their uses: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parentheses to set off supplementary material:</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That ancient painting (probably the most original in the exhibition) at first attracted little attention.</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Mrs Keelson’s cosmetic shop (exotic collection) is located at the university campus.</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739140"/>
          </a:xfrm>
        </p:spPr>
        <p:txBody>
          <a:bodyPr/>
          <a:p>
            <a:pPr algn="ctr"/>
            <a:r>
              <a:rPr lang="en-US" b="1">
                <a:latin typeface="Times New Roman" panose="02020603050405020304" charset="0"/>
                <a:cs typeface="Times New Roman" panose="02020603050405020304" charset="0"/>
              </a:rPr>
              <a:t>PARENTHESES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56640"/>
            <a:ext cx="12192000" cy="5676265"/>
          </a:xfrm>
        </p:spPr>
        <p:txBody>
          <a:bodyPr>
            <a:normAutofit/>
          </a:bodyPr>
          <a:p>
            <a:pPr marL="0" indent="0">
              <a:buNone/>
            </a:pPr>
            <a:r>
              <a:rPr lang="en-US" sz="3600">
                <a:latin typeface="Times New Roman" panose="02020603050405020304" charset="0"/>
                <a:cs typeface="Times New Roman" panose="02020603050405020304" charset="0"/>
              </a:rPr>
              <a:t>Parentheses are used to enclose elements that interrupt a sentence. Words in parentheses are set aside from the rest of the sentence. Parentheses enclose items that are really additional information. The following are their uses: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parentheses to set off supplementary material:</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That ancient painting (probably the most original in the exhibition) at first attracted little attention.</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Mrs Keelson’s cosmetic shop (exotic collection) is located at the university campus.</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4945"/>
            <a:ext cx="10515600" cy="739140"/>
          </a:xfrm>
        </p:spPr>
        <p:txBody>
          <a:bodyPr/>
          <a:p>
            <a:pPr algn="ctr"/>
            <a:r>
              <a:rPr lang="en-US" b="1">
                <a:latin typeface="Times New Roman" panose="02020603050405020304" charset="0"/>
                <a:cs typeface="Times New Roman" panose="02020603050405020304" charset="0"/>
              </a:rPr>
              <a:t>PARENTHESES [( )]</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056640"/>
            <a:ext cx="12192000" cy="5676265"/>
          </a:xfrm>
        </p:spPr>
        <p:txBody>
          <a:bodyPr>
            <a:normAutofit/>
          </a:bodyPr>
          <a:p>
            <a:pPr marL="0" indent="0">
              <a:buNone/>
            </a:pPr>
            <a:r>
              <a:rPr lang="en-US" sz="3600">
                <a:latin typeface="Times New Roman" panose="02020603050405020304" charset="0"/>
                <a:cs typeface="Times New Roman" panose="02020603050405020304" charset="0"/>
              </a:rPr>
              <a:t>Parentheses are used to enclose elements that interrupt a sentence. Words in parentheses are set aside from the rest of the sentence. Parentheses enclose items that are really additional information. The following are their uses:</a:t>
            </a:r>
            <a:endParaRPr lang="en-US" sz="36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A. Use parentheses to set off supplementary material:</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That ancient painting (probably the most original in the exhibition) at first attracted little attention.</a:t>
            </a:r>
            <a:endParaRPr lang="en-US" sz="3600">
              <a:latin typeface="Times New Roman" panose="02020603050405020304" charset="0"/>
              <a:cs typeface="Times New Roman" panose="02020603050405020304" charset="0"/>
            </a:endParaRPr>
          </a:p>
          <a:p>
            <a:r>
              <a:rPr lang="en-US" sz="3600">
                <a:latin typeface="Times New Roman" panose="02020603050405020304" charset="0"/>
                <a:cs typeface="Times New Roman" panose="02020603050405020304" charset="0"/>
              </a:rPr>
              <a:t>Mrs Keelson’s cosmetic shop (exotic collection) is located at the university campus.</a:t>
            </a:r>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a:p>
            <a:endParaRPr lang="en-US" sz="3600">
              <a:latin typeface="Times New Roman" panose="02020603050405020304" charset="0"/>
              <a:cs typeface="Times New Roman" panose="02020603050405020304" charset="0"/>
            </a:endParaRPr>
          </a:p>
          <a:p>
            <a:pPr marL="0" indent="0">
              <a:buNone/>
            </a:pPr>
            <a:endParaRPr lang="en-US" sz="3600">
              <a:latin typeface="Times New Roman" panose="02020603050405020304" charset="0"/>
              <a:cs typeface="Times New Roman" panose="0202060305040502030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8115" y="194945"/>
            <a:ext cx="11844655" cy="739140"/>
          </a:xfrm>
        </p:spPr>
        <p:txBody>
          <a:bodyPr>
            <a:normAutofit fontScale="90000"/>
          </a:bodyPr>
          <a:p>
            <a:pPr algn="ctr"/>
            <a:r>
              <a:rPr lang="en-US" b="1">
                <a:latin typeface="Times New Roman" panose="02020603050405020304" charset="0"/>
                <a:cs typeface="Times New Roman" panose="02020603050405020304" charset="0"/>
              </a:rPr>
              <a:t>REWRITE THE FOLLOWING SENTENCES AND CORRECT ALL PUNCTUATION ERRORS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81735"/>
            <a:ext cx="12192000" cy="5676265"/>
          </a:xfrm>
        </p:spPr>
        <p:txBody>
          <a:bodyPr>
            <a:normAutofit fontScale="25000"/>
          </a:bodyPr>
          <a:p>
            <a:pPr marL="0" indent="0">
              <a:buNone/>
            </a:pPr>
            <a:r>
              <a:rPr lang="en-US" sz="12800">
                <a:latin typeface="Times New Roman" panose="02020603050405020304" charset="0"/>
                <a:cs typeface="Times New Roman" panose="02020603050405020304" charset="0"/>
              </a:rPr>
              <a:t>1.We wont go to IMF again, Ghanas Minister of Finance Ken Ofori-Atta boldly pledged.</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2. The university of Cape Coast which loks so beautiful on the master plan is not really as attractive as it was meant to be.</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3. The Beautyful Ones Are Not Yet born is a debut novel by Ghanaian writer Ayi Kwei Armah.</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4. Due to the massive turnout of spectators the football match between Casely-Hayford Hall and Atlantic Hall was very exciting.</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5. Helena ignored her sister’s advice to become a hairdresser she wanted to be a scientist.</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6. Kwame Nkrumah declared Independence now.</a:t>
            </a:r>
            <a:endParaRPr lang="en-US" sz="12800">
              <a:latin typeface="Times New Roman" panose="02020603050405020304" charset="0"/>
              <a:cs typeface="Times New Roman" panose="02020603050405020304" charset="0"/>
            </a:endParaRPr>
          </a:p>
          <a:p>
            <a:pPr marL="0" indent="0">
              <a:buNone/>
            </a:pPr>
            <a:endParaRPr lang="en-US" sz="112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8115" y="194945"/>
            <a:ext cx="11844655" cy="739140"/>
          </a:xfrm>
        </p:spPr>
        <p:txBody>
          <a:bodyPr>
            <a:normAutofit fontScale="90000"/>
          </a:bodyPr>
          <a:p>
            <a:pPr algn="ctr"/>
            <a:r>
              <a:rPr lang="en-US" b="1">
                <a:latin typeface="Times New Roman" panose="02020603050405020304" charset="0"/>
                <a:cs typeface="Times New Roman" panose="02020603050405020304" charset="0"/>
              </a:rPr>
              <a:t>REWRITE THE FOLLOWING SENTENCES AND CORRECT ALL PUNCTUATION ERRORS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81735"/>
            <a:ext cx="12192000" cy="5676265"/>
          </a:xfrm>
        </p:spPr>
        <p:txBody>
          <a:bodyPr>
            <a:normAutofit fontScale="25000"/>
          </a:bodyPr>
          <a:p>
            <a:pPr marL="0" indent="0">
              <a:buNone/>
            </a:pPr>
            <a:r>
              <a:rPr lang="en-US" sz="12800">
                <a:latin typeface="Times New Roman" panose="02020603050405020304" charset="0"/>
                <a:cs typeface="Times New Roman" panose="02020603050405020304" charset="0"/>
                <a:sym typeface="+mn-ea"/>
              </a:rPr>
              <a:t>7. Acknowledgement of sources or documentation can be done in two ways footnotes or documentation</a:t>
            </a:r>
            <a:endParaRPr lang="en-US" sz="12800">
              <a:latin typeface="Times New Roman" panose="02020603050405020304" charset="0"/>
              <a:cs typeface="Times New Roman" panose="02020603050405020304" charset="0"/>
              <a:sym typeface="+mn-ea"/>
            </a:endParaRPr>
          </a:p>
          <a:p>
            <a:pPr marL="0" indent="0">
              <a:buNone/>
            </a:pPr>
            <a:r>
              <a:rPr lang="en-US" sz="12800">
                <a:latin typeface="Times New Roman" panose="02020603050405020304" charset="0"/>
                <a:cs typeface="Times New Roman" panose="02020603050405020304" charset="0"/>
                <a:sym typeface="+mn-ea"/>
              </a:rPr>
              <a:t>8. Do you sincerely believe in life after death. Are you sure you do.</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9. Some lecturers houses unlike those of medical doctors are quite close to the campus.</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10. You must be proud of yourself the man said for passing the exam with flying colours.</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11. Shut the door there are mosquitoes outside</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12.Never Thats impossible</a:t>
            </a:r>
            <a:endParaRPr lang="en-US" sz="12800">
              <a:latin typeface="Times New Roman" panose="02020603050405020304" charset="0"/>
              <a:cs typeface="Times New Roman" panose="02020603050405020304" charset="0"/>
            </a:endParaRPr>
          </a:p>
          <a:p>
            <a:pPr marL="0" indent="0">
              <a:buNone/>
            </a:pPr>
            <a:endParaRPr lang="en-US" sz="11200">
              <a:latin typeface="Times New Roman" panose="02020603050405020304" charset="0"/>
              <a:cs typeface="Times New Roman" panose="02020603050405020304" charset="0"/>
            </a:endParaRPr>
          </a:p>
          <a:p>
            <a:pPr marL="0" indent="0">
              <a:buNone/>
            </a:pPr>
            <a:endParaRPr lang="en-US" sz="112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8115" y="194945"/>
            <a:ext cx="11844655" cy="739140"/>
          </a:xfrm>
        </p:spPr>
        <p:txBody>
          <a:bodyPr>
            <a:normAutofit fontScale="90000"/>
          </a:bodyPr>
          <a:p>
            <a:pPr algn="ctr"/>
            <a:r>
              <a:rPr lang="en-US" b="1">
                <a:latin typeface="Times New Roman" panose="02020603050405020304" charset="0"/>
                <a:cs typeface="Times New Roman" panose="02020603050405020304" charset="0"/>
              </a:rPr>
              <a:t>REWRITE THE PASSAGE AND CORRECT ALL ERRORS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81735"/>
            <a:ext cx="12192000" cy="5676265"/>
          </a:xfrm>
        </p:spPr>
        <p:txBody>
          <a:bodyPr>
            <a:normAutofit fontScale="25000"/>
          </a:bodyPr>
          <a:p>
            <a:pPr marL="0" indent="0">
              <a:buNone/>
            </a:pPr>
            <a:r>
              <a:rPr lang="en-US" sz="12800">
                <a:latin typeface="Times New Roman" panose="02020603050405020304" charset="0"/>
                <a:cs typeface="Times New Roman" panose="02020603050405020304" charset="0"/>
              </a:rPr>
              <a:t>how often do you mistake a leopard for a cheetah or vice versa Im sure we have all made this mistake once or twice. While they are both big cats, leopards and cheetahs have distinct features. The cheetah black tear makes it easily identifable. It is commonly said that these marks help reflect the glare of the sun while hunting during the day, but in fact that is just a myth. While cheetah prefer to hunt in the day, leopards usually hunt at night (but will also occasionally hunt in the day if an oppotunity presents itself). Leopards have a large number of lightsensitive cells in their eyes that detect less colour but allow them to detect movement and shape easily in the dark giving them an advantage. Finnaly a leopard has rosettes which are roselike markings and cheetahs have a solid round or oval spot shape</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8115" y="194945"/>
            <a:ext cx="11844655" cy="739140"/>
          </a:xfrm>
        </p:spPr>
        <p:txBody>
          <a:bodyPr>
            <a:normAutofit fontScale="90000"/>
          </a:bodyPr>
          <a:p>
            <a:pPr algn="ctr"/>
            <a:r>
              <a:rPr lang="en-US" b="1">
                <a:latin typeface="Times New Roman" panose="02020603050405020304" charset="0"/>
                <a:cs typeface="Times New Roman" panose="02020603050405020304" charset="0"/>
              </a:rPr>
              <a:t>REWRITE THE PASSAGE AND CORRECT ALL ERRORS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181735"/>
            <a:ext cx="12192000" cy="5676265"/>
          </a:xfrm>
        </p:spPr>
        <p:txBody>
          <a:bodyPr>
            <a:normAutofit fontScale="25000"/>
          </a:bodyPr>
          <a:p>
            <a:pPr marL="0" indent="0">
              <a:buNone/>
            </a:pPr>
            <a:r>
              <a:rPr lang="en-US" sz="12800">
                <a:latin typeface="Times New Roman" panose="02020603050405020304" charset="0"/>
                <a:cs typeface="Times New Roman" panose="02020603050405020304" charset="0"/>
              </a:rPr>
              <a:t>By the end of the 19 century feminist activism was focused primarily on gaining political power these women activist’s were called the sufragette. These sufragette campaigned for womens right to vote and the abolition of slavery. Like other 1st wave feminists Woolf produced a major contribution to feminist theory. Woolf promotes a wide-ranging slate of feminist projects in her books especially in A Room of One’s Own 1929. in this book she argues that women’s writing should explore female experiences in their own right and not a form  of comparative assessment of women’s experience in relation to men. There is no doubt that she ended her speech in a seminar with the words Yes a woman must have a room of her own. </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b="1">
                <a:latin typeface="Times New Roman" panose="02020603050405020304" charset="0"/>
                <a:cs typeface="Times New Roman" panose="02020603050405020304" charset="0"/>
              </a:rPr>
              <a:t>DEVELOPING READING SKILLS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ctr">
              <a:buFont typeface="Wingdings" panose="05000000000000000000" charset="0"/>
              <a:buChar char="v"/>
            </a:pPr>
            <a:r>
              <a:rPr lang="en-US" sz="3200">
                <a:latin typeface="Times New Roman" panose="02020603050405020304" charset="0"/>
                <a:cs typeface="Times New Roman" panose="02020603050405020304" charset="0"/>
              </a:rPr>
              <a:t>READING STYLES</a:t>
            </a:r>
            <a:endParaRPr lang="en-US" sz="3200">
              <a:latin typeface="Times New Roman" panose="02020603050405020304" charset="0"/>
              <a:cs typeface="Times New Roman" panose="02020603050405020304" charset="0"/>
            </a:endParaRPr>
          </a:p>
          <a:p>
            <a:pPr marL="0" indent="0" algn="ctr">
              <a:buFont typeface="Wingdings" panose="05000000000000000000" charset="0"/>
              <a:buNone/>
            </a:pPr>
            <a:endParaRPr lang="en-US" sz="3200">
              <a:latin typeface="Times New Roman" panose="02020603050405020304" charset="0"/>
              <a:cs typeface="Times New Roman" panose="02020603050405020304" charset="0"/>
            </a:endParaRPr>
          </a:p>
          <a:p>
            <a:pPr algn="ctr">
              <a:buFont typeface="Wingdings" panose="05000000000000000000" charset="0"/>
              <a:buChar char="v"/>
            </a:pPr>
            <a:r>
              <a:rPr lang="en-US" sz="3200">
                <a:latin typeface="Times New Roman" panose="02020603050405020304" charset="0"/>
                <a:cs typeface="Times New Roman" panose="02020603050405020304" charset="0"/>
              </a:rPr>
              <a:t>INTENSIVE READING</a:t>
            </a:r>
            <a:endParaRPr lang="en-US" sz="3200">
              <a:latin typeface="Times New Roman" panose="02020603050405020304" charset="0"/>
              <a:cs typeface="Times New Roman" panose="02020603050405020304" charset="0"/>
            </a:endParaRPr>
          </a:p>
          <a:p>
            <a:pPr marL="0" indent="0" algn="ctr">
              <a:buFont typeface="Wingdings" panose="05000000000000000000" charset="0"/>
              <a:buNone/>
            </a:pPr>
            <a:endParaRPr lang="en-US" sz="3200">
              <a:latin typeface="Times New Roman" panose="02020603050405020304" charset="0"/>
              <a:cs typeface="Times New Roman" panose="02020603050405020304" charset="0"/>
            </a:endParaRPr>
          </a:p>
          <a:p>
            <a:pPr algn="ctr">
              <a:buFont typeface="Wingdings" panose="05000000000000000000" charset="0"/>
              <a:buChar char="v"/>
            </a:pPr>
            <a:r>
              <a:rPr lang="en-US" sz="3200">
                <a:latin typeface="Times New Roman" panose="02020603050405020304" charset="0"/>
                <a:cs typeface="Times New Roman" panose="02020603050405020304" charset="0"/>
              </a:rPr>
              <a:t>EXTENSIVE READING</a:t>
            </a:r>
            <a:endParaRPr lang="en-US" sz="3200">
              <a:latin typeface="Times New Roman" panose="02020603050405020304" charset="0"/>
              <a:cs typeface="Times New Roman" panose="02020603050405020304" charset="0"/>
            </a:endParaRPr>
          </a:p>
          <a:p>
            <a:pPr marL="0" indent="0" algn="ctr">
              <a:buFont typeface="Wingdings" panose="05000000000000000000" charset="0"/>
              <a:buNone/>
            </a:pPr>
            <a:endParaRPr lang="en-US" sz="3200">
              <a:latin typeface="Times New Roman" panose="02020603050405020304" charset="0"/>
              <a:cs typeface="Times New Roman" panose="02020603050405020304" charset="0"/>
            </a:endParaRPr>
          </a:p>
          <a:p>
            <a:pPr algn="ctr">
              <a:buFont typeface="Wingdings" panose="05000000000000000000" charset="0"/>
              <a:buChar char="v"/>
            </a:pPr>
            <a:r>
              <a:rPr lang="en-US" sz="3200">
                <a:latin typeface="Times New Roman" panose="02020603050405020304" charset="0"/>
                <a:cs typeface="Times New Roman" panose="02020603050405020304" charset="0"/>
              </a:rPr>
              <a:t>READING FOR COMPREHENSION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READING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563245" y="1825625"/>
            <a:ext cx="11202670" cy="4351655"/>
          </a:xfrm>
        </p:spPr>
        <p:txBody>
          <a:bodyPr/>
          <a:p>
            <a:pPr algn="ctr"/>
            <a:r>
              <a:rPr lang="en-US" sz="3200">
                <a:latin typeface="Times New Roman" panose="02020603050405020304" charset="0"/>
                <a:cs typeface="Times New Roman" panose="02020603050405020304" charset="0"/>
              </a:rPr>
              <a:t>Reading is a literacy skill that is perceived as understanding, interpreting or making sense of a text.</a:t>
            </a:r>
            <a:endParaRPr lang="en-US" sz="3200">
              <a:latin typeface="Times New Roman" panose="02020603050405020304" charset="0"/>
              <a:cs typeface="Times New Roman" panose="02020603050405020304" charset="0"/>
            </a:endParaRPr>
          </a:p>
          <a:p>
            <a:pPr algn="ctr"/>
            <a:endParaRPr lang="en-US" sz="3200">
              <a:latin typeface="Times New Roman" panose="02020603050405020304" charset="0"/>
              <a:cs typeface="Times New Roman" panose="02020603050405020304" charset="0"/>
            </a:endParaRPr>
          </a:p>
          <a:p>
            <a:pPr algn="ctr"/>
            <a:r>
              <a:rPr lang="en-US" sz="3200">
                <a:latin typeface="Times New Roman" panose="02020603050405020304" charset="0"/>
                <a:cs typeface="Times New Roman" panose="02020603050405020304" charset="0"/>
              </a:rPr>
              <a:t>It is concerned with the subject or content.</a:t>
            </a:r>
            <a:endParaRPr lang="en-US" sz="3200">
              <a:latin typeface="Times New Roman" panose="02020603050405020304" charset="0"/>
              <a:cs typeface="Times New Roman" panose="02020603050405020304" charset="0"/>
            </a:endParaRPr>
          </a:p>
          <a:p>
            <a:pPr marL="0" indent="0" algn="ctr">
              <a:buNone/>
            </a:pPr>
            <a:endParaRPr lang="en-US" sz="3200">
              <a:latin typeface="Times New Roman" panose="02020603050405020304" charset="0"/>
              <a:cs typeface="Times New Roman" panose="02020603050405020304" charset="0"/>
            </a:endParaRPr>
          </a:p>
          <a:p>
            <a:pPr algn="ctr"/>
            <a:r>
              <a:rPr lang="en-US" sz="3200">
                <a:latin typeface="Times New Roman" panose="02020603050405020304" charset="0"/>
                <a:cs typeface="Times New Roman" panose="02020603050405020304" charset="0"/>
              </a:rPr>
              <a:t>It is also concerned with the language in which it is expressed.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12725"/>
            <a:ext cx="10515600" cy="1325563"/>
          </a:xfrm>
        </p:spPr>
        <p:txBody>
          <a:bodyPr/>
          <a:p>
            <a:pPr algn="ctr"/>
            <a:r>
              <a:rPr lang="en-US" b="1">
                <a:latin typeface="Times New Roman" panose="02020603050405020304" charset="0"/>
                <a:cs typeface="Times New Roman" panose="02020603050405020304" charset="0"/>
              </a:rPr>
              <a:t>CHARACTERISTICS OF READING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3510" y="1915160"/>
            <a:ext cx="11904980" cy="5050155"/>
          </a:xfrm>
        </p:spPr>
        <p:txBody>
          <a:bodyPr>
            <a:normAutofit/>
          </a:bodyPr>
          <a:p>
            <a:pPr algn="just">
              <a:buFont typeface="Wingdings" panose="05000000000000000000" charset="0"/>
              <a:buChar char="v"/>
            </a:pPr>
            <a:r>
              <a:rPr lang="en-US" sz="3200">
                <a:latin typeface="Times New Roman" panose="02020603050405020304" charset="0"/>
                <a:cs typeface="Times New Roman" panose="02020603050405020304" charset="0"/>
              </a:rPr>
              <a:t>READING IS TEXT-BASED</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READING IS PURPOSEFUL</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READING SHOULD BE SILENT</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sym typeface="+mn-ea"/>
              </a:rPr>
              <a:t>READING SPEED VARIES</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READING INVOLVES COMPLEX COGNITIVE SKILLS</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READING INVOLVES CHUNKING OF INFORMATION</a:t>
            </a:r>
            <a:endParaRPr lang="en-US" sz="3200">
              <a:latin typeface="Times New Roman" panose="02020603050405020304" charset="0"/>
              <a:cs typeface="Times New Roman" panose="02020603050405020304" charset="0"/>
            </a:endParaRPr>
          </a:p>
          <a:p>
            <a:pPr algn="just">
              <a:buFont typeface="Wingdings" panose="05000000000000000000" charset="0"/>
              <a:buChar char="v"/>
            </a:pPr>
            <a:r>
              <a:rPr lang="en-US" sz="3200">
                <a:latin typeface="Times New Roman" panose="02020603050405020304" charset="0"/>
                <a:cs typeface="Times New Roman" panose="02020603050405020304" charset="0"/>
              </a:rPr>
              <a:t>READING IS BASED ON COMPREHENSION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7965"/>
            <a:ext cx="10515600" cy="1325563"/>
          </a:xfrm>
        </p:spPr>
        <p:txBody>
          <a:bodyPr/>
          <a:p>
            <a:pPr algn="ctr"/>
            <a:r>
              <a:rPr lang="en-US" b="1">
                <a:latin typeface="Times New Roman" panose="02020603050405020304" charset="0"/>
                <a:cs typeface="Times New Roman" panose="02020603050405020304" charset="0"/>
              </a:rPr>
              <a:t>TYPES OF READING SKILLS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247775"/>
            <a:ext cx="12191365" cy="5610225"/>
          </a:xfrm>
        </p:spPr>
        <p:txBody>
          <a:bodyPr>
            <a:normAutofit fontScale="80000"/>
          </a:bodyPr>
          <a:p>
            <a:pPr algn="ctr">
              <a:buFont typeface="Wingdings" panose="05000000000000000000" charset="0"/>
              <a:buChar char="Ø"/>
            </a:pPr>
            <a:r>
              <a:rPr lang="en-US" sz="3200">
                <a:latin typeface="Times New Roman" panose="02020603050405020304" charset="0"/>
                <a:cs typeface="Times New Roman" panose="02020603050405020304" charset="0"/>
              </a:rPr>
              <a:t>SKIMMING</a:t>
            </a:r>
            <a:endParaRPr lang="en-US" sz="3200">
              <a:latin typeface="Times New Roman" panose="02020603050405020304" charset="0"/>
              <a:cs typeface="Times New Roman" panose="02020603050405020304" charset="0"/>
            </a:endParaRPr>
          </a:p>
          <a:p>
            <a:pPr marL="0" indent="0" algn="ctr">
              <a:buFont typeface="Wingdings" panose="05000000000000000000" charset="0"/>
              <a:buNone/>
            </a:pPr>
            <a:endParaRPr lang="en-US" sz="3200">
              <a:latin typeface="Times New Roman" panose="02020603050405020304" charset="0"/>
              <a:cs typeface="Times New Roman" panose="02020603050405020304" charset="0"/>
            </a:endParaRPr>
          </a:p>
          <a:p>
            <a:pPr algn="ctr">
              <a:buFont typeface="Wingdings" panose="05000000000000000000" charset="0"/>
              <a:buChar char="Ø"/>
            </a:pPr>
            <a:r>
              <a:rPr lang="en-US" sz="3200">
                <a:latin typeface="Times New Roman" panose="02020603050405020304" charset="0"/>
                <a:cs typeface="Times New Roman" panose="02020603050405020304" charset="0"/>
              </a:rPr>
              <a:t>SCANNING</a:t>
            </a:r>
            <a:endParaRPr lang="en-US" sz="3200">
              <a:latin typeface="Times New Roman" panose="02020603050405020304" charset="0"/>
              <a:cs typeface="Times New Roman" panose="02020603050405020304" charset="0"/>
            </a:endParaRPr>
          </a:p>
          <a:p>
            <a:pPr marL="0" indent="0" algn="ctr">
              <a:buFont typeface="Wingdings" panose="05000000000000000000" charset="0"/>
              <a:buNone/>
            </a:pPr>
            <a:endParaRPr lang="en-US" sz="3200">
              <a:latin typeface="Times New Roman" panose="02020603050405020304" charset="0"/>
              <a:cs typeface="Times New Roman" panose="02020603050405020304" charset="0"/>
            </a:endParaRPr>
          </a:p>
          <a:p>
            <a:pPr algn="ctr">
              <a:buFont typeface="Wingdings" panose="05000000000000000000" charset="0"/>
              <a:buChar char="Ø"/>
            </a:pPr>
            <a:r>
              <a:rPr lang="en-US" sz="3200">
                <a:latin typeface="Times New Roman" panose="02020603050405020304" charset="0"/>
                <a:cs typeface="Times New Roman" panose="02020603050405020304" charset="0"/>
              </a:rPr>
              <a:t>CLOSE READING</a:t>
            </a:r>
            <a:endParaRPr lang="en-US" sz="3200">
              <a:latin typeface="Times New Roman" panose="02020603050405020304" charset="0"/>
              <a:cs typeface="Times New Roman" panose="02020603050405020304" charset="0"/>
            </a:endParaRPr>
          </a:p>
          <a:p>
            <a:pPr algn="ctr">
              <a:buFont typeface="Wingdings" panose="05000000000000000000" charset="0"/>
              <a:buChar char="Ø"/>
            </a:pPr>
            <a:endParaRPr lang="en-US" sz="3200">
              <a:latin typeface="Times New Roman" panose="02020603050405020304" charset="0"/>
              <a:cs typeface="Times New Roman" panose="02020603050405020304" charset="0"/>
            </a:endParaRPr>
          </a:p>
          <a:p>
            <a:pPr algn="ctr">
              <a:buFont typeface="Wingdings" panose="05000000000000000000" charset="0"/>
              <a:buChar char="Ø"/>
            </a:pPr>
            <a:r>
              <a:rPr lang="en-US" sz="3200">
                <a:latin typeface="Times New Roman" panose="02020603050405020304" charset="0"/>
                <a:cs typeface="Times New Roman" panose="02020603050405020304" charset="0"/>
              </a:rPr>
              <a:t>INTENSIVE READING</a:t>
            </a:r>
            <a:endParaRPr lang="en-US" sz="3200">
              <a:latin typeface="Times New Roman" panose="02020603050405020304" charset="0"/>
              <a:cs typeface="Times New Roman" panose="02020603050405020304" charset="0"/>
            </a:endParaRPr>
          </a:p>
          <a:p>
            <a:pPr algn="ctr">
              <a:buFont typeface="Wingdings" panose="05000000000000000000" charset="0"/>
              <a:buChar char="Ø"/>
            </a:pPr>
            <a:endParaRPr lang="en-US" sz="3200">
              <a:latin typeface="Times New Roman" panose="02020603050405020304" charset="0"/>
              <a:cs typeface="Times New Roman" panose="02020603050405020304" charset="0"/>
            </a:endParaRPr>
          </a:p>
          <a:p>
            <a:pPr algn="ctr">
              <a:buFont typeface="Wingdings" panose="05000000000000000000" charset="0"/>
              <a:buChar char="Ø"/>
            </a:pPr>
            <a:r>
              <a:rPr lang="en-US" sz="3200">
                <a:latin typeface="Times New Roman" panose="02020603050405020304" charset="0"/>
                <a:cs typeface="Times New Roman" panose="02020603050405020304" charset="0"/>
              </a:rPr>
              <a:t>EXTENSIVE READING</a:t>
            </a:r>
            <a:endParaRPr lang="en-US" sz="3200">
              <a:latin typeface="Times New Roman" panose="02020603050405020304" charset="0"/>
              <a:cs typeface="Times New Roman" panose="02020603050405020304" charset="0"/>
            </a:endParaRPr>
          </a:p>
          <a:p>
            <a:pPr algn="ctr">
              <a:buFont typeface="Wingdings" panose="05000000000000000000" charset="0"/>
              <a:buChar char="Ø"/>
            </a:pPr>
            <a:endParaRPr lang="en-US" sz="3200">
              <a:latin typeface="Times New Roman" panose="02020603050405020304" charset="0"/>
              <a:cs typeface="Times New Roman" panose="02020603050405020304" charset="0"/>
            </a:endParaRPr>
          </a:p>
          <a:p>
            <a:pPr algn="ctr">
              <a:buFont typeface="Wingdings" panose="05000000000000000000" charset="0"/>
              <a:buChar char="Ø"/>
            </a:pPr>
            <a:r>
              <a:rPr lang="en-US" sz="3200">
                <a:latin typeface="Times New Roman" panose="02020603050405020304" charset="0"/>
                <a:cs typeface="Times New Roman" panose="02020603050405020304" charset="0"/>
              </a:rPr>
              <a:t>THE SQR3R METHOD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SKIMMING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67665" y="1876425"/>
            <a:ext cx="11456670" cy="4687570"/>
          </a:xfrm>
        </p:spPr>
        <p:txBody>
          <a:bodyPr/>
          <a:p>
            <a:pPr algn="just"/>
            <a:r>
              <a:rPr lang="en-US" sz="3200">
                <a:latin typeface="Times New Roman" panose="02020603050405020304" charset="0"/>
                <a:cs typeface="Times New Roman" panose="02020603050405020304" charset="0"/>
              </a:rPr>
              <a:t>It is a fast reading technique that enables us to get the general content or central idea(s) of a text.</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We use skimming skill when we want to find out if a certain material is relevant to our area of study or research.</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We skim through letters, memoranda, reports, minutes etc to save time.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SCANNING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89890" y="1691005"/>
            <a:ext cx="11411585" cy="4784090"/>
          </a:xfrm>
        </p:spPr>
        <p:txBody>
          <a:bodyPr/>
          <a:p>
            <a:pPr algn="just"/>
            <a:r>
              <a:rPr lang="en-US" sz="3200">
                <a:latin typeface="Times New Roman" panose="02020603050405020304" charset="0"/>
                <a:cs typeface="Times New Roman" panose="02020603050405020304" charset="0"/>
              </a:rPr>
              <a:t>It is also a fast reading technique but for a specific piece of information.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involves searching for a particular item that we are looking for which can take the form of a word, phrase, expression and figures.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has an idea about the items he wishes to discover.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piece of information sought is usually short or brief.</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may not need to read the entire material.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CLOSE READING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97815" y="1825625"/>
            <a:ext cx="11642090" cy="4598670"/>
          </a:xfrm>
        </p:spPr>
        <p:txBody>
          <a:bodyPr>
            <a:normAutofit lnSpcReduction="10000"/>
          </a:bodyPr>
          <a:p>
            <a:pPr algn="just"/>
            <a:r>
              <a:rPr lang="en-US" sz="3200">
                <a:latin typeface="Times New Roman" panose="02020603050405020304" charset="0"/>
                <a:cs typeface="Times New Roman" panose="02020603050405020304" charset="0"/>
              </a:rPr>
              <a:t>It is not a fast-reading method but rather a technique used to enable the reader to examine a text thoroughly.</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slows down in order to get the full meaning of the material.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looks at all various aspects of the text such as spelling, meaning of words, punctuation, sentence structures, grammatical elements, topic sentence, minor and major supporting ideas and so on.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helps reader retain the knowledge he has acquired.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INTENSIVE READING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08610" y="1983740"/>
            <a:ext cx="11574780" cy="4622800"/>
          </a:xfrm>
        </p:spPr>
        <p:txBody>
          <a:bodyPr>
            <a:normAutofit lnSpcReduction="10000"/>
          </a:bodyPr>
          <a:p>
            <a:pPr algn="just"/>
            <a:r>
              <a:rPr lang="en-US" sz="3200">
                <a:latin typeface="Times New Roman" panose="02020603050405020304" charset="0"/>
                <a:cs typeface="Times New Roman" panose="02020603050405020304" charset="0"/>
              </a:rPr>
              <a:t>It enables the reader to acquire complete or deep knowledge of the subject of the reading material.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shares similar features with the close reading, they complement each other.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used to acquire in-depth knowledge of the reading material so that a recall of the information can be done when the need arises.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pays attention to details, organization of the text and the style of writing.</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involves note making in the form of summary or outline.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EXTENSIVE READING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80670" y="1897380"/>
            <a:ext cx="11631295" cy="4523105"/>
          </a:xfrm>
        </p:spPr>
        <p:txBody>
          <a:bodyPr>
            <a:normAutofit lnSpcReduction="10000"/>
          </a:bodyPr>
          <a:p>
            <a:pPr algn="just"/>
            <a:r>
              <a:rPr lang="en-US" sz="3200">
                <a:latin typeface="Times New Roman" panose="02020603050405020304" charset="0"/>
                <a:cs typeface="Times New Roman" panose="02020603050405020304" charset="0"/>
              </a:rPr>
              <a:t>It is a fast reading technique which refers to reading widely to broaden the horizon of one’s knowledge.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does not usually use more effort or take pains to capture the details of facts as it is characteristic of intensive reading.</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does not yield a complete absorption of knowledge.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reader’s concentration depends on the kind of information contained in the text and the reader’s interest level in the information.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THE SQ3R METHOD</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67335" y="1825625"/>
            <a:ext cx="11719560" cy="4907280"/>
          </a:xfrm>
        </p:spPr>
        <p:txBody>
          <a:bodyPr>
            <a:normAutofit lnSpcReduction="10000"/>
          </a:bodyPr>
          <a:p>
            <a:pPr algn="just">
              <a:buFont typeface="Wingdings" panose="05000000000000000000" charset="0"/>
              <a:buChar char="ü"/>
            </a:pPr>
            <a:r>
              <a:rPr lang="en-US" sz="3300">
                <a:latin typeface="Times New Roman" panose="02020603050405020304" charset="0"/>
                <a:cs typeface="Times New Roman" panose="02020603050405020304" charset="0"/>
              </a:rPr>
              <a:t>This is a technique for studying as a whole.</a:t>
            </a:r>
            <a:endParaRPr lang="en-US" sz="3300">
              <a:latin typeface="Times New Roman" panose="02020603050405020304" charset="0"/>
              <a:cs typeface="Times New Roman" panose="02020603050405020304" charset="0"/>
            </a:endParaRPr>
          </a:p>
          <a:p>
            <a:pPr marL="0" indent="0" algn="just">
              <a:buFont typeface="Wingdings" panose="05000000000000000000" charset="0"/>
              <a:buNone/>
            </a:pPr>
            <a:endParaRPr lang="en-US" sz="3300">
              <a:latin typeface="Times New Roman" panose="02020603050405020304" charset="0"/>
              <a:cs typeface="Times New Roman" panose="02020603050405020304" charset="0"/>
            </a:endParaRPr>
          </a:p>
          <a:p>
            <a:pPr algn="just">
              <a:buFont typeface="Wingdings" panose="05000000000000000000" charset="0"/>
              <a:buChar char="ü"/>
            </a:pPr>
            <a:r>
              <a:rPr lang="en-US" sz="3300">
                <a:latin typeface="Times New Roman" panose="02020603050405020304" charset="0"/>
                <a:cs typeface="Times New Roman" panose="02020603050405020304" charset="0"/>
              </a:rPr>
              <a:t>It involves various stages that the reader goes through to acquire information which is reserved for future use.</a:t>
            </a:r>
            <a:endParaRPr lang="en-US" sz="3300">
              <a:latin typeface="Times New Roman" panose="02020603050405020304" charset="0"/>
              <a:cs typeface="Times New Roman" panose="02020603050405020304" charset="0"/>
            </a:endParaRPr>
          </a:p>
          <a:p>
            <a:pPr marL="0" indent="0" algn="just">
              <a:buFont typeface="Wingdings" panose="05000000000000000000" charset="0"/>
              <a:buNone/>
            </a:pPr>
            <a:endParaRPr lang="en-US" sz="3300">
              <a:latin typeface="Times New Roman" panose="02020603050405020304" charset="0"/>
              <a:cs typeface="Times New Roman" panose="02020603050405020304" charset="0"/>
            </a:endParaRPr>
          </a:p>
          <a:p>
            <a:pPr algn="just">
              <a:buFont typeface="Wingdings" panose="05000000000000000000" charset="0"/>
              <a:buChar char="ü"/>
            </a:pPr>
            <a:r>
              <a:rPr lang="en-US" sz="3300">
                <a:latin typeface="Times New Roman" panose="02020603050405020304" charset="0"/>
                <a:cs typeface="Times New Roman" panose="02020603050405020304" charset="0"/>
              </a:rPr>
              <a:t>These elements are: Survey (S), Question (Q), Read (R1), Recall (R2), Review (R3).</a:t>
            </a:r>
            <a:endParaRPr lang="en-US" sz="3300">
              <a:latin typeface="Times New Roman" panose="02020603050405020304" charset="0"/>
              <a:cs typeface="Times New Roman" panose="02020603050405020304" charset="0"/>
            </a:endParaRPr>
          </a:p>
          <a:p>
            <a:pPr marL="0" indent="0" algn="just">
              <a:buFont typeface="Wingdings" panose="05000000000000000000" charset="0"/>
              <a:buNone/>
            </a:pPr>
            <a:endParaRPr lang="en-US" sz="3300">
              <a:latin typeface="Times New Roman" panose="02020603050405020304" charset="0"/>
              <a:cs typeface="Times New Roman" panose="0202060305040502030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atin typeface="Times New Roman" panose="02020603050405020304" charset="0"/>
                <a:cs typeface="Times New Roman" panose="02020603050405020304" charset="0"/>
              </a:rPr>
              <a:t> </a:t>
            </a:r>
            <a:r>
              <a:rPr lang="en-US" b="1">
                <a:latin typeface="Times New Roman" panose="02020603050405020304" charset="0"/>
                <a:cs typeface="Times New Roman" panose="02020603050405020304" charset="0"/>
              </a:rPr>
              <a:t>SURVEY (S)</a:t>
            </a:r>
            <a:r>
              <a:rPr lang="en-US">
                <a:latin typeface="Times New Roman" panose="02020603050405020304" charset="0"/>
                <a:cs typeface="Times New Roman" panose="02020603050405020304" charset="0"/>
              </a:rPr>
              <a:t> </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10515600" cy="4644390"/>
          </a:xfrm>
        </p:spPr>
        <p:txBody>
          <a:bodyPr/>
          <a:p>
            <a:pPr algn="just"/>
            <a:r>
              <a:rPr lang="en-US" sz="3200">
                <a:latin typeface="Times New Roman" panose="02020603050405020304" charset="0"/>
                <a:cs typeface="Times New Roman" panose="02020603050405020304" charset="0"/>
              </a:rPr>
              <a:t>The technique helps the reader to determine the usefulness of the material for study.</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To survey a book:</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1. First of all look at the title.</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2. Take a look at the date of the first publication.</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3. It is important to skim the introduction of the book.</a:t>
            </a:r>
            <a:endParaRPr lang="en-US" sz="3200">
              <a:latin typeface="Times New Roman" panose="02020603050405020304" charset="0"/>
              <a:cs typeface="Times New Roman" panose="02020603050405020304" charset="0"/>
            </a:endParaRPr>
          </a:p>
          <a:p>
            <a:pPr marL="0" indent="0" algn="just">
              <a:buFont typeface="+mj-lt"/>
              <a:buNone/>
            </a:pPr>
            <a:r>
              <a:rPr lang="en-US" sz="3200">
                <a:latin typeface="Times New Roman" panose="02020603050405020304" charset="0"/>
                <a:cs typeface="Times New Roman" panose="02020603050405020304" charset="0"/>
              </a:rPr>
              <a:t>         4. It is important to survey the content page of the book.</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QUESTION (Q)</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This is where the reader generates questions that will guide him or her  in his or her reading.</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could be taken from the survey activity.</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Some questions might be general or broad while others might be specific.</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Questions formulated should be related to the text and elicit the apropriate information.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READ (R1)</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29895" y="1825625"/>
            <a:ext cx="11359515" cy="4351655"/>
          </a:xfrm>
        </p:spPr>
        <p:txBody>
          <a:bodyPr/>
          <a:p>
            <a:pPr algn="just"/>
            <a:r>
              <a:rPr lang="en-US" sz="3200">
                <a:latin typeface="Times New Roman" panose="02020603050405020304" charset="0"/>
                <a:cs typeface="Times New Roman" panose="02020603050405020304" charset="0"/>
              </a:rPr>
              <a:t>Reading is the central activity in the SQ3R study process.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ultimate  aim of reading is the acquisition of information and knowledge.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follows the pre-reading activities of surveying and questioning.</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entails concentration, speed and effective eye movement.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involves recall which measures its effectivness.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RECALL (R2)</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Recall follows the reading stage, you recollect what you have read.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can be done at regular intervals during the reading process.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In doing recall, you write the information down or vocalize it.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done to ascertain whether the information has really been absorbed.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an encouragement to a more effective and intensive reading. </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REVIEW (R3)</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The review follows the recall activity.</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information produced during the recall is examined to find out whether changes are needed.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reader has the opportunity to pay special atention to important items he could not recall.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Reviewing information constantly makes recall become much easier.</a:t>
            </a:r>
            <a:endParaRPr lang="en-US" sz="3200">
              <a:latin typeface="Times New Roman" panose="02020603050405020304" charset="0"/>
              <a:cs typeface="Times New Roman" panose="0202060305040502030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ANSWERS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28930" y="1691640"/>
            <a:ext cx="11612245" cy="4902200"/>
          </a:xfrm>
        </p:spPr>
        <p:txBody>
          <a:bodyPr>
            <a:normAutofit lnSpcReduction="10000"/>
          </a:bodyPr>
          <a:p>
            <a:pPr marL="514350" indent="-514350" algn="just">
              <a:buAutoNum type="arabicPeriod"/>
            </a:pPr>
            <a:r>
              <a:rPr lang="en-US" sz="3200">
                <a:latin typeface="Times New Roman" panose="02020603050405020304" charset="0"/>
                <a:cs typeface="Times New Roman" panose="02020603050405020304" charset="0"/>
              </a:rPr>
              <a:t>In general the text is talking about the state funding political parties.</a:t>
            </a:r>
            <a:endParaRPr lang="en-US" sz="3200">
              <a:latin typeface="Times New Roman" panose="02020603050405020304" charset="0"/>
              <a:cs typeface="Times New Roman" panose="02020603050405020304" charset="0"/>
            </a:endParaRPr>
          </a:p>
          <a:p>
            <a:pPr marL="514350" indent="-514350" algn="just">
              <a:buAutoNum type="arabicPeriod"/>
            </a:pPr>
            <a:r>
              <a:rPr lang="en-US" sz="3200">
                <a:latin typeface="Times New Roman" panose="02020603050405020304" charset="0"/>
                <a:cs typeface="Times New Roman" panose="02020603050405020304" charset="0"/>
              </a:rPr>
              <a:t>a) Government should fund political parties.</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b) How the money will be disbursed/how would the funding be 	 	done .</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3. a) No</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b) Any reasons relating to the text.</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    c) Form one group or generate funds to support themselves.</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4 &amp;5. After reviewing, only the salient points or key factors are taking from the original text to be summarised.</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b="1">
                <a:latin typeface="Times New Roman" panose="02020603050405020304" charset="0"/>
                <a:cs typeface="Times New Roman" panose="02020603050405020304" charset="0"/>
              </a:rPr>
              <a:t>EFFECTIVE LISTENING  AS A COMMUNICATIVE SKILL</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44170" y="2054860"/>
            <a:ext cx="11503660" cy="4351655"/>
          </a:xfrm>
        </p:spPr>
        <p:txBody>
          <a:bodyPr/>
          <a:p>
            <a:pPr algn="just"/>
            <a:r>
              <a:rPr lang="en-US" sz="3200">
                <a:latin typeface="Times New Roman" panose="02020603050405020304" charset="0"/>
                <a:cs typeface="Times New Roman" panose="02020603050405020304" charset="0"/>
              </a:rPr>
              <a:t>Listening is a process and the core element of the communication process.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is termed as an active and complex process that can be seen as both a physiological and a cognitive activity.</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consist of being mindful, hearing, selecting and organizing information, interpreting, ressponding and remembering.</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sz="4890" b="1">
                <a:latin typeface="Times New Roman" panose="02020603050405020304" charset="0"/>
                <a:cs typeface="Times New Roman" panose="02020603050405020304" charset="0"/>
              </a:rPr>
              <a:t>OBSTACLES TO EFFECTIVE LISTENING</a:t>
            </a:r>
            <a:endParaRPr lang="en-US" sz="489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72085" y="1868805"/>
            <a:ext cx="11847195" cy="4351655"/>
          </a:xfrm>
        </p:spPr>
        <p:txBody>
          <a:bodyPr/>
          <a:p>
            <a:pPr algn="just"/>
            <a:r>
              <a:rPr lang="en-US" sz="3200">
                <a:latin typeface="Times New Roman" panose="02020603050405020304" charset="0"/>
                <a:cs typeface="Times New Roman" panose="02020603050405020304" charset="0"/>
              </a:rPr>
              <a:t>External obstacles are elements that happen outside the communication context which hinders effective listening.</a:t>
            </a: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 External obstacles: message overload, message complexity, noise.</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Internal obstacles tend to revolve around the individuals</a:t>
            </a: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Internal obstacles: preoccupation, prejudgement, reacting to emotionally loaded language, lack of effort and not adapting to listening styles.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FORMS OF NON-LISTENING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5730" y="1825625"/>
            <a:ext cx="11953240" cy="4694555"/>
          </a:xfrm>
        </p:spPr>
        <p:txBody>
          <a:bodyPr/>
          <a:p>
            <a:pPr algn="just">
              <a:buFont typeface="Wingdings" panose="05000000000000000000" charset="0"/>
              <a:buChar char="Ø"/>
            </a:pPr>
            <a:r>
              <a:rPr lang="en-US" sz="3200">
                <a:latin typeface="Times New Roman" panose="02020603050405020304" charset="0"/>
                <a:cs typeface="Times New Roman" panose="02020603050405020304" charset="0"/>
              </a:rPr>
              <a:t>Pseudo listening. (Prentending to listen).</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 Monopolizing. (Doubt and challenge the details provided by the speaker)</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 Selective listening. (Focusing on only some parts of communication).</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 Defensive listening. (Discourging others from giving feedback).</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 Ambushing. ( Carefully listening but not with full interest).</a:t>
            </a:r>
            <a:endParaRPr lang="en-US" sz="3200">
              <a:latin typeface="Times New Roman" panose="02020603050405020304" charset="0"/>
              <a:cs typeface="Times New Roman" panose="02020603050405020304" charset="0"/>
            </a:endParaRPr>
          </a:p>
          <a:p>
            <a:pPr algn="just">
              <a:buFont typeface="Wingdings" panose="05000000000000000000" charset="0"/>
              <a:buChar char="Ø"/>
            </a:pPr>
            <a:r>
              <a:rPr lang="en-US" sz="3200">
                <a:latin typeface="Times New Roman" panose="02020603050405020304" charset="0"/>
                <a:cs typeface="Times New Roman" panose="02020603050405020304" charset="0"/>
              </a:rPr>
              <a:t> Literal listening. (Focused on the meaning of the content rather than the whole communication context).</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57810"/>
            <a:ext cx="10515600" cy="1325563"/>
          </a:xfrm>
        </p:spPr>
        <p:txBody>
          <a:bodyPr>
            <a:normAutofit fontScale="90000"/>
          </a:bodyPr>
          <a:p>
            <a:pPr algn="ctr"/>
            <a:r>
              <a:rPr lang="en-US" b="1">
                <a:latin typeface="Times New Roman" panose="02020603050405020304" charset="0"/>
                <a:cs typeface="Times New Roman" panose="02020603050405020304" charset="0"/>
              </a:rPr>
              <a:t>SPECIFIC ATTITUDES AND SKILLS THAT CONTRIBUTE TO EFFECTIVE LISTENING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31140" y="2070100"/>
            <a:ext cx="11729720" cy="4066540"/>
          </a:xfrm>
        </p:spPr>
        <p:txBody>
          <a:bodyPr/>
          <a:p>
            <a:pPr>
              <a:buFont typeface="Wingdings" panose="05000000000000000000" charset="0"/>
              <a:buChar char="v"/>
            </a:pPr>
            <a:r>
              <a:rPr lang="en-US" sz="3200">
                <a:latin typeface="Times New Roman" panose="02020603050405020304" charset="0"/>
                <a:cs typeface="Times New Roman" panose="02020603050405020304" charset="0"/>
              </a:rPr>
              <a:t>Listening for pleasure.</a:t>
            </a:r>
            <a:endParaRPr lang="en-US" sz="3200">
              <a:latin typeface="Times New Roman" panose="02020603050405020304" charset="0"/>
              <a:cs typeface="Times New Roman" panose="02020603050405020304" charset="0"/>
            </a:endParaRPr>
          </a:p>
          <a:p>
            <a:pPr marL="0" indent="0">
              <a:buFont typeface="Wingdings" panose="05000000000000000000" charset="0"/>
              <a:buNone/>
            </a:pPr>
            <a:endParaRPr lang="en-US" sz="3200">
              <a:latin typeface="Times New Roman" panose="02020603050405020304" charset="0"/>
              <a:cs typeface="Times New Roman" panose="02020603050405020304" charset="0"/>
            </a:endParaRPr>
          </a:p>
          <a:p>
            <a:pPr>
              <a:buFont typeface="Wingdings" panose="05000000000000000000" charset="0"/>
              <a:buChar char="v"/>
            </a:pPr>
            <a:r>
              <a:rPr lang="en-US" sz="3200">
                <a:latin typeface="Times New Roman" panose="02020603050405020304" charset="0"/>
                <a:cs typeface="Times New Roman" panose="02020603050405020304" charset="0"/>
              </a:rPr>
              <a:t>Listening for information.</a:t>
            </a:r>
            <a:endParaRPr lang="en-US" sz="3200">
              <a:latin typeface="Times New Roman" panose="02020603050405020304" charset="0"/>
              <a:cs typeface="Times New Roman" panose="02020603050405020304" charset="0"/>
            </a:endParaRPr>
          </a:p>
          <a:p>
            <a:pPr marL="0" indent="0">
              <a:buFont typeface="Wingdings" panose="05000000000000000000" charset="0"/>
              <a:buNone/>
            </a:pPr>
            <a:endParaRPr lang="en-US" sz="3200">
              <a:latin typeface="Times New Roman" panose="02020603050405020304" charset="0"/>
              <a:cs typeface="Times New Roman" panose="02020603050405020304" charset="0"/>
            </a:endParaRPr>
          </a:p>
          <a:p>
            <a:pPr>
              <a:buFont typeface="Wingdings" panose="05000000000000000000" charset="0"/>
              <a:buChar char="v"/>
            </a:pPr>
            <a:r>
              <a:rPr lang="en-US" sz="3200">
                <a:latin typeface="Times New Roman" panose="02020603050405020304" charset="0"/>
                <a:cs typeface="Times New Roman" panose="02020603050405020304" charset="0"/>
              </a:rPr>
              <a:t>Listening to support others.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0580" y="187960"/>
            <a:ext cx="10515600" cy="1325563"/>
          </a:xfrm>
        </p:spPr>
        <p:txBody>
          <a:bodyPr/>
          <a:p>
            <a:pPr algn="ctr"/>
            <a:r>
              <a:rPr lang="en-US" b="1">
                <a:latin typeface="Times New Roman" panose="02020603050405020304" charset="0"/>
                <a:cs typeface="Times New Roman" panose="02020603050405020304" charset="0"/>
              </a:rPr>
              <a:t>EXERCISES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52730" y="1988820"/>
            <a:ext cx="11671935" cy="3576320"/>
          </a:xfrm>
        </p:spPr>
        <p:txBody>
          <a:bodyPr/>
          <a:p>
            <a:pPr marL="0" indent="0">
              <a:buNone/>
            </a:pPr>
            <a:r>
              <a:rPr lang="en-US" sz="3200">
                <a:latin typeface="Times New Roman" panose="02020603050405020304" charset="0"/>
                <a:cs typeface="Times New Roman" panose="02020603050405020304" charset="0"/>
              </a:rPr>
              <a:t>1. Discuss with your study mates the types of listening skills you employ during lectures.</a:t>
            </a:r>
            <a:endParaRPr lang="en-US" sz="3200">
              <a:latin typeface="Times New Roman" panose="02020603050405020304" charset="0"/>
              <a:cs typeface="Times New Roman" panose="02020603050405020304" charset="0"/>
            </a:endParaRPr>
          </a:p>
          <a:p>
            <a:pPr marL="0" indent="0">
              <a:buNone/>
            </a:pP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2. Explain how you practise defensive and ambush listening.</a:t>
            </a:r>
            <a:endParaRPr lang="en-US" sz="3200">
              <a:latin typeface="Times New Roman" panose="02020603050405020304" charset="0"/>
              <a:cs typeface="Times New Roman" panose="02020603050405020304" charset="0"/>
            </a:endParaRPr>
          </a:p>
          <a:p>
            <a:pPr marL="0" indent="0">
              <a:buNone/>
            </a:pP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3. Examine you own weaknesses in the listening process.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b="1">
                <a:latin typeface="Times New Roman" panose="02020603050405020304" charset="0"/>
                <a:cs typeface="Times New Roman" panose="02020603050405020304" charset="0"/>
              </a:rPr>
              <a:t>ELEMENTS TO CONSIDER WHEN MAKING AN ORAL PRESENTATION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buFont typeface="Wingdings" panose="05000000000000000000" charset="0"/>
              <a:buChar char="q"/>
            </a:pPr>
            <a:r>
              <a:rPr lang="en-US" sz="3200">
                <a:latin typeface="Times New Roman" panose="02020603050405020304" charset="0"/>
                <a:cs typeface="Times New Roman" panose="02020603050405020304" charset="0"/>
              </a:rPr>
              <a:t> Know your audience.</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q"/>
            </a:pPr>
            <a:r>
              <a:rPr lang="en-US" sz="3200">
                <a:latin typeface="Times New Roman" panose="02020603050405020304" charset="0"/>
                <a:cs typeface="Times New Roman" panose="02020603050405020304" charset="0"/>
              </a:rPr>
              <a:t> Know your purpose.</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q"/>
            </a:pPr>
            <a:r>
              <a:rPr lang="en-US" sz="3200">
                <a:latin typeface="Times New Roman" panose="02020603050405020304" charset="0"/>
                <a:cs typeface="Times New Roman" panose="02020603050405020304" charset="0"/>
              </a:rPr>
              <a:t> Create a persona.</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9235"/>
            <a:ext cx="10515600" cy="1068070"/>
          </a:xfrm>
        </p:spPr>
        <p:txBody>
          <a:bodyPr/>
          <a:p>
            <a:pPr algn="ctr"/>
            <a:r>
              <a:rPr lang="en-US" b="1">
                <a:latin typeface="Times New Roman" panose="02020603050405020304" charset="0"/>
                <a:cs typeface="Times New Roman" panose="02020603050405020304" charset="0"/>
              </a:rPr>
              <a:t>ORGANIZING A PRESENTATION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569720"/>
            <a:ext cx="10514965" cy="5057775"/>
          </a:xfrm>
        </p:spPr>
        <p:txBody>
          <a:bodyPr>
            <a:normAutofit lnSpcReduction="20000"/>
          </a:bodyPr>
          <a:p>
            <a:pPr algn="just">
              <a:buFont typeface="Wingdings" panose="05000000000000000000" charset="0"/>
              <a:buChar char="ü"/>
            </a:pPr>
            <a:r>
              <a:rPr lang="en-US" sz="3200">
                <a:latin typeface="Times New Roman" panose="02020603050405020304" charset="0"/>
                <a:cs typeface="Times New Roman" panose="02020603050405020304" charset="0"/>
              </a:rPr>
              <a:t> Invention (ability to create and construct ideas).</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 Arrangement (the idea being carefully ordered).</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 Style (ability to choose appropriate communication).</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Memory (ability to remember your presentation).</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ü"/>
            </a:pPr>
            <a:r>
              <a:rPr lang="en-US" sz="3200">
                <a:latin typeface="Times New Roman" panose="02020603050405020304" charset="0"/>
                <a:cs typeface="Times New Roman" panose="02020603050405020304" charset="0"/>
              </a:rPr>
              <a:t>Delivery (verbal and nonverbal components of speech making)</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b="1">
                <a:latin typeface="Times New Roman" panose="02020603050405020304" charset="0"/>
                <a:cs typeface="Times New Roman" panose="02020603050405020304" charset="0"/>
              </a:rPr>
              <a:t>TECHNIQUES FOR PUBLIC SPEAKING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buFont typeface="Wingdings" panose="05000000000000000000" charset="0"/>
              <a:buChar char="§"/>
            </a:pPr>
            <a:r>
              <a:rPr lang="en-US" sz="3200">
                <a:latin typeface="Times New Roman" panose="02020603050405020304" charset="0"/>
                <a:cs typeface="Times New Roman" panose="02020603050405020304" charset="0"/>
              </a:rPr>
              <a:t>Speak clearly.</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
            </a:pPr>
            <a:r>
              <a:rPr lang="en-US" sz="3200">
                <a:latin typeface="Times New Roman" panose="02020603050405020304" charset="0"/>
                <a:cs typeface="Times New Roman" panose="02020603050405020304" charset="0"/>
              </a:rPr>
              <a:t> Use language effectively.</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
            </a:pPr>
            <a:r>
              <a:rPr lang="en-US" sz="3200">
                <a:latin typeface="Times New Roman" panose="02020603050405020304" charset="0"/>
                <a:cs typeface="Times New Roman" panose="02020603050405020304" charset="0"/>
              </a:rPr>
              <a:t>Handle visuals effectively.</a:t>
            </a:r>
            <a:endParaRPr lang="en-US" sz="3200">
              <a:latin typeface="Times New Roman" panose="02020603050405020304" charset="0"/>
              <a:cs typeface="Times New Roman" panose="02020603050405020304" charset="0"/>
            </a:endParaRPr>
          </a:p>
          <a:p>
            <a:pPr marL="0" indent="0" algn="just">
              <a:buFont typeface="Wingdings" panose="05000000000000000000" charset="0"/>
              <a:buNone/>
            </a:pPr>
            <a:endParaRPr lang="en-US" sz="3200">
              <a:latin typeface="Times New Roman" panose="02020603050405020304" charset="0"/>
              <a:cs typeface="Times New Roman" panose="02020603050405020304" charset="0"/>
            </a:endParaRPr>
          </a:p>
          <a:p>
            <a:pPr algn="just">
              <a:buFont typeface="Wingdings" panose="05000000000000000000" charset="0"/>
              <a:buChar char="§"/>
            </a:pPr>
            <a:r>
              <a:rPr lang="en-US" sz="3200">
                <a:latin typeface="Times New Roman" panose="02020603050405020304" charset="0"/>
                <a:cs typeface="Times New Roman" panose="02020603050405020304" charset="0"/>
              </a:rPr>
              <a:t>Handle questions strategically.</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EXERCISES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511810" y="2138680"/>
            <a:ext cx="10991215" cy="3970655"/>
          </a:xfrm>
        </p:spPr>
        <p:txBody>
          <a:bodyPr/>
          <a:p>
            <a:pPr marL="0" indent="0" algn="just">
              <a:buNone/>
            </a:pPr>
            <a:r>
              <a:rPr lang="en-US" sz="3200">
                <a:latin typeface="Times New Roman" panose="02020603050405020304" charset="0"/>
                <a:cs typeface="Times New Roman" panose="02020603050405020304" charset="0"/>
              </a:rPr>
              <a:t>1. Write a brief speech on the relevance of university education in the 21st century for oral presentation in class.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2. Discuss three important elements to consider when preparing to deliver a speech.</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3. Examine three basic barriers to effective public speaking.</a:t>
            </a:r>
            <a:endParaRPr lang="en-US" sz="3200">
              <a:latin typeface="Times New Roman" panose="02020603050405020304" charset="0"/>
              <a:cs typeface="Times New Roman" panose="0202060305040502030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NOTE TAKING AND NOTE MAKING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5095" y="1825625"/>
            <a:ext cx="11928475" cy="5031740"/>
          </a:xfrm>
        </p:spPr>
        <p:txBody>
          <a:bodyPr>
            <a:normAutofit lnSpcReduction="10000"/>
          </a:bodyPr>
          <a:p>
            <a:pPr algn="just"/>
            <a:r>
              <a:rPr lang="en-US" sz="3200">
                <a:latin typeface="Times New Roman" panose="02020603050405020304" charset="0"/>
                <a:cs typeface="Times New Roman" panose="02020603050405020304" charset="0"/>
              </a:rPr>
              <a:t>They are both ways to record relevant information for present or future use.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A note is any record of knowledge or infomation acquired which helps us to access that information whenever we need it.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taking serves as a reference for student to do a recall.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taking  is a vital source of information to quickly recap main issues.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making helps us identify the relationship that exists among pieces of information gathered.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making serves as a proof understanding of a piece of information. </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THE FEATURES OF GOOD NOTES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43840" y="1964690"/>
            <a:ext cx="11704955" cy="4351655"/>
          </a:xfrm>
        </p:spPr>
        <p:txBody>
          <a:bodyPr/>
          <a:p>
            <a:pPr algn="just"/>
            <a:r>
              <a:rPr lang="en-US" sz="3200">
                <a:latin typeface="Times New Roman" panose="02020603050405020304" charset="0"/>
                <a:cs typeface="Times New Roman" panose="02020603050405020304" charset="0"/>
              </a:rPr>
              <a:t>It should reflect the ideas of the main source, this makes it reliable.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should be readable and understandable.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It should capture the main points and relevant contributions.</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6700" y="210820"/>
            <a:ext cx="11596370" cy="1325880"/>
          </a:xfrm>
        </p:spPr>
        <p:txBody>
          <a:bodyPr>
            <a:normAutofit fontScale="90000"/>
          </a:bodyPr>
          <a:p>
            <a:pPr algn="ctr"/>
            <a:r>
              <a:rPr lang="en-US" b="1">
                <a:latin typeface="Times New Roman" panose="02020603050405020304" charset="0"/>
                <a:cs typeface="Times New Roman" panose="02020603050405020304" charset="0"/>
              </a:rPr>
              <a:t>DIFFERENCES BETWEEN NOTE TAKING &amp; NOTE MAKING</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8270" y="1980565"/>
            <a:ext cx="11920220" cy="4675505"/>
          </a:xfrm>
        </p:spPr>
        <p:txBody>
          <a:bodyPr>
            <a:normAutofit lnSpcReduction="10000"/>
          </a:bodyPr>
          <a:p>
            <a:pPr algn="just"/>
            <a:r>
              <a:rPr lang="en-US" sz="3200">
                <a:latin typeface="Times New Roman" panose="02020603050405020304" charset="0"/>
                <a:cs typeface="Times New Roman" panose="02020603050405020304" charset="0"/>
              </a:rPr>
              <a:t>Note taking could be an interview or any live event or lecture but note making is a record of relevant information gathered.</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taking is not dependent on speaker’s pace but note making is dependent on the student’s determined pace.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Note taking includes shorthand and abbreviation for constraints reasons but note making mostly does not include shorthand and abbreviations.</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835" y="102870"/>
            <a:ext cx="10515600" cy="955675"/>
          </a:xfrm>
        </p:spPr>
        <p:txBody>
          <a:bodyPr/>
          <a:p>
            <a:pPr algn="ctr"/>
            <a:r>
              <a:rPr lang="en-US" b="1">
                <a:latin typeface="Times New Roman" panose="02020603050405020304" charset="0"/>
                <a:cs typeface="Times New Roman" panose="02020603050405020304" charset="0"/>
              </a:rPr>
              <a:t>ORGANIZING NOTES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58115" y="671830"/>
            <a:ext cx="11875135" cy="5166360"/>
          </a:xfrm>
        </p:spPr>
        <p:txBody>
          <a:bodyPr>
            <a:noAutofit/>
          </a:bodyPr>
          <a:p>
            <a:pPr algn="just">
              <a:buFont typeface="Wingdings" panose="05000000000000000000" charset="0"/>
              <a:buChar char="v"/>
            </a:pPr>
            <a:r>
              <a:rPr lang="en-US">
                <a:latin typeface="Times New Roman" panose="02020603050405020304" charset="0"/>
                <a:cs typeface="Times New Roman" panose="02020603050405020304" charset="0"/>
              </a:rPr>
              <a:t> </a:t>
            </a:r>
            <a:r>
              <a:rPr lang="en-US" sz="3100">
                <a:latin typeface="Times New Roman" panose="02020603050405020304" charset="0"/>
                <a:cs typeface="Times New Roman" panose="02020603050405020304" charset="0"/>
              </a:rPr>
              <a:t>Spidegram</a:t>
            </a:r>
            <a:endParaRPr lang="en-US" sz="3100">
              <a:latin typeface="Times New Roman" panose="02020603050405020304" charset="0"/>
              <a:cs typeface="Times New Roman" panose="02020603050405020304" charset="0"/>
            </a:endParaRPr>
          </a:p>
          <a:p>
            <a:pPr marL="0" indent="0" algn="just">
              <a:buFont typeface="Wingdings" panose="05000000000000000000" charset="0"/>
              <a:buNone/>
            </a:pPr>
            <a:endParaRPr lang="en-US" sz="3100">
              <a:latin typeface="Times New Roman" panose="02020603050405020304" charset="0"/>
              <a:cs typeface="Times New Roman" panose="02020603050405020304" charset="0"/>
            </a:endParaRPr>
          </a:p>
          <a:p>
            <a:pPr algn="just">
              <a:buFont typeface="Wingdings" panose="05000000000000000000" charset="0"/>
              <a:buChar char="v"/>
            </a:pPr>
            <a:r>
              <a:rPr lang="en-US" sz="3100">
                <a:latin typeface="Times New Roman" panose="02020603050405020304" charset="0"/>
                <a:cs typeface="Times New Roman" panose="02020603050405020304" charset="0"/>
              </a:rPr>
              <a:t> Table</a:t>
            </a:r>
            <a:endParaRPr lang="en-US" sz="3100">
              <a:latin typeface="Times New Roman" panose="02020603050405020304" charset="0"/>
              <a:cs typeface="Times New Roman" panose="02020603050405020304" charset="0"/>
            </a:endParaRPr>
          </a:p>
          <a:p>
            <a:pPr marL="0" indent="0" algn="just">
              <a:buFont typeface="Wingdings" panose="05000000000000000000" charset="0"/>
              <a:buNone/>
            </a:pPr>
            <a:endParaRPr lang="en-US" sz="3100">
              <a:latin typeface="Times New Roman" panose="02020603050405020304" charset="0"/>
              <a:cs typeface="Times New Roman" panose="02020603050405020304" charset="0"/>
            </a:endParaRPr>
          </a:p>
          <a:p>
            <a:pPr algn="just">
              <a:buFont typeface="Wingdings" panose="05000000000000000000" charset="0"/>
              <a:buChar char="v"/>
            </a:pPr>
            <a:r>
              <a:rPr lang="en-US" sz="3100">
                <a:latin typeface="Times New Roman" panose="02020603050405020304" charset="0"/>
                <a:cs typeface="Times New Roman" panose="02020603050405020304" charset="0"/>
              </a:rPr>
              <a:t> Outline</a:t>
            </a:r>
            <a:endParaRPr lang="en-US" sz="3100">
              <a:latin typeface="Times New Roman" panose="02020603050405020304" charset="0"/>
              <a:cs typeface="Times New Roman" panose="02020603050405020304" charset="0"/>
            </a:endParaRPr>
          </a:p>
          <a:p>
            <a:pPr marL="0" indent="0" algn="just">
              <a:buFont typeface="Wingdings" panose="05000000000000000000" charset="0"/>
              <a:buNone/>
            </a:pPr>
            <a:endParaRPr lang="en-US" sz="3100">
              <a:latin typeface="Times New Roman" panose="02020603050405020304" charset="0"/>
              <a:cs typeface="Times New Roman" panose="02020603050405020304" charset="0"/>
            </a:endParaRPr>
          </a:p>
          <a:p>
            <a:pPr algn="just">
              <a:buFont typeface="Wingdings" panose="05000000000000000000" charset="0"/>
              <a:buChar char="v"/>
            </a:pPr>
            <a:r>
              <a:rPr lang="en-US" sz="3100">
                <a:latin typeface="Times New Roman" panose="02020603050405020304" charset="0"/>
                <a:cs typeface="Times New Roman" panose="02020603050405020304" charset="0"/>
              </a:rPr>
              <a:t> Summary</a:t>
            </a:r>
            <a:endParaRPr lang="en-US" sz="3100">
              <a:latin typeface="Times New Roman" panose="02020603050405020304" charset="0"/>
              <a:cs typeface="Times New Roman" panose="02020603050405020304" charset="0"/>
            </a:endParaRPr>
          </a:p>
          <a:p>
            <a:pPr marL="0" indent="0" algn="just">
              <a:buFont typeface="Wingdings" panose="05000000000000000000" charset="0"/>
              <a:buNone/>
            </a:pPr>
            <a:endParaRPr lang="en-US" sz="3100">
              <a:latin typeface="Times New Roman" panose="02020603050405020304" charset="0"/>
              <a:cs typeface="Times New Roman" panose="02020603050405020304" charset="0"/>
            </a:endParaRPr>
          </a:p>
          <a:p>
            <a:pPr algn="just">
              <a:buFont typeface="Wingdings" panose="05000000000000000000" charset="0"/>
              <a:buChar char="v"/>
            </a:pPr>
            <a:r>
              <a:rPr lang="en-US" sz="3100">
                <a:latin typeface="Times New Roman" panose="02020603050405020304" charset="0"/>
                <a:cs typeface="Times New Roman" panose="02020603050405020304" charset="0"/>
              </a:rPr>
              <a:t> Paraphrasing</a:t>
            </a:r>
            <a:endParaRPr lang="en-US" sz="3100">
              <a:latin typeface="Times New Roman" panose="02020603050405020304" charset="0"/>
              <a:cs typeface="Times New Roman" panose="02020603050405020304" charset="0"/>
            </a:endParaRPr>
          </a:p>
          <a:p>
            <a:pPr marL="0" indent="0" algn="just">
              <a:buFont typeface="Wingdings" panose="05000000000000000000" charset="0"/>
              <a:buNone/>
            </a:pPr>
            <a:endParaRPr lang="en-US" sz="3100">
              <a:latin typeface="Times New Roman" panose="02020603050405020304" charset="0"/>
              <a:cs typeface="Times New Roman" panose="02020603050405020304" charset="0"/>
            </a:endParaRPr>
          </a:p>
          <a:p>
            <a:pPr algn="just">
              <a:buFont typeface="Wingdings" panose="05000000000000000000" charset="0"/>
              <a:buChar char="v"/>
            </a:pPr>
            <a:r>
              <a:rPr lang="en-US" sz="3100">
                <a:latin typeface="Times New Roman" panose="02020603050405020304" charset="0"/>
                <a:cs typeface="Times New Roman" panose="02020603050405020304" charset="0"/>
              </a:rPr>
              <a:t> The Cornell method (both diagrammatic &amp; non-diagrammatic)</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UNDERSTANDING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422400"/>
            <a:ext cx="12191365" cy="4848225"/>
          </a:xfrm>
        </p:spPr>
        <p:txBody>
          <a:bodyPr>
            <a:normAutofit/>
          </a:bodyPr>
          <a:p>
            <a:pPr marL="0" indent="0" algn="just">
              <a:buNone/>
            </a:pPr>
            <a:r>
              <a:rPr lang="en-US" sz="3200">
                <a:latin typeface="Times New Roman" panose="02020603050405020304" charset="0"/>
                <a:cs typeface="Times New Roman" panose="02020603050405020304" charset="0"/>
              </a:rPr>
              <a:t>A preposition is a word or a group of words that show a relationship between a noun, pronoun, phrase and another word or words in the sentence. </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They are words that connect nouns, pronouns and phrases to other words in a sentence.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Examples: about, above, beside, like, of, on, out, under, over, until, unto, to, toward, near, off, outside, by, in, below, through, within, upon, with, along, after, during, past, since, up, without, across, against, among, behind, beyond, except, from, besides, at, throughout, around, amid, underneath, for.</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UNDERSTANDING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549400"/>
            <a:ext cx="12191365" cy="5221605"/>
          </a:xfrm>
        </p:spPr>
        <p:txBody>
          <a:bodyPr>
            <a:normAutofit lnSpcReduction="20000"/>
          </a:bodyPr>
          <a:p>
            <a:pPr algn="just"/>
            <a:r>
              <a:rPr lang="en-US" sz="3200">
                <a:latin typeface="Times New Roman" panose="02020603050405020304" charset="0"/>
                <a:cs typeface="Times New Roman" panose="02020603050405020304" charset="0"/>
              </a:rPr>
              <a:t>The dove flew </a:t>
            </a:r>
            <a:r>
              <a:rPr lang="en-US" sz="3200" u="sng">
                <a:latin typeface="Times New Roman" panose="02020603050405020304" charset="0"/>
                <a:cs typeface="Times New Roman" panose="02020603050405020304" charset="0"/>
              </a:rPr>
              <a:t>over</a:t>
            </a:r>
            <a:r>
              <a:rPr lang="en-US" sz="3200">
                <a:latin typeface="Times New Roman" panose="02020603050405020304" charset="0"/>
                <a:cs typeface="Times New Roman" panose="02020603050405020304" charset="0"/>
              </a:rPr>
              <a:t> the mango tree.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dove flew </a:t>
            </a:r>
            <a:r>
              <a:rPr lang="en-US" sz="3200" u="sng">
                <a:latin typeface="Times New Roman" panose="02020603050405020304" charset="0"/>
                <a:cs typeface="Times New Roman" panose="02020603050405020304" charset="0"/>
              </a:rPr>
              <a:t>under</a:t>
            </a:r>
            <a:r>
              <a:rPr lang="en-US" sz="3200">
                <a:latin typeface="Times New Roman" panose="02020603050405020304" charset="0"/>
                <a:cs typeface="Times New Roman" panose="02020603050405020304" charset="0"/>
              </a:rPr>
              <a:t> the mango tree.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dove flew </a:t>
            </a:r>
            <a:r>
              <a:rPr lang="en-US" sz="3200" u="sng">
                <a:latin typeface="Times New Roman" panose="02020603050405020304" charset="0"/>
                <a:cs typeface="Times New Roman" panose="02020603050405020304" charset="0"/>
              </a:rPr>
              <a:t>near</a:t>
            </a:r>
            <a:r>
              <a:rPr lang="en-US" sz="3200">
                <a:latin typeface="Times New Roman" panose="02020603050405020304" charset="0"/>
                <a:cs typeface="Times New Roman" panose="02020603050405020304" charset="0"/>
              </a:rPr>
              <a:t> the mango tree.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dove flew </a:t>
            </a:r>
            <a:r>
              <a:rPr lang="en-US" sz="3200" u="sng">
                <a:latin typeface="Times New Roman" panose="02020603050405020304" charset="0"/>
                <a:cs typeface="Times New Roman" panose="02020603050405020304" charset="0"/>
              </a:rPr>
              <a:t>into</a:t>
            </a:r>
            <a:r>
              <a:rPr lang="en-US" sz="3200">
                <a:latin typeface="Times New Roman" panose="02020603050405020304" charset="0"/>
                <a:cs typeface="Times New Roman" panose="02020603050405020304" charset="0"/>
              </a:rPr>
              <a:t> the mango tree.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In the sentences above, the prepositions used show the relationship between the noun ‘mango tree’ and the verb ‘flew’ by indicating where the dove flew in relation to the mango tree.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Prepositions can be followed by verbs. It must be in the ‘ing’ form.</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Mary insisted </a:t>
            </a:r>
            <a:r>
              <a:rPr lang="en-US" sz="3200" u="sng">
                <a:latin typeface="Times New Roman" panose="02020603050405020304" charset="0"/>
                <a:cs typeface="Times New Roman" panose="02020603050405020304" charset="0"/>
              </a:rPr>
              <a:t>on paying</a:t>
            </a:r>
            <a:r>
              <a:rPr lang="en-US" sz="3200">
                <a:latin typeface="Times New Roman" panose="02020603050405020304" charset="0"/>
                <a:cs typeface="Times New Roman" panose="02020603050405020304" charset="0"/>
              </a:rPr>
              <a: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man was talking of </a:t>
            </a:r>
            <a:r>
              <a:rPr lang="en-US" sz="3200" u="sng">
                <a:latin typeface="Times New Roman" panose="02020603050405020304" charset="0"/>
                <a:cs typeface="Times New Roman" panose="02020603050405020304" charset="0"/>
              </a:rPr>
              <a:t>relocating</a:t>
            </a:r>
            <a:r>
              <a:rPr lang="en-US" sz="3200">
                <a:latin typeface="Times New Roman" panose="02020603050405020304" charset="0"/>
                <a:cs typeface="Times New Roman" panose="02020603050405020304" charset="0"/>
              </a:rPr>
              <a: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student succeded in </a:t>
            </a:r>
            <a:r>
              <a:rPr lang="en-US" sz="3200" u="sng">
                <a:latin typeface="Times New Roman" panose="02020603050405020304" charset="0"/>
                <a:cs typeface="Times New Roman" panose="02020603050405020304" charset="0"/>
              </a:rPr>
              <a:t>fleeing</a:t>
            </a:r>
            <a:r>
              <a:rPr lang="en-US" sz="3200">
                <a:latin typeface="Times New Roman" panose="02020603050405020304" charset="0"/>
                <a:cs typeface="Times New Roman" panose="02020603050405020304" charset="0"/>
              </a:rPr>
              <a:t>.</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UNDERSTANDING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549400"/>
            <a:ext cx="12191365" cy="5221605"/>
          </a:xfrm>
        </p:spPr>
        <p:txBody>
          <a:bodyPr>
            <a:normAutofit lnSpcReduction="20000"/>
          </a:bodyPr>
          <a:p>
            <a:pPr marL="0" indent="0" algn="just">
              <a:buNone/>
            </a:pPr>
            <a:r>
              <a:rPr lang="en-US" sz="3200">
                <a:latin typeface="Times New Roman" panose="02020603050405020304" charset="0"/>
                <a:cs typeface="Times New Roman" panose="02020603050405020304" charset="0"/>
              </a:rPr>
              <a:t>Some words used as prepositions are also used as other part of speech.</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Kwame ran </a:t>
            </a:r>
            <a:r>
              <a:rPr lang="en-US" sz="3200" u="sng">
                <a:latin typeface="Times New Roman" panose="02020603050405020304" charset="0"/>
                <a:cs typeface="Times New Roman" panose="02020603050405020304" charset="0"/>
              </a:rPr>
              <a:t>up</a:t>
            </a:r>
            <a:r>
              <a:rPr lang="en-US" sz="3200">
                <a:latin typeface="Times New Roman" panose="02020603050405020304" charset="0"/>
                <a:cs typeface="Times New Roman" panose="02020603050405020304" charset="0"/>
              </a:rPr>
              <a:t> the stairs. (preposition) (stairs is the object).</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Kwame went </a:t>
            </a:r>
            <a:r>
              <a:rPr lang="en-US" sz="3200" u="sng">
                <a:latin typeface="Times New Roman" panose="02020603050405020304" charset="0"/>
                <a:cs typeface="Times New Roman" panose="02020603050405020304" charset="0"/>
              </a:rPr>
              <a:t>up</a:t>
            </a:r>
            <a:r>
              <a:rPr lang="en-US" sz="3200">
                <a:latin typeface="Times New Roman" panose="02020603050405020304" charset="0"/>
                <a:cs typeface="Times New Roman" panose="02020603050405020304" charset="0"/>
              </a:rPr>
              <a:t> in the elevator. (adverb of place) (because of the in)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 climed </a:t>
            </a:r>
            <a:r>
              <a:rPr lang="en-US" sz="3200" u="sng">
                <a:latin typeface="Times New Roman" panose="02020603050405020304" charset="0"/>
                <a:cs typeface="Times New Roman" panose="02020603050405020304" charset="0"/>
              </a:rPr>
              <a:t>over</a:t>
            </a:r>
            <a:r>
              <a:rPr lang="en-US" sz="3200">
                <a:latin typeface="Times New Roman" panose="02020603050405020304" charset="0"/>
                <a:cs typeface="Times New Roman" panose="02020603050405020304" charset="0"/>
              </a:rPr>
              <a:t> the wall. (preposition)</a:t>
            </a:r>
            <a:endParaRPr lang="en-US" sz="3200" b="1" u="sng">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You may have to climb </a:t>
            </a:r>
            <a:r>
              <a:rPr lang="en-US" sz="3200" u="sng">
                <a:latin typeface="Times New Roman" panose="02020603050405020304" charset="0"/>
                <a:cs typeface="Times New Roman" panose="02020603050405020304" charset="0"/>
              </a:rPr>
              <a:t>over</a:t>
            </a:r>
            <a:r>
              <a:rPr lang="en-US" sz="3200">
                <a:latin typeface="Times New Roman" panose="02020603050405020304" charset="0"/>
                <a:cs typeface="Times New Roman" panose="02020603050405020304" charset="0"/>
              </a:rPr>
              <a:t> too. (adverb of time/intensity) (may modal verbs)</a:t>
            </a:r>
            <a:endParaRPr lang="en-US" sz="3200" b="1" u="sng">
              <a:latin typeface="Times New Roman" panose="02020603050405020304" charset="0"/>
              <a:cs typeface="Times New Roman" panose="02020603050405020304" charset="0"/>
            </a:endParaRPr>
          </a:p>
          <a:p>
            <a:pPr marL="0" indent="0" algn="just">
              <a:buNone/>
            </a:pPr>
            <a:endParaRPr lang="en-US" sz="3200" b="1" u="sng">
              <a:latin typeface="Times New Roman" panose="02020603050405020304" charset="0"/>
              <a:cs typeface="Times New Roman" panose="02020603050405020304" charset="0"/>
            </a:endParaRPr>
          </a:p>
          <a:p>
            <a:pPr marL="0" indent="0" algn="just">
              <a:buNone/>
            </a:pPr>
            <a:r>
              <a:rPr lang="en-US" sz="3200" b="1" u="sng">
                <a:latin typeface="Times New Roman" panose="02020603050405020304" charset="0"/>
                <a:cs typeface="Times New Roman" panose="02020603050405020304" charset="0"/>
              </a:rPr>
              <a:t>NOTE</a:t>
            </a:r>
            <a:r>
              <a:rPr lang="en-US" sz="3200">
                <a:latin typeface="Times New Roman" panose="02020603050405020304" charset="0"/>
                <a:cs typeface="Times New Roman" panose="02020603050405020304" charset="0"/>
              </a:rPr>
              <a:t>: If a word is used as a preposition, it must have an object. The prepositions that are used as adverbs in the sentences above are modifying the verbs.</a:t>
            </a: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UNDERSTANDING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35" y="1549400"/>
            <a:ext cx="12191365" cy="5221605"/>
          </a:xfrm>
        </p:spPr>
        <p:txBody>
          <a:bodyPr>
            <a:normAutofit/>
          </a:bodyPr>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The following are some types of multi-word or compound prepositions:                                                </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along with, on account of, prior to, together with,</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aside from, with respect to, instead of, inspite of,</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because of, infront of, in addition to, by way of,</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by means of, according to, out of.</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TYPES OF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9225" y="1400175"/>
            <a:ext cx="11921490" cy="5370830"/>
          </a:xfrm>
        </p:spPr>
        <p:txBody>
          <a:bodyPr>
            <a:normAutofit/>
          </a:bodyPr>
          <a:p>
            <a:pPr marL="0" indent="0" algn="just">
              <a:buNone/>
            </a:pPr>
            <a:r>
              <a:rPr lang="en-US" sz="3200">
                <a:latin typeface="Times New Roman" panose="02020603050405020304" charset="0"/>
                <a:cs typeface="Times New Roman" panose="02020603050405020304" charset="0"/>
              </a:rPr>
              <a:t>1. Prepositions of time: they enable you to talk about a specific time 				    period. They show time relationship in the 				     sentence.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Let us have lunch </a:t>
            </a:r>
            <a:r>
              <a:rPr lang="en-US" sz="3200" u="sng">
                <a:latin typeface="Times New Roman" panose="02020603050405020304" charset="0"/>
                <a:cs typeface="Times New Roman" panose="02020603050405020304" charset="0"/>
              </a:rPr>
              <a:t>after</a:t>
            </a:r>
            <a:r>
              <a:rPr lang="en-US" sz="3200">
                <a:latin typeface="Times New Roman" panose="02020603050405020304" charset="0"/>
                <a:cs typeface="Times New Roman" panose="02020603050405020304" charset="0"/>
              </a:rPr>
              <a:t> the departmental meeting.</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We will be there </a:t>
            </a:r>
            <a:r>
              <a:rPr lang="en-US" sz="3200" u="sng">
                <a:latin typeface="Times New Roman" panose="02020603050405020304" charset="0"/>
                <a:cs typeface="Times New Roman" panose="02020603050405020304" charset="0"/>
              </a:rPr>
              <a:t>in</a:t>
            </a:r>
            <a:r>
              <a:rPr lang="en-US" sz="3200">
                <a:latin typeface="Times New Roman" panose="02020603050405020304" charset="0"/>
                <a:cs typeface="Times New Roman" panose="02020603050405020304" charset="0"/>
              </a:rPr>
              <a:t> five minutes.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Adolescents cannot drive </a:t>
            </a:r>
            <a:r>
              <a:rPr lang="en-US" sz="3200" u="sng">
                <a:latin typeface="Times New Roman" panose="02020603050405020304" charset="0"/>
                <a:cs typeface="Times New Roman" panose="02020603050405020304" charset="0"/>
              </a:rPr>
              <a:t>until</a:t>
            </a:r>
            <a:r>
              <a:rPr lang="en-US" sz="3200">
                <a:latin typeface="Times New Roman" panose="02020603050405020304" charset="0"/>
                <a:cs typeface="Times New Roman" panose="02020603050405020304" charset="0"/>
              </a:rPr>
              <a:t> they are eighteen years old.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students go to bed </a:t>
            </a:r>
            <a:r>
              <a:rPr lang="en-US" sz="3200" u="sng">
                <a:latin typeface="Times New Roman" panose="02020603050405020304" charset="0"/>
                <a:cs typeface="Times New Roman" panose="02020603050405020304" charset="0"/>
              </a:rPr>
              <a:t>at</a:t>
            </a:r>
            <a:r>
              <a:rPr lang="en-US" sz="3200">
                <a:latin typeface="Times New Roman" panose="02020603050405020304" charset="0"/>
                <a:cs typeface="Times New Roman" panose="02020603050405020304" charset="0"/>
              </a:rPr>
              <a:t> 10 o’clock pm.</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foreign students will stay in Ghana </a:t>
            </a:r>
            <a:r>
              <a:rPr lang="en-US" sz="3200" u="sng">
                <a:latin typeface="Times New Roman" panose="02020603050405020304" charset="0"/>
                <a:cs typeface="Times New Roman" panose="02020603050405020304" charset="0"/>
              </a:rPr>
              <a:t>for</a:t>
            </a:r>
            <a:r>
              <a:rPr lang="en-US" sz="3200">
                <a:latin typeface="Times New Roman" panose="02020603050405020304" charset="0"/>
                <a:cs typeface="Times New Roman" panose="02020603050405020304" charset="0"/>
              </a:rPr>
              <a:t> four weeks.</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TYPES OF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9225" y="1400175"/>
            <a:ext cx="11921490" cy="5370830"/>
          </a:xfrm>
        </p:spPr>
        <p:txBody>
          <a:bodyPr>
            <a:normAutofit/>
          </a:bodyPr>
          <a:p>
            <a:pPr marL="0" indent="0" algn="just">
              <a:buNone/>
            </a:pPr>
            <a:r>
              <a:rPr lang="en-US" sz="3200">
                <a:latin typeface="Times New Roman" panose="02020603050405020304" charset="0"/>
                <a:cs typeface="Times New Roman" panose="02020603050405020304" charset="0"/>
              </a:rPr>
              <a:t>2. Prepositions of location (place): it helps us understand exactly where 						 something or someone is. They 						          show a noun’s specific location in 					            space.</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I have parked my car </a:t>
            </a:r>
            <a:r>
              <a:rPr lang="en-US" sz="3200" u="sng">
                <a:latin typeface="Times New Roman" panose="02020603050405020304" charset="0"/>
                <a:cs typeface="Times New Roman" panose="02020603050405020304" charset="0"/>
              </a:rPr>
              <a:t>over</a:t>
            </a:r>
            <a:r>
              <a:rPr lang="en-US" sz="3200">
                <a:latin typeface="Times New Roman" panose="02020603050405020304" charset="0"/>
                <a:cs typeface="Times New Roman" panose="02020603050405020304" charset="0"/>
              </a:rPr>
              <a:t> there.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There is some food </a:t>
            </a:r>
            <a:r>
              <a:rPr lang="en-US" sz="3200" u="sng">
                <a:latin typeface="Times New Roman" panose="02020603050405020304" charset="0"/>
                <a:cs typeface="Times New Roman" panose="02020603050405020304" charset="0"/>
              </a:rPr>
              <a:t>in</a:t>
            </a:r>
            <a:r>
              <a:rPr lang="en-US" sz="3200">
                <a:latin typeface="Times New Roman" panose="02020603050405020304" charset="0"/>
                <a:cs typeface="Times New Roman" panose="02020603050405020304" charset="0"/>
              </a:rPr>
              <a:t> the fridge.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little boys are hiding </a:t>
            </a:r>
            <a:r>
              <a:rPr lang="en-US" sz="3200" u="sng">
                <a:latin typeface="Times New Roman" panose="02020603050405020304" charset="0"/>
                <a:cs typeface="Times New Roman" panose="02020603050405020304" charset="0"/>
              </a:rPr>
              <a:t>behind</a:t>
            </a:r>
            <a:r>
              <a:rPr lang="en-US" sz="3200">
                <a:latin typeface="Times New Roman" panose="02020603050405020304" charset="0"/>
                <a:cs typeface="Times New Roman" panose="02020603050405020304" charset="0"/>
              </a:rPr>
              <a:t> the wall.</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There was a pretty young lady sitting </a:t>
            </a:r>
            <a:r>
              <a:rPr lang="en-US" sz="3200" u="sng">
                <a:latin typeface="Times New Roman" panose="02020603050405020304" charset="0"/>
                <a:cs typeface="Times New Roman" panose="02020603050405020304" charset="0"/>
              </a:rPr>
              <a:t>next</a:t>
            </a:r>
            <a:r>
              <a:rPr lang="en-US" sz="3200">
                <a:latin typeface="Times New Roman" panose="02020603050405020304" charset="0"/>
                <a:cs typeface="Times New Roman" panose="02020603050405020304" charset="0"/>
              </a:rPr>
              <a:t> to me.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fat woman sat </a:t>
            </a:r>
            <a:r>
              <a:rPr lang="en-US" sz="3200" u="sng">
                <a:latin typeface="Times New Roman" panose="02020603050405020304" charset="0"/>
                <a:cs typeface="Times New Roman" panose="02020603050405020304" charset="0"/>
              </a:rPr>
              <a:t>on</a:t>
            </a:r>
            <a:r>
              <a:rPr lang="en-US" sz="3200">
                <a:latin typeface="Times New Roman" panose="02020603050405020304" charset="0"/>
                <a:cs typeface="Times New Roman" panose="02020603050405020304" charset="0"/>
              </a:rPr>
              <a:t> the table.</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TYPES OF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49225" y="1400175"/>
            <a:ext cx="11921490" cy="5370830"/>
          </a:xfrm>
        </p:spPr>
        <p:txBody>
          <a:bodyPr>
            <a:normAutofit/>
          </a:bodyPr>
          <a:p>
            <a:pPr marL="0" indent="0" algn="just">
              <a:buNone/>
            </a:pPr>
            <a:r>
              <a:rPr lang="en-US" sz="3200">
                <a:latin typeface="Times New Roman" panose="02020603050405020304" charset="0"/>
                <a:cs typeface="Times New Roman" panose="02020603050405020304" charset="0"/>
              </a:rPr>
              <a:t>3. Prepositions of movement (direction): they show movement from 							       one place to another.</a:t>
            </a: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cat jumped </a:t>
            </a:r>
            <a:r>
              <a:rPr lang="en-US" sz="3200" u="sng">
                <a:latin typeface="Times New Roman" panose="02020603050405020304" charset="0"/>
                <a:cs typeface="Times New Roman" panose="02020603050405020304" charset="0"/>
              </a:rPr>
              <a:t>onto</a:t>
            </a:r>
            <a:r>
              <a:rPr lang="en-US" sz="3200">
                <a:latin typeface="Times New Roman" panose="02020603050405020304" charset="0"/>
                <a:cs typeface="Times New Roman" panose="02020603050405020304" charset="0"/>
              </a:rPr>
              <a:t> the roof.</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We walked </a:t>
            </a:r>
            <a:r>
              <a:rPr lang="en-US" sz="3200" u="sng">
                <a:latin typeface="Times New Roman" panose="02020603050405020304" charset="0"/>
                <a:cs typeface="Times New Roman" panose="02020603050405020304" charset="0"/>
              </a:rPr>
              <a:t>past</a:t>
            </a:r>
            <a:r>
              <a:rPr lang="en-US" sz="3200">
                <a:latin typeface="Times New Roman" panose="02020603050405020304" charset="0"/>
                <a:cs typeface="Times New Roman" panose="02020603050405020304" charset="0"/>
              </a:rPr>
              <a:t> the administration block.</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dog came </a:t>
            </a:r>
            <a:r>
              <a:rPr lang="en-US" sz="3200" u="sng">
                <a:latin typeface="Times New Roman" panose="02020603050405020304" charset="0"/>
                <a:cs typeface="Times New Roman" panose="02020603050405020304" charset="0"/>
              </a:rPr>
              <a:t>down</a:t>
            </a:r>
            <a:r>
              <a:rPr lang="en-US" sz="3200">
                <a:latin typeface="Times New Roman" panose="02020603050405020304" charset="0"/>
                <a:cs typeface="Times New Roman" panose="02020603050405020304" charset="0"/>
              </a:rPr>
              <a:t> the stairs.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Mary drove </a:t>
            </a:r>
            <a:r>
              <a:rPr lang="en-US" sz="3200" u="sng">
                <a:latin typeface="Times New Roman" panose="02020603050405020304" charset="0"/>
                <a:cs typeface="Times New Roman" panose="02020603050405020304" charset="0"/>
              </a:rPr>
              <a:t>to</a:t>
            </a:r>
            <a:r>
              <a:rPr lang="en-US" sz="3200">
                <a:latin typeface="Times New Roman" panose="02020603050405020304" charset="0"/>
                <a:cs typeface="Times New Roman" panose="02020603050405020304" charset="0"/>
              </a:rPr>
              <a:t> the university campus.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man went </a:t>
            </a:r>
            <a:r>
              <a:rPr lang="en-US" sz="3200" u="sng">
                <a:latin typeface="Times New Roman" panose="02020603050405020304" charset="0"/>
                <a:cs typeface="Times New Roman" panose="02020603050405020304" charset="0"/>
              </a:rPr>
              <a:t>up</a:t>
            </a:r>
            <a:r>
              <a:rPr lang="en-US" sz="3200">
                <a:latin typeface="Times New Roman" panose="02020603050405020304" charset="0"/>
                <a:cs typeface="Times New Roman" panose="02020603050405020304" charset="0"/>
              </a:rPr>
              <a:t> the ladder.</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885"/>
            <a:ext cx="10515600" cy="1325563"/>
          </a:xfrm>
        </p:spPr>
        <p:txBody>
          <a:bodyPr>
            <a:normAutofit/>
          </a:bodyPr>
          <a:p>
            <a:pPr algn="ctr"/>
            <a:r>
              <a:rPr lang="en-US" b="1">
                <a:latin typeface="Times New Roman" panose="02020603050405020304" charset="0"/>
                <a:cs typeface="Times New Roman" panose="02020603050405020304" charset="0"/>
              </a:rPr>
              <a:t>TYPES OF PREPOSITIONS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400175"/>
            <a:ext cx="12192635" cy="5370830"/>
          </a:xfrm>
        </p:spPr>
        <p:txBody>
          <a:bodyPr>
            <a:normAutofit lnSpcReduction="20000"/>
          </a:bodyPr>
          <a:p>
            <a:pPr marL="0" indent="0" algn="just">
              <a:buNone/>
            </a:pPr>
            <a:r>
              <a:rPr lang="en-US" sz="3200">
                <a:latin typeface="Times New Roman" panose="02020603050405020304" charset="0"/>
                <a:cs typeface="Times New Roman" panose="02020603050405020304" charset="0"/>
              </a:rPr>
              <a:t>4.Prepositions that show connections between ideas: they connect two 					nouns that are not literally near each other but have 				another logical connection.</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r>
              <a:rPr lang="en-US" sz="3200">
                <a:latin typeface="Times New Roman" panose="02020603050405020304" charset="0"/>
                <a:cs typeface="Times New Roman" panose="02020603050405020304" charset="0"/>
              </a:rPr>
              <a:t>Examples: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sibilings were fighting </a:t>
            </a:r>
            <a:r>
              <a:rPr lang="en-US" sz="3200" u="sng">
                <a:latin typeface="Times New Roman" panose="02020603050405020304" charset="0"/>
                <a:cs typeface="Times New Roman" panose="02020603050405020304" charset="0"/>
              </a:rPr>
              <a:t>over</a:t>
            </a:r>
            <a:r>
              <a:rPr lang="en-US" sz="3200">
                <a:latin typeface="Times New Roman" panose="02020603050405020304" charset="0"/>
                <a:cs typeface="Times New Roman" panose="02020603050405020304" charset="0"/>
              </a:rPr>
              <a:t> inheritance.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John looks just </a:t>
            </a:r>
            <a:r>
              <a:rPr lang="en-US" sz="3200" u="sng">
                <a:latin typeface="Times New Roman" panose="02020603050405020304" charset="0"/>
                <a:cs typeface="Times New Roman" panose="02020603050405020304" charset="0"/>
              </a:rPr>
              <a:t>like</a:t>
            </a:r>
            <a:r>
              <a:rPr lang="en-US" sz="3200">
                <a:latin typeface="Times New Roman" panose="02020603050405020304" charset="0"/>
                <a:cs typeface="Times New Roman" panose="02020603050405020304" charset="0"/>
              </a:rPr>
              <a:t> his grandfather at that age.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We voted </a:t>
            </a:r>
            <a:r>
              <a:rPr lang="en-US" sz="3200" u="sng">
                <a:latin typeface="Times New Roman" panose="02020603050405020304" charset="0"/>
                <a:cs typeface="Times New Roman" panose="02020603050405020304" charset="0"/>
              </a:rPr>
              <a:t>against</a:t>
            </a:r>
            <a:r>
              <a:rPr lang="en-US" sz="3200">
                <a:latin typeface="Times New Roman" panose="02020603050405020304" charset="0"/>
                <a:cs typeface="Times New Roman" panose="02020603050405020304" charset="0"/>
              </a:rPr>
              <a:t> the candidate who wanted to increase dues .</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The lady lives </a:t>
            </a:r>
            <a:r>
              <a:rPr lang="en-US" sz="3200" u="sng">
                <a:latin typeface="Times New Roman" panose="02020603050405020304" charset="0"/>
                <a:cs typeface="Times New Roman" panose="02020603050405020304" charset="0"/>
              </a:rPr>
              <a:t>with</a:t>
            </a:r>
            <a:r>
              <a:rPr lang="en-US" sz="3200">
                <a:latin typeface="Times New Roman" panose="02020603050405020304" charset="0"/>
                <a:cs typeface="Times New Roman" panose="02020603050405020304" charset="0"/>
              </a:rPr>
              <a:t> her husband and two dogs.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 Kofi works </a:t>
            </a:r>
            <a:r>
              <a:rPr lang="en-US" sz="3200" u="sng">
                <a:latin typeface="Times New Roman" panose="02020603050405020304" charset="0"/>
                <a:cs typeface="Times New Roman" panose="02020603050405020304" charset="0"/>
              </a:rPr>
              <a:t>as</a:t>
            </a:r>
            <a:r>
              <a:rPr lang="en-US" sz="3200">
                <a:latin typeface="Times New Roman" panose="02020603050405020304" charset="0"/>
                <a:cs typeface="Times New Roman" panose="02020603050405020304" charset="0"/>
              </a:rPr>
              <a:t> a librarian at the university.</a:t>
            </a: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marL="0" indent="0" algn="just">
              <a:buNone/>
            </a:pPr>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a:p>
            <a:pPr algn="just"/>
            <a:endParaRPr lang="en-US" sz="3200">
              <a:latin typeface="Times New Roman" panose="02020603050405020304" charset="0"/>
              <a:cs typeface="Times New Roman" panose="0202060305040502030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VERB-PREPOSITION COMBINATION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The students are </a:t>
            </a:r>
            <a:r>
              <a:rPr lang="en-US" sz="3200" u="sng">
                <a:latin typeface="Times New Roman" panose="02020603050405020304" charset="0"/>
                <a:cs typeface="Times New Roman" panose="02020603050405020304" charset="0"/>
              </a:rPr>
              <a:t>concentrating on</a:t>
            </a:r>
            <a:r>
              <a:rPr lang="en-US" sz="3200">
                <a:latin typeface="Times New Roman" panose="02020603050405020304" charset="0"/>
                <a:cs typeface="Times New Roman" panose="02020603050405020304" charset="0"/>
              </a:rPr>
              <a:t> their studies.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Good friends </a:t>
            </a:r>
            <a:r>
              <a:rPr lang="en-US" sz="3200" u="sng">
                <a:latin typeface="Times New Roman" panose="02020603050405020304" charset="0"/>
                <a:cs typeface="Times New Roman" panose="02020603050405020304" charset="0"/>
              </a:rPr>
              <a:t>depend on</a:t>
            </a:r>
            <a:r>
              <a:rPr lang="en-US" sz="3200">
                <a:latin typeface="Times New Roman" panose="02020603050405020304" charset="0"/>
                <a:cs typeface="Times New Roman" panose="02020603050405020304" charset="0"/>
              </a:rPr>
              <a:t> one another.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man </a:t>
            </a:r>
            <a:r>
              <a:rPr lang="en-US" sz="3200" u="sng">
                <a:latin typeface="Times New Roman" panose="02020603050405020304" charset="0"/>
                <a:cs typeface="Times New Roman" panose="02020603050405020304" charset="0"/>
              </a:rPr>
              <a:t>suffered from</a:t>
            </a:r>
            <a:r>
              <a:rPr lang="en-US" sz="3200">
                <a:latin typeface="Times New Roman" panose="02020603050405020304" charset="0"/>
                <a:cs typeface="Times New Roman" panose="02020603050405020304" charset="0"/>
              </a:rPr>
              <a:t> dementia.</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criminal was </a:t>
            </a:r>
            <a:r>
              <a:rPr lang="en-US" sz="3200" u="sng">
                <a:latin typeface="Times New Roman" panose="02020603050405020304" charset="0"/>
                <a:cs typeface="Times New Roman" panose="02020603050405020304" charset="0"/>
              </a:rPr>
              <a:t>charged with</a:t>
            </a:r>
            <a:r>
              <a:rPr lang="en-US" sz="3200">
                <a:latin typeface="Times New Roman" panose="02020603050405020304" charset="0"/>
                <a:cs typeface="Times New Roman" panose="02020603050405020304" charset="0"/>
              </a:rPr>
              <a:t> murder.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They </a:t>
            </a:r>
            <a:r>
              <a:rPr lang="en-US" sz="3200" u="sng">
                <a:latin typeface="Times New Roman" panose="02020603050405020304" charset="0"/>
                <a:cs typeface="Times New Roman" panose="02020603050405020304" charset="0"/>
              </a:rPr>
              <a:t>arrived at</a:t>
            </a:r>
            <a:r>
              <a:rPr lang="en-US" sz="3200">
                <a:latin typeface="Times New Roman" panose="02020603050405020304" charset="0"/>
                <a:cs typeface="Times New Roman" panose="02020603050405020304" charset="0"/>
              </a:rPr>
              <a:t> the bus station two hours early.</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Management will </a:t>
            </a:r>
            <a:r>
              <a:rPr lang="en-US" sz="3200" u="sng">
                <a:latin typeface="Times New Roman" panose="02020603050405020304" charset="0"/>
                <a:cs typeface="Times New Roman" panose="02020603050405020304" charset="0"/>
              </a:rPr>
              <a:t>deal with</a:t>
            </a:r>
            <a:r>
              <a:rPr lang="en-US" sz="3200">
                <a:latin typeface="Times New Roman" panose="02020603050405020304" charset="0"/>
                <a:cs typeface="Times New Roman" panose="02020603050405020304" charset="0"/>
              </a:rPr>
              <a:t> the situation.</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Board </a:t>
            </a:r>
            <a:r>
              <a:rPr lang="en-US" sz="3200" u="sng">
                <a:latin typeface="Times New Roman" panose="02020603050405020304" charset="0"/>
                <a:cs typeface="Times New Roman" panose="02020603050405020304" charset="0"/>
              </a:rPr>
              <a:t>approved of</a:t>
            </a:r>
            <a:r>
              <a:rPr lang="en-US" sz="3200">
                <a:latin typeface="Times New Roman" panose="02020603050405020304" charset="0"/>
                <a:cs typeface="Times New Roman" panose="02020603050405020304" charset="0"/>
              </a:rPr>
              <a:t> our nomination.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7820" y="365125"/>
            <a:ext cx="11015980" cy="1325880"/>
          </a:xfrm>
        </p:spPr>
        <p:txBody>
          <a:bodyPr>
            <a:normAutofit fontScale="90000"/>
          </a:bodyPr>
          <a:p>
            <a:pPr algn="ctr"/>
            <a:r>
              <a:rPr lang="en-US" b="1">
                <a:latin typeface="Times New Roman" panose="02020603050405020304" charset="0"/>
                <a:cs typeface="Times New Roman" panose="02020603050405020304" charset="0"/>
              </a:rPr>
              <a:t>ADJECTIVE-PREPOSITION COMBINATION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She is </a:t>
            </a:r>
            <a:r>
              <a:rPr lang="en-US" sz="3200" u="sng">
                <a:latin typeface="Times New Roman" panose="02020603050405020304" charset="0"/>
                <a:cs typeface="Times New Roman" panose="02020603050405020304" charset="0"/>
              </a:rPr>
              <a:t>good at</a:t>
            </a:r>
            <a:r>
              <a:rPr lang="en-US" sz="3200">
                <a:latin typeface="Times New Roman" panose="02020603050405020304" charset="0"/>
                <a:cs typeface="Times New Roman" panose="02020603050405020304" charset="0"/>
              </a:rPr>
              <a:t> finding solutions.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article was </a:t>
            </a:r>
            <a:r>
              <a:rPr lang="en-US" sz="3200" u="sng">
                <a:latin typeface="Times New Roman" panose="02020603050405020304" charset="0"/>
                <a:cs typeface="Times New Roman" panose="02020603050405020304" charset="0"/>
              </a:rPr>
              <a:t>inspired by</a:t>
            </a:r>
            <a:r>
              <a:rPr lang="en-US" sz="3200">
                <a:latin typeface="Times New Roman" panose="02020603050405020304" charset="0"/>
                <a:cs typeface="Times New Roman" panose="02020603050405020304" charset="0"/>
              </a:rPr>
              <a:t> my mentor.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I dont feel </a:t>
            </a:r>
            <a:r>
              <a:rPr lang="en-US" sz="3200" u="sng">
                <a:latin typeface="Times New Roman" panose="02020603050405020304" charset="0"/>
                <a:cs typeface="Times New Roman" panose="02020603050405020304" charset="0"/>
              </a:rPr>
              <a:t>comfortable in</a:t>
            </a:r>
            <a:r>
              <a:rPr lang="en-US" sz="3200">
                <a:latin typeface="Times New Roman" panose="02020603050405020304" charset="0"/>
                <a:cs typeface="Times New Roman" panose="02020603050405020304" charset="0"/>
              </a:rPr>
              <a:t> tight trousers .</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John is not </a:t>
            </a:r>
            <a:r>
              <a:rPr lang="en-US" sz="3200" u="sng">
                <a:latin typeface="Times New Roman" panose="02020603050405020304" charset="0"/>
                <a:cs typeface="Times New Roman" panose="02020603050405020304" charset="0"/>
              </a:rPr>
              <a:t>ashamed of</a:t>
            </a:r>
            <a:r>
              <a:rPr lang="en-US" sz="3200">
                <a:latin typeface="Times New Roman" panose="02020603050405020304" charset="0"/>
                <a:cs typeface="Times New Roman" panose="02020603050405020304" charset="0"/>
              </a:rPr>
              <a:t> what he did.</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loan acquisition will be </a:t>
            </a:r>
            <a:r>
              <a:rPr lang="en-US" sz="3200" u="sng">
                <a:latin typeface="Times New Roman" panose="02020603050405020304" charset="0"/>
                <a:cs typeface="Times New Roman" panose="02020603050405020304" charset="0"/>
              </a:rPr>
              <a:t>beneficial to</a:t>
            </a:r>
            <a:r>
              <a:rPr lang="en-US" sz="3200">
                <a:latin typeface="Times New Roman" panose="02020603050405020304" charset="0"/>
                <a:cs typeface="Times New Roman" panose="02020603050405020304" charset="0"/>
              </a:rPr>
              <a:t> every member.</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Jason is </a:t>
            </a:r>
            <a:r>
              <a:rPr lang="en-US" sz="3200" u="sng">
                <a:latin typeface="Times New Roman" panose="02020603050405020304" charset="0"/>
                <a:cs typeface="Times New Roman" panose="02020603050405020304" charset="0"/>
              </a:rPr>
              <a:t>blessed with</a:t>
            </a:r>
            <a:r>
              <a:rPr lang="en-US" sz="3200">
                <a:latin typeface="Times New Roman" panose="02020603050405020304" charset="0"/>
                <a:cs typeface="Times New Roman" panose="02020603050405020304" charset="0"/>
              </a:rPr>
              <a:t> many talents.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gentleman has been </a:t>
            </a:r>
            <a:r>
              <a:rPr lang="en-US" sz="3200" u="sng">
                <a:latin typeface="Times New Roman" panose="02020603050405020304" charset="0"/>
                <a:cs typeface="Times New Roman" panose="02020603050405020304" charset="0"/>
              </a:rPr>
              <a:t>interested in</a:t>
            </a:r>
            <a:r>
              <a:rPr lang="en-US" sz="3200">
                <a:latin typeface="Times New Roman" panose="02020603050405020304" charset="0"/>
                <a:cs typeface="Times New Roman" panose="02020603050405020304" charset="0"/>
              </a:rPr>
              <a:t> the lady for a long time.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37820" y="365125"/>
            <a:ext cx="11015980" cy="1325880"/>
          </a:xfrm>
        </p:spPr>
        <p:txBody>
          <a:bodyPr>
            <a:normAutofit/>
          </a:bodyPr>
          <a:p>
            <a:pPr algn="ctr"/>
            <a:r>
              <a:rPr lang="en-US" b="1">
                <a:latin typeface="Times New Roman" panose="02020603050405020304" charset="0"/>
                <a:cs typeface="Times New Roman" panose="02020603050405020304" charset="0"/>
              </a:rPr>
              <a:t>NOUN-PREPOSITION COMBINATION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algn="just"/>
            <a:r>
              <a:rPr lang="en-US" sz="3200">
                <a:latin typeface="Times New Roman" panose="02020603050405020304" charset="0"/>
                <a:cs typeface="Times New Roman" panose="02020603050405020304" charset="0"/>
              </a:rPr>
              <a:t>They have lost their </a:t>
            </a:r>
            <a:r>
              <a:rPr lang="en-US" sz="3200" u="sng">
                <a:latin typeface="Times New Roman" panose="02020603050405020304" charset="0"/>
                <a:cs typeface="Times New Roman" panose="02020603050405020304" charset="0"/>
              </a:rPr>
              <a:t>belief in</a:t>
            </a:r>
            <a:r>
              <a:rPr lang="en-US" sz="3200">
                <a:latin typeface="Times New Roman" panose="02020603050405020304" charset="0"/>
                <a:cs typeface="Times New Roman" panose="02020603050405020304" charset="0"/>
              </a:rPr>
              <a:t> lesser gods.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university encourages </a:t>
            </a:r>
            <a:r>
              <a:rPr lang="en-US" sz="3200" u="sng">
                <a:latin typeface="Times New Roman" panose="02020603050405020304" charset="0"/>
                <a:cs typeface="Times New Roman" panose="02020603050405020304" charset="0"/>
              </a:rPr>
              <a:t>participation in</a:t>
            </a:r>
            <a:r>
              <a:rPr lang="en-US" sz="3200">
                <a:latin typeface="Times New Roman" panose="02020603050405020304" charset="0"/>
                <a:cs typeface="Times New Roman" panose="02020603050405020304" charset="0"/>
              </a:rPr>
              <a:t> sporting events.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manager’s </a:t>
            </a:r>
            <a:r>
              <a:rPr lang="en-US" sz="3200" u="sng">
                <a:latin typeface="Times New Roman" panose="02020603050405020304" charset="0"/>
                <a:cs typeface="Times New Roman" panose="02020603050405020304" charset="0"/>
              </a:rPr>
              <a:t>fear of</a:t>
            </a:r>
            <a:r>
              <a:rPr lang="en-US" sz="3200">
                <a:latin typeface="Times New Roman" panose="02020603050405020304" charset="0"/>
                <a:cs typeface="Times New Roman" panose="02020603050405020304" charset="0"/>
              </a:rPr>
              <a:t> flying spoilt our plans..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Her plans are, indeed, a </a:t>
            </a:r>
            <a:r>
              <a:rPr lang="en-US" sz="3200" u="sng">
                <a:latin typeface="Times New Roman" panose="02020603050405020304" charset="0"/>
                <a:cs typeface="Times New Roman" panose="02020603050405020304" charset="0"/>
              </a:rPr>
              <a:t>recipe for</a:t>
            </a:r>
            <a:r>
              <a:rPr lang="en-US" sz="3200">
                <a:latin typeface="Times New Roman" panose="02020603050405020304" charset="0"/>
                <a:cs typeface="Times New Roman" panose="02020603050405020304" charset="0"/>
              </a:rPr>
              <a:t> havoc.</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She has </a:t>
            </a:r>
            <a:r>
              <a:rPr lang="en-US" sz="3200" u="sng">
                <a:latin typeface="Times New Roman" panose="02020603050405020304" charset="0"/>
                <a:cs typeface="Times New Roman" panose="02020603050405020304" charset="0"/>
              </a:rPr>
              <a:t>a fondness for</a:t>
            </a:r>
            <a:r>
              <a:rPr lang="en-US" sz="3200">
                <a:latin typeface="Times New Roman" panose="02020603050405020304" charset="0"/>
                <a:cs typeface="Times New Roman" panose="02020603050405020304" charset="0"/>
              </a:rPr>
              <a:t> luxurious cars.</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policemen acted vehemently in </a:t>
            </a:r>
            <a:r>
              <a:rPr lang="en-US" sz="3200" u="sng">
                <a:latin typeface="Times New Roman" panose="02020603050405020304" charset="0"/>
                <a:cs typeface="Times New Roman" panose="02020603050405020304" charset="0"/>
              </a:rPr>
              <a:t>support of</a:t>
            </a:r>
            <a:r>
              <a:rPr lang="en-US" sz="3200">
                <a:latin typeface="Times New Roman" panose="02020603050405020304" charset="0"/>
                <a:cs typeface="Times New Roman" panose="02020603050405020304" charset="0"/>
              </a:rPr>
              <a:t> their colleague.</a:t>
            </a:r>
            <a:endParaRPr lang="en-US" sz="3200">
              <a:latin typeface="Times New Roman" panose="02020603050405020304" charset="0"/>
              <a:cs typeface="Times New Roman" panose="02020603050405020304" charset="0"/>
            </a:endParaRPr>
          </a:p>
          <a:p>
            <a:pPr algn="just"/>
            <a:r>
              <a:rPr lang="en-US" sz="3200">
                <a:latin typeface="Times New Roman" panose="02020603050405020304" charset="0"/>
                <a:cs typeface="Times New Roman" panose="02020603050405020304" charset="0"/>
              </a:rPr>
              <a:t>The edifice is a perfect </a:t>
            </a:r>
            <a:r>
              <a:rPr lang="en-US" sz="3200" u="sng">
                <a:latin typeface="Times New Roman" panose="02020603050405020304" charset="0"/>
                <a:cs typeface="Times New Roman" panose="02020603050405020304" charset="0"/>
              </a:rPr>
              <a:t>example of</a:t>
            </a:r>
            <a:r>
              <a:rPr lang="en-US" sz="3200">
                <a:latin typeface="Times New Roman" panose="02020603050405020304" charset="0"/>
                <a:cs typeface="Times New Roman" panose="02020603050405020304" charset="0"/>
              </a:rPr>
              <a:t> an ancient castle.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1950" y="115570"/>
            <a:ext cx="11015980" cy="945515"/>
          </a:xfrm>
        </p:spPr>
        <p:txBody>
          <a:bodyPr>
            <a:normAutofit fontScale="90000"/>
          </a:bodyPr>
          <a:p>
            <a:pPr algn="ctr"/>
            <a:r>
              <a:rPr lang="en-US" sz="4000" b="1">
                <a:latin typeface="Times New Roman" panose="02020603050405020304" charset="0"/>
                <a:cs typeface="Times New Roman" panose="02020603050405020304" charset="0"/>
              </a:rPr>
              <a:t>NB: CERTAIN VERBS DO NOT NEED PREPOSITIONS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0660" y="1239520"/>
            <a:ext cx="11991340" cy="4556760"/>
          </a:xfrm>
        </p:spPr>
        <p:txBody>
          <a:bodyPr>
            <a:noAutofit/>
          </a:bodyPr>
          <a:p>
            <a:pPr marL="0" indent="0" algn="just">
              <a:buNone/>
            </a:pPr>
            <a:r>
              <a:rPr lang="en-US" sz="3100">
                <a:latin typeface="Times New Roman" panose="02020603050405020304" charset="0"/>
                <a:cs typeface="Times New Roman" panose="02020603050405020304" charset="0"/>
              </a:rPr>
              <a:t>If we attach prepositions to them, it is almost tautological because the sentences get double meaning.</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The chairman </a:t>
            </a:r>
            <a:r>
              <a:rPr lang="en-US" sz="3100" u="sng">
                <a:latin typeface="Times New Roman" panose="02020603050405020304" charset="0"/>
                <a:cs typeface="Times New Roman" panose="02020603050405020304" charset="0"/>
              </a:rPr>
              <a:t>emphasized on</a:t>
            </a:r>
            <a:r>
              <a:rPr lang="en-US" sz="3100">
                <a:latin typeface="Times New Roman" panose="02020603050405020304" charset="0"/>
                <a:cs typeface="Times New Roman" panose="02020603050405020304" charset="0"/>
              </a:rPr>
              <a:t> the issue.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The chairman </a:t>
            </a:r>
            <a:r>
              <a:rPr lang="en-US" sz="3100" u="sng">
                <a:latin typeface="Times New Roman" panose="02020603050405020304" charset="0"/>
                <a:cs typeface="Times New Roman" panose="02020603050405020304" charset="0"/>
              </a:rPr>
              <a:t>emphasized</a:t>
            </a:r>
            <a:r>
              <a:rPr lang="en-US" sz="3100">
                <a:latin typeface="Times New Roman" panose="02020603050405020304" charset="0"/>
                <a:cs typeface="Times New Roman" panose="02020603050405020304" charset="0"/>
              </a:rPr>
              <a:t> the issue. (correct)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The chairman laid/put/placed emphasis on the issue. (correct)</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Do not </a:t>
            </a:r>
            <a:r>
              <a:rPr lang="en-US" sz="3100" u="sng">
                <a:latin typeface="Times New Roman" panose="02020603050405020304" charset="0"/>
                <a:cs typeface="Times New Roman" panose="02020603050405020304" charset="0"/>
              </a:rPr>
              <a:t>stress on</a:t>
            </a:r>
            <a:r>
              <a:rPr lang="en-US" sz="3100">
                <a:latin typeface="Times New Roman" panose="02020603050405020304" charset="0"/>
                <a:cs typeface="Times New Roman" panose="02020603050405020304" charset="0"/>
              </a:rPr>
              <a:t> unimportant things.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Do not put stress on unimportant things. (correct)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Do not </a:t>
            </a:r>
            <a:r>
              <a:rPr lang="en-US" sz="3100" u="sng">
                <a:latin typeface="Times New Roman" panose="02020603050405020304" charset="0"/>
                <a:cs typeface="Times New Roman" panose="02020603050405020304" charset="0"/>
              </a:rPr>
              <a:t>stress</a:t>
            </a:r>
            <a:r>
              <a:rPr lang="en-US" sz="3100">
                <a:latin typeface="Times New Roman" panose="02020603050405020304" charset="0"/>
                <a:cs typeface="Times New Roman" panose="02020603050405020304" charset="0"/>
              </a:rPr>
              <a:t> unimportant things. (correct)</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1950" y="115570"/>
            <a:ext cx="11015980" cy="945515"/>
          </a:xfrm>
        </p:spPr>
        <p:txBody>
          <a:bodyPr>
            <a:normAutofit fontScale="90000"/>
          </a:bodyPr>
          <a:p>
            <a:pPr algn="ctr"/>
            <a:r>
              <a:rPr lang="en-US" sz="4000" b="1">
                <a:latin typeface="Times New Roman" panose="02020603050405020304" charset="0"/>
                <a:cs typeface="Times New Roman" panose="02020603050405020304" charset="0"/>
              </a:rPr>
              <a:t>NB: CERTAIN VERBS DO NOT NEED PREPOSITIONS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0660" y="1239520"/>
            <a:ext cx="11991340" cy="4782185"/>
          </a:xfrm>
        </p:spPr>
        <p:txBody>
          <a:bodyPr>
            <a:noAutofit/>
          </a:bodyPr>
          <a:p>
            <a:pPr marL="0" indent="0" algn="just">
              <a:buNone/>
            </a:pPr>
            <a:r>
              <a:rPr lang="en-US" sz="3100">
                <a:latin typeface="Times New Roman" panose="02020603050405020304" charset="0"/>
                <a:cs typeface="Times New Roman" panose="02020603050405020304" charset="0"/>
              </a:rPr>
              <a:t>If we attach prepositions to them, it is almost tautological because the sentences get double meaning.</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The student </a:t>
            </a:r>
            <a:r>
              <a:rPr lang="en-US" sz="3100" u="sng">
                <a:latin typeface="Times New Roman" panose="02020603050405020304" charset="0"/>
                <a:cs typeface="Times New Roman" panose="02020603050405020304" charset="0"/>
              </a:rPr>
              <a:t>voiced out</a:t>
            </a:r>
            <a:r>
              <a:rPr lang="en-US" sz="3100">
                <a:latin typeface="Times New Roman" panose="02020603050405020304" charset="0"/>
                <a:cs typeface="Times New Roman" panose="02020603050405020304" charset="0"/>
              </a:rPr>
              <a:t> his opinion.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The student </a:t>
            </a:r>
            <a:r>
              <a:rPr lang="en-US" sz="3100" u="sng">
                <a:latin typeface="Times New Roman" panose="02020603050405020304" charset="0"/>
                <a:cs typeface="Times New Roman" panose="02020603050405020304" charset="0"/>
              </a:rPr>
              <a:t>voiced</a:t>
            </a:r>
            <a:r>
              <a:rPr lang="en-US" sz="3100">
                <a:latin typeface="Times New Roman" panose="02020603050405020304" charset="0"/>
                <a:cs typeface="Times New Roman" panose="02020603050405020304" charset="0"/>
              </a:rPr>
              <a:t> his opinion. (correct)</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The lecturer </a:t>
            </a:r>
            <a:r>
              <a:rPr lang="en-US" sz="3100" u="sng">
                <a:latin typeface="Times New Roman" panose="02020603050405020304" charset="0"/>
                <a:cs typeface="Times New Roman" panose="02020603050405020304" charset="0"/>
              </a:rPr>
              <a:t>highlighted on</a:t>
            </a:r>
            <a:r>
              <a:rPr lang="en-US" sz="3100">
                <a:latin typeface="Times New Roman" panose="02020603050405020304" charset="0"/>
                <a:cs typeface="Times New Roman" panose="02020603050405020304" charset="0"/>
              </a:rPr>
              <a:t> the main ideas.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The lecturer </a:t>
            </a:r>
            <a:r>
              <a:rPr lang="en-US" sz="3100" u="sng">
                <a:latin typeface="Times New Roman" panose="02020603050405020304" charset="0"/>
                <a:cs typeface="Times New Roman" panose="02020603050405020304" charset="0"/>
              </a:rPr>
              <a:t>highlighted</a:t>
            </a:r>
            <a:r>
              <a:rPr lang="en-US" sz="3100">
                <a:latin typeface="Times New Roman" panose="02020603050405020304" charset="0"/>
                <a:cs typeface="Times New Roman" panose="02020603050405020304" charset="0"/>
              </a:rPr>
              <a:t> the main ideas. (correct)</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 The lady </a:t>
            </a:r>
            <a:r>
              <a:rPr lang="en-US" sz="3100" u="sng">
                <a:latin typeface="Times New Roman" panose="02020603050405020304" charset="0"/>
                <a:cs typeface="Times New Roman" panose="02020603050405020304" charset="0"/>
              </a:rPr>
              <a:t>aired out</a:t>
            </a:r>
            <a:r>
              <a:rPr lang="en-US" sz="3100">
                <a:latin typeface="Times New Roman" panose="02020603050405020304" charset="0"/>
                <a:cs typeface="Times New Roman" panose="02020603050405020304" charset="0"/>
              </a:rPr>
              <a:t> her views.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The lady </a:t>
            </a:r>
            <a:r>
              <a:rPr lang="en-US" sz="3100" u="sng">
                <a:latin typeface="Times New Roman" panose="02020603050405020304" charset="0"/>
                <a:cs typeface="Times New Roman" panose="02020603050405020304" charset="0"/>
              </a:rPr>
              <a:t>aired</a:t>
            </a:r>
            <a:r>
              <a:rPr lang="en-US" sz="3100">
                <a:latin typeface="Times New Roman" panose="02020603050405020304" charset="0"/>
                <a:cs typeface="Times New Roman" panose="02020603050405020304" charset="0"/>
              </a:rPr>
              <a:t> her views. (correct)</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1950" y="115570"/>
            <a:ext cx="11015980" cy="945515"/>
          </a:xfrm>
        </p:spPr>
        <p:txBody>
          <a:bodyPr>
            <a:normAutofit fontScale="90000"/>
          </a:bodyPr>
          <a:p>
            <a:pPr algn="ctr"/>
            <a:r>
              <a:rPr lang="en-US" sz="4000" b="1">
                <a:latin typeface="Times New Roman" panose="02020603050405020304" charset="0"/>
                <a:cs typeface="Times New Roman" panose="02020603050405020304" charset="0"/>
              </a:rPr>
              <a:t>NB: CERTAIN VERBS DO NOT NEED PREPOSITIONS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0660" y="1239520"/>
            <a:ext cx="11991340" cy="4782185"/>
          </a:xfrm>
        </p:spPr>
        <p:txBody>
          <a:bodyPr>
            <a:noAutofit/>
          </a:bodyPr>
          <a:p>
            <a:pPr algn="just"/>
            <a:r>
              <a:rPr lang="en-US" sz="3100">
                <a:latin typeface="Times New Roman" panose="02020603050405020304" charset="0"/>
                <a:cs typeface="Times New Roman" panose="02020603050405020304" charset="0"/>
              </a:rPr>
              <a:t>We </a:t>
            </a:r>
            <a:r>
              <a:rPr lang="en-US" sz="3100" u="sng">
                <a:latin typeface="Times New Roman" panose="02020603050405020304" charset="0"/>
                <a:cs typeface="Times New Roman" panose="02020603050405020304" charset="0"/>
              </a:rPr>
              <a:t>discussed about</a:t>
            </a:r>
            <a:r>
              <a:rPr lang="en-US" sz="3100">
                <a:latin typeface="Times New Roman" panose="02020603050405020304" charset="0"/>
                <a:cs typeface="Times New Roman" panose="02020603050405020304" charset="0"/>
              </a:rPr>
              <a:t> our problems.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Answer:</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The student </a:t>
            </a:r>
            <a:r>
              <a:rPr lang="en-US" sz="3100" u="sng">
                <a:latin typeface="Times New Roman" panose="02020603050405020304" charset="0"/>
                <a:cs typeface="Times New Roman" panose="02020603050405020304" charset="0"/>
              </a:rPr>
              <a:t>returned back</a:t>
            </a:r>
            <a:r>
              <a:rPr lang="en-US" sz="3100">
                <a:latin typeface="Times New Roman" panose="02020603050405020304" charset="0"/>
                <a:cs typeface="Times New Roman" panose="02020603050405020304" charset="0"/>
              </a:rPr>
              <a:t> the book.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Answer:</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The police </a:t>
            </a:r>
            <a:r>
              <a:rPr lang="en-US" sz="3100" u="sng">
                <a:latin typeface="Times New Roman" panose="02020603050405020304" charset="0"/>
                <a:cs typeface="Times New Roman" panose="02020603050405020304" charset="0"/>
              </a:rPr>
              <a:t>investigated into</a:t>
            </a:r>
            <a:r>
              <a:rPr lang="en-US" sz="3100">
                <a:latin typeface="Times New Roman" panose="02020603050405020304" charset="0"/>
                <a:cs typeface="Times New Roman" panose="02020603050405020304" charset="0"/>
              </a:rPr>
              <a:t> the case.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Answer:</a:t>
            </a:r>
            <a:endParaRPr lang="en-US" sz="3100">
              <a:latin typeface="Times New Roman" panose="02020603050405020304" charset="0"/>
              <a:cs typeface="Times New Roman" panose="02020603050405020304" charset="0"/>
            </a:endParaRPr>
          </a:p>
          <a:p>
            <a:pPr algn="just"/>
            <a:r>
              <a:rPr lang="en-US" sz="3100">
                <a:latin typeface="Times New Roman" panose="02020603050405020304" charset="0"/>
                <a:cs typeface="Times New Roman" panose="02020603050405020304" charset="0"/>
              </a:rPr>
              <a:t> We </a:t>
            </a:r>
            <a:r>
              <a:rPr lang="en-US" sz="3100" u="sng">
                <a:latin typeface="Times New Roman" panose="02020603050405020304" charset="0"/>
                <a:cs typeface="Times New Roman" panose="02020603050405020304" charset="0"/>
              </a:rPr>
              <a:t>vacated from</a:t>
            </a:r>
            <a:r>
              <a:rPr lang="en-US" sz="3100">
                <a:latin typeface="Times New Roman" panose="02020603050405020304" charset="0"/>
                <a:cs typeface="Times New Roman" panose="02020603050405020304" charset="0"/>
              </a:rPr>
              <a:t> the hostel yesterday. (incorrect)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    Answer:</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0660" y="197485"/>
            <a:ext cx="11872595" cy="945515"/>
          </a:xfrm>
        </p:spPr>
        <p:txBody>
          <a:bodyPr>
            <a:normAutofit fontScale="90000"/>
          </a:bodyPr>
          <a:p>
            <a:pPr algn="ctr"/>
            <a:br>
              <a:rPr lang="en-US" sz="4000" b="1">
                <a:latin typeface="Times New Roman" panose="02020603050405020304" charset="0"/>
                <a:cs typeface="Times New Roman" panose="02020603050405020304" charset="0"/>
              </a:rPr>
            </a:br>
            <a:r>
              <a:rPr lang="en-US" sz="4000" b="1">
                <a:latin typeface="Times New Roman" panose="02020603050405020304" charset="0"/>
                <a:cs typeface="Times New Roman" panose="02020603050405020304" charset="0"/>
              </a:rPr>
              <a:t>COMPLETE THE FOLLOWING SENTENCES WITH THE APPROPRIATE PREPOSITIONS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0660" y="1511300"/>
            <a:ext cx="11991340" cy="5067935"/>
          </a:xfrm>
        </p:spPr>
        <p:txBody>
          <a:bodyPr>
            <a:noAutofit/>
          </a:bodyPr>
          <a:p>
            <a:pPr marL="0" indent="0" algn="just">
              <a:buNone/>
            </a:pPr>
            <a:r>
              <a:rPr lang="en-US" sz="3100">
                <a:latin typeface="Times New Roman" panose="02020603050405020304" charset="0"/>
                <a:cs typeface="Times New Roman" panose="02020603050405020304" charset="0"/>
              </a:rPr>
              <a:t>1. You are blessed ________ many talents.</a:t>
            </a:r>
            <a:endParaRPr lang="en-US" sz="3100">
              <a:latin typeface="Times New Roman" panose="02020603050405020304" charset="0"/>
              <a:cs typeface="Times New Roman" panose="02020603050405020304" charset="0"/>
            </a:endParaRPr>
          </a:p>
          <a:p>
            <a:pPr marL="0" indent="0" algn="just">
              <a:buNone/>
            </a:pP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2. He is very experienced _______ looking after children.</a:t>
            </a:r>
            <a:endParaRPr lang="en-US" sz="3100">
              <a:latin typeface="Times New Roman" panose="02020603050405020304" charset="0"/>
              <a:cs typeface="Times New Roman" panose="02020603050405020304" charset="0"/>
            </a:endParaRPr>
          </a:p>
          <a:p>
            <a:pPr marL="0" indent="0" algn="just">
              <a:buNone/>
            </a:pP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3. The student returned ________ the book to the library.</a:t>
            </a:r>
            <a:endParaRPr lang="en-US" sz="3100">
              <a:latin typeface="Times New Roman" panose="02020603050405020304" charset="0"/>
              <a:cs typeface="Times New Roman" panose="02020603050405020304" charset="0"/>
            </a:endParaRPr>
          </a:p>
          <a:p>
            <a:pPr marL="0" indent="0" algn="just">
              <a:buNone/>
            </a:pP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4. Mary seemed totally absorbed ______ her novel.</a:t>
            </a:r>
            <a:endParaRPr lang="en-US" sz="3100">
              <a:latin typeface="Times New Roman" panose="02020603050405020304" charset="0"/>
              <a:cs typeface="Times New Roman" panose="02020603050405020304" charset="0"/>
            </a:endParaRPr>
          </a:p>
          <a:p>
            <a:pPr marL="0" indent="0" algn="just">
              <a:buNone/>
            </a:pP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5. Serwah committed herself _______ finding a new job.</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0660" y="0"/>
            <a:ext cx="11872595" cy="822960"/>
          </a:xfrm>
        </p:spPr>
        <p:txBody>
          <a:bodyPr>
            <a:normAutofit fontScale="90000"/>
          </a:bodyPr>
          <a:p>
            <a:pPr algn="ctr"/>
            <a:br>
              <a:rPr lang="en-US" sz="4000" b="1">
                <a:latin typeface="Times New Roman" panose="02020603050405020304" charset="0"/>
                <a:cs typeface="Times New Roman" panose="02020603050405020304" charset="0"/>
              </a:rPr>
            </a:br>
            <a:r>
              <a:rPr lang="en-US" sz="4000" b="1">
                <a:latin typeface="Times New Roman" panose="02020603050405020304" charset="0"/>
                <a:cs typeface="Times New Roman" panose="02020603050405020304" charset="0"/>
              </a:rPr>
              <a:t>COMPLETE THE FOLLOWING SENTENCES WITH THE APPROPRIATE PREPOSITIONS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00660" y="1102995"/>
            <a:ext cx="11991340" cy="5476240"/>
          </a:xfrm>
        </p:spPr>
        <p:txBody>
          <a:bodyPr>
            <a:noAutofit/>
          </a:bodyPr>
          <a:p>
            <a:pPr marL="0" indent="0" algn="just">
              <a:buNone/>
            </a:pPr>
            <a:r>
              <a:rPr lang="en-US" sz="3100">
                <a:latin typeface="Times New Roman" panose="02020603050405020304" charset="0"/>
                <a:cs typeface="Times New Roman" panose="02020603050405020304" charset="0"/>
              </a:rPr>
              <a:t>1. I have fondness  ________ exotic chocolate .</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2. I was amazed _______ what she told me.</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3. His plans are a recipe ________ disaster</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4. That accounts ______ his success.</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5. I congratulate you _______ your new appointment.</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6. The speaker higlighted _______ the main points of his presentation.</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7. The detective investigated _______ the burglary case professionally.</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8. There has been a lot of resistance ______ this new directive.</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9. I really admire Naa Adai ______ her dedication to duty.</a:t>
            </a:r>
            <a:endParaRPr lang="en-US" sz="3100">
              <a:latin typeface="Times New Roman" panose="02020603050405020304" charset="0"/>
              <a:cs typeface="Times New Roman" panose="02020603050405020304" charset="0"/>
            </a:endParaRPr>
          </a:p>
          <a:p>
            <a:pPr marL="0" indent="0" algn="just">
              <a:buNone/>
            </a:pPr>
            <a:r>
              <a:rPr lang="en-US" sz="3100">
                <a:latin typeface="Times New Roman" panose="02020603050405020304" charset="0"/>
                <a:cs typeface="Times New Roman" panose="02020603050405020304" charset="0"/>
              </a:rPr>
              <a:t>10. You should read the newspaper to keep abreast _____ current affairs.</a:t>
            </a:r>
            <a:endParaRPr lang="en-US" sz="3100">
              <a:latin typeface="Times New Roman" panose="02020603050405020304" charset="0"/>
              <a:cs typeface="Times New Roman" panose="0202060305040502030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THE SENTENCE AND ITS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pPr marL="0" indent="0">
              <a:buNone/>
            </a:pPr>
            <a:r>
              <a:rPr lang="en-US" sz="12800">
                <a:latin typeface="Times New Roman" panose="02020603050405020304" charset="0"/>
                <a:cs typeface="Times New Roman" panose="02020603050405020304" charset="0"/>
              </a:rPr>
              <a:t>A sentence could be defined as a group of words with a subject and a verb and makes complete sense. Eg:</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1. My students study very hard.</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2. The workers rescinded their decision to go on strike.</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NB: A sentence is always independent. Whereas a sentence is always independent, a clause, on the other hand, is either independent or dependent. Lets analyze the following sentence:</a:t>
            </a:r>
            <a:endParaRPr lang="en-US" sz="12800">
              <a:latin typeface="Times New Roman" panose="02020603050405020304" charset="0"/>
              <a:cs typeface="Times New Roman" panose="02020603050405020304" charset="0"/>
            </a:endParaRPr>
          </a:p>
          <a:p>
            <a:pPr marL="0" indent="0">
              <a:buNone/>
            </a:pPr>
            <a:r>
              <a:rPr lang="en-US" sz="12800">
                <a:latin typeface="Times New Roman" panose="02020603050405020304" charset="0"/>
                <a:cs typeface="Times New Roman" panose="02020603050405020304" charset="0"/>
              </a:rPr>
              <a:t>“You will succeed in life if you work very hard.” The sentence contains two clauses, “You will succeed in life” which stands on its own, makes complete sense and independent. For “If you work very hard,” it is a subordinate clause which is relying on the first clause.</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STRUCTURE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r>
              <a:rPr lang="en-US" sz="12800">
                <a:latin typeface="Times New Roman" panose="02020603050405020304" charset="0"/>
                <a:cs typeface="Times New Roman" panose="02020603050405020304" charset="0"/>
              </a:rPr>
              <a:t>Simple Sentence</a:t>
            </a:r>
            <a:endParaRPr lang="en-US" sz="12800">
              <a:latin typeface="Times New Roman" panose="02020603050405020304" charset="0"/>
              <a:cs typeface="Times New Roman" panose="02020603050405020304" charset="0"/>
            </a:endParaRPr>
          </a:p>
          <a:p>
            <a:r>
              <a:rPr lang="en-US" sz="12800">
                <a:latin typeface="Times New Roman" panose="02020603050405020304" charset="0"/>
                <a:cs typeface="Times New Roman" panose="02020603050405020304" charset="0"/>
              </a:rPr>
              <a:t>Compound Sentence</a:t>
            </a:r>
            <a:endParaRPr lang="en-US" sz="12800">
              <a:latin typeface="Times New Roman" panose="02020603050405020304" charset="0"/>
              <a:cs typeface="Times New Roman" panose="02020603050405020304" charset="0"/>
            </a:endParaRPr>
          </a:p>
          <a:p>
            <a:r>
              <a:rPr lang="en-US" sz="12800">
                <a:latin typeface="Times New Roman" panose="02020603050405020304" charset="0"/>
                <a:cs typeface="Times New Roman" panose="02020603050405020304" charset="0"/>
              </a:rPr>
              <a:t>Complex sentence</a:t>
            </a:r>
            <a:endParaRPr lang="en-US" sz="12800">
              <a:latin typeface="Times New Roman" panose="02020603050405020304" charset="0"/>
              <a:cs typeface="Times New Roman" panose="02020603050405020304" charset="0"/>
            </a:endParaRPr>
          </a:p>
          <a:p>
            <a:r>
              <a:rPr lang="en-US" sz="12800">
                <a:latin typeface="Times New Roman" panose="02020603050405020304" charset="0"/>
                <a:cs typeface="Times New Roman" panose="02020603050405020304" charset="0"/>
              </a:rPr>
              <a:t>Compound-complex sentence</a:t>
            </a: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a:latin typeface="Times New Roman" panose="02020603050405020304" charset="0"/>
                <a:cs typeface="Times New Roman" panose="02020603050405020304" charset="0"/>
              </a:rPr>
              <a:t>Simple Sentence: It is a sentence which consist of one independent clause and has no subordinate clause or clauses. Eg: The fat woman fell.</a:t>
            </a: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a:latin typeface="Times New Roman" panose="02020603050405020304" charset="0"/>
                <a:cs typeface="Times New Roman" panose="02020603050405020304" charset="0"/>
              </a:rPr>
              <a:t>Compound Sentence: It is a sentence made up of two or more independent clauses that have been joined together by a coordinating conjuction. There are no subordinate clauses. Eg: John sold his car and his wife was angry.  </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STRUCTURE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pPr>
              <a:buFont typeface="Wingdings" panose="05000000000000000000" charset="0"/>
              <a:buChar char="v"/>
            </a:pPr>
            <a:r>
              <a:rPr lang="en-US" sz="12800">
                <a:latin typeface="Times New Roman" panose="02020603050405020304" charset="0"/>
                <a:cs typeface="Times New Roman" panose="02020603050405020304" charset="0"/>
              </a:rPr>
              <a:t>Complex Sentence: It is a sentence which consist of an independent clause and one or more subordinate clause or clauses. Eg: When the thief entered the lecture theatre, the instructor stopped speaking and the students were dumbfouded. </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a:latin typeface="Times New Roman" panose="02020603050405020304" charset="0"/>
                <a:cs typeface="Times New Roman" panose="02020603050405020304" charset="0"/>
              </a:rPr>
              <a:t>Compound-complex Sentence: It is a sentence that comprises a compound sentence and one or more subordinate clause(s). Eg: After the thief entered the lecture hall because he missed his way, the lecturer stopped speaking and students were dumbfounded.  </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318135"/>
            <a:ext cx="12193270" cy="739140"/>
          </a:xfrm>
        </p:spPr>
        <p:txBody>
          <a:bodyPr>
            <a:normAutofit fontScale="90000"/>
          </a:bodyPr>
          <a:p>
            <a:pPr algn="ctr"/>
            <a:r>
              <a:rPr lang="en-US" b="1">
                <a:latin typeface="Times New Roman" panose="02020603050405020304" charset="0"/>
                <a:cs typeface="Times New Roman" panose="02020603050405020304" charset="0"/>
              </a:rPr>
              <a:t>IDENTIFY THE FOLLOWING SENTENCES FROM A STRUCTURAL PERSPECTIVE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pPr marL="0" indent="0">
              <a:buFont typeface="Wingdings" panose="05000000000000000000" charset="0"/>
              <a:buNone/>
            </a:pPr>
            <a:r>
              <a:rPr lang="en-US" sz="12800">
                <a:latin typeface="Times New Roman" panose="02020603050405020304" charset="0"/>
                <a:cs typeface="Times New Roman" panose="02020603050405020304" charset="0"/>
              </a:rPr>
              <a:t>1. The pretty young lady who was a past student of UCC won the tertiary beauty contest at the auditorium.</a:t>
            </a: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2. John cried.</a:t>
            </a: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3. I could not join the float to town for I did not have the right costume.</a:t>
            </a: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4. Although I left home early this morning, I was delayed in traffic and I missed my appointment.</a:t>
            </a: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5. In his book, Seeking Greener Pastures, Bob James postulated that many teenage youth had been lured into foreign countries for better life although they become bitter on arrival at their final destinations.</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pPr>
              <a:buFont typeface="Arial" panose="020B0604020202020204" pitchFamily="34" charset="0"/>
              <a:buChar char="•"/>
            </a:pPr>
            <a:r>
              <a:rPr lang="en-US" sz="12800">
                <a:latin typeface="Times New Roman" panose="02020603050405020304" charset="0"/>
                <a:cs typeface="Times New Roman" panose="02020603050405020304" charset="0"/>
              </a:rPr>
              <a:t>Declarative Sentences</a:t>
            </a:r>
            <a:endParaRPr lang="en-US" sz="12800">
              <a:latin typeface="Times New Roman" panose="02020603050405020304" charset="0"/>
              <a:cs typeface="Times New Roman" panose="02020603050405020304" charset="0"/>
            </a:endParaRPr>
          </a:p>
          <a:p>
            <a:pPr>
              <a:buFont typeface="Arial" panose="020B0604020202020204" pitchFamily="34" charset="0"/>
              <a:buChar char="•"/>
            </a:pPr>
            <a:r>
              <a:rPr lang="en-US" sz="12800">
                <a:latin typeface="Times New Roman" panose="02020603050405020304" charset="0"/>
                <a:cs typeface="Times New Roman" panose="02020603050405020304" charset="0"/>
              </a:rPr>
              <a:t>Interrogative Sentences</a:t>
            </a:r>
            <a:endParaRPr lang="en-US" sz="12800">
              <a:latin typeface="Times New Roman" panose="02020603050405020304" charset="0"/>
              <a:cs typeface="Times New Roman" panose="02020603050405020304" charset="0"/>
            </a:endParaRPr>
          </a:p>
          <a:p>
            <a:pPr>
              <a:buFont typeface="Arial" panose="020B0604020202020204" pitchFamily="34" charset="0"/>
              <a:buChar char="•"/>
            </a:pPr>
            <a:r>
              <a:rPr lang="en-US" sz="12800">
                <a:latin typeface="Times New Roman" panose="02020603050405020304" charset="0"/>
                <a:cs typeface="Times New Roman" panose="02020603050405020304" charset="0"/>
              </a:rPr>
              <a:t>Imperative Sentences</a:t>
            </a:r>
            <a:endParaRPr lang="en-US" sz="12800">
              <a:latin typeface="Times New Roman" panose="02020603050405020304" charset="0"/>
              <a:cs typeface="Times New Roman" panose="02020603050405020304" charset="0"/>
            </a:endParaRPr>
          </a:p>
          <a:p>
            <a:pPr>
              <a:buFont typeface="Arial" panose="020B0604020202020204" pitchFamily="34" charset="0"/>
              <a:buChar char="•"/>
            </a:pPr>
            <a:r>
              <a:rPr lang="en-US" sz="12800">
                <a:latin typeface="Times New Roman" panose="02020603050405020304" charset="0"/>
                <a:cs typeface="Times New Roman" panose="02020603050405020304" charset="0"/>
              </a:rPr>
              <a:t>Exclamatory Sentences</a:t>
            </a:r>
            <a:endParaRPr lang="en-US" sz="128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b="1">
                <a:latin typeface="Times New Roman" panose="02020603050405020304" charset="0"/>
                <a:cs typeface="Times New Roman" panose="02020603050405020304" charset="0"/>
              </a:rPr>
              <a:t>A Declarative sentence</a:t>
            </a:r>
            <a:r>
              <a:rPr lang="en-US" sz="12800">
                <a:latin typeface="Times New Roman" panose="02020603050405020304" charset="0"/>
                <a:cs typeface="Times New Roman" panose="02020603050405020304" charset="0"/>
              </a:rPr>
              <a:t> is used to make a statement. The subject is present and generally precedes the verb. Eg: The sandwich courses at UCC are quite intensive. </a:t>
            </a: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b="1">
                <a:latin typeface="Times New Roman" panose="02020603050405020304" charset="0"/>
                <a:cs typeface="Times New Roman" panose="02020603050405020304" charset="0"/>
              </a:rPr>
              <a:t>An Interrogative sentence</a:t>
            </a:r>
            <a:r>
              <a:rPr lang="en-US" sz="12800">
                <a:latin typeface="Times New Roman" panose="02020603050405020304" charset="0"/>
                <a:cs typeface="Times New Roman" panose="02020603050405020304" charset="0"/>
              </a:rPr>
              <a:t> is used to ask a question. They are in different categories: “yes-no” question. It demands a response from the </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506220"/>
            <a:ext cx="12192000" cy="5351780"/>
          </a:xfrm>
        </p:spPr>
        <p:txBody>
          <a:bodyPr>
            <a:normAutofit fontScale="25000"/>
          </a:bodyPr>
          <a:p>
            <a:pPr marL="0" indent="0">
              <a:buFont typeface="Arial" panose="020B0604020202020204" pitchFamily="34" charset="0"/>
              <a:buNone/>
            </a:pPr>
            <a:r>
              <a:rPr lang="en-US" sz="12800">
                <a:latin typeface="Times New Roman" panose="02020603050405020304" charset="0"/>
                <a:cs typeface="Times New Roman" panose="02020603050405020304" charset="0"/>
              </a:rPr>
              <a:t>addressee, “yes” or “no” response which is either a confirmation or a rejection. Eg: Did you write the unexpected quiz?</a:t>
            </a:r>
            <a:endParaRPr lang="en-US" sz="12800">
              <a:latin typeface="Times New Roman" panose="02020603050405020304" charset="0"/>
              <a:cs typeface="Times New Roman" panose="02020603050405020304" charset="0"/>
            </a:endParaRPr>
          </a:p>
          <a:p>
            <a:pPr marL="0" indent="0">
              <a:buFont typeface="Arial" panose="020B0604020202020204" pitchFamily="34" charset="0"/>
              <a:buNone/>
            </a:pPr>
            <a:r>
              <a:rPr lang="en-US" sz="12800">
                <a:latin typeface="Times New Roman" panose="02020603050405020304" charset="0"/>
                <a:cs typeface="Times New Roman" panose="02020603050405020304" charset="0"/>
              </a:rPr>
              <a:t>Another interrogative sentence is “Where do you come from?”. This is referred to as “Wh” question. Such as, what, which, whom, where, whose,, why, when, how.</a:t>
            </a:r>
            <a:endParaRPr lang="en-US" sz="12800">
              <a:latin typeface="Times New Roman" panose="02020603050405020304" charset="0"/>
              <a:cs typeface="Times New Roman" panose="02020603050405020304" charset="0"/>
            </a:endParaRPr>
          </a:p>
          <a:p>
            <a:pPr marL="0" indent="0">
              <a:buFont typeface="Arial" panose="020B0604020202020204" pitchFamily="34" charset="0"/>
              <a:buNone/>
            </a:pPr>
            <a:r>
              <a:rPr lang="en-US" sz="12800">
                <a:latin typeface="Times New Roman" panose="02020603050405020304" charset="0"/>
                <a:cs typeface="Times New Roman" panose="02020603050405020304" charset="0"/>
              </a:rPr>
              <a:t>The third type of the interrogative sentence  is the alternative question. It can either take the form of a yes-no or wh type of question. Such sentences offer options. Eg: “Would you like to marry a Ghanaian woman or an American one?” “What would you like to drink? Beer or coke?</a:t>
            </a: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b="1">
                <a:latin typeface="Times New Roman" panose="02020603050405020304" charset="0"/>
                <a:cs typeface="Times New Roman" panose="02020603050405020304" charset="0"/>
              </a:rPr>
              <a:t>Imperative sentence </a:t>
            </a:r>
            <a:r>
              <a:rPr lang="en-US" sz="12800">
                <a:latin typeface="Times New Roman" panose="02020603050405020304" charset="0"/>
                <a:cs typeface="Times New Roman" panose="02020603050405020304" charset="0"/>
              </a:rPr>
              <a:t>is used to give commands, orders or instructions.</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61440"/>
            <a:ext cx="12192000" cy="5351780"/>
          </a:xfrm>
        </p:spPr>
        <p:txBody>
          <a:bodyPr>
            <a:normAutofit fontScale="25000"/>
          </a:bodyPr>
          <a:p>
            <a:pPr marL="0" indent="0">
              <a:buFont typeface="Arial" panose="020B0604020202020204" pitchFamily="34" charset="0"/>
              <a:buNone/>
            </a:pPr>
            <a:r>
              <a:rPr lang="en-US" sz="12800">
                <a:latin typeface="Times New Roman" panose="02020603050405020304" charset="0"/>
                <a:cs typeface="Times New Roman" panose="02020603050405020304" charset="0"/>
              </a:rPr>
              <a:t>Eg: “Close the door.” “Come here.” “Wash the car.” The imperative sentences above are introduced by imperative verbs followed by other clausal elements. In general, an imperative sentence has no subject; however, the subject is understood as the second person singular pronoun “you”. Note that sometimes the subject can come at the end like an address, as in: “Bring out the chairs, John.”</a:t>
            </a:r>
            <a:endParaRPr lang="en-US" sz="12800">
              <a:latin typeface="Times New Roman" panose="02020603050405020304" charset="0"/>
              <a:cs typeface="Times New Roman" panose="02020603050405020304" charset="0"/>
            </a:endParaRPr>
          </a:p>
          <a:p>
            <a:pPr marL="0" indent="0">
              <a:buFont typeface="Arial" panose="020B0604020202020204" pitchFamily="34" charset="0"/>
              <a:buNone/>
            </a:pPr>
            <a:r>
              <a:rPr lang="en-US" sz="12800">
                <a:latin typeface="Times New Roman" panose="02020603050405020304" charset="0"/>
                <a:cs typeface="Times New Roman" panose="02020603050405020304" charset="0"/>
              </a:rPr>
              <a:t>Most imperative sentences are second person commands in which the subject “you” is implied. Imperative sentences seek to influence the behaviour or action of the person addressed.</a:t>
            </a:r>
            <a:endParaRPr lang="en-US" sz="12800">
              <a:latin typeface="Times New Roman" panose="02020603050405020304" charset="0"/>
              <a:cs typeface="Times New Roman" panose="02020603050405020304" charset="0"/>
            </a:endParaRPr>
          </a:p>
          <a:p>
            <a:pPr>
              <a:buFont typeface="Wingdings" panose="05000000000000000000" charset="0"/>
              <a:buChar char="v"/>
            </a:pPr>
            <a:r>
              <a:rPr lang="en-US" sz="12800" b="1">
                <a:latin typeface="Times New Roman" panose="02020603050405020304" charset="0"/>
                <a:cs typeface="Times New Roman" panose="02020603050405020304" charset="0"/>
              </a:rPr>
              <a:t>Exclamatory sentence</a:t>
            </a:r>
            <a:r>
              <a:rPr lang="en-US" sz="12800">
                <a:latin typeface="Times New Roman" panose="02020603050405020304" charset="0"/>
                <a:cs typeface="Times New Roman" panose="02020603050405020304" charset="0"/>
              </a:rPr>
              <a:t> is used to express the speaker’s feelings or attitude. The following structures are examples of exclamatory sentences: “What a beautiful wife you have!”</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fontScale="90000"/>
          </a:bodyPr>
          <a:p>
            <a:pPr algn="ctr"/>
            <a:r>
              <a:rPr lang="en-US" b="1">
                <a:latin typeface="Times New Roman" panose="02020603050405020304" charset="0"/>
                <a:cs typeface="Times New Roman" panose="02020603050405020304" charset="0"/>
              </a:rPr>
              <a:t>CLASSIFYING SENTENCE TYPES ACCORDING TO THEIR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61440"/>
            <a:ext cx="12192000" cy="5351780"/>
          </a:xfrm>
        </p:spPr>
        <p:txBody>
          <a:bodyPr>
            <a:normAutofit fontScale="25000"/>
          </a:bodyPr>
          <a:p>
            <a:pPr marL="0" indent="0">
              <a:buFont typeface="Arial" panose="020B0604020202020204" pitchFamily="34" charset="0"/>
              <a:buNone/>
            </a:pPr>
            <a:r>
              <a:rPr lang="en-US" sz="12800">
                <a:latin typeface="Times New Roman" panose="02020603050405020304" charset="0"/>
                <a:cs typeface="Times New Roman" panose="02020603050405020304" charset="0"/>
              </a:rPr>
              <a:t> “How brilliant Edward is!” “How rhythmically Keren sings!”</a:t>
            </a:r>
            <a:endParaRPr lang="en-US" sz="12800">
              <a:latin typeface="Times New Roman" panose="02020603050405020304" charset="0"/>
              <a:cs typeface="Times New Roman" panose="02020603050405020304" charset="0"/>
            </a:endParaRPr>
          </a:p>
          <a:p>
            <a:pPr marL="0" indent="0">
              <a:buFont typeface="Arial" panose="020B0604020202020204" pitchFamily="34" charset="0"/>
              <a:buNone/>
            </a:pPr>
            <a:r>
              <a:rPr lang="en-US" sz="12800">
                <a:latin typeface="Times New Roman" panose="02020603050405020304" charset="0"/>
                <a:cs typeface="Times New Roman" panose="02020603050405020304" charset="0"/>
              </a:rPr>
              <a:t>In structure, the sentence is introduced by a wh-word which is either “what” or “how”. This is followed by the element that is exclaimed. The exclamatory element can be an object, a complement or an adverbial. This is then followed by the subject and finite verb. The first exclamatory sentence above is introduced by the wh-word “what”. This is followed by the noun phrase “a beautiful woman” which is functioning as object of the verb “have”. The noun phrase in context is the element that is exclaimed. The pronoun “you” in the structure is the subject and “have” is he finite verb. The first exclamatory sentence above has the structure: what + object + subject + verb. </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318135"/>
            <a:ext cx="12193270" cy="739140"/>
          </a:xfrm>
        </p:spPr>
        <p:txBody>
          <a:bodyPr>
            <a:normAutofit fontScale="90000"/>
          </a:bodyPr>
          <a:p>
            <a:pPr algn="ctr"/>
            <a:r>
              <a:rPr lang="en-US" b="1">
                <a:latin typeface="Times New Roman" panose="02020603050405020304" charset="0"/>
                <a:cs typeface="Times New Roman" panose="02020603050405020304" charset="0"/>
              </a:rPr>
              <a:t>IDENTIFY THE FOLLOWING SENTENCES BASED ON THEIR COMMUNICATIVE FUNCTIONS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379220"/>
            <a:ext cx="12192000" cy="5351780"/>
          </a:xfrm>
        </p:spPr>
        <p:txBody>
          <a:bodyPr>
            <a:normAutofit fontScale="25000"/>
          </a:bodyPr>
          <a:p>
            <a:pPr marL="0" indent="0">
              <a:buFont typeface="Wingdings" panose="05000000000000000000" charset="0"/>
              <a:buNone/>
            </a:pPr>
            <a:r>
              <a:rPr lang="en-US" sz="12800">
                <a:latin typeface="Times New Roman" panose="02020603050405020304" charset="0"/>
                <a:cs typeface="Times New Roman" panose="02020603050405020304" charset="0"/>
              </a:rPr>
              <a:t>1. What a wonderful time we had at the beach.</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2. How would you like to submit your assignment?</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3. Register your courses on time.</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4. Practice exercise is for all students to know the extent of comprehension of the lecture.</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Font typeface="Wingdings" panose="05000000000000000000" charset="0"/>
              <a:buNone/>
            </a:pPr>
            <a:r>
              <a:rPr lang="en-US" sz="12800">
                <a:latin typeface="Times New Roman" panose="02020603050405020304" charset="0"/>
                <a:cs typeface="Times New Roman" panose="02020603050405020304" charset="0"/>
              </a:rPr>
              <a:t>5. Submit your assignment online tomorrow.</a:t>
            </a:r>
            <a:endParaRPr lang="en-US" sz="12800">
              <a:latin typeface="Times New Roman" panose="02020603050405020304" charset="0"/>
              <a:cs typeface="Times New Roman" panose="02020603050405020304" charset="0"/>
            </a:endParaRPr>
          </a:p>
          <a:p>
            <a:pPr marL="0" indent="0">
              <a:buFont typeface="Wingdings" panose="05000000000000000000" charse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a:bodyPr>
          <a:p>
            <a:pPr algn="ctr"/>
            <a:r>
              <a:rPr lang="en-US" b="1">
                <a:latin typeface="Times New Roman" panose="02020603050405020304" charset="0"/>
                <a:cs typeface="Times New Roman" panose="02020603050405020304" charset="0"/>
              </a:rPr>
              <a:t>COORDINATION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204595"/>
            <a:ext cx="12192000" cy="5351780"/>
          </a:xfrm>
        </p:spPr>
        <p:txBody>
          <a:bodyPr>
            <a:normAutofit fontScale="30000"/>
          </a:bodyPr>
          <a:p>
            <a:pPr marL="0" indent="0">
              <a:buFont typeface="Arial" panose="020B0604020202020204" pitchFamily="34" charset="0"/>
              <a:buNone/>
            </a:pPr>
            <a:r>
              <a:rPr lang="en-US" sz="12800">
                <a:latin typeface="Times New Roman" panose="02020603050405020304" charset="0"/>
                <a:cs typeface="Times New Roman" panose="02020603050405020304" charset="0"/>
              </a:rPr>
              <a:t>Coordination is the process of joining two or more main clauses together using coordinating conjunctions. The coordinating conjuctions include: for, and, nor, but, or, yet and so. They go by the acronym “FAN BOYS”. Coordinating is the simple processes for forming compound sentences in English Language. It is also relevant in forming compound complex sentences.</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318135"/>
            <a:ext cx="12192635" cy="739140"/>
          </a:xfrm>
        </p:spPr>
        <p:txBody>
          <a:bodyPr>
            <a:normAutofit fontScale="90000"/>
          </a:bodyPr>
          <a:p>
            <a:pPr algn="ctr"/>
            <a:r>
              <a:rPr lang="en-US" b="1">
                <a:latin typeface="Times New Roman" panose="02020603050405020304" charset="0"/>
                <a:cs typeface="Times New Roman" panose="02020603050405020304" charset="0"/>
              </a:rPr>
              <a:t>JOIN THE FOLLOWING SENTENCES TOGETHER USING THE PROCESS OF COORDINATION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204595"/>
            <a:ext cx="12192000" cy="5351780"/>
          </a:xfrm>
        </p:spPr>
        <p:txBody>
          <a:bodyPr>
            <a:normAutofit fontScale="25000"/>
          </a:bodyPr>
          <a:p>
            <a:pPr marL="0" indent="0">
              <a:buFont typeface="Arial" panose="020B0604020202020204" pitchFamily="34" charset="0"/>
              <a:buNone/>
            </a:pPr>
            <a:r>
              <a:rPr lang="en-US" sz="12000">
                <a:latin typeface="Times New Roman" panose="02020603050405020304" charset="0"/>
                <a:cs typeface="Times New Roman" panose="02020603050405020304" charset="0"/>
              </a:rPr>
              <a:t>1. Ama is a beautiful girl. Ama is very intelligent.</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2. You are neither a student of the Bible. You are student of the Quran.</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3. Andrew will attend the birthday celebration of his fiance. Andrew will go for the 60th anniversary of his former senior secondary school.</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4. Kofi is graduating from Harvard University with a master’s degree in advertising agency to help solve marketing problems.  </a:t>
            </a:r>
            <a:endParaRPr lang="en-US" sz="12000">
              <a:latin typeface="Times New Roman" panose="02020603050405020304" charset="0"/>
              <a:cs typeface="Times New Roman" panose="02020603050405020304" charset="0"/>
            </a:endParaRPr>
          </a:p>
          <a:p>
            <a:pPr marL="0" indent="0">
              <a:buNone/>
            </a:pPr>
            <a:endParaRPr lang="en-US" sz="120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318135"/>
            <a:ext cx="11844655" cy="739140"/>
          </a:xfrm>
        </p:spPr>
        <p:txBody>
          <a:bodyPr>
            <a:normAutofit/>
          </a:bodyPr>
          <a:p>
            <a:pPr algn="ctr"/>
            <a:r>
              <a:rPr lang="en-US" b="1">
                <a:latin typeface="Times New Roman" panose="02020603050405020304" charset="0"/>
                <a:cs typeface="Times New Roman" panose="02020603050405020304" charset="0"/>
              </a:rPr>
              <a:t>SUBORDINATION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204595"/>
            <a:ext cx="12192000" cy="5351780"/>
          </a:xfrm>
        </p:spPr>
        <p:txBody>
          <a:bodyPr>
            <a:normAutofit fontScale="30000"/>
          </a:bodyPr>
          <a:p>
            <a:pPr marL="0" indent="0">
              <a:buFont typeface="Arial" panose="020B0604020202020204" pitchFamily="34" charset="0"/>
              <a:buNone/>
            </a:pPr>
            <a:r>
              <a:rPr lang="en-US" sz="12800">
                <a:latin typeface="Times New Roman" panose="02020603050405020304" charset="0"/>
                <a:cs typeface="Times New Roman" panose="02020603050405020304" charset="0"/>
              </a:rPr>
              <a:t>Subordination is the process of joining or combining two or more dependent clauses to one or more independent clause(s) in a sentence structure. The subordinating conjuctions include: if, as, since, though, although, when, because, even though, among others. Subordination is relevant in forming complex sentences and compound complex sentences.</a:t>
            </a:r>
            <a:endParaRPr lang="en-US" sz="12800">
              <a:latin typeface="Times New Roman" panose="02020603050405020304" charset="0"/>
              <a:cs typeface="Times New Roman" panose="02020603050405020304" charset="0"/>
            </a:endParaRPr>
          </a:p>
          <a:p>
            <a:pPr marL="0" indent="0">
              <a:buNone/>
            </a:pPr>
            <a:endParaRPr lang="en-US" sz="128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318135"/>
            <a:ext cx="12192635" cy="739140"/>
          </a:xfrm>
        </p:spPr>
        <p:txBody>
          <a:bodyPr>
            <a:normAutofit fontScale="90000"/>
          </a:bodyPr>
          <a:p>
            <a:pPr algn="ctr"/>
            <a:r>
              <a:rPr lang="en-US" b="1">
                <a:latin typeface="Times New Roman" panose="02020603050405020304" charset="0"/>
                <a:cs typeface="Times New Roman" panose="02020603050405020304" charset="0"/>
              </a:rPr>
              <a:t>JOIN THE FOLLOWING SENTENCES TOGETHER USING THE PROCESS OF SUBORDINATION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204595"/>
            <a:ext cx="12192000" cy="5558155"/>
          </a:xfrm>
        </p:spPr>
        <p:txBody>
          <a:bodyPr>
            <a:normAutofit fontScale="25000"/>
          </a:bodyPr>
          <a:p>
            <a:pPr marL="0" indent="0">
              <a:buFont typeface="Arial" panose="020B0604020202020204" pitchFamily="34" charset="0"/>
              <a:buNone/>
            </a:pPr>
            <a:r>
              <a:rPr lang="en-US" sz="12000">
                <a:latin typeface="Times New Roman" panose="02020603050405020304" charset="0"/>
                <a:cs typeface="Times New Roman" panose="02020603050405020304" charset="0"/>
              </a:rPr>
              <a:t>1. I like to dance. I am happy.</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2. I will return the book. I have finished reading it.</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3. I love to articulate public speakers. They know how to use rhetoric.</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4. You have to prepare to meet me. I cannot wait to give you the gift. </a:t>
            </a:r>
            <a:r>
              <a:rPr lang="en-US" sz="12000">
                <a:latin typeface="Times New Roman" panose="02020603050405020304" charset="0"/>
                <a:cs typeface="Times New Roman" panose="02020603050405020304" charset="0"/>
                <a:sym typeface="+mn-ea"/>
              </a:rPr>
              <a:t>I will see you tomorrow.</a:t>
            </a:r>
            <a:r>
              <a:rPr lang="en-US" sz="12000">
                <a:latin typeface="Times New Roman" panose="02020603050405020304" charset="0"/>
                <a:cs typeface="Times New Roman" panose="02020603050405020304" charset="0"/>
                <a:sym typeface="+mn-ea"/>
              </a:rPr>
              <a:t> </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5. Remember me in prayers. I am applying for scholarship. I want to continue with masters after the undergraduate programme.  </a:t>
            </a:r>
            <a:endParaRPr lang="en-US" sz="12000">
              <a:latin typeface="Times New Roman" panose="02020603050405020304" charset="0"/>
              <a:cs typeface="Times New Roman" panose="02020603050405020304" charset="0"/>
            </a:endParaRPr>
          </a:p>
          <a:p>
            <a:pPr marL="0" indent="0">
              <a:buNone/>
            </a:pPr>
            <a:endParaRPr lang="en-US" sz="120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361315"/>
            <a:ext cx="12192635" cy="955675"/>
          </a:xfrm>
        </p:spPr>
        <p:txBody>
          <a:bodyPr>
            <a:normAutofit fontScale="90000"/>
          </a:bodyPr>
          <a:p>
            <a:pPr algn="ctr"/>
            <a:r>
              <a:rPr lang="en-US" sz="4000" b="1">
                <a:latin typeface="Times New Roman" panose="02020603050405020304" charset="0"/>
                <a:cs typeface="Times New Roman" panose="02020603050405020304" charset="0"/>
              </a:rPr>
              <a:t>COMBINE EACH OF THE FOLLOWING SENTENCES INTO A MEANINGFUL SINGLE SENTENCE BY THE PROCESS INDICATED IN BRACKETS</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1715135"/>
            <a:ext cx="12192000" cy="5142230"/>
          </a:xfrm>
        </p:spPr>
        <p:txBody>
          <a:bodyPr>
            <a:normAutofit fontScale="25000"/>
          </a:bodyPr>
          <a:p>
            <a:pPr marL="0" indent="0">
              <a:buFont typeface="Arial" panose="020B0604020202020204" pitchFamily="34" charset="0"/>
              <a:buNone/>
            </a:pPr>
            <a:r>
              <a:rPr lang="en-US" sz="12000">
                <a:latin typeface="Times New Roman" panose="02020603050405020304" charset="0"/>
                <a:cs typeface="Times New Roman" panose="02020603050405020304" charset="0"/>
              </a:rPr>
              <a:t>1. I did not believe the “No” from her lips. I saw the “Yes” in her eyes. (Coordination).</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2. The entire ground was covered by snow. It was difficult to see the road. (Coordination).</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3. The students left their hostels early in the morning. They wanted to arrive at the examination hall before the exams started. (Subordination).</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4. Sarah hates public speaking. She gave a speech in honour of her favourite charity. (Subordination). </a:t>
            </a:r>
            <a:endParaRPr lang="en-US" sz="12000">
              <a:latin typeface="Times New Roman" panose="02020603050405020304" charset="0"/>
              <a:cs typeface="Times New Roman" panose="02020603050405020304" charset="0"/>
            </a:endParaRPr>
          </a:p>
          <a:p>
            <a:pPr marL="0" indent="0">
              <a:buFont typeface="Arial" panose="020B0604020202020204" pitchFamily="34" charset="0"/>
              <a:buNone/>
            </a:pPr>
            <a:r>
              <a:rPr lang="en-US" sz="12000">
                <a:latin typeface="Times New Roman" panose="02020603050405020304" charset="0"/>
                <a:cs typeface="Times New Roman" panose="02020603050405020304" charset="0"/>
              </a:rPr>
              <a:t>5. Plants grow best outdoors in fresh air. Many plants can be grown successfully indoors. Plants are given good care. (Coordination &amp; Subordination)</a:t>
            </a:r>
            <a:endParaRPr lang="en-US" sz="12000">
              <a:latin typeface="Times New Roman" panose="02020603050405020304" charset="0"/>
              <a:cs typeface="Times New Roman" panose="02020603050405020304" charset="0"/>
            </a:endParaRPr>
          </a:p>
          <a:p>
            <a:pPr marL="0" indent="0">
              <a:buNone/>
            </a:pPr>
            <a:endParaRPr lang="en-US" sz="12000">
              <a:latin typeface="Times New Roman" panose="02020603050405020304" charset="0"/>
              <a:cs typeface="Times New Roman" panose="02020603050405020304" charset="0"/>
            </a:endParaRPr>
          </a:p>
          <a:p>
            <a:pPr marL="0" indent="0">
              <a:buNone/>
            </a:pPr>
            <a:r>
              <a:rPr lang="en-US" sz="3600">
                <a:latin typeface="Times New Roman" panose="02020603050405020304" charset="0"/>
                <a:cs typeface="Times New Roman" panose="02020603050405020304" charset="0"/>
              </a:rPr>
              <a:t> </a:t>
            </a:r>
            <a:endParaRPr lang="en-US" sz="3600">
              <a:latin typeface="Times New Roman" panose="02020603050405020304" charset="0"/>
              <a:cs typeface="Times New Roman" panose="02020603050405020304" charset="0"/>
            </a:endParaRPr>
          </a:p>
        </p:txBody>
      </p:sp>
      <p:sp>
        <p:nvSpPr>
          <p:cNvPr id="4" name="Text Box 3"/>
          <p:cNvSpPr txBox="1"/>
          <p:nvPr/>
        </p:nvSpPr>
        <p:spPr>
          <a:xfrm>
            <a:off x="-77470" y="503555"/>
            <a:ext cx="309880" cy="368300"/>
          </a:xfrm>
          <a:prstGeom prst="rect">
            <a:avLst/>
          </a:prstGeom>
          <a:noFill/>
        </p:spPr>
        <p:txBody>
          <a:bodyPr wrap="none" rtlCol="0">
            <a:spAutoFit/>
          </a:bodyPr>
          <a:p>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3350"/>
            <a:ext cx="10515600" cy="894715"/>
          </a:xfrm>
        </p:spPr>
        <p:txBody>
          <a:bodyPr/>
          <a:p>
            <a:pPr algn="ctr"/>
            <a:r>
              <a:rPr lang="en-US" sz="4000" b="1">
                <a:latin typeface="Times New Roman" panose="02020603050405020304" charset="0"/>
                <a:cs typeface="Times New Roman" panose="02020603050405020304" charset="0"/>
              </a:rPr>
              <a:t>CONCORD</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812165"/>
            <a:ext cx="12190730" cy="5922645"/>
          </a:xfrm>
        </p:spPr>
        <p:txBody>
          <a:bodyPr>
            <a:noAutofit/>
          </a:bodyPr>
          <a:p>
            <a:pPr marL="0" indent="0">
              <a:lnSpc>
                <a:spcPct val="100000"/>
              </a:lnSpc>
              <a:buNone/>
            </a:pPr>
            <a:r>
              <a:rPr lang="en-US">
                <a:latin typeface="Times New Roman" panose="02020603050405020304" charset="0"/>
                <a:cs typeface="Times New Roman" panose="02020603050405020304" charset="0"/>
              </a:rPr>
              <a:t>Concord is the relationship among words in a sentence. It does not only refer to subject verb agreement in a sentence, but also, any relations that exist among different elements in a sentence. It can be seen as different parts of a sentence such as:</a:t>
            </a:r>
            <a:endParaRPr lang="en-US">
              <a:latin typeface="Times New Roman" panose="02020603050405020304" charset="0"/>
              <a:cs typeface="Times New Roman" panose="02020603050405020304" charset="0"/>
            </a:endParaRPr>
          </a:p>
          <a:p>
            <a:pPr marL="514350" indent="-514350">
              <a:buFont typeface="+mj-lt"/>
              <a:buAutoNum type="alphaLcParenR"/>
            </a:pPr>
            <a:r>
              <a:rPr lang="en-US" b="1">
                <a:latin typeface="Times New Roman" panose="02020603050405020304" charset="0"/>
                <a:cs typeface="Times New Roman" panose="02020603050405020304" charset="0"/>
              </a:rPr>
              <a:t>Pronoun-antecedent concord</a:t>
            </a:r>
            <a:r>
              <a:rPr lang="en-US">
                <a:latin typeface="Times New Roman" panose="02020603050405020304" charset="0"/>
                <a:cs typeface="Times New Roman" panose="02020603050405020304" charset="0"/>
              </a:rPr>
              <a:t> occurs when the pronoun and the noun agree in number, gender and person. For instance, Ama loves </a:t>
            </a:r>
            <a:r>
              <a:rPr lang="en-US" b="1">
                <a:latin typeface="Times New Roman" panose="02020603050405020304" charset="0"/>
                <a:cs typeface="Times New Roman" panose="02020603050405020304" charset="0"/>
              </a:rPr>
              <a:t>Kofi</a:t>
            </a:r>
            <a:r>
              <a:rPr lang="en-US">
                <a:latin typeface="Times New Roman" panose="02020603050405020304" charset="0"/>
                <a:cs typeface="Times New Roman" panose="02020603050405020304" charset="0"/>
              </a:rPr>
              <a:t> because </a:t>
            </a:r>
            <a:r>
              <a:rPr lang="en-US" b="1">
                <a:latin typeface="Times New Roman" panose="02020603050405020304" charset="0"/>
                <a:cs typeface="Times New Roman" panose="02020603050405020304" charset="0"/>
              </a:rPr>
              <a:t>he</a:t>
            </a:r>
            <a:r>
              <a:rPr lang="en-US">
                <a:latin typeface="Times New Roman" panose="02020603050405020304" charset="0"/>
                <a:cs typeface="Times New Roman" panose="02020603050405020304" charset="0"/>
              </a:rPr>
              <a:t> is intelligent. The pronoun, </a:t>
            </a:r>
            <a:r>
              <a:rPr lang="en-US" b="1">
                <a:latin typeface="Times New Roman" panose="02020603050405020304" charset="0"/>
                <a:cs typeface="Times New Roman" panose="02020603050405020304" charset="0"/>
              </a:rPr>
              <a:t>he</a:t>
            </a:r>
            <a:r>
              <a:rPr lang="en-US">
                <a:latin typeface="Times New Roman" panose="02020603050405020304" charset="0"/>
                <a:cs typeface="Times New Roman" panose="02020603050405020304" charset="0"/>
              </a:rPr>
              <a:t> has replaced the noun </a:t>
            </a:r>
            <a:r>
              <a:rPr lang="en-US" b="1">
                <a:latin typeface="Times New Roman" panose="02020603050405020304" charset="0"/>
                <a:cs typeface="Times New Roman" panose="02020603050405020304" charset="0"/>
              </a:rPr>
              <a:t>Kofi</a:t>
            </a:r>
            <a:r>
              <a:rPr lang="en-US">
                <a:latin typeface="Times New Roman" panose="02020603050405020304" charset="0"/>
                <a:cs typeface="Times New Roman" panose="02020603050405020304" charset="0"/>
              </a:rPr>
              <a:t> but in this case, the pronoun, </a:t>
            </a:r>
            <a:r>
              <a:rPr lang="en-US" b="1">
                <a:latin typeface="Times New Roman" panose="02020603050405020304" charset="0"/>
                <a:cs typeface="Times New Roman" panose="02020603050405020304" charset="0"/>
              </a:rPr>
              <a:t>he</a:t>
            </a:r>
            <a:r>
              <a:rPr lang="en-US">
                <a:latin typeface="Times New Roman" panose="02020603050405020304" charset="0"/>
                <a:cs typeface="Times New Roman" panose="02020603050405020304" charset="0"/>
              </a:rPr>
              <a:t>, is a singular masculine third person pronoun. </a:t>
            </a:r>
            <a:endParaRPr lang="en-US">
              <a:latin typeface="Times New Roman" panose="02020603050405020304" charset="0"/>
              <a:cs typeface="Times New Roman" panose="02020603050405020304" charset="0"/>
            </a:endParaRPr>
          </a:p>
          <a:p>
            <a:pPr marL="514350" indent="-514350">
              <a:buFont typeface="+mj-lt"/>
              <a:buAutoNum type="alphaLcParenR"/>
            </a:pPr>
            <a:r>
              <a:rPr lang="en-US" b="1">
                <a:latin typeface="Times New Roman" panose="02020603050405020304" charset="0"/>
                <a:cs typeface="Times New Roman" panose="02020603050405020304" charset="0"/>
              </a:rPr>
              <a:t>Subject-verb agreement </a:t>
            </a:r>
            <a:r>
              <a:rPr lang="en-US">
                <a:latin typeface="Times New Roman" panose="02020603050405020304" charset="0"/>
                <a:cs typeface="Times New Roman" panose="02020603050405020304" charset="0"/>
              </a:rPr>
              <a:t>occurs when the verb takes the subject correctly in terms of number and person. In this context, a singular subject agrees with a singular verb while a plural subject agrees with the verb in a plural form. </a:t>
            </a:r>
            <a:endParaRPr lang="en-US">
              <a:latin typeface="Times New Roman" panose="02020603050405020304" charset="0"/>
              <a:cs typeface="Times New Roman" panose="02020603050405020304" charset="0"/>
            </a:endParaRPr>
          </a:p>
          <a:p>
            <a:pPr marL="514350" indent="-514350">
              <a:buFont typeface="+mj-lt"/>
              <a:buAutoNum type="alphaLcParenR"/>
            </a:pPr>
            <a:r>
              <a:rPr lang="en-US" b="1">
                <a:latin typeface="Times New Roman" panose="02020603050405020304" charset="0"/>
                <a:cs typeface="Times New Roman" panose="02020603050405020304" charset="0"/>
              </a:rPr>
              <a:t>Subject-complement concord</a:t>
            </a:r>
            <a:r>
              <a:rPr lang="en-US">
                <a:latin typeface="Times New Roman" panose="02020603050405020304" charset="0"/>
                <a:cs typeface="Times New Roman" panose="02020603050405020304" charset="0"/>
              </a:rPr>
              <a:t> refers to the agreement between the subject of the sentence and its complement. The complement can be a noun, noun phrase or an adjective. For eg: </a:t>
            </a:r>
            <a:r>
              <a:rPr lang="en-US" b="1">
                <a:latin typeface="Times New Roman" panose="02020603050405020304" charset="0"/>
                <a:cs typeface="Times New Roman" panose="02020603050405020304" charset="0"/>
              </a:rPr>
              <a:t>The man</a:t>
            </a:r>
            <a:r>
              <a:rPr lang="en-US">
                <a:latin typeface="Times New Roman" panose="02020603050405020304" charset="0"/>
                <a:cs typeface="Times New Roman" panose="02020603050405020304" charset="0"/>
              </a:rPr>
              <a:t> is a </a:t>
            </a:r>
            <a:r>
              <a:rPr lang="en-US" b="1">
                <a:latin typeface="Times New Roman" panose="02020603050405020304" charset="0"/>
                <a:cs typeface="Times New Roman" panose="02020603050405020304" charset="0"/>
              </a:rPr>
              <a:t>prince</a:t>
            </a:r>
            <a:r>
              <a:rPr lang="en-US">
                <a:latin typeface="Times New Roman" panose="02020603050405020304" charset="0"/>
                <a:cs typeface="Times New Roman" panose="02020603050405020304" charset="0"/>
              </a:rPr>
              <a:t>.      </a:t>
            </a:r>
            <a:r>
              <a:rPr lang="en-US" b="1">
                <a:latin typeface="Times New Roman" panose="02020603050405020304" charset="0"/>
                <a:cs typeface="Times New Roman" panose="02020603050405020304" charset="0"/>
              </a:rPr>
              <a:t>The women</a:t>
            </a:r>
            <a:r>
              <a:rPr lang="en-US">
                <a:latin typeface="Times New Roman" panose="02020603050405020304" charset="0"/>
                <a:cs typeface="Times New Roman" panose="02020603050405020304" charset="0"/>
              </a:rPr>
              <a:t> are </a:t>
            </a:r>
            <a:r>
              <a:rPr lang="en-US" b="1">
                <a:latin typeface="Times New Roman" panose="02020603050405020304" charset="0"/>
                <a:cs typeface="Times New Roman" panose="02020603050405020304" charset="0"/>
              </a:rPr>
              <a:t>queens</a:t>
            </a:r>
            <a:r>
              <a:rPr lang="en-US">
                <a:latin typeface="Times New Roman" panose="02020603050405020304" charset="0"/>
                <a:cs typeface="Times New Roman" panose="02020603050405020304" charset="0"/>
              </a:rPr>
              <a:t>. </a:t>
            </a:r>
            <a:endParaRPr lang="en-US">
              <a:latin typeface="Times New Roman" panose="02020603050405020304" charset="0"/>
              <a:cs typeface="Times New Roman" panose="0202060305040502030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3350"/>
            <a:ext cx="10515600" cy="894715"/>
          </a:xfrm>
        </p:spPr>
        <p:txBody>
          <a:bodyPr/>
          <a:p>
            <a:pPr algn="ctr"/>
            <a:r>
              <a:rPr lang="en-US" sz="4000" b="1">
                <a:latin typeface="Times New Roman" panose="02020603050405020304" charset="0"/>
                <a:cs typeface="Times New Roman" panose="02020603050405020304" charset="0"/>
              </a:rPr>
              <a:t>CONCORD</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812165"/>
            <a:ext cx="12190730" cy="5922645"/>
          </a:xfrm>
        </p:spPr>
        <p:txBody>
          <a:bodyPr>
            <a:noAutofit/>
          </a:bodyPr>
          <a:p>
            <a:pPr marL="0" indent="0">
              <a:lnSpc>
                <a:spcPct val="100000"/>
              </a:lnSpc>
              <a:buNone/>
            </a:pPr>
            <a:r>
              <a:rPr lang="en-US" sz="3200" b="1">
                <a:latin typeface="Times New Roman" panose="02020603050405020304" charset="0"/>
                <a:cs typeface="Times New Roman" panose="02020603050405020304" charset="0"/>
              </a:rPr>
              <a:t>d)</a:t>
            </a:r>
            <a:r>
              <a:rPr lang="en-US" sz="3200">
                <a:latin typeface="Times New Roman" panose="02020603050405020304" charset="0"/>
                <a:cs typeface="Times New Roman" panose="02020603050405020304" charset="0"/>
              </a:rPr>
              <a:t>  </a:t>
            </a:r>
            <a:r>
              <a:rPr lang="en-US" sz="3200" b="1">
                <a:latin typeface="Times New Roman" panose="02020603050405020304" charset="0"/>
                <a:cs typeface="Times New Roman" panose="02020603050405020304" charset="0"/>
              </a:rPr>
              <a:t>Determiner-noun concord</a:t>
            </a:r>
            <a:r>
              <a:rPr lang="en-US" sz="3200">
                <a:latin typeface="Times New Roman" panose="02020603050405020304" charset="0"/>
                <a:cs typeface="Times New Roman" panose="02020603050405020304" charset="0"/>
              </a:rPr>
              <a:t> refers to the determiner agreeing in number with the noun. Determiners are usually premodifiers that quantify a noun in a sentence. For example,</a:t>
            </a:r>
            <a:endParaRPr lang="en-US" sz="3200">
              <a:latin typeface="Times New Roman" panose="02020603050405020304" charset="0"/>
              <a:cs typeface="Times New Roman" panose="02020603050405020304" charset="0"/>
            </a:endParaRPr>
          </a:p>
          <a:p>
            <a:pPr lvl="1">
              <a:lnSpc>
                <a:spcPct val="100000"/>
              </a:lnSpc>
            </a:pPr>
            <a:r>
              <a:rPr lang="en-US" sz="3200" b="1">
                <a:latin typeface="Times New Roman" panose="02020603050405020304" charset="0"/>
                <a:cs typeface="Times New Roman" panose="02020603050405020304" charset="0"/>
              </a:rPr>
              <a:t>These</a:t>
            </a:r>
            <a:r>
              <a:rPr lang="en-US" sz="3200">
                <a:latin typeface="Times New Roman" panose="02020603050405020304" charset="0"/>
                <a:cs typeface="Times New Roman" panose="02020603050405020304" charset="0"/>
              </a:rPr>
              <a:t> tables are for students.</a:t>
            </a:r>
            <a:endParaRPr lang="en-US" sz="3200">
              <a:latin typeface="Times New Roman" panose="02020603050405020304" charset="0"/>
              <a:cs typeface="Times New Roman" panose="02020603050405020304" charset="0"/>
            </a:endParaRPr>
          </a:p>
          <a:p>
            <a:pPr lvl="1">
              <a:lnSpc>
                <a:spcPct val="100000"/>
              </a:lnSpc>
            </a:pPr>
            <a:r>
              <a:rPr lang="en-US" sz="3200" b="1">
                <a:latin typeface="Times New Roman" panose="02020603050405020304" charset="0"/>
                <a:cs typeface="Times New Roman" panose="02020603050405020304" charset="0"/>
              </a:rPr>
              <a:t>This</a:t>
            </a:r>
            <a:r>
              <a:rPr lang="en-US" sz="3200">
                <a:latin typeface="Times New Roman" panose="02020603050405020304" charset="0"/>
                <a:cs typeface="Times New Roman" panose="02020603050405020304" charset="0"/>
              </a:rPr>
              <a:t> table is for </a:t>
            </a:r>
            <a:r>
              <a:rPr lang="en-US" sz="3200" b="1">
                <a:latin typeface="Times New Roman" panose="02020603050405020304" charset="0"/>
                <a:cs typeface="Times New Roman" panose="02020603050405020304" charset="0"/>
              </a:rPr>
              <a:t>a</a:t>
            </a:r>
            <a:r>
              <a:rPr lang="en-US" sz="3200">
                <a:latin typeface="Times New Roman" panose="02020603050405020304" charset="0"/>
                <a:cs typeface="Times New Roman" panose="02020603050405020304" charset="0"/>
              </a:rPr>
              <a:t> student.</a:t>
            </a:r>
            <a:endParaRPr lang="en-US" sz="3200">
              <a:latin typeface="Times New Roman" panose="02020603050405020304" charset="0"/>
              <a:cs typeface="Times New Roman" panose="02020603050405020304" charset="0"/>
            </a:endParaRPr>
          </a:p>
          <a:p>
            <a:pPr marL="457200" lvl="1" indent="0">
              <a:lnSpc>
                <a:spcPct val="100000"/>
              </a:lnSpc>
              <a:buNone/>
            </a:pPr>
            <a:r>
              <a:rPr lang="en-US" sz="3200">
                <a:latin typeface="Times New Roman" panose="02020603050405020304" charset="0"/>
                <a:cs typeface="Times New Roman" panose="02020603050405020304" charset="0"/>
              </a:rPr>
              <a:t>In example 1, the determiner </a:t>
            </a:r>
            <a:r>
              <a:rPr lang="en-US" sz="3200" b="1">
                <a:latin typeface="Times New Roman" panose="02020603050405020304" charset="0"/>
                <a:cs typeface="Times New Roman" panose="02020603050405020304" charset="0"/>
              </a:rPr>
              <a:t>these</a:t>
            </a:r>
            <a:r>
              <a:rPr lang="en-US" sz="3200">
                <a:latin typeface="Times New Roman" panose="02020603050405020304" charset="0"/>
                <a:cs typeface="Times New Roman" panose="02020603050405020304" charset="0"/>
              </a:rPr>
              <a:t> takes plural noun, </a:t>
            </a:r>
            <a:r>
              <a:rPr lang="en-US" sz="3200" b="1">
                <a:latin typeface="Times New Roman" panose="02020603050405020304" charset="0"/>
                <a:cs typeface="Times New Roman" panose="02020603050405020304" charset="0"/>
              </a:rPr>
              <a:t>tables</a:t>
            </a:r>
            <a:r>
              <a:rPr lang="en-US" sz="3200">
                <a:latin typeface="Times New Roman" panose="02020603050405020304" charset="0"/>
                <a:cs typeface="Times New Roman" panose="02020603050405020304" charset="0"/>
              </a:rPr>
              <a:t>, because </a:t>
            </a:r>
            <a:r>
              <a:rPr lang="en-US" sz="3200" b="1">
                <a:latin typeface="Times New Roman" panose="02020603050405020304" charset="0"/>
                <a:cs typeface="Times New Roman" panose="02020603050405020304" charset="0"/>
              </a:rPr>
              <a:t>these</a:t>
            </a:r>
            <a:r>
              <a:rPr lang="en-US" sz="3200">
                <a:latin typeface="Times New Roman" panose="02020603050405020304" charset="0"/>
                <a:cs typeface="Times New Roman" panose="02020603050405020304" charset="0"/>
              </a:rPr>
              <a:t> is a plural determiner. In the example 2, the determiner </a:t>
            </a:r>
            <a:r>
              <a:rPr lang="en-US" sz="3200" b="1">
                <a:latin typeface="Times New Roman" panose="02020603050405020304" charset="0"/>
                <a:cs typeface="Times New Roman" panose="02020603050405020304" charset="0"/>
              </a:rPr>
              <a:t>this</a:t>
            </a:r>
            <a:r>
              <a:rPr lang="en-US" sz="3200">
                <a:latin typeface="Times New Roman" panose="02020603050405020304" charset="0"/>
                <a:cs typeface="Times New Roman" panose="02020603050405020304" charset="0"/>
              </a:rPr>
              <a:t> takes singular noun, </a:t>
            </a:r>
            <a:r>
              <a:rPr lang="en-US" sz="3200" b="1">
                <a:latin typeface="Times New Roman" panose="02020603050405020304" charset="0"/>
                <a:cs typeface="Times New Roman" panose="02020603050405020304" charset="0"/>
              </a:rPr>
              <a:t>table</a:t>
            </a:r>
            <a:r>
              <a:rPr lang="en-US" sz="3200">
                <a:latin typeface="Times New Roman" panose="02020603050405020304" charset="0"/>
                <a:cs typeface="Times New Roman" panose="02020603050405020304" charset="0"/>
              </a:rPr>
              <a:t>, and the determiner </a:t>
            </a:r>
            <a:r>
              <a:rPr lang="en-US" sz="3200" b="1">
                <a:latin typeface="Times New Roman" panose="02020603050405020304" charset="0"/>
                <a:cs typeface="Times New Roman" panose="02020603050405020304" charset="0"/>
              </a:rPr>
              <a:t>a</a:t>
            </a:r>
            <a:r>
              <a:rPr lang="en-US" sz="3200">
                <a:latin typeface="Times New Roman" panose="02020603050405020304" charset="0"/>
                <a:cs typeface="Times New Roman" panose="02020603050405020304" charset="0"/>
              </a:rPr>
              <a:t> takes a singular noun, </a:t>
            </a:r>
            <a:r>
              <a:rPr lang="en-US" sz="3200" b="1">
                <a:latin typeface="Times New Roman" panose="02020603050405020304" charset="0"/>
                <a:cs typeface="Times New Roman" panose="02020603050405020304" charset="0"/>
              </a:rPr>
              <a:t>student</a:t>
            </a:r>
            <a:r>
              <a:rPr lang="en-US" sz="3200">
                <a:latin typeface="Times New Roman" panose="02020603050405020304" charset="0"/>
                <a:cs typeface="Times New Roman" panose="02020603050405020304" charset="0"/>
              </a:rPr>
              <a:t>.</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0"/>
            <a:ext cx="10515600" cy="725170"/>
          </a:xfrm>
        </p:spPr>
        <p:txBody>
          <a:bodyPr/>
          <a:p>
            <a:pPr algn="ctr"/>
            <a:r>
              <a:rPr lang="en-US" sz="4000" b="1">
                <a:latin typeface="Times New Roman" panose="02020603050405020304" charset="0"/>
                <a:cs typeface="Times New Roman" panose="02020603050405020304" charset="0"/>
              </a:rPr>
              <a:t>THE GENERAL OR GOLDEN RULE</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70" y="826770"/>
            <a:ext cx="12190730" cy="6030595"/>
          </a:xfrm>
        </p:spPr>
        <p:txBody>
          <a:bodyPr>
            <a:noAutofit/>
          </a:bodyPr>
          <a:p>
            <a:pPr marL="0" indent="0">
              <a:lnSpc>
                <a:spcPct val="100000"/>
              </a:lnSpc>
              <a:buNone/>
            </a:pPr>
            <a:r>
              <a:rPr lang="en-US" sz="3200">
                <a:latin typeface="Times New Roman" panose="02020603050405020304" charset="0"/>
                <a:cs typeface="Times New Roman" panose="02020603050405020304" charset="0"/>
              </a:rPr>
              <a:t>The general rule is that, </a:t>
            </a:r>
            <a:r>
              <a:rPr lang="en-US" sz="3200" b="1">
                <a:latin typeface="Times New Roman" panose="02020603050405020304" charset="0"/>
                <a:cs typeface="Times New Roman" panose="02020603050405020304" charset="0"/>
              </a:rPr>
              <a:t>singular subjects take singular verbs</a:t>
            </a:r>
            <a:r>
              <a:rPr lang="en-US" sz="3200">
                <a:latin typeface="Times New Roman" panose="02020603050405020304" charset="0"/>
                <a:cs typeface="Times New Roman" panose="02020603050405020304" charset="0"/>
              </a:rPr>
              <a:t> and </a:t>
            </a:r>
            <a:r>
              <a:rPr lang="en-US" sz="3200" b="1">
                <a:latin typeface="Times New Roman" panose="02020603050405020304" charset="0"/>
                <a:cs typeface="Times New Roman" panose="02020603050405020304" charset="0"/>
              </a:rPr>
              <a:t>plural subjcts take plural verbs</a:t>
            </a:r>
            <a:r>
              <a:rPr lang="en-US" sz="3200">
                <a:latin typeface="Times New Roman" panose="02020603050405020304" charset="0"/>
                <a:cs typeface="Times New Roman" panose="02020603050405020304" charset="0"/>
              </a:rPr>
              <a:t>. This is because the subject and the verb must agree in number. The ‘</a:t>
            </a:r>
            <a:r>
              <a:rPr lang="en-US" sz="3200" b="1">
                <a:latin typeface="Times New Roman" panose="02020603050405020304" charset="0"/>
                <a:cs typeface="Times New Roman" panose="02020603050405020304" charset="0"/>
              </a:rPr>
              <a:t>s</a:t>
            </a:r>
            <a:r>
              <a:rPr lang="en-US" sz="3200">
                <a:latin typeface="Times New Roman" panose="02020603050405020304" charset="0"/>
                <a:cs typeface="Times New Roman" panose="02020603050405020304" charset="0"/>
              </a:rPr>
              <a:t>’ and ‘</a:t>
            </a:r>
            <a:r>
              <a:rPr lang="en-US" sz="3200" b="1">
                <a:latin typeface="Times New Roman" panose="02020603050405020304" charset="0"/>
                <a:cs typeface="Times New Roman" panose="02020603050405020304" charset="0"/>
              </a:rPr>
              <a:t>es</a:t>
            </a:r>
            <a:r>
              <a:rPr lang="en-US" sz="3200">
                <a:latin typeface="Times New Roman" panose="02020603050405020304" charset="0"/>
                <a:cs typeface="Times New Roman" panose="02020603050405020304" charset="0"/>
              </a:rPr>
              <a:t>’ inflection (ending) makes most </a:t>
            </a:r>
            <a:r>
              <a:rPr lang="en-US" sz="3200" b="1">
                <a:latin typeface="Times New Roman" panose="02020603050405020304" charset="0"/>
                <a:cs typeface="Times New Roman" panose="02020603050405020304" charset="0"/>
              </a:rPr>
              <a:t>nouns plural</a:t>
            </a:r>
            <a:r>
              <a:rPr lang="en-US" sz="3200">
                <a:latin typeface="Times New Roman" panose="02020603050405020304" charset="0"/>
                <a:cs typeface="Times New Roman" panose="02020603050405020304" charset="0"/>
              </a:rPr>
              <a:t> and most </a:t>
            </a:r>
            <a:r>
              <a:rPr lang="en-US" sz="3200" b="1">
                <a:latin typeface="Times New Roman" panose="02020603050405020304" charset="0"/>
                <a:cs typeface="Times New Roman" panose="02020603050405020304" charset="0"/>
              </a:rPr>
              <a:t>verbs singular</a:t>
            </a:r>
            <a:r>
              <a:rPr lang="en-US" sz="3200">
                <a:latin typeface="Times New Roman" panose="02020603050405020304" charset="0"/>
                <a:cs typeface="Times New Roman" panose="02020603050405020304" charset="0"/>
              </a:rPr>
              <a:t>. In other words, a </a:t>
            </a:r>
            <a:r>
              <a:rPr lang="en-US" sz="3200" b="1">
                <a:latin typeface="Times New Roman" panose="02020603050405020304" charset="0"/>
                <a:cs typeface="Times New Roman" panose="02020603050405020304" charset="0"/>
              </a:rPr>
              <a:t>regular noun</a:t>
            </a:r>
            <a:r>
              <a:rPr lang="en-US" sz="3200">
                <a:latin typeface="Times New Roman" panose="02020603050405020304" charset="0"/>
                <a:cs typeface="Times New Roman" panose="02020603050405020304" charset="0"/>
              </a:rPr>
              <a:t> ending in ‘</a:t>
            </a:r>
            <a:r>
              <a:rPr lang="en-US" sz="3200" b="1">
                <a:latin typeface="Times New Roman" panose="02020603050405020304" charset="0"/>
                <a:cs typeface="Times New Roman" panose="02020603050405020304" charset="0"/>
              </a:rPr>
              <a:t>s</a:t>
            </a:r>
            <a:r>
              <a:rPr lang="en-US" sz="3200">
                <a:latin typeface="Times New Roman" panose="02020603050405020304" charset="0"/>
                <a:cs typeface="Times New Roman" panose="02020603050405020304" charset="0"/>
              </a:rPr>
              <a:t>’ or ‘</a:t>
            </a:r>
            <a:r>
              <a:rPr lang="en-US" sz="3200" b="1">
                <a:latin typeface="Times New Roman" panose="02020603050405020304" charset="0"/>
                <a:cs typeface="Times New Roman" panose="02020603050405020304" charset="0"/>
              </a:rPr>
              <a:t>es</a:t>
            </a:r>
            <a:r>
              <a:rPr lang="en-US" sz="3200">
                <a:latin typeface="Times New Roman" panose="02020603050405020304" charset="0"/>
                <a:cs typeface="Times New Roman" panose="02020603050405020304" charset="0"/>
              </a:rPr>
              <a:t>’ means it is </a:t>
            </a:r>
            <a:r>
              <a:rPr lang="en-US" sz="3200" b="1">
                <a:latin typeface="Times New Roman" panose="02020603050405020304" charset="0"/>
                <a:cs typeface="Times New Roman" panose="02020603050405020304" charset="0"/>
              </a:rPr>
              <a:t>plural</a:t>
            </a:r>
            <a:r>
              <a:rPr lang="en-US" sz="3200">
                <a:latin typeface="Times New Roman" panose="02020603050405020304" charset="0"/>
                <a:cs typeface="Times New Roman" panose="02020603050405020304" charset="0"/>
              </a:rPr>
              <a:t>, while a </a:t>
            </a:r>
            <a:r>
              <a:rPr lang="en-US" sz="3200" b="1">
                <a:latin typeface="Times New Roman" panose="02020603050405020304" charset="0"/>
                <a:cs typeface="Times New Roman" panose="02020603050405020304" charset="0"/>
              </a:rPr>
              <a:t>present tense verb</a:t>
            </a:r>
            <a:r>
              <a:rPr lang="en-US" sz="3200">
                <a:latin typeface="Times New Roman" panose="02020603050405020304" charset="0"/>
                <a:cs typeface="Times New Roman" panose="02020603050405020304" charset="0"/>
              </a:rPr>
              <a:t> ending in ‘</a:t>
            </a:r>
            <a:r>
              <a:rPr lang="en-US" sz="3200" b="1">
                <a:latin typeface="Times New Roman" panose="02020603050405020304" charset="0"/>
                <a:cs typeface="Times New Roman" panose="02020603050405020304" charset="0"/>
              </a:rPr>
              <a:t>s</a:t>
            </a:r>
            <a:r>
              <a:rPr lang="en-US" sz="3200">
                <a:latin typeface="Times New Roman" panose="02020603050405020304" charset="0"/>
                <a:cs typeface="Times New Roman" panose="02020603050405020304" charset="0"/>
              </a:rPr>
              <a:t>’ or ‘</a:t>
            </a:r>
            <a:r>
              <a:rPr lang="en-US" sz="3200" b="1">
                <a:latin typeface="Times New Roman" panose="02020603050405020304" charset="0"/>
                <a:cs typeface="Times New Roman" panose="02020603050405020304" charset="0"/>
              </a:rPr>
              <a:t>es</a:t>
            </a:r>
            <a:r>
              <a:rPr lang="en-US" sz="3200">
                <a:latin typeface="Times New Roman" panose="02020603050405020304" charset="0"/>
                <a:cs typeface="Times New Roman" panose="02020603050405020304" charset="0"/>
              </a:rPr>
              <a:t>’ means the </a:t>
            </a:r>
            <a:r>
              <a:rPr lang="en-US" sz="3200" b="1">
                <a:latin typeface="Times New Roman" panose="02020603050405020304" charset="0"/>
                <a:cs typeface="Times New Roman" panose="02020603050405020304" charset="0"/>
              </a:rPr>
              <a:t>verb is singular</a:t>
            </a:r>
            <a:r>
              <a:rPr lang="en-US" sz="3200">
                <a:latin typeface="Times New Roman" panose="02020603050405020304" charset="0"/>
                <a:cs typeface="Times New Roman" panose="02020603050405020304" charset="0"/>
              </a:rPr>
              <a:t>. For example:</a:t>
            </a:r>
            <a:endParaRPr lang="en-US" sz="3200">
              <a:latin typeface="Times New Roman" panose="02020603050405020304" charset="0"/>
              <a:cs typeface="Times New Roman" panose="02020603050405020304" charset="0"/>
            </a:endParaRPr>
          </a:p>
          <a:p>
            <a:pPr marL="0" indent="0">
              <a:lnSpc>
                <a:spcPct val="100000"/>
              </a:lnSpc>
              <a:buNone/>
            </a:pPr>
            <a:r>
              <a:rPr lang="en-US" sz="3200">
                <a:latin typeface="Times New Roman" panose="02020603050405020304" charset="0"/>
                <a:cs typeface="Times New Roman" panose="02020603050405020304" charset="0"/>
              </a:rPr>
              <a:t>Singular nouns and their inflected plural nouns</a:t>
            </a:r>
            <a:endParaRPr lang="en-US" sz="3200">
              <a:latin typeface="Times New Roman" panose="02020603050405020304" charset="0"/>
              <a:cs typeface="Times New Roman" panose="02020603050405020304" charset="0"/>
            </a:endParaRPr>
          </a:p>
          <a:p>
            <a:pPr marL="514350" indent="-514350">
              <a:lnSpc>
                <a:spcPct val="100000"/>
              </a:lnSpc>
              <a:buFont typeface="+mj-lt"/>
              <a:buAutoNum type="alphaLcParenR"/>
            </a:pPr>
            <a:r>
              <a:rPr lang="en-US" sz="3200">
                <a:latin typeface="Times New Roman" panose="02020603050405020304" charset="0"/>
                <a:cs typeface="Times New Roman" panose="02020603050405020304" charset="0"/>
              </a:rPr>
              <a:t>Boy (singular)      Boys (plural)</a:t>
            </a:r>
            <a:endParaRPr lang="en-US" sz="3200">
              <a:latin typeface="Times New Roman" panose="02020603050405020304" charset="0"/>
              <a:cs typeface="Times New Roman" panose="02020603050405020304" charset="0"/>
            </a:endParaRPr>
          </a:p>
          <a:p>
            <a:pPr marL="514350" indent="-514350">
              <a:lnSpc>
                <a:spcPct val="100000"/>
              </a:lnSpc>
              <a:buFont typeface="+mj-lt"/>
              <a:buAutoNum type="alphaLcParenR"/>
            </a:pPr>
            <a:r>
              <a:rPr lang="en-US" sz="3200">
                <a:latin typeface="Times New Roman" panose="02020603050405020304" charset="0"/>
                <a:cs typeface="Times New Roman" panose="02020603050405020304" charset="0"/>
              </a:rPr>
              <a:t>Fox (singular)      Foxes (plural)</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Plural verbs and their inflected singular verbs</a:t>
            </a:r>
            <a:endParaRPr lang="en-US" sz="3200">
              <a:latin typeface="Times New Roman" panose="02020603050405020304" charset="0"/>
              <a:cs typeface="Times New Roman" panose="02020603050405020304" charset="0"/>
            </a:endParaRPr>
          </a:p>
          <a:p>
            <a:pPr marL="514350" indent="-514350">
              <a:lnSpc>
                <a:spcPct val="100000"/>
              </a:lnSpc>
              <a:buFont typeface="+mj-lt"/>
              <a:buAutoNum type="alphaLcParenR"/>
            </a:pPr>
            <a:r>
              <a:rPr lang="en-US" sz="3200">
                <a:latin typeface="Times New Roman" panose="02020603050405020304" charset="0"/>
                <a:cs typeface="Times New Roman" panose="02020603050405020304" charset="0"/>
              </a:rPr>
              <a:t>Go (plural)           Goes (singular)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0"/>
            <a:ext cx="10515600" cy="725170"/>
          </a:xfrm>
        </p:spPr>
        <p:txBody>
          <a:bodyPr/>
          <a:p>
            <a:pPr algn="ctr"/>
            <a:r>
              <a:rPr lang="en-US" sz="4000" b="1">
                <a:latin typeface="Times New Roman" panose="02020603050405020304" charset="0"/>
                <a:cs typeface="Times New Roman" panose="02020603050405020304" charset="0"/>
              </a:rPr>
              <a:t>THE GENERAL OR GOLDEN RULE</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70" y="826770"/>
            <a:ext cx="12190730" cy="6030595"/>
          </a:xfrm>
        </p:spPr>
        <p:txBody>
          <a:bodyPr>
            <a:noAutofit/>
          </a:bodyPr>
          <a:p>
            <a:pPr marL="0" indent="0">
              <a:lnSpc>
                <a:spcPct val="100000"/>
              </a:lnSpc>
              <a:buNone/>
            </a:pPr>
            <a:r>
              <a:rPr lang="en-US" sz="3200">
                <a:latin typeface="Times New Roman" panose="02020603050405020304" charset="0"/>
                <a:cs typeface="Times New Roman" panose="02020603050405020304" charset="0"/>
              </a:rPr>
              <a:t>b) Walk (plural)           Walks (singular)</a:t>
            </a:r>
            <a:endParaRPr lang="en-US" sz="3200">
              <a:latin typeface="Times New Roman" panose="02020603050405020304" charset="0"/>
              <a:cs typeface="Times New Roman" panose="02020603050405020304" charset="0"/>
            </a:endParaRPr>
          </a:p>
          <a:p>
            <a:pPr marL="0" indent="0">
              <a:lnSpc>
                <a:spcPct val="100000"/>
              </a:lnSpc>
              <a:buNone/>
            </a:pPr>
            <a:r>
              <a:rPr lang="en-US" sz="3200">
                <a:latin typeface="Times New Roman" panose="02020603050405020304" charset="0"/>
                <a:cs typeface="Times New Roman" panose="02020603050405020304" charset="0"/>
              </a:rPr>
              <a:t>NB: Irregular nouns form their plural without the use of ‘s’ or ‘es’ inflection. For instance, child is singular but children is plural.</a:t>
            </a:r>
            <a:endParaRPr lang="en-US" sz="3200">
              <a:latin typeface="Times New Roman" panose="02020603050405020304" charset="0"/>
              <a:cs typeface="Times New Roman" panose="02020603050405020304" charset="0"/>
            </a:endParaRPr>
          </a:p>
          <a:p>
            <a:pPr marL="0" indent="0">
              <a:lnSpc>
                <a:spcPct val="100000"/>
              </a:lnSpc>
              <a:buNone/>
            </a:pPr>
            <a:r>
              <a:rPr lang="en-US" sz="3200">
                <a:latin typeface="Times New Roman" panose="02020603050405020304" charset="0"/>
                <a:cs typeface="Times New Roman" panose="02020603050405020304" charset="0"/>
              </a:rPr>
              <a:t>Examples of singular subjects taken singular verbs &amp; plural subjects taken plural verbs.</a:t>
            </a:r>
            <a:endParaRPr lang="en-US" sz="3200">
              <a:latin typeface="Times New Roman" panose="02020603050405020304" charset="0"/>
              <a:cs typeface="Times New Roman" panose="02020603050405020304" charset="0"/>
            </a:endParaRPr>
          </a:p>
          <a:p>
            <a:pPr marL="514350" indent="-514350">
              <a:lnSpc>
                <a:spcPct val="100000"/>
              </a:lnSpc>
              <a:buFont typeface="+mj-lt"/>
              <a:buAutoNum type="alphaLcParenR"/>
            </a:pPr>
            <a:r>
              <a:rPr lang="en-US" sz="3200">
                <a:latin typeface="Times New Roman" panose="02020603050405020304" charset="0"/>
                <a:cs typeface="Times New Roman" panose="02020603050405020304" charset="0"/>
              </a:rPr>
              <a:t>The</a:t>
            </a:r>
            <a:r>
              <a:rPr lang="en-US" sz="3200" b="1">
                <a:latin typeface="Times New Roman" panose="02020603050405020304" charset="0"/>
                <a:cs typeface="Times New Roman" panose="02020603050405020304" charset="0"/>
              </a:rPr>
              <a:t> pen</a:t>
            </a:r>
            <a:r>
              <a:rPr lang="en-US" sz="3200">
                <a:latin typeface="Times New Roman" panose="02020603050405020304" charset="0"/>
                <a:cs typeface="Times New Roman" panose="02020603050405020304" charset="0"/>
              </a:rPr>
              <a:t> belongs to my friend.</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	The</a:t>
            </a:r>
            <a:r>
              <a:rPr lang="en-US" sz="3200" b="1">
                <a:latin typeface="Times New Roman" panose="02020603050405020304" charset="0"/>
                <a:cs typeface="Times New Roman" panose="02020603050405020304" charset="0"/>
              </a:rPr>
              <a:t> pens</a:t>
            </a:r>
            <a:r>
              <a:rPr lang="en-US" sz="3200">
                <a:latin typeface="Times New Roman" panose="02020603050405020304" charset="0"/>
                <a:cs typeface="Times New Roman" panose="02020603050405020304" charset="0"/>
              </a:rPr>
              <a:t> belong to my friend.</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b) The </a:t>
            </a:r>
            <a:r>
              <a:rPr lang="en-US" sz="3200" b="1">
                <a:latin typeface="Times New Roman" panose="02020603050405020304" charset="0"/>
                <a:cs typeface="Times New Roman" panose="02020603050405020304" charset="0"/>
              </a:rPr>
              <a:t>coursebook</a:t>
            </a:r>
            <a:r>
              <a:rPr lang="en-US" sz="3200">
                <a:latin typeface="Times New Roman" panose="02020603050405020304" charset="0"/>
                <a:cs typeface="Times New Roman" panose="02020603050405020304" charset="0"/>
              </a:rPr>
              <a:t> makes communicative skills easier.</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	The </a:t>
            </a:r>
            <a:r>
              <a:rPr lang="en-US" sz="3200" b="1">
                <a:latin typeface="Times New Roman" panose="02020603050405020304" charset="0"/>
                <a:cs typeface="Times New Roman" panose="02020603050405020304" charset="0"/>
              </a:rPr>
              <a:t>coursebooks</a:t>
            </a:r>
            <a:r>
              <a:rPr lang="en-US" sz="3200">
                <a:latin typeface="Times New Roman" panose="02020603050405020304" charset="0"/>
                <a:cs typeface="Times New Roman" panose="02020603050405020304" charset="0"/>
              </a:rPr>
              <a:t> make communicative skills easier. </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The noun pen is singular and takes the singular verb belongs while the</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0"/>
            <a:ext cx="10515600" cy="725170"/>
          </a:xfrm>
        </p:spPr>
        <p:txBody>
          <a:bodyPr/>
          <a:p>
            <a:pPr algn="ctr"/>
            <a:r>
              <a:rPr lang="en-US" sz="4000" b="1">
                <a:latin typeface="Times New Roman" panose="02020603050405020304" charset="0"/>
                <a:cs typeface="Times New Roman" panose="02020603050405020304" charset="0"/>
              </a:rPr>
              <a:t>THE GENERAL OR GOLDEN RULE</a:t>
            </a:r>
            <a:endParaRPr lang="en-US" sz="4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270" y="826770"/>
            <a:ext cx="12190730" cy="6030595"/>
          </a:xfrm>
        </p:spPr>
        <p:txBody>
          <a:bodyPr>
            <a:noAutofit/>
          </a:bodyPr>
          <a:p>
            <a:pPr marL="0" indent="0">
              <a:lnSpc>
                <a:spcPct val="100000"/>
              </a:lnSpc>
              <a:buNone/>
            </a:pPr>
            <a:r>
              <a:rPr lang="en-US" sz="3200">
                <a:latin typeface="Times New Roman" panose="02020603050405020304" charset="0"/>
                <a:cs typeface="Times New Roman" panose="02020603050405020304" charset="0"/>
              </a:rPr>
              <a:t>plural noun pens take the plural verb belong.</a:t>
            </a:r>
            <a:endParaRPr lang="en-US" sz="3200">
              <a:latin typeface="Times New Roman" panose="02020603050405020304" charset="0"/>
              <a:cs typeface="Times New Roman" panose="02020603050405020304" charset="0"/>
            </a:endParaRPr>
          </a:p>
          <a:p>
            <a:pPr marL="0" indent="0">
              <a:lnSpc>
                <a:spcPct val="100000"/>
              </a:lnSpc>
              <a:buNone/>
            </a:pPr>
            <a:r>
              <a:rPr lang="en-US" sz="3200">
                <a:latin typeface="Times New Roman" panose="02020603050405020304" charset="0"/>
                <a:cs typeface="Times New Roman" panose="02020603050405020304" charset="0"/>
              </a:rPr>
              <a:t>The noun </a:t>
            </a:r>
            <a:r>
              <a:rPr lang="en-US" sz="3200" b="1">
                <a:latin typeface="Times New Roman" panose="02020603050405020304" charset="0"/>
                <a:cs typeface="Times New Roman" panose="02020603050405020304" charset="0"/>
              </a:rPr>
              <a:t>coursebook</a:t>
            </a:r>
            <a:r>
              <a:rPr lang="en-US" sz="3200">
                <a:latin typeface="Times New Roman" panose="02020603050405020304" charset="0"/>
                <a:cs typeface="Times New Roman" panose="02020603050405020304" charset="0"/>
              </a:rPr>
              <a:t> is singular and takes singular verb </a:t>
            </a:r>
            <a:r>
              <a:rPr lang="en-US" sz="3200" b="1">
                <a:latin typeface="Times New Roman" panose="02020603050405020304" charset="0"/>
                <a:cs typeface="Times New Roman" panose="02020603050405020304" charset="0"/>
              </a:rPr>
              <a:t>makes</a:t>
            </a:r>
            <a:r>
              <a:rPr lang="en-US" sz="3200">
                <a:latin typeface="Times New Roman" panose="02020603050405020304" charset="0"/>
                <a:cs typeface="Times New Roman" panose="02020603050405020304" charset="0"/>
              </a:rPr>
              <a:t> while the plural noun </a:t>
            </a:r>
            <a:r>
              <a:rPr lang="en-US" sz="3200" b="1">
                <a:latin typeface="Times New Roman" panose="02020603050405020304" charset="0"/>
                <a:cs typeface="Times New Roman" panose="02020603050405020304" charset="0"/>
              </a:rPr>
              <a:t>coursebooks</a:t>
            </a:r>
            <a:r>
              <a:rPr lang="en-US" sz="3200">
                <a:latin typeface="Times New Roman" panose="02020603050405020304" charset="0"/>
                <a:cs typeface="Times New Roman" panose="02020603050405020304" charset="0"/>
              </a:rPr>
              <a:t> take the plural verb </a:t>
            </a:r>
            <a:r>
              <a:rPr lang="en-US" sz="3200" b="1">
                <a:latin typeface="Times New Roman" panose="02020603050405020304" charset="0"/>
                <a:cs typeface="Times New Roman" panose="02020603050405020304" charset="0"/>
              </a:rPr>
              <a:t>make</a:t>
            </a:r>
            <a:r>
              <a:rPr lang="en-US" sz="3200">
                <a:latin typeface="Times New Roman" panose="02020603050405020304" charset="0"/>
                <a:cs typeface="Times New Roman" panose="02020603050405020304" charset="0"/>
              </a:rPr>
              <a:t>.</a:t>
            </a:r>
            <a:endParaRPr lang="en-US" sz="3200">
              <a:latin typeface="Times New Roman" panose="02020603050405020304" charset="0"/>
              <a:cs typeface="Times New Roman" panose="02020603050405020304" charset="0"/>
            </a:endParaRPr>
          </a:p>
          <a:p>
            <a:pPr marL="0" indent="0">
              <a:lnSpc>
                <a:spcPct val="100000"/>
              </a:lnSpc>
              <a:buNone/>
            </a:pPr>
            <a:r>
              <a:rPr lang="en-US" sz="3200">
                <a:latin typeface="Times New Roman" panose="02020603050405020304" charset="0"/>
                <a:cs typeface="Times New Roman" panose="02020603050405020304" charset="0"/>
              </a:rPr>
              <a:t>In most cases identifying plural subjects  and the appropriate verbs become complicated when there are intervening words between the noun and the verb. For example:</a:t>
            </a:r>
            <a:endParaRPr lang="en-US" sz="3200">
              <a:latin typeface="Times New Roman" panose="02020603050405020304" charset="0"/>
              <a:cs typeface="Times New Roman" panose="02020603050405020304" charset="0"/>
            </a:endParaRPr>
          </a:p>
          <a:p>
            <a:pPr marL="514350" indent="-514350">
              <a:lnSpc>
                <a:spcPct val="100000"/>
              </a:lnSpc>
              <a:buFont typeface="+mj-lt"/>
              <a:buAutoNum type="alphaLcParenR"/>
            </a:pPr>
            <a:r>
              <a:rPr lang="en-US" sz="3200">
                <a:latin typeface="Times New Roman" panose="02020603050405020304" charset="0"/>
                <a:cs typeface="Times New Roman" panose="02020603050405020304" charset="0"/>
              </a:rPr>
              <a:t>A </a:t>
            </a:r>
            <a:r>
              <a:rPr lang="en-US" sz="3200" b="1">
                <a:latin typeface="Times New Roman" panose="02020603050405020304" charset="0"/>
                <a:cs typeface="Times New Roman" panose="02020603050405020304" charset="0"/>
              </a:rPr>
              <a:t>box</a:t>
            </a:r>
            <a:r>
              <a:rPr lang="en-US" sz="3200">
                <a:latin typeface="Times New Roman" panose="02020603050405020304" charset="0"/>
                <a:cs typeface="Times New Roman" panose="02020603050405020304" charset="0"/>
              </a:rPr>
              <a:t> of pens </a:t>
            </a:r>
            <a:r>
              <a:rPr lang="en-US" sz="3200" b="1">
                <a:latin typeface="Times New Roman" panose="02020603050405020304" charset="0"/>
                <a:cs typeface="Times New Roman" panose="02020603050405020304" charset="0"/>
              </a:rPr>
              <a:t>was</a:t>
            </a:r>
            <a:r>
              <a:rPr lang="en-US" sz="3200">
                <a:latin typeface="Times New Roman" panose="02020603050405020304" charset="0"/>
                <a:cs typeface="Times New Roman" panose="02020603050405020304" charset="0"/>
              </a:rPr>
              <a:t> given to the lecturer as gift.</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b)  The </a:t>
            </a:r>
            <a:r>
              <a:rPr lang="en-US" sz="3200" b="1">
                <a:latin typeface="Times New Roman" panose="02020603050405020304" charset="0"/>
                <a:cs typeface="Times New Roman" panose="02020603050405020304" charset="0"/>
              </a:rPr>
              <a:t>man</a:t>
            </a:r>
            <a:r>
              <a:rPr lang="en-US" sz="3200">
                <a:latin typeface="Times New Roman" panose="02020603050405020304" charset="0"/>
                <a:cs typeface="Times New Roman" panose="02020603050405020304" charset="0"/>
              </a:rPr>
              <a:t> with the musical instruments </a:t>
            </a:r>
            <a:r>
              <a:rPr lang="en-US" sz="3200" b="1">
                <a:latin typeface="Times New Roman" panose="02020603050405020304" charset="0"/>
                <a:cs typeface="Times New Roman" panose="02020603050405020304" charset="0"/>
              </a:rPr>
              <a:t>loves</a:t>
            </a:r>
            <a:r>
              <a:rPr lang="en-US" sz="3200">
                <a:latin typeface="Times New Roman" panose="02020603050405020304" charset="0"/>
                <a:cs typeface="Times New Roman" panose="02020603050405020304" charset="0"/>
              </a:rPr>
              <a:t> music.</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c)  The </a:t>
            </a:r>
            <a:r>
              <a:rPr lang="en-US" sz="3200" b="1">
                <a:latin typeface="Times New Roman" panose="02020603050405020304" charset="0"/>
                <a:cs typeface="Times New Roman" panose="02020603050405020304" charset="0"/>
              </a:rPr>
              <a:t>men</a:t>
            </a:r>
            <a:r>
              <a:rPr lang="en-US" sz="3200">
                <a:latin typeface="Times New Roman" panose="02020603050405020304" charset="0"/>
                <a:cs typeface="Times New Roman" panose="02020603050405020304" charset="0"/>
              </a:rPr>
              <a:t> in golden flying ties </a:t>
            </a:r>
            <a:r>
              <a:rPr lang="en-US" sz="3200" b="1">
                <a:latin typeface="Times New Roman" panose="02020603050405020304" charset="0"/>
                <a:cs typeface="Times New Roman" panose="02020603050405020304" charset="0"/>
              </a:rPr>
              <a:t>are</a:t>
            </a:r>
            <a:r>
              <a:rPr lang="en-US" sz="3200">
                <a:latin typeface="Times New Roman" panose="02020603050405020304" charset="0"/>
                <a:cs typeface="Times New Roman" panose="02020603050405020304" charset="0"/>
              </a:rPr>
              <a:t> from a wedding ceremony.</a:t>
            </a:r>
            <a:endParaRPr lang="en-US" sz="3200">
              <a:latin typeface="Times New Roman" panose="02020603050405020304" charset="0"/>
              <a:cs typeface="Times New Roman" panose="02020603050405020304" charset="0"/>
            </a:endParaRPr>
          </a:p>
          <a:p>
            <a:pPr marL="0" indent="0">
              <a:lnSpc>
                <a:spcPct val="100000"/>
              </a:lnSpc>
              <a:buFont typeface="+mj-lt"/>
              <a:buNone/>
            </a:pPr>
            <a:r>
              <a:rPr lang="en-US" sz="3200">
                <a:latin typeface="Times New Roman" panose="02020603050405020304" charset="0"/>
                <a:cs typeface="Times New Roman" panose="02020603050405020304" charset="0"/>
              </a:rPr>
              <a:t>d)  The </a:t>
            </a:r>
            <a:r>
              <a:rPr lang="en-US" sz="3200" b="1">
                <a:latin typeface="Times New Roman" panose="02020603050405020304" charset="0"/>
                <a:cs typeface="Times New Roman" panose="02020603050405020304" charset="0"/>
              </a:rPr>
              <a:t>man</a:t>
            </a:r>
            <a:r>
              <a:rPr lang="en-US" sz="3200">
                <a:latin typeface="Times New Roman" panose="02020603050405020304" charset="0"/>
                <a:cs typeface="Times New Roman" panose="02020603050405020304" charset="0"/>
              </a:rPr>
              <a:t> in the golden flying tie </a:t>
            </a:r>
            <a:r>
              <a:rPr lang="en-US" sz="3200" b="1">
                <a:latin typeface="Times New Roman" panose="02020603050405020304" charset="0"/>
                <a:cs typeface="Times New Roman" panose="02020603050405020304" charset="0"/>
              </a:rPr>
              <a:t>is</a:t>
            </a:r>
            <a:r>
              <a:rPr lang="en-US" sz="3200">
                <a:latin typeface="Times New Roman" panose="02020603050405020304" charset="0"/>
                <a:cs typeface="Times New Roman" panose="02020603050405020304" charset="0"/>
              </a:rPr>
              <a:t> from a wedding ceremony.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2250"/>
            <a:ext cx="10515600" cy="1040765"/>
          </a:xfrm>
        </p:spPr>
        <p:txBody>
          <a:bodyPr/>
          <a:p>
            <a:pPr algn="ctr"/>
            <a:r>
              <a:rPr lang="en-US" b="1">
                <a:latin typeface="Times New Roman" panose="02020603050405020304" charset="0"/>
                <a:cs typeface="Times New Roman" panose="02020603050405020304" charset="0"/>
              </a:rPr>
              <a:t>THE GENERAL OR GOLDEN RULE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55575" y="1572260"/>
            <a:ext cx="11896090" cy="5144770"/>
          </a:xfrm>
        </p:spPr>
        <p:txBody>
          <a:bodyPr/>
          <a:p>
            <a:r>
              <a:rPr lang="en-US" sz="3200">
                <a:latin typeface="Times New Roman" panose="02020603050405020304" charset="0"/>
                <a:cs typeface="Times New Roman" panose="02020603050405020304" charset="0"/>
              </a:rPr>
              <a:t>Subject-verb concord Situation also occurs when pseudo conjunctions, also known as false conjunctions, are used to join subjects. The pseudo conjunctions do not change the subject in terms of number; rather, they add other nouns to the original subject. Pseudo conjunctions such as: as well as, together with, along with, in addition to, do not change the number of the subject.</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a) The man </a:t>
            </a:r>
            <a:r>
              <a:rPr lang="en-US" sz="3200" b="1">
                <a:latin typeface="Times New Roman" panose="02020603050405020304" charset="0"/>
                <a:cs typeface="Times New Roman" panose="02020603050405020304" charset="0"/>
              </a:rPr>
              <a:t>together with his children</a:t>
            </a:r>
            <a:r>
              <a:rPr lang="en-US" sz="3200">
                <a:latin typeface="Times New Roman" panose="02020603050405020304" charset="0"/>
                <a:cs typeface="Times New Roman" panose="02020603050405020304" charset="0"/>
              </a:rPr>
              <a:t> is traveling to Accra today.</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b) The children </a:t>
            </a:r>
            <a:r>
              <a:rPr lang="en-US" sz="3200" b="1">
                <a:latin typeface="Times New Roman" panose="02020603050405020304" charset="0"/>
                <a:cs typeface="Times New Roman" panose="02020603050405020304" charset="0"/>
              </a:rPr>
              <a:t>including their father</a:t>
            </a:r>
            <a:r>
              <a:rPr lang="en-US" sz="3200">
                <a:latin typeface="Times New Roman" panose="02020603050405020304" charset="0"/>
                <a:cs typeface="Times New Roman" panose="02020603050405020304" charset="0"/>
              </a:rPr>
              <a:t> are traveling to Accra today.</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c) The pens </a:t>
            </a:r>
            <a:r>
              <a:rPr lang="en-US" sz="3200" b="1">
                <a:latin typeface="Times New Roman" panose="02020603050405020304" charset="0"/>
                <a:cs typeface="Times New Roman" panose="02020603050405020304" charset="0"/>
              </a:rPr>
              <a:t>in addition to the book</a:t>
            </a:r>
            <a:r>
              <a:rPr lang="en-US" sz="3200">
                <a:latin typeface="Times New Roman" panose="02020603050405020304" charset="0"/>
                <a:cs typeface="Times New Roman" panose="02020603050405020304" charset="0"/>
              </a:rPr>
              <a:t> were given to the best student.</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d) The book </a:t>
            </a:r>
            <a:r>
              <a:rPr lang="en-US" sz="3200" b="1">
                <a:latin typeface="Times New Roman" panose="02020603050405020304" charset="0"/>
                <a:cs typeface="Times New Roman" panose="02020603050405020304" charset="0"/>
              </a:rPr>
              <a:t>with the pens</a:t>
            </a:r>
            <a:r>
              <a:rPr lang="en-US" sz="3200">
                <a:latin typeface="Times New Roman" panose="02020603050405020304" charset="0"/>
                <a:cs typeface="Times New Roman" panose="02020603050405020304" charset="0"/>
              </a:rPr>
              <a:t> was given to the best student. </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59385"/>
            <a:ext cx="10515600" cy="643255"/>
          </a:xfrm>
        </p:spPr>
        <p:txBody>
          <a:bodyPr>
            <a:normAutofit fontScale="90000"/>
          </a:bodyPr>
          <a:p>
            <a:pPr algn="ctr"/>
            <a:r>
              <a:rPr lang="en-US" b="1">
                <a:latin typeface="Times New Roman" panose="02020603050405020304" charset="0"/>
                <a:cs typeface="Times New Roman" panose="02020603050405020304" charset="0"/>
              </a:rPr>
              <a:t>ANSWERS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802640"/>
            <a:ext cx="12191365" cy="6055360"/>
          </a:xfrm>
        </p:spPr>
        <p:txBody>
          <a:bodyPr>
            <a:normAutofit fontScale="90000" lnSpcReduction="10000"/>
          </a:bodyPr>
          <a:p>
            <a:pPr marL="0" indent="0">
              <a:buNone/>
            </a:pPr>
            <a:r>
              <a:rPr lang="en-US" sz="3200">
                <a:latin typeface="Times New Roman" panose="02020603050405020304" charset="0"/>
                <a:cs typeface="Times New Roman" panose="02020603050405020304" charset="0"/>
              </a:rPr>
              <a:t>1. James always reports to work late (</a:t>
            </a:r>
            <a:r>
              <a:rPr lang="en-US" sz="3200" u="sng">
                <a:latin typeface="Times New Roman" panose="02020603050405020304" charset="0"/>
                <a:cs typeface="Times New Roman" panose="02020603050405020304" charset="0"/>
              </a:rPr>
              <a:t>yet / but</a:t>
            </a:r>
            <a:r>
              <a:rPr lang="en-US" sz="3200">
                <a:latin typeface="Times New Roman" panose="02020603050405020304" charset="0"/>
                <a:cs typeface="Times New Roman" panose="02020603050405020304" charset="0"/>
              </a:rPr>
              <a:t>) he expects other workers to report on time. (Coordination).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2. (</a:t>
            </a:r>
            <a:r>
              <a:rPr lang="en-US" sz="3200" u="sng">
                <a:latin typeface="Times New Roman" panose="02020603050405020304" charset="0"/>
                <a:cs typeface="Times New Roman" panose="02020603050405020304" charset="0"/>
              </a:rPr>
              <a:t>Since)</a:t>
            </a:r>
            <a:r>
              <a:rPr lang="en-US" sz="3200">
                <a:latin typeface="Times New Roman" panose="02020603050405020304" charset="0"/>
                <a:cs typeface="Times New Roman" panose="02020603050405020304" charset="0"/>
              </a:rPr>
              <a:t> the driver is going your way, he can give you a lift. (Subordination).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3. The students can present the assignment online (</a:t>
            </a:r>
            <a:r>
              <a:rPr lang="en-US" sz="3200" u="sng">
                <a:latin typeface="Times New Roman" panose="02020603050405020304" charset="0"/>
                <a:cs typeface="Times New Roman" panose="02020603050405020304" charset="0"/>
              </a:rPr>
              <a:t>or</a:t>
            </a:r>
            <a:r>
              <a:rPr lang="en-US" sz="3200">
                <a:latin typeface="Times New Roman" panose="02020603050405020304" charset="0"/>
                <a:cs typeface="Times New Roman" panose="02020603050405020304" charset="0"/>
              </a:rPr>
              <a:t>) submit the assignment directly to their lecturer. (Coordination).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4. No one likes cockroaches in their homes (</a:t>
            </a:r>
            <a:r>
              <a:rPr lang="en-US" sz="3200" u="sng">
                <a:latin typeface="Times New Roman" panose="02020603050405020304" charset="0"/>
                <a:cs typeface="Times New Roman" panose="02020603050405020304" charset="0"/>
              </a:rPr>
              <a:t>because</a:t>
            </a:r>
            <a:r>
              <a:rPr lang="en-US" sz="3200">
                <a:latin typeface="Times New Roman" panose="02020603050405020304" charset="0"/>
                <a:cs typeface="Times New Roman" panose="02020603050405020304" charset="0"/>
              </a:rPr>
              <a:t>) they are very dangerous (</a:t>
            </a:r>
            <a:r>
              <a:rPr lang="en-US" sz="3200" u="sng">
                <a:latin typeface="Times New Roman" panose="02020603050405020304" charset="0"/>
                <a:cs typeface="Times New Roman" panose="02020603050405020304" charset="0"/>
              </a:rPr>
              <a:t>and</a:t>
            </a:r>
            <a:r>
              <a:rPr lang="en-US" sz="3200">
                <a:latin typeface="Times New Roman" panose="02020603050405020304" charset="0"/>
                <a:cs typeface="Times New Roman" panose="02020603050405020304" charset="0"/>
              </a:rPr>
              <a:t>) spread dreaful diseases. (Subordination &amp; Coordination).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5. (</a:t>
            </a:r>
            <a:r>
              <a:rPr lang="en-US" sz="3200" u="sng">
                <a:latin typeface="Times New Roman" panose="02020603050405020304" charset="0"/>
                <a:cs typeface="Times New Roman" panose="02020603050405020304" charset="0"/>
              </a:rPr>
              <a:t>Although/ Even though</a:t>
            </a:r>
            <a:r>
              <a:rPr lang="en-US" sz="3200">
                <a:latin typeface="Times New Roman" panose="02020603050405020304" charset="0"/>
                <a:cs typeface="Times New Roman" panose="02020603050405020304" charset="0"/>
              </a:rPr>
              <a:t>) the farmers worked very hard, the harvest was not good. (Subordination).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6. Very often parents annoy (</a:t>
            </a:r>
            <a:r>
              <a:rPr lang="en-US" sz="3200" u="sng">
                <a:latin typeface="Times New Roman" panose="02020603050405020304" charset="0"/>
                <a:cs typeface="Times New Roman" panose="02020603050405020304" charset="0"/>
              </a:rPr>
              <a:t>and</a:t>
            </a:r>
            <a:r>
              <a:rPr lang="en-US" sz="3200">
                <a:latin typeface="Times New Roman" panose="02020603050405020304" charset="0"/>
                <a:cs typeface="Times New Roman" panose="02020603050405020304" charset="0"/>
              </a:rPr>
              <a:t>) frustrate their children. (Coordination).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7. The stranger entered the lecture theatre (</a:t>
            </a:r>
            <a:r>
              <a:rPr lang="en-US" sz="3200" u="sng">
                <a:latin typeface="Times New Roman" panose="02020603050405020304" charset="0"/>
                <a:cs typeface="Times New Roman" panose="02020603050405020304" charset="0"/>
              </a:rPr>
              <a:t>when</a:t>
            </a:r>
            <a:r>
              <a:rPr lang="en-US" sz="3200">
                <a:latin typeface="Times New Roman" panose="02020603050405020304" charset="0"/>
                <a:cs typeface="Times New Roman" panose="02020603050405020304" charset="0"/>
              </a:rPr>
              <a:t>) the instructor stopped speaking (</a:t>
            </a:r>
            <a:r>
              <a:rPr lang="en-US" sz="3200" u="sng">
                <a:latin typeface="Times New Roman" panose="02020603050405020304" charset="0"/>
                <a:cs typeface="Times New Roman" panose="02020603050405020304" charset="0"/>
              </a:rPr>
              <a:t>so</a:t>
            </a:r>
            <a:r>
              <a:rPr lang="en-US" sz="3200">
                <a:latin typeface="Times New Roman" panose="02020603050405020304" charset="0"/>
                <a:cs typeface="Times New Roman" panose="02020603050405020304" charset="0"/>
              </a:rPr>
              <a:t>) the students were dumbfounded. ( Subordination &amp; Coordination).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8. Micheal realized he had forgotten the tickets to the match (</a:t>
            </a:r>
            <a:r>
              <a:rPr lang="en-US" sz="3200" u="sng">
                <a:latin typeface="Times New Roman" panose="02020603050405020304" charset="0"/>
                <a:cs typeface="Times New Roman" panose="02020603050405020304" charset="0"/>
              </a:rPr>
              <a:t>so</a:t>
            </a:r>
            <a:r>
              <a:rPr lang="en-US" sz="3200">
                <a:latin typeface="Times New Roman" panose="02020603050405020304" charset="0"/>
                <a:cs typeface="Times New Roman" panose="02020603050405020304" charset="0"/>
              </a:rPr>
              <a:t>) we missed the first half of the match. (Coordination).</a:t>
            </a:r>
            <a:endParaRPr lang="en-US" sz="3200">
              <a:latin typeface="Times New Roman" panose="02020603050405020304" charset="0"/>
              <a:cs typeface="Times New Roman" panose="0202060305040502030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1135"/>
            <a:ext cx="10515600" cy="770255"/>
          </a:xfrm>
        </p:spPr>
        <p:txBody>
          <a:bodyPr>
            <a:normAutofit/>
          </a:bodyPr>
          <a:p>
            <a:pPr algn="ctr"/>
            <a:r>
              <a:rPr lang="en-US" b="1">
                <a:latin typeface="Times New Roman" panose="02020603050405020304" charset="0"/>
                <a:cs typeface="Times New Roman" panose="02020603050405020304" charset="0"/>
              </a:rPr>
              <a:t>ANSWERS</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07950" y="1825625"/>
            <a:ext cx="11960225" cy="4874895"/>
          </a:xfrm>
        </p:spPr>
        <p:txBody>
          <a:bodyPr/>
          <a:p>
            <a:pPr marL="0" indent="0">
              <a:buNone/>
            </a:pPr>
            <a:r>
              <a:rPr lang="en-US" sz="3200">
                <a:latin typeface="Times New Roman" panose="02020603050405020304" charset="0"/>
                <a:cs typeface="Times New Roman" panose="02020603050405020304" charset="0"/>
              </a:rPr>
              <a:t>9. (</a:t>
            </a:r>
            <a:r>
              <a:rPr lang="en-US" sz="3200" u="sng">
                <a:latin typeface="Times New Roman" panose="02020603050405020304" charset="0"/>
                <a:cs typeface="Times New Roman" panose="02020603050405020304" charset="0"/>
              </a:rPr>
              <a:t>When/ After</a:t>
            </a:r>
            <a:r>
              <a:rPr lang="en-US" sz="3200">
                <a:latin typeface="Times New Roman" panose="02020603050405020304" charset="0"/>
                <a:cs typeface="Times New Roman" panose="02020603050405020304" charset="0"/>
              </a:rPr>
              <a:t>) the old miser died, his heirs started quarrelling over his property. (Subordination).</a:t>
            </a:r>
            <a:endParaRPr lang="en-US" sz="3200">
              <a:latin typeface="Times New Roman" panose="02020603050405020304" charset="0"/>
              <a:cs typeface="Times New Roman" panose="02020603050405020304" charset="0"/>
            </a:endParaRPr>
          </a:p>
          <a:p>
            <a:pPr marL="0" indent="0">
              <a:buNone/>
            </a:pPr>
            <a:r>
              <a:rPr lang="en-US" sz="3200">
                <a:latin typeface="Times New Roman" panose="02020603050405020304" charset="0"/>
                <a:cs typeface="Times New Roman" panose="02020603050405020304" charset="0"/>
              </a:rPr>
              <a:t>10. I left home early this morning (</a:t>
            </a:r>
            <a:r>
              <a:rPr lang="en-US" sz="3200" u="sng">
                <a:latin typeface="Times New Roman" panose="02020603050405020304" charset="0"/>
                <a:cs typeface="Times New Roman" panose="02020603050405020304" charset="0"/>
              </a:rPr>
              <a:t>because</a:t>
            </a:r>
            <a:r>
              <a:rPr lang="en-US" sz="3200">
                <a:latin typeface="Times New Roman" panose="02020603050405020304" charset="0"/>
                <a:cs typeface="Times New Roman" panose="02020603050405020304" charset="0"/>
              </a:rPr>
              <a:t>) I was delayed in traffic (</a:t>
            </a:r>
            <a:r>
              <a:rPr lang="en-US" sz="3200" u="sng">
                <a:latin typeface="Times New Roman" panose="02020603050405020304" charset="0"/>
                <a:cs typeface="Times New Roman" panose="02020603050405020304" charset="0"/>
              </a:rPr>
              <a:t>so</a:t>
            </a:r>
            <a:r>
              <a:rPr lang="en-US" sz="3200">
                <a:latin typeface="Times New Roman" panose="02020603050405020304" charset="0"/>
                <a:cs typeface="Times New Roman" panose="02020603050405020304" charset="0"/>
              </a:rPr>
              <a:t>) I missed my appointment. (Subordination &amp; Coordination).</a:t>
            </a:r>
            <a:endParaRPr lang="en-US" sz="32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64511</Words>
  <Application>WPS Presentation</Application>
  <PresentationFormat>Widescreen</PresentationFormat>
  <Paragraphs>1465</Paragraphs>
  <Slides>140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140</vt:i4>
      </vt:variant>
    </vt:vector>
  </HeadingPairs>
  <TitlesOfParts>
    <vt:vector size="150" baseType="lpstr">
      <vt:lpstr>Arial</vt:lpstr>
      <vt:lpstr>SimSun</vt:lpstr>
      <vt:lpstr>Wingdings</vt:lpstr>
      <vt:lpstr>Times New Roman</vt:lpstr>
      <vt:lpstr>Wingdings</vt:lpstr>
      <vt:lpstr>Microsoft YaHei</vt:lpstr>
      <vt:lpstr>Arial Unicode MS</vt:lpstr>
      <vt:lpstr>Calibri Light</vt:lpstr>
      <vt:lpstr>Calibri</vt:lpstr>
      <vt:lpstr>Office Theme</vt:lpstr>
      <vt:lpstr>CMS 107: COMMUNICATIVE SKILLS</vt:lpstr>
      <vt:lpstr>CONTENT</vt:lpstr>
      <vt:lpstr>COMPONENTS OF A TEXT/PASSAGE</vt:lpstr>
      <vt:lpstr>THINGS TO LOOK OUT FOR IN A PARAGRAPH</vt:lpstr>
      <vt:lpstr>OUTLINE</vt:lpstr>
      <vt:lpstr>OUTLINE</vt:lpstr>
      <vt:lpstr>SAMPLE ANALYSIS TEXT 1</vt:lpstr>
      <vt:lpstr>SAMPLE ANALYSIS TEXT 1</vt:lpstr>
      <vt:lpstr>THREE PASSIONS OF LIFE </vt:lpstr>
      <vt:lpstr>THREE PASSIONS OF LIFE </vt:lpstr>
      <vt:lpstr>STATE FUNDING AND POLITICAL PARTIES </vt:lpstr>
      <vt:lpstr>SAMPLE ANALYSIS TEXT 2</vt:lpstr>
      <vt:lpstr>SAMPLE ANALYSIS TEXT 2</vt:lpstr>
      <vt:lpstr>SAMPLE ANALYSIS TEXT 2</vt:lpstr>
      <vt:lpstr> A TEENAGER AND HIS WORLD</vt:lpstr>
      <vt:lpstr> A TEENAGER AND HIS WORLD</vt:lpstr>
      <vt:lpstr>SUMMARY</vt:lpstr>
      <vt:lpstr>HOW TO WRITE A GOOD SUMMARY</vt:lpstr>
      <vt:lpstr>SAMPLE ANALYSIS TEXT 1</vt:lpstr>
      <vt:lpstr>SAMPLE ANALYSIS TEXT 1</vt:lpstr>
      <vt:lpstr>SAMPLE TEXT 1 PASSIONS OF LIFE</vt:lpstr>
      <vt:lpstr>SAMPLE ANALYSIS TEXT 2</vt:lpstr>
      <vt:lpstr>SAMPLE ANALYSIS TEXT 2</vt:lpstr>
      <vt:lpstr>SAMPLE ANALYSIS TEXT 2</vt:lpstr>
      <vt:lpstr>SAMPLE TEXT 1 AKORA AND HIS WORLD</vt:lpstr>
      <vt:lpstr>EXERCISE 1</vt:lpstr>
      <vt:lpstr>EXERCISE 1 &amp; 2</vt:lpstr>
      <vt:lpstr>PHASE II CORRECTING SPELLING ERRORS IN A TEXT</vt:lpstr>
      <vt:lpstr>PHASE II CORRECTING SPELLING ERRORS IN A TEXT</vt:lpstr>
      <vt:lpstr>PHASE II CORRECTING SPELLING ERRORS IN A TEXT</vt:lpstr>
      <vt:lpstr>UNDERSTANDING PUNCTUATION &amp; CAPITALIZATION</vt:lpstr>
      <vt:lpstr>THE COMMA (,)</vt:lpstr>
      <vt:lpstr>THE COMMA (,)</vt:lpstr>
      <vt:lpstr>THE COMMA (,)</vt:lpstr>
      <vt:lpstr>THE COMMA (,)</vt:lpstr>
      <vt:lpstr>SAMPLE TEXT 1 AKORA AND HIS WORLD</vt:lpstr>
      <vt:lpstr>THE SEMI-COLON (;)</vt:lpstr>
      <vt:lpstr>THE SEMI-COLON (;)</vt:lpstr>
      <vt:lpstr>THE SEMI-COLON (;)</vt:lpstr>
      <vt:lpstr>THE SEMI-COLON (;)</vt:lpstr>
      <vt:lpstr>THE COLON (:)</vt:lpstr>
      <vt:lpstr>THE COLON (:)</vt:lpstr>
      <vt:lpstr>THE COLON (:)</vt:lpstr>
      <vt:lpstr>THE COLON (:)</vt:lpstr>
      <vt:lpstr>THE COLON (:)</vt:lpstr>
      <vt:lpstr>THE APOSTROPHE (‘)</vt:lpstr>
      <vt:lpstr>THE APOSTROPHE (‘)</vt:lpstr>
      <vt:lpstr>THE APOSTROPHE (‘)</vt:lpstr>
      <vt:lpstr>THE APOSTROPHE (‘)</vt:lpstr>
      <vt:lpstr>THE APOSTROPHE (‘)</vt:lpstr>
      <vt:lpstr>QUOTATION MARKS (INVERTED COMMAS) (“ ”) OR SINGLE (‘ ’)</vt:lpstr>
      <vt:lpstr>QUOTATION MARKS (INVERTED COMMAS) (“ ”) OR SINGLE (‘ ’)</vt:lpstr>
      <vt:lpstr>QUOTATION MARKS (INVERTED COMMAS) (“ ”) OR SINGLE (‘ ’)</vt:lpstr>
      <vt:lpstr>QUOTATION MARKS (INVERTED COMMAS) (“ ”) OR SINGLE (‘ ’)</vt:lpstr>
      <vt:lpstr>QUOTATION MARKS (INVERTED COMMAS) (“ ”) OR SINGLE (‘ ’)</vt:lpstr>
      <vt:lpstr>QUOTATION MARKS (INVERTED COMMAS) SINGLE (‘ ’)</vt:lpstr>
      <vt:lpstr>QUOTATION MARKS (INVERTED COMMAS) SINGLE (‘ ’)</vt:lpstr>
      <vt:lpstr>THE QUESTION MARK (?)</vt:lpstr>
      <vt:lpstr>THE QUESTION MARK (?)</vt:lpstr>
      <vt:lpstr>THE QUESTION MARK (?)</vt:lpstr>
      <vt:lpstr>THE EXCLAMATION MARK (!)</vt:lpstr>
      <vt:lpstr>THE EXCLAMATION MARK (!)</vt:lpstr>
      <vt:lpstr>THE FULL STOP OR PERIOD (.)</vt:lpstr>
      <vt:lpstr>THE FULL STOP OR PERIOD (.)</vt:lpstr>
      <vt:lpstr>THE FULL STOP OR PERIOD (.)</vt:lpstr>
      <vt:lpstr>PARENTHESES [( )]</vt:lpstr>
      <vt:lpstr>PARENTHESES [( )]</vt:lpstr>
      <vt:lpstr>PARENTHESES [( )]</vt:lpstr>
      <vt:lpstr>PARENTHESES [( )]</vt:lpstr>
      <vt:lpstr>REWRITE THE FOLLOWING SENTENCES AND CORRECT ALL PUNCTUATION ERRORS</vt:lpstr>
      <vt:lpstr>REWRITE THE FOLLOWING SENTENCES AND CORRECT ALL PUNCTUATION ERRORS</vt:lpstr>
      <vt:lpstr>REWRITE THE PASSAGE AND CORRECT ALL ERRORS</vt:lpstr>
      <vt:lpstr>REWRITE THE PASSAGE AND CORRECT ALL ERRORS</vt:lpstr>
      <vt:lpstr>PHASE I DEVELOPING READING SKILLS</vt:lpstr>
      <vt:lpstr>READING</vt:lpstr>
      <vt:lpstr>CHARACTERISTICS OF READING</vt:lpstr>
      <vt:lpstr>TYPES OF READING SKILLS</vt:lpstr>
      <vt:lpstr>SKIMMING</vt:lpstr>
      <vt:lpstr>SCANNING</vt:lpstr>
      <vt:lpstr>CLOSE READING</vt:lpstr>
      <vt:lpstr>INTENSIVE READING</vt:lpstr>
      <vt:lpstr>EXTENSIVE READING</vt:lpstr>
      <vt:lpstr>THE SQ3R METHOD</vt:lpstr>
      <vt:lpstr> SURVEY (S) </vt:lpstr>
      <vt:lpstr>QUESTION (Q)</vt:lpstr>
      <vt:lpstr>READ (R1)</vt:lpstr>
      <vt:lpstr>RECALL (R2)</vt:lpstr>
      <vt:lpstr>REVIEW (R3)</vt:lpstr>
      <vt:lpstr>ANSWERS</vt:lpstr>
      <vt:lpstr>EFFECTIVE LISTENING  AS A COMMUNICATIVE SKILL</vt:lpstr>
      <vt:lpstr>OBSTACLES TO EFFECTIVE LISTENING</vt:lpstr>
      <vt:lpstr>FORMS OF NON-LISTENING</vt:lpstr>
      <vt:lpstr>SPECIFIC ATTITUDES AND SKILLS THAT CONTRIBUTE TO EFFECTIVE LISTENING</vt:lpstr>
      <vt:lpstr>EXERCISES</vt:lpstr>
      <vt:lpstr>ELEMENTS TO CONSIDER WHEN MAKING AN ORAL PRESENTATION</vt:lpstr>
      <vt:lpstr>ORGANIZING A PRESENTATION</vt:lpstr>
      <vt:lpstr>TECHNIQUES FOR PUBLIC SPEAKING</vt:lpstr>
      <vt:lpstr>EXERCISES</vt:lpstr>
      <vt:lpstr>NOTE TAKING AND NOTE MAKING</vt:lpstr>
      <vt:lpstr>THE FEATURES OF GOOD NOTES</vt:lpstr>
      <vt:lpstr>DIFFERENCES BETWEEN NOTE TAKING &amp; NOTE MAKING</vt:lpstr>
      <vt:lpstr>ORGANIZING NOTES</vt:lpstr>
      <vt:lpstr>UNDERSTANDING PREPOSITIONS</vt:lpstr>
      <vt:lpstr>UNDERSTANDING PREPOSITIONS</vt:lpstr>
      <vt:lpstr>UNDERSTANDING PREPOSITIONS</vt:lpstr>
      <vt:lpstr>UNDERSTANDING PREPOSITIONS</vt:lpstr>
      <vt:lpstr>TYPES OF PREPOSITIONS</vt:lpstr>
      <vt:lpstr>TYPES OF PREPOSITIONS</vt:lpstr>
      <vt:lpstr>TYPES OF PREPOSITIONS</vt:lpstr>
      <vt:lpstr>TYPES OF PREPOSITIONS</vt:lpstr>
      <vt:lpstr>VERB-PREPOSITION COMBINATION</vt:lpstr>
      <vt:lpstr>ADJECTIVE-PREPOSITION COMBINATION</vt:lpstr>
      <vt:lpstr>NOUN-PREPOSITION COMBINATION</vt:lpstr>
      <vt:lpstr>NB: CERTAIN VERBS DO NOT NEED PREPOSITIONS</vt:lpstr>
      <vt:lpstr>NB: CERTAIN VERBS DO NOT NEED PREPOSITIONS</vt:lpstr>
      <vt:lpstr>NB: CERTAIN VERBS DO NOT NEED PREPOSITIONS</vt:lpstr>
      <vt:lpstr> COMPLETE THE FOLLOWING SENTENCES WITH THE APPROPRIATE PREPOSITIONS</vt:lpstr>
      <vt:lpstr> COMPLETE THE FOLLOWING SENTENCES WITH THE APPROPRIATE PREPOSITIONS</vt:lpstr>
      <vt:lpstr>THE SENTENCE AND ITS COMMUNICATIVE FUNCTIONS</vt:lpstr>
      <vt:lpstr>CLASSIFYING SENTENCE TYPES ACCORDING TO THEIR STRUCTURE</vt:lpstr>
      <vt:lpstr>CLASSIFYING SENTENCE TYPES ACCORDING TO THEIR STRUCTURE</vt:lpstr>
      <vt:lpstr>IDENTIFY THE FOLLOWING SENTENCES FROM A STRUCTURAL PERSPECTIVE</vt:lpstr>
      <vt:lpstr>CLASSIFYING SENTENCE TYPES ACCORDING TO THEIR COMMUNICATIVE FUNCTIONS</vt:lpstr>
      <vt:lpstr>CLASSIFYING SENTENCE TYPES ACCORDING TO THEIR COMMUNICATIVE FUNCTIONS</vt:lpstr>
      <vt:lpstr>CLASSIFYING SENTENCE TYPES ACCORDING TO THEIR COMMUNICATIVE FUNCTIONS</vt:lpstr>
      <vt:lpstr>CLASSIFYING SENTENCE TYPES ACCORDING TO THEIR COMMUNICATIVE FUNCTIONS</vt:lpstr>
      <vt:lpstr>IDENTIFY THE FOLLOWING SENTENCES BASED ON THEIR COMMUNICATIVE FUNCTIONS</vt:lpstr>
      <vt:lpstr>COORDINATION</vt:lpstr>
      <vt:lpstr>JOIN THE FOLLOWING SENTENCES TOGETHER USING THE PROCESS OF COORDINATION</vt:lpstr>
      <vt:lpstr>SUBORDINATION</vt:lpstr>
      <vt:lpstr>JOIN THE FOLLOWING SENTENCES TOGETHER USING THE PROCESS OF SUBORDINATION</vt:lpstr>
      <vt:lpstr>COMBINE EACH OF THE FOLLOWING SENTENCES INTO A MEANINGFUL SINGLE SENTENCE BY THE PROCESS INDICATED IN BRACKETS</vt:lpstr>
      <vt:lpstr>CONCORD</vt:lpstr>
      <vt:lpstr>CONCORD</vt:lpstr>
      <vt:lpstr>THE GENERAL OR GOLDEN RULE</vt:lpstr>
      <vt:lpstr>THE GENERAL OR GOLDEN RULE</vt:lpstr>
      <vt:lpstr>THE GENERAL OR GOLDEN RULE</vt:lpstr>
      <vt:lpstr>THE GENERAL OR GOLDEN RULE</vt:lpstr>
      <vt:lpstr>ANSWERS</vt:lpstr>
      <vt:lpstr>ANSWERS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 107: COMMUNICATIVE SKILLS</dc:title>
  <dc:creator/>
  <cp:lastModifiedBy>User</cp:lastModifiedBy>
  <cp:revision>465</cp:revision>
  <dcterms:created xsi:type="dcterms:W3CDTF">2022-02-27T01:10:00Z</dcterms:created>
  <dcterms:modified xsi:type="dcterms:W3CDTF">2023-01-06T00:33:08Z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45EC4F95D33B4CA290F4ADC381A3BA55</vt:lpwstr>
  </property>
  <property fmtid="{D5CDD505-2E9C-101B-9397-08002B2CF9AE}" pid="3" name="KSOProductBuildVer">
    <vt:lpwstr>1033-11.2.0.11440</vt:lpwstr>
  </property>
</Properties>
</file>
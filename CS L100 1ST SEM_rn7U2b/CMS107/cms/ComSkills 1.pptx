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4" r:id="rId4"/>
    <p:sldId id="258" r:id="rId5"/>
    <p:sldId id="266" r:id="rId6"/>
    <p:sldId id="259" r:id="rId7"/>
    <p:sldId id="260" r:id="rId8"/>
    <p:sldId id="261" r:id="rId9"/>
    <p:sldId id="274" r:id="rId10"/>
    <p:sldId id="262" r:id="rId11"/>
    <p:sldId id="265" r:id="rId12"/>
    <p:sldId id="267" r:id="rId13"/>
    <p:sldId id="268" r:id="rId14"/>
    <p:sldId id="270" r:id="rId15"/>
    <p:sldId id="269" r:id="rId16"/>
    <p:sldId id="272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5" autoAdjust="0"/>
    <p:restoredTop sz="94660"/>
  </p:normalViewPr>
  <p:slideViewPr>
    <p:cSldViewPr snapToGrid="0">
      <p:cViewPr>
        <p:scale>
          <a:sx n="77" d="100"/>
          <a:sy n="77" d="100"/>
        </p:scale>
        <p:origin x="-216" y="-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70AD2F-BC04-4219-8D46-0DC06E133EB7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376C-D17E-4C22-866A-65CD171CF3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9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51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36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74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79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3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15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83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69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01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1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376C-D17E-4C22-866A-65CD171CF3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725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2D2CB8-8F7F-4E11-9471-32A17D5BE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A659012-B32C-4EE8-8DAB-85B0700C5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E990A3B-1AC1-4550-8FAC-E6A0F2F5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9A78E50-49E8-4848-9E25-4144F4C9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1633A95-C1EA-441D-BD92-6E4B4356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373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84E431-14FC-436D-9D48-5A10E18F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6388F4C-E521-4532-A9D6-DC484CB51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4AF4325-F262-446A-875A-FB9C0A92D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0B17C80-13FA-478F-96F7-FA431BFED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B264B86-872E-4BA4-ADD1-02A0A3F6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57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823A9F-04A9-469C-9EF0-912BE6E07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FE7B9E6-4A5B-45CE-A4C0-E7DF35ADD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9FCB539-01E8-4A93-9FFB-35452EB5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573242B-D215-4838-9905-52A0011D6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E3E393-3D31-4ED5-B929-4C36C205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39038AA-74AE-49FF-BEA1-2CD36F41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1F0CBD-95DD-4496-BE1F-9972D2DEA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BC2E15F-3EFA-4C11-A98F-52D71B2B7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5ABC655-5A35-4D0D-8C62-8FB5D5EB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477ABE3-F5E0-4E1C-B803-A8266A21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70161D1-FA09-4CCF-AF49-97A4667D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345510-601E-4427-A450-E0376437E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C11DAC4-0E73-4BCF-A800-C917D4875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1B5BA41-88ED-4B62-A269-9BBACC972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592855E-FED6-40E9-8DC0-EBC439640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0F41E53-0FEF-435D-927C-CA3D2F1A8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A0E9D15-F2A8-41D3-8C95-02E09B87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75A5C78-E3C2-4EED-B06F-B1B48192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896BC3A7-8BD8-4862-AC4E-D896750A0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5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BF7D39-A4A9-4BB2-A242-43F045735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774D718-BE51-42DB-BE8B-62A36D9A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351A72F-C91B-4FBE-80C7-5BB8208D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7A35D02-440D-4EC2-9B6C-6A756004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64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2D83308-C149-43CD-9217-DA87149E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DFA9785-57E7-4DE4-833B-31CF27C1C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4B46AA6-B76A-408B-B5AE-BFB6566F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1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DF0CDE5-DB1F-4110-8A51-76F94D38C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F041F2-9A74-4C29-925A-D5C3FE2FC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EE38A29-B1A3-4674-BA8C-0BC95AA9D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E9DB7A6A-727B-4A72-836C-39C2E0B4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BD73DEF-70AD-411D-8383-18BD38E5C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4F0241E-2AE0-4E63-9A36-C381EE853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49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68C22E-351D-4BAC-B01B-A6AC25418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C748FED-F064-4AF8-B568-B0A9E807A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B014719-AA2F-4214-80E6-9D4AA4A75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0D59E22-22D4-45EA-9034-DA7F4C61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777BC86-F4F2-4F91-ABF7-CFE397CBB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BDB5502-F277-45F4-8ED3-4C0DC178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6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1CFA3E-EA16-4228-BDD8-24C17371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D9A85FF-22D7-4409-A36F-90BAE9E98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ECB47BA-33B1-47FE-8706-E5658BF49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08B89E-95E4-4908-A414-5EA53A26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E467017-0ABC-4501-A087-0FC3FD97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2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46E2AB08-5110-49E7-B703-0853B21A94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2580D7C-CC96-4A46-A26B-87A4EF6FD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B668D2A-5181-4EE2-8172-C7B252B6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74430A-FF30-4403-9957-82A6006E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F4A82B2-1B24-45A6-94AF-232CA950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05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F039A7A-C725-46E6-B517-6E2B5B5C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8BDFCC1-CF17-4646-A19B-93B1A91C5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3DB1355-A908-4E4B-B0B8-4F2A3716DF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4C9DE-C182-4E76-A609-152C8A215B9F}" type="datetimeFigureOut">
              <a:rPr lang="en-US" smtClean="0"/>
              <a:t>4/6/2020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7A96A9E-B195-44C7-9B05-CF6E6F3CE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94AFBC4-5852-4F86-B9F0-FB42928B1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B7C55-F794-4D1B-A3C9-1E23C5303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624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48DC23-035F-490E-A625-7E7E06849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84650"/>
          </a:xfrm>
        </p:spPr>
        <p:txBody>
          <a:bodyPr/>
          <a:lstStyle/>
          <a:p>
            <a:r>
              <a:rPr lang="en-US" b="1" dirty="0"/>
              <a:t>COMPOSING THE ESSAY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028E619-5CC6-45B7-B46B-28056B900E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6B22DB5-D127-4B40-85BF-1F9961EC7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9" y="2607013"/>
            <a:ext cx="9143999" cy="391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354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6E0CD4-9935-4DAD-A1B1-777738697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STAGES IN COMPOSING AN ESSAY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89B445-AFB0-4976-BFEB-9C005FA5C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5400" dirty="0"/>
              <a:t>PRE WRITING STAGE(PLANNING)</a:t>
            </a:r>
          </a:p>
          <a:p>
            <a:pPr marL="514350" indent="-514350">
              <a:buAutoNum type="arabicPeriod"/>
            </a:pPr>
            <a:r>
              <a:rPr lang="en-US" sz="5400" dirty="0"/>
              <a:t>WRITING STAGE</a:t>
            </a:r>
          </a:p>
          <a:p>
            <a:pPr marL="514350" indent="-514350">
              <a:buAutoNum type="arabicPeriod"/>
            </a:pPr>
            <a:r>
              <a:rPr lang="en-US" sz="5400" dirty="0"/>
              <a:t>POST WRITING STAGE</a:t>
            </a:r>
          </a:p>
        </p:txBody>
      </p:sp>
    </p:spTree>
    <p:extLst>
      <p:ext uri="{BB962C8B-B14F-4D97-AF65-F5344CB8AC3E}">
        <p14:creationId xmlns:p14="http://schemas.microsoft.com/office/powerpoint/2010/main" val="13414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62F72E-14A3-428D-924F-425837DD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4D5C8F65-A741-4661-9B30-AE284FA8F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4802187"/>
          </a:xfrm>
        </p:spPr>
      </p:pic>
    </p:spTree>
    <p:extLst>
      <p:ext uri="{BB962C8B-B14F-4D97-AF65-F5344CB8AC3E}">
        <p14:creationId xmlns:p14="http://schemas.microsoft.com/office/powerpoint/2010/main" val="944215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1E7E07-2845-4AD4-BC79-7E39D39C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 WRITING STAGE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Before you start writing the essay itself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67CB04-B96D-47AE-A8EE-B8DBD088B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Search for/finding  a topic(when no topic has been given)</a:t>
            </a:r>
          </a:p>
          <a:p>
            <a:r>
              <a:rPr lang="en-US" dirty="0"/>
              <a:t>Select and limiting the topic</a:t>
            </a:r>
          </a:p>
          <a:p>
            <a:r>
              <a:rPr lang="en-US" dirty="0"/>
              <a:t>Brainstorm for ideas</a:t>
            </a:r>
          </a:p>
          <a:p>
            <a:r>
              <a:rPr lang="en-US" dirty="0"/>
              <a:t>Identify the type/nature of the essay</a:t>
            </a:r>
          </a:p>
          <a:p>
            <a:r>
              <a:rPr lang="en-US" dirty="0"/>
              <a:t>Determine the purpose </a:t>
            </a:r>
          </a:p>
          <a:p>
            <a:r>
              <a:rPr lang="en-US" dirty="0"/>
              <a:t>Consider the audience/readers</a:t>
            </a:r>
          </a:p>
          <a:p>
            <a:r>
              <a:rPr lang="en-US" dirty="0"/>
              <a:t>Your interest in the topic</a:t>
            </a:r>
          </a:p>
          <a:p>
            <a:r>
              <a:rPr lang="en-US" dirty="0"/>
              <a:t>Research information</a:t>
            </a:r>
          </a:p>
          <a:p>
            <a:r>
              <a:rPr lang="en-US" dirty="0"/>
              <a:t>Organizing the information ( outline)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43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20EAAA-A0AC-49AD-9C33-E411918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Finding, Choosing and limiting the topic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6778BA0-2733-4A11-85B7-2749B9673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 a Topic</a:t>
            </a:r>
          </a:p>
          <a:p>
            <a:pPr marL="0" indent="0">
              <a:buNone/>
            </a:pPr>
            <a:r>
              <a:rPr lang="en-US" dirty="0"/>
              <a:t>Brainstorm on your own or with peers</a:t>
            </a:r>
          </a:p>
          <a:p>
            <a:pPr marL="0" indent="0">
              <a:buNone/>
            </a:pPr>
            <a:r>
              <a:rPr lang="en-US" dirty="0"/>
              <a:t>Considering your community/environment</a:t>
            </a:r>
          </a:p>
          <a:p>
            <a:pPr marL="0" indent="0">
              <a:buNone/>
            </a:pPr>
            <a:r>
              <a:rPr lang="en-US" dirty="0"/>
              <a:t>Reading other works of interest to find the gap</a:t>
            </a:r>
          </a:p>
          <a:p>
            <a:pPr marL="0" indent="0">
              <a:buNone/>
            </a:pPr>
            <a:r>
              <a:rPr lang="en-US" dirty="0"/>
              <a:t>Etc.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However, most of the writings for this course, the topic will be given 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9600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52E08C5-70BC-4815-9198-805A1296D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Choosing and limiting the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2CB6F90-0A00-4990-9CAE-A46E2C05D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95000"/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prstClr val="black"/>
                </a:solidFill>
                <a:latin typeface="Constantia"/>
              </a:rPr>
              <a:t>Choosing a topic from alternatives or options</a:t>
            </a:r>
          </a:p>
          <a:p>
            <a:pPr marL="978408" lvl="3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None/>
            </a:pPr>
            <a:r>
              <a:rPr lang="en-US" sz="2000" dirty="0">
                <a:solidFill>
                  <a:prstClr val="black"/>
                </a:solidFill>
                <a:latin typeface="Constantia"/>
              </a:rPr>
              <a:t>Choose a topic that </a:t>
            </a:r>
            <a:r>
              <a:rPr lang="en-US" sz="2000" dirty="0" smtClean="0">
                <a:solidFill>
                  <a:prstClr val="black"/>
                </a:solidFill>
                <a:latin typeface="Constantia"/>
              </a:rPr>
              <a:t>interests you.</a:t>
            </a:r>
            <a:endParaRPr lang="en-US" sz="2000" dirty="0">
              <a:solidFill>
                <a:prstClr val="black"/>
              </a:solidFill>
              <a:latin typeface="Constantia"/>
            </a:endParaRPr>
          </a:p>
          <a:p>
            <a:pPr marL="978408" lvl="3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None/>
            </a:pPr>
            <a:r>
              <a:rPr lang="en-US" sz="2000" dirty="0">
                <a:solidFill>
                  <a:prstClr val="black"/>
                </a:solidFill>
                <a:latin typeface="Constantia"/>
              </a:rPr>
              <a:t>Choose a topic you are familiar with or well informed about.</a:t>
            </a:r>
          </a:p>
          <a:p>
            <a:pPr marL="978408" lvl="3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None/>
            </a:pPr>
            <a:r>
              <a:rPr lang="en-US" sz="2000" dirty="0">
                <a:solidFill>
                  <a:prstClr val="black"/>
                </a:solidFill>
                <a:latin typeface="Constantia"/>
              </a:rPr>
              <a:t>Consider  the time available to finish it.</a:t>
            </a:r>
          </a:p>
          <a:p>
            <a:pPr marL="978408" lvl="3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None/>
            </a:pPr>
            <a:r>
              <a:rPr lang="en-US" sz="2000" dirty="0">
                <a:solidFill>
                  <a:prstClr val="black"/>
                </a:solidFill>
                <a:latin typeface="Constantia"/>
              </a:rPr>
              <a:t>Evaluate the points you can provide for the topic you intend to </a:t>
            </a:r>
            <a:r>
              <a:rPr lang="en-US" sz="2000" dirty="0" smtClean="0">
                <a:solidFill>
                  <a:prstClr val="black"/>
                </a:solidFill>
                <a:latin typeface="Constantia"/>
              </a:rPr>
              <a:t>choose.</a:t>
            </a:r>
            <a:endParaRPr lang="en-US" sz="2000" dirty="0">
              <a:solidFill>
                <a:prstClr val="black"/>
              </a:solidFill>
              <a:latin typeface="Constantia"/>
            </a:endParaRPr>
          </a:p>
          <a:p>
            <a:pPr marL="521208" lvl="1" indent="-45720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sz="2800" b="1" dirty="0" smtClean="0">
                <a:solidFill>
                  <a:prstClr val="black"/>
                </a:solidFill>
                <a:latin typeface="Constantia"/>
              </a:rPr>
              <a:t>Limiting </a:t>
            </a:r>
            <a:r>
              <a:rPr lang="en-US" sz="2800" b="1" dirty="0">
                <a:solidFill>
                  <a:prstClr val="black"/>
                </a:solidFill>
                <a:latin typeface="Constantia"/>
              </a:rPr>
              <a:t>the topic</a:t>
            </a:r>
          </a:p>
          <a:p>
            <a:pPr marL="978408" lvl="3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None/>
            </a:pPr>
            <a:r>
              <a:rPr lang="en-US" sz="2000" dirty="0">
                <a:solidFill>
                  <a:prstClr val="black"/>
                </a:solidFill>
                <a:latin typeface="Constantia"/>
              </a:rPr>
              <a:t>The purpose of limiting  your  topic is to help you produce a topic that you can write about properly and well in one paper.</a:t>
            </a:r>
          </a:p>
          <a:p>
            <a:pPr marL="978408" lvl="3" indent="0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None/>
            </a:pPr>
            <a:r>
              <a:rPr lang="en-US" sz="2000" dirty="0">
                <a:solidFill>
                  <a:prstClr val="black"/>
                </a:solidFill>
                <a:latin typeface="Constantia"/>
              </a:rPr>
              <a:t>If your subject is too large, the information you provide to the reader will be too general or vague  hence not </a:t>
            </a:r>
            <a:r>
              <a:rPr lang="en-US" sz="2000" dirty="0" smtClean="0">
                <a:solidFill>
                  <a:prstClr val="black"/>
                </a:solidFill>
                <a:latin typeface="Constantia"/>
              </a:rPr>
              <a:t>interesting:</a:t>
            </a:r>
            <a:endParaRPr lang="en-US" sz="2000" dirty="0">
              <a:solidFill>
                <a:prstClr val="black"/>
              </a:solidFill>
              <a:latin typeface="Constantia"/>
            </a:endParaRPr>
          </a:p>
          <a:p>
            <a:pPr marL="1188720" lvl="3" indent="-210312">
              <a:lnSpc>
                <a:spcPct val="100000"/>
              </a:lnSpc>
              <a:spcBef>
                <a:spcPct val="20000"/>
              </a:spcBef>
              <a:buClr>
                <a:srgbClr val="0BD0D9"/>
              </a:buClr>
              <a:buSzPct val="65000"/>
              <a:buFont typeface="Wingdings 2"/>
              <a:buChar char=""/>
            </a:pPr>
            <a:r>
              <a:rPr lang="en-US" sz="2000" dirty="0" smtClean="0">
                <a:solidFill>
                  <a:prstClr val="black"/>
                </a:solidFill>
                <a:latin typeface="Constantia"/>
              </a:rPr>
              <a:t>E.g. </a:t>
            </a:r>
            <a:r>
              <a:rPr lang="en-US" sz="2000" dirty="0">
                <a:solidFill>
                  <a:prstClr val="black"/>
                </a:solidFill>
                <a:latin typeface="Constantia"/>
              </a:rPr>
              <a:t>Communication in the world</a:t>
            </a:r>
          </a:p>
          <a:p>
            <a:pPr marL="1527048" lvl="5" indent="0">
              <a:lnSpc>
                <a:spcPct val="100000"/>
              </a:lnSpc>
              <a:spcBef>
                <a:spcPct val="20000"/>
              </a:spcBef>
              <a:buClr>
                <a:srgbClr val="7CCA62"/>
              </a:buClr>
              <a:buSzPct val="80000"/>
              <a:buNone/>
            </a:pPr>
            <a:r>
              <a:rPr lang="en-US" dirty="0">
                <a:solidFill>
                  <a:prstClr val="black"/>
                </a:solidFill>
                <a:latin typeface="Constantia"/>
              </a:rPr>
              <a:t> Three  ways of communicating non verbally </a:t>
            </a:r>
          </a:p>
          <a:p>
            <a:pPr marL="155448" lvl="2" indent="0">
              <a:lnSpc>
                <a:spcPct val="100000"/>
              </a:lnSpc>
              <a:spcBef>
                <a:spcPct val="20000"/>
              </a:spcBef>
              <a:buClr>
                <a:srgbClr val="7CCA62"/>
              </a:buClr>
              <a:buSzPct val="80000"/>
              <a:buNone/>
            </a:pPr>
            <a:r>
              <a:rPr lang="en-US" dirty="0">
                <a:solidFill>
                  <a:prstClr val="black"/>
                </a:solidFill>
                <a:latin typeface="Constantia"/>
              </a:rPr>
              <a:t>Narrow the idea to a specific number or aspect so it can be </a:t>
            </a:r>
            <a:r>
              <a:rPr lang="en-US" dirty="0" smtClean="0">
                <a:solidFill>
                  <a:prstClr val="black"/>
                </a:solidFill>
                <a:latin typeface="Constantia"/>
              </a:rPr>
              <a:t>managed.</a:t>
            </a:r>
            <a:endParaRPr lang="en-US" dirty="0">
              <a:solidFill>
                <a:prstClr val="black"/>
              </a:solidFill>
              <a:latin typeface="Constanti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0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066494-7B4B-40F6-9BAB-3C14E9FA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Researching for information(sources)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6480FEE-C76A-43D8-AD79-9FFA851EF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-758952">
              <a:buNone/>
            </a:pPr>
            <a:r>
              <a:rPr lang="en-US" sz="3000" dirty="0"/>
              <a:t>Internet sources</a:t>
            </a:r>
          </a:p>
          <a:p>
            <a:pPr marL="0" lvl="1" indent="-301752">
              <a:buNone/>
            </a:pPr>
            <a:r>
              <a:rPr lang="en-US" sz="3000" dirty="0"/>
              <a:t>Interview</a:t>
            </a:r>
          </a:p>
          <a:p>
            <a:pPr marL="0" lvl="1" indent="-301752">
              <a:buNone/>
            </a:pPr>
            <a:r>
              <a:rPr lang="en-US" sz="3000" dirty="0"/>
              <a:t>Government publication</a:t>
            </a:r>
          </a:p>
          <a:p>
            <a:pPr marL="0" lvl="1" indent="-301752">
              <a:buNone/>
            </a:pPr>
            <a:r>
              <a:rPr lang="en-US" sz="3000" dirty="0"/>
              <a:t>Text books</a:t>
            </a:r>
          </a:p>
          <a:p>
            <a:pPr marL="0" lvl="1" indent="-301752">
              <a:buNone/>
            </a:pPr>
            <a:r>
              <a:rPr lang="en-US" sz="3000" dirty="0"/>
              <a:t>Library </a:t>
            </a:r>
            <a:r>
              <a:rPr lang="en-US" sz="3000" dirty="0" smtClean="0"/>
              <a:t>  </a:t>
            </a:r>
          </a:p>
          <a:p>
            <a:pPr marL="0" lvl="1" indent="-301752">
              <a:buNone/>
            </a:pPr>
            <a:r>
              <a:rPr lang="en-US" sz="3000" dirty="0" smtClean="0"/>
              <a:t>newspapers</a:t>
            </a:r>
            <a:endParaRPr lang="en-US" sz="3000" dirty="0"/>
          </a:p>
          <a:p>
            <a:pPr marL="0" lvl="1" indent="-301752">
              <a:buNone/>
            </a:pPr>
            <a:r>
              <a:rPr lang="en-US" sz="3000" dirty="0"/>
              <a:t>Encyclopedia</a:t>
            </a:r>
          </a:p>
          <a:p>
            <a:pPr marL="0" lvl="1" indent="-301752">
              <a:buNone/>
            </a:pPr>
            <a:r>
              <a:rPr lang="en-US" sz="3000" dirty="0"/>
              <a:t>Articles/journals</a:t>
            </a:r>
          </a:p>
          <a:p>
            <a:pPr marL="0" lvl="1" indent="-301752">
              <a:buNone/>
            </a:pPr>
            <a:r>
              <a:rPr lang="en-US" sz="3000" dirty="0"/>
              <a:t>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5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7400DC-BF30-46A8-8083-0322430C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Writing the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A56714F-60C5-49C9-8FB0-93CB943C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Skeletal/Pictorial form of the essay by putting down the major and minor points of the ideas</a:t>
            </a:r>
          </a:p>
          <a:p>
            <a:r>
              <a:rPr lang="en-US" dirty="0"/>
              <a:t>Write down the topic.</a:t>
            </a:r>
          </a:p>
          <a:p>
            <a:r>
              <a:rPr lang="en-US" dirty="0"/>
              <a:t>Write down the main ideas or points that will be used </a:t>
            </a:r>
            <a:r>
              <a:rPr lang="en-US" dirty="0" smtClean="0"/>
              <a:t>in </a:t>
            </a:r>
            <a:r>
              <a:rPr lang="en-US" dirty="0"/>
              <a:t>developing the topic.</a:t>
            </a:r>
          </a:p>
          <a:p>
            <a:r>
              <a:rPr lang="en-US" dirty="0"/>
              <a:t>Put down sub ideas or points that will explain the sub ideas</a:t>
            </a:r>
            <a:r>
              <a:rPr lang="en-US" dirty="0" smtClean="0"/>
              <a:t>. For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WAYS OF IMPROVING SANITATION ON UCC CAMPUS</a:t>
            </a:r>
          </a:p>
          <a:p>
            <a:pPr marL="457200" lvl="1" indent="0">
              <a:buNone/>
            </a:pPr>
            <a:r>
              <a:rPr lang="en-US" dirty="0"/>
              <a:t>Introduction </a:t>
            </a:r>
          </a:p>
          <a:p>
            <a:pPr marL="914400" lvl="2" indent="0">
              <a:buNone/>
            </a:pPr>
            <a:r>
              <a:rPr lang="en-US" dirty="0"/>
              <a:t>Explain sanitation</a:t>
            </a:r>
          </a:p>
          <a:p>
            <a:pPr marL="914400" lvl="2" indent="0">
              <a:buNone/>
            </a:pPr>
            <a:r>
              <a:rPr lang="en-US" dirty="0"/>
              <a:t>Thesis statement</a:t>
            </a:r>
          </a:p>
          <a:p>
            <a:pPr marL="457200" lvl="1" indent="0">
              <a:buNone/>
            </a:pPr>
            <a:r>
              <a:rPr lang="en-US" dirty="0" smtClean="0"/>
              <a:t>Body( Here we are going to develop the three ideas below in three different paragraphs)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Provision of </a:t>
            </a:r>
            <a:r>
              <a:rPr lang="en-US" dirty="0" smtClean="0"/>
              <a:t>Dustbins</a:t>
            </a:r>
          </a:p>
          <a:p>
            <a:pPr marL="914400" lvl="2" indent="0">
              <a:buNone/>
            </a:pPr>
            <a:r>
              <a:rPr lang="en-US" dirty="0" smtClean="0"/>
              <a:t>Making </a:t>
            </a:r>
            <a:r>
              <a:rPr lang="en-US" dirty="0"/>
              <a:t>dustbins available at vantage point</a:t>
            </a:r>
          </a:p>
          <a:p>
            <a:pPr marL="914400" lvl="2" indent="0">
              <a:buNone/>
            </a:pPr>
            <a:r>
              <a:rPr lang="en-US" dirty="0"/>
              <a:t>Education and sensitization of students</a:t>
            </a:r>
          </a:p>
          <a:p>
            <a:pPr marL="457200" lvl="1" indent="0">
              <a:buNone/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39055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WRITING STAGE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876" y="1371599"/>
            <a:ext cx="9391135" cy="4485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9999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A15F59C-A5F0-42FB-8F5B-2218792F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WRITING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6972A31-62CD-4BCA-9710-35B91390D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where one starts to write the essay itself by putting down the title or heading deduced from the question.</a:t>
            </a:r>
          </a:p>
          <a:p>
            <a:pPr marL="0" indent="0">
              <a:buNone/>
            </a:pPr>
            <a:r>
              <a:rPr lang="en-US" b="1" dirty="0"/>
              <a:t>STRUCTURE OF THE ESSAY</a:t>
            </a:r>
          </a:p>
          <a:p>
            <a:pPr marL="0" indent="0">
              <a:buNone/>
            </a:pPr>
            <a:r>
              <a:rPr lang="en-US" dirty="0"/>
              <a:t>INTRODUCTORY PARAGRAGH</a:t>
            </a:r>
          </a:p>
          <a:p>
            <a:pPr marL="0" indent="0">
              <a:buNone/>
            </a:pPr>
            <a:r>
              <a:rPr lang="en-US" dirty="0"/>
              <a:t>BODY PARAGRAPHS</a:t>
            </a:r>
          </a:p>
          <a:p>
            <a:pPr marL="0" indent="0">
              <a:buNone/>
            </a:pPr>
            <a:r>
              <a:rPr lang="en-US" dirty="0"/>
              <a:t>CONCLUDING PARAGRAPH</a:t>
            </a:r>
          </a:p>
        </p:txBody>
      </p:sp>
    </p:spTree>
    <p:extLst>
      <p:ext uri="{BB962C8B-B14F-4D97-AF65-F5344CB8AC3E}">
        <p14:creationId xmlns:p14="http://schemas.microsoft.com/office/powerpoint/2010/main" val="3835139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B006BF-BFA1-4987-A8D2-84D64D89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INTRODUCTORY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F9DE4CE-9A33-4C19-AB62-B0F8D78F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It is the first paragraph of an essay.</a:t>
            </a:r>
          </a:p>
          <a:p>
            <a:r>
              <a:rPr lang="en-US" dirty="0"/>
              <a:t>It is supposed to introduce the reader to the essay by welcoming him or her to the topic.</a:t>
            </a:r>
          </a:p>
          <a:p>
            <a:r>
              <a:rPr lang="en-US" dirty="0"/>
              <a:t>It </a:t>
            </a:r>
            <a:r>
              <a:rPr lang="en-US" dirty="0" smtClean="0"/>
              <a:t>needs </a:t>
            </a:r>
            <a:r>
              <a:rPr lang="en-US" dirty="0"/>
              <a:t>to be interesting to hook the reader to read the essay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There should be introductory sentence(s) that set the tone for the essay.</a:t>
            </a:r>
            <a:endParaRPr lang="en-US" dirty="0"/>
          </a:p>
          <a:p>
            <a:r>
              <a:rPr lang="en-US" dirty="0"/>
              <a:t>It should state the thesis or purpose of the essay by </a:t>
            </a:r>
            <a:r>
              <a:rPr lang="en-US" dirty="0" smtClean="0"/>
              <a:t>outlining </a:t>
            </a:r>
            <a:r>
              <a:rPr lang="en-US" dirty="0"/>
              <a:t>how </a:t>
            </a:r>
            <a:r>
              <a:rPr lang="en-US" dirty="0" smtClean="0"/>
              <a:t>the ideas </a:t>
            </a:r>
            <a:r>
              <a:rPr lang="en-US" dirty="0"/>
              <a:t>will be presented in the essay. ( </a:t>
            </a:r>
            <a:r>
              <a:rPr lang="en-US" dirty="0" smtClean="0"/>
              <a:t>Clearly states </a:t>
            </a:r>
            <a:r>
              <a:rPr lang="en-US" dirty="0"/>
              <a:t>the organization or plan of the whole essay).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Attention must be given to the introduction because </a:t>
            </a:r>
            <a:r>
              <a:rPr lang="en-US" dirty="0" smtClean="0"/>
              <a:t>a first </a:t>
            </a:r>
            <a:r>
              <a:rPr lang="en-US" dirty="0"/>
              <a:t>impression lasts and the reader is assured that the essay is worth reading if the </a:t>
            </a:r>
            <a:r>
              <a:rPr lang="en-US" dirty="0" smtClean="0"/>
              <a:t>introduction </a:t>
            </a:r>
            <a:r>
              <a:rPr lang="en-US" dirty="0"/>
              <a:t>is good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134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07FDD0-CE6A-40C6-9048-2FF695D09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/CONTENT OF THE INTRODUCTORY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197F154-567C-4E0A-827B-6BE837654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/>
              <a:t>Opening Statement/General statement about the topic( </a:t>
            </a:r>
            <a:r>
              <a:rPr lang="en-US" sz="4000" dirty="0" smtClean="0"/>
              <a:t>sometimes can be optional</a:t>
            </a:r>
            <a:r>
              <a:rPr lang="en-US" sz="4000" dirty="0"/>
              <a:t>)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b="1" dirty="0"/>
              <a:t>Lead </a:t>
            </a:r>
            <a:r>
              <a:rPr lang="en-US" sz="4000" b="1" dirty="0" smtClean="0"/>
              <a:t>in</a:t>
            </a:r>
            <a:r>
              <a:rPr lang="en-US" sz="4000" dirty="0" smtClean="0"/>
              <a:t> </a:t>
            </a:r>
            <a:r>
              <a:rPr lang="en-US" sz="4000" dirty="0"/>
              <a:t>or </a:t>
            </a:r>
            <a:r>
              <a:rPr lang="en-US" sz="4000" b="1" dirty="0"/>
              <a:t>The Hook</a:t>
            </a:r>
            <a:r>
              <a:rPr lang="en-US" sz="4000" dirty="0"/>
              <a:t> which adopts different techniques</a:t>
            </a:r>
          </a:p>
          <a:p>
            <a:pPr marL="0" indent="0">
              <a:buNone/>
            </a:pPr>
            <a:endParaRPr lang="en-US" sz="4000" dirty="0"/>
          </a:p>
          <a:p>
            <a:r>
              <a:rPr lang="en-US" sz="4000" dirty="0"/>
              <a:t>Thesis Statement</a:t>
            </a:r>
          </a:p>
        </p:txBody>
      </p:sp>
    </p:spTree>
    <p:extLst>
      <p:ext uri="{BB962C8B-B14F-4D97-AF65-F5344CB8AC3E}">
        <p14:creationId xmlns:p14="http://schemas.microsoft.com/office/powerpoint/2010/main" val="179929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5A9986-5148-460B-88BB-D506A3C0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INTRODUCTORY PARAGRAPH(TECHNIQUES)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D2F2269-51D5-4A42-B865-A2D06E5D9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different ways, methods or styles that one can </a:t>
            </a:r>
            <a:r>
              <a:rPr lang="en-US" dirty="0" smtClean="0"/>
              <a:t>adopt </a:t>
            </a:r>
            <a:r>
              <a:rPr lang="en-US" dirty="0"/>
              <a:t>as the lead in or the hook for his or her essay</a:t>
            </a:r>
          </a:p>
          <a:p>
            <a:pPr lvl="1"/>
            <a:r>
              <a:rPr lang="en-US" dirty="0"/>
              <a:t>Quotations/adages/proverbs/idioms which have direct bearing on the topic.</a:t>
            </a:r>
          </a:p>
          <a:p>
            <a:pPr lvl="1"/>
            <a:r>
              <a:rPr lang="en-US" dirty="0" smtClean="0"/>
              <a:t>Short </a:t>
            </a:r>
            <a:r>
              <a:rPr lang="en-US" dirty="0"/>
              <a:t>stories ( Anecdotes)</a:t>
            </a:r>
          </a:p>
          <a:p>
            <a:pPr lvl="1"/>
            <a:r>
              <a:rPr lang="en-US" dirty="0" smtClean="0"/>
              <a:t>Figures, facts </a:t>
            </a:r>
            <a:r>
              <a:rPr lang="en-US" dirty="0"/>
              <a:t>or statistics</a:t>
            </a:r>
          </a:p>
          <a:p>
            <a:pPr lvl="1"/>
            <a:r>
              <a:rPr lang="en-US" dirty="0"/>
              <a:t>Vivid description</a:t>
            </a:r>
          </a:p>
          <a:p>
            <a:pPr lvl="1"/>
            <a:r>
              <a:rPr lang="en-US" dirty="0"/>
              <a:t>Rhetorical question</a:t>
            </a:r>
          </a:p>
          <a:p>
            <a:pPr lvl="1"/>
            <a:r>
              <a:rPr lang="en-US" dirty="0"/>
              <a:t>Short history /Background information</a:t>
            </a:r>
          </a:p>
          <a:p>
            <a:pPr lvl="1"/>
            <a:r>
              <a:rPr lang="en-US" dirty="0"/>
              <a:t>Definition of key terms</a:t>
            </a:r>
          </a:p>
          <a:p>
            <a:pPr lvl="1"/>
            <a:r>
              <a:rPr lang="en-US" dirty="0"/>
              <a:t>General importance of the topic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37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61BF0E-0808-4420-84B6-296B10EE3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THESIS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1D5EFB-D16A-4439-A475-87B96C2E9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contains the central idea or ideas that the essay seeks to </a:t>
            </a:r>
            <a:r>
              <a:rPr lang="en-US" dirty="0" smtClean="0"/>
              <a:t>develop.</a:t>
            </a:r>
            <a:endParaRPr lang="en-US" dirty="0"/>
          </a:p>
          <a:p>
            <a:r>
              <a:rPr lang="en-US" dirty="0"/>
              <a:t>It controls and </a:t>
            </a:r>
            <a:r>
              <a:rPr lang="en-US" dirty="0" smtClean="0"/>
              <a:t>limits </a:t>
            </a:r>
            <a:r>
              <a:rPr lang="en-US" dirty="0"/>
              <a:t>what the essay intends to </a:t>
            </a:r>
            <a:r>
              <a:rPr lang="en-US" dirty="0" smtClean="0"/>
              <a:t>cover.</a:t>
            </a:r>
            <a:endParaRPr lang="en-US" dirty="0"/>
          </a:p>
          <a:p>
            <a:r>
              <a:rPr lang="en-US" dirty="0"/>
              <a:t>It must be written in specific and precise </a:t>
            </a:r>
            <a:r>
              <a:rPr lang="en-US" dirty="0" smtClean="0"/>
              <a:t>language.</a:t>
            </a:r>
            <a:endParaRPr lang="en-US" dirty="0"/>
          </a:p>
          <a:p>
            <a:r>
              <a:rPr lang="en-US" dirty="0"/>
              <a:t>It is a mandatory content/part of the </a:t>
            </a:r>
            <a:r>
              <a:rPr lang="en-US" dirty="0" smtClean="0"/>
              <a:t>introduction: 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This essay will discuss three  causes of teenage pregnancy in Ghana</a:t>
            </a:r>
            <a:r>
              <a:rPr lang="en-US" b="1" dirty="0"/>
              <a:t> OR </a:t>
            </a:r>
            <a:r>
              <a:rPr lang="en-US" dirty="0"/>
              <a:t>This essay will discuss peer pressure, broken homes and poverty as the causes of teenage pregnancy in </a:t>
            </a:r>
            <a:r>
              <a:rPr lang="en-US" dirty="0" smtClean="0"/>
              <a:t>Ghana.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00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4333D-78D3-498B-8AF7-8458B5F6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BODY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EDDEE04-80CD-4DB5-A7D1-DC0D4B5A3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It provides details in support of the thesis.</a:t>
            </a:r>
          </a:p>
          <a:p>
            <a:r>
              <a:rPr lang="en-US" dirty="0"/>
              <a:t>It contains a number of paragraphs with each paragraph developing one main </a:t>
            </a:r>
            <a:r>
              <a:rPr lang="en-US" dirty="0" smtClean="0"/>
              <a:t>point.</a:t>
            </a:r>
            <a:endParaRPr lang="en-US" dirty="0"/>
          </a:p>
          <a:p>
            <a:r>
              <a:rPr lang="en-US" dirty="0"/>
              <a:t>Each paragraph of the body paragraph must clearly indicate the topic sentence, the supporting sentences and sometimes a concluding </a:t>
            </a:r>
            <a:r>
              <a:rPr lang="en-US" dirty="0" smtClean="0"/>
              <a:t>sentence.</a:t>
            </a:r>
            <a:endParaRPr lang="en-US" dirty="0"/>
          </a:p>
          <a:p>
            <a:r>
              <a:rPr lang="en-US" dirty="0"/>
              <a:t>Transitional markers or </a:t>
            </a:r>
            <a:r>
              <a:rPr lang="en-US" dirty="0" smtClean="0"/>
              <a:t>devices, such as, “again”, “furthermore”, “secondly”, “on the other hand”, </a:t>
            </a:r>
            <a:r>
              <a:rPr lang="en-US" dirty="0"/>
              <a:t>can be used to link the ideas.</a:t>
            </a:r>
          </a:p>
          <a:p>
            <a:r>
              <a:rPr lang="en-US" dirty="0"/>
              <a:t>The paragraphs must be arranged logically making sure ideas flow into one </a:t>
            </a:r>
            <a:r>
              <a:rPr lang="en-US" dirty="0" smtClean="0"/>
              <a:t>another. </a:t>
            </a:r>
          </a:p>
          <a:p>
            <a:r>
              <a:rPr lang="en-US" dirty="0" smtClean="0"/>
              <a:t>There should be both inter and intra paragraph cohesion.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438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DE1EF5-CB03-4C92-82B8-D8575DE0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CONCLUDING PARAGRAPH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0CFA22E-88F0-4A2C-B361-84089DB10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Every good essay must have a concluding paragraph and it is an equally important part of the essay so attention must be given to it.</a:t>
            </a:r>
          </a:p>
          <a:p>
            <a:r>
              <a:rPr lang="en-US" dirty="0"/>
              <a:t>It is the final/last paragraph of the entire essay.</a:t>
            </a:r>
          </a:p>
          <a:p>
            <a:r>
              <a:rPr lang="en-US" dirty="0"/>
              <a:t>It sums up the main points which were introduced in the essay.</a:t>
            </a:r>
          </a:p>
          <a:p>
            <a:pPr marL="0" indent="0">
              <a:buNone/>
            </a:pPr>
            <a:r>
              <a:rPr lang="en-US" dirty="0"/>
              <a:t>METHODS/TECHNIQUES</a:t>
            </a:r>
          </a:p>
          <a:p>
            <a:r>
              <a:rPr lang="en-US" dirty="0"/>
              <a:t>A writer can suggest solutions or make </a:t>
            </a:r>
            <a:r>
              <a:rPr lang="en-US" dirty="0" smtClean="0"/>
              <a:t>deductions.</a:t>
            </a:r>
            <a:endParaRPr lang="en-US" dirty="0"/>
          </a:p>
          <a:p>
            <a:r>
              <a:rPr lang="en-US" dirty="0"/>
              <a:t>A writer can project into the </a:t>
            </a:r>
            <a:r>
              <a:rPr lang="en-US" dirty="0" smtClean="0"/>
              <a:t>future.</a:t>
            </a:r>
            <a:endParaRPr lang="en-US" dirty="0"/>
          </a:p>
          <a:p>
            <a:r>
              <a:rPr lang="en-US" dirty="0"/>
              <a:t>A writer can reiterate his/her </a:t>
            </a:r>
            <a:r>
              <a:rPr lang="en-US" dirty="0" smtClean="0"/>
              <a:t>stand.</a:t>
            </a:r>
            <a:endParaRPr lang="en-US" dirty="0"/>
          </a:p>
          <a:p>
            <a:r>
              <a:rPr lang="en-US" dirty="0"/>
              <a:t>A writer can </a:t>
            </a:r>
            <a:r>
              <a:rPr lang="en-US" dirty="0" smtClean="0"/>
              <a:t>re-state thesis.</a:t>
            </a:r>
            <a:endParaRPr lang="en-US" dirty="0"/>
          </a:p>
          <a:p>
            <a:r>
              <a:rPr lang="en-US" dirty="0"/>
              <a:t>A writer can use </a:t>
            </a:r>
            <a:r>
              <a:rPr lang="en-US" dirty="0" smtClean="0"/>
              <a:t>summary.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 not introduce a new point in the concluding paragraph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09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6BE3777-5AD3-48A8-BB88-7F5019E8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 /CONTENT OF EACH OF THE BODY PARAGRAPH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0B78B4-6362-4714-9CB0-4233BDCA1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Topic  Sentence </a:t>
            </a:r>
            <a:r>
              <a:rPr lang="en-US" dirty="0"/>
              <a:t>talks about the main idea to be developed in that paragraph. Each paragraph must have its own topic sentence. </a:t>
            </a:r>
          </a:p>
          <a:p>
            <a:pPr marL="0" indent="0">
              <a:buNone/>
            </a:pPr>
            <a:r>
              <a:rPr lang="en-US" dirty="0"/>
              <a:t>	It is mostly at the beginning of the paragraph.</a:t>
            </a:r>
          </a:p>
          <a:p>
            <a:pPr marL="0" indent="0">
              <a:buNone/>
            </a:pPr>
            <a:r>
              <a:rPr lang="en-US" b="1" dirty="0"/>
              <a:t>Supporting Sentences/Details</a:t>
            </a:r>
          </a:p>
          <a:p>
            <a:pPr marL="457200" lvl="1" indent="0">
              <a:buNone/>
            </a:pPr>
            <a:r>
              <a:rPr lang="en-US" dirty="0"/>
              <a:t>Major sentences</a:t>
            </a:r>
          </a:p>
          <a:p>
            <a:pPr marL="457200" lvl="1" indent="0">
              <a:buNone/>
            </a:pPr>
            <a:r>
              <a:rPr lang="en-US" dirty="0"/>
              <a:t>Minor sentences</a:t>
            </a:r>
          </a:p>
          <a:p>
            <a:pPr marL="0" indent="0">
              <a:buNone/>
            </a:pPr>
            <a:r>
              <a:rPr lang="en-US" b="1" dirty="0"/>
              <a:t>Concluding Sentence</a:t>
            </a:r>
          </a:p>
          <a:p>
            <a:pPr marL="457200" lvl="1" indent="0">
              <a:buNone/>
            </a:pPr>
            <a:r>
              <a:rPr lang="en-US" dirty="0"/>
              <a:t>Summary </a:t>
            </a:r>
            <a:r>
              <a:rPr lang="en-US" dirty="0" smtClean="0"/>
              <a:t>sentence(s) </a:t>
            </a:r>
            <a:r>
              <a:rPr lang="en-US" dirty="0"/>
              <a:t>which is </a:t>
            </a:r>
            <a:r>
              <a:rPr lang="en-US" dirty="0" smtClean="0"/>
              <a:t>optional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968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end, your essay must satisfy the following conditions:</a:t>
            </a:r>
          </a:p>
          <a:p>
            <a:r>
              <a:rPr lang="en-US" b="1" dirty="0" smtClean="0"/>
              <a:t>Completeness</a:t>
            </a:r>
            <a:r>
              <a:rPr lang="en-US" dirty="0" smtClean="0"/>
              <a:t>: The Thesis Statement must be completely developed in the body paragraphs of paragraphs of development.</a:t>
            </a:r>
          </a:p>
          <a:p>
            <a:r>
              <a:rPr lang="en-US" b="1" dirty="0" smtClean="0"/>
              <a:t>Coherence: </a:t>
            </a:r>
            <a:r>
              <a:rPr lang="en-US" dirty="0" smtClean="0"/>
              <a:t>All the sentences must flow into each other to develop the ideas stated in each paragraph.</a:t>
            </a:r>
          </a:p>
          <a:p>
            <a:r>
              <a:rPr lang="en-US" b="1" dirty="0" smtClean="0"/>
              <a:t>Unity</a:t>
            </a:r>
            <a:r>
              <a:rPr lang="en-US" dirty="0" smtClean="0"/>
              <a:t>: The sentences must work together in developing the ideas in each of </a:t>
            </a:r>
            <a:r>
              <a:rPr lang="en-US" smtClean="0"/>
              <a:t>the paragraphs.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0296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1000</Words>
  <Application>Microsoft Office PowerPoint</Application>
  <PresentationFormat>Custom</PresentationFormat>
  <Paragraphs>138</Paragraphs>
  <Slides>18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COMPOSING THE ESSAY</vt:lpstr>
      <vt:lpstr>STAGES IN COMPOSING AN ESSAY</vt:lpstr>
      <vt:lpstr>PowerPoint Presentation</vt:lpstr>
      <vt:lpstr>PRE WRITING STAGE Before you start writing the essay itself</vt:lpstr>
      <vt:lpstr>Finding, Choosing and limiting the topic</vt:lpstr>
      <vt:lpstr>Choosing and limiting the topic</vt:lpstr>
      <vt:lpstr>Researching for information(sources) </vt:lpstr>
      <vt:lpstr>Writing the Outline</vt:lpstr>
      <vt:lpstr>WRITING STAGE</vt:lpstr>
      <vt:lpstr>WRITING STAGE</vt:lpstr>
      <vt:lpstr>THE INTRODUCTORY PARAGRAPH</vt:lpstr>
      <vt:lpstr>STRUCTURE /CONTENT OF THE INTRODUCTORY PARAGRAPH</vt:lpstr>
      <vt:lpstr>INTRODUCTORY PARAGRAPH(TECHNIQUES)</vt:lpstr>
      <vt:lpstr>THE THESIS STATEMENT</vt:lpstr>
      <vt:lpstr>THE BODY PARAGRAPH</vt:lpstr>
      <vt:lpstr>THE CONCLUDING PARAGRAPH</vt:lpstr>
      <vt:lpstr>STRUCTURE /CONTENT OF EACH OF THE BODY PARAGRAPH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COMPOSING THE ESSAY</dc:title>
  <dc:creator>WELCOME</dc:creator>
  <cp:lastModifiedBy>TheoNartey</cp:lastModifiedBy>
  <cp:revision>28</cp:revision>
  <dcterms:created xsi:type="dcterms:W3CDTF">2020-04-03T11:34:29Z</dcterms:created>
  <dcterms:modified xsi:type="dcterms:W3CDTF">2020-04-06T15:38:11Z</dcterms:modified>
</cp:coreProperties>
</file>
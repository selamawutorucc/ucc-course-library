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5" r:id="rId14"/>
    <p:sldId id="267" r:id="rId15"/>
    <p:sldId id="268" r:id="rId16"/>
    <p:sldId id="269" r:id="rId17"/>
    <p:sldId id="270" r:id="rId18"/>
    <p:sldId id="271" r:id="rId19"/>
    <p:sldId id="272" r:id="rId20"/>
    <p:sldId id="276"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73" d="100"/>
          <a:sy n="73" d="100"/>
        </p:scale>
        <p:origin x="41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8/3/2020</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8/3/2020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8/3/2020</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8/3/2020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8/3/2020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8/3/2020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8/3/2020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8/3/2020</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8/3/2020</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8/3/2020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8/3/2020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8/3/2020</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7B60-8812-4091-ADC4-7BAEF1EDFFFA}"/>
              </a:ext>
            </a:extLst>
          </p:cNvPr>
          <p:cNvSpPr>
            <a:spLocks noGrp="1"/>
          </p:cNvSpPr>
          <p:nvPr>
            <p:ph type="ctrTitle"/>
          </p:nvPr>
        </p:nvSpPr>
        <p:spPr/>
        <p:txBody>
          <a:bodyPr/>
          <a:lstStyle/>
          <a:p>
            <a:r>
              <a:rPr lang="en-US" dirty="0">
                <a:solidFill>
                  <a:srgbClr val="FF0000"/>
                </a:solidFill>
              </a:rPr>
              <a:t>Discourse types</a:t>
            </a:r>
          </a:p>
        </p:txBody>
      </p:sp>
      <p:sp>
        <p:nvSpPr>
          <p:cNvPr id="3" name="Subtitle 2">
            <a:extLst>
              <a:ext uri="{FF2B5EF4-FFF2-40B4-BE49-F238E27FC236}">
                <a16:creationId xmlns:a16="http://schemas.microsoft.com/office/drawing/2014/main" id="{F0215E03-2BE3-4E52-8AB4-47B4A4FD849A}"/>
              </a:ext>
            </a:extLst>
          </p:cNvPr>
          <p:cNvSpPr>
            <a:spLocks noGrp="1"/>
          </p:cNvSpPr>
          <p:nvPr>
            <p:ph type="subTitle" idx="1"/>
          </p:nvPr>
        </p:nvSpPr>
        <p:spPr>
          <a:xfrm>
            <a:off x="1562100" y="4314826"/>
            <a:ext cx="9070848" cy="942974"/>
          </a:xfrm>
        </p:spPr>
        <p:txBody>
          <a:bodyPr>
            <a:normAutofit/>
          </a:bodyPr>
          <a:lstStyle/>
          <a:p>
            <a:r>
              <a:rPr lang="en-US" b="1" dirty="0" err="1"/>
              <a:t>Wincharles</a:t>
            </a:r>
            <a:r>
              <a:rPr lang="en-US" b="1" dirty="0"/>
              <a:t> Coker, PhD</a:t>
            </a:r>
          </a:p>
          <a:p>
            <a:endParaRPr lang="en-US" b="1" dirty="0"/>
          </a:p>
          <a:p>
            <a:r>
              <a:rPr lang="en-US" b="1" dirty="0"/>
              <a:t>Department of Communication Studies, UCC</a:t>
            </a:r>
          </a:p>
        </p:txBody>
      </p:sp>
    </p:spTree>
    <p:extLst>
      <p:ext uri="{BB962C8B-B14F-4D97-AF65-F5344CB8AC3E}">
        <p14:creationId xmlns:p14="http://schemas.microsoft.com/office/powerpoint/2010/main" val="3877826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3BF39-DDB7-408F-A6A7-2D4927764AFE}"/>
              </a:ext>
            </a:extLst>
          </p:cNvPr>
          <p:cNvSpPr>
            <a:spLocks noGrp="1"/>
          </p:cNvSpPr>
          <p:nvPr>
            <p:ph type="title"/>
          </p:nvPr>
        </p:nvSpPr>
        <p:spPr/>
        <p:txBody>
          <a:bodyPr>
            <a:normAutofit/>
          </a:bodyPr>
          <a:lstStyle/>
          <a:p>
            <a:r>
              <a:rPr lang="en-US" sz="4400" dirty="0">
                <a:solidFill>
                  <a:srgbClr val="FF0000"/>
                </a:solidFill>
              </a:rPr>
              <a:t>              INTRODUCTION</a:t>
            </a:r>
          </a:p>
        </p:txBody>
      </p:sp>
      <p:sp>
        <p:nvSpPr>
          <p:cNvPr id="5" name="TextBox 4">
            <a:extLst>
              <a:ext uri="{FF2B5EF4-FFF2-40B4-BE49-F238E27FC236}">
                <a16:creationId xmlns:a16="http://schemas.microsoft.com/office/drawing/2014/main" id="{3BAEBE51-105F-4367-89E1-34E8187F080A}"/>
              </a:ext>
            </a:extLst>
          </p:cNvPr>
          <p:cNvSpPr txBox="1"/>
          <p:nvPr/>
        </p:nvSpPr>
        <p:spPr>
          <a:xfrm>
            <a:off x="1600200" y="2486025"/>
            <a:ext cx="7772400" cy="3539430"/>
          </a:xfrm>
          <a:prstGeom prst="rect">
            <a:avLst/>
          </a:prstGeom>
          <a:noFill/>
        </p:spPr>
        <p:txBody>
          <a:bodyPr wrap="square" rtlCol="0">
            <a:spAutoFit/>
          </a:bodyPr>
          <a:lstStyle/>
          <a:p>
            <a:pPr marL="285750" lvl="0" indent="-285750">
              <a:buFont typeface="Arial" panose="020B0604020202020204" pitchFamily="34" charset="0"/>
              <a:buChar char="•"/>
            </a:pPr>
            <a:r>
              <a:rPr lang="en-US" sz="2800" dirty="0">
                <a:solidFill>
                  <a:prstClr val="black"/>
                </a:solidFill>
                <a:latin typeface="+mj-lt"/>
              </a:rPr>
              <a:t>Whenever we speak or write, we engage in </a:t>
            </a:r>
            <a:r>
              <a:rPr lang="en-US" sz="2800" b="1" dirty="0">
                <a:solidFill>
                  <a:prstClr val="black"/>
                </a:solidFill>
                <a:latin typeface="+mj-lt"/>
              </a:rPr>
              <a:t>discourse</a:t>
            </a:r>
            <a:r>
              <a:rPr lang="en-US" sz="2800" dirty="0">
                <a:solidFill>
                  <a:prstClr val="black"/>
                </a:solidFill>
                <a:latin typeface="+mj-lt"/>
              </a:rPr>
              <a:t>. </a:t>
            </a:r>
          </a:p>
          <a:p>
            <a:pPr lvl="0"/>
            <a:endParaRPr lang="en-US" sz="2800" dirty="0">
              <a:solidFill>
                <a:prstClr val="black"/>
              </a:solidFill>
              <a:latin typeface="+mj-lt"/>
            </a:endParaRPr>
          </a:p>
          <a:p>
            <a:pPr marL="285750" lvl="0" indent="-285750">
              <a:buFont typeface="Arial" panose="020B0604020202020204" pitchFamily="34" charset="0"/>
              <a:buChar char="•"/>
            </a:pPr>
            <a:r>
              <a:rPr lang="en-US" sz="2800" dirty="0">
                <a:solidFill>
                  <a:prstClr val="black"/>
                </a:solidFill>
                <a:latin typeface="+mj-lt"/>
              </a:rPr>
              <a:t>A discourse is simply the use of language for achieving a specific objective.</a:t>
            </a:r>
          </a:p>
          <a:p>
            <a:pPr lvl="0"/>
            <a:endParaRPr lang="en-US" sz="2800" dirty="0">
              <a:solidFill>
                <a:prstClr val="black"/>
              </a:solidFill>
              <a:latin typeface="+mj-lt"/>
            </a:endParaRPr>
          </a:p>
          <a:p>
            <a:pPr marL="285750" lvl="0" indent="-285750">
              <a:buFont typeface="Arial" panose="020B0604020202020204" pitchFamily="34" charset="0"/>
              <a:buChar char="•"/>
            </a:pPr>
            <a:r>
              <a:rPr lang="en-US" sz="2800" dirty="0">
                <a:solidFill>
                  <a:prstClr val="black"/>
                </a:solidFill>
                <a:latin typeface="+mj-lt"/>
              </a:rPr>
              <a:t>Good writers, therefore, write to express their </a:t>
            </a:r>
            <a:r>
              <a:rPr lang="en-US" sz="2800" b="1" dirty="0">
                <a:solidFill>
                  <a:prstClr val="black"/>
                </a:solidFill>
                <a:latin typeface="+mj-lt"/>
              </a:rPr>
              <a:t>informed opinions </a:t>
            </a:r>
            <a:r>
              <a:rPr lang="en-US" sz="2800" dirty="0">
                <a:solidFill>
                  <a:prstClr val="black"/>
                </a:solidFill>
                <a:latin typeface="+mj-lt"/>
              </a:rPr>
              <a:t>to their audiences</a:t>
            </a:r>
            <a:r>
              <a:rPr lang="en-US" sz="2800" dirty="0">
                <a:solidFill>
                  <a:prstClr val="black"/>
                </a:solidFill>
              </a:rPr>
              <a:t>.</a:t>
            </a:r>
          </a:p>
        </p:txBody>
      </p:sp>
    </p:spTree>
    <p:extLst>
      <p:ext uri="{BB962C8B-B14F-4D97-AF65-F5344CB8AC3E}">
        <p14:creationId xmlns:p14="http://schemas.microsoft.com/office/powerpoint/2010/main" val="35566807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87CF-8726-4EFE-9E78-943702DB3465}"/>
              </a:ext>
            </a:extLst>
          </p:cNvPr>
          <p:cNvSpPr>
            <a:spLocks noGrp="1"/>
          </p:cNvSpPr>
          <p:nvPr>
            <p:ph type="title"/>
          </p:nvPr>
        </p:nvSpPr>
        <p:spPr/>
        <p:txBody>
          <a:bodyPr/>
          <a:lstStyle/>
          <a:p>
            <a:endParaRPr lang="en-US" dirty="0"/>
          </a:p>
        </p:txBody>
      </p:sp>
      <p:sp>
        <p:nvSpPr>
          <p:cNvPr id="3" name="Rectangle 2">
            <a:extLst>
              <a:ext uri="{FF2B5EF4-FFF2-40B4-BE49-F238E27FC236}">
                <a16:creationId xmlns:a16="http://schemas.microsoft.com/office/drawing/2014/main" id="{18E76AB9-2C27-4AA9-BC67-DE9AAC5D40DC}"/>
              </a:ext>
            </a:extLst>
          </p:cNvPr>
          <p:cNvSpPr/>
          <p:nvPr/>
        </p:nvSpPr>
        <p:spPr>
          <a:xfrm>
            <a:off x="628650" y="1659285"/>
            <a:ext cx="10929938" cy="4064767"/>
          </a:xfrm>
          <a:prstGeom prst="rect">
            <a:avLst/>
          </a:prstGeom>
        </p:spPr>
        <p:txBody>
          <a:bodyPr wrap="square">
            <a:sp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prstClr val="black"/>
                </a:solidFill>
                <a:latin typeface="+mj-lt"/>
                <a:ea typeface="Times New Roman" panose="02020603050405020304" pitchFamily="18" charset="0"/>
                <a:cs typeface="Times New Roman" panose="02020603050405020304" pitchFamily="18" charset="0"/>
              </a:rPr>
              <a:t>In order to write an informed opinion about a subject matter, one needs to write persuasively.</a:t>
            </a:r>
          </a:p>
          <a:p>
            <a:pPr marR="0" lvl="0">
              <a:lnSpc>
                <a:spcPct val="107000"/>
              </a:lnSpc>
              <a:spcBef>
                <a:spcPts val="0"/>
              </a:spcBef>
              <a:spcAft>
                <a:spcPts val="800"/>
              </a:spcAft>
              <a:buSzPts val="1000"/>
              <a:tabLst>
                <a:tab pos="457200" algn="l"/>
              </a:tabLst>
            </a:pPr>
            <a:endParaRPr lang="en-US" sz="2800" dirty="0">
              <a:solidFill>
                <a:prstClr val="black"/>
              </a:solidFill>
              <a:latin typeface="+mj-lt"/>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prstClr val="black"/>
                </a:solidFill>
                <a:latin typeface="+mj-lt"/>
                <a:ea typeface="Times New Roman" panose="02020603050405020304" pitchFamily="18" charset="0"/>
                <a:cs typeface="Times New Roman" panose="02020603050405020304" pitchFamily="18" charset="0"/>
              </a:rPr>
              <a:t>This means the essay should contain a purposeful message to convey to your readers</a:t>
            </a:r>
            <a:r>
              <a:rPr lang="en-US" sz="28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p>
          <a:p>
            <a:pPr marR="0" lvl="0">
              <a:lnSpc>
                <a:spcPct val="107000"/>
              </a:lnSpc>
              <a:spcBef>
                <a:spcPts val="0"/>
              </a:spcBef>
              <a:spcAft>
                <a:spcPts val="800"/>
              </a:spcAft>
              <a:buSzPts val="1000"/>
              <a:tabLst>
                <a:tab pos="457200" algn="l"/>
              </a:tabLst>
            </a:pPr>
            <a:endParaRPr lang="en-US" sz="2400" dirty="0">
              <a:solidFill>
                <a:srgbClr val="496073"/>
              </a:solidFill>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sz="2800" dirty="0">
                <a:solidFill>
                  <a:prstClr val="black"/>
                </a:solidFill>
              </a:rPr>
              <a:t>One basic way to do so is to carefully weigh one’s own point of view before embarking on the writing process.</a:t>
            </a:r>
          </a:p>
        </p:txBody>
      </p:sp>
    </p:spTree>
    <p:extLst>
      <p:ext uri="{BB962C8B-B14F-4D97-AF65-F5344CB8AC3E}">
        <p14:creationId xmlns:p14="http://schemas.microsoft.com/office/powerpoint/2010/main" val="39567793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34A9-FD97-42F0-A1BA-2790AB0F71C9}"/>
              </a:ext>
            </a:extLst>
          </p:cNvPr>
          <p:cNvSpPr>
            <a:spLocks noGrp="1"/>
          </p:cNvSpPr>
          <p:nvPr>
            <p:ph type="title"/>
          </p:nvPr>
        </p:nvSpPr>
        <p:spPr/>
        <p:txBody>
          <a:bodyPr>
            <a:normAutofit/>
          </a:bodyPr>
          <a:lstStyle/>
          <a:p>
            <a:r>
              <a:rPr lang="en-US" sz="4400" dirty="0">
                <a:solidFill>
                  <a:srgbClr val="FF0000"/>
                </a:solidFill>
              </a:rPr>
              <a:t>DISCOURSE TYPES AS ESSAY TYPES</a:t>
            </a:r>
          </a:p>
        </p:txBody>
      </p:sp>
      <p:sp>
        <p:nvSpPr>
          <p:cNvPr id="3" name="TextBox 2">
            <a:extLst>
              <a:ext uri="{FF2B5EF4-FFF2-40B4-BE49-F238E27FC236}">
                <a16:creationId xmlns:a16="http://schemas.microsoft.com/office/drawing/2014/main" id="{8375CB80-994D-4FC5-8324-4F7D96964DCE}"/>
              </a:ext>
            </a:extLst>
          </p:cNvPr>
          <p:cNvSpPr txBox="1"/>
          <p:nvPr/>
        </p:nvSpPr>
        <p:spPr>
          <a:xfrm>
            <a:off x="1357313" y="2571750"/>
            <a:ext cx="9558337" cy="3108543"/>
          </a:xfrm>
          <a:prstGeom prst="rect">
            <a:avLst/>
          </a:prstGeom>
          <a:noFill/>
        </p:spPr>
        <p:txBody>
          <a:bodyPr wrap="square" rtlCol="0">
            <a:spAutoFit/>
          </a:bodyPr>
          <a:lstStyle/>
          <a:p>
            <a:r>
              <a:rPr lang="en-US" sz="2800" dirty="0"/>
              <a:t>For the purpose of our discussion, we will focus on the following discourse types:</a:t>
            </a:r>
          </a:p>
          <a:p>
            <a:pPr marL="285750" indent="-285750">
              <a:buFont typeface="Arial" panose="020B0604020202020204" pitchFamily="34" charset="0"/>
              <a:buChar char="•"/>
            </a:pPr>
            <a:r>
              <a:rPr lang="en-US" sz="2800" dirty="0"/>
              <a:t>The expository essay</a:t>
            </a:r>
          </a:p>
          <a:p>
            <a:pPr marL="285750" indent="-285750">
              <a:buFont typeface="Arial" panose="020B0604020202020204" pitchFamily="34" charset="0"/>
              <a:buChar char="•"/>
            </a:pPr>
            <a:r>
              <a:rPr lang="en-US" sz="2800" dirty="0"/>
              <a:t>The argumentative essay</a:t>
            </a:r>
          </a:p>
          <a:p>
            <a:pPr marL="285750" indent="-285750">
              <a:buFont typeface="Arial" panose="020B0604020202020204" pitchFamily="34" charset="0"/>
              <a:buChar char="•"/>
            </a:pPr>
            <a:r>
              <a:rPr lang="en-US" sz="2800" dirty="0"/>
              <a:t>The narrative essay</a:t>
            </a:r>
          </a:p>
          <a:p>
            <a:pPr marL="285750" indent="-285750">
              <a:buFont typeface="Arial" panose="020B0604020202020204" pitchFamily="34" charset="0"/>
              <a:buChar char="•"/>
            </a:pPr>
            <a:r>
              <a:rPr lang="en-US" sz="2800" dirty="0"/>
              <a:t>The descriptive essay</a:t>
            </a:r>
          </a:p>
          <a:p>
            <a:pPr marL="285750" indent="-285750">
              <a:buFont typeface="Arial" panose="020B0604020202020204" pitchFamily="34" charset="0"/>
              <a:buChar char="•"/>
            </a:pPr>
            <a:r>
              <a:rPr lang="en-US" sz="2800" dirty="0"/>
              <a:t>The narrative essay</a:t>
            </a:r>
          </a:p>
        </p:txBody>
      </p:sp>
    </p:spTree>
    <p:extLst>
      <p:ext uri="{BB962C8B-B14F-4D97-AF65-F5344CB8AC3E}">
        <p14:creationId xmlns:p14="http://schemas.microsoft.com/office/powerpoint/2010/main" val="7505958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41D0-2E80-45D6-B10A-AF0FEA7B621F}"/>
              </a:ext>
            </a:extLst>
          </p:cNvPr>
          <p:cNvSpPr>
            <a:spLocks noGrp="1"/>
          </p:cNvSpPr>
          <p:nvPr>
            <p:ph type="title"/>
          </p:nvPr>
        </p:nvSpPr>
        <p:spPr/>
        <p:txBody>
          <a:bodyPr/>
          <a:lstStyle/>
          <a:p>
            <a:pPr algn="ctr"/>
            <a:r>
              <a:rPr lang="en-US" dirty="0">
                <a:solidFill>
                  <a:srgbClr val="FF0000"/>
                </a:solidFill>
              </a:rPr>
              <a:t>THE EXPOSITORY ESSAY</a:t>
            </a:r>
          </a:p>
        </p:txBody>
      </p:sp>
      <p:sp>
        <p:nvSpPr>
          <p:cNvPr id="3" name="TextBox 2">
            <a:extLst>
              <a:ext uri="{FF2B5EF4-FFF2-40B4-BE49-F238E27FC236}">
                <a16:creationId xmlns:a16="http://schemas.microsoft.com/office/drawing/2014/main" id="{D0BEA022-B80F-427F-8BB2-E38A0A8C3DB1}"/>
              </a:ext>
            </a:extLst>
          </p:cNvPr>
          <p:cNvSpPr txBox="1"/>
          <p:nvPr/>
        </p:nvSpPr>
        <p:spPr>
          <a:xfrm>
            <a:off x="1171575" y="2014194"/>
            <a:ext cx="10058400"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This is the basic type of writing required in academic writing.</a:t>
            </a:r>
          </a:p>
          <a:p>
            <a:pPr marL="285750" indent="-285750">
              <a:buFont typeface="Arial" panose="020B0604020202020204" pitchFamily="34" charset="0"/>
              <a:buChar char="•"/>
            </a:pPr>
            <a:r>
              <a:rPr lang="en-US" sz="2800" dirty="0"/>
              <a:t>To write an expository essay requires that the writer has a well informed point of view or </a:t>
            </a:r>
            <a:r>
              <a:rPr lang="en-US" sz="2800" b="1" dirty="0"/>
              <a:t>idea</a:t>
            </a:r>
            <a:r>
              <a:rPr lang="en-US" sz="2800" dirty="0"/>
              <a:t>.</a:t>
            </a:r>
          </a:p>
          <a:p>
            <a:pPr marL="285750" indent="-285750">
              <a:buFont typeface="Arial" panose="020B0604020202020204" pitchFamily="34" charset="0"/>
              <a:buChar char="•"/>
            </a:pPr>
            <a:r>
              <a:rPr lang="en-US" sz="2800" dirty="0"/>
              <a:t>This idea is said to be </a:t>
            </a:r>
            <a:r>
              <a:rPr lang="en-US" sz="2800" b="1" dirty="0"/>
              <a:t>the author’s thesis</a:t>
            </a:r>
            <a:r>
              <a:rPr lang="en-US" sz="2800" dirty="0"/>
              <a:t>.</a:t>
            </a:r>
          </a:p>
          <a:p>
            <a:pPr marL="285750" indent="-285750">
              <a:buFont typeface="Arial" panose="020B0604020202020204" pitchFamily="34" charset="0"/>
              <a:buChar char="•"/>
            </a:pPr>
            <a:r>
              <a:rPr lang="en-US" sz="2800" dirty="0"/>
              <a:t>This means that basic research skills such as planning and organizing are key.</a:t>
            </a:r>
          </a:p>
          <a:p>
            <a:pPr marL="285750" indent="-285750">
              <a:buFont typeface="Arial" panose="020B0604020202020204" pitchFamily="34" charset="0"/>
              <a:buChar char="•"/>
            </a:pPr>
            <a:r>
              <a:rPr lang="en-US" sz="2800" dirty="0"/>
              <a:t>An expository essay usually exposes a writer’s idea to the reader, and thus requires a great deal of logic and structure in order to sound convincing.</a:t>
            </a:r>
          </a:p>
        </p:txBody>
      </p:sp>
    </p:spTree>
    <p:extLst>
      <p:ext uri="{BB962C8B-B14F-4D97-AF65-F5344CB8AC3E}">
        <p14:creationId xmlns:p14="http://schemas.microsoft.com/office/powerpoint/2010/main" val="3658468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72F2-DD3E-4E4B-AE29-FEE885361AF3}"/>
              </a:ext>
            </a:extLst>
          </p:cNvPr>
          <p:cNvSpPr>
            <a:spLocks noGrp="1"/>
          </p:cNvSpPr>
          <p:nvPr>
            <p:ph type="title"/>
          </p:nvPr>
        </p:nvSpPr>
        <p:spPr>
          <a:xfrm>
            <a:off x="1066799" y="642594"/>
            <a:ext cx="10791825" cy="1371600"/>
          </a:xfrm>
        </p:spPr>
        <p:txBody>
          <a:bodyPr>
            <a:normAutofit/>
          </a:bodyPr>
          <a:lstStyle/>
          <a:p>
            <a:r>
              <a:rPr lang="en-US" sz="4000" dirty="0">
                <a:solidFill>
                  <a:srgbClr val="FF0000"/>
                </a:solidFill>
              </a:rPr>
              <a:t>THE STRUCTURE OF THE EXPOSITORY ESSAY</a:t>
            </a:r>
          </a:p>
        </p:txBody>
      </p:sp>
      <p:sp>
        <p:nvSpPr>
          <p:cNvPr id="3" name="TextBox 2">
            <a:extLst>
              <a:ext uri="{FF2B5EF4-FFF2-40B4-BE49-F238E27FC236}">
                <a16:creationId xmlns:a16="http://schemas.microsoft.com/office/drawing/2014/main" id="{A5923D93-E9B5-468B-AC88-F2C594143698}"/>
              </a:ext>
            </a:extLst>
          </p:cNvPr>
          <p:cNvSpPr txBox="1"/>
          <p:nvPr/>
        </p:nvSpPr>
        <p:spPr>
          <a:xfrm>
            <a:off x="2028825" y="2657475"/>
            <a:ext cx="7329488"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Expressing an idea in an expository essay assumes the following schematic structure:</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Introduction</a:t>
            </a:r>
          </a:p>
          <a:p>
            <a:pPr marL="285750" indent="-285750">
              <a:buFont typeface="Arial" panose="020B0604020202020204" pitchFamily="34" charset="0"/>
              <a:buChar char="•"/>
            </a:pPr>
            <a:r>
              <a:rPr lang="en-US" sz="2800" dirty="0"/>
              <a:t>Body</a:t>
            </a:r>
          </a:p>
          <a:p>
            <a:pPr marL="285750" indent="-285750">
              <a:buFont typeface="Arial" panose="020B0604020202020204" pitchFamily="34" charset="0"/>
              <a:buChar char="•"/>
            </a:pPr>
            <a:r>
              <a:rPr lang="en-US" sz="2800" dirty="0"/>
              <a:t>Conclusion</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Let’s look at the them one by one.</a:t>
            </a:r>
          </a:p>
        </p:txBody>
      </p:sp>
    </p:spTree>
    <p:extLst>
      <p:ext uri="{BB962C8B-B14F-4D97-AF65-F5344CB8AC3E}">
        <p14:creationId xmlns:p14="http://schemas.microsoft.com/office/powerpoint/2010/main" val="23146727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AC531-99FE-45B9-90DD-E402E6BBABDC}"/>
              </a:ext>
            </a:extLst>
          </p:cNvPr>
          <p:cNvSpPr>
            <a:spLocks noGrp="1"/>
          </p:cNvSpPr>
          <p:nvPr>
            <p:ph type="title"/>
          </p:nvPr>
        </p:nvSpPr>
        <p:spPr/>
        <p:txBody>
          <a:bodyPr>
            <a:normAutofit fontScale="90000"/>
          </a:bodyPr>
          <a:lstStyle/>
          <a:p>
            <a:r>
              <a:rPr lang="en-US" dirty="0">
                <a:solidFill>
                  <a:srgbClr val="FF0000"/>
                </a:solidFill>
              </a:rPr>
              <a:t>Writing the Introductory Paragraph</a:t>
            </a:r>
          </a:p>
        </p:txBody>
      </p:sp>
      <p:sp>
        <p:nvSpPr>
          <p:cNvPr id="3" name="TextBox 2">
            <a:extLst>
              <a:ext uri="{FF2B5EF4-FFF2-40B4-BE49-F238E27FC236}">
                <a16:creationId xmlns:a16="http://schemas.microsoft.com/office/drawing/2014/main" id="{2B94AE40-3CD9-47E7-B8F9-BB67C9792AFA}"/>
              </a:ext>
            </a:extLst>
          </p:cNvPr>
          <p:cNvSpPr txBox="1"/>
          <p:nvPr/>
        </p:nvSpPr>
        <p:spPr>
          <a:xfrm>
            <a:off x="1457325" y="2714625"/>
            <a:ext cx="9858375" cy="3970318"/>
          </a:xfrm>
          <a:prstGeom prst="rect">
            <a:avLst/>
          </a:prstGeom>
          <a:noFill/>
        </p:spPr>
        <p:txBody>
          <a:bodyPr wrap="square" rtlCol="0">
            <a:spAutoFit/>
          </a:bodyPr>
          <a:lstStyle/>
          <a:p>
            <a:pPr marL="285750" indent="-285750">
              <a:buFont typeface="Arial" panose="020B0604020202020204" pitchFamily="34" charset="0"/>
              <a:buChar char="•"/>
            </a:pPr>
            <a:r>
              <a:rPr lang="en-US" dirty="0"/>
              <a:t>An effective introductory paragraph usually </a:t>
            </a:r>
            <a:r>
              <a:rPr lang="en-US" b="1" dirty="0"/>
              <a:t>hooks</a:t>
            </a:r>
            <a:r>
              <a:rPr lang="en-US" dirty="0"/>
              <a:t> the reader, and thus stimulates them to read the write-up. This can be achieved by following </a:t>
            </a:r>
            <a:r>
              <a:rPr lang="en-US" b="1" dirty="0"/>
              <a:t>three basic guidelines:</a:t>
            </a:r>
          </a:p>
          <a:p>
            <a:r>
              <a:rPr lang="en-US" dirty="0"/>
              <a:t>1. </a:t>
            </a:r>
            <a:r>
              <a:rPr lang="en-US" b="1" dirty="0"/>
              <a:t>Begin with an ice-breaker</a:t>
            </a:r>
            <a:r>
              <a:rPr lang="en-US" dirty="0"/>
              <a:t>, using strategies such an anecdote, a historical antecedent, statistics/figures, facts, proverbs/wise sayings, or seldom explanation or definition. This should be done briefly though.</a:t>
            </a:r>
          </a:p>
          <a:p>
            <a:r>
              <a:rPr lang="en-US" dirty="0"/>
              <a:t>2. </a:t>
            </a:r>
            <a:r>
              <a:rPr lang="en-US" b="1" dirty="0"/>
              <a:t>Next, state your thesis</a:t>
            </a:r>
            <a:r>
              <a:rPr lang="en-US" dirty="0"/>
              <a:t>. It must be short, simple, and concise.</a:t>
            </a:r>
          </a:p>
          <a:p>
            <a:pPr marL="285750" indent="-285750">
              <a:buFont typeface="Arial" panose="020B0604020202020204" pitchFamily="34" charset="0"/>
              <a:buChar char="•"/>
            </a:pPr>
            <a:r>
              <a:rPr lang="en-US" dirty="0"/>
              <a:t>There are two basic types:</a:t>
            </a:r>
          </a:p>
          <a:p>
            <a:pPr marL="342900" indent="-342900">
              <a:buAutoNum type="alphaLcParenBoth"/>
            </a:pPr>
            <a:r>
              <a:rPr lang="en-US" dirty="0"/>
              <a:t>The personal thesis statement: e.g. In this essay, I explore three effects of the </a:t>
            </a:r>
            <a:r>
              <a:rPr lang="en-US" dirty="0" err="1"/>
              <a:t>Covid</a:t>
            </a:r>
            <a:r>
              <a:rPr lang="en-US" dirty="0"/>
              <a:t> 19 on Ghana’s economy.</a:t>
            </a:r>
          </a:p>
          <a:p>
            <a:pPr marL="342900" indent="-342900">
              <a:buAutoNum type="alphaLcParenBoth"/>
            </a:pPr>
            <a:r>
              <a:rPr lang="en-US" dirty="0"/>
              <a:t>The impersonal thesis statement: This essay explores three effects of …</a:t>
            </a:r>
          </a:p>
          <a:p>
            <a:r>
              <a:rPr lang="en-US" dirty="0"/>
              <a:t>3. </a:t>
            </a:r>
            <a:r>
              <a:rPr lang="en-US" b="1" dirty="0"/>
              <a:t>Organize your thesis</a:t>
            </a:r>
            <a:r>
              <a:rPr lang="en-US" dirty="0"/>
              <a:t>.</a:t>
            </a:r>
          </a:p>
          <a:p>
            <a:r>
              <a:rPr lang="en-US" dirty="0"/>
              <a:t>Tell the reader how you’ve planned to discuss the issues raised in the thesis in clear independent sentences.</a:t>
            </a:r>
          </a:p>
          <a:p>
            <a:endParaRPr lang="en-US" dirty="0"/>
          </a:p>
        </p:txBody>
      </p:sp>
    </p:spTree>
    <p:extLst>
      <p:ext uri="{BB962C8B-B14F-4D97-AF65-F5344CB8AC3E}">
        <p14:creationId xmlns:p14="http://schemas.microsoft.com/office/powerpoint/2010/main" val="2549696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6539-E0B5-471E-94AF-77E5FFC12292}"/>
              </a:ext>
            </a:extLst>
          </p:cNvPr>
          <p:cNvSpPr>
            <a:spLocks noGrp="1"/>
          </p:cNvSpPr>
          <p:nvPr>
            <p:ph type="title"/>
          </p:nvPr>
        </p:nvSpPr>
        <p:spPr/>
        <p:txBody>
          <a:bodyPr/>
          <a:lstStyle/>
          <a:p>
            <a:pPr algn="ctr"/>
            <a:r>
              <a:rPr lang="en-US" dirty="0">
                <a:solidFill>
                  <a:srgbClr val="FF0000"/>
                </a:solidFill>
              </a:rPr>
              <a:t>Trial exercise</a:t>
            </a:r>
          </a:p>
        </p:txBody>
      </p:sp>
      <p:sp>
        <p:nvSpPr>
          <p:cNvPr id="3" name="TextBox 2">
            <a:extLst>
              <a:ext uri="{FF2B5EF4-FFF2-40B4-BE49-F238E27FC236}">
                <a16:creationId xmlns:a16="http://schemas.microsoft.com/office/drawing/2014/main" id="{B0F63926-0B61-40FD-BCD1-DCCD30B9C3D4}"/>
              </a:ext>
            </a:extLst>
          </p:cNvPr>
          <p:cNvSpPr txBox="1"/>
          <p:nvPr/>
        </p:nvSpPr>
        <p:spPr>
          <a:xfrm>
            <a:off x="2062162" y="3114675"/>
            <a:ext cx="8067676" cy="1815882"/>
          </a:xfrm>
          <a:prstGeom prst="rect">
            <a:avLst/>
          </a:prstGeom>
          <a:noFill/>
        </p:spPr>
        <p:txBody>
          <a:bodyPr wrap="square" rtlCol="0">
            <a:spAutoFit/>
          </a:bodyPr>
          <a:lstStyle/>
          <a:p>
            <a:r>
              <a:rPr lang="en-US" sz="2800" dirty="0"/>
              <a:t>Before you proceed with the lesson, write an introductory paragraph of between 100 and 120 words </a:t>
            </a:r>
            <a:r>
              <a:rPr lang="en-US" sz="2800" dirty="0" smtClean="0"/>
              <a:t>on </a:t>
            </a:r>
            <a:r>
              <a:rPr lang="en-US" sz="2800" dirty="0"/>
              <a:t>the </a:t>
            </a:r>
            <a:r>
              <a:rPr lang="en-US" sz="2800" dirty="0" smtClean="0"/>
              <a:t>topic, Three Effects </a:t>
            </a:r>
            <a:r>
              <a:rPr lang="en-US" sz="2800" dirty="0"/>
              <a:t>of </a:t>
            </a:r>
            <a:r>
              <a:rPr lang="en-US" sz="2800" dirty="0" err="1"/>
              <a:t>Covid</a:t>
            </a:r>
            <a:r>
              <a:rPr lang="en-US" sz="2800" dirty="0"/>
              <a:t> 19 on the </a:t>
            </a:r>
            <a:r>
              <a:rPr lang="en-US" sz="2800" dirty="0" smtClean="0"/>
              <a:t>Educational System </a:t>
            </a:r>
            <a:r>
              <a:rPr lang="en-US" sz="2800" dirty="0"/>
              <a:t>of Ghana.</a:t>
            </a:r>
          </a:p>
        </p:txBody>
      </p:sp>
    </p:spTree>
    <p:extLst>
      <p:ext uri="{BB962C8B-B14F-4D97-AF65-F5344CB8AC3E}">
        <p14:creationId xmlns:p14="http://schemas.microsoft.com/office/powerpoint/2010/main" val="1880812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2F4E8-795A-4985-971F-66F5CA170C9B}"/>
              </a:ext>
            </a:extLst>
          </p:cNvPr>
          <p:cNvSpPr>
            <a:spLocks noGrp="1"/>
          </p:cNvSpPr>
          <p:nvPr>
            <p:ph type="title"/>
          </p:nvPr>
        </p:nvSpPr>
        <p:spPr/>
        <p:txBody>
          <a:bodyPr/>
          <a:lstStyle/>
          <a:p>
            <a:r>
              <a:rPr lang="en-US" dirty="0">
                <a:solidFill>
                  <a:srgbClr val="FF0000"/>
                </a:solidFill>
              </a:rPr>
              <a:t>Writing the body paragraphs</a:t>
            </a:r>
          </a:p>
        </p:txBody>
      </p:sp>
      <p:sp>
        <p:nvSpPr>
          <p:cNvPr id="3" name="TextBox 2">
            <a:extLst>
              <a:ext uri="{FF2B5EF4-FFF2-40B4-BE49-F238E27FC236}">
                <a16:creationId xmlns:a16="http://schemas.microsoft.com/office/drawing/2014/main" id="{B974BBD2-AC74-4F79-9640-E9AB857A89DC}"/>
              </a:ext>
            </a:extLst>
          </p:cNvPr>
          <p:cNvSpPr txBox="1"/>
          <p:nvPr/>
        </p:nvSpPr>
        <p:spPr>
          <a:xfrm>
            <a:off x="1685925" y="2514600"/>
            <a:ext cx="8958263"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Here, concentrate on developing each idea stated in your thesis.</a:t>
            </a:r>
          </a:p>
          <a:p>
            <a:pPr marL="285750" indent="-285750">
              <a:buFont typeface="Arial" panose="020B0604020202020204" pitchFamily="34" charset="0"/>
              <a:buChar char="•"/>
            </a:pPr>
            <a:r>
              <a:rPr lang="en-US" sz="2800" dirty="0"/>
              <a:t>Each idea should be contained in a unique paragraph, beginning with a short and concise topic sentence.</a:t>
            </a:r>
          </a:p>
          <a:p>
            <a:pPr marL="285750" indent="-285750">
              <a:buFont typeface="Arial" panose="020B0604020202020204" pitchFamily="34" charset="0"/>
              <a:buChar char="•"/>
            </a:pPr>
            <a:r>
              <a:rPr lang="en-US" sz="2800" dirty="0"/>
              <a:t>For the sake of our discussion, your body paragraphs must be composed of three paragraphs only.</a:t>
            </a:r>
          </a:p>
          <a:p>
            <a:pPr marL="285750" indent="-285750">
              <a:buFont typeface="Arial" panose="020B0604020202020204" pitchFamily="34" charset="0"/>
              <a:buChar char="•"/>
            </a:pPr>
            <a:r>
              <a:rPr lang="en-US" sz="2800" dirty="0"/>
              <a:t>Conclude each body paragraph with a summary/concluding sentence</a:t>
            </a:r>
            <a:r>
              <a:rPr lang="en-US" dirty="0"/>
              <a:t>.</a:t>
            </a:r>
          </a:p>
        </p:txBody>
      </p:sp>
    </p:spTree>
    <p:extLst>
      <p:ext uri="{BB962C8B-B14F-4D97-AF65-F5344CB8AC3E}">
        <p14:creationId xmlns:p14="http://schemas.microsoft.com/office/powerpoint/2010/main" val="41018361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E65F3-083D-47A5-8862-D33D5B99BDDA}"/>
              </a:ext>
            </a:extLst>
          </p:cNvPr>
          <p:cNvSpPr>
            <a:spLocks noGrp="1"/>
          </p:cNvSpPr>
          <p:nvPr>
            <p:ph type="title"/>
          </p:nvPr>
        </p:nvSpPr>
        <p:spPr/>
        <p:txBody>
          <a:bodyPr>
            <a:normAutofit fontScale="90000"/>
          </a:bodyPr>
          <a:lstStyle/>
          <a:p>
            <a:r>
              <a:rPr lang="en-US" dirty="0">
                <a:solidFill>
                  <a:srgbClr val="FF0000"/>
                </a:solidFill>
              </a:rPr>
              <a:t>Writing the concluding paragraph</a:t>
            </a:r>
          </a:p>
        </p:txBody>
      </p:sp>
      <p:sp>
        <p:nvSpPr>
          <p:cNvPr id="3" name="TextBox 2">
            <a:extLst>
              <a:ext uri="{FF2B5EF4-FFF2-40B4-BE49-F238E27FC236}">
                <a16:creationId xmlns:a16="http://schemas.microsoft.com/office/drawing/2014/main" id="{05F51423-B243-4D5A-8D33-F09F7C5462DE}"/>
              </a:ext>
            </a:extLst>
          </p:cNvPr>
          <p:cNvSpPr txBox="1"/>
          <p:nvPr/>
        </p:nvSpPr>
        <p:spPr>
          <a:xfrm>
            <a:off x="1185863" y="2185988"/>
            <a:ext cx="9801225"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Don’t rush to get done with your essay.</a:t>
            </a:r>
          </a:p>
          <a:p>
            <a:pPr marL="285750" indent="-285750">
              <a:buFont typeface="Arial" panose="020B0604020202020204" pitchFamily="34" charset="0"/>
              <a:buChar char="•"/>
            </a:pPr>
            <a:r>
              <a:rPr lang="en-US" sz="2800" dirty="0"/>
              <a:t>On the contrary, see this section of the write-up as an opportunity to make lasting impression on your reader.</a:t>
            </a:r>
          </a:p>
          <a:p>
            <a:pPr marL="285750" indent="-285750">
              <a:buFont typeface="Arial" panose="020B0604020202020204" pitchFamily="34" charset="0"/>
              <a:buChar char="•"/>
            </a:pPr>
            <a:r>
              <a:rPr lang="en-US" sz="2800" dirty="0"/>
              <a:t>To this end, attempt to do the following:</a:t>
            </a:r>
          </a:p>
          <a:p>
            <a:pPr marL="342900" indent="-342900">
              <a:buAutoNum type="alphaLcParenBoth"/>
            </a:pPr>
            <a:r>
              <a:rPr lang="en-US" sz="2800" dirty="0"/>
              <a:t>Summarize the ideas in the essay.</a:t>
            </a:r>
          </a:p>
          <a:p>
            <a:pPr marL="342900" indent="-342900">
              <a:buAutoNum type="alphaLcParenBoth"/>
            </a:pPr>
            <a:r>
              <a:rPr lang="en-US" sz="2800" dirty="0"/>
              <a:t>Engage in advocacy.</a:t>
            </a:r>
          </a:p>
          <a:p>
            <a:pPr marL="342900" indent="-342900">
              <a:buAutoNum type="alphaLcParenBoth"/>
            </a:pPr>
            <a:r>
              <a:rPr lang="en-US" sz="2800" dirty="0"/>
              <a:t>Ask questions and make a follow up.</a:t>
            </a:r>
          </a:p>
          <a:p>
            <a:pPr marL="342900" indent="-342900">
              <a:buAutoNum type="alphaLcParenBoth"/>
            </a:pPr>
            <a:r>
              <a:rPr lang="en-US" sz="2800" dirty="0"/>
              <a:t>But do not introduce a new idea that has the potential to torpedo your own thesis</a:t>
            </a:r>
            <a:r>
              <a:rPr lang="en-US" dirty="0"/>
              <a:t>.</a:t>
            </a:r>
          </a:p>
        </p:txBody>
      </p:sp>
    </p:spTree>
    <p:extLst>
      <p:ext uri="{BB962C8B-B14F-4D97-AF65-F5344CB8AC3E}">
        <p14:creationId xmlns:p14="http://schemas.microsoft.com/office/powerpoint/2010/main" val="7093824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11D95-1825-4C5A-83FE-05ADC9969B63}"/>
              </a:ext>
            </a:extLst>
          </p:cNvPr>
          <p:cNvSpPr>
            <a:spLocks noGrp="1"/>
          </p:cNvSpPr>
          <p:nvPr>
            <p:ph type="title"/>
          </p:nvPr>
        </p:nvSpPr>
        <p:spPr/>
        <p:txBody>
          <a:bodyPr/>
          <a:lstStyle/>
          <a:p>
            <a:pPr algn="ctr"/>
            <a:r>
              <a:rPr lang="en-US" dirty="0">
                <a:solidFill>
                  <a:srgbClr val="FF0000"/>
                </a:solidFill>
              </a:rPr>
              <a:t>THE ARGUMENTATIVE ESSAY</a:t>
            </a:r>
          </a:p>
        </p:txBody>
      </p:sp>
      <p:sp>
        <p:nvSpPr>
          <p:cNvPr id="3" name="TextBox 2">
            <a:extLst>
              <a:ext uri="{FF2B5EF4-FFF2-40B4-BE49-F238E27FC236}">
                <a16:creationId xmlns:a16="http://schemas.microsoft.com/office/drawing/2014/main" id="{EDC886CE-FD6B-42FF-8C7B-CD300432E5F8}"/>
              </a:ext>
            </a:extLst>
          </p:cNvPr>
          <p:cNvSpPr txBox="1"/>
          <p:nvPr/>
        </p:nvSpPr>
        <p:spPr>
          <a:xfrm>
            <a:off x="1414463" y="2171700"/>
            <a:ext cx="9115425"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t>Now that you know pretty well how to compose an expository essay, it should be quite easy thinking about the argumentative essay.</a:t>
            </a:r>
          </a:p>
          <a:p>
            <a:pPr marL="285750" indent="-285750">
              <a:buFont typeface="Arial" panose="020B0604020202020204" pitchFamily="34" charset="0"/>
              <a:buChar char="•"/>
            </a:pPr>
            <a:r>
              <a:rPr lang="en-US" sz="2800" dirty="0"/>
              <a:t>Whenever one composes this type of essay, the writer basically seeks to make </a:t>
            </a:r>
            <a:r>
              <a:rPr lang="en-US" sz="2800" b="1" dirty="0"/>
              <a:t>a compelling argument about a subject matter.</a:t>
            </a:r>
          </a:p>
          <a:p>
            <a:pPr marL="285750" indent="-285750">
              <a:buFont typeface="Arial" panose="020B0604020202020204" pitchFamily="34" charset="0"/>
              <a:buChar char="•"/>
            </a:pPr>
            <a:r>
              <a:rPr lang="en-US" sz="2800" dirty="0"/>
              <a:t>This requires a great deal of </a:t>
            </a:r>
            <a:r>
              <a:rPr lang="en-US" sz="2800" b="1" dirty="0"/>
              <a:t>logic and tact </a:t>
            </a:r>
            <a:r>
              <a:rPr lang="en-US" sz="2800" dirty="0"/>
              <a:t>in order to convince the reader.</a:t>
            </a:r>
          </a:p>
        </p:txBody>
      </p:sp>
    </p:spTree>
    <p:extLst>
      <p:ext uri="{BB962C8B-B14F-4D97-AF65-F5344CB8AC3E}">
        <p14:creationId xmlns:p14="http://schemas.microsoft.com/office/powerpoint/2010/main" val="42692030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A14928-7130-462D-86A7-9ABFE53C6B9C}"/>
              </a:ext>
            </a:extLst>
          </p:cNvPr>
          <p:cNvSpPr/>
          <p:nvPr/>
        </p:nvSpPr>
        <p:spPr>
          <a:xfrm>
            <a:off x="944880" y="1377830"/>
            <a:ext cx="10149840" cy="3403624"/>
          </a:xfrm>
          <a:prstGeom prst="rect">
            <a:avLst/>
          </a:prstGeom>
        </p:spPr>
        <p:txBody>
          <a:bodyPr wrap="square">
            <a:spAutoFit/>
          </a:bodyPr>
          <a:lstStyle/>
          <a:p>
            <a:pPr marL="457200" marR="0" lvl="0" indent="-457200" algn="just">
              <a:lnSpc>
                <a:spcPct val="200000"/>
              </a:lnSpc>
              <a:spcBef>
                <a:spcPts val="0"/>
              </a:spcBef>
              <a:spcAft>
                <a:spcPts val="0"/>
              </a:spcAft>
              <a:buFont typeface="Arial" panose="020B0604020202020204" pitchFamily="34" charset="0"/>
              <a:buChar char="•"/>
            </a:pPr>
            <a:r>
              <a:rPr lang="en-US" sz="2800" dirty="0">
                <a:ea typeface="Calibri" panose="020F0502020204030204" pitchFamily="34" charset="0"/>
                <a:cs typeface="Times New Roman" panose="02020603050405020304" pitchFamily="18" charset="0"/>
              </a:rPr>
              <a:t>This essay type also has a thesis statement. This is captured in the stand taken by the writer. This is seen in the introductory paragraph.</a:t>
            </a:r>
          </a:p>
          <a:p>
            <a:pPr marL="457200" marR="0" lvl="0" indent="-457200" algn="just">
              <a:lnSpc>
                <a:spcPct val="200000"/>
              </a:lnSpc>
              <a:spcBef>
                <a:spcPts val="0"/>
              </a:spcBef>
              <a:spcAft>
                <a:spcPts val="0"/>
              </a:spcAft>
              <a:buFont typeface="Arial" panose="020B0604020202020204" pitchFamily="34" charset="0"/>
              <a:buChar char="•"/>
            </a:pPr>
            <a:r>
              <a:rPr lang="en-US" sz="2800" dirty="0">
                <a:ea typeface="Calibri" panose="020F0502020204030204" pitchFamily="34" charset="0"/>
                <a:cs typeface="Times New Roman" panose="02020603050405020304" pitchFamily="18" charset="0"/>
              </a:rPr>
              <a:t>The body paragraphs could be composed as follows:</a:t>
            </a:r>
          </a:p>
        </p:txBody>
      </p:sp>
    </p:spTree>
    <p:extLst>
      <p:ext uri="{BB962C8B-B14F-4D97-AF65-F5344CB8AC3E}">
        <p14:creationId xmlns:p14="http://schemas.microsoft.com/office/powerpoint/2010/main" val="19898456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41105E-2349-4A36-8F0C-ED47DD34DC4D}"/>
              </a:ext>
            </a:extLst>
          </p:cNvPr>
          <p:cNvSpPr txBox="1"/>
          <p:nvPr/>
        </p:nvSpPr>
        <p:spPr>
          <a:xfrm>
            <a:off x="777240" y="853440"/>
            <a:ext cx="11018520" cy="5535298"/>
          </a:xfrm>
          <a:prstGeom prst="rect">
            <a:avLst/>
          </a:prstGeom>
          <a:noFill/>
        </p:spPr>
        <p:txBody>
          <a:bodyPr wrap="square" rtlCol="0">
            <a:spAutoFit/>
          </a:bodyPr>
          <a:lstStyle/>
          <a:p>
            <a:pPr marL="342900" lvl="0" indent="-342900" algn="just">
              <a:lnSpc>
                <a:spcPct val="200000"/>
              </a:lnSpc>
              <a:buFont typeface="Arial" panose="020B0604020202020204" pitchFamily="34" charset="0"/>
              <a:buChar char="•"/>
            </a:pPr>
            <a:r>
              <a:rPr lang="en-US" sz="2000" dirty="0">
                <a:solidFill>
                  <a:prstClr val="black"/>
                </a:solidFill>
                <a:ea typeface="Calibri" panose="020F0502020204030204" pitchFamily="34" charset="0"/>
                <a:cs typeface="Times New Roman" panose="02020603050405020304" pitchFamily="18" charset="0"/>
              </a:rPr>
              <a:t>Since you are supposed to argue for or against a proposition, you may choose to do write it in any one of the following:</a:t>
            </a:r>
          </a:p>
          <a:p>
            <a:pPr marL="800100" lvl="0" indent="-342900" algn="just">
              <a:lnSpc>
                <a:spcPct val="200000"/>
              </a:lnSpc>
              <a:buFont typeface="Arial" panose="020B0604020202020204" pitchFamily="34" charset="0"/>
              <a:buChar char="•"/>
            </a:pPr>
            <a:r>
              <a:rPr lang="en-US" sz="2000" dirty="0">
                <a:solidFill>
                  <a:prstClr val="black"/>
                </a:solidFill>
                <a:ea typeface="Calibri" panose="020F0502020204030204" pitchFamily="34" charset="0"/>
                <a:cs typeface="Times New Roman" panose="02020603050405020304" pitchFamily="18" charset="0"/>
              </a:rPr>
              <a:t>The first of the three paragraphs can talk about the other side of the argument and the other two paragraphs devoted to their stand. That way, there is an imbalance in the composition of the essay since two paragraphs talk stand against one paragraph. </a:t>
            </a:r>
          </a:p>
          <a:p>
            <a:pPr marL="800100" lvl="0" indent="-342900" algn="just">
              <a:lnSpc>
                <a:spcPct val="200000"/>
              </a:lnSpc>
              <a:spcAft>
                <a:spcPts val="1000"/>
              </a:spcAft>
              <a:buFont typeface="Arial" panose="020B0604020202020204" pitchFamily="34" charset="0"/>
              <a:buChar char="•"/>
            </a:pPr>
            <a:r>
              <a:rPr lang="en-US" sz="2000" dirty="0">
                <a:solidFill>
                  <a:prstClr val="black"/>
                </a:solidFill>
                <a:ea typeface="Calibri" panose="020F0502020204030204" pitchFamily="34" charset="0"/>
                <a:cs typeface="Times New Roman" panose="02020603050405020304" pitchFamily="18" charset="0"/>
              </a:rPr>
              <a:t>The second way is to incorporate both sides in the various paragraphs but here only a sentence or two allocated to the other side while the rest of the sentences in the paragraph speak to their stand. Here, you should use transitional markers.</a:t>
            </a:r>
          </a:p>
        </p:txBody>
      </p:sp>
    </p:spTree>
    <p:extLst>
      <p:ext uri="{BB962C8B-B14F-4D97-AF65-F5344CB8AC3E}">
        <p14:creationId xmlns:p14="http://schemas.microsoft.com/office/powerpoint/2010/main" val="5196356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CB56-8AC1-46D2-A36A-6D1D0916B879}"/>
              </a:ext>
            </a:extLst>
          </p:cNvPr>
          <p:cNvSpPr>
            <a:spLocks noGrp="1"/>
          </p:cNvSpPr>
          <p:nvPr>
            <p:ph type="title"/>
          </p:nvPr>
        </p:nvSpPr>
        <p:spPr/>
        <p:txBody>
          <a:bodyPr>
            <a:normAutofit fontScale="90000"/>
          </a:bodyPr>
          <a:lstStyle/>
          <a:p>
            <a:r>
              <a:rPr lang="en-US" dirty="0">
                <a:solidFill>
                  <a:srgbClr val="FF0000"/>
                </a:solidFill>
              </a:rPr>
              <a:t>Structure of the argumentative essay</a:t>
            </a:r>
          </a:p>
        </p:txBody>
      </p:sp>
      <p:sp>
        <p:nvSpPr>
          <p:cNvPr id="3" name="TextBox 2">
            <a:extLst>
              <a:ext uri="{FF2B5EF4-FFF2-40B4-BE49-F238E27FC236}">
                <a16:creationId xmlns:a16="http://schemas.microsoft.com/office/drawing/2014/main" id="{888F128A-00CD-4AA9-9DB1-F7E20CC94FC3}"/>
              </a:ext>
            </a:extLst>
          </p:cNvPr>
          <p:cNvSpPr txBox="1"/>
          <p:nvPr/>
        </p:nvSpPr>
        <p:spPr>
          <a:xfrm>
            <a:off x="1243013" y="2228850"/>
            <a:ext cx="10587037"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t>The structure of this essay type is pretty much like that of the expository essay.</a:t>
            </a:r>
          </a:p>
          <a:p>
            <a:pPr marL="285750" indent="-285750">
              <a:buFont typeface="Arial" panose="020B0604020202020204" pitchFamily="34" charset="0"/>
              <a:buChar char="•"/>
            </a:pPr>
            <a:r>
              <a:rPr lang="en-US" sz="2800" dirty="0"/>
              <a:t>This time, however, it varies based on the number of points a writer can adduce </a:t>
            </a:r>
            <a:r>
              <a:rPr lang="en-US" sz="2800" b="1" dirty="0"/>
              <a:t>in support of or against </a:t>
            </a:r>
            <a:r>
              <a:rPr lang="en-US" sz="2800" dirty="0"/>
              <a:t>a major argument.</a:t>
            </a:r>
          </a:p>
          <a:p>
            <a:pPr marL="285750" indent="-285750">
              <a:buFont typeface="Arial" panose="020B0604020202020204" pitchFamily="34" charset="0"/>
              <a:buChar char="•"/>
            </a:pPr>
            <a:r>
              <a:rPr lang="en-US" sz="2800" dirty="0"/>
              <a:t>This will inform how the body of the essay is structured.</a:t>
            </a:r>
          </a:p>
          <a:p>
            <a:pPr marL="285750" indent="-285750">
              <a:buFont typeface="Arial" panose="020B0604020202020204" pitchFamily="34" charset="0"/>
              <a:buChar char="•"/>
            </a:pPr>
            <a:r>
              <a:rPr lang="en-US" sz="2800" dirty="0"/>
              <a:t>Use strategies discussed under the expository essay to develop issues in writing this type of essay.</a:t>
            </a:r>
          </a:p>
        </p:txBody>
      </p:sp>
    </p:spTree>
    <p:extLst>
      <p:ext uri="{BB962C8B-B14F-4D97-AF65-F5344CB8AC3E}">
        <p14:creationId xmlns:p14="http://schemas.microsoft.com/office/powerpoint/2010/main" val="24138786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90C09-ED62-4A8D-AD42-F52CF7FBFEBB}"/>
              </a:ext>
            </a:extLst>
          </p:cNvPr>
          <p:cNvSpPr>
            <a:spLocks noGrp="1"/>
          </p:cNvSpPr>
          <p:nvPr>
            <p:ph type="title"/>
          </p:nvPr>
        </p:nvSpPr>
        <p:spPr/>
        <p:txBody>
          <a:bodyPr/>
          <a:lstStyle/>
          <a:p>
            <a:pPr algn="ctr"/>
            <a:r>
              <a:rPr lang="en-US" dirty="0">
                <a:solidFill>
                  <a:srgbClr val="FF0000"/>
                </a:solidFill>
              </a:rPr>
              <a:t>Trial exercise</a:t>
            </a:r>
          </a:p>
        </p:txBody>
      </p:sp>
      <p:sp>
        <p:nvSpPr>
          <p:cNvPr id="3" name="TextBox 2">
            <a:extLst>
              <a:ext uri="{FF2B5EF4-FFF2-40B4-BE49-F238E27FC236}">
                <a16:creationId xmlns:a16="http://schemas.microsoft.com/office/drawing/2014/main" id="{19EE63DF-79AD-4363-891C-CCF4C33A620F}"/>
              </a:ext>
            </a:extLst>
          </p:cNvPr>
          <p:cNvSpPr txBox="1"/>
          <p:nvPr/>
        </p:nvSpPr>
        <p:spPr>
          <a:xfrm>
            <a:off x="871538" y="2414588"/>
            <a:ext cx="9658350" cy="1384995"/>
          </a:xfrm>
          <a:prstGeom prst="rect">
            <a:avLst/>
          </a:prstGeom>
          <a:noFill/>
        </p:spPr>
        <p:txBody>
          <a:bodyPr wrap="square" rtlCol="0">
            <a:spAutoFit/>
          </a:bodyPr>
          <a:lstStyle/>
          <a:p>
            <a:r>
              <a:rPr lang="en-US" sz="2800" dirty="0"/>
              <a:t>Write an essay of about 250 words in support or against the notion that the flight against illegal mining in Ghana has been largely successful.</a:t>
            </a:r>
          </a:p>
        </p:txBody>
      </p:sp>
    </p:spTree>
    <p:extLst>
      <p:ext uri="{BB962C8B-B14F-4D97-AF65-F5344CB8AC3E}">
        <p14:creationId xmlns:p14="http://schemas.microsoft.com/office/powerpoint/2010/main" val="40642670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2202-1125-417D-AA44-F64A4277164F}"/>
              </a:ext>
            </a:extLst>
          </p:cNvPr>
          <p:cNvSpPr>
            <a:spLocks noGrp="1"/>
          </p:cNvSpPr>
          <p:nvPr>
            <p:ph type="title"/>
          </p:nvPr>
        </p:nvSpPr>
        <p:spPr/>
        <p:txBody>
          <a:bodyPr/>
          <a:lstStyle/>
          <a:p>
            <a:pPr algn="ctr"/>
            <a:r>
              <a:rPr lang="en-US" dirty="0">
                <a:solidFill>
                  <a:srgbClr val="FF0000"/>
                </a:solidFill>
              </a:rPr>
              <a:t>THE NARRATIVE ESSAY</a:t>
            </a:r>
          </a:p>
        </p:txBody>
      </p:sp>
      <p:sp>
        <p:nvSpPr>
          <p:cNvPr id="3" name="TextBox 2">
            <a:extLst>
              <a:ext uri="{FF2B5EF4-FFF2-40B4-BE49-F238E27FC236}">
                <a16:creationId xmlns:a16="http://schemas.microsoft.com/office/drawing/2014/main" id="{CCEEF678-06A0-4CF1-B27E-EB756C8915A3}"/>
              </a:ext>
            </a:extLst>
          </p:cNvPr>
          <p:cNvSpPr txBox="1"/>
          <p:nvPr/>
        </p:nvSpPr>
        <p:spPr>
          <a:xfrm>
            <a:off x="1428750" y="2371725"/>
            <a:ext cx="9444038"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In composing a narrative essay, a good writer aims to tell a compelling story that is believable.</a:t>
            </a:r>
          </a:p>
          <a:p>
            <a:pPr marL="285750" indent="-285750">
              <a:buFont typeface="Arial" panose="020B0604020202020204" pitchFamily="34" charset="0"/>
              <a:buChar char="•"/>
            </a:pPr>
            <a:r>
              <a:rPr lang="en-US" sz="2400" dirty="0"/>
              <a:t>The writer does so using all the language resources of the </a:t>
            </a:r>
            <a:r>
              <a:rPr lang="en-US" sz="2400" b="1" dirty="0"/>
              <a:t>past tense </a:t>
            </a:r>
            <a:r>
              <a:rPr lang="en-US" sz="2400" dirty="0"/>
              <a:t>and,  sometimes too the historic present.</a:t>
            </a:r>
          </a:p>
          <a:p>
            <a:pPr marL="285750" indent="-285750">
              <a:buFont typeface="Arial" panose="020B0604020202020204" pitchFamily="34" charset="0"/>
              <a:buChar char="•"/>
            </a:pPr>
            <a:r>
              <a:rPr lang="en-US" sz="2400" dirty="0"/>
              <a:t>But narrations of places, events, and times also go with the description of those places, events, and occasions.</a:t>
            </a:r>
          </a:p>
          <a:p>
            <a:pPr marL="285750" indent="-285750">
              <a:buFont typeface="Arial" panose="020B0604020202020204" pitchFamily="34" charset="0"/>
              <a:buChar char="•"/>
            </a:pPr>
            <a:r>
              <a:rPr lang="en-US" sz="2400" dirty="0"/>
              <a:t>For this reason, to narrate is to describe also.</a:t>
            </a:r>
          </a:p>
          <a:p>
            <a:pPr marL="285750" indent="-285750">
              <a:buFont typeface="Arial" panose="020B0604020202020204" pitchFamily="34" charset="0"/>
              <a:buChar char="•"/>
            </a:pPr>
            <a:r>
              <a:rPr lang="en-US" sz="2400" dirty="0"/>
              <a:t>A good mastery of colorful language such as adjectives, adverbs, and even verbs helps in the process.</a:t>
            </a:r>
          </a:p>
        </p:txBody>
      </p:sp>
    </p:spTree>
    <p:extLst>
      <p:ext uri="{BB962C8B-B14F-4D97-AF65-F5344CB8AC3E}">
        <p14:creationId xmlns:p14="http://schemas.microsoft.com/office/powerpoint/2010/main" val="38787225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E54ED-21E9-486C-9891-74BD6F120DB1}"/>
              </a:ext>
            </a:extLst>
          </p:cNvPr>
          <p:cNvSpPr>
            <a:spLocks noGrp="1"/>
          </p:cNvSpPr>
          <p:nvPr>
            <p:ph type="title"/>
          </p:nvPr>
        </p:nvSpPr>
        <p:spPr/>
        <p:txBody>
          <a:bodyPr/>
          <a:lstStyle/>
          <a:p>
            <a:r>
              <a:rPr lang="en-US" dirty="0">
                <a:solidFill>
                  <a:srgbClr val="FF0000"/>
                </a:solidFill>
              </a:rPr>
              <a:t>Structure of the narrative essay</a:t>
            </a:r>
          </a:p>
        </p:txBody>
      </p:sp>
      <p:sp>
        <p:nvSpPr>
          <p:cNvPr id="3" name="TextBox 2">
            <a:extLst>
              <a:ext uri="{FF2B5EF4-FFF2-40B4-BE49-F238E27FC236}">
                <a16:creationId xmlns:a16="http://schemas.microsoft.com/office/drawing/2014/main" id="{11027467-80D9-4542-85CB-F72DD8ABE9BD}"/>
              </a:ext>
            </a:extLst>
          </p:cNvPr>
          <p:cNvSpPr txBox="1"/>
          <p:nvPr/>
        </p:nvSpPr>
        <p:spPr>
          <a:xfrm>
            <a:off x="1428750" y="2571750"/>
            <a:ext cx="8443913"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t>There’s no one-size-fits all model.</a:t>
            </a:r>
          </a:p>
          <a:p>
            <a:pPr marL="285750" indent="-285750">
              <a:buFont typeface="Arial" panose="020B0604020202020204" pitchFamily="34" charset="0"/>
              <a:buChar char="•"/>
            </a:pPr>
            <a:r>
              <a:rPr lang="en-US" sz="2800" dirty="0"/>
              <a:t>The rule of thumb, however, is to organize the narration in a logical sequence, and marinate with loads of eye-opening adjectives and adverbs.</a:t>
            </a:r>
          </a:p>
          <a:p>
            <a:pPr marL="285750" indent="-285750">
              <a:buFont typeface="Arial" panose="020B0604020202020204" pitchFamily="34" charset="0"/>
              <a:buChar char="•"/>
            </a:pPr>
            <a:r>
              <a:rPr lang="en-US" sz="2800" dirty="0"/>
              <a:t>Try to be persuasive and truthful all the same.</a:t>
            </a:r>
          </a:p>
          <a:p>
            <a:pPr marL="285750" indent="-285750">
              <a:buFont typeface="Arial" panose="020B0604020202020204" pitchFamily="34" charset="0"/>
              <a:buChar char="•"/>
            </a:pPr>
            <a:r>
              <a:rPr lang="en-US" sz="2800" dirty="0"/>
              <a:t>You may also want to begin each paragraph with a clear topic sentence.</a:t>
            </a:r>
          </a:p>
        </p:txBody>
      </p:sp>
    </p:spTree>
    <p:extLst>
      <p:ext uri="{BB962C8B-B14F-4D97-AF65-F5344CB8AC3E}">
        <p14:creationId xmlns:p14="http://schemas.microsoft.com/office/powerpoint/2010/main" val="33982763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5793-1FE9-413F-A814-6248F48E5B1E}"/>
              </a:ext>
            </a:extLst>
          </p:cNvPr>
          <p:cNvSpPr>
            <a:spLocks noGrp="1"/>
          </p:cNvSpPr>
          <p:nvPr>
            <p:ph type="title"/>
          </p:nvPr>
        </p:nvSpPr>
        <p:spPr/>
        <p:txBody>
          <a:bodyPr/>
          <a:lstStyle/>
          <a:p>
            <a:pPr algn="ctr"/>
            <a:r>
              <a:rPr lang="en-US" dirty="0">
                <a:solidFill>
                  <a:srgbClr val="FF0000"/>
                </a:solidFill>
              </a:rPr>
              <a:t>Trial exercise</a:t>
            </a:r>
          </a:p>
        </p:txBody>
      </p:sp>
      <p:sp>
        <p:nvSpPr>
          <p:cNvPr id="3" name="TextBox 2">
            <a:extLst>
              <a:ext uri="{FF2B5EF4-FFF2-40B4-BE49-F238E27FC236}">
                <a16:creationId xmlns:a16="http://schemas.microsoft.com/office/drawing/2014/main" id="{7F67997C-9FC9-4B3E-93FF-3AF037A50CE6}"/>
              </a:ext>
            </a:extLst>
          </p:cNvPr>
          <p:cNvSpPr txBox="1"/>
          <p:nvPr/>
        </p:nvSpPr>
        <p:spPr>
          <a:xfrm>
            <a:off x="1471613" y="2614613"/>
            <a:ext cx="8558212" cy="1815882"/>
          </a:xfrm>
          <a:prstGeom prst="rect">
            <a:avLst/>
          </a:prstGeom>
          <a:noFill/>
        </p:spPr>
        <p:txBody>
          <a:bodyPr wrap="square" rtlCol="0">
            <a:spAutoFit/>
          </a:bodyPr>
          <a:lstStyle/>
          <a:p>
            <a:r>
              <a:rPr lang="en-US" sz="2800" dirty="0"/>
              <a:t>In not more than 250 words, write an essay on how you felt as a student, upon hearing about the closure of the University due to the outbreak of the Corona Virus pandemic in Ghana.</a:t>
            </a:r>
          </a:p>
        </p:txBody>
      </p:sp>
    </p:spTree>
    <p:extLst>
      <p:ext uri="{BB962C8B-B14F-4D97-AF65-F5344CB8AC3E}">
        <p14:creationId xmlns:p14="http://schemas.microsoft.com/office/powerpoint/2010/main" val="38867269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A3DF-ABB5-42A2-98DB-3C1223C566CF}"/>
              </a:ext>
            </a:extLst>
          </p:cNvPr>
          <p:cNvSpPr>
            <a:spLocks noGrp="1"/>
          </p:cNvSpPr>
          <p:nvPr>
            <p:ph type="title"/>
          </p:nvPr>
        </p:nvSpPr>
        <p:spPr/>
        <p:txBody>
          <a:bodyPr/>
          <a:lstStyle/>
          <a:p>
            <a:pPr algn="ctr"/>
            <a:r>
              <a:rPr lang="en-US" dirty="0">
                <a:solidFill>
                  <a:srgbClr val="FF0000"/>
                </a:solidFill>
              </a:rPr>
              <a:t>THE DESCRIPTIVE ESSAY</a:t>
            </a:r>
          </a:p>
        </p:txBody>
      </p:sp>
      <p:sp>
        <p:nvSpPr>
          <p:cNvPr id="3" name="TextBox 2">
            <a:extLst>
              <a:ext uri="{FF2B5EF4-FFF2-40B4-BE49-F238E27FC236}">
                <a16:creationId xmlns:a16="http://schemas.microsoft.com/office/drawing/2014/main" id="{3F4FEAB5-433B-4353-BBCF-2C1FCEAEF432}"/>
              </a:ext>
            </a:extLst>
          </p:cNvPr>
          <p:cNvSpPr txBox="1"/>
          <p:nvPr/>
        </p:nvSpPr>
        <p:spPr>
          <a:xfrm>
            <a:off x="792480" y="2014194"/>
            <a:ext cx="10607040" cy="4053354"/>
          </a:xfrm>
          <a:prstGeom prst="rect">
            <a:avLst/>
          </a:prstGeom>
          <a:noFill/>
        </p:spPr>
        <p:txBody>
          <a:bodyPr wrap="square" rtlCol="0">
            <a:spAutoFit/>
          </a:bodyPr>
          <a:lstStyle/>
          <a:p>
            <a:pPr marL="457200" indent="-457200">
              <a:lnSpc>
                <a:spcPct val="107000"/>
              </a:lnSpc>
              <a:spcBef>
                <a:spcPts val="1500"/>
              </a:spcBef>
              <a:spcAft>
                <a:spcPts val="1500"/>
              </a:spcAft>
              <a:buFont typeface="Arial" panose="020B0604020202020204" pitchFamily="34" charset="0"/>
              <a:buChar char="•"/>
            </a:pPr>
            <a:r>
              <a:rPr lang="en-US" sz="2800" dirty="0">
                <a:ea typeface="Times New Roman" panose="02020603050405020304" pitchFamily="18" charset="0"/>
                <a:cs typeface="Times New Roman" panose="02020603050405020304" pitchFamily="18" charset="0"/>
              </a:rPr>
              <a:t>This type of essay is designed for describing details of the subject. </a:t>
            </a:r>
          </a:p>
          <a:p>
            <a:pPr marL="457200" indent="-457200">
              <a:lnSpc>
                <a:spcPct val="107000"/>
              </a:lnSpc>
              <a:spcBef>
                <a:spcPts val="1500"/>
              </a:spcBef>
              <a:spcAft>
                <a:spcPts val="1500"/>
              </a:spcAft>
              <a:buFont typeface="Arial" panose="020B0604020202020204" pitchFamily="34" charset="0"/>
              <a:buChar char="•"/>
            </a:pPr>
            <a:r>
              <a:rPr lang="en-US" sz="2800" dirty="0">
                <a:ea typeface="Times New Roman" panose="02020603050405020304" pitchFamily="18" charset="0"/>
                <a:cs typeface="Times New Roman" panose="02020603050405020304" pitchFamily="18" charset="0"/>
              </a:rPr>
              <a:t>Here, the emphasis is on the use of sensory perception (e.g. visual, auditory, tactile, olfactory).</a:t>
            </a:r>
          </a:p>
          <a:p>
            <a:pPr marL="457200" indent="-457200">
              <a:lnSpc>
                <a:spcPct val="107000"/>
              </a:lnSpc>
              <a:spcBef>
                <a:spcPts val="1500"/>
              </a:spcBef>
              <a:spcAft>
                <a:spcPts val="1500"/>
              </a:spcAft>
              <a:buFont typeface="Arial" panose="020B0604020202020204" pitchFamily="34" charset="0"/>
              <a:buChar char="•"/>
            </a:pPr>
            <a:r>
              <a:rPr lang="en-US" sz="2800" dirty="0">
                <a:ea typeface="Times New Roman" panose="02020603050405020304" pitchFamily="18" charset="0"/>
                <a:cs typeface="Times New Roman" panose="02020603050405020304" pitchFamily="18" charset="0"/>
              </a:rPr>
              <a:t>You are to describe the way it looks, smells or works. It can be compared with a detailed overview of the things you write about. In this type of essay, every detail counts.</a:t>
            </a:r>
            <a:endParaRPr lang="en-US"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08597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36A63-8FA4-48FC-956E-05515E568D6A}"/>
              </a:ext>
            </a:extLst>
          </p:cNvPr>
          <p:cNvSpPr txBox="1"/>
          <p:nvPr/>
        </p:nvSpPr>
        <p:spPr>
          <a:xfrm>
            <a:off x="1691640" y="1402080"/>
            <a:ext cx="8763000"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Generally, combine the ideas under the expository and narrative essays to compose beautiful descriptive essays.</a:t>
            </a:r>
          </a:p>
          <a:p>
            <a:pPr marL="285750" indent="-285750">
              <a:buFont typeface="Arial" panose="020B0604020202020204" pitchFamily="34" charset="0"/>
              <a:buChar char="•"/>
            </a:pPr>
            <a:r>
              <a:rPr lang="en-US" sz="2800" dirty="0"/>
              <a:t>How would you describe in 250 </a:t>
            </a:r>
            <a:r>
              <a:rPr lang="en-US" sz="2800" dirty="0" smtClean="0"/>
              <a:t>words, </a:t>
            </a:r>
            <a:r>
              <a:rPr lang="en-US" sz="2800" dirty="0"/>
              <a:t>Ghana to one of your European friends who wants to come to Ghana on an exchange programme?</a:t>
            </a:r>
          </a:p>
        </p:txBody>
      </p:sp>
    </p:spTree>
    <p:extLst>
      <p:ext uri="{BB962C8B-B14F-4D97-AF65-F5344CB8AC3E}">
        <p14:creationId xmlns:p14="http://schemas.microsoft.com/office/powerpoint/2010/main" val="27423952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D017BD-A23C-4281-86CD-F1A50E212317}"/>
              </a:ext>
            </a:extLst>
          </p:cNvPr>
          <p:cNvSpPr txBox="1"/>
          <p:nvPr/>
        </p:nvSpPr>
        <p:spPr>
          <a:xfrm>
            <a:off x="3154680" y="944880"/>
            <a:ext cx="5730240" cy="830997"/>
          </a:xfrm>
          <a:prstGeom prst="rect">
            <a:avLst/>
          </a:prstGeom>
          <a:noFill/>
        </p:spPr>
        <p:txBody>
          <a:bodyPr wrap="square" rtlCol="0">
            <a:spAutoFit/>
          </a:bodyPr>
          <a:lstStyle/>
          <a:p>
            <a:r>
              <a:rPr lang="en-US" sz="4800" dirty="0">
                <a:solidFill>
                  <a:srgbClr val="FF0000"/>
                </a:solidFill>
              </a:rPr>
              <a:t>SUMMARY</a:t>
            </a:r>
          </a:p>
        </p:txBody>
      </p:sp>
      <p:sp>
        <p:nvSpPr>
          <p:cNvPr id="3" name="TextBox 2">
            <a:extLst>
              <a:ext uri="{FF2B5EF4-FFF2-40B4-BE49-F238E27FC236}">
                <a16:creationId xmlns:a16="http://schemas.microsoft.com/office/drawing/2014/main" id="{CACB2D04-8332-4B22-97A4-D096087474DE}"/>
              </a:ext>
            </a:extLst>
          </p:cNvPr>
          <p:cNvSpPr txBox="1"/>
          <p:nvPr/>
        </p:nvSpPr>
        <p:spPr>
          <a:xfrm>
            <a:off x="487680" y="2346960"/>
            <a:ext cx="10927080"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In this discussion, we sought to understand what discourse types are.</a:t>
            </a:r>
          </a:p>
          <a:p>
            <a:pPr marL="285750" indent="-285750">
              <a:buFont typeface="Arial" panose="020B0604020202020204" pitchFamily="34" charset="0"/>
              <a:buChar char="•"/>
            </a:pPr>
            <a:r>
              <a:rPr lang="en-US" sz="2800" dirty="0"/>
              <a:t>We focused on four basic types and their uniqueness in academic writing.</a:t>
            </a:r>
          </a:p>
          <a:p>
            <a:pPr marL="285750" indent="-285750">
              <a:buFont typeface="Arial" panose="020B0604020202020204" pitchFamily="34" charset="0"/>
              <a:buChar char="•"/>
            </a:pPr>
            <a:r>
              <a:rPr lang="en-US" sz="2800" dirty="0"/>
              <a:t>We stressed that each discourse type is unique because it performs and achieves different communicative functions, one of which is to persuade the audience.</a:t>
            </a:r>
          </a:p>
        </p:txBody>
      </p:sp>
    </p:spTree>
    <p:extLst>
      <p:ext uri="{BB962C8B-B14F-4D97-AF65-F5344CB8AC3E}">
        <p14:creationId xmlns:p14="http://schemas.microsoft.com/office/powerpoint/2010/main" val="420960214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{1017A327-F2D5-4625-BC24-8F3635C88221}tf03457510</Template>
  <TotalTime>199</TotalTime>
  <Words>1288</Words>
  <Application>Microsoft Office PowerPoint</Application>
  <PresentationFormat>Widescreen</PresentationFormat>
  <Paragraphs>99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 Gothic</vt:lpstr>
      <vt:lpstr>Garamond</vt:lpstr>
      <vt:lpstr>Symbol</vt:lpstr>
      <vt:lpstr>Times New Roman</vt:lpstr>
      <vt:lpstr>Savon</vt:lpstr>
      <vt:lpstr>Discourse types</vt:lpstr>
      <vt:lpstr>              INTRODUCTION</vt:lpstr>
      <vt:lpstr>PowerPoint Presentation</vt:lpstr>
      <vt:lpstr>DISCOURSE TYPES AS ESSAY TYPES</vt:lpstr>
      <vt:lpstr>THE EXPOSITORY ESSAY</vt:lpstr>
      <vt:lpstr>THE STRUCTURE OF THE EXPOSITORY ESSAY</vt:lpstr>
      <vt:lpstr>Writing the Introductory Paragraph</vt:lpstr>
      <vt:lpstr>Trial exercise</vt:lpstr>
      <vt:lpstr>Writing the body paragraphs</vt:lpstr>
      <vt:lpstr>Writing the concluding paragraph</vt:lpstr>
      <vt:lpstr>THE ARGUMENTATIVE ESSAY</vt:lpstr>
      <vt:lpstr>PowerPoint Presentation</vt:lpstr>
      <vt:lpstr>PowerPoint Presentation</vt:lpstr>
      <vt:lpstr>Structure of the argumentative essay</vt:lpstr>
      <vt:lpstr>Trial exercise</vt:lpstr>
      <vt:lpstr>THE NARRATIVE ESSAY</vt:lpstr>
      <vt:lpstr>Structure of the narrative essay</vt:lpstr>
      <vt:lpstr>Trial exercise</vt:lpstr>
      <vt:lpstr>THE DESCRIPTIVE ESSAY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Discourse types</dc:title>
  <dc:creator>winchy</dc:creator>
  <cp:lastModifiedBy>NaNa Sarfo KanTankah</cp:lastModifiedBy>
  <cp:revision>21</cp:revision>
  <dcterms:created xsi:type="dcterms:W3CDTF">2020-04-05T12:08:49Z</dcterms:created>
  <dcterms:modified xsi:type="dcterms:W3CDTF">2020-08-03T23:12:31Z</dcterms:modified>
</cp:coreProperties>
</file>
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9" r:id="rId3"/>
    <p:sldId id="265" r:id="rId4"/>
    <p:sldId id="266" r:id="rId5"/>
    <p:sldId id="260" r:id="rId6"/>
    <p:sldId id="263" r:id="rId7"/>
    <p:sldId id="264" r:id="rId8"/>
    <p:sldId id="281" r:id="rId9"/>
    <p:sldId id="271" r:id="rId10"/>
    <p:sldId id="268" r:id="rId11"/>
    <p:sldId id="269" r:id="rId12"/>
    <p:sldId id="283" r:id="rId13"/>
    <p:sldId id="270" r:id="rId14"/>
    <p:sldId id="262" r:id="rId15"/>
    <p:sldId id="257" r:id="rId16"/>
    <p:sldId id="284" r:id="rId17"/>
    <p:sldId id="285" r:id="rId18"/>
    <p:sldId id="272" r:id="rId19"/>
    <p:sldId id="286" r:id="rId20"/>
    <p:sldId id="258" r:id="rId21"/>
    <p:sldId id="273" r:id="rId22"/>
    <p:sldId id="295"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77" d="100"/>
          <a:sy n="77" d="100"/>
        </p:scale>
        <p:origin x="-378" y="-4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t>4/6/2020</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4/6/2020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t>4/6/2020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4/6/2020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0"/>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0"/>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t>4/6/2020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t>4/6/2020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t>4/6/2020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t>4/6/2020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t>4/6/2020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t>4/6/2020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t>4/6/2020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t>4/6/2020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t>4/6/2020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t>4/6/2020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t>4/6/2020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t>4/6/2020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t>4/6/2020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a:fill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a:fill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t>4/6/2020</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11380" y="1712891"/>
            <a:ext cx="7122017" cy="1673774"/>
          </a:xfrm>
        </p:spPr>
        <p:txBody>
          <a:bodyPr/>
          <a:lstStyle/>
          <a:p>
            <a:r>
              <a:rPr lang="en-US" b="1" dirty="0" smtClean="0">
                <a:solidFill>
                  <a:srgbClr val="0070C0"/>
                </a:solidFill>
              </a:rPr>
              <a:t>COMMUNICATIVE SKILLS (CMS 108)</a:t>
            </a:r>
            <a:endParaRPr lang="en-US" b="1" dirty="0">
              <a:solidFill>
                <a:srgbClr val="0070C0"/>
              </a:solidFill>
            </a:endParaRPr>
          </a:p>
        </p:txBody>
      </p:sp>
      <p:sp>
        <p:nvSpPr>
          <p:cNvPr id="3" name="Subtitle 2"/>
          <p:cNvSpPr>
            <a:spLocks noGrp="1"/>
          </p:cNvSpPr>
          <p:nvPr>
            <p:ph type="subTitle" idx="1"/>
          </p:nvPr>
        </p:nvSpPr>
        <p:spPr/>
        <p:txBody>
          <a:bodyPr>
            <a:normAutofit/>
          </a:bodyPr>
          <a:lstStyle/>
          <a:p>
            <a:r>
              <a:rPr lang="en-US" sz="4400" dirty="0" smtClean="0">
                <a:solidFill>
                  <a:srgbClr val="0070C0"/>
                </a:solidFill>
              </a:rPr>
              <a:t>Report Writing </a:t>
            </a:r>
            <a:endParaRPr lang="en-US" sz="4400" dirty="0">
              <a:solidFill>
                <a:srgbClr val="0070C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1" y="6156101"/>
            <a:ext cx="9609666" cy="51516"/>
          </a:xfrm>
        </p:spPr>
        <p:txBody>
          <a:bodyPr>
            <a:normAutofit fontScale="90000"/>
          </a:bodyPr>
          <a:lstStyle/>
          <a:p>
            <a:endParaRPr lang="en-US" dirty="0"/>
          </a:p>
        </p:txBody>
      </p:sp>
      <p:pic>
        <p:nvPicPr>
          <p:cNvPr id="5" name="Picture Placeholder 4"/>
          <p:cNvPicPr>
            <a:picLocks noGrp="1" noChangeAspect="1"/>
          </p:cNvPicPr>
          <p:nvPr>
            <p:ph type="pic" idx="1"/>
          </p:nvPr>
        </p:nvPicPr>
        <p:blipFill>
          <a:blip r:embed="rId2">
            <a:extLst>
              <a:ext uri="{28A0092B-C50C-407E-A947-70E740481C1C}">
                <a14:useLocalDpi xmlns:a14="http://schemas.microsoft.com/office/drawing/2010/main" val="0"/>
              </a:ext>
            </a:extLst>
          </a:blip>
          <a:srcRect l="2278" r="2278"/>
          <a:stretch>
            <a:fillRect/>
          </a:stretch>
        </p:blipFill>
        <p:spPr>
          <a:xfrm>
            <a:off x="1041427" y="1041399"/>
            <a:ext cx="10105972" cy="4998793"/>
          </a:xfrm>
        </p:spPr>
      </p:pic>
      <p:sp>
        <p:nvSpPr>
          <p:cNvPr id="4" name="Text Placeholder 3"/>
          <p:cNvSpPr>
            <a:spLocks noGrp="1"/>
          </p:cNvSpPr>
          <p:nvPr>
            <p:ph type="body" sz="half" idx="2"/>
          </p:nvPr>
        </p:nvSpPr>
        <p:spPr>
          <a:xfrm flipV="1">
            <a:off x="1295401" y="6207616"/>
            <a:ext cx="9609666" cy="650382"/>
          </a:xfrm>
        </p:spPr>
        <p:txBody>
          <a:bodyPr/>
          <a:lstStyle/>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1196" cy="1303867"/>
          </a:xfrm>
        </p:spPr>
        <p:txBody>
          <a:bodyPr/>
          <a:lstStyle/>
          <a:p>
            <a:r>
              <a:rPr lang="en-US" dirty="0" smtClean="0">
                <a:solidFill>
                  <a:srgbClr val="0070C0"/>
                </a:solidFill>
              </a:rPr>
              <a:t>What is a Report?</a:t>
            </a:r>
          </a:p>
        </p:txBody>
      </p:sp>
      <p:sp>
        <p:nvSpPr>
          <p:cNvPr id="3" name="Content Placeholder 2"/>
          <p:cNvSpPr>
            <a:spLocks noGrp="1"/>
          </p:cNvSpPr>
          <p:nvPr>
            <p:ph idx="1"/>
          </p:nvPr>
        </p:nvSpPr>
        <p:spPr>
          <a:xfrm>
            <a:off x="1295401" y="2421228"/>
            <a:ext cx="9601196" cy="3709116"/>
          </a:xfrm>
        </p:spPr>
        <p:txBody>
          <a:bodyPr>
            <a:normAutofit fontScale="92500"/>
          </a:bodyPr>
          <a:lstStyle/>
          <a:p>
            <a:pPr algn="just"/>
            <a:r>
              <a:rPr lang="en-US" sz="2800" dirty="0" smtClean="0">
                <a:latin typeface="Times New Roman" panose="02020603050405020304" pitchFamily="18" charset="0"/>
                <a:ea typeface="Arial Unicode MS" panose="020B0604020202020204" pitchFamily="34" charset="-128"/>
                <a:cs typeface="Times New Roman" panose="02020603050405020304" pitchFamily="18" charset="0"/>
              </a:rPr>
              <a:t>A report is an informed account of a situation which helps audience to know and take informed decisions.</a:t>
            </a:r>
          </a:p>
          <a:p>
            <a:pPr algn="just"/>
            <a:r>
              <a:rPr lang="en-US" sz="2800" dirty="0">
                <a:latin typeface="Times New Roman" panose="02020603050405020304" pitchFamily="18" charset="0"/>
                <a:ea typeface="Arial Unicode MS" panose="020B0604020202020204" pitchFamily="34" charset="-128"/>
                <a:cs typeface="Times New Roman" panose="02020603050405020304" pitchFamily="18" charset="0"/>
              </a:rPr>
              <a:t> </a:t>
            </a:r>
            <a:r>
              <a:rPr lang="en-US" sz="2800" dirty="0" smtClean="0">
                <a:latin typeface="Times New Roman" panose="02020603050405020304" pitchFamily="18" charset="0"/>
                <a:ea typeface="Arial Unicode MS" panose="020B0604020202020204" pitchFamily="34" charset="-128"/>
                <a:cs typeface="Times New Roman" panose="02020603050405020304" pitchFamily="18" charset="0"/>
              </a:rPr>
              <a:t>A report is a </a:t>
            </a:r>
            <a:r>
              <a:rPr lang="en-US" sz="2800" dirty="0">
                <a:latin typeface="Times New Roman" panose="02020603050405020304" pitchFamily="18" charset="0"/>
                <a:ea typeface="Arial Unicode MS" panose="020B0604020202020204" pitchFamily="34" charset="-128"/>
                <a:cs typeface="Times New Roman" panose="02020603050405020304" pitchFamily="18" charset="0"/>
              </a:rPr>
              <a:t>description of an event, an </a:t>
            </a:r>
            <a:r>
              <a:rPr lang="en-US" sz="2800" dirty="0" smtClean="0">
                <a:latin typeface="Times New Roman" panose="02020603050405020304" pitchFamily="18" charset="0"/>
                <a:ea typeface="Arial Unicode MS" panose="020B0604020202020204" pitchFamily="34" charset="-128"/>
                <a:cs typeface="Times New Roman" panose="02020603050405020304" pitchFamily="18" charset="0"/>
              </a:rPr>
              <a:t>experience, situation </a:t>
            </a:r>
            <a:r>
              <a:rPr lang="en-US" sz="2800" dirty="0">
                <a:latin typeface="Times New Roman" panose="02020603050405020304" pitchFamily="18" charset="0"/>
                <a:ea typeface="Arial Unicode MS" panose="020B0604020202020204" pitchFamily="34" charset="-128"/>
                <a:cs typeface="Times New Roman" panose="02020603050405020304" pitchFamily="18" charset="0"/>
              </a:rPr>
              <a:t>or action which is meant to give a reliable and accurate piece of information about its subjects or the event it </a:t>
            </a:r>
            <a:r>
              <a:rPr lang="en-US" sz="2800" dirty="0" smtClean="0">
                <a:latin typeface="Times New Roman" panose="02020603050405020304" pitchFamily="18" charset="0"/>
                <a:ea typeface="Arial Unicode MS" panose="020B0604020202020204" pitchFamily="34" charset="-128"/>
                <a:cs typeface="Times New Roman" panose="02020603050405020304" pitchFamily="18" charset="0"/>
              </a:rPr>
              <a:t>covers.</a:t>
            </a:r>
          </a:p>
          <a:p>
            <a:pPr algn="just"/>
            <a:r>
              <a:rPr lang="en-US" sz="2800" dirty="0" smtClean="0">
                <a:latin typeface="Times New Roman" panose="02020603050405020304" pitchFamily="18" charset="0"/>
                <a:ea typeface="Arial Unicode MS" panose="020B0604020202020204" pitchFamily="34" charset="-128"/>
                <a:cs typeface="Times New Roman" panose="02020603050405020304" pitchFamily="18" charset="0"/>
              </a:rPr>
              <a:t>The presentation of report consists of three main activities namely: Researching (looking for facts); Analysis and interpretation of information; and Presentation of </a:t>
            </a:r>
            <a:r>
              <a:rPr lang="en-US" sz="2800" dirty="0" err="1" smtClean="0">
                <a:latin typeface="Times New Roman" panose="02020603050405020304" pitchFamily="18" charset="0"/>
                <a:ea typeface="Arial Unicode MS" panose="020B0604020202020204" pitchFamily="34" charset="-128"/>
                <a:cs typeface="Times New Roman" panose="02020603050405020304" pitchFamily="18" charset="0"/>
              </a:rPr>
              <a:t>analysed</a:t>
            </a:r>
            <a:r>
              <a:rPr lang="en-US" sz="2800" dirty="0" smtClean="0">
                <a:latin typeface="Times New Roman" panose="02020603050405020304" pitchFamily="18" charset="0"/>
                <a:ea typeface="Arial Unicode MS" panose="020B0604020202020204" pitchFamily="34" charset="-128"/>
                <a:cs typeface="Times New Roman" panose="02020603050405020304" pitchFamily="18" charset="0"/>
              </a:rPr>
              <a:t> facts.</a:t>
            </a:r>
            <a:endParaRPr lang="en-US" sz="2800" dirty="0">
              <a:latin typeface="Times New Roman" panose="02020603050405020304" pitchFamily="18" charset="0"/>
              <a:ea typeface="Arial Unicode MS" panose="020B0604020202020204" pitchFamily="34" charset="-128"/>
              <a:cs typeface="Times New Roman" panose="02020603050405020304" pitchFamily="18" charset="0"/>
            </a:endParaRPr>
          </a:p>
          <a:p>
            <a:endParaRPr lang="en-US" dirty="0">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70C0"/>
                </a:solidFill>
              </a:rPr>
              <a:t>What is Report Writing?</a:t>
            </a:r>
          </a:p>
        </p:txBody>
      </p:sp>
      <p:sp>
        <p:nvSpPr>
          <p:cNvPr id="3" name="Content Placeholder 2"/>
          <p:cNvSpPr>
            <a:spLocks noGrp="1"/>
          </p:cNvSpPr>
          <p:nvPr>
            <p:ph idx="1"/>
          </p:nvPr>
        </p:nvSpPr>
        <p:spPr>
          <a:xfrm>
            <a:off x="1601470" y="2336165"/>
            <a:ext cx="9184640" cy="3663950"/>
          </a:xfrm>
        </p:spPr>
        <p:txBody>
          <a:bodyPr>
            <a:normAutofit fontScale="92500"/>
          </a:bodyPr>
          <a:lstStyle/>
          <a:p>
            <a:pPr algn="just">
              <a:lnSpc>
                <a:spcPct val="150000"/>
              </a:lnSpc>
            </a:pPr>
            <a:r>
              <a:rPr lang="en-US" sz="1600" dirty="0" smtClean="0"/>
              <a:t> </a:t>
            </a:r>
            <a:r>
              <a:rPr lang="en-US" sz="2800" dirty="0" smtClean="0">
                <a:latin typeface="Times New Roman" panose="02020603050405020304" pitchFamily="18" charset="0"/>
                <a:cs typeface="Times New Roman" panose="02020603050405020304" pitchFamily="18" charset="0"/>
              </a:rPr>
              <a:t>Report writing is an account of a sistuation based on analysed facts. It includes conclusions and suggestions drawn from the analysed data.</a:t>
            </a:r>
          </a:p>
          <a:p>
            <a:pPr algn="just">
              <a:lnSpc>
                <a:spcPct val="150000"/>
              </a:lnSpc>
            </a:pPr>
            <a:r>
              <a:rPr lang="en-US" sz="2800" dirty="0">
                <a:latin typeface="Times New Roman" panose="02020603050405020304" pitchFamily="18" charset="0"/>
                <a:cs typeface="Times New Roman" panose="02020603050405020304" pitchFamily="18" charset="0"/>
              </a:rPr>
              <a:t>R</a:t>
            </a:r>
            <a:r>
              <a:rPr lang="en-US" sz="2800" dirty="0" smtClean="0">
                <a:latin typeface="Times New Roman" panose="02020603050405020304" pitchFamily="18" charset="0"/>
                <a:cs typeface="Times New Roman" panose="02020603050405020304" pitchFamily="18" charset="0"/>
              </a:rPr>
              <a:t>eport </a:t>
            </a:r>
            <a:r>
              <a:rPr lang="en-US" sz="2800" dirty="0">
                <a:latin typeface="Times New Roman" panose="02020603050405020304" pitchFamily="18" charset="0"/>
                <a:cs typeface="Times New Roman" panose="02020603050405020304" pitchFamily="18" charset="0"/>
              </a:rPr>
              <a:t>writing takes cognizance of particular readership, particular situations and particular relationships between a reader and a writer.</a:t>
            </a:r>
            <a:endParaRPr lang="en-US"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1" y="6413678"/>
            <a:ext cx="9609666" cy="45719"/>
          </a:xfrm>
        </p:spPr>
        <p:txBody>
          <a:bodyPr>
            <a:normAutofit fontScale="90000"/>
          </a:bodyPr>
          <a:lstStyle/>
          <a:p>
            <a:endParaRPr lang="en-US" dirty="0"/>
          </a:p>
        </p:txBody>
      </p:sp>
      <p:pic>
        <p:nvPicPr>
          <p:cNvPr id="5" name="Picture Placeholder 4"/>
          <p:cNvPicPr>
            <a:picLocks noGrp="1" noChangeAspect="1"/>
          </p:cNvPicPr>
          <p:nvPr>
            <p:ph type="pic" idx="1"/>
          </p:nvPr>
        </p:nvPicPr>
        <p:blipFill>
          <a:blip r:embed="rId2">
            <a:extLst>
              <a:ext uri="{28A0092B-C50C-407E-A947-70E740481C1C}">
                <a14:useLocalDpi xmlns:a14="http://schemas.microsoft.com/office/drawing/2010/main" val="0"/>
              </a:ext>
            </a:extLst>
          </a:blip>
          <a:srcRect t="8746" b="8746"/>
          <a:stretch>
            <a:fillRect/>
          </a:stretch>
        </p:blipFill>
        <p:spPr>
          <a:xfrm>
            <a:off x="1176036" y="901521"/>
            <a:ext cx="10105972" cy="5164428"/>
          </a:xfrm>
        </p:spPr>
      </p:pic>
      <p:sp>
        <p:nvSpPr>
          <p:cNvPr id="4" name="Text Placeholder 3"/>
          <p:cNvSpPr>
            <a:spLocks noGrp="1"/>
          </p:cNvSpPr>
          <p:nvPr>
            <p:ph type="body" sz="half" idx="2"/>
          </p:nvPr>
        </p:nvSpPr>
        <p:spPr>
          <a:xfrm flipV="1">
            <a:off x="1295401" y="6459397"/>
            <a:ext cx="9609666" cy="727014"/>
          </a:xfrm>
        </p:spPr>
        <p:txBody>
          <a:bodyPr/>
          <a:lstStyle/>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70C0"/>
                </a:solidFill>
              </a:rPr>
              <a:t>Types of Reports</a:t>
            </a:r>
          </a:p>
        </p:txBody>
      </p:sp>
      <p:sp>
        <p:nvSpPr>
          <p:cNvPr id="3" name="Content Placeholder 2"/>
          <p:cNvSpPr>
            <a:spLocks noGrp="1"/>
          </p:cNvSpPr>
          <p:nvPr>
            <p:ph idx="1"/>
          </p:nvPr>
        </p:nvSpPr>
        <p:spPr>
          <a:xfrm>
            <a:off x="1503680" y="2421255"/>
            <a:ext cx="9392920" cy="3806825"/>
          </a:xfrm>
        </p:spPr>
        <p:txBody>
          <a:bodyPr>
            <a:noAutofit/>
          </a:bodyPr>
          <a:lstStyle/>
          <a:p>
            <a:pPr algn="just">
              <a:lnSpc>
                <a:spcPct val="150000"/>
              </a:lnSpc>
            </a:pPr>
            <a:r>
              <a:rPr lang="en-US" dirty="0" smtClean="0"/>
              <a:t> </a:t>
            </a:r>
            <a:r>
              <a:rPr lang="en-US" dirty="0"/>
              <a:t>Reports can be classified into </a:t>
            </a:r>
            <a:r>
              <a:rPr lang="en-US" dirty="0" smtClean="0"/>
              <a:t>types based </a:t>
            </a:r>
            <a:r>
              <a:rPr lang="en-US" dirty="0" smtClean="0"/>
              <a:t>on subject </a:t>
            </a:r>
            <a:r>
              <a:rPr lang="en-US" dirty="0" smtClean="0"/>
              <a:t>matter, form or length. </a:t>
            </a:r>
          </a:p>
          <a:p>
            <a:pPr algn="just">
              <a:lnSpc>
                <a:spcPct val="150000"/>
              </a:lnSpc>
            </a:pPr>
            <a:r>
              <a:rPr lang="en-US" dirty="0" smtClean="0"/>
              <a:t> Subject matter reports include: Eye witness report, Work report, Progress report, Investigative report, Laboratory report etc.</a:t>
            </a:r>
          </a:p>
          <a:p>
            <a:pPr algn="just">
              <a:lnSpc>
                <a:spcPct val="150000"/>
              </a:lnSpc>
            </a:pPr>
            <a:r>
              <a:rPr lang="en-US" dirty="0"/>
              <a:t> </a:t>
            </a:r>
            <a:r>
              <a:rPr lang="en-US" dirty="0" smtClean="0"/>
              <a:t>Report types based on form include: Schematic form, Letter form, Memorandum form and Mixed form</a:t>
            </a:r>
          </a:p>
          <a:p>
            <a:pPr algn="just">
              <a:lnSpc>
                <a:spcPct val="150000"/>
              </a:lnSpc>
            </a:pPr>
            <a:r>
              <a:rPr lang="en-US" dirty="0"/>
              <a:t> </a:t>
            </a:r>
            <a:r>
              <a:rPr lang="en-US" dirty="0" smtClean="0"/>
              <a:t>Report types based on length include: Long, Medium and Short report.</a:t>
            </a:r>
            <a:endParaRPr lang="en-US" sz="1800" dirty="0"/>
          </a:p>
          <a:p>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70C0"/>
                </a:solidFill>
              </a:rPr>
              <a:t>Types of Report Based on Form</a:t>
            </a:r>
          </a:p>
        </p:txBody>
      </p:sp>
      <p:sp>
        <p:nvSpPr>
          <p:cNvPr id="3" name="Content Placeholder 2"/>
          <p:cNvSpPr>
            <a:spLocks noGrp="1"/>
          </p:cNvSpPr>
          <p:nvPr>
            <p:ph idx="1"/>
          </p:nvPr>
        </p:nvSpPr>
        <p:spPr>
          <a:xfrm>
            <a:off x="1295400" y="2557145"/>
            <a:ext cx="9601200" cy="3528060"/>
          </a:xfrm>
        </p:spPr>
        <p:txBody>
          <a:bodyPr>
            <a:noAutofit/>
          </a:bodyPr>
          <a:lstStyle/>
          <a:p>
            <a:pPr algn="just">
              <a:lnSpc>
                <a:spcPct val="150000"/>
              </a:lnSpc>
            </a:pPr>
            <a:r>
              <a:rPr lang="en-US" sz="2000" dirty="0"/>
              <a:t>Schematic Form: Ideas presented in a report can be arranged into sections and subsections with appropriate headings and subheadings. The schematic form of a report breaks ideas down for the reader and makes ideas more readable. </a:t>
            </a:r>
          </a:p>
          <a:p>
            <a:pPr algn="just">
              <a:lnSpc>
                <a:spcPct val="150000"/>
              </a:lnSpc>
            </a:pPr>
            <a:r>
              <a:rPr lang="en-US" sz="2000" dirty="0">
                <a:sym typeface="+mn-ea"/>
              </a:rPr>
              <a:t>Letter Form: usually adopts the structure of an official letter.  This is suitable when the subject matter being presented is a simple one with a single point of view. </a:t>
            </a:r>
            <a:endParaRPr lang="en-US" sz="2000" dirty="0"/>
          </a:p>
          <a:p>
            <a:pPr algn="just">
              <a:lnSpc>
                <a:spcPct val="150000"/>
              </a:lnSpc>
            </a:pPr>
            <a:r>
              <a:rPr lang="en-US" sz="2000" dirty="0">
                <a:sym typeface="+mn-ea"/>
              </a:rPr>
              <a:t>Mixed Form: combines features of the letter form and feature of the schematic form. It begins like a letter and takes the schematic form when the findings are written down.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solidFill>
                  <a:srgbClr val="0070C0"/>
                </a:solidFill>
              </a:rPr>
              <a:t/>
            </a:r>
            <a:br>
              <a:rPr lang="en-US" b="1">
                <a:solidFill>
                  <a:srgbClr val="0070C0"/>
                </a:solidFill>
              </a:rPr>
            </a:br>
            <a:r>
              <a:rPr lang="en-US" b="1" dirty="0" smtClean="0">
                <a:solidFill>
                  <a:srgbClr val="0070C0"/>
                </a:solidFill>
                <a:sym typeface="+mn-ea"/>
              </a:rPr>
              <a:t>Types of Report Based on Subject Matter</a:t>
            </a:r>
            <a:r>
              <a:rPr lang="en-US" b="1">
                <a:solidFill>
                  <a:srgbClr val="0070C0"/>
                </a:solidFill>
              </a:rPr>
              <a:t> </a:t>
            </a:r>
            <a:br>
              <a:rPr lang="en-US" b="1">
                <a:solidFill>
                  <a:srgbClr val="0070C0"/>
                </a:solidFill>
              </a:rPr>
            </a:br>
            <a:endParaRPr lang="en-US" b="1">
              <a:solidFill>
                <a:srgbClr val="0070C0"/>
              </a:solidFill>
            </a:endParaRPr>
          </a:p>
        </p:txBody>
      </p:sp>
      <p:sp>
        <p:nvSpPr>
          <p:cNvPr id="3" name="Content Placeholder 2"/>
          <p:cNvSpPr>
            <a:spLocks noGrp="1"/>
          </p:cNvSpPr>
          <p:nvPr>
            <p:ph idx="1"/>
          </p:nvPr>
        </p:nvSpPr>
        <p:spPr>
          <a:xfrm>
            <a:off x="1295400" y="2557145"/>
            <a:ext cx="9601200" cy="3528060"/>
          </a:xfrm>
        </p:spPr>
        <p:txBody>
          <a:bodyPr>
            <a:normAutofit/>
          </a:bodyPr>
          <a:lstStyle/>
          <a:p>
            <a:pPr algn="just"/>
            <a:r>
              <a:rPr lang="en-US" dirty="0">
                <a:sym typeface="+mn-ea"/>
              </a:rPr>
              <a:t> </a:t>
            </a:r>
            <a:r>
              <a:rPr lang="en-US" dirty="0">
                <a:solidFill>
                  <a:srgbClr val="FF0000"/>
                </a:solidFill>
                <a:sym typeface="+mn-ea"/>
              </a:rPr>
              <a:t>Eye-witness Report</a:t>
            </a:r>
            <a:r>
              <a:rPr lang="en-US" dirty="0">
                <a:sym typeface="+mn-ea"/>
              </a:rPr>
              <a:t>: gives an account of any event or experience on issues suh as accidents, thefts, </a:t>
            </a:r>
            <a:r>
              <a:rPr lang="en-US" dirty="0" err="1">
                <a:sym typeface="+mn-ea"/>
              </a:rPr>
              <a:t>labour</a:t>
            </a:r>
            <a:r>
              <a:rPr lang="en-US" dirty="0">
                <a:sym typeface="+mn-ea"/>
              </a:rPr>
              <a:t> unrest, armed robbery, squabbles. This type of report is normally presented in a narrative form and chronological order.</a:t>
            </a:r>
            <a:endParaRPr lang="en-US" dirty="0"/>
          </a:p>
          <a:p>
            <a:pPr algn="just"/>
            <a:r>
              <a:rPr lang="en-US" dirty="0">
                <a:solidFill>
                  <a:srgbClr val="FF0000"/>
                </a:solidFill>
                <a:sym typeface="+mn-ea"/>
              </a:rPr>
              <a:t>Work Report</a:t>
            </a:r>
            <a:r>
              <a:rPr lang="en-US" dirty="0">
                <a:sym typeface="+mn-ea"/>
              </a:rPr>
              <a:t>: presents information on tasks confronting an establishment or a </a:t>
            </a:r>
            <a:r>
              <a:rPr lang="en-US" dirty="0" err="1">
                <a:sym typeface="+mn-ea"/>
              </a:rPr>
              <a:t>parastatal</a:t>
            </a:r>
            <a:r>
              <a:rPr lang="en-US" dirty="0">
                <a:sym typeface="+mn-ea"/>
              </a:rPr>
              <a:t>. Thus the information provided must be on job related tasks.</a:t>
            </a:r>
            <a:endParaRPr lang="en-US" dirty="0"/>
          </a:p>
          <a:p>
            <a:pPr algn="just"/>
            <a:r>
              <a:rPr lang="en-US" dirty="0">
                <a:solidFill>
                  <a:srgbClr val="FF0000"/>
                </a:solidFill>
                <a:sym typeface="+mn-ea"/>
              </a:rPr>
              <a:t>Laboratory Report</a:t>
            </a:r>
            <a:r>
              <a:rPr lang="en-US" dirty="0">
                <a:sym typeface="+mn-ea"/>
              </a:rPr>
              <a:t>: This gives an account of the procedure, result and significance of an experiment with findings and conclusions. It outlines, analyses and, evaluates facts scientifically to form a report.</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Types of Report Based on Length</a:t>
            </a:r>
          </a:p>
        </p:txBody>
      </p:sp>
      <p:sp>
        <p:nvSpPr>
          <p:cNvPr id="3" name="Content Placeholder 2"/>
          <p:cNvSpPr>
            <a:spLocks noGrp="1"/>
          </p:cNvSpPr>
          <p:nvPr>
            <p:ph idx="1"/>
          </p:nvPr>
        </p:nvSpPr>
        <p:spPr>
          <a:xfrm>
            <a:off x="1295400" y="2557145"/>
            <a:ext cx="9601200" cy="3554730"/>
          </a:xfrm>
        </p:spPr>
        <p:txBody>
          <a:bodyPr>
            <a:noAutofit/>
          </a:bodyPr>
          <a:lstStyle/>
          <a:p>
            <a:pPr algn="just">
              <a:lnSpc>
                <a:spcPct val="150000"/>
              </a:lnSpc>
            </a:pPr>
            <a:r>
              <a:rPr lang="en-US" sz="2800" dirty="0"/>
              <a:t>Long reports are detailed account of an event or situation usually with the prefatory and appendage parts.  </a:t>
            </a:r>
          </a:p>
          <a:p>
            <a:pPr algn="just">
              <a:lnSpc>
                <a:spcPct val="150000"/>
              </a:lnSpc>
            </a:pPr>
            <a:r>
              <a:rPr lang="en-US" sz="2800" dirty="0"/>
              <a:t>Short reports are less detailed usually they do not contain prefatory nor appendage parts.</a:t>
            </a:r>
          </a:p>
          <a:p>
            <a:pPr algn="just">
              <a:lnSpc>
                <a:spcPct val="150000"/>
              </a:lnSpc>
            </a:pPr>
            <a:r>
              <a:rPr lang="en-US" sz="2800" dirty="0" smtClean="0"/>
              <a:t>Here, </a:t>
            </a:r>
            <a:r>
              <a:rPr lang="en-US" sz="2800" dirty="0"/>
              <a:t>the length depends on the degree of information required.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70C0"/>
                </a:solidFill>
              </a:rPr>
              <a:t>Structure of Report</a:t>
            </a:r>
            <a:r>
              <a:rPr lang="en-US" dirty="0" smtClean="0"/>
              <a:t> </a:t>
            </a:r>
            <a:endParaRPr lang="en-US" dirty="0"/>
          </a:p>
        </p:txBody>
      </p:sp>
      <p:sp>
        <p:nvSpPr>
          <p:cNvPr id="3" name="Content Placeholder 2"/>
          <p:cNvSpPr>
            <a:spLocks noGrp="1"/>
          </p:cNvSpPr>
          <p:nvPr>
            <p:ph idx="1"/>
          </p:nvPr>
        </p:nvSpPr>
        <p:spPr>
          <a:xfrm>
            <a:off x="1295400" y="2285365"/>
            <a:ext cx="9517380" cy="4166870"/>
          </a:xfrm>
        </p:spPr>
        <p:txBody>
          <a:bodyPr>
            <a:normAutofit/>
          </a:bodyPr>
          <a:lstStyle/>
          <a:p>
            <a:pPr algn="just">
              <a:lnSpc>
                <a:spcPct val="150000"/>
              </a:lnSpc>
            </a:pPr>
            <a:r>
              <a:rPr lang="en-US" sz="2800" dirty="0" smtClean="0"/>
              <a:t> </a:t>
            </a:r>
            <a:r>
              <a:rPr lang="en-US" sz="2000" dirty="0" smtClean="0"/>
              <a:t>Introduction: serves to prepare the mind of the reader for the findings and conclusions. It may include parts such as  definition of terms, collection of data, mode of analysis and interpretation and layout of report.</a:t>
            </a:r>
            <a:endParaRPr lang="en-US" sz="2000" dirty="0"/>
          </a:p>
          <a:p>
            <a:pPr algn="just">
              <a:lnSpc>
                <a:spcPct val="150000"/>
              </a:lnSpc>
            </a:pPr>
            <a:r>
              <a:rPr lang="en-US" sz="2000" dirty="0" smtClean="0"/>
              <a:t>Main Body: presents the collected data in relation to the problem. The body of effective reports is generally demarcated into parts.</a:t>
            </a:r>
            <a:endParaRPr lang="en-US" sz="2000" dirty="0"/>
          </a:p>
          <a:p>
            <a:pPr algn="just">
              <a:lnSpc>
                <a:spcPct val="150000"/>
              </a:lnSpc>
            </a:pPr>
            <a:r>
              <a:rPr lang="en-US" sz="2000" dirty="0" smtClean="0"/>
              <a:t> Conclusion: communicates summary, conclusions or recommendations of the reports. </a:t>
            </a:r>
            <a:endParaRPr lang="en-US" dirty="0" smtClean="0"/>
          </a:p>
          <a:p>
            <a:endParaRPr lang="en-US" dirty="0"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70C0"/>
                </a:solidFill>
              </a:rPr>
              <a:t>Additional Parts of Reports</a:t>
            </a:r>
          </a:p>
        </p:txBody>
      </p:sp>
      <p:sp>
        <p:nvSpPr>
          <p:cNvPr id="3" name="Content Placeholder 2"/>
          <p:cNvSpPr>
            <a:spLocks noGrp="1"/>
          </p:cNvSpPr>
          <p:nvPr>
            <p:ph idx="1"/>
          </p:nvPr>
        </p:nvSpPr>
        <p:spPr>
          <a:xfrm>
            <a:off x="1295400" y="2557145"/>
            <a:ext cx="9601200" cy="3624580"/>
          </a:xfrm>
        </p:spPr>
        <p:txBody>
          <a:bodyPr>
            <a:normAutofit lnSpcReduction="10000"/>
          </a:bodyPr>
          <a:lstStyle/>
          <a:p>
            <a:pPr algn="just">
              <a:lnSpc>
                <a:spcPct val="100000"/>
              </a:lnSpc>
            </a:pPr>
            <a:r>
              <a:rPr lang="en-US" sz="2800" dirty="0" smtClean="0"/>
              <a:t>Prefatory parts of a reports are formal documents and topics which serve to identify the report. They include: </a:t>
            </a:r>
          </a:p>
          <a:p>
            <a:pPr algn="just">
              <a:lnSpc>
                <a:spcPct val="100000"/>
              </a:lnSpc>
            </a:pPr>
            <a:r>
              <a:rPr lang="en-US" sz="2800" dirty="0" smtClean="0">
                <a:solidFill>
                  <a:srgbClr val="FF0000"/>
                </a:solidFill>
              </a:rPr>
              <a:t>Title fly</a:t>
            </a:r>
            <a:r>
              <a:rPr lang="en-US" sz="2800" dirty="0" smtClean="0"/>
              <a:t>: states just the title of the report.</a:t>
            </a:r>
          </a:p>
          <a:p>
            <a:pPr algn="just">
              <a:lnSpc>
                <a:spcPct val="100000"/>
              </a:lnSpc>
            </a:pPr>
            <a:r>
              <a:rPr lang="en-US" sz="2800" dirty="0" smtClean="0"/>
              <a:t> </a:t>
            </a:r>
            <a:r>
              <a:rPr lang="en-US" sz="2800" dirty="0" smtClean="0">
                <a:solidFill>
                  <a:srgbClr val="FF0000"/>
                </a:solidFill>
              </a:rPr>
              <a:t>Title page</a:t>
            </a:r>
            <a:r>
              <a:rPr lang="en-US" sz="2800" dirty="0" smtClean="0"/>
              <a:t>: comprises the title of the report, names of the investigator</a:t>
            </a:r>
            <a:r>
              <a:rPr lang="en-US" sz="2800" dirty="0"/>
              <a:t> </a:t>
            </a:r>
            <a:r>
              <a:rPr lang="en-US" sz="2800" dirty="0" smtClean="0"/>
              <a:t>and names of the authorizer. </a:t>
            </a:r>
          </a:p>
          <a:p>
            <a:pPr algn="just">
              <a:lnSpc>
                <a:spcPct val="100000"/>
              </a:lnSpc>
            </a:pPr>
            <a:r>
              <a:rPr lang="en-US" sz="2800" dirty="0" smtClean="0">
                <a:solidFill>
                  <a:srgbClr val="FF0000"/>
                </a:solidFill>
              </a:rPr>
              <a:t>Letter of submission</a:t>
            </a:r>
            <a:r>
              <a:rPr lang="en-US" sz="2800" dirty="0" smtClean="0"/>
              <a:t>: is a document which formally transmits the report to the recipient</a:t>
            </a:r>
            <a:r>
              <a:rPr lang="en-US" sz="3600" dirty="0" smtClean="0"/>
              <a:t>.</a:t>
            </a:r>
            <a:endParaRPr lang="en-US" sz="1600" dirty="0" smtClean="0"/>
          </a:p>
          <a:p>
            <a:pPr algn="just">
              <a:lnSpc>
                <a:spcPct val="150000"/>
              </a:lnSpc>
            </a:pPr>
            <a:endParaRPr lang="en-US" dirty="0" smtClean="0"/>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0070C0"/>
                </a:solidFill>
              </a:rPr>
              <a:t>Prefatory Parts of Reports</a:t>
            </a:r>
          </a:p>
        </p:txBody>
      </p:sp>
      <p:sp>
        <p:nvSpPr>
          <p:cNvPr id="3" name="Content Placeholder 2"/>
          <p:cNvSpPr>
            <a:spLocks noGrp="1"/>
          </p:cNvSpPr>
          <p:nvPr>
            <p:ph idx="1"/>
          </p:nvPr>
        </p:nvSpPr>
        <p:spPr/>
        <p:txBody>
          <a:bodyPr>
            <a:normAutofit fontScale="92500"/>
          </a:bodyPr>
          <a:lstStyle/>
          <a:p>
            <a:pPr algn="just">
              <a:lnSpc>
                <a:spcPct val="150000"/>
              </a:lnSpc>
            </a:pPr>
            <a:r>
              <a:rPr lang="en-US" dirty="0" smtClean="0">
                <a:solidFill>
                  <a:srgbClr val="FF0000"/>
                </a:solidFill>
                <a:sym typeface="+mn-ea"/>
              </a:rPr>
              <a:t>Letter of authorization</a:t>
            </a:r>
            <a:r>
              <a:rPr lang="en-US" dirty="0" smtClean="0">
                <a:sym typeface="+mn-ea"/>
              </a:rPr>
              <a:t>: is the document that authorized the investigator to write the report. </a:t>
            </a:r>
            <a:endParaRPr lang="en-US" dirty="0" smtClean="0"/>
          </a:p>
          <a:p>
            <a:pPr algn="just">
              <a:lnSpc>
                <a:spcPct val="150000"/>
              </a:lnSpc>
            </a:pPr>
            <a:r>
              <a:rPr lang="en-US" dirty="0" smtClean="0">
                <a:solidFill>
                  <a:srgbClr val="FF0000"/>
                </a:solidFill>
                <a:sym typeface="+mn-ea"/>
              </a:rPr>
              <a:t>Table of content</a:t>
            </a:r>
            <a:r>
              <a:rPr lang="en-US" dirty="0" smtClean="0">
                <a:sym typeface="+mn-ea"/>
              </a:rPr>
              <a:t>: provides a list of the various aspects of the report and their corresponding pages.</a:t>
            </a:r>
            <a:endParaRPr lang="en-US" dirty="0" smtClean="0"/>
          </a:p>
          <a:p>
            <a:pPr algn="just">
              <a:lnSpc>
                <a:spcPct val="150000"/>
              </a:lnSpc>
            </a:pPr>
            <a:r>
              <a:rPr lang="en-US" dirty="0" smtClean="0">
                <a:solidFill>
                  <a:srgbClr val="FF0000"/>
                </a:solidFill>
                <a:sym typeface="+mn-ea"/>
              </a:rPr>
              <a:t>Executive summary or </a:t>
            </a:r>
            <a:r>
              <a:rPr lang="en-US" dirty="0" err="1" smtClean="0">
                <a:solidFill>
                  <a:srgbClr val="FF0000"/>
                </a:solidFill>
                <a:sym typeface="+mn-ea"/>
              </a:rPr>
              <a:t>sysnopsis</a:t>
            </a:r>
            <a:r>
              <a:rPr lang="en-US" dirty="0" smtClean="0">
                <a:sym typeface="+mn-ea"/>
              </a:rPr>
              <a:t>: recaps the main points,  conclusions and suggestions.</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70C0"/>
                </a:solidFill>
              </a:rPr>
              <a:t>Appendage Parts of Reports</a:t>
            </a:r>
          </a:p>
        </p:txBody>
      </p:sp>
      <p:sp>
        <p:nvSpPr>
          <p:cNvPr id="3" name="Content Placeholder 2"/>
          <p:cNvSpPr>
            <a:spLocks noGrp="1"/>
          </p:cNvSpPr>
          <p:nvPr>
            <p:ph idx="1"/>
          </p:nvPr>
        </p:nvSpPr>
        <p:spPr/>
        <p:txBody>
          <a:bodyPr>
            <a:normAutofit lnSpcReduction="10000"/>
          </a:bodyPr>
          <a:lstStyle/>
          <a:p>
            <a:pPr>
              <a:lnSpc>
                <a:spcPct val="100000"/>
              </a:lnSpc>
            </a:pPr>
            <a:r>
              <a:rPr lang="en-US" sz="2800" dirty="0" smtClean="0"/>
              <a:t> Appendage are usually supplementary documents or references attached to the report.</a:t>
            </a:r>
            <a:r>
              <a:rPr lang="en-US" sz="2800" dirty="0"/>
              <a:t> </a:t>
            </a:r>
            <a:r>
              <a:rPr lang="en-US" sz="2800" dirty="0" smtClean="0"/>
              <a:t>It comprise Appendix and Bibliography.</a:t>
            </a:r>
          </a:p>
          <a:p>
            <a:pPr>
              <a:lnSpc>
                <a:spcPct val="100000"/>
              </a:lnSpc>
            </a:pPr>
            <a:r>
              <a:rPr lang="en-US" sz="2800" dirty="0" smtClean="0"/>
              <a:t>Appendix contains documents which will help the reader to </a:t>
            </a:r>
            <a:r>
              <a:rPr lang="en-US" sz="2800" dirty="0" smtClean="0"/>
              <a:t>understand </a:t>
            </a:r>
            <a:r>
              <a:rPr lang="en-US" sz="2800" dirty="0" smtClean="0"/>
              <a:t>the nature of the investigation.</a:t>
            </a:r>
          </a:p>
          <a:p>
            <a:pPr>
              <a:lnSpc>
                <a:spcPct val="100000"/>
              </a:lnSpc>
            </a:pPr>
            <a:r>
              <a:rPr lang="en-US" sz="2800" dirty="0" smtClean="0"/>
              <a:t>Bibliography </a:t>
            </a:r>
            <a:r>
              <a:rPr lang="en-US" sz="2800" dirty="0" smtClean="0"/>
              <a:t>features generally when investigation involves certain theoretical positions. They are </a:t>
            </a:r>
            <a:r>
              <a:rPr lang="en-US" sz="2800" dirty="0" smtClean="0"/>
              <a:t>alphabetical </a:t>
            </a:r>
            <a:r>
              <a:rPr lang="en-US" sz="2800" dirty="0" smtClean="0"/>
              <a:t>list of all books, journals, articles and newspapers consulted by the investigator.</a:t>
            </a:r>
            <a:endParaRPr lang="en-US" dirty="0" smtClean="0"/>
          </a:p>
          <a:p>
            <a:pPr marL="0" indent="0">
              <a:buNone/>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1" y="6000271"/>
            <a:ext cx="9609666" cy="566738"/>
          </a:xfrm>
        </p:spPr>
        <p:txBody>
          <a:bodyPr/>
          <a:lstStyle/>
          <a:p>
            <a:endParaRPr lang="en-US" dirty="0"/>
          </a:p>
        </p:txBody>
      </p:sp>
      <p:sp>
        <p:nvSpPr>
          <p:cNvPr id="4" name="Text Placeholder 3"/>
          <p:cNvSpPr>
            <a:spLocks noGrp="1"/>
          </p:cNvSpPr>
          <p:nvPr>
            <p:ph type="body" sz="half" idx="2"/>
          </p:nvPr>
        </p:nvSpPr>
        <p:spPr>
          <a:xfrm flipV="1">
            <a:off x="1295401" y="6220495"/>
            <a:ext cx="9609666" cy="346513"/>
          </a:xfrm>
        </p:spPr>
        <p:txBody>
          <a:bodyPr/>
          <a:lstStyle/>
          <a:p>
            <a:endParaRPr lang="en-US" dirty="0"/>
          </a:p>
        </p:txBody>
      </p:sp>
      <p:pic>
        <p:nvPicPr>
          <p:cNvPr id="7" name="Picture Placeholder 6"/>
          <p:cNvPicPr>
            <a:picLocks noGrp="1" noChangeAspect="1"/>
          </p:cNvPicPr>
          <p:nvPr>
            <p:ph type="pic" idx="1"/>
          </p:nvPr>
        </p:nvPicPr>
        <p:blipFill>
          <a:blip r:embed="rId2">
            <a:extLst>
              <a:ext uri="{28A0092B-C50C-407E-A947-70E740481C1C}">
                <a14:useLocalDpi xmlns:a14="http://schemas.microsoft.com/office/drawing/2010/main" val="0"/>
              </a:ext>
            </a:extLst>
          </a:blip>
          <a:srcRect t="17955" b="17955"/>
          <a:stretch>
            <a:fillRect/>
          </a:stretch>
        </p:blipFill>
        <p:spPr>
          <a:xfrm>
            <a:off x="1054279" y="708338"/>
            <a:ext cx="10106025" cy="5291932"/>
          </a:xfr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70C0"/>
                </a:solidFill>
              </a:rPr>
              <a:t>Features of a Good Report</a:t>
            </a:r>
          </a:p>
        </p:txBody>
      </p:sp>
      <p:sp>
        <p:nvSpPr>
          <p:cNvPr id="3" name="Content Placeholder 2"/>
          <p:cNvSpPr>
            <a:spLocks noGrp="1"/>
          </p:cNvSpPr>
          <p:nvPr>
            <p:ph idx="1"/>
          </p:nvPr>
        </p:nvSpPr>
        <p:spPr>
          <a:xfrm>
            <a:off x="1295400" y="2404745"/>
            <a:ext cx="9601200" cy="3763010"/>
          </a:xfrm>
        </p:spPr>
        <p:txBody>
          <a:bodyPr>
            <a:noAutofit/>
          </a:bodyPr>
          <a:lstStyle/>
          <a:p>
            <a:pPr algn="just">
              <a:lnSpc>
                <a:spcPct val="100000"/>
              </a:lnSpc>
            </a:pPr>
            <a:r>
              <a:rPr lang="en-US" dirty="0"/>
              <a:t> </a:t>
            </a:r>
            <a:r>
              <a:rPr lang="en-US" sz="2800" dirty="0"/>
              <a:t>Accuracy: a good report must be accurate and factual. This will prove that the report is authentic and well treated.</a:t>
            </a:r>
          </a:p>
          <a:p>
            <a:pPr algn="just">
              <a:lnSpc>
                <a:spcPct val="100000"/>
              </a:lnSpc>
            </a:pPr>
            <a:r>
              <a:rPr lang="en-US" sz="2800" dirty="0">
                <a:sym typeface="+mn-ea"/>
              </a:rPr>
              <a:t>Clarity: a good report must be clear or lucid. The facts presented in the report must not be vague or confusing. The writer should select apt words suitable for his/her subject matter. The information contained in a report should be direct and straight forward and should be able to capture the message intended.</a:t>
            </a:r>
            <a:endParaRPr lang="en-US" dirty="0"/>
          </a:p>
          <a:p>
            <a:pPr algn="just"/>
            <a:endParaRPr lang="en-US" dirty="0"/>
          </a:p>
          <a:p>
            <a:endParaRPr lang="en-US" dirty="0"/>
          </a:p>
          <a:p>
            <a:endParaRPr lang="en-US" dirty="0" smtClean="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olidFill>
                  <a:srgbClr val="0070C0"/>
                </a:solidFill>
              </a:rPr>
              <a:t>Features of a Good Report</a:t>
            </a:r>
          </a:p>
        </p:txBody>
      </p:sp>
      <p:sp>
        <p:nvSpPr>
          <p:cNvPr id="3" name="Content Placeholder 2"/>
          <p:cNvSpPr>
            <a:spLocks noGrp="1"/>
          </p:cNvSpPr>
          <p:nvPr>
            <p:ph idx="1"/>
          </p:nvPr>
        </p:nvSpPr>
        <p:spPr>
          <a:xfrm>
            <a:off x="1295400" y="2438400"/>
            <a:ext cx="9601200" cy="3771900"/>
          </a:xfrm>
        </p:spPr>
        <p:txBody>
          <a:bodyPr>
            <a:noAutofit/>
          </a:bodyPr>
          <a:lstStyle/>
          <a:p>
            <a:pPr algn="just">
              <a:lnSpc>
                <a:spcPct val="100000"/>
              </a:lnSpc>
            </a:pPr>
            <a:r>
              <a:rPr lang="en-US" dirty="0">
                <a:sym typeface="+mn-ea"/>
              </a:rPr>
              <a:t>Logicality and Objectivity: Facts in report writing must be logical and objective without any room for possible misinterpretation, ambiguities and vagueness. The writer must avoid any form of sentimentality, subjectivity, prejudice and the like. </a:t>
            </a:r>
          </a:p>
          <a:p>
            <a:pPr algn="just">
              <a:lnSpc>
                <a:spcPct val="100000"/>
              </a:lnSpc>
            </a:pPr>
            <a:r>
              <a:rPr lang="en-US" dirty="0">
                <a:sym typeface="+mn-ea"/>
              </a:rPr>
              <a:t>Coherence: A good report must be coherent. The structure must be perfectly adapted to its subjects and be presented step by step and logically too.</a:t>
            </a:r>
            <a:endParaRPr lang="en-US" dirty="0"/>
          </a:p>
          <a:p>
            <a:pPr algn="just">
              <a:lnSpc>
                <a:spcPct val="100000"/>
              </a:lnSpc>
            </a:pPr>
            <a:r>
              <a:rPr lang="en-US" dirty="0">
                <a:sym typeface="+mn-ea"/>
              </a:rPr>
              <a:t>Formality: A good report should be formal. Thus, formal writing should be employed. This simply means writing in full and avoiding slang or colloquialisms and using words correctly.</a:t>
            </a:r>
            <a:endParaRPr lang="en-US" sz="1600" dirty="0"/>
          </a:p>
          <a:p>
            <a:pPr algn="just">
              <a:lnSpc>
                <a:spcPct val="200000"/>
              </a:lnSpc>
            </a:pP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0070C0"/>
                </a:solidFill>
              </a:rPr>
              <a:t>Features of a Good Report</a:t>
            </a:r>
          </a:p>
        </p:txBody>
      </p:sp>
      <p:sp>
        <p:nvSpPr>
          <p:cNvPr id="3" name="Content Placeholder 2"/>
          <p:cNvSpPr>
            <a:spLocks noGrp="1"/>
          </p:cNvSpPr>
          <p:nvPr>
            <p:ph idx="1"/>
          </p:nvPr>
        </p:nvSpPr>
        <p:spPr>
          <a:xfrm>
            <a:off x="1295400" y="2437765"/>
            <a:ext cx="9601200" cy="3966845"/>
          </a:xfrm>
        </p:spPr>
        <p:txBody>
          <a:bodyPr>
            <a:noAutofit/>
          </a:bodyPr>
          <a:lstStyle/>
          <a:p>
            <a:pPr algn="just"/>
            <a:r>
              <a:rPr lang="en-US" sz="2800" dirty="0">
                <a:sym typeface="+mn-ea"/>
              </a:rPr>
              <a:t>Brevity: a good report must not be too long. It must be stratight forward devoid of verbosity. However, some reports are long because they contain a great deal of important information and the information may be required as in the case of a detailed report</a:t>
            </a:r>
            <a:r>
              <a:rPr lang="en-US" sz="2800" dirty="0" smtClean="0">
                <a:sym typeface="+mn-ea"/>
              </a:rPr>
              <a:t>.</a:t>
            </a:r>
          </a:p>
          <a:p>
            <a:pPr algn="just"/>
            <a:r>
              <a:rPr lang="en-US" sz="2800" dirty="0" smtClean="0">
                <a:sym typeface="+mn-ea"/>
              </a:rPr>
              <a:t>A good report must be based on well researched and </a:t>
            </a:r>
            <a:r>
              <a:rPr lang="en-US" sz="2800" dirty="0" err="1" smtClean="0">
                <a:sym typeface="+mn-ea"/>
              </a:rPr>
              <a:t>analysed</a:t>
            </a:r>
            <a:r>
              <a:rPr lang="en-US" sz="2800" dirty="0" smtClean="0">
                <a:sym typeface="+mn-ea"/>
              </a:rPr>
              <a:t> data.</a:t>
            </a:r>
            <a:r>
              <a:rPr lang="en-US" sz="2800" dirty="0">
                <a:sym typeface="+mn-ea"/>
              </a:rPr>
              <a:t> </a:t>
            </a:r>
            <a:r>
              <a:rPr lang="en-US" sz="2800" dirty="0" smtClean="0">
                <a:sym typeface="+mn-ea"/>
              </a:rPr>
              <a:t>It is focused on the problem and need at stake, and helps in resolving them. It is presented in a recommended style.</a:t>
            </a:r>
            <a:endParaRPr lang="en-US" sz="2800" dirty="0" smtClean="0"/>
          </a:p>
          <a:p>
            <a:pPr algn="just"/>
            <a:endParaRPr lang="en-US" sz="2800"/>
          </a:p>
          <a:p>
            <a:pPr algn="just"/>
            <a:endParaRPr lang="en-US" sz="28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70C0"/>
                </a:solidFill>
              </a:rPr>
              <a:t>Importance/Uses of a Report </a:t>
            </a:r>
          </a:p>
        </p:txBody>
      </p:sp>
      <p:sp>
        <p:nvSpPr>
          <p:cNvPr id="3" name="Content Placeholder 2"/>
          <p:cNvSpPr>
            <a:spLocks noGrp="1"/>
          </p:cNvSpPr>
          <p:nvPr>
            <p:ph idx="1"/>
          </p:nvPr>
        </p:nvSpPr>
        <p:spPr>
          <a:xfrm>
            <a:off x="1295400" y="2557145"/>
            <a:ext cx="9601200" cy="3846195"/>
          </a:xfrm>
        </p:spPr>
        <p:txBody>
          <a:bodyPr>
            <a:normAutofit lnSpcReduction="10000"/>
          </a:bodyPr>
          <a:lstStyle/>
          <a:p>
            <a:pPr algn="just">
              <a:buFont typeface="Wingdings" panose="05000000000000000000" charset="0"/>
              <a:buChar char="Ø"/>
            </a:pPr>
            <a:r>
              <a:rPr lang="en-US" dirty="0"/>
              <a:t>Since reports basically communicate pieces of information obtained through thorough </a:t>
            </a:r>
            <a:r>
              <a:rPr lang="en-US" dirty="0" smtClean="0"/>
              <a:t>investigation </a:t>
            </a:r>
            <a:r>
              <a:rPr lang="en-US" dirty="0"/>
              <a:t>and research, it is a reservoir of reliable information which serves humanity in diverse forms and contributes to the growth and development of the society.</a:t>
            </a:r>
          </a:p>
          <a:p>
            <a:pPr algn="just"/>
            <a:r>
              <a:rPr lang="en-US" dirty="0"/>
              <a:t>Report provides accurate information on diverse subject matters. Information provided in a </a:t>
            </a:r>
            <a:r>
              <a:rPr lang="en-US" dirty="0" smtClean="0"/>
              <a:t>report </a:t>
            </a:r>
            <a:r>
              <a:rPr lang="en-US" dirty="0"/>
              <a:t>helps institutions, organizations and corporate bodies in planning and effective management. </a:t>
            </a:r>
          </a:p>
          <a:p>
            <a:pPr algn="just"/>
            <a:r>
              <a:rPr lang="en-US" dirty="0"/>
              <a:t>Report is useful in equipping any management with correct choice and effective </a:t>
            </a:r>
            <a:r>
              <a:rPr lang="en-US" dirty="0" smtClean="0"/>
              <a:t>decision </a:t>
            </a:r>
            <a:r>
              <a:rPr lang="en-US" dirty="0"/>
              <a:t>making which on the long run translates to effective management and operational competence.</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Importance/Uses of Report</a:t>
            </a:r>
          </a:p>
        </p:txBody>
      </p:sp>
      <p:sp>
        <p:nvSpPr>
          <p:cNvPr id="3" name="Content Placeholder 2"/>
          <p:cNvSpPr>
            <a:spLocks noGrp="1"/>
          </p:cNvSpPr>
          <p:nvPr>
            <p:ph idx="1"/>
          </p:nvPr>
        </p:nvSpPr>
        <p:spPr/>
        <p:txBody>
          <a:bodyPr>
            <a:normAutofit/>
          </a:bodyPr>
          <a:lstStyle/>
          <a:p>
            <a:pPr algn="just">
              <a:lnSpc>
                <a:spcPct val="100000"/>
              </a:lnSpc>
            </a:pPr>
            <a:r>
              <a:rPr lang="en-US" sz="2800" dirty="0">
                <a:sym typeface="+mn-ea"/>
              </a:rPr>
              <a:t>Reports also serve as effective means of communication within organizations. They provide vehicle for the cross flow of information, from management to employees and then feedback from employees to management.</a:t>
            </a:r>
            <a:endParaRPr lang="en-US" sz="2800" dirty="0"/>
          </a:p>
          <a:p>
            <a:pPr algn="just">
              <a:lnSpc>
                <a:spcPct val="100000"/>
              </a:lnSpc>
            </a:pPr>
            <a:r>
              <a:rPr lang="en-US" sz="2800" dirty="0">
                <a:sym typeface="+mn-ea"/>
              </a:rPr>
              <a:t> Reports help in solving current organizational and societal problems. Reports do not end without recommendations and guidelines which when applied deals with complicated problems.</a:t>
            </a:r>
            <a:endParaRPr lang="en-US" dirty="0"/>
          </a:p>
          <a:p>
            <a:pPr algn="just">
              <a:lnSpc>
                <a:spcPct val="100000"/>
              </a:lnSpc>
            </a:pP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7735" y="837128"/>
            <a:ext cx="9401577" cy="521594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Study Question</a:t>
            </a:r>
            <a:br>
              <a:rPr lang="en-US" dirty="0"/>
            </a:br>
            <a:endParaRPr lang="en-US" dirty="0"/>
          </a:p>
        </p:txBody>
      </p:sp>
      <p:sp>
        <p:nvSpPr>
          <p:cNvPr id="3" name="Content Placeholder 2"/>
          <p:cNvSpPr>
            <a:spLocks noGrp="1"/>
          </p:cNvSpPr>
          <p:nvPr>
            <p:ph idx="1"/>
          </p:nvPr>
        </p:nvSpPr>
        <p:spPr/>
        <p:txBody>
          <a:bodyPr>
            <a:normAutofit lnSpcReduction="10000"/>
          </a:bodyPr>
          <a:lstStyle/>
          <a:p>
            <a:pPr algn="just">
              <a:lnSpc>
                <a:spcPct val="150000"/>
              </a:lnSpc>
            </a:pPr>
            <a:r>
              <a:rPr lang="en-US" dirty="0" smtClean="0"/>
              <a:t>You </a:t>
            </a:r>
            <a:r>
              <a:rPr lang="en-US" dirty="0"/>
              <a:t>were in charge of organizing your departmental week as the president of your departmental union. You recorded a lot of progress during the week and encountered a lot of problems too. Write a report on the departmental week stating the progress, problems and recommendations for improvement. Use the schematic form.</a:t>
            </a:r>
          </a:p>
          <a:p>
            <a:pPr marL="0" indent="0" algn="ctr">
              <a:buNone/>
            </a:pPr>
            <a:r>
              <a:rPr lang="en-US" b="1" dirty="0">
                <a:latin typeface="Microsoft JhengHei Light" panose="020B0304030504040204" charset="-120"/>
                <a:ea typeface="Microsoft JhengHei Light" panose="020B0304030504040204" charset="-120"/>
              </a:rPr>
              <a:t>THANK YOU</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References</a:t>
            </a:r>
          </a:p>
        </p:txBody>
      </p:sp>
      <p:sp>
        <p:nvSpPr>
          <p:cNvPr id="3" name="Content Placeholder 2"/>
          <p:cNvSpPr>
            <a:spLocks noGrp="1"/>
          </p:cNvSpPr>
          <p:nvPr>
            <p:ph idx="1"/>
          </p:nvPr>
        </p:nvSpPr>
        <p:spPr/>
        <p:txBody>
          <a:bodyPr>
            <a:normAutofit lnSpcReduction="20000"/>
          </a:bodyPr>
          <a:lstStyle/>
          <a:p>
            <a:pPr algn="just">
              <a:lnSpc>
                <a:spcPct val="150000"/>
              </a:lnSpc>
            </a:pPr>
            <a:r>
              <a:rPr lang="en-US"/>
              <a:t>Njemanze, Q. U., Chukwu, K. U., Amadi, D. C., &amp; Okere, M. C. (2017). 			</a:t>
            </a:r>
            <a:r>
              <a:rPr lang="en-US" i="1"/>
              <a:t>Essentials of communication skills &amp; technical writing for higher 						education</a:t>
            </a:r>
            <a:r>
              <a:rPr lang="en-US"/>
              <a:t>, Nigeria: Jil Publishers Global LImited.</a:t>
            </a:r>
            <a:r>
              <a:rPr lang="en-US">
                <a:sym typeface="+mn-ea"/>
              </a:rPr>
              <a:t> </a:t>
            </a:r>
          </a:p>
          <a:p>
            <a:pPr algn="just">
              <a:lnSpc>
                <a:spcPct val="150000"/>
              </a:lnSpc>
            </a:pPr>
            <a:r>
              <a:rPr lang="en-US">
                <a:sym typeface="+mn-ea"/>
              </a:rPr>
              <a:t>Sekyi-Baidoo, Y. (2003). </a:t>
            </a:r>
            <a:r>
              <a:rPr lang="en-US" i="1">
                <a:sym typeface="+mn-ea"/>
              </a:rPr>
              <a:t>Learning and communicating</a:t>
            </a:r>
            <a:r>
              <a:rPr lang="en-US">
                <a:sym typeface="+mn-ea"/>
              </a:rPr>
              <a:t>. Winneba: Passion 				Printing Press.</a:t>
            </a:r>
            <a:endParaRPr lang="en-US"/>
          </a:p>
          <a:p>
            <a:endParaRPr lang="en-US"/>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fillRect/>
          </a:stretch>
        </a:blip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6</TotalTime>
  <Words>1296</Words>
  <Application>Microsoft Office PowerPoint</Application>
  <PresentationFormat>Custom</PresentationFormat>
  <Paragraphs>67</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Organic</vt:lpstr>
      <vt:lpstr>COMMUNICATIVE SKILLS (CMS 108)</vt:lpstr>
      <vt:lpstr>PowerPoint Presentation</vt:lpstr>
      <vt:lpstr>What is a Report?</vt:lpstr>
      <vt:lpstr>What is Report Writing?</vt:lpstr>
      <vt:lpstr>PowerPoint Presentation</vt:lpstr>
      <vt:lpstr>Types of Reports</vt:lpstr>
      <vt:lpstr>Types of Report Based on Form</vt:lpstr>
      <vt:lpstr> Types of Report Based on Subject Matter  </vt:lpstr>
      <vt:lpstr>Types of Report Based on Length</vt:lpstr>
      <vt:lpstr>Structure of Report </vt:lpstr>
      <vt:lpstr>Additional Parts of Reports</vt:lpstr>
      <vt:lpstr>Prefatory Parts of Reports</vt:lpstr>
      <vt:lpstr>Appendage Parts of Reports</vt:lpstr>
      <vt:lpstr>PowerPoint Presentation</vt:lpstr>
      <vt:lpstr>Features of a Good Report</vt:lpstr>
      <vt:lpstr>Features of a Good Report</vt:lpstr>
      <vt:lpstr>Features of a Good Report</vt:lpstr>
      <vt:lpstr>Importance/Uses of a Report </vt:lpstr>
      <vt:lpstr>Importance/Uses of Report</vt:lpstr>
      <vt:lpstr>PowerPoint Presentation</vt:lpstr>
      <vt:lpstr>Study Question </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COMMUNICTIVE SKILLS (CMS 108)</dc:title>
  <dc:creator>Windows User</dc:creator>
  <cp:lastModifiedBy>TheoNartey</cp:lastModifiedBy>
  <cp:revision>16</cp:revision>
  <dcterms:created xsi:type="dcterms:W3CDTF">2020-04-04T13:42:00Z</dcterms:created>
  <dcterms:modified xsi:type="dcterms:W3CDTF">2020-04-06T12:16:57Z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1033-11.2.0.8339</vt:lpwstr>
  </property>
</Properties>
</file>
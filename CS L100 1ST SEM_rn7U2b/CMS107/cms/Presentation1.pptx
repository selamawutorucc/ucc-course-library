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257" r:id="rId3"/>
    <p:sldId id="258" r:id="rId4"/>
    <p:sldId id="270" r:id="rId5"/>
    <p:sldId id="259" r:id="rId6"/>
    <p:sldId id="261" r:id="rId7"/>
    <p:sldId id="267" r:id="rId8"/>
    <p:sldId id="262" r:id="rId9"/>
    <p:sldId id="263" r:id="rId10"/>
    <p:sldId id="264" r:id="rId11"/>
    <p:sldId id="269" r:id="rId12"/>
    <p:sldId id="265" r:id="rId13"/>
    <p:sldId id="268" r:id="rId14"/>
    <p:sldId id="266"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8"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2D13B-6B5D-4F2E-8D72-64256B672F39}" type="datetimeFigureOut">
              <a:rPr lang="en-US" smtClean="0"/>
              <a:t>4/11/2018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3717A9-53C2-4B71-8272-F70EB162485A}" type="slidenum">
              <a:rPr lang="en-US" smtClean="0"/>
              <a:t>‹#›</a:t>
            </a:fld>
            <a:endParaRPr lang="en-US"/>
          </a:p>
        </p:txBody>
      </p:sp>
    </p:spTree>
    <p:extLst>
      <p:ext uri="{BB962C8B-B14F-4D97-AF65-F5344CB8AC3E}">
        <p14:creationId xmlns:p14="http://schemas.microsoft.com/office/powerpoint/2010/main" val="2891540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D8B1129-0085-4E97-8220-C425AA892810}" type="datetime2">
              <a:rPr lang="en-US" smtClean="0"/>
              <a:t>Wednesday, April 11,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817326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256272"/>
            <a:ext cx="2743200" cy="365125"/>
          </a:xfrm>
        </p:spPr>
        <p:txBody>
          <a:bodyPr/>
          <a:lstStyle>
            <a:lvl1pPr>
              <a:defRPr>
                <a:latin typeface="Lato Medium" panose="020F0502020204030203" pitchFamily="34" charset="0"/>
                <a:ea typeface="Lato Medium" panose="020F0502020204030203" pitchFamily="34" charset="0"/>
                <a:cs typeface="Lato Medium" panose="020F0502020204030203" pitchFamily="34" charset="0"/>
              </a:defRPr>
            </a:lvl1pPr>
          </a:lstStyle>
          <a:p>
            <a:fld id="{DC402312-C2F4-4A43-B955-3E4358FE65F1}" type="slidenum">
              <a:rPr lang="en-US" smtClean="0"/>
              <a:pPr/>
              <a:t>‹#›</a:t>
            </a:fld>
            <a:endParaRPr lang="en-US" dirty="0"/>
          </a:p>
        </p:txBody>
      </p:sp>
    </p:spTree>
    <p:extLst>
      <p:ext uri="{BB962C8B-B14F-4D97-AF65-F5344CB8AC3E}">
        <p14:creationId xmlns:p14="http://schemas.microsoft.com/office/powerpoint/2010/main" val="347935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3C401CB-B72D-423A-BD34-7CC14B6A3D15}" type="datetime2">
              <a:rPr lang="en-US" smtClean="0"/>
              <a:t>Wednesday, April 11,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6308429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D71D95-84F6-45EB-9B7F-86AECC9DEC03}" type="datetime2">
              <a:rPr lang="en-US" smtClean="0"/>
              <a:t>Wednesday, April 11,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40962620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68F4D3D-31B5-45D4-ADB4-EFAAEEC592CA}" type="datetime2">
              <a:rPr lang="en-US" smtClean="0"/>
              <a:t>Wednesday, April 11, 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566927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73AF47-416F-401F-9D8A-CD4786C835ED}" type="datetime2">
              <a:rPr lang="en-US" smtClean="0"/>
              <a:t>Wednesday, April 11, 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54951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0741D-968A-4BFA-9CDD-542B88D806CD}" type="datetime2">
              <a:rPr lang="en-US" smtClean="0"/>
              <a:t>Wednesday, April 11, 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306258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4036DB-5C39-4954-94D4-C300F469CCBF}" type="datetime2">
              <a:rPr lang="en-US" smtClean="0"/>
              <a:t>Wednesday, April 11,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119386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F23BBF4-ED69-406E-A000-87D7FE537A33}" type="datetime2">
              <a:rPr lang="en-US" smtClean="0"/>
              <a:t>Wednesday, April 11,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95820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3C868C6-B5C7-46DA-8C97-FCA0B198AB0F}" type="datetime2">
              <a:rPr lang="en-US" smtClean="0"/>
              <a:t>Wednesday, April 11,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1462060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E8EC51-59E4-4EC1-8636-18B6FBCF9D5D}" type="datetime2">
              <a:rPr lang="en-US" smtClean="0"/>
              <a:t>Wednesday, April 11,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02312-C2F4-4A43-B955-3E4358FE65F1}" type="slidenum">
              <a:rPr lang="en-US" smtClean="0"/>
              <a:t>‹#›</a:t>
            </a:fld>
            <a:endParaRPr lang="en-US"/>
          </a:p>
        </p:txBody>
      </p:sp>
    </p:spTree>
    <p:extLst>
      <p:ext uri="{BB962C8B-B14F-4D97-AF65-F5344CB8AC3E}">
        <p14:creationId xmlns:p14="http://schemas.microsoft.com/office/powerpoint/2010/main" val="2964084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userDrawn="1"/>
        </p:nvSpPr>
        <p:spPr>
          <a:xfrm>
            <a:off x="-123501" y="6595210"/>
            <a:ext cx="12488373" cy="29347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7"/>
          <p:cNvSpPr/>
          <p:nvPr userDrawn="1"/>
        </p:nvSpPr>
        <p:spPr>
          <a:xfrm rot="225001">
            <a:off x="3363" y="-46257"/>
            <a:ext cx="12618720" cy="515926"/>
          </a:xfrm>
          <a:custGeom>
            <a:avLst/>
            <a:gdLst>
              <a:gd name="connsiteX0" fmla="*/ 0 w 12618720"/>
              <a:gd name="connsiteY0" fmla="*/ 0 h 587569"/>
              <a:gd name="connsiteX1" fmla="*/ 12618720 w 12618720"/>
              <a:gd name="connsiteY1" fmla="*/ 0 h 587569"/>
              <a:gd name="connsiteX2" fmla="*/ 12618720 w 12618720"/>
              <a:gd name="connsiteY2" fmla="*/ 587569 h 587569"/>
              <a:gd name="connsiteX3" fmla="*/ 0 w 12618720"/>
              <a:gd name="connsiteY3" fmla="*/ 587569 h 587569"/>
              <a:gd name="connsiteX4" fmla="*/ 0 w 12618720"/>
              <a:gd name="connsiteY4"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18720" h="587569">
                <a:moveTo>
                  <a:pt x="0" y="0"/>
                </a:moveTo>
                <a:lnTo>
                  <a:pt x="12618720" y="0"/>
                </a:lnTo>
                <a:lnTo>
                  <a:pt x="12618720" y="587569"/>
                </a:lnTo>
                <a:cubicBezTo>
                  <a:pt x="10432288" y="587569"/>
                  <a:pt x="8319008" y="99890"/>
                  <a:pt x="6144768" y="282770"/>
                </a:cubicBezTo>
                <a:lnTo>
                  <a:pt x="0" y="587569"/>
                </a:lnTo>
                <a:lnTo>
                  <a:pt x="0"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7"/>
          <p:cNvSpPr/>
          <p:nvPr userDrawn="1"/>
        </p:nvSpPr>
        <p:spPr>
          <a:xfrm rot="21378117">
            <a:off x="-120000" y="-40564"/>
            <a:ext cx="12618720" cy="515926"/>
          </a:xfrm>
          <a:custGeom>
            <a:avLst/>
            <a:gdLst>
              <a:gd name="connsiteX0" fmla="*/ 0 w 12618720"/>
              <a:gd name="connsiteY0" fmla="*/ 0 h 587569"/>
              <a:gd name="connsiteX1" fmla="*/ 12618720 w 12618720"/>
              <a:gd name="connsiteY1" fmla="*/ 0 h 587569"/>
              <a:gd name="connsiteX2" fmla="*/ 12618720 w 12618720"/>
              <a:gd name="connsiteY2" fmla="*/ 587569 h 587569"/>
              <a:gd name="connsiteX3" fmla="*/ 0 w 12618720"/>
              <a:gd name="connsiteY3" fmla="*/ 587569 h 587569"/>
              <a:gd name="connsiteX4" fmla="*/ 0 w 12618720"/>
              <a:gd name="connsiteY4"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18720" h="587569">
                <a:moveTo>
                  <a:pt x="0" y="0"/>
                </a:moveTo>
                <a:lnTo>
                  <a:pt x="12618720" y="0"/>
                </a:lnTo>
                <a:lnTo>
                  <a:pt x="12618720" y="587569"/>
                </a:lnTo>
                <a:cubicBezTo>
                  <a:pt x="10432288" y="587569"/>
                  <a:pt x="8319008" y="99890"/>
                  <a:pt x="6144768" y="282770"/>
                </a:cubicBezTo>
                <a:lnTo>
                  <a:pt x="0" y="587569"/>
                </a:lnTo>
                <a:lnTo>
                  <a:pt x="0"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838200" y="625627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2417E-9466-493F-A82E-F17D393FFBF0}" type="datetime2">
              <a:rPr lang="en-US" smtClean="0"/>
              <a:t>Wednesday, April 11, 2018</a:t>
            </a:fld>
            <a:endParaRPr lang="en-US"/>
          </a:p>
        </p:txBody>
      </p:sp>
      <p:sp>
        <p:nvSpPr>
          <p:cNvPr id="5" name="Footer Placeholder 4"/>
          <p:cNvSpPr>
            <a:spLocks noGrp="1"/>
          </p:cNvSpPr>
          <p:nvPr>
            <p:ph type="ftr" sz="quarter" idx="3"/>
          </p:nvPr>
        </p:nvSpPr>
        <p:spPr>
          <a:xfrm>
            <a:off x="4038600" y="623168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254673"/>
            <a:ext cx="2743200" cy="365125"/>
          </a:xfrm>
          <a:prstGeom prst="rect">
            <a:avLst/>
          </a:prstGeom>
        </p:spPr>
        <p:txBody>
          <a:bodyPr vert="horz" lIns="91440" tIns="45720" rIns="91440" bIns="45720" rtlCol="0" anchor="ctr"/>
          <a:lstStyle>
            <a:lvl1pPr algn="r">
              <a:defRPr sz="1200">
                <a:solidFill>
                  <a:schemeClr val="tx1">
                    <a:tint val="75000"/>
                  </a:schemeClr>
                </a:solidFill>
                <a:latin typeface="Liana" panose="04000500000000000000" pitchFamily="82" charset="0"/>
              </a:defRPr>
            </a:lvl1pPr>
          </a:lstStyle>
          <a:p>
            <a:fld id="{DC402312-C2F4-4A43-B955-3E4358FE65F1}" type="slidenum">
              <a:rPr lang="en-US" smtClean="0"/>
              <a:pPr/>
              <a:t>‹#›</a:t>
            </a:fld>
            <a:endParaRPr lang="en-US" dirty="0"/>
          </a:p>
        </p:txBody>
      </p:sp>
      <p:sp>
        <p:nvSpPr>
          <p:cNvPr id="8" name="Rectangle 7"/>
          <p:cNvSpPr/>
          <p:nvPr userDrawn="1"/>
        </p:nvSpPr>
        <p:spPr>
          <a:xfrm>
            <a:off x="-109728" y="-134112"/>
            <a:ext cx="12618720" cy="587569"/>
          </a:xfrm>
          <a:custGeom>
            <a:avLst/>
            <a:gdLst>
              <a:gd name="connsiteX0" fmla="*/ 0 w 12618720"/>
              <a:gd name="connsiteY0" fmla="*/ 0 h 587569"/>
              <a:gd name="connsiteX1" fmla="*/ 12618720 w 12618720"/>
              <a:gd name="connsiteY1" fmla="*/ 0 h 587569"/>
              <a:gd name="connsiteX2" fmla="*/ 12618720 w 12618720"/>
              <a:gd name="connsiteY2" fmla="*/ 587569 h 587569"/>
              <a:gd name="connsiteX3" fmla="*/ 0 w 12618720"/>
              <a:gd name="connsiteY3" fmla="*/ 587569 h 587569"/>
              <a:gd name="connsiteX4" fmla="*/ 0 w 12618720"/>
              <a:gd name="connsiteY4"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 name="connsiteX0" fmla="*/ 0 w 12618720"/>
              <a:gd name="connsiteY0" fmla="*/ 0 h 587569"/>
              <a:gd name="connsiteX1" fmla="*/ 12618720 w 12618720"/>
              <a:gd name="connsiteY1" fmla="*/ 0 h 587569"/>
              <a:gd name="connsiteX2" fmla="*/ 12618720 w 12618720"/>
              <a:gd name="connsiteY2" fmla="*/ 587569 h 587569"/>
              <a:gd name="connsiteX3" fmla="*/ 6144768 w 12618720"/>
              <a:gd name="connsiteY3" fmla="*/ 282770 h 587569"/>
              <a:gd name="connsiteX4" fmla="*/ 0 w 12618720"/>
              <a:gd name="connsiteY4" fmla="*/ 587569 h 587569"/>
              <a:gd name="connsiteX5" fmla="*/ 0 w 12618720"/>
              <a:gd name="connsiteY5" fmla="*/ 0 h 587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18720" h="587569">
                <a:moveTo>
                  <a:pt x="0" y="0"/>
                </a:moveTo>
                <a:lnTo>
                  <a:pt x="12618720" y="0"/>
                </a:lnTo>
                <a:lnTo>
                  <a:pt x="12618720" y="587569"/>
                </a:lnTo>
                <a:cubicBezTo>
                  <a:pt x="10432288" y="587569"/>
                  <a:pt x="8319008" y="99890"/>
                  <a:pt x="6144768" y="282770"/>
                </a:cubicBezTo>
                <a:lnTo>
                  <a:pt x="0" y="58756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353800" y="-99889"/>
            <a:ext cx="603507" cy="905260"/>
          </a:xfrm>
          <a:prstGeom prst="rect">
            <a:avLst/>
          </a:prstGeom>
        </p:spPr>
      </p:pic>
      <p:sp>
        <p:nvSpPr>
          <p:cNvPr id="11" name="Rectangle 10"/>
          <p:cNvSpPr/>
          <p:nvPr userDrawn="1"/>
        </p:nvSpPr>
        <p:spPr>
          <a:xfrm>
            <a:off x="-123501" y="6721475"/>
            <a:ext cx="12488373" cy="293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userDrawn="1"/>
        </p:nvSpPr>
        <p:spPr>
          <a:xfrm>
            <a:off x="177421" y="-20073"/>
            <a:ext cx="2729552" cy="400110"/>
          </a:xfrm>
          <a:prstGeom prst="rect">
            <a:avLst/>
          </a:prstGeom>
          <a:noFill/>
        </p:spPr>
        <p:txBody>
          <a:bodyPr wrap="square" rtlCol="0">
            <a:spAutoFit/>
          </a:bodyPr>
          <a:lstStyle/>
          <a:p>
            <a:r>
              <a:rPr lang="en-US" sz="2000" b="1" dirty="0" smtClean="0">
                <a:latin typeface="Liana" panose="04000500000000000000" pitchFamily="82" charset="0"/>
              </a:rPr>
              <a:t>Group</a:t>
            </a:r>
            <a:r>
              <a:rPr lang="en-US" baseline="0" dirty="0" smtClean="0">
                <a:latin typeface="Liana" panose="04000500000000000000" pitchFamily="82" charset="0"/>
              </a:rPr>
              <a:t> 19</a:t>
            </a:r>
            <a:endParaRPr lang="en-US" dirty="0">
              <a:latin typeface="Liana" panose="04000500000000000000" pitchFamily="82" charset="0"/>
            </a:endParaRPr>
          </a:p>
        </p:txBody>
      </p:sp>
    </p:spTree>
    <p:extLst>
      <p:ext uri="{BB962C8B-B14F-4D97-AF65-F5344CB8AC3E}">
        <p14:creationId xmlns:p14="http://schemas.microsoft.com/office/powerpoint/2010/main" val="3069006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64733" y="1414131"/>
            <a:ext cx="7747591" cy="2849526"/>
          </a:xfrm>
        </p:spPr>
        <p:txBody>
          <a:bodyPr/>
          <a:lstStyle/>
          <a:p>
            <a:pPr algn="l"/>
            <a:r>
              <a:rPr lang="en-US" sz="6600" dirty="0" smtClean="0"/>
              <a:t>Communicative skills</a:t>
            </a:r>
            <a:endParaRPr lang="en-US" sz="6600" dirty="0" smtClean="0">
              <a:latin typeface="Lato Black" panose="020F0502020204030203" pitchFamily="34" charset="0"/>
              <a:ea typeface="Lato Black" panose="020F0502020204030203" pitchFamily="34" charset="0"/>
              <a:cs typeface="Lato Black" panose="020F0502020204030203" pitchFamily="34" charset="0"/>
            </a:endParaRPr>
          </a:p>
          <a:p>
            <a:pPr algn="l"/>
            <a:r>
              <a:rPr lang="en-US" sz="6600" dirty="0" smtClean="0">
                <a:latin typeface="Lato Black" panose="020F0502020204030203" pitchFamily="34" charset="0"/>
                <a:ea typeface="Lato Black" panose="020F0502020204030203" pitchFamily="34" charset="0"/>
                <a:cs typeface="Lato Black" panose="020F0502020204030203" pitchFamily="34" charset="0"/>
              </a:rPr>
              <a:t>Group 19</a:t>
            </a:r>
          </a:p>
          <a:p>
            <a:pPr algn="l"/>
            <a:r>
              <a:rPr lang="en-US" sz="4800" dirty="0" smtClean="0">
                <a:latin typeface="Lato Medium" panose="020F0502020204030203" pitchFamily="34" charset="0"/>
                <a:ea typeface="Lato Medium" panose="020F0502020204030203" pitchFamily="34" charset="0"/>
                <a:cs typeface="Lato Medium" panose="020F0502020204030203" pitchFamily="34" charset="0"/>
              </a:rPr>
              <a:t>Formal Letters</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cxnSp>
        <p:nvCxnSpPr>
          <p:cNvPr id="5" name="Straight Connector 4"/>
          <p:cNvCxnSpPr/>
          <p:nvPr/>
        </p:nvCxnSpPr>
        <p:spPr>
          <a:xfrm>
            <a:off x="2078663" y="1468758"/>
            <a:ext cx="0" cy="2794899"/>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354052"/>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3826" y="726633"/>
            <a:ext cx="7859974" cy="836353"/>
          </a:xfrm>
        </p:spPr>
        <p:txBody>
          <a:bodyPr/>
          <a:lstStyle/>
          <a:p>
            <a:r>
              <a:rPr lang="en-US" sz="5400" b="1" dirty="0" smtClean="0">
                <a:latin typeface="Lato Light" panose="020F0502020204030203" pitchFamily="34" charset="0"/>
                <a:ea typeface="Lato Light" panose="020F0502020204030203" pitchFamily="34" charset="0"/>
                <a:cs typeface="Lato Light" panose="020F0502020204030203" pitchFamily="34" charset="0"/>
              </a:rPr>
              <a:t>Group members</a:t>
            </a:r>
            <a:endParaRPr lang="en-US" sz="5400" b="1" dirty="0">
              <a:latin typeface="Lato Light" panose="020F0502020204030203" pitchFamily="34" charset="0"/>
              <a:ea typeface="Lato Light" panose="020F0502020204030203" pitchFamily="34" charset="0"/>
              <a:cs typeface="Lato Light" panose="020F0502020204030203" pitchFamily="34" charset="0"/>
            </a:endParaRPr>
          </a:p>
        </p:txBody>
      </p:sp>
      <p:grpSp>
        <p:nvGrpSpPr>
          <p:cNvPr id="6" name="Group 5"/>
          <p:cNvGrpSpPr/>
          <p:nvPr/>
        </p:nvGrpSpPr>
        <p:grpSpPr>
          <a:xfrm>
            <a:off x="518615" y="1924334"/>
            <a:ext cx="2538483" cy="3186847"/>
            <a:chOff x="518615" y="1924334"/>
            <a:chExt cx="2538483" cy="3186847"/>
          </a:xfrm>
        </p:grpSpPr>
        <p:sp>
          <p:nvSpPr>
            <p:cNvPr id="4" name="Oval 3"/>
            <p:cNvSpPr/>
            <p:nvPr/>
          </p:nvSpPr>
          <p:spPr>
            <a:xfrm>
              <a:off x="750627" y="1924334"/>
              <a:ext cx="2074460" cy="207446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w="9525">
              <a:solidFill>
                <a:srgbClr val="FF0000"/>
              </a:solidFill>
            </a:ln>
            <a:effectLst>
              <a:outerShdw blurRad="165100" dist="38100" dir="63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18615" y="4372517"/>
              <a:ext cx="2538483"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smtClean="0">
                  <a:latin typeface="Lato Medium" panose="020F0502020204030203" pitchFamily="34" charset="0"/>
                  <a:ea typeface="Lato Medium" panose="020F0502020204030203" pitchFamily="34" charset="0"/>
                  <a:cs typeface="Lato Medium" panose="020F0502020204030203" pitchFamily="34" charset="0"/>
                </a:rPr>
                <a:t>GYEDU </a:t>
              </a:r>
              <a:r>
                <a:rPr lang="en-US" dirty="0" smtClean="0">
                  <a:latin typeface="Lato Medium" panose="020F0502020204030203" pitchFamily="34" charset="0"/>
                  <a:ea typeface="Lato Medium" panose="020F0502020204030203" pitchFamily="34" charset="0"/>
                  <a:cs typeface="Lato Medium" panose="020F0502020204030203" pitchFamily="34" charset="0"/>
                </a:rPr>
                <a:t>MOSES</a:t>
              </a:r>
              <a:endParaRPr lang="en-US" dirty="0" smtClean="0">
                <a:latin typeface="Lato Medium" panose="020F0502020204030203" pitchFamily="34" charset="0"/>
                <a:ea typeface="Lato Medium" panose="020F0502020204030203" pitchFamily="34" charset="0"/>
                <a:cs typeface="Lato Medium" panose="020F0502020204030203" pitchFamily="34" charset="0"/>
              </a:endParaRPr>
            </a:p>
            <a:p>
              <a:pPr algn="ctr"/>
              <a:r>
                <a:rPr lang="en-US" sz="2400" dirty="0" smtClean="0">
                  <a:latin typeface="Lato Medium" panose="020F0502020204030203" pitchFamily="34" charset="0"/>
                  <a:ea typeface="Lato Medium" panose="020F0502020204030203" pitchFamily="34" charset="0"/>
                  <a:cs typeface="Lato Medium" panose="020F0502020204030203" pitchFamily="34" charset="0"/>
                </a:rPr>
                <a:t>SS|TMG|17|0010</a:t>
              </a:r>
              <a:endParaRPr lang="en-US" sz="2400" dirty="0">
                <a:latin typeface="Lato Medium" panose="020F0502020204030203" pitchFamily="34" charset="0"/>
                <a:ea typeface="Lato Medium" panose="020F0502020204030203" pitchFamily="34" charset="0"/>
                <a:cs typeface="Lato Medium" panose="020F0502020204030203" pitchFamily="34" charset="0"/>
              </a:endParaRPr>
            </a:p>
          </p:txBody>
        </p:sp>
      </p:grpSp>
      <p:cxnSp>
        <p:nvCxnSpPr>
          <p:cNvPr id="14" name="Straight Connector 13"/>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3304462" y="1924334"/>
            <a:ext cx="2701704" cy="3186847"/>
            <a:chOff x="3304462" y="1924334"/>
            <a:chExt cx="2701704" cy="3186847"/>
          </a:xfrm>
        </p:grpSpPr>
        <p:sp>
          <p:nvSpPr>
            <p:cNvPr id="19" name="Oval 18"/>
            <p:cNvSpPr/>
            <p:nvPr/>
          </p:nvSpPr>
          <p:spPr>
            <a:xfrm>
              <a:off x="3609832" y="1924334"/>
              <a:ext cx="2074460" cy="2074460"/>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w="9525">
              <a:solidFill>
                <a:srgbClr val="FF0000"/>
              </a:solidFill>
            </a:ln>
            <a:effectLst>
              <a:outerShdw blurRad="165100" dist="38100" dir="63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304462" y="4372517"/>
              <a:ext cx="2701704"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smtClean="0">
                  <a:latin typeface="Lato Medium" panose="020F0502020204030203" pitchFamily="34" charset="0"/>
                  <a:ea typeface="Lato Medium" panose="020F0502020204030203" pitchFamily="34" charset="0"/>
                  <a:cs typeface="Lato Medium" panose="020F0502020204030203" pitchFamily="34" charset="0"/>
                </a:rPr>
                <a:t>AUSTIN SAGOE ELISHA</a:t>
              </a:r>
            </a:p>
            <a:p>
              <a:pPr algn="ctr"/>
              <a:r>
                <a:rPr lang="en-US" sz="2400" dirty="0" smtClean="0">
                  <a:latin typeface="Lato Medium" panose="020F0502020204030203" pitchFamily="34" charset="0"/>
                  <a:ea typeface="Lato Medium" panose="020F0502020204030203" pitchFamily="34" charset="0"/>
                  <a:cs typeface="Lato Medium" panose="020F0502020204030203" pitchFamily="34" charset="0"/>
                </a:rPr>
                <a:t>PS|ITC|17|0021</a:t>
              </a:r>
              <a:endParaRPr lang="en-US" sz="2400" dirty="0">
                <a:latin typeface="Lato Medium" panose="020F0502020204030203" pitchFamily="34" charset="0"/>
                <a:ea typeface="Lato Medium" panose="020F0502020204030203" pitchFamily="34" charset="0"/>
                <a:cs typeface="Lato Medium" panose="020F0502020204030203" pitchFamily="34" charset="0"/>
              </a:endParaRPr>
            </a:p>
          </p:txBody>
        </p:sp>
      </p:grpSp>
      <p:grpSp>
        <p:nvGrpSpPr>
          <p:cNvPr id="3" name="Group 2"/>
          <p:cNvGrpSpPr/>
          <p:nvPr/>
        </p:nvGrpSpPr>
        <p:grpSpPr>
          <a:xfrm>
            <a:off x="6179023" y="1924334"/>
            <a:ext cx="2538483" cy="3186847"/>
            <a:chOff x="6179023" y="1924334"/>
            <a:chExt cx="2538483" cy="3186847"/>
          </a:xfrm>
        </p:grpSpPr>
        <p:sp>
          <p:nvSpPr>
            <p:cNvPr id="22" name="Oval 21"/>
            <p:cNvSpPr/>
            <p:nvPr/>
          </p:nvSpPr>
          <p:spPr>
            <a:xfrm>
              <a:off x="6411035" y="1924334"/>
              <a:ext cx="2074460" cy="2074460"/>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w="9525">
              <a:solidFill>
                <a:srgbClr val="FF0000"/>
              </a:solidFill>
            </a:ln>
            <a:effectLst>
              <a:outerShdw blurRad="165100" dist="38100" dir="63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blipFill dpi="0" rotWithShape="1">
                  <a:blip r:embed="rId5">
                    <a:extLst>
                      <a:ext uri="{28A0092B-C50C-407E-A947-70E740481C1C}">
                        <a14:useLocalDpi xmlns:a14="http://schemas.microsoft.com/office/drawing/2010/main" val="0"/>
                      </a:ext>
                    </a:extLst>
                  </a:blip>
                  <a:srcRect/>
                  <a:stretch>
                    <a:fillRect/>
                  </a:stretch>
                </a:blipFill>
              </a:endParaRPr>
            </a:p>
          </p:txBody>
        </p:sp>
        <p:sp>
          <p:nvSpPr>
            <p:cNvPr id="23" name="TextBox 22"/>
            <p:cNvSpPr txBox="1"/>
            <p:nvPr/>
          </p:nvSpPr>
          <p:spPr>
            <a:xfrm>
              <a:off x="6179023" y="4372517"/>
              <a:ext cx="2538483"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smtClean="0">
                  <a:latin typeface="Lato Medium" panose="020F0502020204030203" pitchFamily="34" charset="0"/>
                  <a:ea typeface="Lato Medium" panose="020F0502020204030203" pitchFamily="34" charset="0"/>
                  <a:cs typeface="Lato Medium" panose="020F0502020204030203" pitchFamily="34" charset="0"/>
                </a:rPr>
                <a:t>ADOBOE LINDA</a:t>
              </a:r>
            </a:p>
            <a:p>
              <a:pPr algn="ctr"/>
              <a:r>
                <a:rPr lang="en-US" sz="2400" dirty="0" smtClean="0">
                  <a:latin typeface="Lato Medium" panose="020F0502020204030203" pitchFamily="34" charset="0"/>
                  <a:ea typeface="Lato Medium" panose="020F0502020204030203" pitchFamily="34" charset="0"/>
                  <a:cs typeface="Lato Medium" panose="020F0502020204030203" pitchFamily="34" charset="0"/>
                </a:rPr>
                <a:t>PS|MEC|17|0006</a:t>
              </a:r>
              <a:endParaRPr lang="en-US" sz="2400" dirty="0">
                <a:latin typeface="Lato Medium" panose="020F0502020204030203" pitchFamily="34" charset="0"/>
                <a:ea typeface="Lato Medium" panose="020F0502020204030203" pitchFamily="34" charset="0"/>
                <a:cs typeface="Lato Medium" panose="020F0502020204030203" pitchFamily="34" charset="0"/>
              </a:endParaRPr>
            </a:p>
          </p:txBody>
        </p:sp>
      </p:grpSp>
      <p:grpSp>
        <p:nvGrpSpPr>
          <p:cNvPr id="24" name="Group 23"/>
          <p:cNvGrpSpPr/>
          <p:nvPr/>
        </p:nvGrpSpPr>
        <p:grpSpPr>
          <a:xfrm>
            <a:off x="8980227" y="1924334"/>
            <a:ext cx="2538483" cy="3186847"/>
            <a:chOff x="900752" y="1924334"/>
            <a:chExt cx="2538483" cy="3186847"/>
          </a:xfrm>
        </p:grpSpPr>
        <p:sp>
          <p:nvSpPr>
            <p:cNvPr id="25" name="Oval 24"/>
            <p:cNvSpPr/>
            <p:nvPr/>
          </p:nvSpPr>
          <p:spPr>
            <a:xfrm>
              <a:off x="1132764" y="1924334"/>
              <a:ext cx="2074460" cy="2074460"/>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w="9525">
              <a:solidFill>
                <a:srgbClr val="FF0000"/>
              </a:solidFill>
            </a:ln>
            <a:effectLst>
              <a:outerShdw blurRad="165100" dist="38100" dir="63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900752" y="4372517"/>
              <a:ext cx="2538483"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smtClean="0">
                  <a:latin typeface="Lato Medium" panose="020F0502020204030203" pitchFamily="34" charset="0"/>
                  <a:ea typeface="Lato Medium" panose="020F0502020204030203" pitchFamily="34" charset="0"/>
                  <a:cs typeface="Lato Medium" panose="020F0502020204030203" pitchFamily="34" charset="0"/>
                </a:rPr>
                <a:t>ASARE KYEI DANIEL</a:t>
              </a:r>
            </a:p>
            <a:p>
              <a:pPr algn="ctr"/>
              <a:r>
                <a:rPr lang="en-US" sz="2400" dirty="0" smtClean="0">
                  <a:latin typeface="Lato Medium" panose="020F0502020204030203" pitchFamily="34" charset="0"/>
                  <a:ea typeface="Lato Medium" panose="020F0502020204030203" pitchFamily="34" charset="0"/>
                  <a:cs typeface="Lato Medium" panose="020F0502020204030203" pitchFamily="34" charset="0"/>
                </a:rPr>
                <a:t>PS|ITC|17|0003</a:t>
              </a:r>
              <a:endParaRPr lang="en-US" sz="2400" dirty="0">
                <a:latin typeface="Lato Medium" panose="020F0502020204030203" pitchFamily="34" charset="0"/>
                <a:ea typeface="Lato Medium" panose="020F0502020204030203" pitchFamily="34" charset="0"/>
                <a:cs typeface="Lato Medium" panose="020F0502020204030203" pitchFamily="34" charset="0"/>
              </a:endParaRPr>
            </a:p>
          </p:txBody>
        </p:sp>
      </p:grpSp>
      <p:sp>
        <p:nvSpPr>
          <p:cNvPr id="27" name="Date Placeholder 26"/>
          <p:cNvSpPr>
            <a:spLocks noGrp="1"/>
          </p:cNvSpPr>
          <p:nvPr>
            <p:ph type="dt" sz="half" idx="10"/>
          </p:nvPr>
        </p:nvSpPr>
        <p:spPr/>
        <p:txBody>
          <a:bodyPr/>
          <a:lstStyle/>
          <a:p>
            <a:fld id="{05C41EA8-4E1C-42EB-8112-5CE4C856B832}" type="datetime2">
              <a:rPr lang="en-US" smtClean="0"/>
              <a:t>Wednesday, April 11, 2018</a:t>
            </a:fld>
            <a:endParaRPr lang="en-US"/>
          </a:p>
        </p:txBody>
      </p:sp>
      <p:sp>
        <p:nvSpPr>
          <p:cNvPr id="28" name="Slide Number Placeholder 27"/>
          <p:cNvSpPr>
            <a:spLocks noGrp="1"/>
          </p:cNvSpPr>
          <p:nvPr>
            <p:ph type="sldNum" sz="quarter" idx="12"/>
          </p:nvPr>
        </p:nvSpPr>
        <p:spPr/>
        <p:txBody>
          <a:bodyPr/>
          <a:lstStyle/>
          <a:p>
            <a:fld id="{DC402312-C2F4-4A43-B955-3E4358FE65F1}" type="slidenum">
              <a:rPr lang="en-US" smtClean="0"/>
              <a:t>2</a:t>
            </a:fld>
            <a:endParaRPr lang="en-US"/>
          </a:p>
        </p:txBody>
      </p:sp>
    </p:spTree>
    <p:extLst>
      <p:ext uri="{BB962C8B-B14F-4D97-AF65-F5344CB8AC3E}">
        <p14:creationId xmlns:p14="http://schemas.microsoft.com/office/powerpoint/2010/main" val="11209203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674044"/>
            <a:ext cx="4114800" cy="1072271"/>
          </a:xfrm>
        </p:spPr>
        <p:txBody>
          <a:bodyPr/>
          <a:lstStyle/>
          <a:p>
            <a:r>
              <a:rPr lang="en-US" sz="5400" b="1" dirty="0" smtClean="0">
                <a:latin typeface="Lato Light" panose="020F0502020204030203" pitchFamily="34" charset="0"/>
                <a:ea typeface="Lato Light" panose="020F0502020204030203" pitchFamily="34" charset="0"/>
                <a:cs typeface="Lato Light" panose="020F0502020204030203" pitchFamily="34" charset="0"/>
              </a:rPr>
              <a:t>Objectives</a:t>
            </a:r>
            <a:endParaRPr lang="en-US" sz="5400" b="1" dirty="0">
              <a:latin typeface="Lato Light" panose="020F0502020204030203" pitchFamily="34" charset="0"/>
              <a:ea typeface="Lato Light" panose="020F0502020204030203" pitchFamily="34" charset="0"/>
              <a:cs typeface="Lato Light" panose="020F0502020204030203" pitchFamily="34" charset="0"/>
            </a:endParaRPr>
          </a:p>
        </p:txBody>
      </p:sp>
      <p:sp>
        <p:nvSpPr>
          <p:cNvPr id="3" name="Content Placeholder 2"/>
          <p:cNvSpPr>
            <a:spLocks noGrp="1"/>
          </p:cNvSpPr>
          <p:nvPr>
            <p:ph idx="1"/>
          </p:nvPr>
        </p:nvSpPr>
        <p:spPr/>
        <p:txBody>
          <a:bodyPr/>
          <a:lstStyle/>
          <a:p>
            <a:pPr marL="0" indent="0">
              <a:buClr>
                <a:schemeClr val="accent1">
                  <a:lumMod val="75000"/>
                </a:schemeClr>
              </a:buClr>
              <a:buNone/>
            </a:pPr>
            <a:r>
              <a:rPr lang="en-US" dirty="0" smtClean="0"/>
              <a:t>At the end of the presentation, one should be able to Identify:</a:t>
            </a:r>
          </a:p>
          <a:p>
            <a:pPr>
              <a:buClr>
                <a:schemeClr val="accent1">
                  <a:lumMod val="75000"/>
                </a:schemeClr>
              </a:buClr>
              <a:buFont typeface="Calibri" panose="020F0502020204030204" pitchFamily="34" charset="0"/>
              <a:buChar char="Ꙫ"/>
            </a:pPr>
            <a:r>
              <a:rPr lang="en-US" dirty="0" smtClean="0"/>
              <a:t>Formal </a:t>
            </a:r>
            <a:r>
              <a:rPr lang="en-US" dirty="0" smtClean="0"/>
              <a:t>Letters</a:t>
            </a:r>
          </a:p>
          <a:p>
            <a:pPr>
              <a:buClr>
                <a:schemeClr val="accent1">
                  <a:lumMod val="75000"/>
                </a:schemeClr>
              </a:buClr>
              <a:buFont typeface="Calibri" panose="020F0502020204030204" pitchFamily="34" charset="0"/>
              <a:buChar char="Ꙫ"/>
            </a:pPr>
            <a:r>
              <a:rPr lang="en-US" dirty="0" smtClean="0"/>
              <a:t>Types of formal Letters</a:t>
            </a:r>
          </a:p>
          <a:p>
            <a:pPr>
              <a:buClr>
                <a:schemeClr val="accent1">
                  <a:lumMod val="75000"/>
                </a:schemeClr>
              </a:buClr>
              <a:buFont typeface="Calibri" panose="020F0502020204030204" pitchFamily="34" charset="0"/>
              <a:buChar char="Ꙫ"/>
            </a:pPr>
            <a:r>
              <a:rPr lang="en-US" dirty="0" smtClean="0"/>
              <a:t>Features of Formal Letters</a:t>
            </a:r>
          </a:p>
          <a:p>
            <a:pPr>
              <a:buClr>
                <a:schemeClr val="accent1">
                  <a:lumMod val="75000"/>
                </a:schemeClr>
              </a:buClr>
              <a:buFont typeface="Calibri" panose="020F0502020204030204" pitchFamily="34" charset="0"/>
              <a:buChar char="Ꙫ"/>
            </a:pPr>
            <a:r>
              <a:rPr lang="en-US" dirty="0" smtClean="0"/>
              <a:t>Uses of Formal Letters</a:t>
            </a:r>
          </a:p>
          <a:p>
            <a:pPr>
              <a:buClr>
                <a:schemeClr val="accent1">
                  <a:lumMod val="75000"/>
                </a:schemeClr>
              </a:buClr>
              <a:buFont typeface="Calibri" panose="020F0502020204030204" pitchFamily="34" charset="0"/>
              <a:buChar char="Ꙫ"/>
            </a:pPr>
            <a:r>
              <a:rPr lang="en-US" dirty="0" smtClean="0"/>
              <a:t>Languages of Formal Letters</a:t>
            </a:r>
          </a:p>
          <a:p>
            <a:pPr>
              <a:buClr>
                <a:schemeClr val="accent1">
                  <a:lumMod val="75000"/>
                </a:schemeClr>
              </a:buClr>
              <a:buFont typeface="Calibri" panose="020F0502020204030204" pitchFamily="34" charset="0"/>
              <a:buChar char="Ꙫ"/>
            </a:pPr>
            <a:endParaRPr lang="en-US" dirty="0" smtClean="0"/>
          </a:p>
          <a:p>
            <a:pPr>
              <a:buClr>
                <a:schemeClr val="accent1">
                  <a:lumMod val="75000"/>
                </a:schemeClr>
              </a:buClr>
              <a:buFont typeface="Calibri" panose="020F0502020204030204" pitchFamily="34" charset="0"/>
              <a:buChar char="Ꙫ"/>
            </a:pPr>
            <a:endParaRPr lang="en-US" dirty="0" smtClean="0"/>
          </a:p>
          <a:p>
            <a:pPr>
              <a:buClr>
                <a:schemeClr val="accent1">
                  <a:lumMod val="75000"/>
                </a:schemeClr>
              </a:buClr>
              <a:buFont typeface="Calibri" panose="020F0502020204030204" pitchFamily="34" charset="0"/>
              <a:buChar char="Ꙫ"/>
            </a:pPr>
            <a:endParaRPr lang="en-US" dirty="0"/>
          </a:p>
        </p:txBody>
      </p:sp>
      <p:sp>
        <p:nvSpPr>
          <p:cNvPr id="4" name="Date Placeholder 3"/>
          <p:cNvSpPr>
            <a:spLocks noGrp="1"/>
          </p:cNvSpPr>
          <p:nvPr>
            <p:ph type="dt" sz="half" idx="10"/>
          </p:nvPr>
        </p:nvSpPr>
        <p:spPr/>
        <p:txBody>
          <a:bodyPr/>
          <a:lstStyle/>
          <a:p>
            <a:fld id="{63CF68EC-5DE7-4AE4-B474-383569A486AB}"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t>3</a:t>
            </a:fld>
            <a:endParaRPr lang="en-US"/>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2883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10515600" cy="1325563"/>
          </a:xfrm>
        </p:spPr>
        <p:txBody>
          <a:bodyPr/>
          <a:lstStyle/>
          <a:p>
            <a:r>
              <a:rPr lang="en-US" b="1" dirty="0" smtClean="0">
                <a:latin typeface="Lato Light" panose="020F0502020204030203" pitchFamily="34" charset="0"/>
                <a:ea typeface="Lato Light" panose="020F0502020204030203" pitchFamily="34" charset="0"/>
                <a:cs typeface="Lato Light" panose="020F0502020204030203" pitchFamily="34" charset="0"/>
              </a:rPr>
              <a:t>Introduction</a:t>
            </a:r>
            <a:endParaRPr lang="en-US" b="1" dirty="0"/>
          </a:p>
        </p:txBody>
      </p:sp>
      <p:sp>
        <p:nvSpPr>
          <p:cNvPr id="3" name="Content Placeholder 2"/>
          <p:cNvSpPr>
            <a:spLocks noGrp="1"/>
          </p:cNvSpPr>
          <p:nvPr>
            <p:ph idx="1"/>
          </p:nvPr>
        </p:nvSpPr>
        <p:spPr>
          <a:xfrm>
            <a:off x="838200" y="1665720"/>
            <a:ext cx="10515600" cy="4590551"/>
          </a:xfrm>
        </p:spPr>
        <p:txBody>
          <a:bodyPr/>
          <a:lstStyle/>
          <a:p>
            <a:pPr marL="0" indent="0">
              <a:buNone/>
            </a:pPr>
            <a:r>
              <a:rPr lang="en-US" sz="2400" dirty="0"/>
              <a:t>A letter is one person's written message to another pertaining to some matter of common concern. Letters can serve several purposes: when intimates are forced to spend time at great distances from one another, letters allow them to maintain the relationship; rulers, scholars, merchants, officials, and professionals use them to conduct affairs with their far-flung correspondents; poets and other writers may also use them as vehicles for self-expression. Letters contribute to the protection and conservation of literacy.</a:t>
            </a:r>
          </a:p>
          <a:p>
            <a:r>
              <a:rPr lang="en-US" sz="2400" dirty="0" smtClean="0"/>
              <a:t>There are three main types of letters and they include;</a:t>
            </a:r>
          </a:p>
          <a:p>
            <a:pPr marL="457200" indent="-457200">
              <a:buFont typeface="+mj-lt"/>
              <a:buAutoNum type="arabicPeriod"/>
            </a:pPr>
            <a:r>
              <a:rPr lang="en-US" sz="2400" dirty="0" smtClean="0"/>
              <a:t>Informal letters</a:t>
            </a:r>
          </a:p>
          <a:p>
            <a:pPr marL="457200" indent="-457200">
              <a:buFont typeface="+mj-lt"/>
              <a:buAutoNum type="arabicPeriod"/>
            </a:pPr>
            <a:r>
              <a:rPr lang="en-US" sz="2400" dirty="0" smtClean="0"/>
              <a:t>Semi-formal letters</a:t>
            </a:r>
          </a:p>
          <a:p>
            <a:pPr marL="457200" indent="-457200">
              <a:buFont typeface="+mj-lt"/>
              <a:buAutoNum type="arabicPeriod"/>
            </a:pPr>
            <a:r>
              <a:rPr lang="en-US" sz="2400" dirty="0" smtClean="0"/>
              <a:t>Formal letters</a:t>
            </a:r>
          </a:p>
          <a:p>
            <a:pPr marL="0" indent="0">
              <a:buNone/>
            </a:pPr>
            <a:r>
              <a:rPr lang="en-US" sz="2400" dirty="0" smtClean="0"/>
              <a:t>But we will lay more emphasis on the formal letters.</a:t>
            </a:r>
            <a:endParaRPr lang="en-US" sz="24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4</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118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763727"/>
            <a:ext cx="4775200" cy="1325563"/>
          </a:xfrm>
        </p:spPr>
        <p:txBody>
          <a:bodyPr/>
          <a:lstStyle/>
          <a:p>
            <a:r>
              <a:rPr lang="en-US" b="1" dirty="0" smtClean="0">
                <a:latin typeface="Lato Light" panose="020F0502020204030203" pitchFamily="34" charset="0"/>
                <a:ea typeface="Lato Light" panose="020F0502020204030203" pitchFamily="34" charset="0"/>
                <a:cs typeface="Lato Light" panose="020F0502020204030203" pitchFamily="34" charset="0"/>
              </a:rPr>
              <a:t>Formal Letters</a:t>
            </a:r>
            <a:endParaRPr lang="en-US" b="1" dirty="0">
              <a:latin typeface="Lato Light" panose="020F0502020204030203" pitchFamily="34" charset="0"/>
              <a:ea typeface="Lato Light" panose="020F0502020204030203" pitchFamily="34" charset="0"/>
              <a:cs typeface="Lato Light" panose="020F0502020204030203" pitchFamily="34" charset="0"/>
            </a:endParaRPr>
          </a:p>
        </p:txBody>
      </p:sp>
      <p:sp>
        <p:nvSpPr>
          <p:cNvPr id="3" name="Content Placeholder 2"/>
          <p:cNvSpPr>
            <a:spLocks noGrp="1"/>
          </p:cNvSpPr>
          <p:nvPr>
            <p:ph idx="1"/>
          </p:nvPr>
        </p:nvSpPr>
        <p:spPr>
          <a:xfrm>
            <a:off x="541637" y="1546654"/>
            <a:ext cx="11432059" cy="4632369"/>
          </a:xfrm>
        </p:spPr>
        <p:txBody>
          <a:bodyPr/>
          <a:lstStyle/>
          <a:p>
            <a:pPr marL="0" indent="0">
              <a:buNone/>
            </a:pPr>
            <a:r>
              <a:rPr lang="en-US" dirty="0"/>
              <a:t>Formal letters are one of the most common form of official letters, framed and presented in almost all organizations, be it companies, schools, colleges, business firms, institutions, agencies, or any departments of corporate sectors. </a:t>
            </a:r>
            <a:r>
              <a:rPr lang="en-US" dirty="0" smtClean="0"/>
              <a:t>Formal </a:t>
            </a:r>
            <a:r>
              <a:rPr lang="en-US" dirty="0"/>
              <a:t>letter writing is undoubtedly one of the most challenging types of letter format. When putting it together, often you are addressing a person or organization with whom you are not familiar and the quality of your content, including spelling and grammar will be strongly scrutinized. In general, what you put together will have one of the following purposes:</a:t>
            </a:r>
          </a:p>
          <a:p>
            <a:pPr lvl="0" fontAlgn="base">
              <a:buClr>
                <a:schemeClr val="accent1">
                  <a:lumMod val="75000"/>
                </a:schemeClr>
              </a:buClr>
              <a:buFont typeface="Calibri" panose="020F0502020204030204" pitchFamily="34" charset="0"/>
              <a:buChar char="Ꙫ"/>
            </a:pPr>
            <a:r>
              <a:rPr lang="en-US" dirty="0" smtClean="0"/>
              <a:t> Make </a:t>
            </a:r>
            <a:r>
              <a:rPr lang="en-US" dirty="0"/>
              <a:t>a complaint</a:t>
            </a:r>
          </a:p>
          <a:p>
            <a:pPr lvl="0" fontAlgn="base">
              <a:buClr>
                <a:schemeClr val="accent1">
                  <a:lumMod val="75000"/>
                </a:schemeClr>
              </a:buClr>
              <a:buFont typeface="Calibri" panose="020F0502020204030204" pitchFamily="34" charset="0"/>
              <a:buChar char="Ꙫ"/>
            </a:pPr>
            <a:r>
              <a:rPr lang="en-US" dirty="0" smtClean="0"/>
              <a:t> Request </a:t>
            </a:r>
            <a:r>
              <a:rPr lang="en-US" dirty="0"/>
              <a:t>something</a:t>
            </a:r>
          </a:p>
          <a:p>
            <a:pPr lvl="0" fontAlgn="base">
              <a:buClr>
                <a:schemeClr val="accent1">
                  <a:lumMod val="75000"/>
                </a:schemeClr>
              </a:buClr>
              <a:buFont typeface="Calibri" panose="020F0502020204030204" pitchFamily="34" charset="0"/>
              <a:buChar char="Ꙫ"/>
            </a:pPr>
            <a:r>
              <a:rPr lang="en-US" dirty="0" smtClean="0"/>
              <a:t> Make </a:t>
            </a:r>
            <a:r>
              <a:rPr lang="en-US" dirty="0"/>
              <a:t>an enquiry</a:t>
            </a:r>
          </a:p>
          <a:p>
            <a:pPr marL="0" indent="0">
              <a:buNone/>
            </a:pPr>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5</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058650"/>
      </p:ext>
    </p:extLst>
  </p:cSld>
  <p:clrMapOvr>
    <a:masterClrMapping/>
  </p:clrMapOvr>
  <mc:AlternateContent xmlns:mc="http://schemas.openxmlformats.org/markup-compatibility/2006" xmlns:p15="http://schemas.microsoft.com/office/powerpoint/2012/main">
    <mc:Choice Requires="p15">
      <p:transition spd="slow">
        <p15:prstTrans prst="pageCurlDoub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763727"/>
            <a:ext cx="5880100" cy="1325563"/>
          </a:xfrm>
        </p:spPr>
        <p:txBody>
          <a:bodyPr/>
          <a:lstStyle/>
          <a:p>
            <a:r>
              <a:rPr lang="en-US" b="1" dirty="0">
                <a:latin typeface="Lato Light" panose="020F0502020204030203" pitchFamily="34" charset="0"/>
                <a:ea typeface="Lato Light" panose="020F0502020204030203" pitchFamily="34" charset="0"/>
                <a:cs typeface="Lato Light" panose="020F0502020204030203" pitchFamily="34" charset="0"/>
              </a:rPr>
              <a:t>Types of Formal letters</a:t>
            </a:r>
            <a:endParaRPr lang="en-US" dirty="0"/>
          </a:p>
        </p:txBody>
      </p:sp>
      <p:sp>
        <p:nvSpPr>
          <p:cNvPr id="3" name="Content Placeholder 2"/>
          <p:cNvSpPr>
            <a:spLocks noGrp="1"/>
          </p:cNvSpPr>
          <p:nvPr>
            <p:ph idx="1"/>
          </p:nvPr>
        </p:nvSpPr>
        <p:spPr/>
        <p:txBody>
          <a:bodyPr/>
          <a:lstStyle/>
          <a:p>
            <a:pPr>
              <a:buClr>
                <a:schemeClr val="accent1">
                  <a:lumMod val="75000"/>
                </a:schemeClr>
              </a:buClr>
              <a:buFont typeface="Calibri" panose="020F0502020204030204" pitchFamily="34" charset="0"/>
              <a:buChar char="Ꙫ"/>
            </a:pPr>
            <a:r>
              <a:rPr lang="en-US" sz="2400" b="1" dirty="0">
                <a:solidFill>
                  <a:schemeClr val="accent1">
                    <a:lumMod val="75000"/>
                  </a:schemeClr>
                </a:solidFill>
              </a:rPr>
              <a:t>Letter of </a:t>
            </a:r>
            <a:r>
              <a:rPr lang="en-US" sz="2400" b="1" dirty="0" smtClean="0">
                <a:solidFill>
                  <a:schemeClr val="accent1">
                    <a:lumMod val="75000"/>
                  </a:schemeClr>
                </a:solidFill>
              </a:rPr>
              <a:t>rejection.</a:t>
            </a:r>
            <a:endParaRPr lang="en-US" sz="2400" b="1" dirty="0" smtClean="0"/>
          </a:p>
          <a:p>
            <a:pPr>
              <a:buClr>
                <a:schemeClr val="accent1">
                  <a:lumMod val="75000"/>
                </a:schemeClr>
              </a:buClr>
              <a:buFont typeface="Calibri" panose="020F0502020204030204" pitchFamily="34" charset="0"/>
              <a:buChar char="Ꙫ"/>
            </a:pPr>
            <a:r>
              <a:rPr lang="en-US" sz="2400" b="1" dirty="0">
                <a:solidFill>
                  <a:schemeClr val="accent1">
                    <a:lumMod val="75000"/>
                  </a:schemeClr>
                </a:solidFill>
              </a:rPr>
              <a:t>Resignation </a:t>
            </a:r>
            <a:r>
              <a:rPr lang="en-US" sz="2400" b="1" dirty="0" smtClean="0">
                <a:solidFill>
                  <a:schemeClr val="accent1">
                    <a:lumMod val="75000"/>
                  </a:schemeClr>
                </a:solidFill>
              </a:rPr>
              <a:t>letter</a:t>
            </a:r>
            <a:r>
              <a:rPr lang="en-US" sz="2400" b="1" dirty="0">
                <a:solidFill>
                  <a:schemeClr val="accent1">
                    <a:lumMod val="75000"/>
                  </a:schemeClr>
                </a:solidFill>
              </a:rPr>
              <a:t>.</a:t>
            </a:r>
            <a:endParaRPr lang="en-US" sz="2400" b="1" dirty="0" smtClean="0">
              <a:solidFill>
                <a:schemeClr val="accent1">
                  <a:lumMod val="75000"/>
                </a:schemeClr>
              </a:solidFill>
            </a:endParaRPr>
          </a:p>
          <a:p>
            <a:pPr>
              <a:buClr>
                <a:schemeClr val="accent1">
                  <a:lumMod val="75000"/>
                </a:schemeClr>
              </a:buClr>
              <a:buFont typeface="Calibri" panose="020F0502020204030204" pitchFamily="34" charset="0"/>
              <a:buChar char="Ꙫ"/>
            </a:pPr>
            <a:r>
              <a:rPr lang="en-US" sz="2400" b="1" dirty="0" smtClean="0">
                <a:solidFill>
                  <a:schemeClr val="accent5"/>
                </a:solidFill>
              </a:rPr>
              <a:t>Letter </a:t>
            </a:r>
            <a:r>
              <a:rPr lang="en-US" sz="2400" b="1" dirty="0">
                <a:solidFill>
                  <a:schemeClr val="accent5"/>
                </a:solidFill>
              </a:rPr>
              <a:t>of </a:t>
            </a:r>
            <a:r>
              <a:rPr lang="en-US" sz="2400" b="1" dirty="0" smtClean="0">
                <a:solidFill>
                  <a:schemeClr val="accent5"/>
                </a:solidFill>
              </a:rPr>
              <a:t>recommendation.</a:t>
            </a:r>
          </a:p>
          <a:p>
            <a:pPr>
              <a:buClr>
                <a:schemeClr val="accent1">
                  <a:lumMod val="75000"/>
                </a:schemeClr>
              </a:buClr>
              <a:buFont typeface="Calibri" panose="020F0502020204030204" pitchFamily="34" charset="0"/>
              <a:buChar char="Ꙫ"/>
            </a:pPr>
            <a:r>
              <a:rPr lang="en-US" sz="2400" b="1" dirty="0" smtClean="0">
                <a:solidFill>
                  <a:schemeClr val="accent5"/>
                </a:solidFill>
              </a:rPr>
              <a:t>covering letter.</a:t>
            </a:r>
          </a:p>
          <a:p>
            <a:pPr>
              <a:buClr>
                <a:schemeClr val="accent1">
                  <a:lumMod val="75000"/>
                </a:schemeClr>
              </a:buClr>
              <a:buFont typeface="Calibri" panose="020F0502020204030204" pitchFamily="34" charset="0"/>
              <a:buChar char="Ꙫ"/>
            </a:pPr>
            <a:r>
              <a:rPr lang="en-US" sz="2400" b="1" dirty="0">
                <a:solidFill>
                  <a:schemeClr val="accent5"/>
                </a:solidFill>
              </a:rPr>
              <a:t>Thank you </a:t>
            </a:r>
            <a:r>
              <a:rPr lang="en-US" sz="2400" b="1" dirty="0" smtClean="0">
                <a:solidFill>
                  <a:schemeClr val="accent5"/>
                </a:solidFill>
              </a:rPr>
              <a:t>letter.</a:t>
            </a:r>
          </a:p>
          <a:p>
            <a:pPr>
              <a:buClr>
                <a:schemeClr val="accent1">
                  <a:lumMod val="75000"/>
                </a:schemeClr>
              </a:buClr>
              <a:buFont typeface="Calibri" panose="020F0502020204030204" pitchFamily="34" charset="0"/>
              <a:buChar char="Ꙫ"/>
            </a:pPr>
            <a:r>
              <a:rPr lang="en-US" sz="2400" b="1" dirty="0">
                <a:solidFill>
                  <a:schemeClr val="accent5"/>
                </a:solidFill>
              </a:rPr>
              <a:t>Letter of </a:t>
            </a:r>
            <a:r>
              <a:rPr lang="en-US" sz="2400" b="1" dirty="0" smtClean="0">
                <a:solidFill>
                  <a:schemeClr val="accent5"/>
                </a:solidFill>
              </a:rPr>
              <a:t>introduction.</a:t>
            </a:r>
          </a:p>
          <a:p>
            <a:pPr>
              <a:buClr>
                <a:schemeClr val="accent1">
                  <a:lumMod val="75000"/>
                </a:schemeClr>
              </a:buClr>
              <a:buFont typeface="Calibri" panose="020F0502020204030204" pitchFamily="34" charset="0"/>
              <a:buChar char="Ꙫ"/>
            </a:pPr>
            <a:r>
              <a:rPr lang="en-US" b="1" dirty="0">
                <a:solidFill>
                  <a:schemeClr val="accent5"/>
                </a:solidFill>
              </a:rPr>
              <a:t>Letter of </a:t>
            </a:r>
            <a:r>
              <a:rPr lang="en-US" b="1" dirty="0" smtClean="0">
                <a:solidFill>
                  <a:schemeClr val="accent5"/>
                </a:solidFill>
              </a:rPr>
              <a:t>interest.</a:t>
            </a:r>
            <a:endParaRPr lang="en-US" sz="2400" b="1" dirty="0" smtClean="0">
              <a:solidFill>
                <a:schemeClr val="accent5"/>
              </a:solidFill>
            </a:endParaRPr>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6</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1321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10515600" cy="621291"/>
          </a:xfrm>
        </p:spPr>
        <p:txBody>
          <a:bodyPr/>
          <a:lstStyle/>
          <a:p>
            <a:r>
              <a:rPr lang="en-US" b="1" dirty="0"/>
              <a:t>Features of Formal Letter</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3200" dirty="0" smtClean="0">
                <a:solidFill>
                  <a:schemeClr val="accent5"/>
                </a:solidFill>
              </a:rPr>
              <a:t>Address</a:t>
            </a:r>
          </a:p>
          <a:p>
            <a:pPr marL="514350" indent="-514350">
              <a:buFont typeface="+mj-lt"/>
              <a:buAutoNum type="arabicPeriod"/>
            </a:pPr>
            <a:r>
              <a:rPr lang="en-US" sz="3200" dirty="0" smtClean="0">
                <a:solidFill>
                  <a:schemeClr val="accent5"/>
                </a:solidFill>
              </a:rPr>
              <a:t>Date</a:t>
            </a:r>
          </a:p>
          <a:p>
            <a:pPr marL="514350" indent="-514350">
              <a:buFont typeface="+mj-lt"/>
              <a:buAutoNum type="arabicPeriod"/>
            </a:pPr>
            <a:r>
              <a:rPr lang="en-US" sz="3200" dirty="0" smtClean="0">
                <a:solidFill>
                  <a:schemeClr val="accent5"/>
                </a:solidFill>
              </a:rPr>
              <a:t>Salutation</a:t>
            </a:r>
          </a:p>
          <a:p>
            <a:pPr marL="514350" indent="-514350">
              <a:buFont typeface="+mj-lt"/>
              <a:buAutoNum type="arabicPeriod"/>
            </a:pPr>
            <a:r>
              <a:rPr lang="en-US" sz="3200" dirty="0" smtClean="0">
                <a:solidFill>
                  <a:schemeClr val="accent5"/>
                </a:solidFill>
              </a:rPr>
              <a:t>Title/Heading</a:t>
            </a:r>
          </a:p>
          <a:p>
            <a:pPr marL="514350" indent="-514350">
              <a:buFont typeface="+mj-lt"/>
              <a:buAutoNum type="arabicPeriod"/>
            </a:pPr>
            <a:r>
              <a:rPr lang="en-US" sz="3200" dirty="0" smtClean="0">
                <a:solidFill>
                  <a:schemeClr val="accent5"/>
                </a:solidFill>
              </a:rPr>
              <a:t>Body</a:t>
            </a:r>
          </a:p>
          <a:p>
            <a:pPr marL="514350" indent="-514350">
              <a:buFont typeface="+mj-lt"/>
              <a:buAutoNum type="arabicPeriod"/>
            </a:pPr>
            <a:r>
              <a:rPr lang="en-US" sz="3200" dirty="0" smtClean="0">
                <a:solidFill>
                  <a:schemeClr val="accent5"/>
                </a:solidFill>
              </a:rPr>
              <a:t>Subscription</a:t>
            </a:r>
          </a:p>
          <a:p>
            <a:pPr marL="514350" indent="-514350">
              <a:buFont typeface="+mj-lt"/>
              <a:buAutoNum type="arabicPeriod"/>
            </a:pPr>
            <a:endParaRPr lang="en-US" sz="3200" dirty="0">
              <a:solidFill>
                <a:schemeClr val="accent5"/>
              </a:solidFill>
            </a:endParaRPr>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7</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4927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6450874" cy="784054"/>
          </a:xfrm>
        </p:spPr>
        <p:txBody>
          <a:bodyPr/>
          <a:lstStyle/>
          <a:p>
            <a:r>
              <a:rPr lang="en-US" b="1" dirty="0" smtClean="0"/>
              <a:t>Features of </a:t>
            </a:r>
            <a:r>
              <a:rPr lang="en-US" b="1" dirty="0"/>
              <a:t>Formal </a:t>
            </a:r>
            <a:r>
              <a:rPr lang="en-US" b="1" dirty="0" smtClean="0"/>
              <a:t>Letter</a:t>
            </a:r>
            <a:endParaRPr lang="en-US" dirty="0"/>
          </a:p>
        </p:txBody>
      </p:sp>
      <p:sp>
        <p:nvSpPr>
          <p:cNvPr id="3" name="Content Placeholder 2"/>
          <p:cNvSpPr>
            <a:spLocks noGrp="1"/>
          </p:cNvSpPr>
          <p:nvPr>
            <p:ph idx="1"/>
          </p:nvPr>
        </p:nvSpPr>
        <p:spPr/>
        <p:txBody>
          <a:bodyPr/>
          <a:lstStyle/>
          <a:p>
            <a:pPr marL="514350" lvl="0" indent="-514350">
              <a:buFont typeface="+mj-lt"/>
              <a:buAutoNum type="arabicPeriod"/>
            </a:pPr>
            <a:r>
              <a:rPr lang="en-US" sz="3600" dirty="0">
                <a:solidFill>
                  <a:schemeClr val="accent1">
                    <a:lumMod val="75000"/>
                  </a:schemeClr>
                </a:solidFill>
              </a:rPr>
              <a:t>Addresses</a:t>
            </a:r>
            <a:r>
              <a:rPr lang="en-US" sz="3600" dirty="0" smtClean="0">
                <a:solidFill>
                  <a:schemeClr val="accent1">
                    <a:lumMod val="75000"/>
                  </a:schemeClr>
                </a:solidFill>
              </a:rPr>
              <a:t>:</a:t>
            </a:r>
          </a:p>
          <a:p>
            <a:pPr marL="0" lvl="0" indent="0">
              <a:buNone/>
            </a:pPr>
            <a:r>
              <a:rPr lang="en-US" sz="2300" dirty="0"/>
              <a:t>An address is one of the compulsory components of a letter. Regardless of what type of letter you are writing, you simply cannot write a letter without putting an address. A formal or an official letter will require that the writer supply two </a:t>
            </a:r>
            <a:r>
              <a:rPr lang="en-US" sz="2300" dirty="0" smtClean="0"/>
              <a:t>addresses that is;</a:t>
            </a:r>
            <a:endParaRPr lang="en-US" sz="2300" dirty="0">
              <a:solidFill>
                <a:schemeClr val="accent1">
                  <a:lumMod val="75000"/>
                </a:schemeClr>
              </a:solidFill>
            </a:endParaRPr>
          </a:p>
          <a:p>
            <a:pPr lvl="0"/>
            <a:r>
              <a:rPr lang="en-US" sz="2300" b="1" dirty="0"/>
              <a:t>Writer’s Address</a:t>
            </a:r>
            <a:r>
              <a:rPr lang="en-US" sz="2300" dirty="0"/>
              <a:t/>
            </a:r>
            <a:br>
              <a:rPr lang="en-US" sz="2300" dirty="0"/>
            </a:br>
            <a:r>
              <a:rPr lang="en-US" sz="2300" dirty="0"/>
              <a:t>The return address should be written in the top right-hand corner of the letter. That indicates the address of the person writing the letter</a:t>
            </a:r>
            <a:r>
              <a:rPr lang="en-US" sz="2300" dirty="0" smtClean="0"/>
              <a:t>.</a:t>
            </a:r>
            <a:br>
              <a:rPr lang="en-US" sz="2300" dirty="0" smtClean="0"/>
            </a:br>
            <a:endParaRPr lang="en-US" sz="2300" dirty="0"/>
          </a:p>
          <a:p>
            <a:pPr lvl="0"/>
            <a:r>
              <a:rPr lang="en-US" sz="2300" b="1" dirty="0"/>
              <a:t>Recipient Address </a:t>
            </a:r>
            <a:r>
              <a:rPr lang="en-US" sz="2300" dirty="0"/>
              <a:t/>
            </a:r>
            <a:br>
              <a:rPr lang="en-US" sz="2300" dirty="0"/>
            </a:br>
            <a:r>
              <a:rPr lang="en-US" sz="2300" dirty="0"/>
              <a:t>The inside address should be written on the left, starting below your date. It mostly indicates the address of the receiver. </a:t>
            </a:r>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8</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9593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29657"/>
            <a:ext cx="7150100" cy="796410"/>
          </a:xfrm>
        </p:spPr>
        <p:txBody>
          <a:bodyPr/>
          <a:lstStyle/>
          <a:p>
            <a:r>
              <a:rPr lang="en-US" b="1" dirty="0"/>
              <a:t>Features of Formal Letter</a:t>
            </a:r>
            <a:endParaRPr lang="en-US" dirty="0"/>
          </a:p>
        </p:txBody>
      </p:sp>
      <p:sp>
        <p:nvSpPr>
          <p:cNvPr id="3" name="Content Placeholder 2"/>
          <p:cNvSpPr>
            <a:spLocks noGrp="1"/>
          </p:cNvSpPr>
          <p:nvPr>
            <p:ph idx="1"/>
          </p:nvPr>
        </p:nvSpPr>
        <p:spPr>
          <a:xfrm>
            <a:off x="838200" y="2389343"/>
            <a:ext cx="4229100" cy="4351338"/>
          </a:xfrm>
        </p:spPr>
        <p:txBody>
          <a:bodyPr/>
          <a:lstStyle/>
          <a:p>
            <a:r>
              <a:rPr lang="en-US" b="1" dirty="0"/>
              <a:t>Slant Method Address</a:t>
            </a:r>
            <a:endParaRPr lang="en-US" dirty="0"/>
          </a:p>
          <a:p>
            <a:pPr marL="0" indent="0" algn="just">
              <a:buNone/>
            </a:pPr>
            <a:r>
              <a:rPr lang="en-US" sz="1600" dirty="0"/>
              <a:t>The slant method of writing an address is very similar to an upturned triangle or pyramid. Here, the address is written in such a manner that it resembles an upside down pyramid or triangle; when the date of the address is added to it then it begins to look more like an hourglass.</a:t>
            </a:r>
          </a:p>
          <a:p>
            <a:r>
              <a:rPr lang="en-US" sz="2000" b="1" dirty="0"/>
              <a:t>Example of a slanted address is:</a:t>
            </a:r>
          </a:p>
          <a:p>
            <a:pPr marL="0" indent="0">
              <a:buNone/>
            </a:pPr>
            <a:r>
              <a:rPr lang="en-US" sz="1800" dirty="0"/>
              <a:t>Obuatupam Nkatenkwam </a:t>
            </a:r>
            <a:r>
              <a:rPr lang="en-US" sz="1800" dirty="0" smtClean="0"/>
              <a:t>Primary School,</a:t>
            </a:r>
          </a:p>
          <a:p>
            <a:pPr marL="0" indent="0">
              <a:buNone/>
            </a:pPr>
            <a:r>
              <a:rPr lang="en-US" sz="1800" dirty="0" smtClean="0"/>
              <a:t>   P.O. Box 223,</a:t>
            </a:r>
          </a:p>
          <a:p>
            <a:pPr marL="0" indent="0">
              <a:buNone/>
            </a:pPr>
            <a:r>
              <a:rPr lang="en-US" sz="1800" dirty="0" smtClean="0"/>
              <a:t>     </a:t>
            </a:r>
            <a:r>
              <a:rPr lang="en-US" sz="1800" dirty="0"/>
              <a:t>Kumasi.</a:t>
            </a:r>
          </a:p>
          <a:p>
            <a:endParaRPr lang="en-US" sz="16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9</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Content Placeholder 2"/>
          <p:cNvSpPr txBox="1">
            <a:spLocks/>
          </p:cNvSpPr>
          <p:nvPr/>
        </p:nvSpPr>
        <p:spPr>
          <a:xfrm>
            <a:off x="6108700" y="2389343"/>
            <a:ext cx="46228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The Block/Straight line Method Address</a:t>
            </a:r>
            <a:endParaRPr lang="en-US" dirty="0"/>
          </a:p>
          <a:p>
            <a:pPr marL="0" indent="0" algn="just">
              <a:buNone/>
            </a:pPr>
            <a:r>
              <a:rPr lang="en-US" sz="1600" dirty="0"/>
              <a:t>This type of address can be used when writing both a formal and informal letter. The block address is a type of address where the writer writes the beginning of each of a line of the address in such a manner that they form a straight line</a:t>
            </a:r>
            <a:r>
              <a:rPr lang="en-US" sz="1600" dirty="0" smtClean="0"/>
              <a:t>.</a:t>
            </a:r>
          </a:p>
          <a:p>
            <a:r>
              <a:rPr lang="en-US" sz="2000" b="1" dirty="0"/>
              <a:t>Example of the block/straight address:</a:t>
            </a:r>
          </a:p>
          <a:p>
            <a:pPr marL="0" indent="0">
              <a:buNone/>
            </a:pPr>
            <a:r>
              <a:rPr lang="en-US" sz="2000" dirty="0"/>
              <a:t>Obuatupam Nkatenkwam Primary School,</a:t>
            </a:r>
          </a:p>
          <a:p>
            <a:pPr marL="0" indent="0">
              <a:buNone/>
            </a:pPr>
            <a:r>
              <a:rPr lang="en-US" sz="2000" dirty="0"/>
              <a:t>P.O. Box 223,</a:t>
            </a:r>
          </a:p>
          <a:p>
            <a:pPr marL="0" indent="0">
              <a:buNone/>
            </a:pPr>
            <a:r>
              <a:rPr lang="en-US" sz="2000" dirty="0"/>
              <a:t>Kumasi.</a:t>
            </a:r>
          </a:p>
          <a:p>
            <a:pPr marL="0" indent="0" algn="just">
              <a:buNone/>
            </a:pPr>
            <a:endParaRPr lang="en-US" sz="1600" dirty="0"/>
          </a:p>
        </p:txBody>
      </p:sp>
      <p:sp>
        <p:nvSpPr>
          <p:cNvPr id="8" name="Title 1"/>
          <p:cNvSpPr txBox="1">
            <a:spLocks/>
          </p:cNvSpPr>
          <p:nvPr/>
        </p:nvSpPr>
        <p:spPr>
          <a:xfrm>
            <a:off x="2405743" y="1788876"/>
            <a:ext cx="7150100" cy="7964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accent1"/>
                </a:solidFill>
              </a:rPr>
              <a:t>Styles of Addresses for A Letter</a:t>
            </a:r>
            <a:endParaRPr lang="en-US" sz="2800" dirty="0">
              <a:solidFill>
                <a:schemeClr val="accent1"/>
              </a:solidFill>
            </a:endParaRPr>
          </a:p>
        </p:txBody>
      </p:sp>
    </p:spTree>
    <p:extLst>
      <p:ext uri="{BB962C8B-B14F-4D97-AF65-F5344CB8AC3E}">
        <p14:creationId xmlns:p14="http://schemas.microsoft.com/office/powerpoint/2010/main" val="957248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00"/>
                                        <p:tgtEl>
                                          <p:spTgt spid="7">
                                            <p:txEl>
                                              <p:pRg st="4" end="4"/>
                                            </p:txEl>
                                          </p:spTgt>
                                        </p:tgtEl>
                                      </p:cBhvr>
                                    </p:animEffect>
                                    <p:anim calcmode="lin" valueType="num">
                                      <p:cBhvr>
                                        <p:cTn id="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1000"/>
                                        <p:tgtEl>
                                          <p:spTgt spid="7">
                                            <p:txEl>
                                              <p:pRg st="5" end="5"/>
                                            </p:txEl>
                                          </p:spTgt>
                                        </p:tgtEl>
                                      </p:cBhvr>
                                    </p:animEffect>
                                    <p:anim calcmode="lin" valueType="num">
                                      <p:cBhvr>
                                        <p:cTn id="3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9"/>
            <a:ext cx="5803900" cy="807682"/>
          </a:xfrm>
        </p:spPr>
        <p:txBody>
          <a:bodyPr/>
          <a:lstStyle/>
          <a:p>
            <a:r>
              <a:rPr lang="en-US" b="1" dirty="0"/>
              <a:t>Features of Formal Letter</a:t>
            </a:r>
            <a:endParaRPr lang="en-US" dirty="0"/>
          </a:p>
        </p:txBody>
      </p:sp>
      <p:sp>
        <p:nvSpPr>
          <p:cNvPr id="3" name="Content Placeholder 2"/>
          <p:cNvSpPr>
            <a:spLocks noGrp="1"/>
          </p:cNvSpPr>
          <p:nvPr>
            <p:ph idx="1"/>
          </p:nvPr>
        </p:nvSpPr>
        <p:spPr>
          <a:xfrm>
            <a:off x="721659" y="1904934"/>
            <a:ext cx="10632141" cy="4351338"/>
          </a:xfrm>
        </p:spPr>
        <p:txBody>
          <a:bodyPr/>
          <a:lstStyle/>
          <a:p>
            <a:pPr marL="742950" indent="-742950">
              <a:buFont typeface="+mj-lt"/>
              <a:buAutoNum type="arabicPeriod" startAt="2"/>
            </a:pPr>
            <a:r>
              <a:rPr lang="en-US" sz="3200" dirty="0">
                <a:solidFill>
                  <a:schemeClr val="accent1"/>
                </a:solidFill>
              </a:rPr>
              <a:t>Date</a:t>
            </a:r>
            <a:r>
              <a:rPr lang="en-US" sz="3200" dirty="0" smtClean="0">
                <a:solidFill>
                  <a:schemeClr val="accent1"/>
                </a:solidFill>
              </a:rPr>
              <a:t>: </a:t>
            </a:r>
            <a:r>
              <a:rPr lang="en-US" sz="2400" dirty="0"/>
              <a:t>Different people put the date on different sides of the page. You can write this on the right </a:t>
            </a:r>
            <a:r>
              <a:rPr lang="en-US" sz="2400" dirty="0" smtClean="0"/>
              <a:t>just below the writer's address to</a:t>
            </a:r>
            <a:r>
              <a:rPr lang="en-US" sz="2400" dirty="0"/>
              <a:t>. </a:t>
            </a:r>
            <a:endParaRPr lang="en-US" sz="2400" dirty="0" smtClean="0"/>
          </a:p>
          <a:p>
            <a:pPr marL="0" indent="0">
              <a:buNone/>
            </a:pPr>
            <a:r>
              <a:rPr lang="en-US" sz="2400" dirty="0" smtClean="0">
                <a:solidFill>
                  <a:schemeClr val="accent1"/>
                </a:solidFill>
              </a:rPr>
              <a:t>For </a:t>
            </a:r>
            <a:r>
              <a:rPr lang="en-US" sz="2400" dirty="0">
                <a:solidFill>
                  <a:schemeClr val="accent1"/>
                </a:solidFill>
              </a:rPr>
              <a:t>example;</a:t>
            </a:r>
          </a:p>
          <a:p>
            <a:pPr marL="0" indent="0">
              <a:buNone/>
            </a:pPr>
            <a:r>
              <a:rPr lang="en-US" sz="2400" dirty="0"/>
              <a:t>January 25</a:t>
            </a:r>
            <a:r>
              <a:rPr lang="en-US" sz="2400" baseline="30000" dirty="0"/>
              <a:t>th</a:t>
            </a:r>
            <a:r>
              <a:rPr lang="en-US" sz="2400" dirty="0"/>
              <a:t>, 2018</a:t>
            </a:r>
          </a:p>
          <a:p>
            <a:pPr marL="0" indent="0">
              <a:buNone/>
            </a:pPr>
            <a:r>
              <a:rPr lang="en-US" sz="2400" dirty="0"/>
              <a:t>25</a:t>
            </a:r>
            <a:r>
              <a:rPr lang="en-US" sz="2400" baseline="30000" dirty="0"/>
              <a:t>th</a:t>
            </a:r>
            <a:r>
              <a:rPr lang="en-US" sz="2400" dirty="0"/>
              <a:t> January, 2018</a:t>
            </a:r>
          </a:p>
          <a:p>
            <a:pPr marL="0" indent="0">
              <a:buNone/>
            </a:pPr>
            <a:r>
              <a:rPr lang="en-US" sz="2400" dirty="0"/>
              <a:t>25-01-2018</a:t>
            </a:r>
          </a:p>
          <a:p>
            <a:pPr marL="0" indent="0">
              <a:buNone/>
            </a:pPr>
            <a:r>
              <a:rPr lang="en-US" sz="2400" dirty="0" smtClean="0"/>
              <a:t>25/01/2018</a:t>
            </a:r>
            <a:endParaRPr lang="en-US" sz="32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10</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5021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10515600" cy="843308"/>
          </a:xfrm>
        </p:spPr>
        <p:txBody>
          <a:bodyPr/>
          <a:lstStyle/>
          <a:p>
            <a:r>
              <a:rPr lang="en-US" b="1" dirty="0"/>
              <a:t>Features of Formal Letter</a:t>
            </a:r>
            <a:endParaRPr lang="en-US" dirty="0"/>
          </a:p>
        </p:txBody>
      </p:sp>
      <p:sp>
        <p:nvSpPr>
          <p:cNvPr id="3" name="Content Placeholder 2"/>
          <p:cNvSpPr>
            <a:spLocks noGrp="1"/>
          </p:cNvSpPr>
          <p:nvPr>
            <p:ph idx="1"/>
          </p:nvPr>
        </p:nvSpPr>
        <p:spPr/>
        <p:txBody>
          <a:bodyPr/>
          <a:lstStyle/>
          <a:p>
            <a:pPr marL="742950" indent="-742950">
              <a:buFont typeface="+mj-lt"/>
              <a:buAutoNum type="arabicPeriod" startAt="3"/>
            </a:pPr>
            <a:r>
              <a:rPr lang="en-US" b="1" dirty="0">
                <a:solidFill>
                  <a:schemeClr val="accent1"/>
                </a:solidFill>
              </a:rPr>
              <a:t>Salutation or greeting:</a:t>
            </a:r>
            <a:r>
              <a:rPr lang="en-US" dirty="0">
                <a:solidFill>
                  <a:schemeClr val="accent1"/>
                </a:solidFill>
              </a:rPr>
              <a:t> </a:t>
            </a:r>
            <a:r>
              <a:rPr lang="en-US" sz="2400" dirty="0"/>
              <a:t>Salutations are your greetings meant for the recipient of the letter. They are always formal.</a:t>
            </a:r>
          </a:p>
          <a:p>
            <a:pPr marL="0" indent="0">
              <a:buNone/>
            </a:pPr>
            <a:r>
              <a:rPr lang="en-US" sz="2400" dirty="0">
                <a:solidFill>
                  <a:schemeClr val="accent1"/>
                </a:solidFill>
              </a:rPr>
              <a:t>For example;</a:t>
            </a:r>
          </a:p>
          <a:p>
            <a:pPr lvl="0"/>
            <a:r>
              <a:rPr lang="en-US" sz="2400" b="1" dirty="0"/>
              <a:t>Dear Sir or Madam,</a:t>
            </a:r>
            <a:r>
              <a:rPr lang="en-US" sz="2400" dirty="0"/>
              <a:t/>
            </a:r>
            <a:br>
              <a:rPr lang="en-US" sz="2400" dirty="0"/>
            </a:br>
            <a:r>
              <a:rPr lang="en-US" sz="2400" dirty="0"/>
              <a:t>If you do not know the name of the person you are writing to, use this. It is always advisable to try to find out a name. </a:t>
            </a:r>
          </a:p>
          <a:p>
            <a:pPr lvl="0"/>
            <a:r>
              <a:rPr lang="en-US" sz="2400" b="1" dirty="0"/>
              <a:t>Dear Mr. Jenkins,</a:t>
            </a:r>
            <a:r>
              <a:rPr lang="en-US" sz="2400" dirty="0"/>
              <a:t/>
            </a:r>
            <a:br>
              <a:rPr lang="en-US" sz="2400" dirty="0"/>
            </a:br>
            <a:r>
              <a:rPr lang="en-US" sz="2400" dirty="0"/>
              <a:t>If you know the name, use the title (Mr., Mrs., Miss or Ms., Dr, etc.) and the surname only. If you are writing to a woman and do not know if she uses Mrs. or Miss, you can use Ms., which is for married and single women.</a:t>
            </a:r>
          </a:p>
          <a:p>
            <a:pPr marL="0" indent="0">
              <a:buNone/>
            </a:pPr>
            <a:endParaRPr lang="en-US" sz="4400" dirty="0">
              <a:solidFill>
                <a:schemeClr val="accent1"/>
              </a:solidFill>
            </a:endParaRPr>
          </a:p>
          <a:p>
            <a:pPr marL="0" indent="0">
              <a:buNone/>
            </a:pPr>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dirty="0"/>
          </a:p>
        </p:txBody>
      </p:sp>
      <p:sp>
        <p:nvSpPr>
          <p:cNvPr id="5" name="Slide Number Placeholder 4"/>
          <p:cNvSpPr>
            <a:spLocks noGrp="1"/>
          </p:cNvSpPr>
          <p:nvPr>
            <p:ph type="sldNum" sz="quarter" idx="12"/>
          </p:nvPr>
        </p:nvSpPr>
        <p:spPr/>
        <p:txBody>
          <a:bodyPr/>
          <a:lstStyle/>
          <a:p>
            <a:fld id="{DC402312-C2F4-4A43-B955-3E4358FE65F1}" type="slidenum">
              <a:rPr lang="en-US" smtClean="0"/>
              <a:pPr/>
              <a:t>11</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560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6215743" cy="621291"/>
          </a:xfrm>
        </p:spPr>
        <p:txBody>
          <a:bodyPr/>
          <a:lstStyle/>
          <a:p>
            <a:r>
              <a:rPr lang="en-US" b="1" dirty="0"/>
              <a:t>Features of Formal Letter</a:t>
            </a:r>
            <a:endParaRPr lang="en-US" dirty="0"/>
          </a:p>
        </p:txBody>
      </p:sp>
      <p:sp>
        <p:nvSpPr>
          <p:cNvPr id="3" name="Content Placeholder 2"/>
          <p:cNvSpPr>
            <a:spLocks noGrp="1"/>
          </p:cNvSpPr>
          <p:nvPr>
            <p:ph idx="1"/>
          </p:nvPr>
        </p:nvSpPr>
        <p:spPr>
          <a:xfrm>
            <a:off x="808423" y="1665721"/>
            <a:ext cx="10545377" cy="4351338"/>
          </a:xfrm>
        </p:spPr>
        <p:txBody>
          <a:bodyPr/>
          <a:lstStyle/>
          <a:p>
            <a:pPr marL="457200" lvl="0" indent="-457200">
              <a:buFont typeface="+mj-lt"/>
              <a:buAutoNum type="arabicPeriod" startAt="4"/>
            </a:pPr>
            <a:r>
              <a:rPr lang="en-US" sz="2400" b="1" dirty="0">
                <a:solidFill>
                  <a:schemeClr val="accent1"/>
                </a:solidFill>
              </a:rPr>
              <a:t>Heading/Title</a:t>
            </a:r>
            <a:r>
              <a:rPr lang="en-US" sz="2400" dirty="0">
                <a:solidFill>
                  <a:schemeClr val="accent1"/>
                </a:solidFill>
              </a:rPr>
              <a:t> </a:t>
            </a:r>
            <a:r>
              <a:rPr lang="en-US" sz="2400" dirty="0"/>
              <a:t/>
            </a:r>
            <a:br>
              <a:rPr lang="en-US" sz="2400" dirty="0"/>
            </a:br>
            <a:r>
              <a:rPr lang="en-US" sz="2400" dirty="0"/>
              <a:t>This carries the reason you are writing the letter in one sentence, it should be in capital letters and should  be underlined. It is the subject of the formal letter that is; it carries the main idea for writing the letter. </a:t>
            </a:r>
          </a:p>
          <a:p>
            <a:pPr marL="0" indent="0">
              <a:buNone/>
            </a:pPr>
            <a:r>
              <a:rPr lang="en-US" sz="2400" dirty="0">
                <a:solidFill>
                  <a:schemeClr val="accent1"/>
                </a:solidFill>
              </a:rPr>
              <a:t>For example:</a:t>
            </a:r>
          </a:p>
          <a:p>
            <a:pPr marL="0" indent="0">
              <a:buNone/>
            </a:pPr>
            <a:r>
              <a:rPr lang="en-US" sz="2400" u="sng" dirty="0"/>
              <a:t>APPLICATION FOR EMPLOYMENT</a:t>
            </a:r>
            <a:endParaRPr lang="en-US" sz="2400" dirty="0"/>
          </a:p>
          <a:p>
            <a:pPr marL="0" indent="0">
              <a:buNone/>
            </a:pPr>
            <a:r>
              <a:rPr lang="en-US" sz="2400" u="sng" dirty="0"/>
              <a:t>PROBLEMS FACING MY COMMUNITY</a:t>
            </a:r>
            <a:endParaRPr lang="en-US" sz="2400" dirty="0"/>
          </a:p>
          <a:p>
            <a:pPr marL="0" indent="0">
              <a:buNone/>
            </a:pPr>
            <a:r>
              <a:rPr lang="en-US" sz="2400" u="sng" dirty="0"/>
              <a:t>Reasons Why Students Attend Lectures Late.</a:t>
            </a:r>
            <a:endParaRPr lang="en-US" sz="2400" dirty="0"/>
          </a:p>
          <a:p>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12</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036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761933"/>
            <a:ext cx="10515600" cy="1325563"/>
          </a:xfrm>
        </p:spPr>
        <p:txBody>
          <a:bodyPr/>
          <a:lstStyle/>
          <a:p>
            <a:r>
              <a:rPr lang="en-US" b="1" dirty="0"/>
              <a:t>Features of Formal </a:t>
            </a:r>
            <a:r>
              <a:rPr lang="en-US" b="1" dirty="0" smtClean="0"/>
              <a:t>Letter </a:t>
            </a:r>
            <a:r>
              <a:rPr lang="en-US" b="1" dirty="0" smtClean="0"/>
              <a:t>Cont.</a:t>
            </a:r>
            <a:endParaRPr lang="en-US" dirty="0"/>
          </a:p>
        </p:txBody>
      </p:sp>
      <p:sp>
        <p:nvSpPr>
          <p:cNvPr id="3" name="Content Placeholder 2"/>
          <p:cNvSpPr>
            <a:spLocks noGrp="1"/>
          </p:cNvSpPr>
          <p:nvPr>
            <p:ph idx="1"/>
          </p:nvPr>
        </p:nvSpPr>
        <p:spPr>
          <a:xfrm>
            <a:off x="838200" y="1546115"/>
            <a:ext cx="10515600" cy="4590551"/>
          </a:xfrm>
        </p:spPr>
        <p:txBody>
          <a:bodyPr/>
          <a:lstStyle/>
          <a:p>
            <a:pPr marL="457200" lvl="0" indent="-457200">
              <a:buFont typeface="+mj-lt"/>
              <a:buAutoNum type="arabicPeriod" startAt="5"/>
            </a:pPr>
            <a:r>
              <a:rPr lang="en-US" b="1" dirty="0">
                <a:solidFill>
                  <a:schemeClr val="accent1"/>
                </a:solidFill>
              </a:rPr>
              <a:t>Body</a:t>
            </a:r>
            <a:endParaRPr lang="en-US" dirty="0">
              <a:solidFill>
                <a:schemeClr val="accent1"/>
              </a:solidFill>
            </a:endParaRPr>
          </a:p>
          <a:p>
            <a:pPr marL="0" indent="0">
              <a:buNone/>
            </a:pPr>
            <a:r>
              <a:rPr lang="en-US" dirty="0"/>
              <a:t>The body, contains paragraph that merge to elaborate on the heading sated above in your letter.  It has three main parts which are;</a:t>
            </a:r>
          </a:p>
          <a:p>
            <a:pPr lvl="0"/>
            <a:r>
              <a:rPr lang="en-US" sz="2000" b="1" dirty="0"/>
              <a:t>First /introductory Paragraph:</a:t>
            </a:r>
            <a:r>
              <a:rPr lang="en-US" sz="2000" dirty="0"/>
              <a:t> The first paragraph of formal letters should include an introduction to the purpose of the letter. It's common to first thank someone or to introduce yourself and show the motive behind the letter.</a:t>
            </a:r>
          </a:p>
          <a:p>
            <a:pPr lvl="0"/>
            <a:r>
              <a:rPr lang="en-US" sz="2000" b="1" dirty="0"/>
              <a:t>Main Paragraphs:</a:t>
            </a:r>
            <a:r>
              <a:rPr lang="en-US" sz="2000" dirty="0"/>
              <a:t> Normally, the following paragraphs should provide the main information of the letter, and build on the main purpose in the introductory or first paragraph. Mostly formal letter has main ranging between 2-5 paragraphs.</a:t>
            </a:r>
          </a:p>
          <a:p>
            <a:pPr lvl="0"/>
            <a:r>
              <a:rPr lang="en-US" sz="2000" b="1" dirty="0"/>
              <a:t>Final/concluding Paragraph:</a:t>
            </a:r>
            <a:r>
              <a:rPr lang="en-US" sz="2000" dirty="0"/>
              <a:t> The final paragraph should shortly summarize the intent of the formal letter and end with some call to action. </a:t>
            </a:r>
          </a:p>
          <a:p>
            <a:pPr marL="0" indent="0">
              <a:buNone/>
            </a:pPr>
            <a:r>
              <a:rPr lang="en-US" sz="2000" dirty="0"/>
              <a:t>Note: “Thank you” is part of the concluding paragraph but, is written on the </a:t>
            </a:r>
            <a:r>
              <a:rPr lang="en-US" sz="2000" dirty="0" smtClean="0"/>
              <a:t>next line </a:t>
            </a:r>
            <a:r>
              <a:rPr lang="en-US" sz="2000" dirty="0"/>
              <a:t>of the concluding paragraph.</a:t>
            </a:r>
          </a:p>
          <a:p>
            <a:endParaRPr lang="en-US" sz="20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13</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3091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10515600" cy="1325563"/>
          </a:xfrm>
        </p:spPr>
        <p:txBody>
          <a:bodyPr/>
          <a:lstStyle/>
          <a:p>
            <a:r>
              <a:rPr lang="en-US" b="1" dirty="0"/>
              <a:t>Features of Formal Letter</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5"/>
            </a:pPr>
            <a:r>
              <a:rPr lang="en-US" b="1" dirty="0" smtClean="0">
                <a:solidFill>
                  <a:schemeClr val="accent5"/>
                </a:solidFill>
              </a:rPr>
              <a:t>Subscription</a:t>
            </a:r>
            <a:endParaRPr lang="en-US" dirty="0">
              <a:solidFill>
                <a:schemeClr val="accent5"/>
              </a:solidFill>
            </a:endParaRPr>
          </a:p>
          <a:p>
            <a:pPr lvl="1"/>
            <a:r>
              <a:rPr lang="en-US" dirty="0"/>
              <a:t>Yours faithfully;</a:t>
            </a:r>
            <a:br>
              <a:rPr lang="en-US" dirty="0"/>
            </a:br>
            <a:r>
              <a:rPr lang="en-US" dirty="0"/>
              <a:t> If you do not know the name of the person, end the letter this way.</a:t>
            </a:r>
            <a:br>
              <a:rPr lang="en-US" dirty="0"/>
            </a:br>
            <a:endParaRPr lang="en-US" dirty="0"/>
          </a:p>
          <a:p>
            <a:pPr lvl="1"/>
            <a:r>
              <a:rPr lang="en-US" dirty="0"/>
              <a:t>Yours sincerely; </a:t>
            </a:r>
            <a:br>
              <a:rPr lang="en-US" dirty="0"/>
            </a:br>
            <a:r>
              <a:rPr lang="en-US" dirty="0"/>
              <a:t>If you know the name of the person, end the letter this way.</a:t>
            </a:r>
            <a:br>
              <a:rPr lang="en-US" dirty="0"/>
            </a:br>
            <a:endParaRPr lang="en-US" dirty="0"/>
          </a:p>
          <a:p>
            <a:r>
              <a:rPr lang="en-US" b="1" dirty="0">
                <a:solidFill>
                  <a:schemeClr val="accent5"/>
                </a:solidFill>
              </a:rPr>
              <a:t>Your signature and Name: </a:t>
            </a:r>
            <a:r>
              <a:rPr lang="en-US" dirty="0"/>
              <a:t/>
            </a:r>
            <a:br>
              <a:rPr lang="en-US" dirty="0"/>
            </a:br>
            <a:r>
              <a:rPr lang="en-US" sz="2400" dirty="0"/>
              <a:t>Sign your name, then print it underneath the signature. If you think the person you are writing to might not know whether you are male or female, put you title in brackets after your name.</a:t>
            </a:r>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14</a:t>
            </a:fld>
            <a:endParaRPr lang="en-US" dirty="0"/>
          </a:p>
        </p:txBody>
      </p:sp>
      <p:cxnSp>
        <p:nvCxnSpPr>
          <p:cNvPr id="6" name="Straight Connector 5"/>
          <p:cNvCxnSpPr/>
          <p:nvPr/>
        </p:nvCxnSpPr>
        <p:spPr>
          <a:xfrm>
            <a:off x="3493826"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475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805218"/>
            <a:ext cx="10515600" cy="1325563"/>
          </a:xfrm>
        </p:spPr>
        <p:txBody>
          <a:bodyPr/>
          <a:lstStyle/>
          <a:p>
            <a:r>
              <a:rPr lang="en-US" b="1" dirty="0"/>
              <a:t>Uses of formal </a:t>
            </a:r>
            <a:r>
              <a:rPr lang="en-US" b="1" dirty="0" smtClean="0"/>
              <a:t>letters</a:t>
            </a:r>
            <a:endParaRPr lang="en-US" dirty="0"/>
          </a:p>
        </p:txBody>
      </p:sp>
      <p:sp>
        <p:nvSpPr>
          <p:cNvPr id="3" name="Content Placeholder 2"/>
          <p:cNvSpPr>
            <a:spLocks noGrp="1"/>
          </p:cNvSpPr>
          <p:nvPr>
            <p:ph idx="1"/>
          </p:nvPr>
        </p:nvSpPr>
        <p:spPr/>
        <p:txBody>
          <a:bodyPr/>
          <a:lstStyle/>
          <a:p>
            <a:pPr lvl="0"/>
            <a:r>
              <a:rPr lang="en-US" dirty="0" smtClean="0"/>
              <a:t>Communication</a:t>
            </a:r>
            <a:r>
              <a:rPr lang="en-US" dirty="0"/>
              <a:t>: Formal Letters are written to communicate an information, a request and recommendation to an official reader.</a:t>
            </a:r>
          </a:p>
          <a:p>
            <a:pPr lvl="0"/>
            <a:r>
              <a:rPr lang="en-US" dirty="0"/>
              <a:t>How serious a letter is, it is used to show how serious the piece of writing is and the need for it to read and taking the information into consideration.</a:t>
            </a:r>
          </a:p>
          <a:p>
            <a:pPr lvl="0"/>
            <a:r>
              <a:rPr lang="en-US" dirty="0"/>
              <a:t>To write to high ranking people; It most often written to Managers, CEOs, Governmental and Non-Governmental Organizations and institutions</a:t>
            </a:r>
          </a:p>
          <a:p>
            <a:pPr lvl="0"/>
            <a:r>
              <a:rPr lang="en-US" dirty="0"/>
              <a:t>When writing from one organization to the other.</a:t>
            </a:r>
          </a:p>
          <a:p>
            <a:endParaRPr lang="en-US"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15</a:t>
            </a:fld>
            <a:endParaRPr lang="en-US" dirty="0"/>
          </a:p>
        </p:txBody>
      </p:sp>
      <p:cxnSp>
        <p:nvCxnSpPr>
          <p:cNvPr id="6" name="Straight Connector 5"/>
          <p:cNvCxnSpPr/>
          <p:nvPr/>
        </p:nvCxnSpPr>
        <p:spPr>
          <a:xfrm>
            <a:off x="3561061"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940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805218"/>
            <a:ext cx="10515600" cy="1325563"/>
          </a:xfrm>
        </p:spPr>
        <p:txBody>
          <a:bodyPr/>
          <a:lstStyle/>
          <a:p>
            <a:r>
              <a:rPr lang="en-US" b="1" dirty="0" smtClean="0"/>
              <a:t>Languages Of Formal Letters</a:t>
            </a:r>
            <a:endParaRPr lang="en-US" b="1" dirty="0"/>
          </a:p>
        </p:txBody>
      </p:sp>
      <p:sp>
        <p:nvSpPr>
          <p:cNvPr id="3" name="Content Placeholder 2"/>
          <p:cNvSpPr>
            <a:spLocks noGrp="1"/>
          </p:cNvSpPr>
          <p:nvPr>
            <p:ph idx="1"/>
          </p:nvPr>
        </p:nvSpPr>
        <p:spPr/>
        <p:txBody>
          <a:bodyPr/>
          <a:lstStyle/>
          <a:p>
            <a:r>
              <a:rPr lang="en-US" sz="2000" b="1" dirty="0"/>
              <a:t>Use proper </a:t>
            </a:r>
            <a:r>
              <a:rPr lang="en-US" sz="2000" b="1" dirty="0" smtClean="0"/>
              <a:t>spelling: </a:t>
            </a:r>
            <a:r>
              <a:rPr lang="en-US" sz="2000" dirty="0" smtClean="0"/>
              <a:t>Use </a:t>
            </a:r>
            <a:r>
              <a:rPr lang="en-US" sz="2000" dirty="0"/>
              <a:t>correct spelling all of the time. This includes avoiding short forms and only using words that are found in the dictionary. This means that you must write "tonight" instead of "2nite" and "because" instead of "</a:t>
            </a:r>
            <a:r>
              <a:rPr lang="en-US" sz="2000" dirty="0" err="1"/>
              <a:t>bc</a:t>
            </a:r>
            <a:r>
              <a:rPr lang="en-US" sz="2000" dirty="0" smtClean="0"/>
              <a:t>.“</a:t>
            </a:r>
          </a:p>
          <a:p>
            <a:r>
              <a:rPr lang="en-US" sz="2000" b="1" dirty="0"/>
              <a:t>Use proper </a:t>
            </a:r>
            <a:r>
              <a:rPr lang="en-US" sz="2000" b="1" dirty="0" smtClean="0"/>
              <a:t>punctuation</a:t>
            </a:r>
            <a:r>
              <a:rPr lang="en-US" sz="2000" dirty="0" smtClean="0"/>
              <a:t>: Question </a:t>
            </a:r>
            <a:r>
              <a:rPr lang="en-US" sz="2000" dirty="0"/>
              <a:t>marks and to the ellipsis (which should have only three dots). In addition, you should also void the ampersand (&amp;); write out the word "and</a:t>
            </a:r>
            <a:r>
              <a:rPr lang="en-US" sz="2000" dirty="0" smtClean="0"/>
              <a:t>.“</a:t>
            </a:r>
          </a:p>
          <a:p>
            <a:r>
              <a:rPr lang="en-US" sz="2000" b="1" dirty="0"/>
              <a:t>Use full </a:t>
            </a:r>
            <a:r>
              <a:rPr lang="en-US" sz="2000" b="1" dirty="0" smtClean="0"/>
              <a:t>words</a:t>
            </a:r>
            <a:r>
              <a:rPr lang="en-US" sz="2000" dirty="0" smtClean="0"/>
              <a:t>: Contractions </a:t>
            </a:r>
            <a:r>
              <a:rPr lang="en-US" sz="2000" dirty="0"/>
              <a:t>are appropriate only for conversational use and for informal writing, never for technical or formal writing. Note that the full form of “can't" is one word: "cannot" not "can not". You should also avoid using abbreviated words such as "TV" and "photo" and use the full versions such as "television" and "photograph</a:t>
            </a:r>
            <a:r>
              <a:rPr lang="en-US" sz="2000" dirty="0" smtClean="0"/>
              <a:t>".</a:t>
            </a:r>
          </a:p>
          <a:p>
            <a:r>
              <a:rPr lang="en-US" sz="2000" b="1" dirty="0"/>
              <a:t>Do not write as you would </a:t>
            </a:r>
            <a:r>
              <a:rPr lang="en-US" sz="2000" b="1" dirty="0" smtClean="0"/>
              <a:t>speak</a:t>
            </a:r>
            <a:r>
              <a:rPr lang="en-US" sz="2000" dirty="0" smtClean="0"/>
              <a:t>: So</a:t>
            </a:r>
            <a:r>
              <a:rPr lang="en-US" sz="2000" dirty="0"/>
              <a:t>, like, you know, I totally don't even do that OMG! To ensure you are maintaining a formal tone, you need to leave out words and phrases that are not essential to conveying your point. For example, avoid using "well," "like," "for sure," "you know," and similar phrases.</a:t>
            </a:r>
          </a:p>
          <a:p>
            <a:endParaRPr lang="en-US" sz="20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16</a:t>
            </a:fld>
            <a:endParaRPr lang="en-US" dirty="0"/>
          </a:p>
        </p:txBody>
      </p:sp>
      <p:cxnSp>
        <p:nvCxnSpPr>
          <p:cNvPr id="6" name="Straight Connector 5"/>
          <p:cNvCxnSpPr/>
          <p:nvPr/>
        </p:nvCxnSpPr>
        <p:spPr>
          <a:xfrm>
            <a:off x="3224885" y="805218"/>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3939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4612" y="755090"/>
            <a:ext cx="10515600" cy="1325563"/>
          </a:xfrm>
        </p:spPr>
        <p:txBody>
          <a:bodyPr/>
          <a:lstStyle/>
          <a:p>
            <a:r>
              <a:rPr lang="en-US" b="1" dirty="0" smtClean="0"/>
              <a:t>Cont. of Languages  of Formal Letters</a:t>
            </a:r>
            <a:endParaRPr lang="en-US" b="1" dirty="0"/>
          </a:p>
        </p:txBody>
      </p:sp>
      <p:sp>
        <p:nvSpPr>
          <p:cNvPr id="3" name="Content Placeholder 2"/>
          <p:cNvSpPr>
            <a:spLocks noGrp="1"/>
          </p:cNvSpPr>
          <p:nvPr>
            <p:ph idx="1"/>
          </p:nvPr>
        </p:nvSpPr>
        <p:spPr>
          <a:xfrm>
            <a:off x="838200" y="1600414"/>
            <a:ext cx="10515600" cy="4655858"/>
          </a:xfrm>
        </p:spPr>
        <p:txBody>
          <a:bodyPr/>
          <a:lstStyle/>
          <a:p>
            <a:r>
              <a:rPr lang="en-US" sz="2000" b="1" dirty="0"/>
              <a:t>Emoticons should never be </a:t>
            </a:r>
            <a:r>
              <a:rPr lang="en-US" sz="2000" b="1" dirty="0" smtClean="0"/>
              <a:t>used</a:t>
            </a:r>
            <a:r>
              <a:rPr lang="en-US" sz="2000" dirty="0" smtClean="0"/>
              <a:t>: First </a:t>
            </a:r>
            <a:r>
              <a:rPr lang="en-US" sz="2000" dirty="0"/>
              <a:t>of all, it is never acceptable to use emoticons, including smiley faces, sad faces, winks, etc. suggest finding another way to tell your boss you are very happy about your raise or you may be finding another job</a:t>
            </a:r>
            <a:r>
              <a:rPr lang="en-US" sz="2000" dirty="0" smtClean="0"/>
              <a:t>!</a:t>
            </a:r>
          </a:p>
          <a:p>
            <a:r>
              <a:rPr lang="en-US" sz="2000" b="1" dirty="0"/>
              <a:t>Avoid using first and second person </a:t>
            </a:r>
            <a:r>
              <a:rPr lang="en-US" sz="2000" b="1" dirty="0" smtClean="0"/>
              <a:t>pronouns</a:t>
            </a:r>
            <a:r>
              <a:rPr lang="en-US" sz="2000" dirty="0" smtClean="0"/>
              <a:t>: Formal </a:t>
            </a:r>
            <a:r>
              <a:rPr lang="en-US" sz="2000" dirty="0"/>
              <a:t>writing often tries to be objective, and the pronouns "I" and "you" tend to imply subjectivity. Instead, use words such as "one," "one's," "the reader," the "author's," etc. For </a:t>
            </a:r>
            <a:r>
              <a:rPr lang="en-US" sz="2000" dirty="0" smtClean="0"/>
              <a:t>example:</a:t>
            </a:r>
          </a:p>
          <a:p>
            <a:pPr marL="0" indent="0">
              <a:buNone/>
            </a:pPr>
            <a:r>
              <a:rPr lang="en-US" sz="2000" b="1" dirty="0" smtClean="0"/>
              <a:t>Informal</a:t>
            </a:r>
            <a:r>
              <a:rPr lang="en-US" sz="2000" dirty="0"/>
              <a:t>: </a:t>
            </a:r>
            <a:r>
              <a:rPr lang="en-US" sz="2000" i="1" dirty="0"/>
              <a:t>"You should sleep eight hours each night."</a:t>
            </a:r>
            <a:r>
              <a:rPr lang="en-US" sz="2000" dirty="0"/>
              <a:t/>
            </a:r>
            <a:br>
              <a:rPr lang="en-US" sz="2000" dirty="0"/>
            </a:br>
            <a:r>
              <a:rPr lang="en-US" sz="2000" b="1" dirty="0"/>
              <a:t>Formal</a:t>
            </a:r>
            <a:r>
              <a:rPr lang="en-US" sz="2000" dirty="0"/>
              <a:t>: </a:t>
            </a:r>
            <a:r>
              <a:rPr lang="en-US" sz="2000" i="1" dirty="0"/>
              <a:t>"One should sleep eight hours each </a:t>
            </a:r>
            <a:r>
              <a:rPr lang="en-US" sz="2000" i="1" dirty="0" smtClean="0"/>
              <a:t>night.”</a:t>
            </a:r>
            <a:endParaRPr lang="en-US" sz="2000" dirty="0"/>
          </a:p>
          <a:p>
            <a:r>
              <a:rPr lang="en-US" sz="2000" b="1" dirty="0" smtClean="0"/>
              <a:t>Use </a:t>
            </a:r>
            <a:r>
              <a:rPr lang="en-US" sz="2000" b="1" dirty="0"/>
              <a:t>transitional adverbs such as</a:t>
            </a:r>
            <a:r>
              <a:rPr lang="en-US" sz="2000" b="1" dirty="0" smtClean="0"/>
              <a:t>: </a:t>
            </a:r>
          </a:p>
          <a:p>
            <a:pPr marL="0" indent="0">
              <a:buNone/>
            </a:pPr>
            <a:r>
              <a:rPr lang="en-US" sz="2000" i="1" dirty="0" smtClean="0"/>
              <a:t>"</a:t>
            </a:r>
            <a:r>
              <a:rPr lang="en-US" sz="2000" i="1" dirty="0"/>
              <a:t>additionally"</a:t>
            </a:r>
            <a:r>
              <a:rPr lang="en-US" sz="2000" dirty="0"/>
              <a:t> or </a:t>
            </a:r>
            <a:r>
              <a:rPr lang="en-US" sz="2000" i="1" dirty="0"/>
              <a:t>"moreover"</a:t>
            </a:r>
            <a:endParaRPr lang="en-US" sz="2000" dirty="0"/>
          </a:p>
          <a:p>
            <a:pPr marL="0" indent="0">
              <a:buNone/>
            </a:pPr>
            <a:r>
              <a:rPr lang="en-US" sz="2000" i="1" dirty="0"/>
              <a:t>"nevertheless"</a:t>
            </a:r>
            <a:r>
              <a:rPr lang="en-US" sz="2000" dirty="0"/>
              <a:t> or </a:t>
            </a:r>
            <a:r>
              <a:rPr lang="en-US" sz="2000" i="1" dirty="0"/>
              <a:t>"however"</a:t>
            </a:r>
            <a:endParaRPr lang="en-US" sz="2000" dirty="0"/>
          </a:p>
          <a:p>
            <a:pPr marL="0" indent="0">
              <a:buNone/>
            </a:pPr>
            <a:r>
              <a:rPr lang="en-US" sz="2000" i="1" dirty="0"/>
              <a:t>"therefore"</a:t>
            </a:r>
            <a:r>
              <a:rPr lang="en-US" sz="2000" dirty="0"/>
              <a:t> or </a:t>
            </a:r>
            <a:r>
              <a:rPr lang="en-US" sz="2000" i="1" dirty="0"/>
              <a:t>"thus"</a:t>
            </a:r>
            <a:endParaRPr lang="en-US" sz="2000" dirty="0"/>
          </a:p>
          <a:p>
            <a:pPr marL="0" indent="0">
              <a:buNone/>
            </a:pPr>
            <a:r>
              <a:rPr lang="en-US" sz="2000" i="1" dirty="0"/>
              <a:t>"alternatively"</a:t>
            </a:r>
            <a:r>
              <a:rPr lang="en-US" sz="2000" dirty="0"/>
              <a:t> or </a:t>
            </a:r>
            <a:r>
              <a:rPr lang="en-US" sz="2000" i="1" dirty="0"/>
              <a:t>"instead"</a:t>
            </a:r>
            <a:r>
              <a:rPr lang="en-US" sz="2000" dirty="0"/>
              <a:t> or </a:t>
            </a:r>
            <a:r>
              <a:rPr lang="en-US" sz="2000" i="1" dirty="0"/>
              <a:t>"otherwise</a:t>
            </a:r>
            <a:r>
              <a:rPr lang="en-US" i="1" dirty="0"/>
              <a:t>"</a:t>
            </a:r>
            <a:endParaRPr lang="en-US" dirty="0"/>
          </a:p>
          <a:p>
            <a:endParaRPr lang="en-US" b="1" dirty="0" smtClean="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17</a:t>
            </a:fld>
            <a:endParaRPr lang="en-US" dirty="0"/>
          </a:p>
        </p:txBody>
      </p:sp>
      <p:cxnSp>
        <p:nvCxnSpPr>
          <p:cNvPr id="6" name="Straight Connector 5"/>
          <p:cNvCxnSpPr/>
          <p:nvPr/>
        </p:nvCxnSpPr>
        <p:spPr>
          <a:xfrm>
            <a:off x="2270144" y="755090"/>
            <a:ext cx="0" cy="62129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1328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lgn="ctr">
              <a:buNone/>
            </a:pPr>
            <a:r>
              <a:rPr lang="en-US" sz="11500" dirty="0" smtClean="0"/>
              <a:t>THANK YOU</a:t>
            </a:r>
            <a:endParaRPr lang="en-US" sz="11500" dirty="0"/>
          </a:p>
        </p:txBody>
      </p:sp>
      <p:sp>
        <p:nvSpPr>
          <p:cNvPr id="4" name="Date Placeholder 3"/>
          <p:cNvSpPr>
            <a:spLocks noGrp="1"/>
          </p:cNvSpPr>
          <p:nvPr>
            <p:ph type="dt" sz="half" idx="10"/>
          </p:nvPr>
        </p:nvSpPr>
        <p:spPr/>
        <p:txBody>
          <a:bodyPr/>
          <a:lstStyle/>
          <a:p>
            <a:fld id="{155C79F7-B2F6-455B-8BCD-8E85125AFF44}" type="datetime2">
              <a:rPr lang="en-US" smtClean="0"/>
              <a:t>Wednesday, April 11,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18</a:t>
            </a:fld>
            <a:endParaRPr lang="en-US" dirty="0"/>
          </a:p>
        </p:txBody>
      </p:sp>
    </p:spTree>
    <p:extLst>
      <p:ext uri="{BB962C8B-B14F-4D97-AF65-F5344CB8AC3E}">
        <p14:creationId xmlns:p14="http://schemas.microsoft.com/office/powerpoint/2010/main" val="17205656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5C79F7-B2F6-455B-8BCD-8E85125AFF44}" type="datetime2">
              <a:rPr lang="en-US" smtClean="0"/>
              <a:t>Thursday, April 12, 2018</a:t>
            </a:fld>
            <a:endParaRPr lang="en-US"/>
          </a:p>
        </p:txBody>
      </p:sp>
      <p:sp>
        <p:nvSpPr>
          <p:cNvPr id="5" name="Slide Number Placeholder 4"/>
          <p:cNvSpPr>
            <a:spLocks noGrp="1"/>
          </p:cNvSpPr>
          <p:nvPr>
            <p:ph type="sldNum" sz="quarter" idx="12"/>
          </p:nvPr>
        </p:nvSpPr>
        <p:spPr/>
        <p:txBody>
          <a:bodyPr/>
          <a:lstStyle/>
          <a:p>
            <a:fld id="{DC402312-C2F4-4A43-B955-3E4358FE65F1}" type="slidenum">
              <a:rPr lang="en-US" smtClean="0"/>
              <a:pPr/>
              <a:t>19</a:t>
            </a:fld>
            <a:endParaRPr lang="en-US" dirty="0"/>
          </a:p>
        </p:txBody>
      </p:sp>
    </p:spTree>
    <p:extLst>
      <p:ext uri="{BB962C8B-B14F-4D97-AF65-F5344CB8AC3E}">
        <p14:creationId xmlns:p14="http://schemas.microsoft.com/office/powerpoint/2010/main" val="1011046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3436</TotalTime>
  <Words>1293</Words>
  <Application>Microsoft Office PowerPoint</Application>
  <PresentationFormat>Widescreen</PresentationFormat>
  <Paragraphs>152</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Lato Black</vt:lpstr>
      <vt:lpstr>Lato Light</vt:lpstr>
      <vt:lpstr>Lato Medium</vt:lpstr>
      <vt:lpstr>Liana</vt:lpstr>
      <vt:lpstr>Office Theme</vt:lpstr>
      <vt:lpstr>PowerPoint Presentation</vt:lpstr>
      <vt:lpstr>Group members</vt:lpstr>
      <vt:lpstr>Objectives</vt:lpstr>
      <vt:lpstr>Introduction</vt:lpstr>
      <vt:lpstr>Formal Letters</vt:lpstr>
      <vt:lpstr>Types of Formal letters</vt:lpstr>
      <vt:lpstr>Features of Formal Letter</vt:lpstr>
      <vt:lpstr>Features of Formal Letter</vt:lpstr>
      <vt:lpstr>Features of Formal Letter</vt:lpstr>
      <vt:lpstr>Features of Formal Letter</vt:lpstr>
      <vt:lpstr>Features of Formal Letter</vt:lpstr>
      <vt:lpstr>Features of Formal Letter</vt:lpstr>
      <vt:lpstr>Features of Formal Letter Cont.</vt:lpstr>
      <vt:lpstr>Features of Formal Letter</vt:lpstr>
      <vt:lpstr>Uses of formal letters</vt:lpstr>
      <vt:lpstr>Languages Of Formal Letters</vt:lpstr>
      <vt:lpstr>Cont. of Languages  of Formal Letters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48</cp:revision>
  <dcterms:created xsi:type="dcterms:W3CDTF">2018-03-24T22:20:44Z</dcterms:created>
  <dcterms:modified xsi:type="dcterms:W3CDTF">2018-04-12T11:26:26Z</dcterms:modified>
</cp:coreProperties>
</file>
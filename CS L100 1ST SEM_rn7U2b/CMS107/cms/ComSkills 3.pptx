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4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1" r:id="rId26"/>
    <p:sldId id="282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C8F30-E9EF-40DA-B8CD-786D46B8B51E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1CC60-FE2E-4334-B6B2-DDDF6D1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3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250FCA-A19B-4A75-AE50-584E4C2C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FBFE21C-BEE5-427F-8503-B1F0468A6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E0B8A69-D6AB-45A2-B3CF-87994B1A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9F8ED-935D-44A9-88D5-866EE96DD16D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FB0F28-3EEF-4AE1-B56A-7A21D40C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066B-BEBE-466E-A34C-30BECA5E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80A3F2-8C83-44A8-9FF7-43983E0C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29A0E2-B6EB-42A7-B252-CD4DA8B46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06FEA41-5B8D-43AF-9173-6FF56F7F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2A227-01E7-43B8-89F2-ED6603615785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FA87438-F0E6-48CF-95DC-B4EC392B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AC39D0D-45D6-454E-968B-A44E3609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8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30618A-16E8-439A-8D6C-9F1D2B8C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AB21D91-8B88-4FA0-97AD-FD074C19F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C86BBB1-903C-49E3-8029-1C783BCE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C8DCD-B22C-424A-B53B-0656ADA21856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ACBB19B-C735-4ABB-8E58-BED3D275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720F3C8-579E-48A2-94DF-00BCF8657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4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13F047-9D50-4BCE-9586-EB8BE261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E9B909-105A-4669-BEDE-3A95AE08C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5D678A5-36E5-421C-B319-30ADE21F9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947A6D1-F275-4FC8-99A1-D1949A3A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003AA-DF6E-4201-8465-A7474C1ABDEC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577B5EB-3FBC-4B94-9FAD-6B6355F2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E44A0A0-38BB-457A-BFE6-352FF4D35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2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F61B9C-DE51-4EB7-B10A-7E9DA11C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695DAE-CA2B-41B4-BE6F-E2AD3F0E8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9DB36AB-283C-489B-8E5A-82C92579C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5D2FF87-18D6-4848-BC54-CBD64F112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D8EDB22-B396-4C78-9705-784258549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ACAEF84-B36A-409D-B1DF-FFD1CAA6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23FA3-DEFD-439F-BB2C-83D0AF8DE606}" type="datetime1">
              <a:rPr lang="en-US" smtClean="0"/>
              <a:t>4/20/2020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FB98E10-570B-48D8-95D4-1810FE1D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1F50F98-7C3D-4C84-9B66-A4B54BBE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9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A0B278-B359-4CE2-A930-66CDE846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E4C18E7-EA42-4932-9048-7B09E84A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12A8-566A-43E1-89C6-618714BA06A9}" type="datetime1">
              <a:rPr lang="en-US" smtClean="0"/>
              <a:t>4/20/2020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3F23929-3B77-41C7-82C1-7176E763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A76152F-405B-4E75-8927-1B0F05BD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6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21D947C-D9D2-4054-B044-8C05E6DD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261D-35EA-43CC-881E-AEA2098E3CB2}" type="datetime1">
              <a:rPr lang="en-US" smtClean="0"/>
              <a:t>4/20/2020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73AFD63-8E65-41DE-887D-893DA4FD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90E3A08-CAB3-4185-870C-0F0894EC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5CBE89-DA2B-4AEF-82C3-CE491EFA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E14EA4-0AC6-40B5-96F0-CB7DE2914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82D699B-104B-4EDC-AF12-D457891B3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67AF9AE-CE32-45B0-993E-CEC7ACF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2371-36C0-4EB2-93D8-D7CC7F0BB317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A8757F-5089-4F54-93EE-799B6388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F08236-230A-4E28-8FF9-158E3E94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1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353AC6-BFDD-4FF1-9D5B-AD59B6E2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402BA56-D097-4E52-864C-A1D588BA1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05443BC-BA9D-4516-87E2-5E56D501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EB18120-C77A-4A65-B285-9162F8C6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7B55-0288-4BE5-9B57-D087E3F42CC1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5E79BA7-4991-4A8D-B179-DDB1507B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F556300-40FF-4BE7-A78D-C95881D4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7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888F68-3D52-416C-B88F-105F785E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9E75185-1BD0-48EC-99BE-053F40906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E2D19C-687F-4588-AFC1-A5504A31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D8870-BCFF-4B8D-9A09-670E9BC0ACAF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C325C47-2877-42D0-9A8B-DBF95F0B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2382E2-8D53-4C23-8E3E-C992471E9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6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2F67699-2F2E-4078-B205-F5213369A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D1023E2-0D7F-4101-88AE-6F1113B2D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A886E3-5D5D-482D-A93C-0F6F41A0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E31E-2302-49BF-9D75-2576A920C650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40C612-9B97-4EE4-8BDD-0DA36640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BED2A1-87A1-45CF-80DB-9F1033BA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0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7D3FAD0-3AD4-4AF5-85E5-620D145A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6BF0ABD-C130-4CC2-8788-DEFE9D08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F1BE3C-7EE6-4813-9113-30810A6A5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83BD5-F572-4278-87AA-DE9897CC241B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21EC172-E78D-4ABA-89EA-0A04A6CF9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40F5D5-4961-4D42-81F2-2CF45B8F7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0F538-F411-4E94-A96D-4DD537E43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06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4AFA90-DEAA-440C-9AB9-0767889462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 FORMAL LETTER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645FDD4-2D3C-4E81-9B2C-436DE7310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87" y="3602037"/>
            <a:ext cx="10551884" cy="226173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1/24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D31205E-D088-4273-AA3A-93CCE811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2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Why Do We Write a Formal Letter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to make a request for an Introductory Letter,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Apply for a transcript,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 for permission to be absent from a lecture,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a job,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9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08E9C4-00C6-4A51-9E24-C602A19A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                     2/24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D0542B-22A8-49AB-BACE-E5B153DD6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lecture today, we are going to examine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The meaning of a formal letter,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Characteristics/structure of a formal letter,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Language of a formal letter and 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An example of a formal letter.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22F6EF9-EEC9-443A-BE96-1572A5CBB1D9}"/>
              </a:ext>
            </a:extLst>
          </p:cNvPr>
          <p:cNvSpPr/>
          <p:nvPr/>
        </p:nvSpPr>
        <p:spPr>
          <a:xfrm>
            <a:off x="4485334" y="3244334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BB8291-83A7-4906-BEBC-794B5C9E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7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C1CD11-8C0D-4A9E-9AFF-156D5195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formal/ official letter?            3/24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9435E4-3BB9-44C1-B620-D7F85BB82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1825625"/>
            <a:ext cx="11410121" cy="4895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formal letter is sometimes referred to as an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letter or a business 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letter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It is a form of a letter which can be written from an individual to an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official, firm or an institution.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a letter written from an official, firm to an individual.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regarded as a letter written by an individual ( a subordinate) to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another individual(a superior). 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 of application for employment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considered as formal.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EAACB5-E062-47DA-8875-77F2D4BB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5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0AD3E6-65E2-4336-8256-B5442AC7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-198782"/>
            <a:ext cx="11263085" cy="1007166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formal letter                                        4/24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BC709FF-AD1C-413D-9644-F2210DB2C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060174"/>
            <a:ext cx="11480799" cy="57978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Formal letters can be put into different categories, but we are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interested in letters you write as a student to  people who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occupy high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positions. These include: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Vice Chancellor,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Pro-Vice Chancellor,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Provost,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Dean,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Registrar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Head of Department,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Metropolitan Chief Executive,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District Director of Education,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Director General of Education, etc.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Letters to our friends, relatives, etc.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regarded as  formal.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CFF84E9-6A33-44CC-B6B1-36C5D200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7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57BE58-85A2-4DA0-AFDF-F67A2A5C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1"/>
            <a:ext cx="10802257" cy="1223616"/>
          </a:xfrm>
        </p:spPr>
        <p:txBody>
          <a:bodyPr/>
          <a:lstStyle/>
          <a:p>
            <a:r>
              <a:rPr lang="en-US" dirty="0"/>
              <a:t>Purposes for writing formal letters             5/24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8319421-40DB-4629-8BB4-2DC690A14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43" y="1422400"/>
            <a:ext cx="11205028" cy="53339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Several reasons may account for writing such letters: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</a:t>
            </a:r>
            <a:r>
              <a:rPr lang="en-US" dirty="0"/>
              <a:t>. You can write to the Registrar of a university to ask for a change of name in </a:t>
            </a:r>
          </a:p>
          <a:p>
            <a:pPr marL="0" indent="0">
              <a:buNone/>
            </a:pPr>
            <a:r>
              <a:rPr lang="en-US" dirty="0"/>
              <a:t>           case your name was wrongly spelt on your admission letter.</a:t>
            </a:r>
          </a:p>
          <a:p>
            <a:pPr marL="0" indent="0">
              <a:buNone/>
            </a:pPr>
            <a:r>
              <a:rPr lang="en-US" dirty="0"/>
              <a:t>     ii. You can also write to a Head of Department to:</a:t>
            </a:r>
          </a:p>
          <a:p>
            <a:pPr marL="0" indent="0">
              <a:buNone/>
            </a:pPr>
            <a:r>
              <a:rPr lang="en-US" dirty="0"/>
              <a:t>         a. seek clarification on courses offered in the </a:t>
            </a:r>
            <a:r>
              <a:rPr lang="en-US" dirty="0" smtClean="0"/>
              <a:t>Department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         b. provide you with an introductory letter.  </a:t>
            </a:r>
          </a:p>
          <a:p>
            <a:pPr marL="0" indent="0">
              <a:buNone/>
            </a:pPr>
            <a:r>
              <a:rPr lang="en-US" dirty="0"/>
              <a:t>      iii. You can equally write to the Dean to ask for permission to use a facility </a:t>
            </a:r>
          </a:p>
          <a:p>
            <a:pPr marL="0" indent="0">
              <a:buNone/>
            </a:pPr>
            <a:r>
              <a:rPr lang="en-US" dirty="0"/>
              <a:t>            under </a:t>
            </a:r>
            <a:r>
              <a:rPr lang="en-US" dirty="0" smtClean="0"/>
              <a:t>his/her </a:t>
            </a:r>
            <a:r>
              <a:rPr lang="en-US" dirty="0"/>
              <a:t>care to organize a </a:t>
            </a:r>
            <a:r>
              <a:rPr lang="en-US" dirty="0" smtClean="0"/>
              <a:t>programme, </a:t>
            </a:r>
            <a:r>
              <a:rPr lang="en-US" dirty="0"/>
              <a:t>etc. </a:t>
            </a:r>
          </a:p>
          <a:p>
            <a:pPr marL="0" indent="0">
              <a:buNone/>
            </a:pPr>
            <a:r>
              <a:rPr lang="en-US" dirty="0"/>
              <a:t>      iv. You can write and make a request for your transcript to be sent to an </a:t>
            </a:r>
          </a:p>
          <a:p>
            <a:pPr marL="0" indent="0">
              <a:buNone/>
            </a:pPr>
            <a:r>
              <a:rPr lang="en-US" dirty="0"/>
              <a:t>             institution you have applied </a:t>
            </a:r>
            <a:r>
              <a:rPr lang="en-US" dirty="0" smtClean="0"/>
              <a:t>for a job.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72AED8-EB13-4C71-ABDD-4F03389E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09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CE3B1A-2637-435A-897E-4AFAA54A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378377"/>
            <a:ext cx="10995991" cy="1325563"/>
          </a:xfrm>
        </p:spPr>
        <p:txBody>
          <a:bodyPr/>
          <a:lstStyle/>
          <a:p>
            <a:r>
              <a:rPr lang="en-US" dirty="0"/>
              <a:t>   Purposes for writing formal letters             6/24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B3413F-F2BC-4660-BC94-96C2349CF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iv. If you are a teacher, you can write to the District Director </a:t>
            </a:r>
          </a:p>
          <a:p>
            <a:pPr marL="0" indent="0">
              <a:buNone/>
            </a:pPr>
            <a:r>
              <a:rPr lang="en-US" dirty="0"/>
              <a:t>        of Education in your area and report a problem you have identified   </a:t>
            </a:r>
          </a:p>
          <a:p>
            <a:pPr marL="0" indent="0">
              <a:buNone/>
            </a:pPr>
            <a:r>
              <a:rPr lang="en-US" dirty="0"/>
              <a:t>        and  ask for assistance.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v.   You can write to the </a:t>
            </a:r>
            <a:r>
              <a:rPr lang="en-US" dirty="0" smtClean="0"/>
              <a:t>Registrar for an Introductory Letter.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  vi. You can write to any high authority on a number of reasons.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0E35DAF-2561-4DF9-952E-989AE59B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2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E02647-1F29-41AC-9F07-2C879D28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The structure of a formal letter               7/24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710335-DA93-48E0-9824-A9B0525B3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825624"/>
            <a:ext cx="11364686" cy="503237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A formal letter should have the following structure:</a:t>
            </a:r>
          </a:p>
          <a:p>
            <a:pPr marL="0" indent="0" algn="just">
              <a:buNone/>
            </a:pPr>
            <a:r>
              <a:rPr lang="en-US" dirty="0"/>
              <a:t>  </a:t>
            </a:r>
            <a:r>
              <a:rPr lang="en-US" b="1" i="1" dirty="0"/>
              <a:t> </a:t>
            </a:r>
            <a:r>
              <a:rPr lang="en-US" b="1" i="1" dirty="0" err="1"/>
              <a:t>i</a:t>
            </a:r>
            <a:r>
              <a:rPr lang="en-US" b="1" i="1" dirty="0"/>
              <a:t>. Provide two addresses:</a:t>
            </a:r>
          </a:p>
          <a:p>
            <a:pPr marL="0" indent="0" algn="just">
              <a:buNone/>
            </a:pPr>
            <a:r>
              <a:rPr lang="en-US" dirty="0"/>
              <a:t>     a.  The writer’s address should be written on the top right </a:t>
            </a:r>
          </a:p>
          <a:p>
            <a:pPr marL="0" indent="0" algn="just">
              <a:buNone/>
            </a:pPr>
            <a:r>
              <a:rPr lang="en-US" dirty="0"/>
              <a:t>            side of your paper.</a:t>
            </a:r>
          </a:p>
          <a:p>
            <a:pPr marL="0" indent="0" algn="just">
              <a:buNone/>
            </a:pPr>
            <a:r>
              <a:rPr lang="en-US" dirty="0"/>
              <a:t>                - The name of the writer </a:t>
            </a:r>
            <a:r>
              <a:rPr lang="en-US" b="1" i="1" dirty="0"/>
              <a:t>SHOULD NOT APPEAR </a:t>
            </a:r>
            <a:r>
              <a:rPr lang="en-US" dirty="0"/>
              <a:t>as part of the  </a:t>
            </a:r>
          </a:p>
          <a:p>
            <a:pPr marL="0" indent="0" algn="just">
              <a:buNone/>
            </a:pPr>
            <a:r>
              <a:rPr lang="en-US" dirty="0"/>
              <a:t>                   address. It is just the writer’s address and a date.</a:t>
            </a:r>
          </a:p>
          <a:p>
            <a:pPr marL="0" indent="0" algn="just">
              <a:buNone/>
            </a:pPr>
            <a:r>
              <a:rPr lang="en-US" dirty="0"/>
              <a:t>                - Put your date immediately after the address.</a:t>
            </a:r>
          </a:p>
          <a:p>
            <a:pPr marL="0" indent="0" algn="just">
              <a:buNone/>
            </a:pPr>
            <a:r>
              <a:rPr lang="en-US" dirty="0"/>
              <a:t>    b. The recipient’s/addressee’s address should be written on </a:t>
            </a:r>
          </a:p>
          <a:p>
            <a:pPr marL="0" indent="0" algn="just">
              <a:buNone/>
            </a:pPr>
            <a:r>
              <a:rPr lang="en-US" dirty="0"/>
              <a:t>       the left side of the paper. There should however, be a space left after the </a:t>
            </a:r>
          </a:p>
          <a:p>
            <a:pPr marL="0" indent="0" algn="just">
              <a:buNone/>
            </a:pPr>
            <a:r>
              <a:rPr lang="en-US" dirty="0"/>
              <a:t>       writer’s address in order to make it appear like a slant line between </a:t>
            </a:r>
          </a:p>
          <a:p>
            <a:pPr marL="0" indent="0" algn="just">
              <a:buNone/>
            </a:pPr>
            <a:r>
              <a:rPr lang="en-US" dirty="0"/>
              <a:t>       the two addresses on your paper.</a:t>
            </a:r>
          </a:p>
          <a:p>
            <a:pPr marL="0" indent="0" algn="just">
              <a:buNone/>
            </a:pPr>
            <a:r>
              <a:rPr lang="en-US" dirty="0"/>
              <a:t>               - </a:t>
            </a:r>
            <a:r>
              <a:rPr lang="en-US" b="1" i="1" dirty="0"/>
              <a:t>DO NOT ADD A DATE</a:t>
            </a:r>
            <a:r>
              <a:rPr lang="en-US" dirty="0"/>
              <a:t> to the recipient’s address.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71DA4BE-294C-4577-8A6E-5621ED6F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50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B52814-51CD-48EF-8DE9-EAFF034B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01600"/>
            <a:ext cx="11248571" cy="1277258"/>
          </a:xfrm>
        </p:spPr>
        <p:txBody>
          <a:bodyPr/>
          <a:lstStyle/>
          <a:p>
            <a:r>
              <a:rPr lang="en-US" dirty="0"/>
              <a:t>     The structure of a formal letter                  8/24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E4EA23-8217-4938-8ED6-E16CA2C46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99" y="1285460"/>
            <a:ext cx="11379202" cy="547093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 -</a:t>
            </a:r>
            <a:r>
              <a:rPr lang="en-US" b="1" i="1" dirty="0"/>
              <a:t>ii. Provide an impersonal salutation:</a:t>
            </a:r>
          </a:p>
          <a:p>
            <a:pPr marL="0" indent="0" algn="just">
              <a:buNone/>
            </a:pPr>
            <a:r>
              <a:rPr lang="en-US" b="1" i="1" dirty="0"/>
              <a:t>  </a:t>
            </a:r>
            <a:r>
              <a:rPr lang="en-US" dirty="0"/>
              <a:t>     This is the opening of the letter and so, the writer needs to address   </a:t>
            </a:r>
          </a:p>
          <a:p>
            <a:pPr marL="0" indent="0" algn="just">
              <a:buNone/>
            </a:pPr>
            <a:r>
              <a:rPr lang="en-US" dirty="0"/>
              <a:t>        the recipient by using any of the following titles:</a:t>
            </a:r>
          </a:p>
          <a:p>
            <a:pPr marL="0" indent="0" algn="just">
              <a:buNone/>
            </a:pPr>
            <a:r>
              <a:rPr lang="en-US" dirty="0"/>
              <a:t>                -Dear Sir, Dear Madam,</a:t>
            </a:r>
          </a:p>
          <a:p>
            <a:pPr marL="0" indent="0" algn="just">
              <a:buNone/>
            </a:pPr>
            <a:r>
              <a:rPr lang="en-US" dirty="0"/>
              <a:t>                - Do not use a Dear Sir/Madam when you know the sex of the </a:t>
            </a:r>
          </a:p>
          <a:p>
            <a:pPr marL="0" indent="0" algn="just">
              <a:buNone/>
            </a:pPr>
            <a:r>
              <a:rPr lang="en-US" dirty="0"/>
              <a:t>                  recipient.</a:t>
            </a:r>
          </a:p>
          <a:p>
            <a:pPr marL="0" indent="0" algn="just">
              <a:buNone/>
            </a:pPr>
            <a:r>
              <a:rPr lang="en-US" dirty="0"/>
              <a:t>                   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b="1" i="1" dirty="0"/>
              <a:t> iii. Provide a title/heading for the letter:</a:t>
            </a:r>
          </a:p>
          <a:p>
            <a:pPr marL="0" indent="0" algn="just">
              <a:buNone/>
            </a:pPr>
            <a:r>
              <a:rPr lang="en-US" b="1" i="1" dirty="0"/>
              <a:t> </a:t>
            </a:r>
            <a:r>
              <a:rPr lang="en-US" dirty="0"/>
              <a:t>      -  People who occupy high positions receive quite a number of </a:t>
            </a:r>
          </a:p>
          <a:p>
            <a:pPr marL="0" indent="0" algn="just">
              <a:buNone/>
            </a:pPr>
            <a:r>
              <a:rPr lang="en-US" dirty="0"/>
              <a:t>          letters in a day. It will, therefore, be prudent to provide a title for </a:t>
            </a:r>
          </a:p>
          <a:p>
            <a:pPr marL="0" indent="0" algn="just">
              <a:buNone/>
            </a:pPr>
            <a:r>
              <a:rPr lang="en-US" dirty="0"/>
              <a:t>          your letter so that the recipient can  quickly get the content of the </a:t>
            </a:r>
          </a:p>
          <a:p>
            <a:pPr marL="0" indent="0" algn="just">
              <a:buNone/>
            </a:pPr>
            <a:r>
              <a:rPr lang="en-US" dirty="0"/>
              <a:t>           letter.</a:t>
            </a:r>
          </a:p>
          <a:p>
            <a:pPr marL="0" indent="0" algn="just">
              <a:buNone/>
            </a:pPr>
            <a:r>
              <a:rPr lang="en-US" dirty="0"/>
              <a:t>      - The title/heading of your letter should be a summary of  your purpose for </a:t>
            </a:r>
          </a:p>
          <a:p>
            <a:pPr marL="0" indent="0" algn="just">
              <a:buNone/>
            </a:pPr>
            <a:r>
              <a:rPr lang="en-US" dirty="0"/>
              <a:t>          writing.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6D4950C-B474-4BA0-9CAE-5E67B804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4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formal letter, just like any form of essay, also has three parts:</a:t>
            </a:r>
          </a:p>
          <a:p>
            <a:r>
              <a:rPr lang="en-US" dirty="0" smtClean="0"/>
              <a:t>The Introductory paragraph: It sets the tone for the letter. It contains the Thesis Statement which states the purpose for the formal letter</a:t>
            </a:r>
          </a:p>
          <a:p>
            <a:r>
              <a:rPr lang="en-US" dirty="0" smtClean="0"/>
              <a:t>The Body paragraphs: These paragraphs develop the Thesis statement</a:t>
            </a:r>
          </a:p>
          <a:p>
            <a:r>
              <a:rPr lang="en-US" dirty="0" smtClean="0"/>
              <a:t>The Concluding paragraph: It provides a summary of what has </a:t>
            </a:r>
            <a:r>
              <a:rPr lang="en-US" smtClean="0"/>
              <a:t>been discussed.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67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AD9CB2-FA8F-4819-ADB1-C9BC7C60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1"/>
            <a:ext cx="11370365" cy="1690688"/>
          </a:xfrm>
        </p:spPr>
        <p:txBody>
          <a:bodyPr/>
          <a:lstStyle/>
          <a:p>
            <a:r>
              <a:rPr lang="en-US" dirty="0"/>
              <a:t>     The structure of a formal letter                    9/24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939BA5-E673-40FC-A535-553D1777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iii. The body of the letter:</a:t>
            </a:r>
          </a:p>
          <a:p>
            <a:pPr marL="0" indent="0">
              <a:buNone/>
            </a:pPr>
            <a:r>
              <a:rPr lang="en-US" dirty="0"/>
              <a:t>         -  This is where the writer provides in clear sentences the  </a:t>
            </a:r>
          </a:p>
          <a:p>
            <a:pPr marL="0" indent="0">
              <a:buNone/>
            </a:pPr>
            <a:r>
              <a:rPr lang="en-US" dirty="0"/>
              <a:t>                 reason(s) for writing the letter. </a:t>
            </a:r>
          </a:p>
          <a:p>
            <a:pPr marL="0" indent="0">
              <a:buNone/>
            </a:pPr>
            <a:r>
              <a:rPr lang="en-US" dirty="0"/>
              <a:t>         - It is the content of the letter and since it is a formal letter, the </a:t>
            </a:r>
          </a:p>
          <a:p>
            <a:pPr marL="0" indent="0">
              <a:buNone/>
            </a:pPr>
            <a:r>
              <a:rPr lang="en-US" dirty="0"/>
              <a:t>              writer cannot ask of the condition of health of the recipient. </a:t>
            </a:r>
          </a:p>
          <a:p>
            <a:pPr marL="0" indent="0">
              <a:buNone/>
            </a:pPr>
            <a:r>
              <a:rPr lang="en-US" dirty="0"/>
              <a:t>            </a:t>
            </a:r>
          </a:p>
          <a:p>
            <a:pPr marL="0" indent="0">
              <a:buNone/>
            </a:pPr>
            <a:r>
              <a:rPr lang="en-US" dirty="0"/>
              <a:t>        -  The writer needs to go straight to his/her reason(s) for writing.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861E31A-7BB5-4C00-8FA2-63D22955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3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FC7C1E-D4DA-4494-B5A5-D2EE941A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The structure of a formal letter        10/24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F85AED7-566F-47D8-A18B-B88A560A6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1417982"/>
            <a:ext cx="11343861" cy="528761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- The reason(s) for writing should be developed in paragraphs.</a:t>
            </a:r>
          </a:p>
          <a:p>
            <a:pPr marL="0" indent="0" algn="just">
              <a:buNone/>
            </a:pPr>
            <a:r>
              <a:rPr lang="en-US" dirty="0"/>
              <a:t>    - Each sentence in the paragraph should have a clear meaning and </a:t>
            </a:r>
          </a:p>
          <a:p>
            <a:pPr marL="0" indent="0" algn="just">
              <a:buNone/>
            </a:pPr>
            <a:r>
              <a:rPr lang="en-US" dirty="0"/>
              <a:t>         be very brief.</a:t>
            </a:r>
          </a:p>
          <a:p>
            <a:pPr marL="0" indent="0" algn="just">
              <a:buNone/>
            </a:pPr>
            <a:r>
              <a:rPr lang="en-US" dirty="0"/>
              <a:t>     -  Contracted forms such as can’t, I’m, cant, don’t, won’t, etc. should be avoided.</a:t>
            </a:r>
          </a:p>
          <a:p>
            <a:pPr marL="0" indent="0" algn="just">
              <a:buNone/>
            </a:pPr>
            <a:r>
              <a:rPr lang="en-US" dirty="0"/>
              <a:t>     - Thus, use </a:t>
            </a:r>
            <a:r>
              <a:rPr lang="en-US" b="1" i="1" dirty="0"/>
              <a:t>I am</a:t>
            </a:r>
            <a:r>
              <a:rPr lang="en-US" dirty="0"/>
              <a:t>, </a:t>
            </a:r>
            <a:r>
              <a:rPr lang="en-US" b="1" i="1" dirty="0"/>
              <a:t>do not</a:t>
            </a:r>
            <a:r>
              <a:rPr lang="en-US" dirty="0"/>
              <a:t>, </a:t>
            </a:r>
            <a:r>
              <a:rPr lang="en-US" b="1" i="1" dirty="0"/>
              <a:t>cannot</a:t>
            </a:r>
            <a:r>
              <a:rPr lang="en-US" dirty="0"/>
              <a:t>, </a:t>
            </a:r>
            <a:r>
              <a:rPr lang="en-US" b="1" i="1" dirty="0"/>
              <a:t>will not,</a:t>
            </a:r>
            <a:r>
              <a:rPr lang="en-US" dirty="0"/>
              <a:t> etc.</a:t>
            </a:r>
          </a:p>
          <a:p>
            <a:pPr marL="571500" indent="-571500" algn="just">
              <a:buAutoNum type="romanLcPeriod" startAt="4"/>
            </a:pPr>
            <a:r>
              <a:rPr lang="en-US" b="1" i="1" dirty="0"/>
              <a:t>Provide a subscription after the body paragraph(s) are developed:</a:t>
            </a:r>
          </a:p>
          <a:p>
            <a:pPr marL="0" indent="0" algn="just">
              <a:buNone/>
            </a:pPr>
            <a:r>
              <a:rPr lang="en-US" dirty="0"/>
              <a:t>       - There is the need for the writer to disclose his/her identity by </a:t>
            </a:r>
          </a:p>
          <a:p>
            <a:pPr marL="0" indent="0" algn="just">
              <a:buNone/>
            </a:pPr>
            <a:r>
              <a:rPr lang="en-US" dirty="0"/>
              <a:t>         introducing any one of the following:</a:t>
            </a:r>
          </a:p>
          <a:p>
            <a:pPr marL="0" indent="0" algn="just">
              <a:buNone/>
            </a:pPr>
            <a:r>
              <a:rPr lang="en-US" dirty="0"/>
              <a:t>        - Yours faithfully,</a:t>
            </a:r>
          </a:p>
          <a:p>
            <a:pPr marL="0" indent="0" algn="just">
              <a:buNone/>
            </a:pPr>
            <a:r>
              <a:rPr lang="en-US" dirty="0"/>
              <a:t>         - Yours sincerely,</a:t>
            </a:r>
          </a:p>
          <a:p>
            <a:pPr marL="0" indent="0" algn="just">
              <a:buNone/>
            </a:pPr>
            <a:r>
              <a:rPr lang="en-US" dirty="0"/>
              <a:t>         - Yours truly,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A70B8B-15A8-4E2E-9F69-35BB3107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31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4EB2D2-0B0C-477D-8141-543F0F91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7" y="-198783"/>
            <a:ext cx="11065566" cy="1099931"/>
          </a:xfrm>
        </p:spPr>
        <p:txBody>
          <a:bodyPr/>
          <a:lstStyle/>
          <a:p>
            <a:r>
              <a:rPr lang="en-US" dirty="0"/>
              <a:t>The structure of a formal letter                    11/24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09651A-0ED9-4802-8FC3-6C28ED9F7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1086678"/>
            <a:ext cx="11701669" cy="577132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  -  Always ensure that the </a:t>
            </a:r>
            <a:r>
              <a:rPr lang="en-US" b="1" i="1" dirty="0"/>
              <a:t>Y</a:t>
            </a:r>
            <a:r>
              <a:rPr lang="en-US" dirty="0"/>
              <a:t> of </a:t>
            </a:r>
            <a:r>
              <a:rPr lang="en-US" b="1" i="1" dirty="0"/>
              <a:t>Yours</a:t>
            </a:r>
            <a:r>
              <a:rPr lang="en-US" dirty="0"/>
              <a:t> is a capital letter and the </a:t>
            </a:r>
            <a:r>
              <a:rPr lang="en-US" b="1" i="1" dirty="0"/>
              <a:t>f</a:t>
            </a:r>
            <a:r>
              <a:rPr lang="en-US" dirty="0"/>
              <a:t> of </a:t>
            </a:r>
          </a:p>
          <a:p>
            <a:pPr marL="0" indent="0">
              <a:buNone/>
            </a:pPr>
            <a:r>
              <a:rPr lang="en-US" dirty="0"/>
              <a:t>       faithfully is in a lower case alphabet. In the same way, ensure that the </a:t>
            </a:r>
            <a:r>
              <a:rPr lang="en-US" b="1" i="1" dirty="0"/>
              <a:t>s</a:t>
            </a:r>
            <a:r>
              <a:rPr lang="en-US" dirty="0"/>
              <a:t> of 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b="1" i="1" dirty="0"/>
              <a:t>sincerely</a:t>
            </a:r>
            <a:r>
              <a:rPr lang="en-US" dirty="0"/>
              <a:t> and </a:t>
            </a:r>
            <a:r>
              <a:rPr lang="en-US" b="1" i="1" dirty="0"/>
              <a:t>t</a:t>
            </a:r>
            <a:r>
              <a:rPr lang="en-US" dirty="0"/>
              <a:t> of </a:t>
            </a:r>
            <a:r>
              <a:rPr lang="en-US" b="1" i="1" dirty="0"/>
              <a:t>truly</a:t>
            </a:r>
            <a:r>
              <a:rPr lang="en-US" dirty="0"/>
              <a:t> are in lower case alphabets respectively.  </a:t>
            </a:r>
          </a:p>
          <a:p>
            <a:pPr marL="0" indent="0">
              <a:buNone/>
            </a:pPr>
            <a:r>
              <a:rPr lang="en-US" dirty="0"/>
              <a:t>   -  Don’t forget to put a comma after </a:t>
            </a:r>
            <a:r>
              <a:rPr lang="en-US" b="1" i="1" dirty="0"/>
              <a:t>faithfully, sincerely</a:t>
            </a:r>
            <a:r>
              <a:rPr lang="en-US" dirty="0"/>
              <a:t> or </a:t>
            </a:r>
            <a:r>
              <a:rPr lang="en-US" b="1" i="1" dirty="0"/>
              <a:t>truly</a:t>
            </a:r>
            <a:r>
              <a:rPr lang="en-US" dirty="0"/>
              <a:t> if you </a:t>
            </a:r>
          </a:p>
          <a:p>
            <a:pPr marL="0" indent="0">
              <a:buNone/>
            </a:pPr>
            <a:r>
              <a:rPr lang="en-US" dirty="0"/>
              <a:t>       punctuated the two addresses; if not, don’t punctuate the </a:t>
            </a:r>
          </a:p>
          <a:p>
            <a:pPr marL="0" indent="0">
              <a:buNone/>
            </a:pPr>
            <a:r>
              <a:rPr lang="en-US" dirty="0"/>
              <a:t>       subscription as well.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/>
              <a:t>  v. Provide your signature before you add your name:</a:t>
            </a:r>
          </a:p>
          <a:p>
            <a:pPr marL="0" indent="0">
              <a:buNone/>
            </a:pPr>
            <a:r>
              <a:rPr lang="en-US" b="1" i="1" dirty="0"/>
              <a:t> </a:t>
            </a:r>
            <a:r>
              <a:rPr lang="en-US" dirty="0"/>
              <a:t>      - It is assumed that your signature cannot be read and so, </a:t>
            </a:r>
          </a:p>
          <a:p>
            <a:pPr marL="0" indent="0">
              <a:buNone/>
            </a:pPr>
            <a:r>
              <a:rPr lang="en-US" dirty="0"/>
              <a:t>          when you add your name, you are interpreting the signature for </a:t>
            </a:r>
          </a:p>
          <a:p>
            <a:pPr marL="0" indent="0">
              <a:buNone/>
            </a:pPr>
            <a:r>
              <a:rPr lang="en-US" dirty="0"/>
              <a:t>          your recipient to know the name of the writer. </a:t>
            </a:r>
          </a:p>
          <a:p>
            <a:pPr marL="0" indent="0">
              <a:buNone/>
            </a:pPr>
            <a:r>
              <a:rPr lang="en-US" dirty="0"/>
              <a:t>       - It will be </a:t>
            </a:r>
            <a:r>
              <a:rPr lang="en-US" b="1" i="1" dirty="0"/>
              <a:t>unacceptable</a:t>
            </a:r>
            <a:r>
              <a:rPr lang="en-US" dirty="0"/>
              <a:t> and </a:t>
            </a:r>
            <a:r>
              <a:rPr lang="en-US" b="1" i="1" dirty="0"/>
              <a:t>inappropriate</a:t>
            </a:r>
            <a:r>
              <a:rPr lang="en-US" dirty="0"/>
              <a:t> to provide your name before the </a:t>
            </a:r>
          </a:p>
          <a:p>
            <a:pPr marL="0" indent="0">
              <a:buNone/>
            </a:pPr>
            <a:r>
              <a:rPr lang="en-US" dirty="0"/>
              <a:t>          signature.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F93EC41-FDCD-4640-AF7A-020957CC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6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FD10CE-AB47-4888-83FC-23C0A7D9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0" y="365125"/>
            <a:ext cx="11224592" cy="827571"/>
          </a:xfrm>
        </p:spPr>
        <p:txBody>
          <a:bodyPr/>
          <a:lstStyle/>
          <a:p>
            <a:r>
              <a:rPr lang="en-US" dirty="0"/>
              <a:t>       Language of a formal Letter                   12/24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3E68AE3-195C-48B4-A548-2EC0AD31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1404730"/>
            <a:ext cx="11357113" cy="5353879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/>
              <a:t>Formal letters are mostly written to recipients who do not share close </a:t>
            </a:r>
          </a:p>
          <a:p>
            <a:pPr marL="0" indent="0">
              <a:buNone/>
            </a:pPr>
            <a:r>
              <a:rPr lang="en-US" dirty="0"/>
              <a:t>    affinity with the writers of such letters.</a:t>
            </a:r>
          </a:p>
          <a:p>
            <a:pPr>
              <a:buFontTx/>
              <a:buChar char="-"/>
            </a:pPr>
            <a:r>
              <a:rPr lang="en-US" dirty="0"/>
              <a:t>There is a social distance between the writer and recipients. </a:t>
            </a:r>
          </a:p>
          <a:p>
            <a:pPr>
              <a:buFontTx/>
              <a:buChar char="-"/>
            </a:pPr>
            <a:r>
              <a:rPr lang="en-US" dirty="0"/>
              <a:t> This distance relationship, calls for a careful selection of words. </a:t>
            </a:r>
          </a:p>
          <a:p>
            <a:pPr>
              <a:buFontTx/>
              <a:buChar char="-"/>
            </a:pPr>
            <a:r>
              <a:rPr lang="en-US" dirty="0"/>
              <a:t>The writer, in most cases, does not know the recipient and so, the language should be formal.</a:t>
            </a:r>
          </a:p>
          <a:p>
            <a:pPr>
              <a:buFontTx/>
              <a:buChar char="-"/>
            </a:pPr>
            <a:r>
              <a:rPr lang="en-US" dirty="0"/>
              <a:t> </a:t>
            </a:r>
            <a:r>
              <a:rPr lang="en-US" b="1" dirty="0"/>
              <a:t>If the language is formal, it means that the choice of words for communication should be appropriate, polite and acceptable. </a:t>
            </a:r>
          </a:p>
          <a:p>
            <a:pPr>
              <a:buFontTx/>
              <a:buChar char="-"/>
            </a:pPr>
            <a:r>
              <a:rPr lang="en-US" b="1" dirty="0"/>
              <a:t> </a:t>
            </a:r>
            <a:r>
              <a:rPr lang="en-US" dirty="0"/>
              <a:t>Language which is appropriate should  avoid the use of slangs,  </a:t>
            </a:r>
          </a:p>
          <a:p>
            <a:pPr marL="0" indent="0">
              <a:buNone/>
            </a:pPr>
            <a:r>
              <a:rPr lang="en-US" dirty="0"/>
              <a:t>    colloquialism and contracted forms.  </a:t>
            </a:r>
          </a:p>
          <a:p>
            <a:pPr>
              <a:buFontTx/>
              <a:buChar char="-"/>
            </a:pPr>
            <a:r>
              <a:rPr lang="en-US" dirty="0"/>
              <a:t>Language which is polite should avoid insinuating expressions, </a:t>
            </a:r>
          </a:p>
          <a:p>
            <a:pPr marL="0" indent="0">
              <a:buNone/>
            </a:pPr>
            <a:r>
              <a:rPr lang="en-US" dirty="0"/>
              <a:t>    threatening words and provocative remarks.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5E5C363-E986-4CEF-9447-8D7FE361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92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1E8273-E646-4377-89CD-8654DB044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4" y="159026"/>
            <a:ext cx="11423374" cy="1126436"/>
          </a:xfrm>
        </p:spPr>
        <p:txBody>
          <a:bodyPr>
            <a:normAutofit fontScale="90000"/>
          </a:bodyPr>
          <a:lstStyle/>
          <a:p>
            <a:r>
              <a:rPr lang="en-US" dirty="0"/>
              <a:t>AN EXAMPLE OF THE STRUCTURE A FORMAL LETTER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    13/24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A46506-8C36-4600-9AB3-9133855C1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35748" cy="50323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</a:t>
            </a:r>
            <a:r>
              <a:rPr lang="en-US" b="1" dirty="0"/>
              <a:t>1a) </a:t>
            </a:r>
            <a:r>
              <a:rPr lang="en-US" dirty="0"/>
              <a:t>Sender’s address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          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</a:t>
            </a:r>
            <a:r>
              <a:rPr lang="en-US" b="1" dirty="0"/>
              <a:t>1b)</a:t>
            </a:r>
            <a:r>
              <a:rPr lang="en-US" dirty="0"/>
              <a:t> Date</a:t>
            </a:r>
          </a:p>
          <a:p>
            <a:pPr marL="0" indent="0" algn="just">
              <a:buNone/>
            </a:pPr>
            <a:r>
              <a:rPr lang="en-US" b="1" dirty="0"/>
              <a:t>2)</a:t>
            </a:r>
            <a:r>
              <a:rPr lang="en-US" dirty="0"/>
              <a:t> Recipient’s address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/>
              <a:t>     </a:t>
            </a:r>
            <a:r>
              <a:rPr lang="en-US" b="1" dirty="0"/>
              <a:t>3)</a:t>
            </a:r>
            <a:r>
              <a:rPr lang="en-US" dirty="0"/>
              <a:t> Salutation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</a:t>
            </a:r>
            <a:r>
              <a:rPr lang="en-US" b="1" dirty="0"/>
              <a:t>4) </a:t>
            </a:r>
            <a:r>
              <a:rPr lang="en-US" dirty="0"/>
              <a:t>TITLE/HEADING</a:t>
            </a:r>
          </a:p>
          <a:p>
            <a:pPr marL="0" indent="0" algn="just">
              <a:buNone/>
            </a:pPr>
            <a:r>
              <a:rPr lang="en-US" dirty="0"/>
              <a:t>                                 </a:t>
            </a:r>
            <a:r>
              <a:rPr lang="en-US" b="1" dirty="0"/>
              <a:t>5) </a:t>
            </a:r>
            <a:r>
              <a:rPr lang="en-US" dirty="0"/>
              <a:t>INTRODUCTION</a:t>
            </a:r>
          </a:p>
          <a:p>
            <a:pPr marL="0" indent="0" algn="just">
              <a:buNone/>
            </a:pPr>
            <a:r>
              <a:rPr lang="en-US" dirty="0"/>
              <a:t>                                 </a:t>
            </a:r>
            <a:r>
              <a:rPr lang="en-US" b="1" dirty="0"/>
              <a:t>6)</a:t>
            </a:r>
            <a:r>
              <a:rPr lang="en-US" dirty="0"/>
              <a:t> BODY</a:t>
            </a:r>
          </a:p>
          <a:p>
            <a:pPr marL="0" indent="0" algn="just">
              <a:buNone/>
            </a:pPr>
            <a:r>
              <a:rPr lang="en-US" dirty="0"/>
              <a:t>                                 </a:t>
            </a:r>
            <a:r>
              <a:rPr lang="en-US" b="1" dirty="0"/>
              <a:t>7) </a:t>
            </a:r>
            <a:r>
              <a:rPr lang="en-US" dirty="0"/>
              <a:t>CONCLUSION</a:t>
            </a:r>
          </a:p>
          <a:p>
            <a:pPr marL="0" indent="0" algn="just">
              <a:buNone/>
            </a:pPr>
            <a:r>
              <a:rPr lang="en-US" dirty="0"/>
              <a:t>  </a:t>
            </a:r>
            <a:r>
              <a:rPr lang="en-US" b="1" dirty="0"/>
              <a:t>8) </a:t>
            </a:r>
            <a:r>
              <a:rPr lang="en-US" dirty="0"/>
              <a:t>SUBSCRIPTION</a:t>
            </a:r>
          </a:p>
          <a:p>
            <a:pPr marL="0" indent="0" algn="just">
              <a:buNone/>
            </a:pPr>
            <a:r>
              <a:rPr lang="en-US" dirty="0"/>
              <a:t> Yours faithfully,</a:t>
            </a:r>
          </a:p>
          <a:p>
            <a:pPr marL="0" indent="0" algn="just">
              <a:buNone/>
            </a:pPr>
            <a:r>
              <a:rPr lang="en-US" dirty="0"/>
              <a:t>Signature ……….</a:t>
            </a:r>
          </a:p>
          <a:p>
            <a:pPr marL="0" indent="0" algn="just">
              <a:buNone/>
            </a:pPr>
            <a:r>
              <a:rPr lang="en-US" dirty="0"/>
              <a:t>Writer’s full name……..</a:t>
            </a:r>
          </a:p>
          <a:p>
            <a:pPr marL="0" indent="0" algn="just">
              <a:buNone/>
            </a:pPr>
            <a:r>
              <a:rPr lang="en-US" dirty="0"/>
              <a:t>Writer’s title/designation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1E7996E-7810-4388-A376-DCB003DA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3CEAD3-486D-4B50-8EE1-622258DF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OF A FORMAL LETTER        14/24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3C0FB1-8512-4EC1-8B31-08553186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                                                                Department of Communication Studies,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University of Cape Coast,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 Private Mail Bag,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 Cape Coast.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                           29</a:t>
            </a:r>
            <a:r>
              <a:rPr lang="en-US" baseline="30000" dirty="0"/>
              <a:t>th</a:t>
            </a:r>
            <a:r>
              <a:rPr lang="en-US" dirty="0"/>
              <a:t> February, 2020.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Registrar,</a:t>
            </a:r>
          </a:p>
          <a:p>
            <a:pPr marL="0" indent="0" algn="just">
              <a:buNone/>
            </a:pPr>
            <a:r>
              <a:rPr lang="en-US" dirty="0"/>
              <a:t> Academic Board Unit,</a:t>
            </a:r>
          </a:p>
          <a:p>
            <a:pPr marL="0" indent="0" algn="just">
              <a:buNone/>
            </a:pPr>
            <a:r>
              <a:rPr lang="en-US" dirty="0"/>
              <a:t> University of Cape Coast.</a:t>
            </a:r>
          </a:p>
          <a:p>
            <a:pPr marL="0" indent="0" algn="just">
              <a:buNone/>
            </a:pPr>
            <a:r>
              <a:rPr lang="en-US" dirty="0"/>
              <a:t> Cape Coast.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9FAD0B-4D85-4C7E-8139-E091BDA3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09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15B576-1DD8-4C16-AA61-37E3A9D7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13" y="0"/>
            <a:ext cx="11092069" cy="887896"/>
          </a:xfrm>
        </p:spPr>
        <p:txBody>
          <a:bodyPr/>
          <a:lstStyle/>
          <a:p>
            <a:r>
              <a:rPr lang="en-US" dirty="0"/>
              <a:t>AN EXAMPLE OF A FORMAL LETTER    15/24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E752C5-3E42-4060-9427-9A173C8B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1152939"/>
            <a:ext cx="11251095" cy="570506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Dear Sir, </a:t>
            </a:r>
          </a:p>
          <a:p>
            <a:pPr marL="0" indent="0" algn="just">
              <a:buNone/>
            </a:pPr>
            <a:r>
              <a:rPr lang="en-US" dirty="0"/>
              <a:t>             </a:t>
            </a:r>
            <a:r>
              <a:rPr lang="en-US" b="1" i="1" dirty="0"/>
              <a:t> APPLICATION FOR CORRECT SPELLING OF NAME </a:t>
            </a:r>
          </a:p>
          <a:p>
            <a:pPr marL="0" indent="0" algn="just">
              <a:buNone/>
            </a:pPr>
            <a:r>
              <a:rPr lang="en-US" dirty="0"/>
              <a:t>      	 I am </a:t>
            </a:r>
            <a:r>
              <a:rPr lang="en-US" dirty="0" err="1"/>
              <a:t>Obinakaram</a:t>
            </a:r>
            <a:r>
              <a:rPr lang="en-US" dirty="0"/>
              <a:t> </a:t>
            </a:r>
            <a:r>
              <a:rPr lang="en-US" dirty="0" err="1"/>
              <a:t>Echewa</a:t>
            </a:r>
            <a:r>
              <a:rPr lang="en-US" dirty="0"/>
              <a:t>, a first-year university student with index number </a:t>
            </a:r>
          </a:p>
          <a:p>
            <a:pPr marL="0" indent="0" algn="just">
              <a:buNone/>
            </a:pPr>
            <a:r>
              <a:rPr lang="en-US" dirty="0"/>
              <a:t>                 SS /BSS/20/005/. Sir, the purpose of writing this letter is to inform you that my </a:t>
            </a:r>
          </a:p>
          <a:p>
            <a:pPr marL="0" indent="0" algn="just">
              <a:buNone/>
            </a:pPr>
            <a:r>
              <a:rPr lang="en-US" dirty="0"/>
              <a:t>                 name has been wrongly spelt as </a:t>
            </a:r>
            <a:r>
              <a:rPr lang="en-US" dirty="0" err="1"/>
              <a:t>Obinkram</a:t>
            </a:r>
            <a:r>
              <a:rPr lang="en-US" dirty="0"/>
              <a:t> instead of </a:t>
            </a:r>
            <a:r>
              <a:rPr lang="en-US" dirty="0" err="1"/>
              <a:t>Obinakaram</a:t>
            </a:r>
            <a:r>
              <a:rPr lang="en-US" dirty="0"/>
              <a:t> on my </a:t>
            </a:r>
          </a:p>
          <a:p>
            <a:pPr marL="0" indent="0" algn="just">
              <a:buNone/>
            </a:pPr>
            <a:r>
              <a:rPr lang="en-US" dirty="0"/>
              <a:t>                 admission letter and subsequent letters I have been receiving from the university. </a:t>
            </a:r>
          </a:p>
          <a:p>
            <a:pPr marL="0" indent="0" algn="just">
              <a:buNone/>
            </a:pPr>
            <a:r>
              <a:rPr lang="en-US" dirty="0"/>
              <a:t>	</a:t>
            </a:r>
          </a:p>
          <a:p>
            <a:pPr marL="0" indent="0" algn="just">
              <a:buNone/>
            </a:pPr>
            <a:r>
              <a:rPr lang="en-US" dirty="0"/>
              <a:t>                  I would be very grateful if the correct spelling , </a:t>
            </a:r>
            <a:r>
              <a:rPr lang="en-US" dirty="0" err="1"/>
              <a:t>Obinakaram</a:t>
            </a:r>
            <a:r>
              <a:rPr lang="en-US" dirty="0"/>
              <a:t> is used to replace the wrong  one </a:t>
            </a:r>
          </a:p>
          <a:p>
            <a:pPr marL="0" indent="0" algn="just">
              <a:buNone/>
            </a:pPr>
            <a:r>
              <a:rPr lang="en-US" dirty="0"/>
              <a:t>                  since I am not quite sure if it is someone’s name I have been given or it is a mere typographical </a:t>
            </a:r>
          </a:p>
          <a:p>
            <a:pPr marL="0" indent="0" algn="just">
              <a:buNone/>
            </a:pPr>
            <a:r>
              <a:rPr lang="en-US" dirty="0"/>
              <a:t>                   mistake.</a:t>
            </a:r>
          </a:p>
          <a:p>
            <a:pPr marL="0" indent="0" algn="just">
              <a:buNone/>
            </a:pPr>
            <a:r>
              <a:rPr lang="en-US" dirty="0"/>
              <a:t>     	  I hope this letter will be given the needed attention. I count on your co-operation. </a:t>
            </a:r>
          </a:p>
          <a:p>
            <a:pPr marL="0" indent="0" algn="just">
              <a:buNone/>
            </a:pPr>
            <a:r>
              <a:rPr lang="en-US" dirty="0"/>
              <a:t>                   Thank you.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dirty="0"/>
              <a:t>     Yours faithfully,</a:t>
            </a:r>
          </a:p>
          <a:p>
            <a:pPr marL="0" indent="0" algn="just">
              <a:buNone/>
            </a:pPr>
            <a:r>
              <a:rPr lang="en-US" dirty="0"/>
              <a:t>      …………………………</a:t>
            </a:r>
          </a:p>
          <a:p>
            <a:pPr marL="0" indent="0" algn="just">
              <a:buNone/>
            </a:pPr>
            <a:r>
              <a:rPr lang="en-US" dirty="0"/>
              <a:t>     </a:t>
            </a:r>
            <a:r>
              <a:rPr lang="en-US" dirty="0" err="1"/>
              <a:t>Obinakaram</a:t>
            </a:r>
            <a:r>
              <a:rPr lang="en-US" dirty="0"/>
              <a:t>, </a:t>
            </a:r>
            <a:r>
              <a:rPr lang="en-US" dirty="0" err="1"/>
              <a:t>Echewa</a:t>
            </a:r>
            <a:r>
              <a:rPr lang="en-US" dirty="0"/>
              <a:t> ( student). </a:t>
            </a:r>
          </a:p>
          <a:p>
            <a:pPr marL="0" indent="0" algn="just">
              <a:buNone/>
            </a:pPr>
            <a:r>
              <a:rPr lang="en-US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7E9E237-DAE9-4B8B-B650-81E03D88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71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2F323B-D7FC-41B5-BD96-E05B485D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39" y="0"/>
            <a:ext cx="11290851" cy="1258958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DISCUSSING THE FEATURES OF A FORMAL LETTER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16/24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F45659-05A3-4334-BD0C-C4CF09D6E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39" y="1258958"/>
            <a:ext cx="11290852" cy="5599042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Char char="-"/>
            </a:pPr>
            <a:r>
              <a:rPr lang="en-US" dirty="0"/>
              <a:t>Let us examine the features of a formal letter in the letter on slides 15 and 16. </a:t>
            </a:r>
          </a:p>
          <a:p>
            <a:pPr marL="0" indent="0">
              <a:buNone/>
            </a:pPr>
            <a:r>
              <a:rPr lang="en-US" dirty="0"/>
              <a:t> 1. In the first place, you can identify </a:t>
            </a:r>
            <a:r>
              <a:rPr lang="en-US" b="1" i="1" dirty="0"/>
              <a:t>two addresses: </a:t>
            </a:r>
          </a:p>
          <a:p>
            <a:pPr marL="0" indent="0">
              <a:buNone/>
            </a:pPr>
            <a:r>
              <a:rPr lang="en-US" b="1" i="1" dirty="0"/>
              <a:t>                   a) </a:t>
            </a:r>
            <a:r>
              <a:rPr lang="en-US" dirty="0"/>
              <a:t>the writer’s address and the date, and </a:t>
            </a:r>
          </a:p>
          <a:p>
            <a:pPr marL="0" indent="0">
              <a:buNone/>
            </a:pPr>
            <a:r>
              <a:rPr lang="en-US" dirty="0"/>
              <a:t>                   </a:t>
            </a:r>
            <a:r>
              <a:rPr lang="en-US" b="1" i="1" dirty="0"/>
              <a:t>b) </a:t>
            </a:r>
            <a:r>
              <a:rPr lang="en-US" dirty="0"/>
              <a:t>the recipient’s address.</a:t>
            </a:r>
          </a:p>
          <a:p>
            <a:pPr marL="0" indent="0">
              <a:buNone/>
            </a:pPr>
            <a:r>
              <a:rPr lang="en-US" dirty="0"/>
              <a:t>2. Also,  you can find that the writer’s address </a:t>
            </a:r>
            <a:r>
              <a:rPr lang="en-US" b="1" i="1" dirty="0"/>
              <a:t>does not begin with the writer’s </a:t>
            </a:r>
          </a:p>
          <a:p>
            <a:pPr marL="0" indent="0">
              <a:buNone/>
            </a:pPr>
            <a:r>
              <a:rPr lang="en-US" b="1" i="1" dirty="0"/>
              <a:t>             name.</a:t>
            </a:r>
          </a:p>
          <a:p>
            <a:pPr marL="0" indent="0">
              <a:buNone/>
            </a:pPr>
            <a:r>
              <a:rPr lang="en-US" dirty="0"/>
              <a:t>3. The date is placed after the writer’s address and </a:t>
            </a:r>
            <a:r>
              <a:rPr lang="en-US" b="1" i="1" dirty="0"/>
              <a:t>not</a:t>
            </a:r>
            <a:r>
              <a:rPr lang="en-US" dirty="0"/>
              <a:t> the recipient’s </a:t>
            </a:r>
          </a:p>
          <a:p>
            <a:pPr marL="0" indent="0">
              <a:buNone/>
            </a:pPr>
            <a:r>
              <a:rPr lang="en-US" dirty="0"/>
              <a:t>      address.</a:t>
            </a:r>
          </a:p>
          <a:p>
            <a:pPr marL="0" indent="0">
              <a:buNone/>
            </a:pPr>
            <a:r>
              <a:rPr lang="en-US" dirty="0"/>
              <a:t>4. There is a salutation after the recipient’s address. </a:t>
            </a:r>
          </a:p>
          <a:p>
            <a:pPr marL="0" indent="0">
              <a:buNone/>
            </a:pPr>
            <a:r>
              <a:rPr lang="en-US" dirty="0"/>
              <a:t>5. The salutation does not mention Dear Sir/ Madam. It is very important </a:t>
            </a:r>
          </a:p>
          <a:p>
            <a:pPr marL="0" indent="0">
              <a:buNone/>
            </a:pPr>
            <a:r>
              <a:rPr lang="en-US" dirty="0"/>
              <a:t>     that when you know the sex of the addressee, you need not address </a:t>
            </a:r>
          </a:p>
          <a:p>
            <a:pPr marL="0" indent="0">
              <a:buNone/>
            </a:pPr>
            <a:r>
              <a:rPr lang="en-US" dirty="0"/>
              <a:t>    him/her as Dear Sir/ Madam. Use a single sex in most cases. In the   </a:t>
            </a:r>
          </a:p>
          <a:p>
            <a:pPr marL="0" indent="0">
              <a:buNone/>
            </a:pPr>
            <a:r>
              <a:rPr lang="en-US" dirty="0"/>
              <a:t>    salutation above, you know that the Registrar of University of Cape Coast is a male, so, </a:t>
            </a:r>
          </a:p>
          <a:p>
            <a:pPr marL="0" indent="0">
              <a:buNone/>
            </a:pPr>
            <a:r>
              <a:rPr lang="en-US" dirty="0"/>
              <a:t>    you need to use Dear Sir, </a:t>
            </a:r>
            <a:r>
              <a:rPr lang="en-US" b="1" i="1" dirty="0"/>
              <a:t>NOT </a:t>
            </a:r>
            <a:r>
              <a:rPr lang="en-US" dirty="0"/>
              <a:t>Dear Sir/ Madam.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5415581-862F-4E10-B713-4CF26D78A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67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D8A6B7-BE7B-4D97-AD5F-A14522D9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3" y="119271"/>
            <a:ext cx="11343860" cy="1219199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DISCUSSING THE FEATURES OF A FORMAL LETTER   </a:t>
            </a:r>
            <a:br>
              <a:rPr lang="en-US" dirty="0"/>
            </a:br>
            <a:r>
              <a:rPr lang="en-US" dirty="0"/>
              <a:t>                                                                                17/24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731968D-C23B-4D2E-B3EF-75FDC6C41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3" y="1484242"/>
            <a:ext cx="11343860" cy="487210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6. Note that the next item after the salutation is the title/ heading.</a:t>
            </a:r>
          </a:p>
          <a:p>
            <a:pPr marL="0" indent="0" algn="just">
              <a:buNone/>
            </a:pPr>
            <a:r>
              <a:rPr lang="en-US" dirty="0"/>
              <a:t>     - The title should be brief and straight on point. There is no need to </a:t>
            </a:r>
          </a:p>
          <a:p>
            <a:pPr marL="0" indent="0" algn="just">
              <a:buNone/>
            </a:pPr>
            <a:r>
              <a:rPr lang="en-US" dirty="0"/>
              <a:t>        provide a long  and winding title.</a:t>
            </a:r>
          </a:p>
          <a:p>
            <a:pPr marL="0" indent="0" algn="just">
              <a:buNone/>
            </a:pPr>
            <a:r>
              <a:rPr lang="en-US" dirty="0"/>
              <a:t>     - Do not put a full stop after the title because the title you provide is </a:t>
            </a:r>
          </a:p>
          <a:p>
            <a:pPr marL="0" indent="0" algn="just">
              <a:buNone/>
            </a:pPr>
            <a:r>
              <a:rPr lang="en-US" dirty="0"/>
              <a:t>       not a sentence or a statement. The title is a phrase and a phrase </a:t>
            </a:r>
          </a:p>
          <a:p>
            <a:pPr marL="0" indent="0" algn="just">
              <a:buNone/>
            </a:pPr>
            <a:r>
              <a:rPr lang="en-US" dirty="0"/>
              <a:t>       does not take a full stop.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7. The next item is in connection with the introduction.</a:t>
            </a:r>
          </a:p>
          <a:p>
            <a:pPr marL="0" indent="0" algn="just">
              <a:buNone/>
            </a:pPr>
            <a:r>
              <a:rPr lang="en-US" dirty="0"/>
              <a:t>     - Provide a brief introduction about yourself for your recipient to know </a:t>
            </a:r>
          </a:p>
          <a:p>
            <a:pPr marL="0" indent="0" algn="just">
              <a:buNone/>
            </a:pPr>
            <a:r>
              <a:rPr lang="en-US" dirty="0"/>
              <a:t>       who you are, instead of wasting the time to ask of the condition of health </a:t>
            </a:r>
          </a:p>
          <a:p>
            <a:pPr marL="0" indent="0" algn="just">
              <a:buNone/>
            </a:pPr>
            <a:r>
              <a:rPr lang="en-US" dirty="0"/>
              <a:t>       of the recipient. That information will be </a:t>
            </a:r>
            <a:r>
              <a:rPr lang="en-US" b="1" i="1" dirty="0"/>
              <a:t>irrelevant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5061612-5586-440D-B7B3-7163B88C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9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CC8C0D-E8B0-427E-9AA3-B17186BE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453737"/>
          </a:xfrm>
        </p:spPr>
        <p:txBody>
          <a:bodyPr>
            <a:normAutofit fontScale="90000"/>
          </a:bodyPr>
          <a:lstStyle/>
          <a:p>
            <a:r>
              <a:rPr lang="en-US" dirty="0"/>
              <a:t>DISCUSSING THE FEATURES OF A FORMAL LETTER   </a:t>
            </a:r>
            <a:br>
              <a:rPr lang="en-US" dirty="0"/>
            </a:br>
            <a:r>
              <a:rPr lang="en-US" dirty="0"/>
              <a:t>                                                                            18/24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F48E5D-BF56-4A20-836B-A615C046C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96" y="1590261"/>
            <a:ext cx="10770704" cy="516834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8.  The body of the letter is the next item to consider. </a:t>
            </a:r>
          </a:p>
          <a:p>
            <a:pPr marL="0" indent="0" algn="just">
              <a:buNone/>
            </a:pPr>
            <a:r>
              <a:rPr lang="en-US" dirty="0"/>
              <a:t>        - State the reason(s) for writing.</a:t>
            </a:r>
          </a:p>
          <a:p>
            <a:pPr marL="0" indent="0" algn="just">
              <a:buNone/>
            </a:pPr>
            <a:r>
              <a:rPr lang="en-US" dirty="0"/>
              <a:t>        - If it is a piece of information that you need, go ahead and state it.</a:t>
            </a:r>
          </a:p>
          <a:p>
            <a:pPr marL="0" indent="0" algn="just">
              <a:buNone/>
            </a:pPr>
            <a:r>
              <a:rPr lang="en-US" dirty="0"/>
              <a:t>  9.  The conclusion follows the body of the letter.</a:t>
            </a:r>
          </a:p>
          <a:p>
            <a:pPr marL="0" indent="0" algn="just">
              <a:buNone/>
            </a:pPr>
            <a:r>
              <a:rPr lang="en-US" dirty="0"/>
              <a:t>       - Note that this type of conclusion is not used to summarize the content </a:t>
            </a:r>
          </a:p>
          <a:p>
            <a:pPr marL="0" indent="0" algn="just">
              <a:buNone/>
            </a:pPr>
            <a:r>
              <a:rPr lang="en-US" dirty="0"/>
              <a:t>          of the letter. </a:t>
            </a:r>
          </a:p>
          <a:p>
            <a:pPr marL="0" indent="0" algn="just">
              <a:buNone/>
            </a:pPr>
            <a:r>
              <a:rPr lang="en-US" dirty="0"/>
              <a:t>      -  Use this opportunity to acknowledge the ability of the recipient to help  </a:t>
            </a:r>
          </a:p>
          <a:p>
            <a:pPr marL="0" indent="0" algn="just">
              <a:buNone/>
            </a:pPr>
            <a:r>
              <a:rPr lang="en-US" dirty="0"/>
              <a:t>          you get what you need. </a:t>
            </a:r>
          </a:p>
          <a:p>
            <a:pPr marL="0" indent="0" algn="just">
              <a:buNone/>
            </a:pPr>
            <a:r>
              <a:rPr lang="en-US" dirty="0"/>
              <a:t>      - In the example given, you can find that such an acknowledgement is  </a:t>
            </a:r>
          </a:p>
          <a:p>
            <a:pPr marL="0" indent="0" algn="just">
              <a:buNone/>
            </a:pPr>
            <a:r>
              <a:rPr lang="en-US" dirty="0"/>
              <a:t>          stated to demonstrate your trust in the recipient and to thank him/her 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BC91A10-9A9E-4267-BB97-41747FDC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0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005894-8D4F-4257-874E-5547D4D6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DISCUSSING THE FEATURES OF A FORMAL LETTER   </a:t>
            </a:r>
            <a:br>
              <a:rPr lang="en-US" dirty="0"/>
            </a:br>
            <a:r>
              <a:rPr lang="en-US" dirty="0"/>
              <a:t>                                                                            19/24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53EDEF9-060D-4048-AA59-A275EEC4B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10. The next item is the subscription.</a:t>
            </a:r>
          </a:p>
          <a:p>
            <a:pPr marL="0" indent="0">
              <a:buNone/>
            </a:pPr>
            <a:r>
              <a:rPr lang="en-US" dirty="0"/>
              <a:t>       - You ensure that you subscribe by using an impersonal </a:t>
            </a:r>
          </a:p>
          <a:p>
            <a:pPr marL="0" indent="0">
              <a:buNone/>
            </a:pPr>
            <a:r>
              <a:rPr lang="en-US" dirty="0"/>
              <a:t>          subscription such as </a:t>
            </a:r>
            <a:r>
              <a:rPr lang="en-US" b="1" i="1" dirty="0"/>
              <a:t>Yours faithfully,</a:t>
            </a:r>
            <a:r>
              <a:rPr lang="en-US" dirty="0"/>
              <a:t> </a:t>
            </a:r>
            <a:r>
              <a:rPr lang="en-US" b="1" i="1" dirty="0"/>
              <a:t>Yours sincerely </a:t>
            </a:r>
            <a:r>
              <a:rPr lang="en-US" dirty="0"/>
              <a:t>or </a:t>
            </a:r>
            <a:r>
              <a:rPr lang="en-US" b="1" i="1" dirty="0"/>
              <a:t>Yours </a:t>
            </a:r>
          </a:p>
          <a:p>
            <a:pPr marL="0" indent="0">
              <a:buNone/>
            </a:pPr>
            <a:r>
              <a:rPr lang="en-US" b="1" i="1" dirty="0"/>
              <a:t>          truly.</a:t>
            </a:r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r>
              <a:rPr lang="en-US" dirty="0"/>
              <a:t>11. The last item is the title or designation of the writer.</a:t>
            </a:r>
          </a:p>
          <a:p>
            <a:pPr marL="0" indent="0">
              <a:buNone/>
            </a:pPr>
            <a:r>
              <a:rPr lang="en-US" dirty="0"/>
              <a:t>        - In this form of application letter, because the writer wants the </a:t>
            </a:r>
          </a:p>
          <a:p>
            <a:pPr marL="0" indent="0">
              <a:buNone/>
            </a:pPr>
            <a:r>
              <a:rPr lang="en-US" dirty="0"/>
              <a:t>          recipient to recognize him on time, he used </a:t>
            </a:r>
            <a:r>
              <a:rPr lang="en-US" b="1" i="1" dirty="0"/>
              <a:t>student</a:t>
            </a:r>
            <a:r>
              <a:rPr lang="en-US" dirty="0"/>
              <a:t> as </a:t>
            </a:r>
          </a:p>
          <a:p>
            <a:pPr marL="0" indent="0">
              <a:buNone/>
            </a:pPr>
            <a:r>
              <a:rPr lang="en-US" dirty="0"/>
              <a:t>          a designation.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76AC9B-2698-48A4-82D7-A4296AD0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86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D5E862-19D4-40E8-89C6-42ADDAF91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DISCUSSING THE FEATURES OF A FORMAL LETTER   </a:t>
            </a:r>
            <a:br>
              <a:rPr lang="en-US" dirty="0"/>
            </a:br>
            <a:r>
              <a:rPr lang="en-US" dirty="0"/>
              <a:t>                                                                            20/24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976721-011C-4686-AE36-4FDA88E8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1825625"/>
            <a:ext cx="11502887" cy="4667250"/>
          </a:xfrm>
        </p:spPr>
        <p:txBody>
          <a:bodyPr/>
          <a:lstStyle/>
          <a:p>
            <a:pPr algn="just">
              <a:buFontTx/>
              <a:buChar char="-"/>
            </a:pPr>
            <a:r>
              <a:rPr lang="en-US" dirty="0"/>
              <a:t>There is no static title/designation for a writer.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Different titles/designation can be used at different times depending on the writer’s purpose and who he is writing to.</a:t>
            </a:r>
          </a:p>
          <a:p>
            <a:pPr algn="just">
              <a:buFontTx/>
              <a:buChar char="-"/>
            </a:pPr>
            <a:endParaRPr lang="en-US" dirty="0"/>
          </a:p>
          <a:p>
            <a:pPr algn="just">
              <a:buFontTx/>
              <a:buChar char="-"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 A writer can give himself/herself the title of a student and another time, this same writer can use an alumnus/ alumna or a current position he/she holds.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DC335FF-ACEA-41E6-B048-FA4565E2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04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F11F99-930E-4887-87DB-2E916545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9688"/>
          </a:xfrm>
        </p:spPr>
        <p:txBody>
          <a:bodyPr/>
          <a:lstStyle/>
          <a:p>
            <a:r>
              <a:rPr lang="en-US" dirty="0"/>
              <a:t>                      CONCLUSION                     21/24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B1395A-7C75-407E-ABC1-115053DE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" y="887896"/>
            <a:ext cx="12085983" cy="621527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dirty="0"/>
              <a:t>-In this lecture, we considered the following:</a:t>
            </a:r>
          </a:p>
          <a:p>
            <a:pPr marL="0" indent="0">
              <a:buNone/>
            </a:pPr>
            <a:r>
              <a:rPr lang="en-US" sz="3800" dirty="0"/>
              <a:t>     </a:t>
            </a:r>
          </a:p>
          <a:p>
            <a:pPr marL="0" indent="0">
              <a:buNone/>
            </a:pPr>
            <a:r>
              <a:rPr lang="en-US" sz="3800" dirty="0"/>
              <a:t> 1. The meaning of a formal letter,</a:t>
            </a:r>
          </a:p>
          <a:p>
            <a:pPr marL="0" indent="0">
              <a:buNone/>
            </a:pPr>
            <a:r>
              <a:rPr lang="en-US" sz="3800" dirty="0"/>
              <a:t>    </a:t>
            </a:r>
          </a:p>
          <a:p>
            <a:pPr marL="0" indent="0">
              <a:buNone/>
            </a:pPr>
            <a:r>
              <a:rPr lang="en-US" sz="3800" dirty="0"/>
              <a:t>  2. Characteristics/ structure of a formal letter, </a:t>
            </a:r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r>
              <a:rPr lang="en-US" sz="3800" dirty="0"/>
              <a:t>   3. Language of a formal letter and  </a:t>
            </a:r>
          </a:p>
          <a:p>
            <a:pPr marL="0" indent="0">
              <a:buNone/>
            </a:pPr>
            <a:endParaRPr lang="en-US" sz="3800" dirty="0"/>
          </a:p>
          <a:p>
            <a:pPr marL="0" indent="0">
              <a:buNone/>
            </a:pPr>
            <a:r>
              <a:rPr lang="en-US" sz="3800" dirty="0"/>
              <a:t>  4. An example of a formal letter.</a:t>
            </a:r>
          </a:p>
          <a:p>
            <a:pPr marL="0" indent="0">
              <a:buNone/>
            </a:pPr>
            <a:endParaRPr lang="en-US" sz="3800" dirty="0"/>
          </a:p>
          <a:p>
            <a:pPr>
              <a:buFontTx/>
              <a:buChar char="-"/>
            </a:pPr>
            <a:r>
              <a:rPr lang="en-US" sz="3800" dirty="0"/>
              <a:t>It is hoped that you will do a further study on different ways formal letters are written.</a:t>
            </a:r>
          </a:p>
          <a:p>
            <a:pPr>
              <a:buFontTx/>
              <a:buChar char="-"/>
            </a:pPr>
            <a:r>
              <a:rPr lang="en-US" sz="3800" dirty="0"/>
              <a:t> </a:t>
            </a:r>
            <a:r>
              <a:rPr lang="en-US" sz="3800" b="1" dirty="0"/>
              <a:t>ASSIGNMENT</a:t>
            </a:r>
            <a:r>
              <a:rPr lang="en-US" sz="3800" dirty="0"/>
              <a:t>: </a:t>
            </a:r>
            <a:r>
              <a:rPr lang="en-US" sz="3800" dirty="0" smtClean="0"/>
              <a:t>Write a letter to your Head of Department requesting a Letter of Introduction to enable you to do your </a:t>
            </a:r>
          </a:p>
          <a:p>
            <a:pPr marL="0" indent="0">
              <a:buNone/>
            </a:pPr>
            <a:r>
              <a:rPr lang="en-US" sz="3800" dirty="0" smtClean="0"/>
              <a:t>                                Internship in a named organization. </a:t>
            </a:r>
            <a:endParaRPr lang="en-US" sz="3800" dirty="0"/>
          </a:p>
          <a:p>
            <a:pPr>
              <a:buFontTx/>
              <a:buChar char="-"/>
            </a:pPr>
            <a:endParaRPr lang="en-US" sz="3800" dirty="0"/>
          </a:p>
          <a:p>
            <a:pPr>
              <a:buFontTx/>
              <a:buChar char="-"/>
            </a:pPr>
            <a:r>
              <a:rPr lang="en-US" sz="3800" dirty="0"/>
              <a:t> NB:</a:t>
            </a:r>
          </a:p>
          <a:p>
            <a:pPr marL="0" indent="0">
              <a:buNone/>
            </a:pPr>
            <a:r>
              <a:rPr lang="en-US" sz="3800" dirty="0"/>
              <a:t>    </a:t>
            </a:r>
          </a:p>
          <a:p>
            <a:pPr marL="0" indent="0">
              <a:buNone/>
            </a:pPr>
            <a:r>
              <a:rPr lang="en-US" sz="3800" dirty="0"/>
              <a:t> </a:t>
            </a:r>
            <a:r>
              <a:rPr lang="en-US" sz="3800" b="1" dirty="0"/>
              <a:t>PLEASE CHECK THE REFERENCE BOOKS I HAVE ATTACHED AND READ TO ADD TO WHAT WE HAVE LEARNT HERE.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1E4166C-F233-456E-AD05-FE8D90B7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624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011B2D-0D98-4842-A023-546DAE47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CONCLUSION                        22/24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B68E7D-C593-430C-8B84-813B07E29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17" y="1825625"/>
            <a:ext cx="11317357" cy="466725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I believe you have enjoyed your studies with me.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STAY SAFE AT HOME AND DON’T FORGET TO </a:t>
            </a:r>
          </a:p>
          <a:p>
            <a:pPr marL="0" indent="0">
              <a:buNone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STUDY.</a:t>
            </a:r>
          </a:p>
          <a:p>
            <a:pPr>
              <a:buFontTx/>
              <a:buChar char="-"/>
            </a:pPr>
            <a:endParaRPr 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95FE06-8BA2-40C4-A200-8977F2C4E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22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699127-C872-4EA8-90F8-088FC36B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READINGS                              23/24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72B2D7-A59E-49E3-AAA4-58D57D0F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Gborsong</a:t>
            </a:r>
            <a:r>
              <a:rPr lang="en-US" dirty="0"/>
              <a:t>, P. A., </a:t>
            </a:r>
            <a:r>
              <a:rPr lang="en-US" dirty="0" err="1"/>
              <a:t>Gogovi</a:t>
            </a:r>
            <a:r>
              <a:rPr lang="en-US" dirty="0"/>
              <a:t>, G. A. &amp; </a:t>
            </a:r>
            <a:r>
              <a:rPr lang="en-US" dirty="0" err="1"/>
              <a:t>Ocran</a:t>
            </a:r>
            <a:r>
              <a:rPr lang="en-US" dirty="0"/>
              <a:t>, S.K.(2018).</a:t>
            </a:r>
            <a:r>
              <a:rPr lang="en-US" i="1" dirty="0"/>
              <a:t> Advanced writing in  </a:t>
            </a:r>
          </a:p>
          <a:p>
            <a:pPr marL="0" indent="0">
              <a:buNone/>
            </a:pPr>
            <a:r>
              <a:rPr lang="en-US" i="1" dirty="0"/>
              <a:t>                    English.</a:t>
            </a:r>
            <a:r>
              <a:rPr lang="en-US" dirty="0"/>
              <a:t> Ghana: Hampton Printing Press.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Sekyi</a:t>
            </a:r>
            <a:r>
              <a:rPr lang="en-US" dirty="0"/>
              <a:t>- Baidoo, Y. (2000). </a:t>
            </a:r>
            <a:r>
              <a:rPr lang="en-US" i="1" dirty="0"/>
              <a:t>Learning and communication.</a:t>
            </a:r>
            <a:r>
              <a:rPr lang="en-US" dirty="0"/>
              <a:t> Ghana: City </a:t>
            </a:r>
          </a:p>
          <a:p>
            <a:pPr marL="0" indent="0">
              <a:buNone/>
            </a:pPr>
            <a:r>
              <a:rPr lang="en-US" dirty="0"/>
              <a:t>                                   Press Limited.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3DE80D8-8A3A-4D83-A772-0831C0118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82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CCC531-6980-4596-AC42-3237AA6A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9983B7-D4C5-4303-B809-FACACA53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68267C-CFD7-483C-8FAC-D0610617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61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54369-FA30-4E1B-8651-2FE63156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dirty="0">
                <a:latin typeface="Arial Narrow Special G1" panose="050B0506020202030204" pitchFamily="34" charset="2"/>
              </a:rPr>
              <a:t>Compiled by:                           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8FBDF5-8B7D-4D0F-BC4F-9A972221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2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 Narrow Special G1" panose="050B0506020202030204" pitchFamily="34" charset="2"/>
            </a:endParaRPr>
          </a:p>
          <a:p>
            <a:pPr marL="0" indent="0" algn="ctr">
              <a:buNone/>
            </a:pPr>
            <a:r>
              <a:rPr lang="en-US" dirty="0" smtClean="0">
                <a:latin typeface="Arial Narrow Special G1" panose="050B0506020202030204" pitchFamily="34" charset="2"/>
              </a:rPr>
              <a:t>Dr. </a:t>
            </a:r>
            <a:r>
              <a:rPr lang="en-US" dirty="0">
                <a:latin typeface="Arial Narrow Special G1" panose="050B0506020202030204" pitchFamily="34" charset="2"/>
              </a:rPr>
              <a:t>Josephine Brew </a:t>
            </a:r>
            <a:r>
              <a:rPr lang="en-US" dirty="0" smtClean="0">
                <a:latin typeface="Arial Narrow Special G1" panose="050B0506020202030204" pitchFamily="34" charset="2"/>
              </a:rPr>
              <a:t>Daniel (Lecturer),</a:t>
            </a:r>
          </a:p>
          <a:p>
            <a:pPr marL="0" indent="0" algn="ctr">
              <a:buNone/>
            </a:pPr>
            <a:r>
              <a:rPr lang="en-US" dirty="0" smtClean="0">
                <a:latin typeface="Arial Narrow Special G1" panose="050B0506020202030204" pitchFamily="34" charset="2"/>
              </a:rPr>
              <a:t>Department of Communication </a:t>
            </a:r>
            <a:r>
              <a:rPr lang="en-US" dirty="0">
                <a:latin typeface="Arial Narrow Special G1" panose="050B0506020202030204" pitchFamily="34" charset="2"/>
              </a:rPr>
              <a:t>Studies,</a:t>
            </a:r>
          </a:p>
          <a:p>
            <a:pPr marL="0" indent="0" algn="ctr">
              <a:buNone/>
            </a:pPr>
            <a:r>
              <a:rPr lang="en-US" dirty="0" smtClean="0">
                <a:latin typeface="Arial Narrow Special G1" panose="050B0506020202030204" pitchFamily="34" charset="2"/>
              </a:rPr>
              <a:t>University </a:t>
            </a:r>
            <a:r>
              <a:rPr lang="en-US" dirty="0">
                <a:latin typeface="Arial Narrow Special G1" panose="050B0506020202030204" pitchFamily="34" charset="2"/>
              </a:rPr>
              <a:t>of Cape Coast,</a:t>
            </a:r>
          </a:p>
          <a:p>
            <a:pPr marL="0" indent="0" algn="ctr">
              <a:buNone/>
            </a:pPr>
            <a:r>
              <a:rPr lang="en-US" dirty="0" smtClean="0">
                <a:latin typeface="Arial Narrow Special G1" panose="050B0506020202030204" pitchFamily="34" charset="2"/>
              </a:rPr>
              <a:t>Cape </a:t>
            </a:r>
            <a:r>
              <a:rPr lang="en-US" dirty="0">
                <a:latin typeface="Arial Narrow Special G1" panose="050B0506020202030204" pitchFamily="34" charset="2"/>
              </a:rPr>
              <a:t>Coast.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3B652A-07D3-4F81-9022-DA79B09A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0F538-F411-4E94-A96D-4DD537E43FE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55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2371</Words>
  <Application>Microsoft Office PowerPoint</Application>
  <PresentationFormat>Widescreen</PresentationFormat>
  <Paragraphs>312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Narrow Special G1</vt:lpstr>
      <vt:lpstr>Calibri</vt:lpstr>
      <vt:lpstr>Calibri Light</vt:lpstr>
      <vt:lpstr>Times New Roman</vt:lpstr>
      <vt:lpstr>Wingdings</vt:lpstr>
      <vt:lpstr>Office Theme</vt:lpstr>
      <vt:lpstr>WRITING A FORMAL LETTER  </vt:lpstr>
      <vt:lpstr>Why Do We Write a Formal Letter</vt:lpstr>
      <vt:lpstr>                     Introduction                           2/24   </vt:lpstr>
      <vt:lpstr>   What is a formal/ official letter?            3/24</vt:lpstr>
      <vt:lpstr>                 - A formal letter                                        4/24</vt:lpstr>
      <vt:lpstr>Purposes for writing formal letters             5/24</vt:lpstr>
      <vt:lpstr>   Purposes for writing formal letters             6/24</vt:lpstr>
      <vt:lpstr>  The structure of a formal letter               7/24</vt:lpstr>
      <vt:lpstr>     The structure of a formal letter                  8/24</vt:lpstr>
      <vt:lpstr>PowerPoint Presentation</vt:lpstr>
      <vt:lpstr>     The structure of a formal letter                    9/24</vt:lpstr>
      <vt:lpstr>      The structure of a formal letter        10/24</vt:lpstr>
      <vt:lpstr>The structure of a formal letter                    11/24</vt:lpstr>
      <vt:lpstr>       Language of a formal Letter                   12/24</vt:lpstr>
      <vt:lpstr>AN EXAMPLE OF THE STRUCTURE A FORMAL LETTER                                                                                                                                                          13/24</vt:lpstr>
      <vt:lpstr>AN EXAMPLE OF A FORMAL LETTER        14/24 </vt:lpstr>
      <vt:lpstr>AN EXAMPLE OF A FORMAL LETTER    15/24 </vt:lpstr>
      <vt:lpstr>DISCUSSING THE FEATURES OF A FORMAL LETTER                                                                                                                                           16/24 </vt:lpstr>
      <vt:lpstr>DISCUSSING THE FEATURES OF A FORMAL LETTER                                                                                    17/24</vt:lpstr>
      <vt:lpstr>DISCUSSING THE FEATURES OF A FORMAL LETTER                                                                                18/24</vt:lpstr>
      <vt:lpstr>DISCUSSING THE FEATURES OF A FORMAL LETTER                                                                                19/24</vt:lpstr>
      <vt:lpstr>DISCUSSING THE FEATURES OF A FORMAL LETTER                                                                                20/24</vt:lpstr>
      <vt:lpstr>                      CONCLUSION                     21/24</vt:lpstr>
      <vt:lpstr>               CONCLUSION                        22/24</vt:lpstr>
      <vt:lpstr>FURTHER READINGS                              23/24</vt:lpstr>
      <vt:lpstr>PowerPoint Presentation</vt:lpstr>
      <vt:lpstr>                   Compiled by:                          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AN OFFICIAL LETTER, A COURSE FOR LEVEL THREE HUNDRED STUDENTS     1/28</dc:title>
  <dc:creator>JBD</dc:creator>
  <cp:lastModifiedBy>Serwornoo</cp:lastModifiedBy>
  <cp:revision>72</cp:revision>
  <dcterms:created xsi:type="dcterms:W3CDTF">2020-04-03T16:29:21Z</dcterms:created>
  <dcterms:modified xsi:type="dcterms:W3CDTF">2020-04-20T10:10:17Z</dcterms:modified>
</cp:coreProperties>
</file>
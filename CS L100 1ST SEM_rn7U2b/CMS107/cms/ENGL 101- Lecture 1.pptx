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70" r:id="rId13"/>
    <p:sldId id="271" r:id="rId14"/>
    <p:sldId id="272" r:id="rId15"/>
    <p:sldId id="273" r:id="rId16"/>
    <p:sldId id="285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6" r:id="rId27"/>
    <p:sldId id="283" r:id="rId28"/>
    <p:sldId id="284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72969-52BC-7F4D-8DB0-58EC780C067B}" type="datetimeFigureOut">
              <a:rPr lang="en-US" smtClean="0"/>
              <a:pPr/>
              <a:t>2/7/2017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AFCA9-065A-C740-A907-8A843B4B9C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0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AFCA9-065A-C740-A907-8A843B4B9CD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006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6E2DB-DC9A-C54E-AB97-95B008BBCB32}" type="datetimeFigureOut">
              <a:rPr lang="en-US" smtClean="0"/>
              <a:pPr/>
              <a:t>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A8C-BB50-DA4E-8C32-CE10EDD99C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43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6E2DB-DC9A-C54E-AB97-95B008BBCB32}" type="datetimeFigureOut">
              <a:rPr lang="en-US" smtClean="0"/>
              <a:pPr/>
              <a:t>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A8C-BB50-DA4E-8C32-CE10EDD99C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99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6E2DB-DC9A-C54E-AB97-95B008BBCB32}" type="datetimeFigureOut">
              <a:rPr lang="en-US" smtClean="0"/>
              <a:pPr/>
              <a:t>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A8C-BB50-DA4E-8C32-CE10EDD99C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7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6E2DB-DC9A-C54E-AB97-95B008BBCB32}" type="datetimeFigureOut">
              <a:rPr lang="en-US" smtClean="0"/>
              <a:pPr/>
              <a:t>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A8C-BB50-DA4E-8C32-CE10EDD99C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53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6E2DB-DC9A-C54E-AB97-95B008BBCB32}" type="datetimeFigureOut">
              <a:rPr lang="en-US" smtClean="0"/>
              <a:pPr/>
              <a:t>2/7/2017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A8C-BB50-DA4E-8C32-CE10EDD99C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55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6E2DB-DC9A-C54E-AB97-95B008BBCB32}" type="datetimeFigureOut">
              <a:rPr lang="en-US" smtClean="0"/>
              <a:pPr/>
              <a:t>2/7/2017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A8C-BB50-DA4E-8C32-CE10EDD99C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8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6E2DB-DC9A-C54E-AB97-95B008BBCB32}" type="datetimeFigureOut">
              <a:rPr lang="en-US" smtClean="0"/>
              <a:pPr/>
              <a:t>2/7/2017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A8C-BB50-DA4E-8C32-CE10EDD99C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29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6E2DB-DC9A-C54E-AB97-95B008BBCB32}" type="datetimeFigureOut">
              <a:rPr lang="en-US" smtClean="0"/>
              <a:pPr/>
              <a:t>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A8C-BB50-DA4E-8C32-CE10EDD99C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7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6E2DB-DC9A-C54E-AB97-95B008BBCB32}" type="datetimeFigureOut">
              <a:rPr lang="en-US" smtClean="0"/>
              <a:pPr/>
              <a:t>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A8C-BB50-DA4E-8C32-CE10EDD99C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3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6E2DB-DC9A-C54E-AB97-95B008BBCB32}" type="datetimeFigureOut">
              <a:rPr lang="en-US" smtClean="0"/>
              <a:pPr/>
              <a:t>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A8C-BB50-DA4E-8C32-CE10EDD99C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69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6E2DB-DC9A-C54E-AB97-95B008BBCB32}" type="datetimeFigureOut">
              <a:rPr lang="en-US" smtClean="0"/>
              <a:pPr/>
              <a:t>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A8C-BB50-DA4E-8C32-CE10EDD99C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61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6E2DB-DC9A-C54E-AB97-95B008BBCB32}" type="datetimeFigureOut">
              <a:rPr lang="en-US" smtClean="0"/>
              <a:pPr/>
              <a:t>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E9A8C-BB50-DA4E-8C32-CE10EDD99C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2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12879"/>
            <a:ext cx="7772400" cy="1159486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3366FF"/>
                </a:solidFill>
              </a:rPr>
              <a:t>ACCRA INSTITUTE OF TECHNOLOGY</a:t>
            </a:r>
            <a:endParaRPr lang="en-US" dirty="0">
              <a:solidFill>
                <a:srgbClr val="3366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472366"/>
            <a:ext cx="6400800" cy="4914018"/>
          </a:xfrm>
        </p:spPr>
        <p:txBody>
          <a:bodyPr>
            <a:normAutofit/>
          </a:bodyPr>
          <a:lstStyle/>
          <a:p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ENGL 101: English Composition, Writing and Communication Skills I</a:t>
            </a:r>
          </a:p>
          <a:p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284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/>
                <a:ea typeface="ＭＳ 明朝"/>
                <a:cs typeface="Times New Roman"/>
              </a:rPr>
              <a:t>Lecture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this lecture we shall do,</a:t>
            </a:r>
          </a:p>
          <a:p>
            <a:pPr marL="514350" indent="-514350">
              <a:buAutoNum type="arabicPeriod"/>
            </a:pPr>
            <a:r>
              <a:rPr lang="en-US" dirty="0" smtClean="0"/>
              <a:t>Introductions</a:t>
            </a:r>
          </a:p>
          <a:p>
            <a:pPr marL="514350" indent="-514350">
              <a:buAutoNum type="arabicPeriod"/>
            </a:pPr>
            <a:r>
              <a:rPr lang="en-US" dirty="0" smtClean="0"/>
              <a:t>A discussion of the course outline</a:t>
            </a:r>
          </a:p>
          <a:p>
            <a:pPr marL="514350" indent="-514350">
              <a:buAutoNum type="arabicPeriod"/>
            </a:pPr>
            <a:r>
              <a:rPr lang="en-US" dirty="0" smtClean="0"/>
              <a:t>Focus on Nouns</a:t>
            </a:r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94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Nouns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By the end of this lecture, the learner will be able to:</a:t>
            </a:r>
          </a:p>
          <a:p>
            <a:r>
              <a:rPr lang="en-US" dirty="0" smtClean="0"/>
              <a:t>Identify nouns and types of nouns</a:t>
            </a:r>
          </a:p>
          <a:p>
            <a:r>
              <a:rPr lang="en-US" dirty="0" smtClean="0"/>
              <a:t>Identify the functions of nouns in a sentence</a:t>
            </a:r>
          </a:p>
          <a:p>
            <a:r>
              <a:rPr lang="en-US" dirty="0" smtClean="0"/>
              <a:t>State the singular and plural forms of some nouns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6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- a word that names a </a:t>
            </a:r>
          </a:p>
          <a:p>
            <a:pPr>
              <a:buFont typeface="Wingdings" charset="2"/>
              <a:buChar char="§"/>
            </a:pPr>
            <a:r>
              <a:rPr lang="en-US" dirty="0" smtClean="0"/>
              <a:t>Person: </a:t>
            </a:r>
            <a:r>
              <a:rPr lang="en-US" dirty="0" err="1" smtClean="0"/>
              <a:t>Olumide</a:t>
            </a:r>
            <a:r>
              <a:rPr lang="en-US" dirty="0" smtClean="0"/>
              <a:t>, </a:t>
            </a:r>
            <a:r>
              <a:rPr lang="en-US" dirty="0" err="1" smtClean="0"/>
              <a:t>Ama</a:t>
            </a:r>
            <a:r>
              <a:rPr lang="en-US" dirty="0" smtClean="0"/>
              <a:t>, driver, nurse</a:t>
            </a:r>
          </a:p>
          <a:p>
            <a:pPr>
              <a:buFont typeface="Wingdings" charset="2"/>
              <a:buChar char="§"/>
            </a:pPr>
            <a:r>
              <a:rPr lang="en-US" dirty="0" smtClean="0"/>
              <a:t>Place: </a:t>
            </a:r>
            <a:r>
              <a:rPr lang="en-US" dirty="0" err="1" smtClean="0"/>
              <a:t>Oshodi</a:t>
            </a:r>
            <a:r>
              <a:rPr lang="en-US" dirty="0" smtClean="0"/>
              <a:t>, Accra, town, roof</a:t>
            </a:r>
          </a:p>
          <a:p>
            <a:pPr>
              <a:buFont typeface="Wingdings" charset="2"/>
              <a:buChar char="§"/>
            </a:pPr>
            <a:r>
              <a:rPr lang="en-US" dirty="0" smtClean="0"/>
              <a:t>Animal: cat, vulture, salmon</a:t>
            </a:r>
          </a:p>
          <a:p>
            <a:pPr>
              <a:buFont typeface="Wingdings" charset="2"/>
              <a:buChar char="§"/>
            </a:pPr>
            <a:r>
              <a:rPr lang="en-US" dirty="0" smtClean="0"/>
              <a:t>Things: pen, laptop, fan</a:t>
            </a:r>
          </a:p>
          <a:p>
            <a:pPr>
              <a:buFont typeface="Wingdings" charset="2"/>
              <a:buChar char="§"/>
            </a:pPr>
            <a:r>
              <a:rPr lang="en-US" dirty="0" smtClean="0"/>
              <a:t>Idea: honesty, democracy, wisdom</a:t>
            </a:r>
          </a:p>
          <a:p>
            <a:pPr>
              <a:buFont typeface="Wingdings" charset="2"/>
              <a:buChar char="§"/>
            </a:pPr>
            <a:r>
              <a:rPr lang="en-US" dirty="0" smtClean="0"/>
              <a:t>Action: jumping, writing, swimming</a:t>
            </a:r>
          </a:p>
          <a:p>
            <a:pPr>
              <a:buFont typeface="Wingdings" charset="2"/>
              <a:buChar char="§"/>
            </a:pPr>
            <a:r>
              <a:rPr lang="en-US" dirty="0" smtClean="0"/>
              <a:t>Emotion: love, hatred, envy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690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Generally, there are two kinds: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915942"/>
              </p:ext>
            </p:extLst>
          </p:nvPr>
        </p:nvGraphicFramePr>
        <p:xfrm>
          <a:off x="386561" y="2521426"/>
          <a:ext cx="7750463" cy="2914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0551"/>
                <a:gridCol w="3839912"/>
              </a:tblGrid>
              <a:tr h="902826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Proper</a:t>
                      </a:r>
                      <a:r>
                        <a:rPr lang="en-US" sz="3200" baseline="0" dirty="0" smtClean="0"/>
                        <a:t> Nouns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Common Nouns</a:t>
                      </a:r>
                      <a:endParaRPr lang="en-US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400050" indent="-400050">
                        <a:buAutoNum type="romanLcPeriod"/>
                      </a:pPr>
                      <a:r>
                        <a:rPr lang="en-US" dirty="0" smtClean="0"/>
                        <a:t>It names particular person, place or thing</a:t>
                      </a:r>
                    </a:p>
                    <a:p>
                      <a:pPr marL="400050" indent="-400050">
                        <a:buAutoNum type="romanLcPeriod"/>
                      </a:pPr>
                      <a:endParaRPr lang="en-US" dirty="0" smtClean="0"/>
                    </a:p>
                    <a:p>
                      <a:pPr marL="400050" indent="-400050">
                        <a:buAutoNum type="romanLcPeriod"/>
                      </a:pPr>
                      <a:r>
                        <a:rPr lang="en-US" dirty="0" smtClean="0"/>
                        <a:t>It deals with specificity</a:t>
                      </a:r>
                    </a:p>
                    <a:p>
                      <a:pPr marL="400050" indent="-400050">
                        <a:buAutoNum type="romanLcPeriod"/>
                      </a:pPr>
                      <a:endParaRPr lang="en-US" dirty="0" smtClean="0"/>
                    </a:p>
                    <a:p>
                      <a:pPr marL="400050" indent="-400050">
                        <a:buAutoNum type="romanLcPeriod"/>
                      </a:pPr>
                      <a:r>
                        <a:rPr lang="en-US" dirty="0" smtClean="0"/>
                        <a:t>It begins with capital letter whenever it occurs in a sentence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00050" indent="-400050">
                        <a:buAutoNum type="romanLcPeriod"/>
                      </a:pPr>
                      <a:r>
                        <a:rPr lang="en-US" dirty="0" smtClean="0"/>
                        <a:t>It names any person </a:t>
                      </a:r>
                      <a:r>
                        <a:rPr lang="en-US" dirty="0" err="1" smtClean="0"/>
                        <a:t>etc</a:t>
                      </a:r>
                      <a:endParaRPr lang="en-US" dirty="0" smtClean="0"/>
                    </a:p>
                    <a:p>
                      <a:pPr marL="400050" indent="-400050">
                        <a:buAutoNum type="romanLcPeriod"/>
                      </a:pPr>
                      <a:endParaRPr lang="en-US" dirty="0" smtClean="0"/>
                    </a:p>
                    <a:p>
                      <a:pPr marL="400050" indent="-400050">
                        <a:buAutoNum type="romanLcPeriod"/>
                      </a:pPr>
                      <a:r>
                        <a:rPr lang="en-US" dirty="0" smtClean="0"/>
                        <a:t>Generality</a:t>
                      </a:r>
                    </a:p>
                    <a:p>
                      <a:pPr marL="400050" indent="-400050">
                        <a:buAutoNum type="romanLcPeriod"/>
                      </a:pPr>
                      <a:endParaRPr lang="en-US" dirty="0" smtClean="0"/>
                    </a:p>
                    <a:p>
                      <a:pPr marL="400050" indent="-400050">
                        <a:buAutoNum type="romanLcPeriod"/>
                      </a:pPr>
                      <a:r>
                        <a:rPr lang="en-US" dirty="0" smtClean="0"/>
                        <a:t>Begins with small letter …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734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common nouns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6915665"/>
              </p:ext>
            </p:extLst>
          </p:nvPr>
        </p:nvGraphicFramePr>
        <p:xfrm>
          <a:off x="457200" y="1600200"/>
          <a:ext cx="8229600" cy="449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Abstract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Concrete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Collective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400050" indent="-400050">
                        <a:buAutoNum type="romanLcPeriod"/>
                      </a:pPr>
                      <a:r>
                        <a:rPr lang="en-US" baseline="0" dirty="0" smtClean="0"/>
                        <a:t>Names intangibles</a:t>
                      </a:r>
                    </a:p>
                    <a:p>
                      <a:pPr marL="400050" indent="-400050">
                        <a:buAutoNum type="romanLcPeriod"/>
                      </a:pPr>
                      <a:endParaRPr lang="en-US" baseline="0" dirty="0" smtClean="0"/>
                    </a:p>
                    <a:p>
                      <a:pPr marL="400050" indent="-400050">
                        <a:buAutoNum type="romanLcPeriod"/>
                      </a:pPr>
                      <a:r>
                        <a:rPr lang="en-US" baseline="0" dirty="0" smtClean="0"/>
                        <a:t>Referents can’t be seen or touched</a:t>
                      </a:r>
                    </a:p>
                    <a:p>
                      <a:pPr marL="400050" indent="-400050">
                        <a:buAutoNum type="romanLcPeriod"/>
                      </a:pPr>
                      <a:endParaRPr lang="en-US" baseline="0" dirty="0" smtClean="0"/>
                    </a:p>
                    <a:p>
                      <a:pPr marL="400050" indent="-400050">
                        <a:buAutoNum type="romanLcPeriod"/>
                      </a:pPr>
                      <a:r>
                        <a:rPr lang="en-US" baseline="0" dirty="0" smtClean="0"/>
                        <a:t>Generally preceded by the definite article “the” </a:t>
                      </a:r>
                    </a:p>
                    <a:p>
                      <a:pPr marL="0" indent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00050" indent="-400050">
                        <a:buAutoNum type="romanLcPeriod"/>
                      </a:pPr>
                      <a:r>
                        <a:rPr lang="en-US" dirty="0" smtClean="0"/>
                        <a:t>Names tangible things</a:t>
                      </a:r>
                    </a:p>
                    <a:p>
                      <a:pPr marL="400050" indent="-400050">
                        <a:buAutoNum type="romanLcPeriod"/>
                      </a:pPr>
                      <a:endParaRPr lang="en-US" dirty="0" smtClean="0"/>
                    </a:p>
                    <a:p>
                      <a:pPr marL="400050" indent="-400050">
                        <a:buAutoNum type="romanLcPeriod"/>
                      </a:pPr>
                      <a:r>
                        <a:rPr lang="en-US" dirty="0" smtClean="0"/>
                        <a:t>Referents</a:t>
                      </a:r>
                      <a:r>
                        <a:rPr lang="en-US" baseline="0" dirty="0" smtClean="0"/>
                        <a:t> can be seen or touched</a:t>
                      </a:r>
                    </a:p>
                    <a:p>
                      <a:pPr marL="400050" indent="-400050">
                        <a:buAutoNum type="romanLcPeriod"/>
                      </a:pPr>
                      <a:endParaRPr lang="en-US" baseline="0" dirty="0" smtClean="0"/>
                    </a:p>
                    <a:p>
                      <a:pPr marL="400050" indent="-400050">
                        <a:buAutoNum type="romanLcPeriod"/>
                      </a:pPr>
                      <a:r>
                        <a:rPr lang="en-US" baseline="0" dirty="0" smtClean="0"/>
                        <a:t>Are usually preceded by “a”, “an” or “the”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00050" indent="-400050">
                        <a:buAutoNum type="romanLcPeriod"/>
                      </a:pPr>
                      <a:r>
                        <a:rPr lang="en-US" dirty="0" smtClean="0"/>
                        <a:t>Names a group of people/tangibles/intangibles</a:t>
                      </a:r>
                      <a:r>
                        <a:rPr lang="en-US" baseline="0" dirty="0" smtClean="0"/>
                        <a:t> </a:t>
                      </a:r>
                    </a:p>
                    <a:p>
                      <a:pPr marL="400050" indent="-400050">
                        <a:buAutoNum type="romanLcPeriod"/>
                      </a:pPr>
                      <a:endParaRPr lang="en-US" baseline="0" dirty="0" smtClean="0"/>
                    </a:p>
                    <a:p>
                      <a:pPr marL="400050" indent="-400050">
                        <a:buAutoNum type="romanLcPeriod"/>
                      </a:pPr>
                      <a:r>
                        <a:rPr lang="en-US" baseline="0" dirty="0" smtClean="0"/>
                        <a:t>Referents can or not be or seen and or touched</a:t>
                      </a:r>
                    </a:p>
                    <a:p>
                      <a:pPr marL="400050" indent="-400050">
                        <a:buAutoNum type="romanLcPeriod"/>
                      </a:pPr>
                      <a:endParaRPr lang="en-US" baseline="0" dirty="0" smtClean="0"/>
                    </a:p>
                    <a:p>
                      <a:pPr marL="400050" indent="-400050">
                        <a:buAutoNum type="romanLcPeriod"/>
                      </a:pPr>
                      <a:r>
                        <a:rPr lang="en-US" baseline="0" dirty="0" smtClean="0"/>
                        <a:t>May be preceded by “a”, “an” or “the”</a:t>
                      </a:r>
                    </a:p>
                    <a:p>
                      <a:pPr marL="400050" indent="-400050">
                        <a:buAutoNum type="romanLcPeriod"/>
                      </a:pP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Examples: power, courage, loyalty, faith, intelligence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Car, table, door, man,</a:t>
                      </a:r>
                      <a:r>
                        <a:rPr lang="en-US" baseline="0" dirty="0" smtClean="0"/>
                        <a:t> chair, ball, phone, </a:t>
                      </a:r>
                      <a:r>
                        <a:rPr lang="en-US" baseline="0" dirty="0" err="1" smtClean="0"/>
                        <a:t>tv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Shoal, gang, audience, herd, class, army,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smtClean="0"/>
                        <a:t>bevy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Countable and Uncountable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Another classification of nouns; common nouns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760292"/>
              </p:ext>
            </p:extLst>
          </p:nvPr>
        </p:nvGraphicFramePr>
        <p:xfrm>
          <a:off x="1100624" y="2862537"/>
          <a:ext cx="609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Countable nouns</a:t>
                      </a:r>
                    </a:p>
                    <a:p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Un/Non-</a:t>
                      </a:r>
                      <a:r>
                        <a:rPr lang="en-US" baseline="0" dirty="0" smtClean="0"/>
                        <a:t> Countable nouns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-nouns we can count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-nouns cannot be counted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Baby, bird, book, box, child,</a:t>
                      </a:r>
                      <a:r>
                        <a:rPr lang="en-US" baseline="0" dirty="0" smtClean="0"/>
                        <a:t> day, dog, friend, son, village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Air, furniture, health, honesty, water, power, sand,</a:t>
                      </a:r>
                      <a:r>
                        <a:rPr lang="en-US" baseline="0" dirty="0" smtClean="0"/>
                        <a:t> zeal</a:t>
                      </a:r>
                      <a:endParaRPr 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855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nouns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Can occur at the beginning, middle or end of a sentence. Its position determines its functions.  Based on its position, a noun may be:</a:t>
            </a:r>
          </a:p>
          <a:p>
            <a:r>
              <a:rPr lang="en-US" dirty="0" smtClean="0"/>
              <a:t>Subject (grammatical and logical)</a:t>
            </a:r>
          </a:p>
          <a:p>
            <a:r>
              <a:rPr lang="en-US" dirty="0" smtClean="0"/>
              <a:t>Direct object</a:t>
            </a:r>
          </a:p>
          <a:p>
            <a:r>
              <a:rPr lang="en-US" dirty="0" smtClean="0"/>
              <a:t>Indirect object</a:t>
            </a:r>
          </a:p>
          <a:p>
            <a:r>
              <a:rPr lang="en-US" dirty="0" smtClean="0"/>
              <a:t>Complement of a verb</a:t>
            </a:r>
          </a:p>
          <a:p>
            <a:pPr marL="571500" indent="-571500">
              <a:buAutoNum type="romanLcPeriod"/>
            </a:pPr>
            <a:r>
              <a:rPr lang="en-US" dirty="0" smtClean="0"/>
              <a:t>Subject complement</a:t>
            </a:r>
          </a:p>
          <a:p>
            <a:pPr marL="571500" indent="-571500">
              <a:buAutoNum type="romanLcPeriod"/>
            </a:pPr>
            <a:r>
              <a:rPr lang="en-US" dirty="0" smtClean="0"/>
              <a:t>Object complement</a:t>
            </a:r>
          </a:p>
          <a:p>
            <a:r>
              <a:rPr lang="en-US" dirty="0" smtClean="0"/>
              <a:t>Object of a preposition</a:t>
            </a:r>
          </a:p>
          <a:p>
            <a:r>
              <a:rPr lang="en-US" dirty="0" smtClean="0"/>
              <a:t>Apposition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54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Noun as subject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 subject is the noun or pronoun that performs an action in a sentence or that exists in a particular way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The goat </a:t>
            </a:r>
            <a:r>
              <a:rPr lang="en-US" dirty="0" smtClean="0"/>
              <a:t>ate the cassava peel.</a:t>
            </a:r>
          </a:p>
          <a:p>
            <a:r>
              <a:rPr lang="en-US" b="1" dirty="0" err="1" smtClean="0"/>
              <a:t>Pawpaws</a:t>
            </a:r>
            <a:r>
              <a:rPr lang="en-US" dirty="0" smtClean="0"/>
              <a:t> are fruits.</a:t>
            </a:r>
          </a:p>
          <a:p>
            <a:r>
              <a:rPr lang="en-US" b="1" dirty="0" smtClean="0"/>
              <a:t>Some little cows </a:t>
            </a:r>
            <a:r>
              <a:rPr lang="en-US" dirty="0" smtClean="0"/>
              <a:t>kicked the young boy</a:t>
            </a:r>
          </a:p>
          <a:p>
            <a:r>
              <a:rPr lang="en-US" b="1" dirty="0" smtClean="0"/>
              <a:t>Some guys </a:t>
            </a:r>
            <a:r>
              <a:rPr lang="en-US" dirty="0" smtClean="0"/>
              <a:t>were here to look for you.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* ‘are’ and ‘were’ are </a:t>
            </a:r>
            <a:r>
              <a:rPr lang="en-US" dirty="0" err="1" smtClean="0"/>
              <a:t>stative</a:t>
            </a:r>
            <a:r>
              <a:rPr lang="en-US" dirty="0"/>
              <a:t> </a:t>
            </a:r>
            <a:r>
              <a:rPr lang="en-US" dirty="0" smtClean="0"/>
              <a:t>verbs and do not express any action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5282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Kinds of Subjects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Simple subject: a single noun/pronoun</a:t>
            </a:r>
          </a:p>
          <a:p>
            <a:r>
              <a:rPr lang="en-US" dirty="0" smtClean="0"/>
              <a:t>Complete subject: a noun and all words that relate to it</a:t>
            </a:r>
          </a:p>
          <a:p>
            <a:r>
              <a:rPr lang="en-US" dirty="0" smtClean="0"/>
              <a:t>Compound subjects: two or more nouns of the same verb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E.g. SS= The </a:t>
            </a:r>
            <a:r>
              <a:rPr lang="en-US" b="1" dirty="0" smtClean="0"/>
              <a:t>girl</a:t>
            </a:r>
            <a:r>
              <a:rPr lang="en-US" dirty="0" smtClean="0"/>
              <a:t> is brilliant.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dirty="0" err="1" smtClean="0"/>
              <a:t>Ct.S</a:t>
            </a:r>
            <a:r>
              <a:rPr lang="en-US" dirty="0" smtClean="0"/>
              <a:t>= </a:t>
            </a:r>
            <a:r>
              <a:rPr lang="en-US" b="1" dirty="0" smtClean="0"/>
              <a:t>The cute girl </a:t>
            </a:r>
            <a:r>
              <a:rPr lang="en-US" dirty="0" smtClean="0"/>
              <a:t>is brilliant.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CS= </a:t>
            </a:r>
            <a:r>
              <a:rPr lang="en-US" b="1" dirty="0" err="1" smtClean="0"/>
              <a:t>Zinzin</a:t>
            </a:r>
            <a:r>
              <a:rPr lang="en-US" b="1" dirty="0" smtClean="0"/>
              <a:t> and </a:t>
            </a:r>
            <a:r>
              <a:rPr lang="en-US" b="1" dirty="0" err="1" smtClean="0"/>
              <a:t>Dondon</a:t>
            </a:r>
            <a:r>
              <a:rPr lang="en-US" b="1" dirty="0" smtClean="0"/>
              <a:t> </a:t>
            </a:r>
            <a:r>
              <a:rPr lang="en-US" dirty="0" smtClean="0"/>
              <a:t>are brilliant too.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848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Noun as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An object of a verb is either a noun or a pronoun that receives or suffers an action directly or indirectly from the subject. </a:t>
            </a:r>
          </a:p>
          <a:p>
            <a:endParaRPr lang="en-US" dirty="0" smtClean="0"/>
          </a:p>
          <a:p>
            <a:r>
              <a:rPr lang="en-US" dirty="0" smtClean="0"/>
              <a:t>If the noun/pronoun receives the action from the subject directly, then it is a direct object.</a:t>
            </a:r>
          </a:p>
          <a:p>
            <a:endParaRPr lang="en-US" dirty="0" smtClean="0"/>
          </a:p>
          <a:p>
            <a:r>
              <a:rPr lang="en-US" dirty="0"/>
              <a:t>I</a:t>
            </a:r>
            <a:r>
              <a:rPr lang="en-US" dirty="0" smtClean="0"/>
              <a:t>f noun/pronoun receives the action indirectly, it is an indirect object.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52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John</a:t>
            </a:r>
            <a:r>
              <a:rPr lang="en-US" dirty="0" smtClean="0"/>
              <a:t> </a:t>
            </a:r>
            <a:r>
              <a:rPr lang="en-US" dirty="0" smtClean="0"/>
              <a:t>slapped </a:t>
            </a:r>
            <a:r>
              <a:rPr lang="en-US" u="sng" dirty="0" smtClean="0"/>
              <a:t>Luke</a:t>
            </a:r>
            <a:r>
              <a:rPr lang="en-US" dirty="0" smtClean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Direct Obj.</a:t>
            </a:r>
          </a:p>
          <a:p>
            <a:pPr marL="0" indent="0">
              <a:buNone/>
            </a:pPr>
            <a:endParaRPr lang="en-US" u="sng" dirty="0" smtClean="0"/>
          </a:p>
          <a:p>
            <a:r>
              <a:rPr lang="en-US" dirty="0" smtClean="0"/>
              <a:t>Daniel</a:t>
            </a:r>
            <a:r>
              <a:rPr lang="en-US" dirty="0" smtClean="0"/>
              <a:t> </a:t>
            </a:r>
            <a:r>
              <a:rPr lang="en-US" dirty="0" smtClean="0"/>
              <a:t>awarded </a:t>
            </a:r>
            <a:r>
              <a:rPr lang="en-US" u="sng" dirty="0" smtClean="0"/>
              <a:t>Lucy</a:t>
            </a:r>
            <a:r>
              <a:rPr lang="en-US" dirty="0" smtClean="0"/>
              <a:t>    </a:t>
            </a:r>
            <a:r>
              <a:rPr lang="en-US" u="sng" dirty="0" smtClean="0"/>
              <a:t>a trophy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</a:t>
            </a:r>
            <a:r>
              <a:rPr lang="en-US" dirty="0"/>
              <a:t>I</a:t>
            </a:r>
            <a:r>
              <a:rPr lang="en-US" dirty="0" smtClean="0"/>
              <a:t>nd. Obj.  Direct </a:t>
            </a:r>
            <a:r>
              <a:rPr lang="en-US" dirty="0" err="1" smtClean="0"/>
              <a:t>Obj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Anna </a:t>
            </a:r>
            <a:r>
              <a:rPr lang="en-US" dirty="0" smtClean="0"/>
              <a:t>awarded </a:t>
            </a:r>
            <a:r>
              <a:rPr lang="en-US" u="sng" dirty="0" smtClean="0"/>
              <a:t>a trophy </a:t>
            </a:r>
            <a:r>
              <a:rPr lang="en-US" dirty="0" smtClean="0"/>
              <a:t>to </a:t>
            </a:r>
            <a:r>
              <a:rPr lang="en-US" u="sng" dirty="0" smtClean="0"/>
              <a:t>Mark</a:t>
            </a:r>
            <a:r>
              <a:rPr lang="en-US" u="sng" dirty="0" smtClean="0"/>
              <a:t>.</a:t>
            </a:r>
            <a:endParaRPr lang="en-US" u="sng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Direct </a:t>
            </a:r>
            <a:r>
              <a:rPr lang="en-US" dirty="0" err="1"/>
              <a:t>O</a:t>
            </a:r>
            <a:r>
              <a:rPr lang="en-US" dirty="0" err="1" smtClean="0"/>
              <a:t>bj</a:t>
            </a:r>
            <a:r>
              <a:rPr lang="en-US" dirty="0" smtClean="0"/>
              <a:t>    Ind. Obj.</a:t>
            </a:r>
          </a:p>
        </p:txBody>
      </p:sp>
    </p:spTree>
    <p:extLst>
      <p:ext uri="{BB962C8B-B14F-4D97-AF65-F5344CB8AC3E}">
        <p14:creationId xmlns:p14="http://schemas.microsoft.com/office/powerpoint/2010/main" val="822473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Noun as Complement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Generally, a complement is a noun, pronoun, adjective, adverb that completes the meaning initiated by the subject and its verb.</a:t>
            </a:r>
          </a:p>
          <a:p>
            <a:r>
              <a:rPr lang="en-US" dirty="0" smtClean="0"/>
              <a:t>Subj. complement refers to the subject, explains it further, and can replace it.</a:t>
            </a:r>
          </a:p>
          <a:p>
            <a:pPr marL="0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</a:t>
            </a:r>
            <a:r>
              <a:rPr lang="en-US" u="sng" dirty="0" smtClean="0"/>
              <a:t>Professor </a:t>
            </a:r>
            <a:r>
              <a:rPr lang="en-US" u="sng" dirty="0" smtClean="0"/>
              <a:t>Sampson</a:t>
            </a:r>
            <a:r>
              <a:rPr lang="en-US" u="sng" dirty="0" smtClean="0"/>
              <a:t> </a:t>
            </a:r>
            <a:r>
              <a:rPr lang="en-US" dirty="0" smtClean="0"/>
              <a:t>is </a:t>
            </a:r>
            <a:r>
              <a:rPr lang="en-US" u="sng" dirty="0" smtClean="0"/>
              <a:t>a lawyer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Subj.                           Complement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u="sng" dirty="0" smtClean="0"/>
              <a:t>Luke</a:t>
            </a:r>
            <a:r>
              <a:rPr lang="en-US" dirty="0" smtClean="0"/>
              <a:t> </a:t>
            </a:r>
            <a:r>
              <a:rPr lang="en-US" dirty="0" smtClean="0"/>
              <a:t>is </a:t>
            </a:r>
            <a:r>
              <a:rPr lang="en-US" u="sng" dirty="0" smtClean="0"/>
              <a:t>my name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Subj.     Complement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Object complement has direct relationship with the object</a:t>
            </a:r>
          </a:p>
          <a:p>
            <a:pPr marL="0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</a:t>
            </a:r>
            <a:r>
              <a:rPr lang="en-US" u="sng" dirty="0" smtClean="0"/>
              <a:t>They</a:t>
            </a:r>
            <a:r>
              <a:rPr lang="en-US" dirty="0" smtClean="0"/>
              <a:t> always make </a:t>
            </a:r>
            <a:r>
              <a:rPr lang="en-US" u="sng" dirty="0" smtClean="0"/>
              <a:t>her</a:t>
            </a:r>
            <a:r>
              <a:rPr lang="en-US" dirty="0" smtClean="0"/>
              <a:t>            </a:t>
            </a:r>
            <a:r>
              <a:rPr lang="en-US" u="sng" dirty="0" smtClean="0"/>
              <a:t>the secretary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dirty="0" err="1" smtClean="0"/>
              <a:t>Subj</a:t>
            </a:r>
            <a:r>
              <a:rPr lang="en-US" dirty="0" smtClean="0"/>
              <a:t>                          </a:t>
            </a:r>
            <a:r>
              <a:rPr lang="en-US" dirty="0" err="1" smtClean="0"/>
              <a:t>Obj</a:t>
            </a:r>
            <a:r>
              <a:rPr lang="en-US" dirty="0" smtClean="0"/>
              <a:t>            Complement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u="sng" dirty="0" smtClean="0"/>
              <a:t>The judge </a:t>
            </a:r>
            <a:r>
              <a:rPr lang="en-US" dirty="0" smtClean="0"/>
              <a:t>declared </a:t>
            </a:r>
            <a:r>
              <a:rPr lang="en-US" u="sng" dirty="0" smtClean="0"/>
              <a:t>Daniel</a:t>
            </a:r>
            <a:r>
              <a:rPr lang="en-US" dirty="0" smtClean="0"/>
              <a:t>  </a:t>
            </a:r>
            <a:r>
              <a:rPr lang="en-US" u="sng" dirty="0" smtClean="0"/>
              <a:t>the loser.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err="1" smtClean="0"/>
              <a:t>Subj</a:t>
            </a:r>
            <a:r>
              <a:rPr lang="en-US" dirty="0" smtClean="0"/>
              <a:t>                           </a:t>
            </a:r>
            <a:r>
              <a:rPr lang="en-US" dirty="0" err="1" smtClean="0"/>
              <a:t>Obj</a:t>
            </a:r>
            <a:r>
              <a:rPr lang="en-US" dirty="0" smtClean="0"/>
              <a:t>              Complement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6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Noun as Obj. of Preposition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A noun phrase, a noun, pronoun or a gerund that complements the meaning initiated by the preposition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1. They went </a:t>
            </a:r>
            <a:r>
              <a:rPr lang="en-US" u="sng" dirty="0" smtClean="0"/>
              <a:t>to</a:t>
            </a:r>
            <a:r>
              <a:rPr lang="en-US" dirty="0" smtClean="0"/>
              <a:t>      </a:t>
            </a:r>
            <a:r>
              <a:rPr lang="en-US" u="sng" dirty="0" smtClean="0"/>
              <a:t>the stream.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prep  noun phrase (</a:t>
            </a:r>
            <a:r>
              <a:rPr lang="en-US" dirty="0" err="1" smtClean="0"/>
              <a:t>obj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2. Present the cup </a:t>
            </a:r>
            <a:r>
              <a:rPr lang="en-US" u="sng" dirty="0" smtClean="0"/>
              <a:t>to</a:t>
            </a:r>
            <a:r>
              <a:rPr lang="en-US" dirty="0" smtClean="0"/>
              <a:t>      </a:t>
            </a:r>
            <a:r>
              <a:rPr lang="en-US" u="sng" dirty="0" err="1" smtClean="0"/>
              <a:t>Zinzin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prep  noun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3. </a:t>
            </a:r>
            <a:r>
              <a:rPr lang="en-US" dirty="0" err="1" smtClean="0"/>
              <a:t>Dondon</a:t>
            </a:r>
            <a:r>
              <a:rPr lang="en-US" dirty="0" smtClean="0"/>
              <a:t> gave the cup </a:t>
            </a:r>
            <a:r>
              <a:rPr lang="en-US" u="sng" dirty="0" smtClean="0"/>
              <a:t>to</a:t>
            </a:r>
            <a:r>
              <a:rPr lang="en-US" dirty="0" smtClean="0"/>
              <a:t>      </a:t>
            </a:r>
            <a:r>
              <a:rPr lang="en-US" u="sng" dirty="0" smtClean="0"/>
              <a:t>him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   prep pronoun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4. He embraced the idea </a:t>
            </a:r>
            <a:r>
              <a:rPr lang="en-US" u="sng" dirty="0" smtClean="0"/>
              <a:t>with</a:t>
            </a:r>
            <a:r>
              <a:rPr lang="en-US" dirty="0" smtClean="0"/>
              <a:t>   </a:t>
            </a:r>
            <a:r>
              <a:rPr lang="en-US" u="sng" dirty="0" smtClean="0"/>
              <a:t>understanding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    prep   gerund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58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Noun as Apposition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An apposition or appositive= noun or group of words that act as a noun and means the same as the preceding noun and explains 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Tony, </a:t>
            </a:r>
            <a:r>
              <a:rPr lang="en-US" u="sng" dirty="0" smtClean="0"/>
              <a:t>my best friend</a:t>
            </a:r>
            <a:r>
              <a:rPr lang="en-US" dirty="0" smtClean="0"/>
              <a:t>, is brilliant.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Apposition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 smtClean="0"/>
              <a:t>Bobo</a:t>
            </a:r>
            <a:r>
              <a:rPr lang="en-US" dirty="0" smtClean="0"/>
              <a:t>, </a:t>
            </a:r>
            <a:r>
              <a:rPr lang="en-US" u="sng" dirty="0" smtClean="0"/>
              <a:t>the first leader of  Ghana</a:t>
            </a:r>
            <a:r>
              <a:rPr lang="en-US" dirty="0" smtClean="0"/>
              <a:t>, died in 2015.</a:t>
            </a:r>
          </a:p>
          <a:p>
            <a:pPr marL="0" indent="0">
              <a:buNone/>
            </a:pPr>
            <a:r>
              <a:rPr lang="en-US" dirty="0" smtClean="0"/>
              <a:t>               Apposition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Amma’s</a:t>
            </a:r>
            <a:r>
              <a:rPr lang="en-US" dirty="0" smtClean="0"/>
              <a:t> dream, </a:t>
            </a:r>
            <a:r>
              <a:rPr lang="en-US" u="sng" dirty="0" smtClean="0"/>
              <a:t>to visit the Bahamas</a:t>
            </a:r>
            <a:r>
              <a:rPr lang="en-US" dirty="0" smtClean="0"/>
              <a:t>, finally came true.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Apposition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07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6982"/>
            <a:ext cx="8229600" cy="41563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36" y="512618"/>
            <a:ext cx="8936182" cy="63453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 smtClean="0"/>
              <a:t>INDICATE THE NOUNS IN THE FOLLOWING SENTENCES AND STATE THEIR FUNCTIONS AS WELL.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Mr</a:t>
            </a:r>
            <a:r>
              <a:rPr lang="en-US" dirty="0"/>
              <a:t>. Ram leads the </a:t>
            </a:r>
            <a:r>
              <a:rPr lang="en-US" dirty="0" smtClean="0"/>
              <a:t>team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monkeys destroyed the garden. 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 saw him in his office. 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girl returns from school. 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The prefect, </a:t>
            </a:r>
            <a:r>
              <a:rPr lang="en-GB" i="1" dirty="0"/>
              <a:t>John</a:t>
            </a:r>
            <a:r>
              <a:rPr lang="en-GB" dirty="0"/>
              <a:t>, is very hard working.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Rita, </a:t>
            </a:r>
            <a:r>
              <a:rPr lang="en-GB" i="1" dirty="0"/>
              <a:t>my sister</a:t>
            </a:r>
            <a:r>
              <a:rPr lang="en-GB" dirty="0"/>
              <a:t>, lives in </a:t>
            </a:r>
            <a:r>
              <a:rPr lang="en-GB" dirty="0" smtClean="0"/>
              <a:t>Accra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Agya</a:t>
            </a:r>
            <a:r>
              <a:rPr lang="en-GB" dirty="0"/>
              <a:t> </a:t>
            </a:r>
            <a:r>
              <a:rPr lang="en-GB" dirty="0" err="1"/>
              <a:t>koo</a:t>
            </a:r>
            <a:r>
              <a:rPr lang="en-GB" dirty="0"/>
              <a:t> is a </a:t>
            </a:r>
            <a:r>
              <a:rPr lang="en-GB" dirty="0" smtClean="0"/>
              <a:t>comedian.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 smtClean="0"/>
              <a:t>Simon </a:t>
            </a:r>
            <a:r>
              <a:rPr lang="en-GB" dirty="0"/>
              <a:t>has certainly taken my book.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The spectators watched the match</a:t>
            </a:r>
            <a:r>
              <a:rPr lang="en-GB" dirty="0" smtClean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They sent an invitation to </a:t>
            </a:r>
            <a:r>
              <a:rPr lang="en-GB" dirty="0" smtClean="0"/>
              <a:t>the young </a:t>
            </a:r>
            <a:r>
              <a:rPr lang="en-GB" dirty="0"/>
              <a:t>woman. </a:t>
            </a:r>
            <a:endParaRPr lang="en-GB" dirty="0" smtClean="0"/>
          </a:p>
          <a:p>
            <a:pPr lvl="0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6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Plural forms of Nouns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Rule 1.  add ‘s’. The ‘s’ is pronounced as ‘s’ or ‘z’ depending on whether the letter it follows is voiced or voiceless.</a:t>
            </a:r>
          </a:p>
          <a:p>
            <a:pPr marL="0" indent="0">
              <a:buNone/>
            </a:pPr>
            <a:r>
              <a:rPr lang="en-US" dirty="0" smtClean="0"/>
              <a:t>Examples: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740640"/>
              </p:ext>
            </p:extLst>
          </p:nvPr>
        </p:nvGraphicFramePr>
        <p:xfrm>
          <a:off x="457199" y="3809745"/>
          <a:ext cx="8229600" cy="1907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318"/>
                <a:gridCol w="2006434"/>
                <a:gridCol w="3992848"/>
              </a:tblGrid>
              <a:tr h="424307">
                <a:tc>
                  <a:txBody>
                    <a:bodyPr/>
                    <a:lstStyle/>
                    <a:p>
                      <a:r>
                        <a:rPr lang="en-US" dirty="0" smtClean="0"/>
                        <a:t>Voiceless consonant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Voiced consonant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Cups /</a:t>
                      </a:r>
                      <a:r>
                        <a:rPr lang="en-US" dirty="0" err="1" smtClean="0"/>
                        <a:t>kaps</a:t>
                      </a:r>
                      <a:r>
                        <a:rPr lang="en-US" dirty="0" smtClean="0"/>
                        <a:t>/,</a:t>
                      </a:r>
                      <a:r>
                        <a:rPr lang="en-US" baseline="0" dirty="0" smtClean="0"/>
                        <a:t> bulbs /</a:t>
                      </a:r>
                      <a:r>
                        <a:rPr lang="en-US" baseline="0" dirty="0" err="1" smtClean="0"/>
                        <a:t>bulbz</a:t>
                      </a:r>
                      <a:r>
                        <a:rPr lang="en-US" baseline="0" dirty="0" smtClean="0"/>
                        <a:t>/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Belts /belts/, toads</a:t>
                      </a:r>
                      <a:r>
                        <a:rPr lang="en-US" baseline="0" dirty="0" smtClean="0"/>
                        <a:t> /</a:t>
                      </a:r>
                      <a:r>
                        <a:rPr lang="en-US" baseline="0" dirty="0" err="1" smtClean="0"/>
                        <a:t>toadz</a:t>
                      </a:r>
                      <a:r>
                        <a:rPr lang="en-US" baseline="0" dirty="0" smtClean="0"/>
                        <a:t>/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Books</a:t>
                      </a:r>
                      <a:r>
                        <a:rPr lang="en-US" baseline="0" dirty="0" smtClean="0"/>
                        <a:t> /books/,  dogs /</a:t>
                      </a:r>
                      <a:r>
                        <a:rPr lang="en-US" baseline="0" dirty="0" err="1" smtClean="0"/>
                        <a:t>dogz</a:t>
                      </a:r>
                      <a:r>
                        <a:rPr lang="en-US" baseline="0" dirty="0" smtClean="0"/>
                        <a:t>/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Beliefs /beliefs/, loaves /</a:t>
                      </a:r>
                      <a:r>
                        <a:rPr lang="en-US" dirty="0" err="1" smtClean="0"/>
                        <a:t>loavz</a:t>
                      </a:r>
                      <a:r>
                        <a:rPr lang="en-US" dirty="0" smtClean="0"/>
                        <a:t>/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33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Rule 2. The ‘</a:t>
            </a:r>
            <a:r>
              <a:rPr lang="en-US" dirty="0" err="1" smtClean="0"/>
              <a:t>es</a:t>
            </a:r>
            <a:r>
              <a:rPr lang="en-US" dirty="0" smtClean="0"/>
              <a:t>’. </a:t>
            </a:r>
          </a:p>
          <a:p>
            <a:endParaRPr lang="en-US" dirty="0"/>
          </a:p>
          <a:p>
            <a:r>
              <a:rPr lang="en-US" dirty="0" smtClean="0"/>
              <a:t>Singular nouns that end in ‘s’, ‘x’, ‘z’, ‘</a:t>
            </a:r>
            <a:r>
              <a:rPr lang="en-US" dirty="0" err="1" smtClean="0"/>
              <a:t>ch</a:t>
            </a:r>
            <a:r>
              <a:rPr lang="en-US" dirty="0" smtClean="0"/>
              <a:t>’, ‘</a:t>
            </a:r>
            <a:r>
              <a:rPr lang="en-US" dirty="0" err="1" smtClean="0"/>
              <a:t>sh</a:t>
            </a:r>
            <a:r>
              <a:rPr lang="en-US" dirty="0" smtClean="0"/>
              <a:t>’, take ‘</a:t>
            </a:r>
            <a:r>
              <a:rPr lang="en-US" dirty="0" err="1" smtClean="0"/>
              <a:t>es</a:t>
            </a:r>
            <a:r>
              <a:rPr lang="en-US" dirty="0" smtClean="0"/>
              <a:t>’ as plural marker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Examples: Bus- buses; box-boxes, church-churches </a:t>
            </a:r>
            <a:r>
              <a:rPr lang="en-US" dirty="0" err="1" smtClean="0"/>
              <a:t>etc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(Some) singular nouns that end in ‘o’, take ‘</a:t>
            </a:r>
            <a:r>
              <a:rPr lang="en-US" dirty="0" err="1" smtClean="0"/>
              <a:t>es</a:t>
            </a:r>
            <a:r>
              <a:rPr lang="en-US" dirty="0" smtClean="0"/>
              <a:t>’</a:t>
            </a:r>
          </a:p>
          <a:p>
            <a:pPr marL="0" indent="0">
              <a:buNone/>
            </a:pPr>
            <a:r>
              <a:rPr lang="en-US" dirty="0" smtClean="0"/>
              <a:t>Examples: echo-echoes, hero-heroes 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Some singular nouns ending in ‘o’ may take ‘s’ or ‘</a:t>
            </a:r>
            <a:r>
              <a:rPr lang="en-US" dirty="0" err="1" smtClean="0"/>
              <a:t>es</a:t>
            </a:r>
            <a:r>
              <a:rPr lang="en-US" dirty="0" smtClean="0"/>
              <a:t>’ as plural markers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Examples: buffalo-buffalos/</a:t>
            </a:r>
            <a:r>
              <a:rPr lang="en-US" dirty="0" err="1" smtClean="0"/>
              <a:t>es</a:t>
            </a:r>
            <a:r>
              <a:rPr lang="en-US" dirty="0" smtClean="0"/>
              <a:t>, flamingo-flamingos/</a:t>
            </a:r>
            <a:r>
              <a:rPr lang="en-US" dirty="0" err="1" smtClean="0"/>
              <a:t>es</a:t>
            </a:r>
            <a:r>
              <a:rPr lang="en-US" dirty="0" smtClean="0"/>
              <a:t>, volcano-</a:t>
            </a:r>
            <a:r>
              <a:rPr lang="en-US" dirty="0" err="1" smtClean="0"/>
              <a:t>volcanos</a:t>
            </a:r>
            <a:r>
              <a:rPr lang="en-US" dirty="0" smtClean="0"/>
              <a:t>/</a:t>
            </a:r>
            <a:r>
              <a:rPr lang="en-US" dirty="0" err="1" smtClean="0"/>
              <a:t>es</a:t>
            </a:r>
            <a:r>
              <a:rPr lang="en-US" dirty="0" smtClean="0"/>
              <a:t>, commando-commandos/</a:t>
            </a:r>
            <a:r>
              <a:rPr lang="en-US" dirty="0" err="1" smtClean="0"/>
              <a:t>es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34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Rule 3. ‘-</a:t>
            </a:r>
            <a:r>
              <a:rPr lang="en-US" dirty="0" err="1" smtClean="0"/>
              <a:t>ies</a:t>
            </a:r>
            <a:r>
              <a:rPr lang="en-US" dirty="0" smtClean="0"/>
              <a:t>’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Singular nouns that end in ‘y’ take away ‘y’ and replace it with ‘</a:t>
            </a:r>
            <a:r>
              <a:rPr lang="en-US" dirty="0" err="1" smtClean="0"/>
              <a:t>ies</a:t>
            </a:r>
            <a:r>
              <a:rPr lang="en-US" dirty="0" smtClean="0"/>
              <a:t>’</a:t>
            </a:r>
          </a:p>
          <a:p>
            <a:pPr marL="0" indent="0">
              <a:buNone/>
            </a:pPr>
            <a:r>
              <a:rPr lang="en-US" dirty="0" smtClean="0"/>
              <a:t>Examples: baby-babies, lady-ladies, city-cities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 smtClean="0"/>
              <a:t>Exceptions</a:t>
            </a:r>
          </a:p>
          <a:p>
            <a:pPr marL="0" indent="0">
              <a:buNone/>
            </a:pPr>
            <a:r>
              <a:rPr lang="en-US" dirty="0" smtClean="0"/>
              <a:t>-Proper nouns/geographical locations maintain the ‘s’. </a:t>
            </a:r>
            <a:r>
              <a:rPr lang="en-US" dirty="0" err="1" smtClean="0"/>
              <a:t>Eg</a:t>
            </a:r>
            <a:r>
              <a:rPr lang="en-US" dirty="0" smtClean="0"/>
              <a:t>. The Obamas, the two Germanys etc.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-When ‘y’ follows a vowel, it maintains the ‘s’</a:t>
            </a:r>
          </a:p>
          <a:p>
            <a:pPr marL="0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Days, boys, journeys </a:t>
            </a:r>
            <a:r>
              <a:rPr lang="en-US" dirty="0" err="1" smtClean="0"/>
              <a:t>etc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-Numerals. </a:t>
            </a:r>
            <a:r>
              <a:rPr lang="en-US" dirty="0" err="1" smtClean="0"/>
              <a:t>Eg</a:t>
            </a:r>
            <a:r>
              <a:rPr lang="en-US" dirty="0" smtClean="0"/>
              <a:t>. In the 1970s, the 1970’s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-Abbreviations. </a:t>
            </a:r>
            <a:r>
              <a:rPr lang="en-US" dirty="0" err="1" smtClean="0"/>
              <a:t>Eg</a:t>
            </a:r>
            <a:r>
              <a:rPr lang="en-US" dirty="0" smtClean="0"/>
              <a:t>. Two MPs, two MP’s </a:t>
            </a:r>
            <a:r>
              <a:rPr lang="en-US" dirty="0" err="1" smtClean="0"/>
              <a:t>etc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98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Rule 4. ‘</a:t>
            </a:r>
            <a:r>
              <a:rPr lang="en-US" dirty="0" err="1" smtClean="0"/>
              <a:t>ves</a:t>
            </a:r>
            <a:r>
              <a:rPr lang="en-US" dirty="0" smtClean="0"/>
              <a:t>’. </a:t>
            </a:r>
          </a:p>
          <a:p>
            <a:pPr marL="0" indent="0">
              <a:buNone/>
            </a:pPr>
            <a:r>
              <a:rPr lang="en-US" dirty="0" smtClean="0"/>
              <a:t>Singular nouns that end in ‘f’ or ‘</a:t>
            </a:r>
            <a:r>
              <a:rPr lang="en-US" dirty="0" err="1" smtClean="0"/>
              <a:t>fe</a:t>
            </a:r>
            <a:r>
              <a:rPr lang="en-US" dirty="0" smtClean="0"/>
              <a:t>’ change endings to ‘</a:t>
            </a:r>
            <a:r>
              <a:rPr lang="en-US" dirty="0" err="1" smtClean="0"/>
              <a:t>ves</a:t>
            </a:r>
            <a:r>
              <a:rPr lang="en-US" dirty="0" smtClean="0"/>
              <a:t>’</a:t>
            </a:r>
          </a:p>
          <a:p>
            <a:pPr marL="0" indent="0">
              <a:buNone/>
            </a:pPr>
            <a:r>
              <a:rPr lang="en-US" dirty="0" smtClean="0"/>
              <a:t>Examples: calf-calves, wolf-wolves 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 smtClean="0"/>
              <a:t>Exceptions</a:t>
            </a:r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dirty="0"/>
              <a:t>S</a:t>
            </a:r>
            <a:r>
              <a:rPr lang="en-US" dirty="0" smtClean="0"/>
              <a:t>ome maintain ‘s’. </a:t>
            </a:r>
            <a:r>
              <a:rPr lang="en-US" dirty="0" err="1" smtClean="0"/>
              <a:t>Eg</a:t>
            </a:r>
            <a:r>
              <a:rPr lang="en-US" dirty="0" smtClean="0"/>
              <a:t>. Cliffs, beliefs etc.</a:t>
            </a:r>
          </a:p>
          <a:p>
            <a:pPr marL="0" indent="0">
              <a:buNone/>
            </a:pPr>
            <a:r>
              <a:rPr lang="en-US" dirty="0" smtClean="0"/>
              <a:t>-Some take ‘s’ or ‘</a:t>
            </a:r>
            <a:r>
              <a:rPr lang="en-US" dirty="0" err="1" smtClean="0"/>
              <a:t>ves</a:t>
            </a:r>
            <a:r>
              <a:rPr lang="en-US" dirty="0" smtClean="0"/>
              <a:t>’ </a:t>
            </a:r>
            <a:r>
              <a:rPr lang="en-US" dirty="0" err="1" smtClean="0"/>
              <a:t>Eg</a:t>
            </a:r>
            <a:r>
              <a:rPr lang="en-US" dirty="0" smtClean="0"/>
              <a:t>. hoofs/</a:t>
            </a:r>
            <a:r>
              <a:rPr lang="en-US" dirty="0" err="1" smtClean="0"/>
              <a:t>ves</a:t>
            </a:r>
            <a:r>
              <a:rPr lang="en-US" dirty="0" smtClean="0"/>
              <a:t>, scarfs/</a:t>
            </a:r>
            <a:r>
              <a:rPr lang="en-US" dirty="0" err="1" smtClean="0"/>
              <a:t>ves</a:t>
            </a:r>
            <a:r>
              <a:rPr lang="en-US" dirty="0" smtClean="0"/>
              <a:t>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696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Rule 5. ‘en’</a:t>
            </a:r>
          </a:p>
          <a:p>
            <a:pPr marL="0" indent="0">
              <a:buNone/>
            </a:pPr>
            <a:r>
              <a:rPr lang="en-US" dirty="0" smtClean="0"/>
              <a:t>-Occurs in 3 main areas </a:t>
            </a:r>
            <a:r>
              <a:rPr lang="en-US" dirty="0" err="1" smtClean="0"/>
              <a:t>eg</a:t>
            </a:r>
            <a:r>
              <a:rPr lang="en-US" dirty="0" smtClean="0"/>
              <a:t>. Brother- brethren, child-children, ox-oxen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Rule 6. Mutation Plurals: these are formed through change of vowels in the singular noun to form plurals</a:t>
            </a:r>
          </a:p>
          <a:p>
            <a:pPr marL="0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Foot-feet, louse-lice, die-dice etc.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Rule 7: nouns that always end in ‘s’</a:t>
            </a:r>
          </a:p>
          <a:p>
            <a:pPr marL="0" indent="0">
              <a:buNone/>
            </a:pPr>
            <a:r>
              <a:rPr lang="en-US" dirty="0" smtClean="0"/>
              <a:t>Summation plurals: tools, articles or dresses consisting of two equal parts. We use </a:t>
            </a:r>
            <a:r>
              <a:rPr lang="en-US" dirty="0" err="1" smtClean="0"/>
              <a:t>countability</a:t>
            </a:r>
            <a:r>
              <a:rPr lang="en-US" dirty="0" smtClean="0"/>
              <a:t> by means of “a pair of”</a:t>
            </a:r>
          </a:p>
          <a:p>
            <a:pPr marL="0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 a pair of scissors, a pair of tongs, a pair of shorts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Note: three pairs of trousers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86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Others that take just ‘</a:t>
            </a:r>
            <a:r>
              <a:rPr lang="en-US" smtClean="0"/>
              <a:t>s’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-edibles: oats, grapes</a:t>
            </a:r>
          </a:p>
          <a:p>
            <a:pPr marL="0" indent="0">
              <a:buNone/>
            </a:pPr>
            <a:r>
              <a:rPr lang="en-US" dirty="0" smtClean="0"/>
              <a:t>-collective elements: barracks, goods</a:t>
            </a:r>
          </a:p>
          <a:p>
            <a:pPr marL="0" indent="0">
              <a:buNone/>
            </a:pPr>
            <a:r>
              <a:rPr lang="en-US" dirty="0" smtClean="0"/>
              <a:t>-some proper nouns: Netherlands, West Indies</a:t>
            </a:r>
          </a:p>
          <a:p>
            <a:pPr marL="0" indent="0">
              <a:buNone/>
            </a:pPr>
            <a:r>
              <a:rPr lang="en-US" dirty="0" smtClean="0"/>
              <a:t>-some games: cards, draughts</a:t>
            </a:r>
          </a:p>
          <a:p>
            <a:pPr marL="0" indent="0">
              <a:buNone/>
            </a:pPr>
            <a:r>
              <a:rPr lang="en-US" dirty="0" smtClean="0"/>
              <a:t>-sicknesses: measles, rickets</a:t>
            </a:r>
          </a:p>
          <a:p>
            <a:pPr marL="0" indent="0">
              <a:buNone/>
            </a:pPr>
            <a:r>
              <a:rPr lang="en-US" dirty="0" smtClean="0"/>
              <a:t>-nouns relating to money: savings, stocks</a:t>
            </a:r>
          </a:p>
          <a:p>
            <a:pPr marL="0" indent="0">
              <a:buNone/>
            </a:pPr>
            <a:r>
              <a:rPr lang="en-US" dirty="0" smtClean="0"/>
              <a:t>-subject names that end in ‘</a:t>
            </a:r>
            <a:r>
              <a:rPr lang="en-US" dirty="0" err="1" smtClean="0"/>
              <a:t>ics</a:t>
            </a:r>
            <a:r>
              <a:rPr lang="en-US" dirty="0" smtClean="0"/>
              <a:t>’: classics, linguistics, mathematics, phonetics </a:t>
            </a:r>
            <a:r>
              <a:rPr lang="en-US" dirty="0" err="1" smtClean="0"/>
              <a:t>etc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4814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Rule 8: Zero plural marker: don’t take ‘s’ plural marker at all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Examples</a:t>
            </a:r>
          </a:p>
          <a:p>
            <a:pPr marL="0" indent="0">
              <a:buNone/>
            </a:pPr>
            <a:r>
              <a:rPr lang="en-US" dirty="0" smtClean="0"/>
              <a:t>-some species of animals without ‘s’: deer, sheep</a:t>
            </a:r>
          </a:p>
          <a:p>
            <a:pPr marL="0" indent="0">
              <a:buNone/>
            </a:pPr>
            <a:r>
              <a:rPr lang="en-US" dirty="0" smtClean="0"/>
              <a:t>-some species of animals with or without ‘s’: antelope, reindeer, herring</a:t>
            </a:r>
          </a:p>
          <a:p>
            <a:pPr marL="0" indent="0">
              <a:buNone/>
            </a:pPr>
            <a:r>
              <a:rPr lang="en-US" dirty="0" smtClean="0"/>
              <a:t>-those that are completely zero: salmon, grouse</a:t>
            </a:r>
          </a:p>
          <a:p>
            <a:pPr marL="0" indent="0">
              <a:buNone/>
            </a:pPr>
            <a:r>
              <a:rPr lang="en-US" dirty="0" smtClean="0"/>
              <a:t>-nouns of nationalities in ‘</a:t>
            </a:r>
            <a:r>
              <a:rPr lang="en-US" dirty="0" err="1" smtClean="0"/>
              <a:t>ese</a:t>
            </a:r>
            <a:r>
              <a:rPr lang="en-US" dirty="0" smtClean="0"/>
              <a:t>’: Chinese</a:t>
            </a:r>
            <a:r>
              <a:rPr lang="en-US" smtClean="0"/>
              <a:t>, Portuguese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*used more in the context of hunting, but when they are used to refer to denote individuals or species, they take ‘s’ </a:t>
            </a:r>
            <a:r>
              <a:rPr lang="en-US" dirty="0" err="1" smtClean="0"/>
              <a:t>eg</a:t>
            </a:r>
            <a:r>
              <a:rPr lang="en-US" dirty="0" smtClean="0"/>
              <a:t>. Fishes (salmon, tuna, tilapia etc.)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9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Rule 9: nouns with a sense of collectivity: don’t take plural marker ‘s’.</a:t>
            </a:r>
          </a:p>
          <a:p>
            <a:pPr marL="0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Intelligence, information, equipment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Rule 10. Nouns ending in ‘s’ with singular verbs e.g. news, Wales, the United States</a:t>
            </a:r>
          </a:p>
          <a:p>
            <a:endParaRPr lang="en-US" dirty="0"/>
          </a:p>
          <a:p>
            <a:r>
              <a:rPr lang="en-US" dirty="0" smtClean="0"/>
              <a:t>Rule 11. nouns in singular form but followed by plural verbs. </a:t>
            </a:r>
            <a:r>
              <a:rPr lang="en-US" dirty="0" err="1" smtClean="0"/>
              <a:t>Eg</a:t>
            </a:r>
            <a:r>
              <a:rPr lang="en-US" dirty="0" smtClean="0"/>
              <a:t>. People, police</a:t>
            </a:r>
          </a:p>
          <a:p>
            <a:endParaRPr lang="en-US" dirty="0"/>
          </a:p>
          <a:p>
            <a:r>
              <a:rPr lang="en-US" dirty="0" smtClean="0"/>
              <a:t>Rule 12. nouns ending in ‘s’ taking either </a:t>
            </a:r>
            <a:r>
              <a:rPr lang="en-US" smtClean="0"/>
              <a:t>singular or </a:t>
            </a:r>
            <a:r>
              <a:rPr lang="en-US" dirty="0" smtClean="0"/>
              <a:t>plural verbs. </a:t>
            </a:r>
            <a:r>
              <a:rPr lang="en-US" dirty="0" err="1" smtClean="0"/>
              <a:t>Eg</a:t>
            </a:r>
            <a:r>
              <a:rPr lang="en-US" dirty="0" smtClean="0"/>
              <a:t>. Series, species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957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Rule 13. initials, letters or numbers taking ‘s’</a:t>
            </a:r>
          </a:p>
          <a:p>
            <a:pPr marL="0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Initials: D.Js (Disc Jockeys)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Letters: the three </a:t>
            </a:r>
            <a:r>
              <a:rPr lang="en-US" dirty="0" err="1" smtClean="0"/>
              <a:t>Rs</a:t>
            </a:r>
            <a:r>
              <a:rPr lang="en-US" dirty="0"/>
              <a:t> </a:t>
            </a:r>
            <a:r>
              <a:rPr lang="en-US" dirty="0" smtClean="0"/>
              <a:t>(R’s)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Numbers: the 60s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Rule 14. invariable words (adjectives, conjunctions, pronouns) taking ‘s’. </a:t>
            </a:r>
            <a:r>
              <a:rPr lang="en-US" dirty="0" err="1" smtClean="0"/>
              <a:t>eg</a:t>
            </a:r>
            <a:r>
              <a:rPr lang="en-US" dirty="0" smtClean="0"/>
              <a:t>. Ups, downs, ifs, buts</a:t>
            </a:r>
          </a:p>
          <a:p>
            <a:endParaRPr lang="en-US" dirty="0"/>
          </a:p>
          <a:p>
            <a:r>
              <a:rPr lang="en-US" dirty="0" smtClean="0"/>
              <a:t>Rule 15. nouns that only occur in their plural forms. </a:t>
            </a:r>
            <a:r>
              <a:rPr lang="en-US" dirty="0" err="1" smtClean="0"/>
              <a:t>Eg</a:t>
            </a:r>
            <a:r>
              <a:rPr lang="en-US" dirty="0" smtClean="0"/>
              <a:t>. Auspices, customs, the commons</a:t>
            </a:r>
          </a:p>
          <a:p>
            <a:endParaRPr lang="en-US" dirty="0"/>
          </a:p>
          <a:p>
            <a:r>
              <a:rPr lang="en-US" dirty="0" smtClean="0"/>
              <a:t>Rule 16. nouns ending ‘us’ take ‘</a:t>
            </a:r>
            <a:r>
              <a:rPr lang="en-US" dirty="0" err="1" smtClean="0"/>
              <a:t>es</a:t>
            </a:r>
            <a:r>
              <a:rPr lang="en-US" dirty="0" smtClean="0"/>
              <a:t>’. </a:t>
            </a:r>
            <a:r>
              <a:rPr lang="en-US" dirty="0" err="1" smtClean="0"/>
              <a:t>Eg</a:t>
            </a:r>
            <a:r>
              <a:rPr lang="en-US" dirty="0" smtClean="0"/>
              <a:t>. Bonus-bonuses, choruses</a:t>
            </a:r>
          </a:p>
          <a:p>
            <a:endParaRPr lang="en-US" dirty="0"/>
          </a:p>
          <a:p>
            <a:r>
              <a:rPr lang="en-US" dirty="0" smtClean="0"/>
              <a:t>Rule 17. add ‘</a:t>
            </a:r>
            <a:r>
              <a:rPr lang="en-US" dirty="0" err="1" smtClean="0"/>
              <a:t>es</a:t>
            </a:r>
            <a:r>
              <a:rPr lang="en-US" dirty="0" smtClean="0"/>
              <a:t>’ or ‘</a:t>
            </a:r>
            <a:r>
              <a:rPr lang="en-US" smtClean="0"/>
              <a:t>i’ </a:t>
            </a:r>
            <a:r>
              <a:rPr lang="en-US" dirty="0" smtClean="0"/>
              <a:t>to the following nouns ending in ‘us’</a:t>
            </a:r>
          </a:p>
          <a:p>
            <a:pPr marL="0" indent="0">
              <a:buNone/>
            </a:pPr>
            <a:r>
              <a:rPr lang="en-US" dirty="0" smtClean="0"/>
              <a:t>Cactus, focus, syllabus, fungus, nucleus, terminus</a:t>
            </a:r>
          </a:p>
        </p:txBody>
      </p:sp>
    </p:spTree>
    <p:extLst>
      <p:ext uri="{BB962C8B-B14F-4D97-AF65-F5344CB8AC3E}">
        <p14:creationId xmlns:p14="http://schemas.microsoft.com/office/powerpoint/2010/main" val="264578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PUT THE FOLLOWING NOUNS INTO THEIR PLURAL FORMS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544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dirty="0" smtClean="0"/>
              <a:t>The End of lecture 1.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446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Questions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95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</TotalTime>
  <Words>1814</Words>
  <Application>Microsoft Office PowerPoint</Application>
  <PresentationFormat>On-screen Show (4:3)</PresentationFormat>
  <Paragraphs>274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ACCRA INSTITUTE OF TECHNOLOGY</vt:lpstr>
      <vt:lpstr>Lecture 1</vt:lpstr>
      <vt:lpstr>Nouns</vt:lpstr>
      <vt:lpstr>Definition </vt:lpstr>
      <vt:lpstr>Types </vt:lpstr>
      <vt:lpstr>Types of common nouns</vt:lpstr>
      <vt:lpstr>Countable and Uncountable</vt:lpstr>
      <vt:lpstr>Functions of nouns</vt:lpstr>
      <vt:lpstr>Noun as subject</vt:lpstr>
      <vt:lpstr>Kinds of Subjects</vt:lpstr>
      <vt:lpstr>Noun as Object</vt:lpstr>
      <vt:lpstr>Examples </vt:lpstr>
      <vt:lpstr>Noun as Complement</vt:lpstr>
      <vt:lpstr>Noun as Obj. of Preposition</vt:lpstr>
      <vt:lpstr>Noun as Apposition</vt:lpstr>
      <vt:lpstr>EXERCISE</vt:lpstr>
      <vt:lpstr>Plural forms of Nouns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ACCRA INSTITUTE OF TECHNOLOGY</dc:title>
  <dc:creator>POD</dc:creator>
  <cp:lastModifiedBy>click-tech</cp:lastModifiedBy>
  <cp:revision>68</cp:revision>
  <dcterms:created xsi:type="dcterms:W3CDTF">2016-02-08T20:11:04Z</dcterms:created>
  <dcterms:modified xsi:type="dcterms:W3CDTF">2017-02-07T17:36:23Z</dcterms:modified>
</cp:coreProperties>
</file>
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6" r:id="rId9"/>
    <p:sldId id="277" r:id="rId10"/>
    <p:sldId id="263" r:id="rId11"/>
    <p:sldId id="264" r:id="rId12"/>
    <p:sldId id="268" r:id="rId13"/>
    <p:sldId id="269" r:id="rId14"/>
    <p:sldId id="265" r:id="rId15"/>
    <p:sldId id="271" r:id="rId16"/>
    <p:sldId id="278" r:id="rId17"/>
    <p:sldId id="279" r:id="rId18"/>
    <p:sldId id="280" r:id="rId19"/>
    <p:sldId id="281" r:id="rId20"/>
    <p:sldId id="266" r:id="rId21"/>
    <p:sldId id="267" r:id="rId22"/>
    <p:sldId id="272" r:id="rId23"/>
    <p:sldId id="273" r:id="rId24"/>
    <p:sldId id="274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346" autoAdjust="0"/>
  </p:normalViewPr>
  <p:slideViewPr>
    <p:cSldViewPr snapToGrid="0">
      <p:cViewPr varScale="1">
        <p:scale>
          <a:sx n="80" d="100"/>
          <a:sy n="80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7B98CD-F282-46CC-BFF5-2013435C2B37}" type="datetimeFigureOut">
              <a:rPr lang="en-US" smtClean="0"/>
              <a:t>1/24/2023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EF4D8-28FA-4E93-B6F5-26FBECC8B4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160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Mostly face-to-face </a:t>
            </a:r>
          </a:p>
          <a:p>
            <a:endParaRPr lang="en-US" dirty="0"/>
          </a:p>
          <a:p>
            <a:r>
              <a:rPr lang="en-US" dirty="0"/>
              <a:t>Occasionally – online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86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Own a computer </a:t>
            </a:r>
          </a:p>
          <a:p>
            <a:endParaRPr lang="en-US" dirty="0"/>
          </a:p>
          <a:p>
            <a:r>
              <a:rPr lang="en-US" dirty="0"/>
              <a:t>Get access </a:t>
            </a:r>
            <a:r>
              <a:rPr lang="en-US"/>
              <a:t>to free Internet on Campus of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0334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Reasons to major in computing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95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Reasons to major in computing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749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EDP – ELECTRONIC DATA PROCESSING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34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IT skills and computer science skills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F4D8-28FA-4E93-B6F5-26FBECC8B41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773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A432F79-A128-4C1B-868D-4AF4E7FD63A2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83AE9-9E1B-42D2-B154-BF658A0DC082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A05E8-8267-4250-A822-BF812F99F0E8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49354-163B-4019-8270-2F5169E17E14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96209-26D2-4E4E-86F7-A96C5BEC81A6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031FC-D9CA-4253-8512-1730AF429B12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D2EA5-6EAD-46D4-B4FF-B9F69ED2732C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E067-3721-41F4-8061-D2F307B9E287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66DB9-3C41-4D3B-A60C-3D788A9993AE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D9399-C3BA-43D5-8C8E-D06E6631A8C9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83DFC-CEEC-458B-A3F9-BC258915E81F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71C2-BECF-420A-B53E-BE67F851411C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B5ED3-AC5B-4067-B6FF-DA32E9945118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5BBCD-C56C-4EB0-81FC-151F7C42E485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46F4DB-60E0-4A71-A259-3E36D074A960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35D38-0FAE-4BC7-82AA-66D6A3796DDB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3425E-C92E-486A-AADE-6C66D98AF7FB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90E60-5866-4316-B89E-4B68857E05C2}" type="datetime1">
              <a:rPr lang="en-US" smtClean="0"/>
              <a:t>1/24/2023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eattipoe@ucc.edu.gh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2EED-2C8E-E9B6-8EC3-BD22BD379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1378" y="1567542"/>
            <a:ext cx="7249244" cy="124728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/>
              <a:t>CSC101: INTRODUCTION TO COMPUTING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521FE6-ABE1-849E-B625-289C970508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99949" y="3548743"/>
            <a:ext cx="4169608" cy="1655762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ELLIOT ATTIPOE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TEL: 024 387 9458</a:t>
            </a:r>
          </a:p>
          <a:p>
            <a:pPr algn="ctr"/>
            <a:endParaRPr lang="en-US" b="1" dirty="0">
              <a:solidFill>
                <a:schemeClr val="tx1"/>
              </a:solidFill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EMAIL: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eattipoe@ucc.edu.gh</a:t>
            </a:r>
            <a:r>
              <a:rPr lang="en-US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8F372-6650-C164-CAE6-895335B8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645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4BFC-4430-7568-94B8-9001520F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Course 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F758E-A4BA-9D14-4B09-A00110A9C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Topics 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Digital Literacy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Computer Hardware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The Internet &amp; Networks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Digital Safety and Security 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Introduction to Python Programming 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Digital Marketing </a:t>
            </a: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2431D-C2C1-CDED-00FD-F8C92724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889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9C94-CF74-6CE9-C098-6393584D2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cs typeface="Tw Cen MT" panose="020B0602020104020603" pitchFamily="34" charset="0"/>
              </a:rPr>
              <a:t>Assessment 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514F6-E23E-F5EF-5A36-7FCAD5F2A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Continuous Assessment (40%)</a:t>
            </a:r>
          </a:p>
          <a:p>
            <a:pPr lvl="1"/>
            <a:r>
              <a:rPr lang="en-US" sz="3200" dirty="0"/>
              <a:t>Quizzes </a:t>
            </a:r>
          </a:p>
          <a:p>
            <a:pPr lvl="1"/>
            <a:r>
              <a:rPr lang="en-US" sz="3200" dirty="0"/>
              <a:t>Homework </a:t>
            </a:r>
          </a:p>
          <a:p>
            <a:pPr lvl="1"/>
            <a:r>
              <a:rPr lang="en-US" sz="3200" dirty="0"/>
              <a:t>Presentations </a:t>
            </a:r>
          </a:p>
          <a:p>
            <a:pPr lvl="1"/>
            <a:endParaRPr lang="en-US" sz="3200" dirty="0"/>
          </a:p>
          <a:p>
            <a:r>
              <a:rPr lang="en-US" sz="3200" dirty="0"/>
              <a:t>Exams (60%)</a:t>
            </a:r>
          </a:p>
          <a:p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F4586-D7EF-E127-81F8-2CB04990F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326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2CD2E4-C376-BBB7-9402-9BD10475E1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37" b="7954"/>
          <a:stretch/>
        </p:blipFill>
        <p:spPr>
          <a:xfrm>
            <a:off x="0" y="1169232"/>
            <a:ext cx="12192000" cy="527653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08133ED1-AC16-B704-9CAD-062198585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2844" y="243763"/>
            <a:ext cx="9905998" cy="700617"/>
          </a:xfrm>
        </p:spPr>
        <p:txBody>
          <a:bodyPr/>
          <a:lstStyle/>
          <a:p>
            <a:r>
              <a:rPr lang="en-US" b="1" dirty="0"/>
              <a:t>Learning management system (e-learning)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D6CC1D-D3B4-EF0F-E585-C5DC32827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286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1E34-94E3-F9ED-6E36-09C2D2D6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900" y="2068643"/>
            <a:ext cx="5932356" cy="2486832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Why did you choose to study computer science?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903F1-3E08-C949-D7D5-E50B27247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070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FAD4-EE96-F3A2-0B85-742A134C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>
            <a:normAutofit/>
          </a:bodyPr>
          <a:lstStyle/>
          <a:p>
            <a:r>
              <a:rPr lang="en-US" b="1" dirty="0"/>
              <a:t>reasons to major in computing (</a:t>
            </a:r>
            <a:r>
              <a:rPr lang="en-US" b="1" dirty="0" err="1"/>
              <a:t>acm</a:t>
            </a:r>
            <a:r>
              <a:rPr lang="en-US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DA53-E048-A2A2-5FB3-3A67D819B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826913"/>
            <a:ext cx="9905999" cy="3541714"/>
          </a:xfrm>
        </p:spPr>
        <p:txBody>
          <a:bodyPr>
            <a:no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3200" b="0" i="0" dirty="0">
                <a:effectLst/>
              </a:rPr>
              <a:t>Computing is part of everything we do!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200" b="0" i="0" dirty="0">
                <a:effectLst/>
              </a:rPr>
              <a:t>Expertise in computing enables you to solve complex, challenging problems.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200" b="0" i="0" dirty="0">
                <a:effectLst/>
              </a:rPr>
              <a:t>Computing enables you to make a positive difference in the world.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3200" b="0" i="0" dirty="0">
                <a:effectLst/>
              </a:rPr>
              <a:t>Computing offers many types of lucrative careers.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E128C-98FB-5889-1E31-6A128713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067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CFAD4-EE96-F3A2-0B85-742A134C7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b="1" dirty="0"/>
              <a:t>Reasons to major in computing (</a:t>
            </a:r>
            <a:r>
              <a:rPr lang="en-US" b="1" dirty="0" err="1"/>
              <a:t>acm</a:t>
            </a:r>
            <a:r>
              <a:rPr lang="en-US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EDA53-E048-A2A2-5FB3-3A67D819B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268708"/>
            <a:ext cx="9905999" cy="3541714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en-US" sz="3200" b="0" i="0" dirty="0">
                <a:effectLst/>
              </a:rPr>
              <a:t>Computing jobs are here to stay, regardless of where you are located.</a:t>
            </a:r>
          </a:p>
          <a:p>
            <a:pPr marL="457200" indent="-457200" algn="l">
              <a:buFont typeface="+mj-lt"/>
              <a:buAutoNum type="arabicPeriod" startAt="5"/>
            </a:pPr>
            <a:r>
              <a:rPr lang="en-US" sz="3200" b="0" i="0" dirty="0">
                <a:effectLst/>
              </a:rPr>
              <a:t>Computing offers great opportunities for true creativity and innovativeness.</a:t>
            </a:r>
          </a:p>
          <a:p>
            <a:pPr marL="457200" indent="-457200" algn="l">
              <a:buFont typeface="+mj-lt"/>
              <a:buAutoNum type="arabicPeriod" startAt="5"/>
            </a:pPr>
            <a:r>
              <a:rPr lang="en-US" sz="3200" b="0" i="0" dirty="0">
                <a:effectLst/>
              </a:rPr>
              <a:t>Computing is an essential part of well-rounded academic preparation.</a:t>
            </a:r>
          </a:p>
          <a:p>
            <a:pPr marL="457200" indent="-457200" algn="l">
              <a:buFont typeface="+mj-lt"/>
              <a:buAutoNum type="arabicPeriod" startAt="5"/>
            </a:pPr>
            <a:r>
              <a:rPr lang="en-US" sz="3200" b="0" i="0" dirty="0">
                <a:effectLst/>
              </a:rPr>
              <a:t>Future opportunities in computing are without boundaries.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A5A7A-9D55-1235-06FA-9F823949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904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1E34-94E3-F9ED-6E36-09C2D2D6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900" y="2068643"/>
            <a:ext cx="5932356" cy="2486832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What do you want to do with a computer science degree?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72A81A-406D-36A9-3630-89CC909E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814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4CBDCE6-9BE8-BE9A-3113-23B062F8A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51605-009D-DCE4-9BED-19145930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996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51E34-94E3-F9ED-6E36-09C2D2D6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330" y="2038663"/>
            <a:ext cx="9005339" cy="2486832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What is the difference between </a:t>
            </a:r>
            <a:br>
              <a:rPr lang="en-US" sz="5400" dirty="0"/>
            </a:br>
            <a:r>
              <a:rPr lang="en-US" sz="5400" dirty="0"/>
              <a:t>computer science </a:t>
            </a:r>
            <a:br>
              <a:rPr lang="en-US" sz="5400" dirty="0"/>
            </a:br>
            <a:r>
              <a:rPr lang="en-US" sz="5400" dirty="0"/>
              <a:t>and </a:t>
            </a:r>
            <a:br>
              <a:rPr lang="en-US" sz="5400" dirty="0"/>
            </a:br>
            <a:r>
              <a:rPr lang="en-US" sz="5400" dirty="0"/>
              <a:t>information technology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F3AC33-42FB-AC8E-B163-02BC03FC4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925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3E72-1EEB-ACE0-3C90-98B7E301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61318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b="1" dirty="0"/>
              <a:t>CS VS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876A6-E251-A90A-E542-FB5A3A0F1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658143"/>
            <a:ext cx="9905999" cy="3541714"/>
          </a:xfrm>
        </p:spPr>
        <p:txBody>
          <a:bodyPr>
            <a:noAutofit/>
          </a:bodyPr>
          <a:lstStyle/>
          <a:p>
            <a:r>
              <a:rPr lang="en-US" sz="3600" dirty="0"/>
              <a:t>C</a:t>
            </a:r>
            <a:r>
              <a:rPr lang="en-US" sz="3600" b="0" i="0" dirty="0">
                <a:effectLst/>
              </a:rPr>
              <a:t>omputer science refers to designing and building computers and computer programs. </a:t>
            </a:r>
          </a:p>
          <a:p>
            <a:endParaRPr lang="en-US" sz="3600" b="0" i="0" dirty="0">
              <a:effectLst/>
            </a:endParaRPr>
          </a:p>
          <a:p>
            <a:r>
              <a:rPr lang="en-US" sz="3600" b="0" i="0" dirty="0">
                <a:effectLst/>
              </a:rPr>
              <a:t>Information technology refers to maintaining and troubleshooting those computers and their networks, systems, and databases to ensure they run smoothly.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82CEF-D6D6-86AF-8173-558C6DC2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8931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3E72-1EEB-ACE0-3C90-98B7E301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248403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b="1" dirty="0"/>
              <a:t>CS VS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876A6-E251-A90A-E542-FB5A3A0F1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835830"/>
            <a:ext cx="9905999" cy="3541714"/>
          </a:xfrm>
        </p:spPr>
        <p:txBody>
          <a:bodyPr>
            <a:noAutofit/>
          </a:bodyPr>
          <a:lstStyle/>
          <a:p>
            <a:r>
              <a:rPr lang="en-US" sz="3200" dirty="0"/>
              <a:t>I</a:t>
            </a:r>
            <a:r>
              <a:rPr lang="en-US" sz="3200" b="0" i="0" dirty="0">
                <a:effectLst/>
              </a:rPr>
              <a:t>nformation technology) careers are more about installing, maintaining, and improving computer systems, operating networks, and databases. </a:t>
            </a:r>
          </a:p>
          <a:p>
            <a:endParaRPr lang="en-US" sz="3200" b="0" i="0" dirty="0">
              <a:effectLst/>
            </a:endParaRPr>
          </a:p>
          <a:p>
            <a:r>
              <a:rPr lang="en-US" sz="3200" b="0" i="0" dirty="0">
                <a:effectLst/>
              </a:rPr>
              <a:t>Computer science (CS) focuses on using mathematics to program systems to run more efficiently, including in design and development.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F50E2-B471-C4A2-3578-157424C5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130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93E72-1EEB-ACE0-3C90-98B7E3017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041" y="226633"/>
            <a:ext cx="9905998" cy="1478570"/>
          </a:xfrm>
        </p:spPr>
        <p:txBody>
          <a:bodyPr>
            <a:normAutofit/>
          </a:bodyPr>
          <a:lstStyle/>
          <a:p>
            <a:r>
              <a:rPr lang="en-US" sz="4400" b="1" dirty="0"/>
              <a:t>CS VS 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876A6-E251-A90A-E542-FB5A3A0F1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2040" y="1313317"/>
            <a:ext cx="9905999" cy="3541714"/>
          </a:xfrm>
        </p:spPr>
        <p:txBody>
          <a:bodyPr>
            <a:noAutofit/>
          </a:bodyPr>
          <a:lstStyle/>
          <a:p>
            <a:r>
              <a:rPr lang="en-US" sz="3200" dirty="0"/>
              <a:t>C</a:t>
            </a:r>
            <a:r>
              <a:rPr lang="en-US" sz="3200" b="0" i="0" dirty="0">
                <a:effectLst/>
              </a:rPr>
              <a:t>omputer science professionals use mathematics to develop and improve computer programs. </a:t>
            </a:r>
          </a:p>
          <a:p>
            <a:r>
              <a:rPr lang="en-US" sz="3200" b="0" i="0" dirty="0">
                <a:effectLst/>
              </a:rPr>
              <a:t>IT professionals install, implement, and maintain these programs and apply them to businesses. </a:t>
            </a:r>
          </a:p>
          <a:p>
            <a:r>
              <a:rPr lang="en-US" sz="3200" b="0" i="0" dirty="0">
                <a:effectLst/>
              </a:rPr>
              <a:t>Computer science professionals use skills in mathematics and theories to make information technology possible</a:t>
            </a:r>
          </a:p>
          <a:p>
            <a:r>
              <a:rPr lang="en-US" sz="3200" b="0" i="0" dirty="0">
                <a:effectLst/>
              </a:rPr>
              <a:t>IT professionals use skills to communicate with businesses to meet their needs through technology.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8CEF6-574E-4C80-AA31-F34DA1DE9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44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96CBF-57E7-8157-F8D5-1444C25F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39547"/>
            <a:ext cx="9905998" cy="1478570"/>
          </a:xfrm>
        </p:spPr>
        <p:txBody>
          <a:bodyPr/>
          <a:lstStyle/>
          <a:p>
            <a:r>
              <a:rPr lang="en-US" b="1" i="0" dirty="0">
                <a:effectLst/>
                <a:latin typeface="Source Sans Pro" panose="020B0503030403020204" pitchFamily="34" charset="0"/>
              </a:rPr>
              <a:t>Computer science vs. IT careers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EEB6E-2CBA-9CB3-ABFB-1BB1B5E5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770516"/>
            <a:ext cx="9905999" cy="3541714"/>
          </a:xfrm>
        </p:spPr>
        <p:txBody>
          <a:bodyPr>
            <a:noAutofit/>
          </a:bodyPr>
          <a:lstStyle/>
          <a:p>
            <a:r>
              <a:rPr lang="en-US" sz="3200" b="0" i="0" dirty="0">
                <a:effectLst/>
              </a:rPr>
              <a:t>Jobs grounded in computer science will broadly mean working with programming languages or data to develop or improve products. </a:t>
            </a:r>
          </a:p>
          <a:p>
            <a:endParaRPr lang="en-US" sz="3200" b="0" i="0" dirty="0">
              <a:effectLst/>
            </a:endParaRPr>
          </a:p>
          <a:p>
            <a:r>
              <a:rPr lang="en-US" sz="3200" b="0" i="0" dirty="0">
                <a:effectLst/>
              </a:rPr>
              <a:t>Jobs in IT will focus more heavily on the operation of computers, their networks, and systems, so that others in an organization can do their work smoothly.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3483CC-FFE7-6ADF-0502-067F18A6C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7918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E0116B0-68C3-6D6B-FEC5-2E79216B8A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2" t="27108" r="62869" b="16452"/>
          <a:stretch/>
        </p:blipFill>
        <p:spPr>
          <a:xfrm>
            <a:off x="6226089" y="1109608"/>
            <a:ext cx="5081491" cy="46387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E0962BC-6263-FA84-9D33-CEA4099440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19" t="23127" r="63483" b="20433"/>
          <a:stretch/>
        </p:blipFill>
        <p:spPr>
          <a:xfrm>
            <a:off x="884420" y="1109607"/>
            <a:ext cx="4946754" cy="4638786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1A53C35-0565-8D4F-43E4-ED9A2CB8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389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BECF-FABD-A330-F384-1FB0981C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CS PROGRAM (LEVEL 100)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4D4945-1811-F594-AAD0-65E6635F53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82120"/>
              </p:ext>
            </p:extLst>
          </p:nvPr>
        </p:nvGraphicFramePr>
        <p:xfrm>
          <a:off x="2938070" y="1905794"/>
          <a:ext cx="5411451" cy="4388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11451">
                  <a:extLst>
                    <a:ext uri="{9D8B030D-6E8A-4147-A177-3AD203B41FA5}">
                      <a16:colId xmlns:a16="http://schemas.microsoft.com/office/drawing/2014/main" val="2687543803"/>
                    </a:ext>
                  </a:extLst>
                </a:gridCol>
              </a:tblGrid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CSC 101: Introduction to Computing 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6419536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CSC 102 Programming Techniques 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94037985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CSC 107: Software Suite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30729387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PHY 101: General Physics I (Theory)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8734117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PHY 103: General Physics I (Practical)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45281457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MAT101: Algebra and Trigonometry 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52130006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MAT 102: Analytic Geometry and Calculus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66678428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PHY 102: General Physics II (Theory)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83747490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solidFill>
                            <a:schemeClr val="bg1"/>
                          </a:solidFill>
                          <a:effectLst/>
                        </a:rPr>
                        <a:t>PHY 104: General Physics II (Practical)</a:t>
                      </a:r>
                      <a:endParaRPr lang="en-US" sz="2400" b="0" i="0" u="none" strike="noStrike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30586456"/>
                  </a:ext>
                </a:extLst>
              </a:tr>
              <a:tr h="438853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STA 102: Introduction to Statistics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46987883"/>
                  </a:ext>
                </a:extLst>
              </a:tr>
            </a:tbl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D1D82-7432-B3F6-8E70-7018F5837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104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BECF-FABD-A330-F384-1FB0981C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CS PROGRAM (LEVEL 200)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AF503D-D707-A5C6-F3FF-ED56EA3C3A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066282"/>
              </p:ext>
            </p:extLst>
          </p:nvPr>
        </p:nvGraphicFramePr>
        <p:xfrm>
          <a:off x="1791274" y="2088650"/>
          <a:ext cx="7955657" cy="43307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55657">
                  <a:extLst>
                    <a:ext uri="{9D8B030D-6E8A-4147-A177-3AD203B41FA5}">
                      <a16:colId xmlns:a16="http://schemas.microsoft.com/office/drawing/2014/main" val="3626909493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203: Programming and Problem Analysis I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0396348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211: Computer Architecture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3356543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213: Database Management I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68899165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solidFill>
                            <a:srgbClr val="FF0000"/>
                          </a:solidFill>
                          <a:effectLst/>
                        </a:rPr>
                        <a:t>MAT 201 Introduction to Abstract Algebra </a:t>
                      </a:r>
                      <a:endParaRPr lang="en-US" sz="28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8212005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MAT 203: Further Calculus </a:t>
                      </a:r>
                      <a:endParaRPr lang="en-US" sz="2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5082928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212: Algorithms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4111222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214: Operating Systems 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5664202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effectLst/>
                        </a:rPr>
                        <a:t>CSC 216: Database Management II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1667697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>
                          <a:solidFill>
                            <a:srgbClr val="FF0000"/>
                          </a:solidFill>
                          <a:effectLst/>
                        </a:rPr>
                        <a:t>MAT 202: Vector Algebra and Differential Equations</a:t>
                      </a:r>
                      <a:endParaRPr lang="en-US" sz="2800" b="0" i="0" u="none" strike="noStrike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95033975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STA 202: Further Statistics </a:t>
                      </a:r>
                      <a:endParaRPr lang="en-US" sz="28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05292598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B87D4-96D2-9E20-B483-1A44E71D0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96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BECF-FABD-A330-F384-1FB0981C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CS PROGRAM (LEVEL 300)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D71395-53D4-C4C7-F50A-0172576F1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715087"/>
              </p:ext>
            </p:extLst>
          </p:nvPr>
        </p:nvGraphicFramePr>
        <p:xfrm>
          <a:off x="2095811" y="2207537"/>
          <a:ext cx="7482904" cy="3721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82904">
                  <a:extLst>
                    <a:ext uri="{9D8B030D-6E8A-4147-A177-3AD203B41FA5}">
                      <a16:colId xmlns:a16="http://schemas.microsoft.com/office/drawing/2014/main" val="421217366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311: Computer Security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1661953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CSC 315: Discrete Mathematics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5458394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317: Software Engineering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11988479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319: Data Structures: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4104330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MAT 301: Advanced Calculus I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8034145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302: Programming and Problem Analysis II (Java)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646918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312: Human Computer Interface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8007102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CSC 314: Network Computing I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0651542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316: Web Technologies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981880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CSC 399: Research Methods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61829792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DE4CF7-71A7-4D48-DDE3-B4373CE2B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8415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BBECF-FABD-A330-F384-1FB0981C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CS PROGRAM (LEVEL 300)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E0AD97-BA9E-1F6A-A14A-C85270A6E9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794918"/>
              </p:ext>
            </p:extLst>
          </p:nvPr>
        </p:nvGraphicFramePr>
        <p:xfrm>
          <a:off x="2710407" y="1908782"/>
          <a:ext cx="7722747" cy="3721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2747">
                  <a:extLst>
                    <a:ext uri="{9D8B030D-6E8A-4147-A177-3AD203B41FA5}">
                      <a16:colId xmlns:a16="http://schemas.microsoft.com/office/drawing/2014/main" val="3405215324"/>
                    </a:ext>
                  </a:extLst>
                </a:gridCol>
              </a:tblGrid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401: Introduction to Compilers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08961887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405: Advanced Operating Systems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71622388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411: Introduction to Artificial Intelligence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9913405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effectLst/>
                        </a:rPr>
                        <a:t>CSC 413: Computer Graphics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894419391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CSC 415: Network Computing II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93914334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CSC 402: Numerical Analysis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96424552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 406: Systems Administration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3448949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>
                          <a:effectLst/>
                        </a:rPr>
                        <a:t>CSC412: Cryptography and Network Security 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0668016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CSC 408: Operations Research </a:t>
                      </a:r>
                      <a:endParaRPr lang="en-US" sz="24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94778303"/>
                  </a:ext>
                </a:extLst>
              </a:tr>
              <a:tr h="19685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CSC 499: Project Work 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88196369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5C4066-089E-1E56-261A-20A8985E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6334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B84673-99AB-6D4B-A43E-C914E42687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057" t="30855" r="20205" b="2869"/>
          <a:stretch/>
        </p:blipFill>
        <p:spPr>
          <a:xfrm>
            <a:off x="407232" y="170050"/>
            <a:ext cx="11377536" cy="651789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3143A9-C2DA-277C-61C2-E422B62C5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52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DC781F-CE54-A87D-C508-9A072D3E49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03" t="32493" r="20205" b="8725"/>
          <a:stretch/>
        </p:blipFill>
        <p:spPr>
          <a:xfrm>
            <a:off x="479685" y="490927"/>
            <a:ext cx="11518177" cy="587614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A4C64-F1D7-3BFF-89B1-D83CAEA6A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569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E659-A195-7628-0B8A-472A2353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Computer science specialization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3681-F6B4-D5AC-35F6-325176A7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478570"/>
            <a:ext cx="9905999" cy="3541714"/>
          </a:xfrm>
        </p:spPr>
        <p:txBody>
          <a:bodyPr>
            <a:no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Artificial Intelligence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Mathematics and analysis, algorithms, predictive modeling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Artificial Intelligence Architect, Artificial Intelligence Researcher, Machine Learning Engineer</a:t>
            </a:r>
          </a:p>
          <a:p>
            <a:pPr lvl="1"/>
            <a:endParaRPr lang="en-US" sz="2400" b="0" i="0" dirty="0">
              <a:effectLst/>
              <a:latin typeface="Lato" panose="020F0502020204030203" pitchFamily="34" charset="0"/>
            </a:endParaRP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Computer-Human Interface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Communication, interpersonal skills, attention to visual detail, mapping how people use software and systems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User Experience (UX) Designer, User Experience Researcher, Interaction Designer</a:t>
            </a: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28F34A-5DF5-D180-917B-F0F42B0D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301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E659-A195-7628-0B8A-472A2353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23842"/>
            <a:ext cx="9905998" cy="1478570"/>
          </a:xfrm>
        </p:spPr>
        <p:txBody>
          <a:bodyPr/>
          <a:lstStyle/>
          <a:p>
            <a:r>
              <a:rPr lang="en-US" dirty="0"/>
              <a:t>Computer science specialization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3681-F6B4-D5AC-35F6-325176A7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440018"/>
            <a:ext cx="9905999" cy="3541714"/>
          </a:xfrm>
        </p:spPr>
        <p:txBody>
          <a:bodyPr>
            <a:no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Computer Graphics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Attention to visual and artistic detail, collaboration, creativity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Mobile Application Developer, iOS Developer, Android Developer</a:t>
            </a: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 </a:t>
            </a: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Information Security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Communication, threat/vulnerability management, knowledge of security compliance rules and regulations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Security Engineer, Network Security Analyst, System Security Analyst</a:t>
            </a: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pPr marL="0" indent="0">
              <a:buNone/>
            </a:pPr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25230-BBD2-2FE0-8F99-1A8B457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100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E659-A195-7628-0B8A-472A2353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Computer science specialization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3681-F6B4-D5AC-35F6-325176A7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58143"/>
            <a:ext cx="9905999" cy="3541714"/>
          </a:xfrm>
        </p:spPr>
        <p:txBody>
          <a:bodyPr>
            <a:no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Programming Languages</a:t>
            </a:r>
            <a:endParaRPr lang="en-US" b="0" i="0" dirty="0">
              <a:effectLst/>
              <a:latin typeface="Lato" panose="020F0502020204030203" pitchFamily="34" charset="0"/>
            </a:endParaRP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Coding and scripting in multiple languages, collaboration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Full-Stack Web Developer, Front-End Developer, Game Developer, Software Programmer</a:t>
            </a:r>
          </a:p>
          <a:p>
            <a:endParaRPr lang="en-US" b="1" i="0" dirty="0">
              <a:effectLst/>
              <a:latin typeface="Lato" panose="020F0502020204030203" pitchFamily="34" charset="0"/>
            </a:endParaRP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Software Engineering</a:t>
            </a:r>
            <a:endParaRPr lang="en-US" b="0" i="0" dirty="0">
              <a:effectLst/>
              <a:latin typeface="Lato" panose="020F0502020204030203" pitchFamily="34" charset="0"/>
            </a:endParaRP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Coding and scripting, communication, collaboration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Software Development Engineer, Software Engineer</a:t>
            </a: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BDDF7-C9C3-DB55-FBB8-EF471451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600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E659-A195-7628-0B8A-472A2353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Computer science specialization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3681-F6B4-D5AC-35F6-325176A7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27" y="1190057"/>
            <a:ext cx="9905999" cy="3541714"/>
          </a:xfrm>
        </p:spPr>
        <p:txBody>
          <a:bodyPr>
            <a:no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Game Design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kills: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Attention to visual detail, collaboration, coding, and scripting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Video Game Designer, Video Game Developer, Software Engineer</a:t>
            </a:r>
          </a:p>
          <a:p>
            <a:endParaRPr lang="en-US" b="1" i="0" dirty="0">
              <a:effectLst/>
              <a:latin typeface="Lato" panose="020F0502020204030203" pitchFamily="34" charset="0"/>
            </a:endParaRP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Data Science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Mathematics and analytics, attention to detail, predictive modeling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</a:t>
            </a:r>
            <a:r>
              <a:rPr lang="en-US" sz="2400" b="0" i="0" u="none" strike="noStrike" dirty="0">
                <a:effectLst/>
                <a:latin typeface="Lato" panose="020F0502020204030203" pitchFamily="34" charset="0"/>
              </a:rPr>
              <a:t>Data Scientist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, </a:t>
            </a:r>
            <a:r>
              <a:rPr lang="en-US" sz="2400" b="0" i="0" u="none" strike="noStrike" dirty="0">
                <a:effectLst/>
                <a:latin typeface="Lato" panose="020F0502020204030203" pitchFamily="34" charset="0"/>
              </a:rPr>
              <a:t>Data Analyst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, </a:t>
            </a:r>
            <a:r>
              <a:rPr lang="en-US" sz="2400" b="0" i="0" u="none" strike="noStrike" dirty="0">
                <a:effectLst/>
                <a:latin typeface="Lato" panose="020F0502020204030203" pitchFamily="34" charset="0"/>
              </a:rPr>
              <a:t>Business Intelligence Analyst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, Machine Learning Engineer, Information Scientist, Database Administrator</a:t>
            </a: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BDDF7-C9C3-DB55-FBB8-EF471451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3757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E659-A195-7628-0B8A-472A2353F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en-US" dirty="0"/>
              <a:t>Computer science specialization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C3681-F6B4-D5AC-35F6-325176A79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393448"/>
            <a:ext cx="9905999" cy="3541714"/>
          </a:xfrm>
        </p:spPr>
        <p:txBody>
          <a:bodyPr>
            <a:noAutofit/>
          </a:bodyPr>
          <a:lstStyle/>
          <a:p>
            <a:r>
              <a:rPr lang="en-US" b="1" i="0" dirty="0">
                <a:effectLst/>
                <a:latin typeface="Lato" panose="020F0502020204030203" pitchFamily="34" charset="0"/>
              </a:rPr>
              <a:t>Networks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Diagnose and troubleshoot network issues, design network architecture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Network Administrator, Network Analyst, Network Architect</a:t>
            </a:r>
          </a:p>
          <a:p>
            <a:endParaRPr lang="en-US" b="0" i="0" dirty="0">
              <a:effectLst/>
              <a:latin typeface="Lato" panose="020F0502020204030203" pitchFamily="34" charset="0"/>
            </a:endParaRPr>
          </a:p>
          <a:p>
            <a:r>
              <a:rPr lang="en-US" b="1" i="0" dirty="0">
                <a:effectLst/>
                <a:latin typeface="Lato" panose="020F0502020204030203" pitchFamily="34" charset="0"/>
              </a:rPr>
              <a:t>Theory</a:t>
            </a:r>
            <a:endParaRPr lang="en-US" b="0" i="0" dirty="0">
              <a:effectLst/>
              <a:latin typeface="Lato" panose="020F0502020204030203" pitchFamily="34" charset="0"/>
            </a:endParaRP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Skills: 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Mathematics and analytics, predictive modeling and probability, big-picture planning</a:t>
            </a:r>
          </a:p>
          <a:p>
            <a:pPr lvl="1"/>
            <a:r>
              <a:rPr lang="en-US" sz="2400" b="1" i="0" dirty="0">
                <a:effectLst/>
                <a:latin typeface="Lato" panose="020F0502020204030203" pitchFamily="34" charset="0"/>
              </a:rPr>
              <a:t>Common roles:</a:t>
            </a:r>
            <a:r>
              <a:rPr lang="en-US" sz="2400" b="0" i="0" dirty="0">
                <a:effectLst/>
                <a:latin typeface="Lato" panose="020F0502020204030203" pitchFamily="34" charset="0"/>
              </a:rPr>
              <a:t> Algorithm Scientist, Machine Learning Engineer</a:t>
            </a:r>
          </a:p>
          <a:p>
            <a:pPr marL="0" indent="0">
              <a:buNone/>
            </a:pPr>
            <a:endParaRPr lang="en-US" b="0" i="0" dirty="0">
              <a:effectLst/>
              <a:latin typeface="Lato" panose="020F0502020204030203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BDDF7-C9C3-DB55-FBB8-EF471451E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759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3593B-BFAC-5117-2195-71E57118D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4436C-F761-7D29-2C79-36EE287A02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600" b="0" i="0" dirty="0">
                <a:effectLst/>
              </a:rPr>
              <a:t>What is Artificial intelligence? </a:t>
            </a:r>
          </a:p>
          <a:p>
            <a:r>
              <a:rPr lang="en-US" sz="3600" b="0" i="0" dirty="0">
                <a:effectLst/>
              </a:rPr>
              <a:t>List 10 applications of Artificial intelligence? </a:t>
            </a:r>
          </a:p>
          <a:p>
            <a:r>
              <a:rPr lang="en-US" sz="3600" b="0" i="0" dirty="0">
                <a:effectLst/>
              </a:rPr>
              <a:t>Discuss roles, benefits and drawbacks of artificial intelligence?</a:t>
            </a:r>
          </a:p>
          <a:p>
            <a:r>
              <a:rPr lang="en-US" sz="3600" dirty="0"/>
              <a:t>Deadline: January 31, 2023</a:t>
            </a:r>
          </a:p>
          <a:p>
            <a:endParaRPr lang="en-US" sz="3600" dirty="0"/>
          </a:p>
          <a:p>
            <a:r>
              <a:rPr lang="en-US" sz="3600" dirty="0"/>
              <a:t>Do not exceed 2 pages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C314-B15B-01DE-A90A-F86132ED4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6963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132</TotalTime>
  <Words>1068</Words>
  <Application>Microsoft Office PowerPoint</Application>
  <PresentationFormat>Widescreen</PresentationFormat>
  <Paragraphs>194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Lato</vt:lpstr>
      <vt:lpstr>Source Sans Pro</vt:lpstr>
      <vt:lpstr>Times New Roman</vt:lpstr>
      <vt:lpstr>Tw Cen MT</vt:lpstr>
      <vt:lpstr>Circuit</vt:lpstr>
      <vt:lpstr>CSC101: INTRODUCTION TO COMPUTING </vt:lpstr>
      <vt:lpstr>Course outline </vt:lpstr>
      <vt:lpstr>Assessment </vt:lpstr>
      <vt:lpstr>Learning management system (e-learning)</vt:lpstr>
      <vt:lpstr>Why did you choose to study computer science?</vt:lpstr>
      <vt:lpstr>reasons to major in computing (acm)</vt:lpstr>
      <vt:lpstr>Reasons to major in computing (acm)</vt:lpstr>
      <vt:lpstr>What do you want to do with a computer science degree?</vt:lpstr>
      <vt:lpstr>PowerPoint Presentation</vt:lpstr>
      <vt:lpstr>What is the difference between  computer science  and  information technology </vt:lpstr>
      <vt:lpstr>CS VS IT</vt:lpstr>
      <vt:lpstr>CS VS IT</vt:lpstr>
      <vt:lpstr>CS VS IT</vt:lpstr>
      <vt:lpstr>Computer science vs. IT careers</vt:lpstr>
      <vt:lpstr>PowerPoint Presentation</vt:lpstr>
      <vt:lpstr>STRUCTURE OF CS PROGRAM (LEVEL 100)</vt:lpstr>
      <vt:lpstr>STRUCTURE OF CS PROGRAM (LEVEL 200)</vt:lpstr>
      <vt:lpstr>STRUCTURE OF CS PROGRAM (LEVEL 300)</vt:lpstr>
      <vt:lpstr>STRUCTURE OF CS PROGRAM (LEVEL 300)</vt:lpstr>
      <vt:lpstr>PowerPoint Presentation</vt:lpstr>
      <vt:lpstr>PowerPoint Presentation</vt:lpstr>
      <vt:lpstr>Computer science specialization </vt:lpstr>
      <vt:lpstr>Computer science specialization </vt:lpstr>
      <vt:lpstr>Computer science specialization </vt:lpstr>
      <vt:lpstr>Computer science specialization </vt:lpstr>
      <vt:lpstr>Computer science specialization </vt:lpstr>
      <vt:lpstr>Assignment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CSC101: INTRODUCTION TO COMPUTING</dc:title>
  <dc:creator>Administrator</dc:creator>
  <cp:lastModifiedBy>Administrator</cp:lastModifiedBy>
  <cp:revision>7</cp:revision>
  <dcterms:created xsi:type="dcterms:W3CDTF">2023-01-24T06:06:31Z</dcterms:created>
  <dcterms:modified xsi:type="dcterms:W3CDTF">2023-01-24T16:21:57Z</dcterms:modified>
</cp:coreProperties>
</file>
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56" r:id="rId2"/>
    <p:sldId id="298" r:id="rId3"/>
    <p:sldId id="299" r:id="rId4"/>
    <p:sldId id="300" r:id="rId5"/>
    <p:sldId id="301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77" r:id="rId18"/>
    <p:sldId id="268" r:id="rId19"/>
    <p:sldId id="270" r:id="rId20"/>
    <p:sldId id="271" r:id="rId21"/>
    <p:sldId id="302" r:id="rId22"/>
    <p:sldId id="272" r:id="rId23"/>
    <p:sldId id="275" r:id="rId24"/>
    <p:sldId id="276" r:id="rId25"/>
    <p:sldId id="305" r:id="rId26"/>
    <p:sldId id="306" r:id="rId27"/>
    <p:sldId id="307" r:id="rId28"/>
    <p:sldId id="274" r:id="rId29"/>
    <p:sldId id="304" r:id="rId30"/>
    <p:sldId id="278" r:id="rId31"/>
    <p:sldId id="279" r:id="rId32"/>
    <p:sldId id="303" r:id="rId33"/>
    <p:sldId id="297" r:id="rId34"/>
    <p:sldId id="295" r:id="rId35"/>
    <p:sldId id="286" r:id="rId36"/>
    <p:sldId id="287" r:id="rId37"/>
    <p:sldId id="288" r:id="rId38"/>
    <p:sldId id="289" r:id="rId39"/>
    <p:sldId id="296" r:id="rId40"/>
    <p:sldId id="290" r:id="rId41"/>
    <p:sldId id="293" r:id="rId42"/>
    <p:sldId id="292" r:id="rId43"/>
    <p:sldId id="294" r:id="rId4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3" autoAdjust="0"/>
    <p:restoredTop sz="88201" autoAdjust="0"/>
  </p:normalViewPr>
  <p:slideViewPr>
    <p:cSldViewPr>
      <p:cViewPr varScale="1">
        <p:scale>
          <a:sx n="65" d="100"/>
          <a:sy n="65" d="100"/>
        </p:scale>
        <p:origin x="161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46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E73C7D-CFFD-49B9-9237-90D7B3E2282A}" type="datetimeFigureOut">
              <a:rPr lang="en-US" smtClean="0"/>
              <a:pPr/>
              <a:t>10/9/2019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7C3206-7359-49C4-AD0F-2954D8527B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230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7C3206-7359-49C4-AD0F-2954D8527B12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2441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7C3206-7359-49C4-AD0F-2954D8527B12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8226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define a quantity, we must provide a set of rules for calculating it in terms of other quantities. The laws</a:t>
            </a:r>
            <a:r>
              <a:rPr lang="en-US" baseline="0" dirty="0"/>
              <a:t> of physics express relationship between physical quantities: length, time, mass, pressure, force, temperature etc.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7C3206-7359-49C4-AD0F-2954D8527B12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9178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 to written 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7C3206-7359-49C4-AD0F-2954D8527B12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7090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7C3206-7359-49C4-AD0F-2954D8527B12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9581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7C3206-7359-49C4-AD0F-2954D8527B12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8878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/>
              <a:t>Thus, measuring a quantity involves its comparison to a standard.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b="1" dirty="0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7C3206-7359-49C4-AD0F-2954D8527B12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0967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Note: Length is defined such that the speed</a:t>
            </a:r>
            <a:r>
              <a:rPr lang="en-US" baseline="0" dirty="0"/>
              <a:t> of light in vacuum, c = 2.9979458 x 10</a:t>
            </a:r>
            <a:r>
              <a:rPr lang="en-US" baseline="30000" dirty="0"/>
              <a:t>8 </a:t>
            </a:r>
            <a:r>
              <a:rPr lang="en-US" baseline="0" dirty="0"/>
              <a:t> m/s</a:t>
            </a:r>
            <a:endParaRPr lang="en-US" baseline="30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7C3206-7359-49C4-AD0F-2954D8527B12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5140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Thus, measurement consists of a “comparison” to a standard; the result is the magnitude (of a physical quantity); the magnitude</a:t>
            </a:r>
            <a:r>
              <a:rPr lang="en-US" baseline="0" dirty="0"/>
              <a:t> must have a number and a unit. e.g. measurement of mass: 5 (meaningless); 5 kg (correct)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7C3206-7359-49C4-AD0F-2954D8527B12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495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Draw a diagram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7C3206-7359-49C4-AD0F-2954D8527B12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7445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Give examples on this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7C3206-7359-49C4-AD0F-2954D8527B12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6555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{i}</a:t>
            </a:r>
            <a:r>
              <a:rPr lang="en-US" baseline="0" dirty="0"/>
              <a:t> 7500   (ii) 0.075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7C3206-7359-49C4-AD0F-2954D8527B12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0188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examples on the rules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7C3206-7359-49C4-AD0F-2954D8527B12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9282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b="1" dirty="0" err="1"/>
              <a:t>Ans</a:t>
            </a:r>
            <a:r>
              <a:rPr lang="en-US" b="1" dirty="0"/>
              <a:t>: 138cm . The 135 cm limits your answer to the units decimal value.</a:t>
            </a:r>
          </a:p>
          <a:p>
            <a:pPr marL="2286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b="1" dirty="0"/>
          </a:p>
          <a:p>
            <a:pPr marL="2286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b="1" dirty="0" err="1"/>
              <a:t>Ans</a:t>
            </a:r>
            <a:r>
              <a:rPr lang="en-US" b="1" dirty="0"/>
              <a:t>: 62.6 m</a:t>
            </a:r>
            <a:r>
              <a:rPr lang="en-US" b="1" baseline="30000" dirty="0"/>
              <a:t>2</a:t>
            </a:r>
            <a:r>
              <a:rPr lang="en-US" b="1" dirty="0"/>
              <a:t>. The 2.45 m limits your result to 3 significant figures.</a:t>
            </a:r>
          </a:p>
          <a:p>
            <a:pPr marL="2286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7C3206-7359-49C4-AD0F-2954D8527B12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0333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7C3206-7359-49C4-AD0F-2954D8527B12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795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D3C1-8462-4D92-AC13-96A558CF2F01}" type="datetimeFigureOut">
              <a:rPr lang="en-US" smtClean="0"/>
              <a:pPr/>
              <a:t>10/9/2019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E3744-E30F-4930-B873-15027A230AF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D3C1-8462-4D92-AC13-96A558CF2F01}" type="datetimeFigureOut">
              <a:rPr lang="en-US" smtClean="0"/>
              <a:pPr/>
              <a:t>10/9/2019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E3744-E30F-4930-B873-15027A230AF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D3C1-8462-4D92-AC13-96A558CF2F01}" type="datetimeFigureOut">
              <a:rPr lang="en-US" smtClean="0"/>
              <a:pPr/>
              <a:t>10/9/2019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E3744-E30F-4930-B873-15027A230AF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D3C1-8462-4D92-AC13-96A558CF2F01}" type="datetimeFigureOut">
              <a:rPr lang="en-US" smtClean="0"/>
              <a:pPr/>
              <a:t>10/9/2019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E3744-E30F-4930-B873-15027A230AF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D3C1-8462-4D92-AC13-96A558CF2F01}" type="datetimeFigureOut">
              <a:rPr lang="en-US" smtClean="0"/>
              <a:pPr/>
              <a:t>10/9/2019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E3744-E30F-4930-B873-15027A230AF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D3C1-8462-4D92-AC13-96A558CF2F01}" type="datetimeFigureOut">
              <a:rPr lang="en-US" smtClean="0"/>
              <a:pPr/>
              <a:t>10/9/2019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E3744-E30F-4930-B873-15027A230AF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D3C1-8462-4D92-AC13-96A558CF2F01}" type="datetimeFigureOut">
              <a:rPr lang="en-US" smtClean="0"/>
              <a:pPr/>
              <a:t>10/9/2019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E3744-E30F-4930-B873-15027A230AF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D3C1-8462-4D92-AC13-96A558CF2F01}" type="datetimeFigureOut">
              <a:rPr lang="en-US" smtClean="0"/>
              <a:pPr/>
              <a:t>10/9/2019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E3744-E30F-4930-B873-15027A230AF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D3C1-8462-4D92-AC13-96A558CF2F01}" type="datetimeFigureOut">
              <a:rPr lang="en-US" smtClean="0"/>
              <a:pPr/>
              <a:t>10/9/2019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E3744-E30F-4930-B873-15027A230AF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D3C1-8462-4D92-AC13-96A558CF2F01}" type="datetimeFigureOut">
              <a:rPr lang="en-US" smtClean="0"/>
              <a:pPr/>
              <a:t>10/9/2019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E3744-E30F-4930-B873-15027A230AF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D3C1-8462-4D92-AC13-96A558CF2F01}" type="datetimeFigureOut">
              <a:rPr lang="en-US" smtClean="0"/>
              <a:pPr/>
              <a:t>10/9/2019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E3744-E30F-4930-B873-15027A230AF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719263"/>
            <a:ext cx="4038600" cy="2128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2130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D7C192-12AB-4834-94BD-A1B99ABE61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768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1AD3C1-8462-4D92-AC13-96A558CF2F01}" type="datetimeFigureOut">
              <a:rPr lang="en-US" smtClean="0"/>
              <a:pPr/>
              <a:t>10/9/2019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4E3744-E30F-4930-B873-15027A230AF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redziah@ucc.edu.gh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w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7.png"/><Relationship Id="rId4" Type="http://schemas.openxmlformats.org/officeDocument/2006/relationships/image" Target="../media/image6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8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9.w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1.wm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04800"/>
            <a:ext cx="7772400" cy="762000"/>
          </a:xfrm>
        </p:spPr>
        <p:txBody>
          <a:bodyPr/>
          <a:lstStyle/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PHYS 101: GENERAL PHYSICS 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5257800"/>
            <a:ext cx="8382001" cy="1447800"/>
          </a:xfrm>
        </p:spPr>
        <p:txBody>
          <a:bodyPr>
            <a:normAutofit fontScale="70000" lnSpcReduction="20000"/>
          </a:bodyPr>
          <a:lstStyle/>
          <a:p>
            <a:r>
              <a:rPr lang="en-US" b="1" i="1" dirty="0"/>
              <a:t>Instructor: Dr. Raymond </a:t>
            </a:r>
            <a:r>
              <a:rPr lang="en-US" b="1" i="1" dirty="0" err="1"/>
              <a:t>Edziah</a:t>
            </a:r>
            <a:endParaRPr lang="en-US" b="1" i="1" dirty="0"/>
          </a:p>
          <a:p>
            <a:r>
              <a:rPr lang="en-US" b="1" i="1" dirty="0"/>
              <a:t>E-mail:</a:t>
            </a:r>
            <a:r>
              <a:rPr lang="en-US" i="1" dirty="0"/>
              <a:t> </a:t>
            </a:r>
            <a:r>
              <a:rPr lang="en-US" i="1" dirty="0">
                <a:hlinkClick r:id="rId2"/>
              </a:rPr>
              <a:t>redziah@ucc.edu.gh</a:t>
            </a:r>
            <a:endParaRPr lang="en-US" i="1" dirty="0"/>
          </a:p>
          <a:p>
            <a:r>
              <a:rPr lang="en-US" b="1" dirty="0"/>
              <a:t>Office: Located in Dept. of Physics, between Labs II &amp; III</a:t>
            </a:r>
          </a:p>
          <a:p>
            <a:r>
              <a:rPr lang="en-US" b="1" dirty="0"/>
              <a:t>Office Hours: By Appointment &amp; walk-ins before 4:30 PM</a:t>
            </a:r>
          </a:p>
          <a:p>
            <a:endParaRPr lang="en-US" dirty="0"/>
          </a:p>
          <a:p>
            <a:endParaRPr lang="en-US" i="1" dirty="0"/>
          </a:p>
          <a:p>
            <a:endParaRPr lang="en-US" b="1" i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071036"/>
            <a:ext cx="6291584" cy="41867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0510"/>
            <a:ext cx="8229600" cy="1143000"/>
          </a:xfrm>
        </p:spPr>
        <p:txBody>
          <a:bodyPr/>
          <a:lstStyle/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COURSE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19200"/>
            <a:ext cx="9144000" cy="5410200"/>
          </a:xfrm>
        </p:spPr>
        <p:txBody>
          <a:bodyPr>
            <a:normAutofit/>
          </a:bodyPr>
          <a:lstStyle/>
          <a:p>
            <a:r>
              <a:rPr lang="en-US" b="1" dirty="0"/>
              <a:t>Credit: </a:t>
            </a:r>
            <a:r>
              <a:rPr lang="en-US" dirty="0"/>
              <a:t>2 (2 </a:t>
            </a:r>
            <a:r>
              <a:rPr lang="en-US" dirty="0" err="1"/>
              <a:t>hrs</a:t>
            </a:r>
            <a:r>
              <a:rPr lang="en-US" dirty="0"/>
              <a:t> of lecture and 1 </a:t>
            </a:r>
            <a:r>
              <a:rPr lang="en-US" dirty="0" err="1"/>
              <a:t>hr</a:t>
            </a:r>
            <a:r>
              <a:rPr lang="en-US" dirty="0"/>
              <a:t> of recitation (to be arranged)</a:t>
            </a:r>
          </a:p>
          <a:p>
            <a:r>
              <a:rPr lang="en-US" b="1" dirty="0"/>
              <a:t>Course Textbook: </a:t>
            </a:r>
            <a:r>
              <a:rPr lang="en-US" dirty="0"/>
              <a:t>Physics for Scientists and Engineers, by</a:t>
            </a:r>
            <a:r>
              <a:rPr lang="en-US" b="1" dirty="0"/>
              <a:t> </a:t>
            </a:r>
            <a:r>
              <a:rPr lang="en-US" dirty="0"/>
              <a:t>Raymond A. </a:t>
            </a:r>
            <a:r>
              <a:rPr lang="en-US" dirty="0" err="1"/>
              <a:t>Serway</a:t>
            </a:r>
            <a:r>
              <a:rPr lang="en-US" dirty="0"/>
              <a:t> and 			John W. Jewett </a:t>
            </a:r>
          </a:p>
          <a:p>
            <a:r>
              <a:rPr lang="en-US" b="1" dirty="0"/>
              <a:t>Reference Books: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Physics for Scientists and Engineers (3</a:t>
            </a:r>
            <a:r>
              <a:rPr lang="en-US" baseline="30000" dirty="0"/>
              <a:t>rd</a:t>
            </a:r>
            <a:r>
              <a:rPr lang="en-US" dirty="0"/>
              <a:t> Edition), by Randall D.  Knight,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Any other relevant undergraduate physics textbook</a:t>
            </a:r>
          </a:p>
        </p:txBody>
      </p:sp>
    </p:spTree>
    <p:extLst>
      <p:ext uri="{BB962C8B-B14F-4D97-AF65-F5344CB8AC3E}">
        <p14:creationId xmlns:p14="http://schemas.microsoft.com/office/powerpoint/2010/main" val="1963407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COURSE 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Methods of Evaluation</a:t>
            </a:r>
          </a:p>
          <a:p>
            <a:r>
              <a:rPr lang="en-US" b="1" dirty="0"/>
              <a:t>Homework Policy</a:t>
            </a:r>
          </a:p>
          <a:p>
            <a:r>
              <a:rPr lang="en-US" b="1" dirty="0"/>
              <a:t>Exams</a:t>
            </a:r>
          </a:p>
          <a:p>
            <a:pPr marL="0" indent="0">
              <a:buNone/>
            </a:pPr>
            <a:r>
              <a:rPr lang="en-US" dirty="0"/>
              <a:t>Tests (HW, tests, attendance, class   </a:t>
            </a:r>
          </a:p>
          <a:p>
            <a:pPr marL="0" indent="0">
              <a:buNone/>
            </a:pPr>
            <a:r>
              <a:rPr lang="en-US" dirty="0"/>
              <a:t>    participation, random quizzes): 	40 %</a:t>
            </a:r>
          </a:p>
          <a:p>
            <a:pPr marL="0" indent="0">
              <a:buNone/>
            </a:pPr>
            <a:r>
              <a:rPr lang="en-US" dirty="0"/>
              <a:t>    Multiple-Choice Final Exam: 		60 %.</a:t>
            </a:r>
          </a:p>
          <a:p>
            <a:pPr marL="0" indent="0">
              <a:buNone/>
            </a:pPr>
            <a:br>
              <a:rPr lang="en-US" dirty="0"/>
            </a:b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139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 POLICIES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/>
          <a:lstStyle/>
          <a:p>
            <a:r>
              <a:rPr lang="en-US" dirty="0"/>
              <a:t>No food or drink is allowed in the class.</a:t>
            </a:r>
          </a:p>
          <a:p>
            <a:r>
              <a:rPr lang="en-US" dirty="0"/>
              <a:t>Cell phones must be turned off/silenced</a:t>
            </a:r>
          </a:p>
          <a:p>
            <a:r>
              <a:rPr lang="en-US" dirty="0"/>
              <a:t>Start of class/lateness</a:t>
            </a:r>
          </a:p>
          <a:p>
            <a:r>
              <a:rPr lang="en-US" dirty="0"/>
              <a:t>Absence from class</a:t>
            </a:r>
          </a:p>
          <a:p>
            <a:r>
              <a:rPr lang="en-US" dirty="0"/>
              <a:t>The Handicapped</a:t>
            </a:r>
          </a:p>
          <a:p>
            <a:r>
              <a:rPr lang="en-US" b="1" dirty="0"/>
              <a:t>Lateness policy</a:t>
            </a:r>
          </a:p>
          <a:p>
            <a:r>
              <a:rPr lang="en-US" b="1" dirty="0"/>
              <a:t>Homework policy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84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b="1" i="1" dirty="0"/>
              <a:t>ELECTION OF COURSE REPS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525963"/>
          </a:xfrm>
        </p:spPr>
        <p:txBody>
          <a:bodyPr/>
          <a:lstStyle/>
          <a:p>
            <a:r>
              <a:rPr lang="en-US" b="1" dirty="0"/>
              <a:t>Class Reps</a:t>
            </a:r>
          </a:p>
          <a:p>
            <a:r>
              <a:rPr lang="en-US" b="1" dirty="0"/>
              <a:t>National Service Person (to be introduced)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333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sz="3600" dirty="0"/>
            </a:br>
            <a:r>
              <a:rPr lang="en-US" sz="3600" b="1" dirty="0"/>
              <a:t>LECTURE 1: INTRODUCTION  – PHYSICS AND MEASUREMENTS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What is Physics?</a:t>
            </a:r>
          </a:p>
          <a:p>
            <a:pPr marL="0" indent="0"/>
            <a:r>
              <a:rPr lang="en-US" b="1" dirty="0"/>
              <a:t>Exact (Fundamental) Science</a:t>
            </a:r>
          </a:p>
          <a:p>
            <a:pPr lvl="1"/>
            <a:r>
              <a:rPr lang="en-US" b="1" dirty="0"/>
              <a:t>Concerned with the fundamental principles of the universe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Foundation of other physical sciences</a:t>
            </a:r>
          </a:p>
          <a:p>
            <a:pPr lvl="1">
              <a:buNone/>
            </a:pPr>
            <a:endParaRPr lang="en-US" b="1" dirty="0"/>
          </a:p>
          <a:p>
            <a:pPr lvl="1"/>
            <a:r>
              <a:rPr lang="en-US" b="1" dirty="0"/>
              <a:t>Has simplicity of fundamental concepts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PHYSICS, 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Other exact sciences are chemistry, biology and engineering</a:t>
            </a:r>
          </a:p>
          <a:p>
            <a:endParaRPr lang="en-US" b="1" dirty="0"/>
          </a:p>
          <a:p>
            <a:r>
              <a:rPr lang="en-US" b="1" dirty="0"/>
              <a:t>In exact sciences, the definition of any quantity must provide a set of rules for calculating it in terms of other quantities that can be measured</a:t>
            </a:r>
          </a:p>
          <a:p>
            <a:pPr>
              <a:buNone/>
            </a:pPr>
            <a:r>
              <a:rPr lang="en-US" b="1" dirty="0"/>
              <a:t> </a:t>
            </a:r>
          </a:p>
          <a:p>
            <a:r>
              <a:rPr lang="en-US" b="1" dirty="0"/>
              <a:t>Contrary, in soft sciences (psychology, political science, etc) quantities are not always defined in terms of variables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PHYSICS, 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Physics can be defined as the study of the natural world, i.e. </a:t>
            </a:r>
            <a:r>
              <a:rPr lang="en-US" b="1" dirty="0">
                <a:solidFill>
                  <a:srgbClr val="FF0000"/>
                </a:solidFill>
              </a:rPr>
              <a:t>the study of matter and energy</a:t>
            </a:r>
          </a:p>
          <a:p>
            <a:pPr>
              <a:buNone/>
            </a:pPr>
            <a:endParaRPr lang="en-US" b="1" dirty="0"/>
          </a:p>
          <a:p>
            <a:r>
              <a:rPr lang="en-US" b="1" dirty="0"/>
              <a:t>Physics is sometimes referred to as </a:t>
            </a:r>
            <a:r>
              <a:rPr lang="en-US" b="1" dirty="0">
                <a:solidFill>
                  <a:srgbClr val="FF0000"/>
                </a:solidFill>
              </a:rPr>
              <a:t>natural philosophy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HOW DOES PHYSICS DIFFER FROM OTHER EXACT SCIENCES?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Chemistry: The study of </a:t>
            </a:r>
          </a:p>
          <a:p>
            <a:pPr>
              <a:buNone/>
            </a:pPr>
            <a:r>
              <a:rPr lang="en-US" b="1" dirty="0"/>
              <a:t>interaction of elements &amp;</a:t>
            </a:r>
          </a:p>
          <a:p>
            <a:pPr>
              <a:buNone/>
            </a:pPr>
            <a:r>
              <a:rPr lang="en-US" b="1" dirty="0"/>
              <a:t> compounds</a:t>
            </a:r>
          </a:p>
          <a:p>
            <a:pPr>
              <a:buNone/>
            </a:pPr>
            <a:endParaRPr lang="en-US" b="1" dirty="0"/>
          </a:p>
          <a:p>
            <a:r>
              <a:rPr lang="en-US" b="1" dirty="0"/>
              <a:t>Biology: The study of living organisms</a:t>
            </a:r>
          </a:p>
          <a:p>
            <a:endParaRPr lang="en-US" b="1" dirty="0"/>
          </a:p>
          <a:p>
            <a:r>
              <a:rPr lang="en-US" b="1" dirty="0"/>
              <a:t>Engineering: The science by which properties of matter &amp; energy are made useful to mankind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31778" y="1676400"/>
            <a:ext cx="2726422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PHYSICS, CONT</a:t>
            </a:r>
            <a:r>
              <a:rPr lang="en-US" dirty="0"/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Physics differs from chemistry, biology, engineering,…</a:t>
            </a:r>
            <a:r>
              <a:rPr lang="en-US" b="1" dirty="0">
                <a:solidFill>
                  <a:srgbClr val="FF0000"/>
                </a:solidFill>
              </a:rPr>
              <a:t>not so much in method </a:t>
            </a:r>
            <a:r>
              <a:rPr lang="en-US" b="1" dirty="0"/>
              <a:t>but principally in </a:t>
            </a:r>
            <a:r>
              <a:rPr lang="en-US" b="1" dirty="0">
                <a:solidFill>
                  <a:srgbClr val="FF0000"/>
                </a:solidFill>
              </a:rPr>
              <a:t>emphasis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/>
              <a:t>Physics is sometimes considered as the most fundamental science because it is the basis of all the other fields of science</a:t>
            </a:r>
          </a:p>
          <a:p>
            <a:endParaRPr lang="en-US" b="1" dirty="0"/>
          </a:p>
          <a:p>
            <a:r>
              <a:rPr lang="en-US" b="1" dirty="0">
                <a:solidFill>
                  <a:srgbClr val="FF0000"/>
                </a:solidFill>
              </a:rPr>
              <a:t>“Physics is what physicists do”</a:t>
            </a:r>
            <a:r>
              <a:rPr lang="en-US" b="1" dirty="0"/>
              <a:t>, in research labs &amp; universities worldwide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b="1" dirty="0"/>
              <a:t>OBJECTIVES OF PHYSICS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798637"/>
            <a:ext cx="8229600" cy="4525963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itchFamily="2" charset="2"/>
              <a:buChar char="ü"/>
            </a:pPr>
            <a:r>
              <a:rPr lang="en-US" b="1" dirty="0"/>
              <a:t>The</a:t>
            </a:r>
            <a:r>
              <a:rPr lang="en-US" b="1" dirty="0">
                <a:solidFill>
                  <a:srgbClr val="FF0000"/>
                </a:solidFill>
              </a:rPr>
              <a:t> search</a:t>
            </a:r>
            <a:r>
              <a:rPr lang="en-US" b="1" dirty="0"/>
              <a:t> for </a:t>
            </a:r>
            <a:r>
              <a:rPr lang="en-US" b="1" dirty="0">
                <a:solidFill>
                  <a:srgbClr val="FF0000"/>
                </a:solidFill>
              </a:rPr>
              <a:t>fundamental rules</a:t>
            </a:r>
            <a:r>
              <a:rPr lang="en-US" b="1" dirty="0"/>
              <a:t>, “laws of nature”, that govern natural phenomena</a:t>
            </a:r>
          </a:p>
          <a:p>
            <a:pPr>
              <a:buNone/>
            </a:pPr>
            <a:endParaRPr lang="en-US" b="1" dirty="0"/>
          </a:p>
          <a:p>
            <a:pPr>
              <a:buFont typeface="Wingdings" pitchFamily="2" charset="2"/>
              <a:buChar char="ü"/>
            </a:pPr>
            <a:r>
              <a:rPr lang="en-US" b="1" dirty="0"/>
              <a:t>The </a:t>
            </a:r>
            <a:r>
              <a:rPr lang="en-US" b="1" dirty="0">
                <a:solidFill>
                  <a:srgbClr val="FF0000"/>
                </a:solidFill>
              </a:rPr>
              <a:t>behavior</a:t>
            </a:r>
            <a:r>
              <a:rPr lang="en-US" b="1" dirty="0"/>
              <a:t> of complex systems and is (always) </a:t>
            </a:r>
            <a:r>
              <a:rPr lang="en-US" b="1" dirty="0">
                <a:solidFill>
                  <a:srgbClr val="FF0000"/>
                </a:solidFill>
              </a:rPr>
              <a:t>reduced</a:t>
            </a:r>
            <a:r>
              <a:rPr lang="en-US" b="1" dirty="0"/>
              <a:t> to simplest possible terms</a:t>
            </a:r>
          </a:p>
          <a:p>
            <a:pPr>
              <a:buNone/>
            </a:pPr>
            <a:endParaRPr lang="en-US" b="1" dirty="0"/>
          </a:p>
          <a:p>
            <a:pPr marL="0" indent="0"/>
            <a:r>
              <a:rPr lang="en-US" b="1" dirty="0"/>
              <a:t>These laws are used to develop theories that can predict the results of future experiments</a:t>
            </a:r>
          </a:p>
          <a:p>
            <a:pPr marL="0" indent="0"/>
            <a:endParaRPr lang="en-US" b="1" dirty="0"/>
          </a:p>
          <a:p>
            <a:pPr marL="0" indent="0"/>
            <a:r>
              <a:rPr lang="en-US" b="1" dirty="0"/>
              <a:t>The laws are expressed in the language of mathematics</a:t>
            </a:r>
          </a:p>
          <a:p>
            <a:pPr lvl="1"/>
            <a:r>
              <a:rPr lang="en-US" b="1" dirty="0"/>
              <a:t>Mathematics provides the bridge between theory and experiment.</a:t>
            </a:r>
          </a:p>
          <a:p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33400" y="1143000"/>
            <a:ext cx="4953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In general, Physics involves: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PHYSICS, CONT.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71377" y="1417638"/>
            <a:ext cx="8229600" cy="4525963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b="1" dirty="0"/>
              <a:t>Divided into six major areas:</a:t>
            </a:r>
          </a:p>
          <a:p>
            <a:pPr lvl="1" eaLnBrk="1" hangingPunct="1"/>
            <a:r>
              <a:rPr lang="en-US" b="1" dirty="0"/>
              <a:t>Classical Mechanics</a:t>
            </a:r>
          </a:p>
          <a:p>
            <a:pPr lvl="1" eaLnBrk="1" hangingPunct="1"/>
            <a:r>
              <a:rPr lang="en-US" b="1" dirty="0"/>
              <a:t>Relativity</a:t>
            </a:r>
          </a:p>
          <a:p>
            <a:pPr lvl="1" eaLnBrk="1" hangingPunct="1"/>
            <a:r>
              <a:rPr lang="en-US" b="1" dirty="0"/>
              <a:t>Thermodynamics</a:t>
            </a:r>
          </a:p>
          <a:p>
            <a:pPr lvl="1" eaLnBrk="1" hangingPunct="1"/>
            <a:r>
              <a:rPr lang="en-US" b="1" dirty="0"/>
              <a:t>Electromagnetism</a:t>
            </a:r>
          </a:p>
          <a:p>
            <a:pPr lvl="1" eaLnBrk="1" hangingPunct="1"/>
            <a:r>
              <a:rPr lang="en-US" b="1" dirty="0"/>
              <a:t>Optics</a:t>
            </a:r>
          </a:p>
          <a:p>
            <a:pPr lvl="1" eaLnBrk="1" hangingPunct="1"/>
            <a:r>
              <a:rPr lang="en-US" b="1" dirty="0"/>
              <a:t>Quantum Mechanics</a:t>
            </a:r>
          </a:p>
          <a:p>
            <a:pPr marL="0" indent="0" eaLnBrk="1" hangingPunct="1"/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THEORY AND EXPERIMENTS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/>
          <a:lstStyle/>
          <a:p>
            <a:pPr marL="0" indent="0"/>
            <a:r>
              <a:rPr lang="en-US" b="1" dirty="0"/>
              <a:t>Should complement each other</a:t>
            </a:r>
          </a:p>
          <a:p>
            <a:pPr marL="0" indent="0"/>
            <a:r>
              <a:rPr lang="en-US" b="1" dirty="0"/>
              <a:t>When a discrepancy occurs, theory may be modified or new theories formulated.</a:t>
            </a:r>
          </a:p>
          <a:p>
            <a:pPr lvl="1"/>
            <a:r>
              <a:rPr lang="en-US" b="1" dirty="0"/>
              <a:t>A theory may apply to limited conditions.</a:t>
            </a:r>
          </a:p>
          <a:p>
            <a:pPr lvl="2"/>
            <a:r>
              <a:rPr lang="en-US" b="1" dirty="0"/>
              <a:t>Example:  Newtonian Mechanics is confined to objects traveling slowly with respect to the speed of light.</a:t>
            </a:r>
          </a:p>
          <a:p>
            <a:pPr lvl="1"/>
            <a:r>
              <a:rPr lang="en-US" b="1" dirty="0"/>
              <a:t>Try to develop a more general theory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MEASUREMENTS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eaLnBrk="1" hangingPunct="1"/>
            <a:r>
              <a:rPr lang="en-US" b="1" dirty="0"/>
              <a:t>Used to describe natural phenomena</a:t>
            </a:r>
          </a:p>
          <a:p>
            <a:pPr marL="0" indent="0" eaLnBrk="1" hangingPunct="1"/>
            <a:r>
              <a:rPr lang="en-US" b="1" dirty="0"/>
              <a:t>Each measurement is associated with a physical quantity</a:t>
            </a:r>
          </a:p>
          <a:p>
            <a:pPr marL="0" indent="0" eaLnBrk="1" hangingPunct="1"/>
            <a:r>
              <a:rPr lang="en-US" b="1" dirty="0"/>
              <a:t>To measure a quantity, we need defined </a:t>
            </a:r>
            <a:r>
              <a:rPr lang="en-US" b="1" u="sng" dirty="0">
                <a:solidFill>
                  <a:srgbClr val="FF0000"/>
                </a:solidFill>
              </a:rPr>
              <a:t>standards</a:t>
            </a:r>
          </a:p>
          <a:p>
            <a:pPr marL="0" indent="0" eaLnBrk="1" hangingPunct="1"/>
            <a:r>
              <a:rPr lang="en-US" b="1" u="sng" dirty="0"/>
              <a:t>Characteristics of standards for measurements</a:t>
            </a:r>
          </a:p>
          <a:p>
            <a:pPr lvl="1" eaLnBrk="1" hangingPunct="1"/>
            <a:r>
              <a:rPr lang="en-US" b="1" dirty="0">
                <a:solidFill>
                  <a:srgbClr val="3333CC"/>
                </a:solidFill>
              </a:rPr>
              <a:t>Readily accessible </a:t>
            </a:r>
          </a:p>
          <a:p>
            <a:pPr lvl="1" eaLnBrk="1" hangingPunct="1"/>
            <a:r>
              <a:rPr lang="en-US" b="1" dirty="0">
                <a:solidFill>
                  <a:srgbClr val="3333CC"/>
                </a:solidFill>
              </a:rPr>
              <a:t>Possess some property that can be measured reliably</a:t>
            </a:r>
          </a:p>
          <a:p>
            <a:pPr lvl="1" eaLnBrk="1" hangingPunct="1"/>
            <a:r>
              <a:rPr lang="en-US" b="1" dirty="0">
                <a:solidFill>
                  <a:srgbClr val="3333CC"/>
                </a:solidFill>
              </a:rPr>
              <a:t>Must yield the same results when used by anyone anywhere</a:t>
            </a:r>
          </a:p>
          <a:p>
            <a:pPr lvl="1" eaLnBrk="1" hangingPunct="1"/>
            <a:r>
              <a:rPr lang="en-US" b="1" dirty="0">
                <a:solidFill>
                  <a:srgbClr val="3333CC"/>
                </a:solidFill>
              </a:rPr>
              <a:t>Cannot change with time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STANDARDS OF FUNDAMENTAL QUANTITIES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eaLnBrk="1" hangingPunct="1"/>
            <a:r>
              <a:rPr lang="en-US" b="1" dirty="0"/>
              <a:t>Standardized systems</a:t>
            </a:r>
          </a:p>
          <a:p>
            <a:pPr lvl="1" eaLnBrk="1" hangingPunct="1"/>
            <a:r>
              <a:rPr lang="en-US" b="1" dirty="0"/>
              <a:t>Agreed upon by some authority, usually a governmental body</a:t>
            </a:r>
          </a:p>
          <a:p>
            <a:pPr marL="0" indent="0" eaLnBrk="1" hangingPunct="1"/>
            <a:r>
              <a:rPr lang="en-US" b="1" dirty="0"/>
              <a:t>SI – </a:t>
            </a:r>
            <a:r>
              <a:rPr lang="en-US" b="1" dirty="0" err="1"/>
              <a:t>Systéme</a:t>
            </a:r>
            <a:r>
              <a:rPr lang="en-US" b="1" dirty="0"/>
              <a:t> International</a:t>
            </a:r>
          </a:p>
          <a:p>
            <a:pPr lvl="1" eaLnBrk="1" hangingPunct="1"/>
            <a:r>
              <a:rPr lang="en-US" b="1" dirty="0"/>
              <a:t>Agreed to in 1960 by an international committee</a:t>
            </a:r>
          </a:p>
          <a:p>
            <a:pPr marL="0" lvl="1" indent="0" eaLnBrk="1" hangingPunct="1">
              <a:buNone/>
            </a:pPr>
            <a:r>
              <a:rPr lang="en-US" b="1" dirty="0"/>
              <a:t>Thus, measuring a quantity involves its comparison to a standard</a:t>
            </a:r>
          </a:p>
          <a:p>
            <a:pPr marL="0" lvl="1" indent="0" eaLnBrk="1" hangingPunct="1">
              <a:buNone/>
            </a:pPr>
            <a:r>
              <a:rPr lang="en-US" b="1" dirty="0">
                <a:solidFill>
                  <a:srgbClr val="FF0000"/>
                </a:solidFill>
              </a:rPr>
              <a:t>No “double standards”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6868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FUNDAMENTAL QUANTITIES AND THEIR UNITS</a:t>
            </a:r>
          </a:p>
        </p:txBody>
      </p:sp>
      <p:graphicFrame>
        <p:nvGraphicFramePr>
          <p:cNvPr id="4" name="Group 35"/>
          <p:cNvGraphicFramePr>
            <a:graphicFrameLocks/>
          </p:cNvGraphicFramePr>
          <p:nvPr/>
        </p:nvGraphicFramePr>
        <p:xfrm>
          <a:off x="228600" y="1355334"/>
          <a:ext cx="8458200" cy="4893065"/>
        </p:xfrm>
        <a:graphic>
          <a:graphicData uri="http://schemas.openxmlformats.org/drawingml/2006/table">
            <a:tbl>
              <a:tblPr/>
              <a:tblGrid>
                <a:gridCol w="422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51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6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Quantity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68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SI Unit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700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6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Arial" charset="0"/>
                        </a:rPr>
                        <a:t>Length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6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Arial" charset="0"/>
                        </a:rPr>
                        <a:t>meter  (m)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1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6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Arial" charset="0"/>
                        </a:rPr>
                        <a:t>Mass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6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Arial" charset="0"/>
                        </a:rPr>
                        <a:t>kilogram (kg)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700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6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Arial" charset="0"/>
                        </a:rPr>
                        <a:t>Time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6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Arial" charset="0"/>
                        </a:rPr>
                        <a:t>second (s)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51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6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Temperature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6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Kelvin (K)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51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6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Electric Current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6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Ampere (A)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700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6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Luminous Intensity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6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Candela (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cd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13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6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Amount of Substance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68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mole (mol)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DERIVED QUANTTIES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438650"/>
          </a:xfrm>
        </p:spPr>
        <p:txBody>
          <a:bodyPr>
            <a:normAutofit fontScale="92500" lnSpcReduction="10000"/>
          </a:bodyPr>
          <a:lstStyle/>
          <a:p>
            <a:pPr marL="0" indent="0" eaLnBrk="1" hangingPunct="1"/>
            <a:r>
              <a:rPr lang="en-US" b="1" dirty="0"/>
              <a:t>Derived quantities can be expressed as a mathematical combination of fundamental quantities.</a:t>
            </a:r>
          </a:p>
          <a:p>
            <a:pPr marL="0" indent="0" eaLnBrk="1" hangingPunct="1"/>
            <a:r>
              <a:rPr lang="en-US" b="1" dirty="0"/>
              <a:t>Examples:</a:t>
            </a:r>
          </a:p>
          <a:p>
            <a:pPr lvl="1" eaLnBrk="1" hangingPunct="1"/>
            <a:r>
              <a:rPr lang="en-US" b="1" dirty="0"/>
              <a:t>Area</a:t>
            </a:r>
          </a:p>
          <a:p>
            <a:pPr lvl="2" eaLnBrk="1" hangingPunct="1"/>
            <a:r>
              <a:rPr lang="en-US" b="1" dirty="0"/>
              <a:t>A product of two lengths</a:t>
            </a:r>
          </a:p>
          <a:p>
            <a:pPr lvl="1" eaLnBrk="1" hangingPunct="1"/>
            <a:r>
              <a:rPr lang="en-US" b="1" dirty="0"/>
              <a:t>Speed</a:t>
            </a:r>
          </a:p>
          <a:p>
            <a:pPr lvl="2" eaLnBrk="1" hangingPunct="1"/>
            <a:r>
              <a:rPr lang="en-US" b="1" dirty="0"/>
              <a:t>A ratio of a length to a time interval</a:t>
            </a:r>
          </a:p>
          <a:p>
            <a:pPr lvl="1" eaLnBrk="1" hangingPunct="1"/>
            <a:r>
              <a:rPr lang="en-US" b="1" dirty="0"/>
              <a:t>Density</a:t>
            </a:r>
          </a:p>
          <a:p>
            <a:pPr lvl="2" eaLnBrk="1" hangingPunct="1"/>
            <a:r>
              <a:rPr lang="en-US" b="1" dirty="0"/>
              <a:t>A ratio of mass to volume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353"/>
            <a:ext cx="8229600" cy="809847"/>
          </a:xfrm>
        </p:spPr>
        <p:txBody>
          <a:bodyPr/>
          <a:lstStyle/>
          <a:p>
            <a:r>
              <a:rPr lang="en-US" b="1" dirty="0"/>
              <a:t>QUANTITIES USED IN MECHANICS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419986" y="838200"/>
            <a:ext cx="8571614" cy="4438650"/>
          </a:xfrm>
        </p:spPr>
        <p:txBody>
          <a:bodyPr>
            <a:normAutofit fontScale="92500" lnSpcReduction="10000"/>
          </a:bodyPr>
          <a:lstStyle/>
          <a:p>
            <a:pPr marL="0" indent="0" eaLnBrk="1" hangingPunct="1"/>
            <a:r>
              <a:rPr lang="en-US" b="1" dirty="0"/>
              <a:t>In mechanics, three fundamental quantities are used:</a:t>
            </a:r>
          </a:p>
          <a:p>
            <a:pPr lvl="1" eaLnBrk="1" hangingPunct="1"/>
            <a:r>
              <a:rPr lang="en-US" b="1" dirty="0"/>
              <a:t>Length</a:t>
            </a:r>
          </a:p>
          <a:p>
            <a:pPr lvl="1" eaLnBrk="1" hangingPunct="1"/>
            <a:r>
              <a:rPr lang="en-US" b="1" dirty="0"/>
              <a:t>Mass</a:t>
            </a:r>
          </a:p>
          <a:p>
            <a:pPr lvl="1" eaLnBrk="1" hangingPunct="1"/>
            <a:r>
              <a:rPr lang="en-US" b="1" dirty="0"/>
              <a:t>Time</a:t>
            </a:r>
          </a:p>
          <a:p>
            <a:pPr marL="0" indent="0" eaLnBrk="1" hangingPunct="1"/>
            <a:r>
              <a:rPr lang="en-US" b="1" dirty="0"/>
              <a:t>All other quantities in mechanics can be expressed in terms of the three fundamental quantities.</a:t>
            </a:r>
          </a:p>
          <a:p>
            <a:pPr marL="0" indent="0"/>
            <a:r>
              <a:rPr lang="en-US" b="1" dirty="0"/>
              <a:t>Thus, </a:t>
            </a:r>
            <a:r>
              <a:rPr lang="en-US" b="1" dirty="0">
                <a:solidFill>
                  <a:srgbClr val="3333CC"/>
                </a:solidFill>
              </a:rPr>
              <a:t>measuring a quantity involves its comparison to a standard</a:t>
            </a:r>
            <a:r>
              <a:rPr lang="en-US" b="1" dirty="0"/>
              <a:t>.</a:t>
            </a:r>
          </a:p>
          <a:p>
            <a:pPr marL="0" indent="0" eaLnBrk="1" hangingPunct="1"/>
            <a:endParaRPr lang="en-US"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DEFINITION OF STANDARD UNITS: LENGTH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229600" cy="4648200"/>
          </a:xfrm>
        </p:spPr>
        <p:txBody>
          <a:bodyPr>
            <a:normAutofit fontScale="92500"/>
          </a:bodyPr>
          <a:lstStyle/>
          <a:p>
            <a:pPr marL="0" indent="0" eaLnBrk="1" hangingPunct="1"/>
            <a:r>
              <a:rPr lang="en-US" b="1" dirty="0"/>
              <a:t>Length is the distance between two points in space.</a:t>
            </a:r>
          </a:p>
          <a:p>
            <a:pPr marL="0" indent="0" eaLnBrk="1" hangingPunct="1"/>
            <a:r>
              <a:rPr lang="en-US" b="1" dirty="0"/>
              <a:t>Units</a:t>
            </a:r>
          </a:p>
          <a:p>
            <a:pPr lvl="1" eaLnBrk="1" hangingPunct="1"/>
            <a:r>
              <a:rPr lang="en-US" b="1" dirty="0"/>
              <a:t>SI unit– meter, m</a:t>
            </a:r>
          </a:p>
          <a:p>
            <a:pPr marL="0" indent="0" eaLnBrk="1" hangingPunct="1"/>
            <a:r>
              <a:rPr lang="en-US" b="1" dirty="0"/>
              <a:t>Defined in terms of </a:t>
            </a:r>
            <a:r>
              <a:rPr lang="en-US" b="1" u="sng" dirty="0"/>
              <a:t>a meter </a:t>
            </a:r>
            <a:r>
              <a:rPr lang="en-US" b="1" dirty="0"/>
              <a:t>– the distance traveled by light in a vacuum during a given time</a:t>
            </a:r>
          </a:p>
          <a:p>
            <a:pPr marL="0" indent="0" eaLnBrk="1" hangingPunct="1">
              <a:buNone/>
            </a:pPr>
            <a:endParaRPr lang="en-US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eaLnBrk="1" hangingPunct="1">
              <a:buNone/>
            </a:pPr>
            <a:r>
              <a:rPr lang="en-US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Note: Length is defined such that the speed of light in vacuum, c = 2.9979458 x 10</a:t>
            </a:r>
            <a:r>
              <a:rPr lang="en-US" i="1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 </a:t>
            </a:r>
            <a:r>
              <a:rPr lang="en-US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m/s  ≈ 3.0 x 10</a:t>
            </a:r>
            <a:r>
              <a:rPr lang="en-US" i="1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r>
              <a:rPr lang="en-US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m/s</a:t>
            </a:r>
            <a:endParaRPr lang="en-US" i="1" baseline="30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eaLnBrk="1" hangingPunct="1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8353"/>
            <a:ext cx="8229600" cy="1020762"/>
          </a:xfrm>
        </p:spPr>
        <p:txBody>
          <a:bodyPr/>
          <a:lstStyle/>
          <a:p>
            <a:r>
              <a:rPr lang="en-US" b="1" dirty="0"/>
              <a:t>MASS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914400"/>
            <a:ext cx="4724400" cy="4495800"/>
          </a:xfrm>
        </p:spPr>
        <p:txBody>
          <a:bodyPr/>
          <a:lstStyle/>
          <a:p>
            <a:pPr marL="0" indent="0" eaLnBrk="1" hangingPunct="1"/>
            <a:r>
              <a:rPr lang="en-US" b="1" dirty="0"/>
              <a:t>Units</a:t>
            </a:r>
          </a:p>
          <a:p>
            <a:pPr lvl="1" eaLnBrk="1" hangingPunct="1"/>
            <a:r>
              <a:rPr lang="en-US" b="1" dirty="0"/>
              <a:t>SI – kilogram, kg</a:t>
            </a:r>
          </a:p>
          <a:p>
            <a:pPr lvl="1" eaLnBrk="1" hangingPunct="1"/>
            <a:endParaRPr lang="en-US" b="1" dirty="0"/>
          </a:p>
          <a:p>
            <a:pPr marL="0" indent="0" eaLnBrk="1" hangingPunct="1"/>
            <a:r>
              <a:rPr lang="en-US" b="1" dirty="0"/>
              <a:t>Defined in terms of a kilogram, based on a specific (standard) cylinder kept at the International Bureau of Standards</a:t>
            </a:r>
          </a:p>
        </p:txBody>
      </p:sp>
      <p:pic>
        <p:nvPicPr>
          <p:cNvPr id="6" name="Picture 7" descr="0101a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5486400" y="304800"/>
            <a:ext cx="3352800" cy="458992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479" y="76200"/>
            <a:ext cx="8229600" cy="792162"/>
          </a:xfrm>
        </p:spPr>
        <p:txBody>
          <a:bodyPr/>
          <a:lstStyle/>
          <a:p>
            <a:r>
              <a:rPr lang="en-US" b="1" dirty="0"/>
              <a:t>MASS, CONT’D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9479" y="990600"/>
            <a:ext cx="8229600" cy="4525963"/>
          </a:xfrm>
        </p:spPr>
        <p:txBody>
          <a:bodyPr/>
          <a:lstStyle/>
          <a:p>
            <a:r>
              <a:rPr lang="en-US" b="1" dirty="0"/>
              <a:t>Measurement consists of a “comparison” to a standard; the result is the magnitude (of a physical quantity); </a:t>
            </a:r>
          </a:p>
          <a:p>
            <a:r>
              <a:rPr lang="en-US" b="1" dirty="0"/>
              <a:t>The magnitude must have a number and a unit.</a:t>
            </a:r>
          </a:p>
          <a:p>
            <a:pPr marL="0" indent="0">
              <a:buNone/>
            </a:pPr>
            <a:r>
              <a:rPr lang="en-US" b="1" dirty="0"/>
              <a:t> e.g. measurement of mass: 5 (meaningless);</a:t>
            </a:r>
          </a:p>
          <a:p>
            <a:pPr marL="0" indent="0">
              <a:buNone/>
            </a:pPr>
            <a:r>
              <a:rPr lang="en-US" b="1" dirty="0"/>
              <a:t>     5 kg (correct)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7635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TIME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47800"/>
            <a:ext cx="8229600" cy="4667250"/>
          </a:xfrm>
        </p:spPr>
        <p:txBody>
          <a:bodyPr/>
          <a:lstStyle/>
          <a:p>
            <a:pPr marL="0" indent="0" eaLnBrk="1" hangingPunct="1"/>
            <a:r>
              <a:rPr lang="en-US" b="1" dirty="0"/>
              <a:t>Units</a:t>
            </a:r>
          </a:p>
          <a:p>
            <a:pPr lvl="1" eaLnBrk="1" hangingPunct="1"/>
            <a:r>
              <a:rPr lang="en-US" b="1" dirty="0"/>
              <a:t>seconds, s</a:t>
            </a:r>
          </a:p>
          <a:p>
            <a:pPr marL="0" indent="0" eaLnBrk="1" hangingPunct="1"/>
            <a:r>
              <a:rPr lang="en-US" b="1" dirty="0"/>
              <a:t>Defined in terms of the oscillation of radiation from a cesium atom</a:t>
            </a:r>
          </a:p>
          <a:p>
            <a:pPr marL="0" indent="0" eaLnBrk="1" hangingPunct="1"/>
            <a:endParaRPr lang="en-US" b="1" dirty="0"/>
          </a:p>
          <a:p>
            <a:pPr marL="0" indent="0" eaLnBrk="1" hangingPunct="1"/>
            <a:endParaRPr lang="en-US" b="1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PREFIXES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229600" cy="4438650"/>
          </a:xfrm>
        </p:spPr>
        <p:txBody>
          <a:bodyPr>
            <a:normAutofit lnSpcReduction="10000"/>
          </a:bodyPr>
          <a:lstStyle/>
          <a:p>
            <a:pPr marL="0" indent="0" eaLnBrk="1" hangingPunct="1"/>
            <a:r>
              <a:rPr lang="en-US" b="1" dirty="0"/>
              <a:t>Prefixes correspond to powers of 10.</a:t>
            </a:r>
          </a:p>
          <a:p>
            <a:pPr marL="0" indent="0" eaLnBrk="1" hangingPunct="1"/>
            <a:r>
              <a:rPr lang="en-US" b="1" dirty="0"/>
              <a:t>Each prefix has a specific name.</a:t>
            </a:r>
          </a:p>
          <a:p>
            <a:pPr marL="0" indent="0" eaLnBrk="1" hangingPunct="1"/>
            <a:r>
              <a:rPr lang="en-US" b="1" dirty="0"/>
              <a:t>Each prefix has a specific abbreviation.</a:t>
            </a:r>
          </a:p>
          <a:p>
            <a:pPr marL="0" indent="0" eaLnBrk="1" hangingPunct="1"/>
            <a:r>
              <a:rPr lang="en-US" b="1" dirty="0"/>
              <a:t>The prefixes can be used with any basic units.</a:t>
            </a:r>
          </a:p>
          <a:p>
            <a:pPr marL="0" indent="0" eaLnBrk="1" hangingPunct="1"/>
            <a:r>
              <a:rPr lang="en-US" b="1" dirty="0"/>
              <a:t>They are multipliers of the basic unit.</a:t>
            </a:r>
          </a:p>
          <a:p>
            <a:pPr marL="0" indent="0" eaLnBrk="1" hangingPunct="1"/>
            <a:r>
              <a:rPr lang="en-US" b="1" dirty="0"/>
              <a:t>Examples:</a:t>
            </a:r>
          </a:p>
          <a:p>
            <a:pPr lvl="1" eaLnBrk="1" hangingPunct="1"/>
            <a:r>
              <a:rPr lang="en-US" b="1" dirty="0"/>
              <a:t>1 mm = 10</a:t>
            </a:r>
            <a:r>
              <a:rPr lang="en-US" b="1" baseline="30000" dirty="0"/>
              <a:t>-3</a:t>
            </a:r>
            <a:r>
              <a:rPr lang="en-US" b="1" dirty="0"/>
              <a:t> m</a:t>
            </a:r>
          </a:p>
          <a:p>
            <a:pPr lvl="1" eaLnBrk="1" hangingPunct="1"/>
            <a:r>
              <a:rPr lang="en-US" b="1" dirty="0"/>
              <a:t>1 mg = 10</a:t>
            </a:r>
            <a:r>
              <a:rPr lang="en-US" b="1" baseline="30000" dirty="0"/>
              <a:t>-3</a:t>
            </a:r>
            <a:r>
              <a:rPr lang="en-US" b="1" dirty="0"/>
              <a:t> g</a:t>
            </a:r>
          </a:p>
          <a:p>
            <a:pPr marL="0" indent="0" eaLnBrk="1" hangingPunct="1"/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b="1" dirty="0"/>
              <a:t>PREFIXES, CONT.</a:t>
            </a:r>
          </a:p>
        </p:txBody>
      </p:sp>
      <p:pic>
        <p:nvPicPr>
          <p:cNvPr id="4" name="Picture 6" descr="01T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" y="1447800"/>
            <a:ext cx="8966200" cy="35591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en-US" b="1" dirty="0"/>
              <a:t>CONVERSION OF UNITS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229600" cy="4743450"/>
          </a:xfrm>
        </p:spPr>
        <p:txBody>
          <a:bodyPr>
            <a:normAutofit lnSpcReduction="10000"/>
          </a:bodyPr>
          <a:lstStyle/>
          <a:p>
            <a:pPr marL="0" indent="0" eaLnBrk="1" hangingPunct="1"/>
            <a:r>
              <a:rPr lang="en-US" b="1" dirty="0"/>
              <a:t>When units are not consistent, you may need to convert to appropriate ones.</a:t>
            </a:r>
          </a:p>
          <a:p>
            <a:pPr marL="0" indent="0" eaLnBrk="1" hangingPunct="1"/>
            <a:endParaRPr lang="en-US" b="1" dirty="0"/>
          </a:p>
          <a:p>
            <a:pPr marL="0" indent="0" eaLnBrk="1" hangingPunct="1"/>
            <a:r>
              <a:rPr lang="en-US" b="1" dirty="0"/>
              <a:t>Units can be treated like algebraic quantities that can cancel each other out.</a:t>
            </a:r>
          </a:p>
          <a:p>
            <a:pPr marL="0" indent="0" eaLnBrk="1" hangingPunct="1"/>
            <a:endParaRPr lang="en-US" b="1" dirty="0"/>
          </a:p>
          <a:p>
            <a:pPr marL="0" indent="0"/>
            <a:r>
              <a:rPr lang="en-US" b="1" dirty="0"/>
              <a:t>When quantities are added, subtracted, multiplied or divided in an algebraic equation, the unit can be treated like any other quantity</a:t>
            </a:r>
          </a:p>
          <a:p>
            <a:pPr marL="0" indent="0" eaLnBrk="1" hangingPunct="1"/>
            <a:endParaRPr lang="en-US" b="1" dirty="0"/>
          </a:p>
          <a:p>
            <a:pPr marL="0" indent="0" eaLnBrk="1" hangingPunct="1">
              <a:buFont typeface="Wingdings" pitchFamily="28" charset="2"/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038211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CONVERSION OF UNITS,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0">
              <a:buNone/>
            </a:pPr>
            <a:endParaRPr lang="en-US" b="1" dirty="0"/>
          </a:p>
          <a:p>
            <a:pPr indent="0">
              <a:buNone/>
            </a:pPr>
            <a:endParaRPr lang="en-US" b="1" dirty="0"/>
          </a:p>
          <a:p>
            <a:pPr indent="0">
              <a:buNone/>
            </a:pPr>
            <a:r>
              <a:rPr lang="en-US" b="1" dirty="0"/>
              <a:t>  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588258"/>
            <a:ext cx="76962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</a:pPr>
            <a:r>
              <a:rPr lang="en-US" sz="4000" b="1" dirty="0">
                <a:solidFill>
                  <a:prstClr val="black"/>
                </a:solidFill>
              </a:rPr>
              <a:t>The length(L) of a rectangle is 50 cm and width (W) is 150 cm. Determine its area,  A=L x B</a:t>
            </a:r>
          </a:p>
          <a:p>
            <a:pPr lvl="0">
              <a:spcBef>
                <a:spcPct val="20000"/>
              </a:spcBef>
            </a:pPr>
            <a:r>
              <a:rPr lang="en-US" sz="4000" b="1" dirty="0">
                <a:solidFill>
                  <a:prstClr val="black"/>
                </a:solidFill>
              </a:rPr>
              <a:t>in:</a:t>
            </a:r>
          </a:p>
          <a:p>
            <a:pPr lvl="0">
              <a:spcBef>
                <a:spcPct val="20000"/>
              </a:spcBef>
            </a:pPr>
            <a:r>
              <a:rPr lang="en-US" sz="4000" b="1" dirty="0">
                <a:solidFill>
                  <a:prstClr val="black"/>
                </a:solidFill>
              </a:rPr>
              <a:t>   (i) cm</a:t>
            </a:r>
            <a:r>
              <a:rPr lang="en-US" sz="4000" b="1" baseline="30000" dirty="0">
                <a:solidFill>
                  <a:prstClr val="black"/>
                </a:solidFill>
              </a:rPr>
              <a:t>2</a:t>
            </a:r>
            <a:r>
              <a:rPr lang="en-US" sz="4000" b="1" dirty="0">
                <a:solidFill>
                  <a:prstClr val="black"/>
                </a:solidFill>
              </a:rPr>
              <a:t> </a:t>
            </a:r>
          </a:p>
          <a:p>
            <a:pPr lvl="0">
              <a:spcBef>
                <a:spcPct val="20000"/>
              </a:spcBef>
            </a:pPr>
            <a:r>
              <a:rPr lang="en-US" sz="4000" b="1" dirty="0">
                <a:solidFill>
                  <a:prstClr val="black"/>
                </a:solidFill>
              </a:rPr>
              <a:t>   (ii) m</a:t>
            </a:r>
            <a:r>
              <a:rPr lang="en-US" sz="4000" b="1" baseline="30000" dirty="0">
                <a:solidFill>
                  <a:prstClr val="black"/>
                </a:solidFill>
              </a:rPr>
              <a:t>2 </a:t>
            </a:r>
          </a:p>
        </p:txBody>
      </p:sp>
    </p:spTree>
    <p:extLst>
      <p:ext uri="{BB962C8B-B14F-4D97-AF65-F5344CB8AC3E}">
        <p14:creationId xmlns:p14="http://schemas.microsoft.com/office/powerpoint/2010/main" val="17153958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CONVERSIONS, CONT.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Suppose A=150 cm, B=1m, what is C &amp; D?</a:t>
            </a:r>
          </a:p>
          <a:p>
            <a:r>
              <a:rPr lang="en-US" b="1" dirty="0"/>
              <a:t>C=A+B=150 +1=151</a:t>
            </a:r>
            <a:r>
              <a:rPr lang="en-US" b="1" dirty="0">
                <a:solidFill>
                  <a:srgbClr val="FF0000"/>
                </a:solidFill>
              </a:rPr>
              <a:t>?               WRONG!!!</a:t>
            </a:r>
          </a:p>
          <a:p>
            <a:r>
              <a:rPr lang="en-US" b="1" dirty="0">
                <a:solidFill>
                  <a:srgbClr val="FF0000"/>
                </a:solidFill>
              </a:rPr>
              <a:t>Here is the right approach</a:t>
            </a:r>
            <a:r>
              <a:rPr lang="en-US" b="1" dirty="0"/>
              <a:t>: First convert A &amp; B into the same units, e.g. cm</a:t>
            </a:r>
          </a:p>
          <a:p>
            <a:pPr marL="0" indent="0">
              <a:buNone/>
            </a:pPr>
            <a:r>
              <a:rPr lang="en-US" b="1" dirty="0"/>
              <a:t>Use the conversion factor: 100 cm=1 m</a:t>
            </a:r>
          </a:p>
          <a:p>
            <a:r>
              <a:rPr lang="en-US" b="1" dirty="0"/>
              <a:t>A=150 cm =1.5 m, B=1m=100 cm</a:t>
            </a:r>
          </a:p>
          <a:p>
            <a:pPr marL="0" indent="0">
              <a:buNone/>
            </a:pPr>
            <a:r>
              <a:rPr lang="en-US" b="1" dirty="0"/>
              <a:t>Therefore,</a:t>
            </a:r>
          </a:p>
          <a:p>
            <a:r>
              <a:rPr lang="en-US" b="1" dirty="0"/>
              <a:t>C=150 cm +100 cm=250 cm (or C=2.5 m)</a:t>
            </a:r>
          </a:p>
          <a:p>
            <a:r>
              <a:rPr lang="en-US" b="1" dirty="0"/>
              <a:t>D=150 cm-100 cm=50 cm (or D=0.5m)</a:t>
            </a:r>
          </a:p>
          <a:p>
            <a:r>
              <a:rPr lang="en-US" b="1" dirty="0">
                <a:solidFill>
                  <a:srgbClr val="FF0000"/>
                </a:solidFill>
              </a:rPr>
              <a:t>ALWAYS CHECK DIMENSIONS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4455523" y="2057400"/>
            <a:ext cx="228600" cy="3048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H="1">
            <a:off x="4455523" y="2057400"/>
            <a:ext cx="228600" cy="3048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80402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DIMENSIONS OF PHYSICAL QUANTITIES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24000"/>
            <a:ext cx="8229600" cy="4591050"/>
          </a:xfrm>
        </p:spPr>
        <p:txBody>
          <a:bodyPr>
            <a:normAutofit fontScale="77500" lnSpcReduction="20000"/>
          </a:bodyPr>
          <a:lstStyle/>
          <a:p>
            <a:pPr marL="0" indent="0" eaLnBrk="1" hangingPunct="1"/>
            <a:r>
              <a:rPr lang="en-US" b="1" dirty="0"/>
              <a:t>Dimension has a specific meaning in physics – it </a:t>
            </a:r>
            <a:r>
              <a:rPr lang="en-US" b="1" u="sng" dirty="0">
                <a:solidFill>
                  <a:srgbClr val="3333CC"/>
                </a:solidFill>
              </a:rPr>
              <a:t>denotes the physical nature of a quantity</a:t>
            </a:r>
            <a:r>
              <a:rPr lang="en-US" b="1" dirty="0"/>
              <a:t>.</a:t>
            </a:r>
          </a:p>
          <a:p>
            <a:pPr marL="0" indent="0" eaLnBrk="1" hangingPunct="1">
              <a:buNone/>
            </a:pPr>
            <a:endParaRPr lang="en-US" b="1" dirty="0"/>
          </a:p>
          <a:p>
            <a:pPr marL="0" indent="0" eaLnBrk="1" hangingPunct="1"/>
            <a:r>
              <a:rPr lang="en-US" b="1" dirty="0"/>
              <a:t>Dimensions are often denoted with square brackets.</a:t>
            </a:r>
          </a:p>
          <a:p>
            <a:pPr lvl="1" eaLnBrk="1" hangingPunct="1"/>
            <a:r>
              <a:rPr lang="en-US" b="1" dirty="0"/>
              <a:t>Length [L]</a:t>
            </a:r>
          </a:p>
          <a:p>
            <a:pPr lvl="1" eaLnBrk="1" hangingPunct="1"/>
            <a:r>
              <a:rPr lang="en-US" b="1" dirty="0"/>
              <a:t>Mass [M]</a:t>
            </a:r>
          </a:p>
          <a:p>
            <a:pPr lvl="1" eaLnBrk="1" hangingPunct="1"/>
            <a:r>
              <a:rPr lang="en-US" b="1" dirty="0"/>
              <a:t>Time [T]</a:t>
            </a:r>
          </a:p>
          <a:p>
            <a:pPr marL="0" lvl="1" indent="0">
              <a:buNone/>
            </a:pPr>
            <a:endParaRPr lang="en-US" b="1" dirty="0"/>
          </a:p>
          <a:p>
            <a:pPr marL="0" lvl="1" indent="0">
              <a:buNone/>
            </a:pPr>
            <a:r>
              <a:rPr lang="en-US" b="1" dirty="0"/>
              <a:t>Note: Subtracting/adding two physical quantities is only possible if the quantities have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u="sng" dirty="0">
                <a:solidFill>
                  <a:srgbClr val="FF0000"/>
                </a:solidFill>
              </a:rPr>
              <a:t>the same dimensions, expressed in the same units</a:t>
            </a:r>
          </a:p>
          <a:p>
            <a:pPr marL="0" lvl="1" indent="0">
              <a:buNone/>
            </a:pPr>
            <a:endParaRPr lang="en-US" b="1" dirty="0"/>
          </a:p>
          <a:p>
            <a:pPr marL="0" lvl="1" indent="0">
              <a:buNone/>
            </a:pPr>
            <a:r>
              <a:rPr lang="en-US" b="1" dirty="0"/>
              <a:t>Note: </a:t>
            </a:r>
            <a:r>
              <a:rPr lang="en-US" b="1" dirty="0">
                <a:solidFill>
                  <a:srgbClr val="FF0000"/>
                </a:solidFill>
              </a:rPr>
              <a:t>“You cannot add apples to oranges”.</a:t>
            </a:r>
          </a:p>
          <a:p>
            <a:pPr marL="0" lvl="1" indent="0" eaLnBrk="1" hangingPunct="1">
              <a:buNone/>
            </a:pPr>
            <a:endParaRPr lang="en-US" b="1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BASIS OF DIMENSIONAL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85793"/>
            <a:ext cx="8839200" cy="52578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Dimensional analysis is based on the following facts:</a:t>
            </a:r>
          </a:p>
          <a:p>
            <a:pPr marL="0" indent="0">
              <a:buNone/>
            </a:pPr>
            <a:r>
              <a:rPr lang="en-US" dirty="0"/>
              <a:t>1. The Physical laws:  </a:t>
            </a:r>
          </a:p>
          <a:p>
            <a:pPr marL="0" indent="0">
              <a:buNone/>
            </a:pPr>
            <a:r>
              <a:rPr lang="en-US" dirty="0"/>
              <a:t>	n</a:t>
            </a:r>
            <a:r>
              <a:rPr lang="en-US" baseline="-25000" dirty="0"/>
              <a:t>1</a:t>
            </a:r>
            <a:r>
              <a:rPr lang="en-US" i="1" dirty="0"/>
              <a:t>a</a:t>
            </a:r>
            <a:r>
              <a:rPr lang="en-US" baseline="-25000" dirty="0"/>
              <a:t>1</a:t>
            </a:r>
            <a:r>
              <a:rPr lang="en-US" dirty="0"/>
              <a:t> = n</a:t>
            </a:r>
            <a:r>
              <a:rPr lang="en-US" baseline="-25000" dirty="0"/>
              <a:t>2</a:t>
            </a:r>
            <a:r>
              <a:rPr lang="en-US" i="1" dirty="0"/>
              <a:t>a</a:t>
            </a:r>
            <a:r>
              <a:rPr lang="en-US" baseline="-25000" dirty="0"/>
              <a:t>2</a:t>
            </a:r>
          </a:p>
          <a:p>
            <a:pPr marL="514350" indent="-514350">
              <a:buFont typeface="+mj-lt"/>
              <a:buAutoNum type="arabicPeriod"/>
            </a:pPr>
            <a:endParaRPr lang="en-US" baseline="-25000" dirty="0"/>
          </a:p>
          <a:p>
            <a:pPr marL="0" indent="0">
              <a:buNone/>
            </a:pPr>
            <a:r>
              <a:rPr lang="en-US" dirty="0"/>
              <a:t>2. Principle of Homogeneity: </a:t>
            </a:r>
          </a:p>
          <a:p>
            <a:pPr marL="0" indent="0">
              <a:buNone/>
            </a:pPr>
            <a:r>
              <a:rPr lang="en-US" dirty="0"/>
              <a:t>Equations depicting physical situations must have the same dimensions throughout.</a:t>
            </a:r>
          </a:p>
          <a:p>
            <a:pPr marL="0" indent="0">
              <a:buNone/>
            </a:pPr>
            <a:r>
              <a:rPr lang="fr-FR" dirty="0"/>
              <a:t>	[M]</a:t>
            </a:r>
            <a:r>
              <a:rPr lang="fr-FR" baseline="30000" dirty="0"/>
              <a:t>a</a:t>
            </a:r>
            <a:r>
              <a:rPr lang="fr-FR" dirty="0"/>
              <a:t> [L]</a:t>
            </a:r>
            <a:r>
              <a:rPr lang="fr-FR" baseline="30000" dirty="0"/>
              <a:t>b</a:t>
            </a:r>
            <a:r>
              <a:rPr lang="fr-FR" dirty="0"/>
              <a:t> [T]</a:t>
            </a:r>
            <a:r>
              <a:rPr lang="fr-FR" baseline="30000" dirty="0"/>
              <a:t>c</a:t>
            </a:r>
            <a:r>
              <a:rPr lang="fr-FR" dirty="0"/>
              <a:t> = [M]</a:t>
            </a:r>
            <a:r>
              <a:rPr lang="fr-FR" baseline="30000" dirty="0"/>
              <a:t>x</a:t>
            </a:r>
            <a:r>
              <a:rPr lang="fr-FR" dirty="0"/>
              <a:t> [L]</a:t>
            </a:r>
            <a:r>
              <a:rPr lang="fr-FR" baseline="30000" dirty="0"/>
              <a:t>y</a:t>
            </a:r>
            <a:r>
              <a:rPr lang="fr-FR" dirty="0"/>
              <a:t> [T]</a:t>
            </a:r>
            <a:r>
              <a:rPr lang="fr-FR" baseline="30000" dirty="0"/>
              <a:t>z</a:t>
            </a:r>
          </a:p>
          <a:p>
            <a:pPr marL="514350" indent="-514350">
              <a:buFont typeface="+mj-lt"/>
              <a:buAutoNum type="arabicPeriod"/>
            </a:pPr>
            <a:endParaRPr lang="fr-FR" baseline="30000" dirty="0"/>
          </a:p>
          <a:p>
            <a:pPr marL="0" indent="0">
              <a:buNone/>
            </a:pPr>
            <a:endParaRPr lang="fr-FR" baseline="30000" dirty="0"/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[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MathJax_Math-italic"/>
              </a:rPr>
              <a:t>M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]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MathJax_Math-italic"/>
              </a:rPr>
              <a:t>a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Minion Pro"/>
              </a:rPr>
              <a:t> 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[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MathJax_Math-italic"/>
              </a:rPr>
              <a:t>L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]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MathJax_Math-italic"/>
              </a:rPr>
              <a:t>b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Minion Pro"/>
              </a:rPr>
              <a:t> 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[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MathJax_Math-italic"/>
              </a:rPr>
              <a:t>T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]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MathJax_Math-italic"/>
              </a:rPr>
              <a:t>c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Minion Pro"/>
              </a:rPr>
              <a:t> = 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[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MathJax_Math-italic"/>
              </a:rPr>
              <a:t>M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]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MathJax_Math-italic"/>
              </a:rPr>
              <a:t>x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Minion Pro"/>
              </a:rPr>
              <a:t> 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[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MathJax_Math-italic"/>
              </a:rPr>
              <a:t>L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]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MathJax_Math-italic"/>
              </a:rPr>
              <a:t>y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Minion Pro"/>
              </a:rPr>
              <a:t> 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[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MathJax_Math-italic"/>
              </a:rPr>
              <a:t>T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MathJax_Main"/>
              </a:rPr>
              <a:t>]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MathJax_Math-italic"/>
              </a:rPr>
              <a:t>z</a:t>
            </a:r>
            <a:b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7160361"/>
              </p:ext>
            </p:extLst>
          </p:nvPr>
        </p:nvGraphicFramePr>
        <p:xfrm>
          <a:off x="1130300" y="5867400"/>
          <a:ext cx="3208338" cy="66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7" name="Equation" r:id="rId3" imgW="1562040" imgH="203040" progId="Equation.DSMT4">
                  <p:embed/>
                </p:oleObj>
              </mc:Choice>
              <mc:Fallback>
                <p:oleObj name="Equation" r:id="rId3" imgW="15620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30300" y="5867400"/>
                        <a:ext cx="3208338" cy="668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919548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APPLICATIONS OF DIMENSIONAL ANALYSIS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47800"/>
            <a:ext cx="8229600" cy="4648200"/>
          </a:xfrm>
        </p:spPr>
        <p:txBody>
          <a:bodyPr>
            <a:normAutofit fontScale="70000" lnSpcReduction="20000"/>
          </a:bodyPr>
          <a:lstStyle/>
          <a:p>
            <a:pPr marL="0" indent="0" eaLnBrk="1" hangingPunct="1">
              <a:lnSpc>
                <a:spcPct val="90000"/>
              </a:lnSpc>
            </a:pPr>
            <a:r>
              <a:rPr lang="en-US" b="1" dirty="0"/>
              <a:t>Technique to check the correctness of an equation (or to assist in deriving an equation)</a:t>
            </a:r>
          </a:p>
          <a:p>
            <a:pPr marL="0" indent="0" eaLnBrk="1" hangingPunct="1">
              <a:lnSpc>
                <a:spcPct val="90000"/>
              </a:lnSpc>
            </a:pPr>
            <a:endParaRPr lang="en-US" b="1" dirty="0"/>
          </a:p>
          <a:p>
            <a:pPr marL="0" indent="0" eaLnBrk="1" hangingPunct="1">
              <a:lnSpc>
                <a:spcPct val="90000"/>
              </a:lnSpc>
            </a:pPr>
            <a:r>
              <a:rPr lang="en-US" b="1" dirty="0"/>
              <a:t>Dimensions (length, mass, time, combinations) can be treated as algebraic quantities. They obey simple algebra 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dirty="0"/>
              <a:t>Add, subtract, multiply, divide</a:t>
            </a:r>
          </a:p>
          <a:p>
            <a:pPr lvl="1" eaLnBrk="1" hangingPunct="1">
              <a:lnSpc>
                <a:spcPct val="90000"/>
              </a:lnSpc>
            </a:pPr>
            <a:endParaRPr lang="en-US" b="1" dirty="0"/>
          </a:p>
          <a:p>
            <a:pPr marL="0" indent="0" eaLnBrk="1" hangingPunct="1">
              <a:lnSpc>
                <a:spcPct val="90000"/>
              </a:lnSpc>
            </a:pPr>
            <a:r>
              <a:rPr lang="en-US" b="1" dirty="0"/>
              <a:t>Both sides of equation must have the same dimensions.</a:t>
            </a:r>
          </a:p>
          <a:p>
            <a:pPr marL="0" indent="0" eaLnBrk="1" hangingPunct="1">
              <a:lnSpc>
                <a:spcPct val="90000"/>
              </a:lnSpc>
            </a:pPr>
            <a:endParaRPr lang="en-US" b="1" dirty="0"/>
          </a:p>
          <a:p>
            <a:pPr marL="0" indent="0" eaLnBrk="1" hangingPunct="1">
              <a:lnSpc>
                <a:spcPct val="90000"/>
              </a:lnSpc>
            </a:pPr>
            <a:r>
              <a:rPr lang="en-US" b="1" dirty="0">
                <a:solidFill>
                  <a:srgbClr val="FF0000"/>
                </a:solidFill>
              </a:rPr>
              <a:t>Any relationship can be correct only if the dimensions on both sides of the equation are the same.</a:t>
            </a:r>
          </a:p>
          <a:p>
            <a:pPr marL="0" indent="0" eaLnBrk="1" hangingPunct="1">
              <a:lnSpc>
                <a:spcPct val="90000"/>
              </a:lnSpc>
            </a:pPr>
            <a:endParaRPr lang="en-US" b="1" dirty="0"/>
          </a:p>
          <a:p>
            <a:pPr marL="0" indent="0">
              <a:lnSpc>
                <a:spcPct val="90000"/>
              </a:lnSpc>
            </a:pPr>
            <a:r>
              <a:rPr lang="en-US" b="1" dirty="0">
                <a:solidFill>
                  <a:srgbClr val="FF0000"/>
                </a:solidFill>
              </a:rPr>
              <a:t>Limitation: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/>
              <a:t>Dimensional analysis only </a:t>
            </a:r>
            <a:r>
              <a:rPr lang="en-US" b="1" dirty="0">
                <a:solidFill>
                  <a:srgbClr val="FF0000"/>
                </a:solidFill>
              </a:rPr>
              <a:t>gives units of numerical constants but not their values</a:t>
            </a:r>
            <a:r>
              <a:rPr lang="en-US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975682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USING DIMENSIONAL ANALYSIS TO CHECK CORRECTNESS OF EQUATIONS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676400"/>
            <a:ext cx="8382000" cy="4800600"/>
          </a:xfrm>
        </p:spPr>
        <p:txBody>
          <a:bodyPr>
            <a:normAutofit fontScale="92500" lnSpcReduction="10000"/>
          </a:bodyPr>
          <a:lstStyle/>
          <a:p>
            <a:pPr marL="0" indent="0" eaLnBrk="1" hangingPunct="1">
              <a:lnSpc>
                <a:spcPct val="90000"/>
              </a:lnSpc>
            </a:pPr>
            <a:r>
              <a:rPr lang="en-US" b="1" dirty="0"/>
              <a:t>Given the equation: </a:t>
            </a:r>
            <a:r>
              <a:rPr lang="en-US" b="1" i="1" dirty="0"/>
              <a:t>x</a:t>
            </a:r>
            <a:r>
              <a:rPr lang="en-US" b="1" dirty="0"/>
              <a:t> = ½ </a:t>
            </a:r>
            <a:r>
              <a:rPr lang="en-US" b="1" i="1" dirty="0"/>
              <a:t>at </a:t>
            </a:r>
            <a:r>
              <a:rPr lang="en-US" b="1" baseline="30000" dirty="0"/>
              <a:t>2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b="1" baseline="3000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b="1" i="1" dirty="0"/>
              <a:t>[Note: a is acceleration and is measured in m/s</a:t>
            </a:r>
            <a:r>
              <a:rPr lang="en-US" b="1" i="1" baseline="30000" dirty="0"/>
              <a:t>2</a:t>
            </a:r>
            <a:r>
              <a:rPr lang="en-US" b="1" i="1" dirty="0"/>
              <a:t>, t in seconds(s)]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en-US" b="1" dirty="0"/>
              <a:t>Check dimensions on each side:</a:t>
            </a:r>
          </a:p>
          <a:p>
            <a:pPr marL="0" indent="0" eaLnBrk="1" hangingPunct="1">
              <a:lnSpc>
                <a:spcPct val="90000"/>
              </a:lnSpc>
            </a:pPr>
            <a:endParaRPr lang="en-US" b="1" dirty="0"/>
          </a:p>
          <a:p>
            <a:pPr marL="0" indent="0" eaLnBrk="1" hangingPunct="1">
              <a:lnSpc>
                <a:spcPct val="90000"/>
              </a:lnSpc>
            </a:pPr>
            <a:endParaRPr lang="en-US" b="1" dirty="0"/>
          </a:p>
          <a:p>
            <a:pPr marL="0" indent="0" eaLnBrk="1" hangingPunct="1">
              <a:lnSpc>
                <a:spcPct val="90000"/>
              </a:lnSpc>
            </a:pPr>
            <a:r>
              <a:rPr lang="en-US" b="1" dirty="0"/>
              <a:t>The T</a:t>
            </a:r>
            <a:r>
              <a:rPr lang="en-US" b="1" baseline="30000" dirty="0"/>
              <a:t>2</a:t>
            </a:r>
            <a:r>
              <a:rPr lang="en-US" b="1" dirty="0"/>
              <a:t>’s cancel, leaving L as the dimension of each side. Therefore,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dirty="0"/>
              <a:t>The equation is dimensionally correct.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dirty="0"/>
              <a:t>No dimensions for the constant, ½; neglect it</a:t>
            </a:r>
            <a:r>
              <a:rPr lang="en-US" dirty="0"/>
              <a:t>.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9539278"/>
              </p:ext>
            </p:extLst>
          </p:nvPr>
        </p:nvGraphicFramePr>
        <p:xfrm>
          <a:off x="1295400" y="3733800"/>
          <a:ext cx="2207941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5" name="Equation" r:id="rId3" imgW="1905000" imgH="723900" progId="Equation.DSMT4">
                  <p:embed/>
                </p:oleObj>
              </mc:Choice>
              <mc:Fallback>
                <p:oleObj name="Equation" r:id="rId3" imgW="1905000" imgH="723900" progId="Equation.DSMT4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3733800"/>
                        <a:ext cx="2207941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3719" y="3962400"/>
            <a:ext cx="323850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868" y="4267200"/>
            <a:ext cx="323850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399630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Check whether the following are dimensionally correct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Check whether the following are dimensionally correct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1. s = </a:t>
            </a:r>
            <a:r>
              <a:rPr lang="en-US" dirty="0" err="1"/>
              <a:t>vt</a:t>
            </a:r>
            <a:r>
              <a:rPr lang="en-US" dirty="0"/>
              <a:t> + at</a:t>
            </a:r>
            <a:r>
              <a:rPr lang="en-US" baseline="30000" dirty="0"/>
              <a:t>2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2. s = vt</a:t>
            </a:r>
            <a:r>
              <a:rPr lang="en-US" baseline="30000" dirty="0"/>
              <a:t>2</a:t>
            </a:r>
            <a:r>
              <a:rPr lang="en-US" dirty="0"/>
              <a:t> + 0.5at</a:t>
            </a:r>
          </a:p>
          <a:p>
            <a:pPr marL="0" indent="0">
              <a:buNone/>
            </a:pPr>
            <a:r>
              <a:rPr lang="en-US" dirty="0"/>
              <a:t>3.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6187917"/>
              </p:ext>
            </p:extLst>
          </p:nvPr>
        </p:nvGraphicFramePr>
        <p:xfrm>
          <a:off x="1066800" y="3863181"/>
          <a:ext cx="1905000" cy="10968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3" name="Equation" r:id="rId3" imgW="838080" imgH="482400" progId="Equation.DSMT4">
                  <p:embed/>
                </p:oleObj>
              </mc:Choice>
              <mc:Fallback>
                <p:oleObj name="Equation" r:id="rId3" imgW="83808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66800" y="3863181"/>
                        <a:ext cx="1905000" cy="10968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966583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067800" cy="7620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3200" b="1" dirty="0"/>
              <a:t>USE OF DIMENSIONAL ANALYSIS TO DETERMINE A POWER LAW</a:t>
            </a:r>
          </a:p>
        </p:txBody>
      </p:sp>
      <p:sp>
        <p:nvSpPr>
          <p:cNvPr id="205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762000"/>
            <a:ext cx="8382000" cy="4411662"/>
          </a:xfrm>
        </p:spPr>
        <p:txBody>
          <a:bodyPr/>
          <a:lstStyle/>
          <a:p>
            <a:pPr marL="0" indent="0" eaLnBrk="1" hangingPunct="1"/>
            <a:r>
              <a:rPr lang="en-US" altLang="en-US" dirty="0"/>
              <a:t>Determine powers in a proportionality</a:t>
            </a:r>
          </a:p>
          <a:p>
            <a:pPr lvl="1" eaLnBrk="1" hangingPunct="1"/>
            <a:r>
              <a:rPr lang="en-US" altLang="en-US" dirty="0"/>
              <a:t>Example:  find the exponents in the expression</a:t>
            </a:r>
          </a:p>
          <a:p>
            <a:pPr lvl="2" eaLnBrk="1" hangingPunct="1"/>
            <a:endParaRPr lang="en-US" altLang="en-US" dirty="0"/>
          </a:p>
          <a:p>
            <a:pPr lvl="2" eaLnBrk="1" hangingPunct="1"/>
            <a:r>
              <a:rPr lang="en-US" altLang="en-US" dirty="0"/>
              <a:t>You must have lengths on both sides since LHS has dimension of length.</a:t>
            </a:r>
          </a:p>
          <a:p>
            <a:pPr lvl="2" eaLnBrk="1" hangingPunct="1"/>
            <a:r>
              <a:rPr lang="en-US" altLang="en-US" dirty="0"/>
              <a:t>Acceleration has dimensions of L/T</a:t>
            </a:r>
            <a:r>
              <a:rPr lang="en-US" altLang="en-US" baseline="30000" dirty="0"/>
              <a:t>2</a:t>
            </a:r>
            <a:endParaRPr lang="en-US" altLang="en-US" dirty="0"/>
          </a:p>
          <a:p>
            <a:pPr lvl="2" eaLnBrk="1" hangingPunct="1"/>
            <a:r>
              <a:rPr lang="en-US" altLang="en-US" dirty="0"/>
              <a:t>Time has dimensions of T.</a:t>
            </a:r>
          </a:p>
          <a:p>
            <a:pPr lvl="2" eaLnBrk="1" hangingPunct="1"/>
            <a:r>
              <a:rPr lang="en-US" altLang="en-US" dirty="0"/>
              <a:t>Analysis gives </a:t>
            </a:r>
          </a:p>
          <a:p>
            <a:pPr lvl="2" eaLnBrk="1" hangingPunct="1"/>
            <a:endParaRPr lang="en-US" altLang="en-US" sz="2100" dirty="0"/>
          </a:p>
          <a:p>
            <a:pPr marL="0" indent="0" eaLnBrk="1" hangingPunct="1"/>
            <a:endParaRPr lang="en-US" altLang="en-US" sz="2600" dirty="0"/>
          </a:p>
        </p:txBody>
      </p:sp>
      <p:graphicFrame>
        <p:nvGraphicFramePr>
          <p:cNvPr id="2050" name="Object 6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152160207"/>
              </p:ext>
            </p:extLst>
          </p:nvPr>
        </p:nvGraphicFramePr>
        <p:xfrm>
          <a:off x="2362200" y="1905000"/>
          <a:ext cx="1143000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0" name="Equation" r:id="rId3" imgW="596880" imgH="203040" progId="Equation.DSMT4">
                  <p:embed/>
                </p:oleObj>
              </mc:Choice>
              <mc:Fallback>
                <p:oleObj name="Equation" r:id="rId3" imgW="5968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905000"/>
                        <a:ext cx="1143000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9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175387427"/>
              </p:ext>
            </p:extLst>
          </p:nvPr>
        </p:nvGraphicFramePr>
        <p:xfrm>
          <a:off x="1828800" y="4572000"/>
          <a:ext cx="762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1" name="Equation" r:id="rId5" imgW="507960" imgH="203040" progId="Equation.DSMT4">
                  <p:embed/>
                </p:oleObj>
              </mc:Choice>
              <mc:Fallback>
                <p:oleObj name="Equation" r:id="rId5" imgW="5079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572000"/>
                        <a:ext cx="762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013283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USING DIMENSIONAL ANALYSIS TO DETERMINE THE FORM OF EXPRESSIONS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8458200" cy="4800600"/>
          </a:xfrm>
        </p:spPr>
        <p:txBody>
          <a:bodyPr>
            <a:normAutofit fontScale="92500" lnSpcReduction="20000"/>
          </a:bodyPr>
          <a:lstStyle/>
          <a:p>
            <a:endParaRPr lang="en-US" b="1" dirty="0"/>
          </a:p>
          <a:p>
            <a:r>
              <a:rPr lang="en-US" b="1" dirty="0"/>
              <a:t>Position (</a:t>
            </a:r>
            <a:r>
              <a:rPr lang="en-US" b="1" i="1" dirty="0"/>
              <a:t>x</a:t>
            </a:r>
            <a:r>
              <a:rPr lang="en-US" b="1" dirty="0"/>
              <a:t>) of a body under uniform acceleration is a function of time t and the acceleration (</a:t>
            </a:r>
            <a:r>
              <a:rPr lang="en-US" b="1" i="1" dirty="0"/>
              <a:t>a</a:t>
            </a:r>
            <a:r>
              <a:rPr lang="en-US" b="1" dirty="0"/>
              <a:t>). </a:t>
            </a:r>
          </a:p>
          <a:p>
            <a:r>
              <a:rPr lang="en-US" b="1" dirty="0"/>
              <a:t>Suppose we write this position as: </a:t>
            </a:r>
            <a:r>
              <a:rPr lang="en-US" b="1" i="1" dirty="0"/>
              <a:t>x </a:t>
            </a:r>
            <a:r>
              <a:rPr lang="en-US" b="1" dirty="0"/>
              <a:t>= </a:t>
            </a:r>
            <a:r>
              <a:rPr lang="en-US" b="1" dirty="0" err="1"/>
              <a:t>k</a:t>
            </a:r>
            <a:r>
              <a:rPr lang="en-US" b="1" i="1" dirty="0" err="1"/>
              <a:t>a</a:t>
            </a:r>
            <a:r>
              <a:rPr lang="en-US" b="1" i="1" baseline="30000" dirty="0" err="1"/>
              <a:t>m</a:t>
            </a:r>
            <a:r>
              <a:rPr lang="en-US" b="1" i="1" dirty="0" err="1"/>
              <a:t>t</a:t>
            </a:r>
            <a:r>
              <a:rPr lang="en-US" b="1" i="1" baseline="30000" dirty="0" err="1"/>
              <a:t>n</a:t>
            </a:r>
            <a:r>
              <a:rPr lang="en-US" b="1" baseline="30000" dirty="0"/>
              <a:t>,</a:t>
            </a:r>
            <a:r>
              <a:rPr lang="en-US" b="1" dirty="0"/>
              <a:t> where k is a dimensionless constant. </a:t>
            </a:r>
          </a:p>
          <a:p>
            <a:r>
              <a:rPr lang="en-US" b="1" dirty="0"/>
              <a:t>We can use dimensional analysis to find the values of </a:t>
            </a:r>
            <a:r>
              <a:rPr lang="en-US" b="1" i="1" dirty="0"/>
              <a:t>m </a:t>
            </a:r>
            <a:r>
              <a:rPr lang="en-US" b="1" dirty="0"/>
              <a:t>&amp; </a:t>
            </a:r>
            <a:r>
              <a:rPr lang="en-US" b="1" i="1" dirty="0"/>
              <a:t>n.</a:t>
            </a:r>
          </a:p>
          <a:p>
            <a:r>
              <a:rPr lang="en-US" b="1" dirty="0"/>
              <a:t>Final expression is: </a:t>
            </a:r>
            <a:r>
              <a:rPr lang="en-US" b="1" i="1" dirty="0"/>
              <a:t>x </a:t>
            </a:r>
            <a:r>
              <a:rPr lang="en-US" b="1" dirty="0"/>
              <a:t>= k</a:t>
            </a:r>
            <a:r>
              <a:rPr lang="en-US" b="1" i="1" dirty="0"/>
              <a:t>at</a:t>
            </a:r>
            <a:r>
              <a:rPr lang="en-US" b="1" i="1" baseline="30000" dirty="0"/>
              <a:t>2</a:t>
            </a:r>
          </a:p>
          <a:p>
            <a:pPr marL="0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Note: Dimensional Analysis gives units of proportionality constants but provides no information about their numerical values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61378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/>
          </a:bodyPr>
          <a:lstStyle/>
          <a:p>
            <a:r>
              <a:rPr lang="en-US" sz="3600" b="1" dirty="0"/>
              <a:t>SCIENTIFIC NOTATION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47800"/>
            <a:ext cx="8229600" cy="4667250"/>
          </a:xfrm>
        </p:spPr>
        <p:txBody>
          <a:bodyPr>
            <a:normAutofit fontScale="85000" lnSpcReduction="10000"/>
          </a:bodyPr>
          <a:lstStyle/>
          <a:p>
            <a:pPr marL="0" indent="0" eaLnBrk="1" hangingPunct="1"/>
            <a:r>
              <a:rPr lang="en-US" b="1" dirty="0"/>
              <a:t>Approximation based on a number of assumptions</a:t>
            </a:r>
          </a:p>
          <a:p>
            <a:pPr lvl="1" eaLnBrk="1" hangingPunct="1"/>
            <a:r>
              <a:rPr lang="en-US" b="1" dirty="0"/>
              <a:t>May need to modify assumptions if more precise results are needed</a:t>
            </a:r>
          </a:p>
          <a:p>
            <a:pPr lvl="1" eaLnBrk="1" hangingPunct="1"/>
            <a:endParaRPr lang="en-US" b="1" dirty="0"/>
          </a:p>
          <a:p>
            <a:pPr marL="0" indent="0" eaLnBrk="1" hangingPunct="1"/>
            <a:r>
              <a:rPr lang="en-US" b="1" dirty="0"/>
              <a:t>The order of magnitude is the power of 10 that applies.</a:t>
            </a:r>
          </a:p>
          <a:p>
            <a:pPr marL="0" indent="0" eaLnBrk="1" hangingPunct="1"/>
            <a:endParaRPr lang="en-US" b="1" dirty="0"/>
          </a:p>
          <a:p>
            <a:pPr marL="0" indent="0" eaLnBrk="1" hangingPunct="1"/>
            <a:r>
              <a:rPr lang="en-US" b="1" dirty="0"/>
              <a:t>Format: </a:t>
            </a:r>
            <a:r>
              <a:rPr lang="en-US" b="1" dirty="0">
                <a:solidFill>
                  <a:srgbClr val="FF0000"/>
                </a:solidFill>
              </a:rPr>
              <a:t>(number between 1 and 10) x 10</a:t>
            </a:r>
            <a:r>
              <a:rPr lang="en-US" b="1" baseline="30000" dirty="0">
                <a:solidFill>
                  <a:srgbClr val="FF0000"/>
                </a:solidFill>
              </a:rPr>
              <a:t>exponent</a:t>
            </a:r>
          </a:p>
          <a:p>
            <a:pPr marL="0" indent="0" eaLnBrk="1" hangingPunct="1"/>
            <a:endParaRPr lang="en-US" b="1" baseline="30000" dirty="0">
              <a:solidFill>
                <a:srgbClr val="FF0000"/>
              </a:solidFill>
            </a:endParaRPr>
          </a:p>
          <a:p>
            <a:pPr marL="0" indent="0" eaLnBrk="1" hangingPunct="1"/>
            <a:r>
              <a:rPr lang="en-US" b="1" dirty="0"/>
              <a:t>Very useful when handling very large or very small numbers</a:t>
            </a:r>
          </a:p>
        </p:txBody>
      </p:sp>
    </p:spTree>
    <p:extLst>
      <p:ext uri="{BB962C8B-B14F-4D97-AF65-F5344CB8AC3E}">
        <p14:creationId xmlns:p14="http://schemas.microsoft.com/office/powerpoint/2010/main" val="19001811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SCIENTIFIC NOTATION, 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Type 1:</a:t>
            </a:r>
          </a:p>
          <a:p>
            <a:pPr marL="0" indent="0">
              <a:buNone/>
            </a:pPr>
            <a:r>
              <a:rPr lang="en-US" b="1" dirty="0"/>
              <a:t>	100 = 1x10</a:t>
            </a:r>
            <a:r>
              <a:rPr lang="en-US" b="1" baseline="30000" dirty="0"/>
              <a:t>2</a:t>
            </a:r>
            <a:r>
              <a:rPr lang="en-US" b="1" dirty="0"/>
              <a:t> = 10</a:t>
            </a:r>
            <a:r>
              <a:rPr lang="en-US" b="1" baseline="30000" dirty="0"/>
              <a:t>2 </a:t>
            </a:r>
          </a:p>
          <a:p>
            <a:pPr marL="0" indent="0">
              <a:buNone/>
            </a:pPr>
            <a:r>
              <a:rPr lang="en-US" b="1" dirty="0"/>
              <a:t>	13 000 000 =1.3 x 10</a:t>
            </a:r>
            <a:r>
              <a:rPr lang="en-US" b="1" baseline="30000" dirty="0"/>
              <a:t>7</a:t>
            </a:r>
          </a:p>
          <a:p>
            <a:pPr marL="0" indent="0">
              <a:buNone/>
            </a:pPr>
            <a:r>
              <a:rPr lang="en-US" b="1" dirty="0"/>
              <a:t>	0.001=1 x 10</a:t>
            </a:r>
            <a:r>
              <a:rPr lang="en-US" b="1" baseline="30000" dirty="0"/>
              <a:t>-3</a:t>
            </a:r>
          </a:p>
          <a:p>
            <a:pPr marL="0" indent="0">
              <a:buNone/>
            </a:pPr>
            <a:endParaRPr lang="en-US" b="1" baseline="30000" dirty="0"/>
          </a:p>
          <a:p>
            <a:r>
              <a:rPr lang="en-US" b="1" dirty="0"/>
              <a:t>Type 2: </a:t>
            </a:r>
          </a:p>
          <a:p>
            <a:pPr marL="0" indent="0">
              <a:buNone/>
            </a:pPr>
            <a:r>
              <a:rPr lang="en-US" b="1" i="1" dirty="0"/>
              <a:t>	a</a:t>
            </a:r>
            <a:r>
              <a:rPr lang="en-US" b="1" dirty="0"/>
              <a:t>x10</a:t>
            </a:r>
            <a:r>
              <a:rPr lang="en-US" b="1" i="1" baseline="30000" dirty="0"/>
              <a:t>b</a:t>
            </a:r>
            <a:r>
              <a:rPr lang="en-US" b="1" dirty="0"/>
              <a:t> x  </a:t>
            </a:r>
            <a:r>
              <a:rPr lang="en-US" b="1" i="1" dirty="0"/>
              <a:t>c </a:t>
            </a:r>
            <a:r>
              <a:rPr lang="en-US" b="1" dirty="0"/>
              <a:t>x 10</a:t>
            </a:r>
            <a:r>
              <a:rPr lang="en-US" b="1" i="1" baseline="30000" dirty="0"/>
              <a:t>d</a:t>
            </a:r>
            <a:r>
              <a:rPr lang="en-US" b="1" i="1" dirty="0"/>
              <a:t> </a:t>
            </a:r>
            <a:r>
              <a:rPr lang="en-US" b="1" dirty="0"/>
              <a:t>= </a:t>
            </a:r>
            <a:r>
              <a:rPr lang="en-US" b="1" i="1" dirty="0"/>
              <a:t>ac </a:t>
            </a:r>
            <a:r>
              <a:rPr lang="en-US" b="1" dirty="0"/>
              <a:t>x 10</a:t>
            </a:r>
            <a:r>
              <a:rPr lang="en-US" b="1" baseline="30000" dirty="0"/>
              <a:t>b+d</a:t>
            </a:r>
          </a:p>
          <a:p>
            <a:pPr marL="0" indent="0">
              <a:buNone/>
            </a:pPr>
            <a:r>
              <a:rPr lang="en-US" b="1" dirty="0"/>
              <a:t>	1.2 x 10</a:t>
            </a:r>
            <a:r>
              <a:rPr lang="en-US" b="1" baseline="30000" dirty="0"/>
              <a:t>7</a:t>
            </a:r>
            <a:r>
              <a:rPr lang="en-US" b="1" dirty="0"/>
              <a:t> x 0.6 x 10</a:t>
            </a:r>
            <a:r>
              <a:rPr lang="en-US" b="1" baseline="30000" dirty="0"/>
              <a:t>-6</a:t>
            </a:r>
            <a:r>
              <a:rPr lang="en-US" b="1" dirty="0"/>
              <a:t> 	=(1.2 x 0.6) x 10</a:t>
            </a:r>
            <a:r>
              <a:rPr lang="en-US" b="1" baseline="30000" dirty="0"/>
              <a:t>7-6</a:t>
            </a:r>
            <a:r>
              <a:rPr lang="en-US" b="1" dirty="0"/>
              <a:t> </a:t>
            </a:r>
          </a:p>
          <a:p>
            <a:pPr marL="0" indent="0">
              <a:buNone/>
            </a:pPr>
            <a:r>
              <a:rPr lang="en-US" b="1" dirty="0"/>
              <a:t>				= 0.72 x 10</a:t>
            </a:r>
            <a:r>
              <a:rPr lang="en-US" b="1" baseline="30000" dirty="0"/>
              <a:t>-1</a:t>
            </a:r>
          </a:p>
          <a:p>
            <a:pPr marL="0" indent="0">
              <a:buNone/>
            </a:pPr>
            <a:endParaRPr lang="en-US" b="1" baseline="30000" dirty="0"/>
          </a:p>
          <a:p>
            <a:r>
              <a:rPr lang="en-US" b="1" dirty="0"/>
              <a:t>Type 3: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Note: 1 m = 10</a:t>
            </a:r>
            <a:r>
              <a:rPr lang="en-US" b="1" baseline="30000" dirty="0"/>
              <a:t>2 </a:t>
            </a:r>
            <a:r>
              <a:rPr lang="en-US" b="1" dirty="0"/>
              <a:t>cm ; 1 cm = 10</a:t>
            </a:r>
            <a:r>
              <a:rPr lang="en-US" b="1" baseline="30000" dirty="0"/>
              <a:t>-2</a:t>
            </a:r>
            <a:r>
              <a:rPr lang="en-US" b="1" dirty="0"/>
              <a:t> m</a:t>
            </a:r>
            <a:endParaRPr lang="en-US" b="1" baseline="30000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9249015"/>
              </p:ext>
            </p:extLst>
          </p:nvPr>
        </p:nvGraphicFramePr>
        <p:xfrm>
          <a:off x="1981200" y="4648200"/>
          <a:ext cx="1524000" cy="5899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9" name="Equation" r:id="rId3" imgW="1180800" imgH="457200" progId="Equation.3">
                  <p:embed/>
                </p:oleObj>
              </mc:Choice>
              <mc:Fallback>
                <p:oleObj name="Equation" r:id="rId3" imgW="1180800" imgH="45720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4648200"/>
                        <a:ext cx="1524000" cy="58993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67449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/>
          <a:lstStyle/>
          <a:p>
            <a:r>
              <a:rPr lang="en-US" b="1" dirty="0"/>
              <a:t>SIGNIFICANT FIGURES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678363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Many numbers are the result of measurements</a:t>
            </a:r>
          </a:p>
          <a:p>
            <a:r>
              <a:rPr lang="en-US" b="1" dirty="0"/>
              <a:t> A </a:t>
            </a:r>
            <a:r>
              <a:rPr lang="en-US" b="1" dirty="0">
                <a:solidFill>
                  <a:srgbClr val="FF0000"/>
                </a:solidFill>
              </a:rPr>
              <a:t>reliably known </a:t>
            </a:r>
            <a:r>
              <a:rPr lang="en-US" b="1" dirty="0"/>
              <a:t>digit (other than a zero used to locate a decimal point) is called a </a:t>
            </a:r>
            <a:r>
              <a:rPr lang="en-US" b="1" dirty="0">
                <a:solidFill>
                  <a:srgbClr val="FF0000"/>
                </a:solidFill>
              </a:rPr>
              <a:t>significant figure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/>
              <a:t>Examples:</a:t>
            </a:r>
          </a:p>
          <a:p>
            <a:pPr marL="400050" lvl="1" indent="0">
              <a:buNone/>
            </a:pPr>
            <a:r>
              <a:rPr lang="en-US" b="1" dirty="0"/>
              <a:t>	2.50 has 3 significant figures</a:t>
            </a:r>
          </a:p>
          <a:p>
            <a:pPr marL="0" indent="0">
              <a:buNone/>
            </a:pPr>
            <a:r>
              <a:rPr lang="en-US" b="1" dirty="0"/>
              <a:t>	2.504 has 4 significant figures</a:t>
            </a:r>
          </a:p>
          <a:p>
            <a:pPr marL="0" indent="0">
              <a:buNone/>
            </a:pPr>
            <a:r>
              <a:rPr lang="en-US" b="1" dirty="0"/>
              <a:t>	0.001201 has 4 significant figures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In a measurement, the significant figures include the first estimated digit.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826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SIGNIFICANT FIGURES, MORE DETAILS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19200"/>
            <a:ext cx="8229600" cy="4895850"/>
          </a:xfrm>
        </p:spPr>
        <p:txBody>
          <a:bodyPr>
            <a:normAutofit fontScale="92500" lnSpcReduction="10000"/>
          </a:bodyPr>
          <a:lstStyle/>
          <a:p>
            <a:pPr marL="0" indent="0" eaLnBrk="1" hangingPunct="1">
              <a:lnSpc>
                <a:spcPct val="90000"/>
              </a:lnSpc>
            </a:pPr>
            <a:r>
              <a:rPr lang="en-US" b="1" dirty="0"/>
              <a:t>0.0075 m has 2 significant figures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dirty="0"/>
              <a:t>The leading zeros are placeholders only.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dirty="0"/>
              <a:t>Write the value in scientific notation to show more clearly:</a:t>
            </a:r>
          </a:p>
          <a:p>
            <a:pPr lvl="1" eaLnBrk="1" hangingPunct="1">
              <a:lnSpc>
                <a:spcPct val="90000"/>
              </a:lnSpc>
              <a:buFont typeface="Wingdings" pitchFamily="28" charset="2"/>
              <a:buNone/>
            </a:pPr>
            <a:r>
              <a:rPr lang="en-US" b="1" dirty="0"/>
              <a:t>	 7.5 x 10</a:t>
            </a:r>
            <a:r>
              <a:rPr lang="en-US" b="1" baseline="30000" dirty="0"/>
              <a:t>-3</a:t>
            </a:r>
            <a:r>
              <a:rPr lang="en-US" b="1" dirty="0"/>
              <a:t> m for 2 significant figures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en-US" b="1" dirty="0"/>
              <a:t>10.0 m has 3 significant figures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dirty="0"/>
              <a:t>The decimal point gives information about the reliability of the measurement.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en-US" b="1" dirty="0"/>
              <a:t>1500 m is ambiguous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dirty="0"/>
              <a:t>Use 1.5 x 10</a:t>
            </a:r>
            <a:r>
              <a:rPr lang="en-US" b="1" baseline="30000" dirty="0"/>
              <a:t>3</a:t>
            </a:r>
            <a:r>
              <a:rPr lang="en-US" b="1" dirty="0"/>
              <a:t> m for 2 significant figures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dirty="0"/>
              <a:t>Use 1.50 x 10</a:t>
            </a:r>
            <a:r>
              <a:rPr lang="en-US" b="1" baseline="30000" dirty="0"/>
              <a:t>3</a:t>
            </a:r>
            <a:r>
              <a:rPr lang="en-US" b="1" dirty="0"/>
              <a:t> m for 3 significant figures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dirty="0"/>
              <a:t>Use 1.500 x 10</a:t>
            </a:r>
            <a:r>
              <a:rPr lang="en-US" b="1" baseline="30000" dirty="0"/>
              <a:t>3</a:t>
            </a:r>
            <a:r>
              <a:rPr lang="en-US" b="1" dirty="0"/>
              <a:t> m for 4 significant figures</a:t>
            </a:r>
          </a:p>
        </p:txBody>
      </p:sp>
    </p:spTree>
    <p:extLst>
      <p:ext uri="{BB962C8B-B14F-4D97-AF65-F5344CB8AC3E}">
        <p14:creationId xmlns:p14="http://schemas.microsoft.com/office/powerpoint/2010/main" val="38513905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OPERATIONS WITH SIGNIFICANT FIGURES – ADDITION OR SUBTRACTION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>
            <a:normAutofit/>
          </a:bodyPr>
          <a:lstStyle/>
          <a:p>
            <a:endParaRPr lang="en-US" sz="4000" b="1" dirty="0"/>
          </a:p>
          <a:p>
            <a:r>
              <a:rPr lang="en-US" sz="4000" b="1" dirty="0"/>
              <a:t>The result of the addition or subtraction of two numbers </a:t>
            </a:r>
            <a:r>
              <a:rPr lang="en-US" sz="4000" b="1" u="sng" dirty="0"/>
              <a:t>has no significant numbers beyond the least decimal place </a:t>
            </a:r>
            <a:r>
              <a:rPr lang="en-US" sz="4000" b="1" dirty="0"/>
              <a:t>where both of the original numbers had significant figures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8246748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b="1" dirty="0"/>
              <a:t>SIGNIFICANT FIGURES, 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71600"/>
            <a:ext cx="8686800" cy="5181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b="1" dirty="0"/>
              <a:t>Be careful when using calculators, </a:t>
            </a:r>
            <a:r>
              <a:rPr lang="en-US" sz="3600" b="1" u="sng" dirty="0"/>
              <a:t>don’t use </a:t>
            </a:r>
            <a:r>
              <a:rPr lang="en-US" sz="3600" b="1" dirty="0"/>
              <a:t>a digit off the calculator if it’s </a:t>
            </a:r>
            <a:r>
              <a:rPr lang="en-US" sz="3600" b="1" u="sng" dirty="0"/>
              <a:t>not significant</a:t>
            </a:r>
          </a:p>
          <a:p>
            <a:pPr marL="0" indent="0">
              <a:buNone/>
            </a:pPr>
            <a:r>
              <a:rPr lang="en-US" sz="3600" b="1" dirty="0"/>
              <a:t>Example 1: 1.251 + 0.0721 </a:t>
            </a:r>
          </a:p>
          <a:p>
            <a:pPr marL="0" indent="0">
              <a:buNone/>
            </a:pPr>
            <a:r>
              <a:rPr lang="en-US" sz="3600" b="1" dirty="0"/>
              <a:t>Calculator gives 1.3231. However, </a:t>
            </a:r>
            <a:r>
              <a:rPr lang="en-US" sz="3600" b="1" u="sng" dirty="0"/>
              <a:t>the sum should have only 3 significant figures beyond the decimal point</a:t>
            </a:r>
            <a:r>
              <a:rPr lang="en-US" sz="3600" b="1" dirty="0"/>
              <a:t> as 1.251 has 3 significant figures beyond the decimal point. Therefore, the answer should be 1.323</a:t>
            </a:r>
          </a:p>
        </p:txBody>
      </p:sp>
    </p:spTree>
    <p:extLst>
      <p:ext uri="{BB962C8B-B14F-4D97-AF65-F5344CB8AC3E}">
        <p14:creationId xmlns:p14="http://schemas.microsoft.com/office/powerpoint/2010/main" val="2331095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EXAMPLES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33560"/>
            <a:ext cx="8229600" cy="2514600"/>
          </a:xfrm>
        </p:spPr>
        <p:txBody>
          <a:bodyPr>
            <a:normAutofit fontScale="55000" lnSpcReduction="20000"/>
          </a:bodyPr>
          <a:lstStyle/>
          <a:p>
            <a:pPr marL="0" indent="0" eaLnBrk="1" hangingPunct="1"/>
            <a:r>
              <a:rPr lang="en-US" b="1" dirty="0"/>
              <a:t>Example 1:  135 cm + 3.25 cm = ? cm</a:t>
            </a:r>
          </a:p>
          <a:p>
            <a:pPr marL="0" indent="0" eaLnBrk="1" hangingPunct="1"/>
            <a:endParaRPr lang="en-US" b="1" dirty="0"/>
          </a:p>
          <a:p>
            <a:pPr marL="0" indent="0"/>
            <a:r>
              <a:rPr lang="en-US" b="1" dirty="0"/>
              <a:t>Example 2:  25.57 m x 2.45 m = ? m</a:t>
            </a:r>
            <a:r>
              <a:rPr lang="en-US" b="1" baseline="30000" dirty="0"/>
              <a:t>2</a:t>
            </a:r>
            <a:endParaRPr lang="en-US" b="1" dirty="0"/>
          </a:p>
          <a:p>
            <a:pPr marL="0" indent="0" eaLnBrk="1" hangingPunct="1"/>
            <a:endParaRPr lang="en-US" b="1" dirty="0"/>
          </a:p>
          <a:p>
            <a:pPr marL="0" indent="0" eaLnBrk="1" hangingPunct="1"/>
            <a:endParaRPr lang="en-US" b="1" dirty="0"/>
          </a:p>
          <a:p>
            <a:pPr marL="0" indent="0" eaLnBrk="1" hangingPunct="1"/>
            <a:endParaRPr lang="en-US" b="1" dirty="0"/>
          </a:p>
          <a:p>
            <a:pPr marL="0" indent="0" eaLnBrk="1" hangingPunct="1"/>
            <a:endParaRPr lang="en-US" b="1" dirty="0"/>
          </a:p>
          <a:p>
            <a:pPr marL="228600" lvl="1" indent="-228600">
              <a:spcBef>
                <a:spcPts val="0"/>
              </a:spcBef>
              <a:buFontTx/>
              <a:buAutoNum type="arabicPeriod"/>
              <a:defRPr/>
            </a:pPr>
            <a:r>
              <a:rPr lang="en-US" b="1" dirty="0" err="1"/>
              <a:t>Ans</a:t>
            </a:r>
            <a:r>
              <a:rPr lang="en-US" b="1" dirty="0"/>
              <a:t>: 138cm . The 135 cm limits your answer to the units decimal value.</a:t>
            </a:r>
          </a:p>
          <a:p>
            <a:pPr marL="228600" lvl="1" indent="-228600">
              <a:spcBef>
                <a:spcPts val="0"/>
              </a:spcBef>
              <a:buFontTx/>
              <a:buAutoNum type="arabicPeriod"/>
              <a:defRPr/>
            </a:pPr>
            <a:endParaRPr lang="en-US" b="1" dirty="0"/>
          </a:p>
          <a:p>
            <a:pPr marL="228600" lvl="1" indent="-228600">
              <a:spcBef>
                <a:spcPts val="0"/>
              </a:spcBef>
              <a:buFontTx/>
              <a:buAutoNum type="arabicPeriod"/>
              <a:defRPr/>
            </a:pPr>
            <a:r>
              <a:rPr lang="en-US" b="1" dirty="0" err="1"/>
              <a:t>Ans</a:t>
            </a:r>
            <a:r>
              <a:rPr lang="en-US" b="1" dirty="0"/>
              <a:t>: 62.6 m</a:t>
            </a:r>
            <a:r>
              <a:rPr lang="en-US" b="1" baseline="30000" dirty="0"/>
              <a:t>2</a:t>
            </a:r>
            <a:r>
              <a:rPr lang="en-US" b="1" dirty="0"/>
              <a:t>. The 2.45 m limits your result to 3 significant figures.</a:t>
            </a:r>
          </a:p>
          <a:p>
            <a:pPr marL="0" indent="0" eaLnBrk="1" hangingPunct="1"/>
            <a:endParaRPr lang="en-US" b="1" dirty="0"/>
          </a:p>
          <a:p>
            <a:pPr marL="0" indent="0"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477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OPERATIONS WITH SIGNIFICANT FIGURES – MULTIPLYING OR DIVIDING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2057400"/>
            <a:ext cx="8229600" cy="4286250"/>
          </a:xfrm>
        </p:spPr>
        <p:txBody>
          <a:bodyPr/>
          <a:lstStyle/>
          <a:p>
            <a:pPr marL="0" indent="0" eaLnBrk="1" hangingPunct="1"/>
            <a:r>
              <a:rPr lang="en-US" b="1" dirty="0"/>
              <a:t>When multiplying or dividing several quantities, the </a:t>
            </a:r>
            <a:r>
              <a:rPr lang="en-US" b="1" u="sng" dirty="0"/>
              <a:t>number of significant figures in the final answer is the same as the number of significant figures in the quantity having the smallest number of significant figures</a:t>
            </a:r>
            <a:r>
              <a:rPr lang="en-US" b="1" dirty="0"/>
              <a:t>.</a:t>
            </a:r>
          </a:p>
          <a:p>
            <a:pPr marL="0" indent="0" eaLnBrk="1" hangingPunct="1"/>
            <a:r>
              <a:rPr lang="en-US" b="1" dirty="0"/>
              <a:t>Example:  25.57 m x 2.45 m = 62.6 m</a:t>
            </a:r>
            <a:r>
              <a:rPr lang="en-US" b="1" baseline="30000" dirty="0"/>
              <a:t>2</a:t>
            </a:r>
            <a:endParaRPr lang="en-US" b="1" dirty="0"/>
          </a:p>
          <a:p>
            <a:pPr lvl="1" eaLnBrk="1" hangingPunct="1"/>
            <a:r>
              <a:rPr lang="en-US" b="1" dirty="0"/>
              <a:t>The 2.45 m limits your result to 3 significant figures.</a:t>
            </a:r>
          </a:p>
        </p:txBody>
      </p:sp>
    </p:spTree>
    <p:extLst>
      <p:ext uri="{BB962C8B-B14F-4D97-AF65-F5344CB8AC3E}">
        <p14:creationId xmlns:p14="http://schemas.microsoft.com/office/powerpoint/2010/main" val="674214463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OPERATIONS WITH SIGNIFICANT FIGURES – SUMMARY 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229600" cy="4438650"/>
          </a:xfrm>
        </p:spPr>
        <p:txBody>
          <a:bodyPr/>
          <a:lstStyle/>
          <a:p>
            <a:pPr marL="0" indent="0" eaLnBrk="1" hangingPunct="1"/>
            <a:r>
              <a:rPr lang="en-US" b="1" dirty="0"/>
              <a:t>The </a:t>
            </a:r>
            <a:r>
              <a:rPr lang="en-US" b="1" u="sng" dirty="0"/>
              <a:t>rule </a:t>
            </a:r>
            <a:r>
              <a:rPr lang="en-US" b="1" dirty="0"/>
              <a:t>for addition and subtraction are </a:t>
            </a:r>
            <a:r>
              <a:rPr lang="en-US" b="1" u="sng" dirty="0"/>
              <a:t>different</a:t>
            </a:r>
            <a:r>
              <a:rPr lang="en-US" b="1" dirty="0"/>
              <a:t> than the rule </a:t>
            </a:r>
            <a:r>
              <a:rPr lang="en-US" b="1" u="sng" dirty="0"/>
              <a:t>for multiplication and division.</a:t>
            </a:r>
          </a:p>
          <a:p>
            <a:pPr marL="0" indent="0" eaLnBrk="1" hangingPunct="1"/>
            <a:r>
              <a:rPr lang="en-US" b="1" dirty="0"/>
              <a:t>For adding and subtracting, the </a:t>
            </a:r>
            <a:r>
              <a:rPr lang="en-US" b="1" i="1" dirty="0"/>
              <a:t>number of decimal places</a:t>
            </a:r>
            <a:r>
              <a:rPr lang="en-US" b="1" dirty="0"/>
              <a:t> is the important consideration.</a:t>
            </a:r>
          </a:p>
          <a:p>
            <a:pPr marL="0" indent="0" eaLnBrk="1" hangingPunct="1"/>
            <a:r>
              <a:rPr lang="en-US" b="1" dirty="0"/>
              <a:t>For multiplying and dividing, the </a:t>
            </a:r>
            <a:r>
              <a:rPr lang="en-US" b="1" i="1" dirty="0"/>
              <a:t>number of significant figures</a:t>
            </a:r>
            <a:r>
              <a:rPr lang="en-US" b="1" dirty="0"/>
              <a:t> is the important consideration.</a:t>
            </a:r>
          </a:p>
        </p:txBody>
      </p:sp>
    </p:spTree>
    <p:extLst>
      <p:ext uri="{BB962C8B-B14F-4D97-AF65-F5344CB8AC3E}">
        <p14:creationId xmlns:p14="http://schemas.microsoft.com/office/powerpoint/2010/main" val="2819891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6412</TotalTime>
  <Words>2212</Words>
  <Application>Microsoft Office PowerPoint</Application>
  <PresentationFormat>On-screen Show (4:3)</PresentationFormat>
  <Paragraphs>357</Paragraphs>
  <Slides>43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3" baseType="lpstr">
      <vt:lpstr>Arial</vt:lpstr>
      <vt:lpstr>Calibri</vt:lpstr>
      <vt:lpstr>Courier New</vt:lpstr>
      <vt:lpstr>MathJax_Main</vt:lpstr>
      <vt:lpstr>MathJax_Math-italic</vt:lpstr>
      <vt:lpstr>Minion Pro</vt:lpstr>
      <vt:lpstr>Times New Roman</vt:lpstr>
      <vt:lpstr>Wingdings</vt:lpstr>
      <vt:lpstr>Office Theme</vt:lpstr>
      <vt:lpstr>Equation</vt:lpstr>
      <vt:lpstr>PHYS 101: GENERAL PHYSICS I</vt:lpstr>
      <vt:lpstr>COURSE DETAILS</vt:lpstr>
      <vt:lpstr>COURSE OUTLINE</vt:lpstr>
      <vt:lpstr>CLASS POLICIES</vt:lpstr>
      <vt:lpstr>ELECTION OF COURSE REPS</vt:lpstr>
      <vt:lpstr> LECTURE 1: INTRODUCTION  – PHYSICS AND MEASUREMENTS </vt:lpstr>
      <vt:lpstr>PHYSICS, CONT.</vt:lpstr>
      <vt:lpstr>PHYSICS, CONT.</vt:lpstr>
      <vt:lpstr>HOW DOES PHYSICS DIFFER FROM OTHER EXACT SCIENCES?</vt:lpstr>
      <vt:lpstr>PHYSICS, CONT.</vt:lpstr>
      <vt:lpstr> OBJECTIVES OF PHYSICS </vt:lpstr>
      <vt:lpstr>PHYSICS, CONT.</vt:lpstr>
      <vt:lpstr>THEORY AND EXPERIMENTS</vt:lpstr>
      <vt:lpstr>MEASUREMENTS</vt:lpstr>
      <vt:lpstr>STANDARDS OF FUNDAMENTAL QUANTITIES</vt:lpstr>
      <vt:lpstr>FUNDAMENTAL QUANTITIES AND THEIR UNITS</vt:lpstr>
      <vt:lpstr>DERIVED QUANTTIES</vt:lpstr>
      <vt:lpstr>QUANTITIES USED IN MECHANICS</vt:lpstr>
      <vt:lpstr>DEFINITION OF STANDARD UNITS: LENGTH</vt:lpstr>
      <vt:lpstr>MASS</vt:lpstr>
      <vt:lpstr>MASS, CONT’D</vt:lpstr>
      <vt:lpstr>TIME</vt:lpstr>
      <vt:lpstr>PREFIXES</vt:lpstr>
      <vt:lpstr>PREFIXES, CONT.</vt:lpstr>
      <vt:lpstr>CONVERSION OF UNITS</vt:lpstr>
      <vt:lpstr>CONVERSION OF UNITS, EXAMPLE</vt:lpstr>
      <vt:lpstr>CONVERSIONS, CONT. </vt:lpstr>
      <vt:lpstr>DIMENSIONS OF PHYSICAL QUANTITIES</vt:lpstr>
      <vt:lpstr>BASIS OF DIMENSIONAL ANALYSIS</vt:lpstr>
      <vt:lpstr>APPLICATIONS OF DIMENSIONAL ANALYSIS</vt:lpstr>
      <vt:lpstr>USING DIMENSIONAL ANALYSIS TO CHECK CORRECTNESS OF EQUATIONS</vt:lpstr>
      <vt:lpstr>Check whether the following are dimensionally correct</vt:lpstr>
      <vt:lpstr>USE OF DIMENSIONAL ANALYSIS TO DETERMINE A POWER LAW</vt:lpstr>
      <vt:lpstr>USING DIMENSIONAL ANALYSIS TO DETERMINE THE FORM OF EXPRESSIONS </vt:lpstr>
      <vt:lpstr>SCIENTIFIC NOTATION</vt:lpstr>
      <vt:lpstr>SCIENTIFIC NOTATION, EXAMPLES</vt:lpstr>
      <vt:lpstr>SIGNIFICANT FIGURES</vt:lpstr>
      <vt:lpstr>SIGNIFICANT FIGURES, MORE DETAILS</vt:lpstr>
      <vt:lpstr>OPERATIONS WITH SIGNIFICANT FIGURES – ADDITION OR SUBTRACTION</vt:lpstr>
      <vt:lpstr>SIGNIFICANT FIGURES, EXAMPLES</vt:lpstr>
      <vt:lpstr>EXAMPLES</vt:lpstr>
      <vt:lpstr>OPERATIONS WITH SIGNIFICANT FIGURES – MULTIPLYING OR DIVIDING</vt:lpstr>
      <vt:lpstr>OPERATIONS WITH SIGNIFICANT FIGURES – SUMMARY 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 201: General Physics I</dc:title>
  <dc:creator>Raymond Edziah</dc:creator>
  <cp:lastModifiedBy>Bright Abbiw</cp:lastModifiedBy>
  <cp:revision>112</cp:revision>
  <dcterms:created xsi:type="dcterms:W3CDTF">2011-12-28T23:52:52Z</dcterms:created>
  <dcterms:modified xsi:type="dcterms:W3CDTF">2019-10-09T14:10:58Z</dcterms:modified>
</cp:coreProperties>
</file>
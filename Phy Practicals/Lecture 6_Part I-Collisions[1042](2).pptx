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21D57-BA70-407A-AD52-B347D55B7E2E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ED258-9E27-4BA8-8955-D87BCD5389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jpeg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jpeg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Collisions/Momentum/Impulse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Collisions – Characteristics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dirty="0"/>
              <a:t>The term </a:t>
            </a:r>
            <a:r>
              <a:rPr lang="en-US" b="1" dirty="0"/>
              <a:t>collision</a:t>
            </a:r>
            <a:r>
              <a:rPr lang="en-US" dirty="0"/>
              <a:t> represents an event during which two particles come close to each other and interact by means of forces.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May involve physical contact, but must be generalized to include cases with interaction without physical contact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The interaction forces are assumed to be much greater than any external forces present.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This means the impulse approximation can be used.</a:t>
            </a:r>
          </a:p>
          <a:p>
            <a:pPr marL="0" indent="0">
              <a:lnSpc>
                <a:spcPct val="90000"/>
              </a:lnSpc>
            </a:pP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Collisions – Example 1 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</a:pPr>
            <a:r>
              <a:rPr lang="en-US" dirty="0"/>
              <a:t>Collisions may be the result of direct contact.</a:t>
            </a:r>
          </a:p>
          <a:p>
            <a:pPr marL="0" indent="0"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</a:pPr>
            <a:r>
              <a:rPr lang="en-US" dirty="0"/>
              <a:t>The impulsive forces may vary in time in complicated ways.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This force is internal to the system.</a:t>
            </a:r>
          </a:p>
          <a:p>
            <a:pPr marL="0" indent="0"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</a:pPr>
            <a:r>
              <a:rPr lang="en-US" dirty="0"/>
              <a:t>Momentum is conserved.</a:t>
            </a:r>
          </a:p>
        </p:txBody>
      </p:sp>
      <p:pic>
        <p:nvPicPr>
          <p:cNvPr id="40965" name="Picture 5" descr="0905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752600"/>
            <a:ext cx="4114800" cy="18716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Collisions – Example 2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57200" y="1676400"/>
            <a:ext cx="4038600" cy="4438650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The collision need not include physical contact between the objects.</a:t>
            </a:r>
          </a:p>
          <a:p>
            <a:pPr marL="0" indent="0"/>
            <a:r>
              <a:rPr lang="en-US" dirty="0"/>
              <a:t>There are still forces between the particles.</a:t>
            </a:r>
          </a:p>
          <a:p>
            <a:pPr marL="0" indent="0"/>
            <a:r>
              <a:rPr lang="en-US" dirty="0"/>
              <a:t>This type of collision can be analyzed in the same way as those that include physical contact.</a:t>
            </a:r>
          </a:p>
        </p:txBody>
      </p:sp>
      <p:pic>
        <p:nvPicPr>
          <p:cNvPr id="41990" name="Picture 6" descr="0905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524000"/>
            <a:ext cx="4254500" cy="29321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r>
              <a:rPr lang="en-US" b="1" dirty="0"/>
              <a:t>Types of Collisions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</a:pPr>
            <a:r>
              <a:rPr lang="en-US" dirty="0"/>
              <a:t>In an </a:t>
            </a:r>
            <a:r>
              <a:rPr lang="en-US" b="1" i="1" u="sng" dirty="0"/>
              <a:t>elastic</a:t>
            </a:r>
            <a:r>
              <a:rPr lang="en-US" b="1" u="sng" dirty="0"/>
              <a:t> collision</a:t>
            </a:r>
            <a:r>
              <a:rPr lang="en-US" dirty="0"/>
              <a:t>, momentum and kinetic energy are conserved.</a:t>
            </a:r>
          </a:p>
          <a:p>
            <a:pPr lvl="1">
              <a:lnSpc>
                <a:spcPct val="90000"/>
              </a:lnSpc>
            </a:pPr>
            <a:r>
              <a:rPr lang="en-US" u="sng" dirty="0"/>
              <a:t>Perfectly elastic collisions</a:t>
            </a:r>
            <a:r>
              <a:rPr lang="en-US" dirty="0"/>
              <a:t> occur on a microscopic level; objects don’t stick together after collision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 macroscopic collisions, only approximately elastic collisions actually occur.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Generally some energy is lost to deformation, sound, etc.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There must be no transformation of kinetic energy into other types of energy within the system.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In an </a:t>
            </a:r>
            <a:r>
              <a:rPr lang="en-US" b="1" i="1" dirty="0"/>
              <a:t>inelastic </a:t>
            </a:r>
            <a:r>
              <a:rPr lang="en-US" dirty="0"/>
              <a:t>collision, kinetic energy is not conserved, although momentum is still conserved.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the objects stick together after the collision, it is a </a:t>
            </a:r>
            <a:r>
              <a:rPr lang="en-US" b="1" i="1" dirty="0"/>
              <a:t>perfectly inelastic </a:t>
            </a:r>
            <a:r>
              <a:rPr lang="en-US" dirty="0"/>
              <a:t>collision.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b="1" dirty="0"/>
              <a:t>Collisions, cont.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/>
            <a:r>
              <a:rPr lang="en-US" dirty="0"/>
              <a:t>In an </a:t>
            </a:r>
            <a:r>
              <a:rPr lang="en-US" u="sng" dirty="0"/>
              <a:t>inelastic collision</a:t>
            </a:r>
            <a:r>
              <a:rPr lang="en-US" dirty="0"/>
              <a:t>, some kinetic energy is lost, but the </a:t>
            </a:r>
            <a:r>
              <a:rPr lang="en-US" u="sng" dirty="0"/>
              <a:t>objects do not necessarily stick together</a:t>
            </a:r>
            <a:r>
              <a:rPr lang="en-US" dirty="0"/>
              <a:t>.</a:t>
            </a:r>
          </a:p>
          <a:p>
            <a:pPr marL="0" indent="0"/>
            <a:r>
              <a:rPr lang="en-US" dirty="0"/>
              <a:t>Momentum is conserved in all collisions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Perfectly Inelastic Collisions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2400" y="1066800"/>
            <a:ext cx="5791200" cy="5638800"/>
          </a:xfrm>
        </p:spPr>
        <p:txBody>
          <a:bodyPr/>
          <a:lstStyle/>
          <a:p>
            <a:pPr marL="0" indent="0"/>
            <a:r>
              <a:rPr lang="en-US" dirty="0"/>
              <a:t>Momentum of an isolated system is conserved in any collision, so the total momentum before the collision is equal to the total momentum of the composite system after the collision.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Since the objects stick together, they share the same velocity after the collision.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9218" name="Object 1024"/>
          <p:cNvGraphicFramePr>
            <a:graphicFrameLocks noChangeAspect="1"/>
          </p:cNvGraphicFramePr>
          <p:nvPr/>
        </p:nvGraphicFramePr>
        <p:xfrm>
          <a:off x="381000" y="5715000"/>
          <a:ext cx="536554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3" imgW="2286000" imgH="291960" progId="Equation.DSMT4">
                  <p:embed/>
                </p:oleObj>
              </mc:Choice>
              <mc:Fallback>
                <p:oleObj name="Equation" r:id="rId3" imgW="2286000" imgH="291960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715000"/>
                        <a:ext cx="5365547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3" name="Picture 7" descr="090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0300" y="990600"/>
            <a:ext cx="2705100" cy="510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b="1" dirty="0"/>
              <a:t>Elastic Collisions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685800"/>
            <a:ext cx="4572000" cy="6172200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Both momentum and kinetic energy are conserved.</a:t>
            </a:r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endParaRPr lang="en-US" sz="1800" dirty="0"/>
          </a:p>
          <a:p>
            <a:pPr marL="0" indent="0"/>
            <a:r>
              <a:rPr lang="en-US" dirty="0"/>
              <a:t>Typically, there are two unknowns to solve for and so you need two equations.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graphicFrame>
        <p:nvGraphicFramePr>
          <p:cNvPr id="10242" name="Object 1024"/>
          <p:cNvGraphicFramePr>
            <a:graphicFrameLocks noChangeAspect="1"/>
          </p:cNvGraphicFramePr>
          <p:nvPr/>
        </p:nvGraphicFramePr>
        <p:xfrm>
          <a:off x="566313" y="1905000"/>
          <a:ext cx="4234287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3" imgW="1320480" imgH="1269720" progId="Equation.DSMT4">
                  <p:embed/>
                </p:oleObj>
              </mc:Choice>
              <mc:Fallback>
                <p:oleObj name="Equation" r:id="rId3" imgW="1320480" imgH="1269720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13" y="1905000"/>
                        <a:ext cx="4234287" cy="312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7" name="Picture 7" descr="090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41987" y="1066800"/>
            <a:ext cx="3325813" cy="510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b="1" dirty="0"/>
              <a:t>Elastic Collisions, cont.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8674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90000"/>
              </a:lnSpc>
            </a:pPr>
            <a:r>
              <a:rPr lang="en-US" sz="3300" dirty="0"/>
              <a:t>The kinetic energy equation can be difficult to use.</a:t>
            </a:r>
          </a:p>
          <a:p>
            <a:pPr marL="0" indent="0">
              <a:lnSpc>
                <a:spcPct val="90000"/>
              </a:lnSpc>
            </a:pPr>
            <a:r>
              <a:rPr lang="en-US" sz="3300" dirty="0"/>
              <a:t>With some algebraic manipulation, a different equation can be used.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3300" i="1" dirty="0"/>
              <a:t>v</a:t>
            </a:r>
            <a:r>
              <a:rPr lang="en-US" sz="3300" baseline="-25000" dirty="0"/>
              <a:t>1</a:t>
            </a:r>
            <a:r>
              <a:rPr lang="en-US" sz="3300" i="1" baseline="-25000" dirty="0"/>
              <a:t>i</a:t>
            </a:r>
            <a:r>
              <a:rPr lang="en-US" sz="3300" dirty="0"/>
              <a:t> – v</a:t>
            </a:r>
            <a:r>
              <a:rPr lang="en-US" sz="3300" baseline="-25000" dirty="0"/>
              <a:t>2</a:t>
            </a:r>
            <a:r>
              <a:rPr lang="en-US" sz="3300" i="1" baseline="-25000" dirty="0"/>
              <a:t>i</a:t>
            </a:r>
            <a:r>
              <a:rPr lang="en-US" sz="3300" dirty="0"/>
              <a:t> = </a:t>
            </a:r>
            <a:r>
              <a:rPr lang="en-US" sz="3300" i="1" dirty="0"/>
              <a:t>v</a:t>
            </a:r>
            <a:r>
              <a:rPr lang="en-US" sz="3300" baseline="-25000" dirty="0"/>
              <a:t>1</a:t>
            </a:r>
            <a:r>
              <a:rPr lang="en-US" sz="3300" i="1" baseline="-25000" dirty="0"/>
              <a:t>f</a:t>
            </a:r>
            <a:r>
              <a:rPr lang="en-US" sz="3300" dirty="0"/>
              <a:t> + </a:t>
            </a:r>
            <a:r>
              <a:rPr lang="en-US" sz="3300" i="1" dirty="0"/>
              <a:t>v</a:t>
            </a:r>
            <a:r>
              <a:rPr lang="en-US" sz="3300" baseline="-25000" dirty="0"/>
              <a:t>2</a:t>
            </a:r>
            <a:r>
              <a:rPr lang="en-US" sz="3300" i="1" baseline="-25000" dirty="0"/>
              <a:t>f</a:t>
            </a:r>
          </a:p>
          <a:p>
            <a:pPr marL="0" indent="0">
              <a:lnSpc>
                <a:spcPct val="90000"/>
              </a:lnSpc>
            </a:pPr>
            <a:r>
              <a:rPr lang="en-US" sz="3300" dirty="0"/>
              <a:t>This equation, along with conservation of momentum, can be used to solve for the two unknowns.</a:t>
            </a:r>
          </a:p>
          <a:p>
            <a:pPr lvl="1">
              <a:lnSpc>
                <a:spcPct val="90000"/>
              </a:lnSpc>
            </a:pPr>
            <a:r>
              <a:rPr lang="en-US" sz="3300" dirty="0"/>
              <a:t>It can only be used with a one-dimensional, elastic collision between two objects.</a:t>
            </a:r>
          </a:p>
          <a:p>
            <a:pPr lvl="1">
              <a:lnSpc>
                <a:spcPct val="90000"/>
              </a:lnSpc>
            </a:pPr>
            <a:r>
              <a:rPr lang="en-US" sz="3300" dirty="0"/>
              <a:t>Using this equation eliminates the need for using an equation with quadratic terms (from the kinetic energy equation).</a:t>
            </a:r>
          </a:p>
          <a:p>
            <a:pPr marL="0" indent="0">
              <a:lnSpc>
                <a:spcPct val="90000"/>
              </a:lnSpc>
            </a:pPr>
            <a:r>
              <a:rPr lang="en-US" sz="3300" dirty="0"/>
              <a:t>Remember to use the appropriate signs for all velocities.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baseline="-25000" dirty="0"/>
              <a:t>	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22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Elastic Collisions, final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dirty="0"/>
              <a:t>Example of some special cases: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m</a:t>
            </a:r>
            <a:r>
              <a:rPr lang="en-US" baseline="-25000" dirty="0"/>
              <a:t>1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baseline="-25000" dirty="0"/>
              <a:t>2</a:t>
            </a:r>
            <a:r>
              <a:rPr lang="en-US" dirty="0"/>
              <a:t> – the particles exchange velocities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When a very heavy particle collides head-on with a very light one initially at rest, the heavy particle continues in motion unaltered and the light particle rebounds with a speed of about twice the initial speed of the heavy particle.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When a very light particle collides head-on with a very heavy particle initially at rest, the light particle has its velocity reversed and the heavy particle remains approximately at rest.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Problem-Solving Strategy: One-Dimensional Collisions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/>
            <a:r>
              <a:rPr lang="en-US"/>
              <a:t>Conceptualize</a:t>
            </a:r>
          </a:p>
          <a:p>
            <a:pPr lvl="1"/>
            <a:r>
              <a:rPr lang="en-US"/>
              <a:t>Image the collision occurring in your mind.</a:t>
            </a:r>
          </a:p>
          <a:p>
            <a:pPr lvl="1"/>
            <a:r>
              <a:rPr lang="en-US"/>
              <a:t>Draw simple diagrams of the particles before and after the collision.</a:t>
            </a:r>
          </a:p>
          <a:p>
            <a:pPr lvl="1"/>
            <a:r>
              <a:rPr lang="en-US"/>
              <a:t>Include appropriate velocity vectors.</a:t>
            </a:r>
          </a:p>
          <a:p>
            <a:pPr marL="0" indent="0"/>
            <a:r>
              <a:rPr lang="en-US"/>
              <a:t>Categorize</a:t>
            </a:r>
          </a:p>
          <a:p>
            <a:pPr lvl="1"/>
            <a:r>
              <a:rPr lang="en-US"/>
              <a:t>Is the system of particles isolated?</a:t>
            </a:r>
          </a:p>
          <a:p>
            <a:pPr lvl="1"/>
            <a:r>
              <a:rPr lang="en-US"/>
              <a:t>Is the collision elastic, inelastic or perfectly inelastic?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Problem-Solving Strategy: One-Dimensional Collisions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/>
              <a:t>Analyze</a:t>
            </a:r>
          </a:p>
          <a:p>
            <a:pPr lvl="1"/>
            <a:r>
              <a:rPr lang="en-US"/>
              <a:t>Set up the mathematical representation of the problem.</a:t>
            </a:r>
          </a:p>
          <a:p>
            <a:pPr lvl="1"/>
            <a:r>
              <a:rPr lang="en-US"/>
              <a:t>Solve for the unknown(s).</a:t>
            </a:r>
          </a:p>
          <a:p>
            <a:pPr marL="0" indent="0"/>
            <a:r>
              <a:rPr lang="en-US"/>
              <a:t>Finalize</a:t>
            </a:r>
          </a:p>
          <a:p>
            <a:pPr lvl="1"/>
            <a:r>
              <a:rPr lang="en-US"/>
              <a:t>Check to see if the answers are consistent with the mental and pictorial representations.</a:t>
            </a:r>
          </a:p>
          <a:p>
            <a:pPr lvl="1"/>
            <a:r>
              <a:rPr lang="en-US"/>
              <a:t>Check to be sure your results are realistic.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643</Words>
  <Application>Microsoft Office PowerPoint</Application>
  <PresentationFormat>On-screen Show (4:3)</PresentationFormat>
  <Paragraphs>75</Paragraphs>
  <Slides>12</Slides>
  <Notes>0</Notes>
  <HiddenSlides>3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Equation</vt:lpstr>
      <vt:lpstr>Collisions/Momentum/Impulse</vt:lpstr>
      <vt:lpstr>Collisions – Characteristics </vt:lpstr>
      <vt:lpstr>Collisions – Example 1 </vt:lpstr>
      <vt:lpstr>Collisions – Example 2</vt:lpstr>
      <vt:lpstr>Types of Collisions</vt:lpstr>
      <vt:lpstr>Collisions, cont.</vt:lpstr>
      <vt:lpstr>Perfectly Inelastic Collisions</vt:lpstr>
      <vt:lpstr>Elastic Collisions</vt:lpstr>
      <vt:lpstr>Elastic Collisions, cont.</vt:lpstr>
      <vt:lpstr>Elastic Collisions, final</vt:lpstr>
      <vt:lpstr>Problem-Solving Strategy: One-Dimensional Collisions</vt:lpstr>
      <vt:lpstr>Problem-Solving Strategy: One-Dimensional Collisions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Collisions</dc:title>
  <dc:creator>Raymond Edziah</dc:creator>
  <cp:lastModifiedBy>Bright Abbiw</cp:lastModifiedBy>
  <cp:revision>9</cp:revision>
  <dcterms:created xsi:type="dcterms:W3CDTF">2012-03-28T04:26:23Z</dcterms:created>
  <dcterms:modified xsi:type="dcterms:W3CDTF">2019-10-09T14:12:05Z</dcterms:modified>
</cp:coreProperties>
</file>
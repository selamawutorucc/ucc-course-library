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62B0E-BA2F-4658-858F-B8F60278B24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8D7A-6CEC-4F27-9A85-3B01535927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62B0E-BA2F-4658-858F-B8F60278B24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8D7A-6CEC-4F27-9A85-3B01535927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62B0E-BA2F-4658-858F-B8F60278B24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8D7A-6CEC-4F27-9A85-3B01535927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62B0E-BA2F-4658-858F-B8F60278B24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8D7A-6CEC-4F27-9A85-3B01535927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62B0E-BA2F-4658-858F-B8F60278B24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8D7A-6CEC-4F27-9A85-3B01535927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62B0E-BA2F-4658-858F-B8F60278B24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8D7A-6CEC-4F27-9A85-3B01535927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62B0E-BA2F-4658-858F-B8F60278B24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8D7A-6CEC-4F27-9A85-3B01535927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62B0E-BA2F-4658-858F-B8F60278B24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8D7A-6CEC-4F27-9A85-3B01535927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62B0E-BA2F-4658-858F-B8F60278B24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8D7A-6CEC-4F27-9A85-3B01535927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62B0E-BA2F-4658-858F-B8F60278B24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8D7A-6CEC-4F27-9A85-3B01535927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62B0E-BA2F-4658-858F-B8F60278B24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8D7A-6CEC-4F27-9A85-3B01535927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62B0E-BA2F-4658-858F-B8F60278B24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A8D7A-6CEC-4F27-9A85-3B015359277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Conservation of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Energy Review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eaLnBrk="1" hangingPunct="1"/>
            <a:r>
              <a:rPr lang="en-US" b="1" dirty="0"/>
              <a:t>Kinetic Energy</a:t>
            </a:r>
          </a:p>
          <a:p>
            <a:pPr lvl="1" eaLnBrk="1" hangingPunct="1"/>
            <a:r>
              <a:rPr lang="en-US" b="1" dirty="0"/>
              <a:t>Associated with movement of members of a system</a:t>
            </a:r>
          </a:p>
          <a:p>
            <a:pPr marL="0" indent="0" eaLnBrk="1" hangingPunct="1"/>
            <a:r>
              <a:rPr lang="en-US" b="1" dirty="0"/>
              <a:t>Potential Energy</a:t>
            </a:r>
          </a:p>
          <a:p>
            <a:pPr lvl="1" eaLnBrk="1" hangingPunct="1"/>
            <a:r>
              <a:rPr lang="en-US" b="1" dirty="0"/>
              <a:t>Determined by the configuration of the system</a:t>
            </a:r>
          </a:p>
          <a:p>
            <a:pPr lvl="1" eaLnBrk="1" hangingPunct="1"/>
            <a:r>
              <a:rPr lang="en-US" b="1" dirty="0"/>
              <a:t>Gravitational and Elastic Potential Energies will  be studied later</a:t>
            </a:r>
          </a:p>
          <a:p>
            <a:pPr marL="0" indent="0" eaLnBrk="1" hangingPunct="1"/>
            <a:r>
              <a:rPr lang="en-US" b="1" dirty="0"/>
              <a:t>Internal Energy</a:t>
            </a:r>
          </a:p>
          <a:p>
            <a:pPr lvl="1" eaLnBrk="1" hangingPunct="1"/>
            <a:r>
              <a:rPr lang="en-US" b="1" dirty="0"/>
              <a:t>Related to the temperature of the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b="1" dirty="0"/>
              <a:t>Types of Systems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 lnSpcReduction="20000"/>
          </a:bodyPr>
          <a:lstStyle/>
          <a:p>
            <a:pPr marL="0" indent="0"/>
            <a:r>
              <a:rPr lang="en-US" b="1" dirty="0"/>
              <a:t>Isolated systems</a:t>
            </a:r>
          </a:p>
          <a:p>
            <a:pPr lvl="1"/>
            <a:r>
              <a:rPr lang="en-US" b="1" dirty="0"/>
              <a:t>Energy does not cross the boundary of the system</a:t>
            </a:r>
          </a:p>
          <a:p>
            <a:pPr lvl="1"/>
            <a:r>
              <a:rPr lang="en-US" b="1" dirty="0"/>
              <a:t>Total energy of the system is constant</a:t>
            </a:r>
          </a:p>
          <a:p>
            <a:pPr marL="0" indent="0" eaLnBrk="1" hangingPunct="1"/>
            <a:r>
              <a:rPr lang="en-US" b="1" dirty="0"/>
              <a:t>Non-isolated systems</a:t>
            </a:r>
          </a:p>
          <a:p>
            <a:pPr lvl="1" eaLnBrk="1" hangingPunct="1"/>
            <a:r>
              <a:rPr lang="en-US" b="1" dirty="0"/>
              <a:t>Energy can cross the system boundary in a variety of ways.</a:t>
            </a:r>
          </a:p>
          <a:p>
            <a:pPr lvl="1" eaLnBrk="1" hangingPunct="1"/>
            <a:r>
              <a:rPr lang="en-US" b="1" dirty="0"/>
              <a:t>Total energy of the system changes</a:t>
            </a:r>
          </a:p>
          <a:p>
            <a:pPr marL="0" indent="0" eaLnBrk="1" hangingPunct="1"/>
            <a:r>
              <a:rPr lang="en-US" b="1" dirty="0"/>
              <a:t>Conservation of energy</a:t>
            </a:r>
          </a:p>
          <a:p>
            <a:pPr lvl="1" eaLnBrk="1" hangingPunct="1"/>
            <a:r>
              <a:rPr lang="en-US" b="1" dirty="0"/>
              <a:t>Can be used if no </a:t>
            </a:r>
            <a:r>
              <a:rPr lang="en-US" b="1" u="sng" dirty="0"/>
              <a:t>non-conservative </a:t>
            </a:r>
            <a:r>
              <a:rPr lang="en-US" b="1" dirty="0"/>
              <a:t>forces act within the isolated system</a:t>
            </a:r>
          </a:p>
          <a:p>
            <a:pPr lvl="1" eaLnBrk="1" hangingPunct="1"/>
            <a:r>
              <a:rPr lang="en-US" b="1" dirty="0"/>
              <a:t>Applies to biological organisms, technological systems, engineering situations, etc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b="1" dirty="0"/>
              <a:t>Ways to Transfer Energy Into or Out of A System</a:t>
            </a:r>
          </a:p>
        </p:txBody>
      </p:sp>
      <p:sp>
        <p:nvSpPr>
          <p:cNvPr id="11267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eaLnBrk="1" hangingPunct="1"/>
            <a:r>
              <a:rPr lang="en-US" b="1" dirty="0">
                <a:solidFill>
                  <a:srgbClr val="FF0000"/>
                </a:solidFill>
              </a:rPr>
              <a:t>In non-isolated systems, energy crosses the boundary of the system during some time interval due to an interaction with the environment.</a:t>
            </a:r>
          </a:p>
          <a:p>
            <a:pPr marL="0" indent="0" eaLnBrk="1" hangingPunct="1">
              <a:buNone/>
            </a:pPr>
            <a:endParaRPr lang="en-US" b="1" dirty="0"/>
          </a:p>
          <a:p>
            <a:pPr marL="0" indent="0" eaLnBrk="1" hangingPunct="1">
              <a:buNone/>
            </a:pPr>
            <a:r>
              <a:rPr lang="en-US" b="1" dirty="0"/>
              <a:t>Some Means of Energy Transfer: </a:t>
            </a:r>
          </a:p>
          <a:p>
            <a:pPr marL="0" indent="0" eaLnBrk="1" hangingPunct="1"/>
            <a:r>
              <a:rPr lang="en-US" b="1" i="1" dirty="0"/>
              <a:t>Work</a:t>
            </a:r>
            <a:endParaRPr lang="en-US" dirty="0"/>
          </a:p>
          <a:p>
            <a:pPr marL="0" indent="0" eaLnBrk="1" hangingPunct="1"/>
            <a:r>
              <a:rPr lang="en-US" b="1" i="1" dirty="0"/>
              <a:t>Mechanical Wave</a:t>
            </a:r>
            <a:r>
              <a:rPr lang="en-US" dirty="0"/>
              <a:t>.</a:t>
            </a:r>
          </a:p>
          <a:p>
            <a:pPr marL="0" indent="0" eaLnBrk="1" hangingPunct="1"/>
            <a:r>
              <a:rPr lang="en-US" b="1" i="1" dirty="0"/>
              <a:t>Heat</a:t>
            </a:r>
            <a:r>
              <a:rPr lang="en-US" dirty="0"/>
              <a:t>.</a:t>
            </a:r>
          </a:p>
          <a:p>
            <a:pPr marL="0" indent="0" eaLnBrk="1" hangingPunct="1"/>
            <a:r>
              <a:rPr lang="en-US" b="1" i="1" dirty="0"/>
              <a:t>Matter Transfer</a:t>
            </a:r>
            <a:endParaRPr lang="en-US" dirty="0"/>
          </a:p>
          <a:p>
            <a:pPr marL="0" indent="0" eaLnBrk="1" hangingPunct="1"/>
            <a:r>
              <a:rPr lang="en-US" b="1" i="1" dirty="0"/>
              <a:t>Electrical Transmission</a:t>
            </a:r>
            <a:r>
              <a:rPr lang="en-US" dirty="0"/>
              <a:t> </a:t>
            </a:r>
          </a:p>
          <a:p>
            <a:pPr marL="0" indent="0" eaLnBrk="1" hangingPunct="1"/>
            <a:r>
              <a:rPr lang="en-US" b="1" i="1" dirty="0"/>
              <a:t>Electromagnetic Radiation</a:t>
            </a:r>
            <a:endParaRPr lang="en-US" dirty="0"/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8" name="Picture 10" descr="0801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3810000"/>
            <a:ext cx="1482725" cy="2373313"/>
          </a:xfrm>
          <a:prstGeom prst="rect">
            <a:avLst/>
          </a:prstGeom>
          <a:noFill/>
        </p:spPr>
      </p:pic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/>
              <a:t>Examples of Ways to Transfer Energy</a:t>
            </a:r>
          </a:p>
        </p:txBody>
      </p:sp>
      <p:sp>
        <p:nvSpPr>
          <p:cNvPr id="12292" name="TextBox 9"/>
          <p:cNvSpPr txBox="1">
            <a:spLocks noChangeArrowheads="1"/>
          </p:cNvSpPr>
          <p:nvPr/>
        </p:nvSpPr>
        <p:spPr bwMode="auto">
          <a:xfrm>
            <a:off x="3581400" y="6324600"/>
            <a:ext cx="14478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200"/>
              <a:t>Section  8.1</a:t>
            </a:r>
          </a:p>
        </p:txBody>
      </p:sp>
      <p:pic>
        <p:nvPicPr>
          <p:cNvPr id="12293" name="Picture 5" descr="0801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1600200"/>
            <a:ext cx="2093913" cy="2286000"/>
          </a:xfrm>
          <a:prstGeom prst="rect">
            <a:avLst/>
          </a:prstGeom>
          <a:noFill/>
        </p:spPr>
      </p:pic>
      <p:pic>
        <p:nvPicPr>
          <p:cNvPr id="12294" name="Picture 6" descr="0801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33800" y="1600200"/>
            <a:ext cx="1963738" cy="2286000"/>
          </a:xfrm>
          <a:prstGeom prst="rect">
            <a:avLst/>
          </a:prstGeom>
          <a:noFill/>
        </p:spPr>
      </p:pic>
      <p:pic>
        <p:nvPicPr>
          <p:cNvPr id="12295" name="Picture 7" descr="0801c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00800" y="1066800"/>
            <a:ext cx="1458913" cy="2667000"/>
          </a:xfrm>
          <a:prstGeom prst="rect">
            <a:avLst/>
          </a:prstGeom>
          <a:noFill/>
        </p:spPr>
      </p:pic>
      <p:pic>
        <p:nvPicPr>
          <p:cNvPr id="12296" name="Picture 8" descr="0801d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66800" y="4114800"/>
            <a:ext cx="2035175" cy="2362200"/>
          </a:xfrm>
          <a:prstGeom prst="rect">
            <a:avLst/>
          </a:prstGeom>
          <a:noFill/>
        </p:spPr>
      </p:pic>
      <p:pic>
        <p:nvPicPr>
          <p:cNvPr id="12297" name="Picture 9" descr="0801e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733800" y="4038600"/>
            <a:ext cx="1957388" cy="22748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b="1" dirty="0"/>
              <a:t>Conservation of Energy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marL="0" indent="0" eaLnBrk="1" hangingPunct="1"/>
            <a:r>
              <a:rPr lang="en-US" b="1" i="1" dirty="0"/>
              <a:t>Energy is conserved</a:t>
            </a:r>
          </a:p>
          <a:p>
            <a:pPr lvl="1" eaLnBrk="1" hangingPunct="1"/>
            <a:r>
              <a:rPr lang="en-US" b="1" dirty="0"/>
              <a:t>This means that energy cannot be created nor destroyed.</a:t>
            </a:r>
          </a:p>
          <a:p>
            <a:pPr lvl="1" eaLnBrk="1" hangingPunct="1"/>
            <a:r>
              <a:rPr lang="en-US" b="1" dirty="0"/>
              <a:t>If the total amount of energy in a system changes, it can only be due to the fact that energy has crossed the boundary of the system by some method of energy transfer.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1066800"/>
          </a:xfrm>
        </p:spPr>
        <p:txBody>
          <a:bodyPr/>
          <a:lstStyle/>
          <a:p>
            <a:pPr eaLnBrk="1" hangingPunct="1"/>
            <a:r>
              <a:rPr lang="en-US" b="1" dirty="0"/>
              <a:t>Isolated System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/>
          </a:bodyPr>
          <a:lstStyle/>
          <a:p>
            <a:pPr marL="0" indent="0" eaLnBrk="1" hangingPunct="1"/>
            <a:r>
              <a:rPr lang="en-US" b="1" dirty="0"/>
              <a:t>For an isolated system, </a:t>
            </a:r>
            <a:r>
              <a:rPr lang="en-US" b="1" dirty="0" err="1">
                <a:latin typeface="Symbol" pitchFamily="80" charset="2"/>
              </a:rPr>
              <a:t>D</a:t>
            </a:r>
            <a:r>
              <a:rPr lang="en-US" b="1" dirty="0" err="1"/>
              <a:t>E</a:t>
            </a:r>
            <a:r>
              <a:rPr lang="en-US" b="1" baseline="-25000" dirty="0" err="1"/>
              <a:t>mech</a:t>
            </a:r>
            <a:r>
              <a:rPr lang="en-US" b="1" dirty="0"/>
              <a:t> = 0</a:t>
            </a:r>
          </a:p>
          <a:p>
            <a:pPr lvl="1" eaLnBrk="1" hangingPunct="1"/>
            <a:r>
              <a:rPr lang="en-US" b="1" dirty="0"/>
              <a:t>Remember </a:t>
            </a:r>
            <a:r>
              <a:rPr lang="en-US" b="1" dirty="0" err="1"/>
              <a:t>E</a:t>
            </a:r>
            <a:r>
              <a:rPr lang="en-US" b="1" baseline="-25000" dirty="0" err="1"/>
              <a:t>mech</a:t>
            </a:r>
            <a:r>
              <a:rPr lang="en-US" b="1" dirty="0"/>
              <a:t> = K + U</a:t>
            </a:r>
          </a:p>
          <a:p>
            <a:pPr lvl="1" eaLnBrk="1" hangingPunct="1"/>
            <a:r>
              <a:rPr lang="en-US" b="1" dirty="0"/>
              <a:t>This is </a:t>
            </a:r>
            <a:r>
              <a:rPr lang="en-US" b="1" i="1" dirty="0"/>
              <a:t>conservation of energy</a:t>
            </a:r>
            <a:r>
              <a:rPr lang="en-US" b="1" dirty="0"/>
              <a:t> for an isolated system with </a:t>
            </a:r>
            <a:r>
              <a:rPr lang="en-US" b="1" u="sng" dirty="0"/>
              <a:t>no</a:t>
            </a:r>
            <a:r>
              <a:rPr lang="en-US" b="1" dirty="0"/>
              <a:t> </a:t>
            </a:r>
            <a:r>
              <a:rPr lang="en-US" b="1" u="sng" dirty="0"/>
              <a:t>non-conservative</a:t>
            </a:r>
            <a:r>
              <a:rPr lang="en-US" b="1" dirty="0"/>
              <a:t> forces acting.</a:t>
            </a:r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r>
              <a:rPr lang="en-US" b="1" dirty="0"/>
              <a:t>If non-conservative forces are acting, some energy is transformed into internal energy.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b="1" dirty="0"/>
              <a:t>Isolated System, cont.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n-US" b="1" dirty="0"/>
              <a:t>The changes in energy can be written out and rearranged.</a:t>
            </a:r>
          </a:p>
          <a:p>
            <a:pPr marL="0" indent="0" eaLnBrk="1" hangingPunct="1"/>
            <a:r>
              <a:rPr lang="en-US" b="1" dirty="0" err="1"/>
              <a:t>K</a:t>
            </a:r>
            <a:r>
              <a:rPr lang="en-US" b="1" baseline="-25000" dirty="0" err="1"/>
              <a:t>f</a:t>
            </a:r>
            <a:r>
              <a:rPr lang="en-US" b="1" dirty="0"/>
              <a:t> + </a:t>
            </a:r>
            <a:r>
              <a:rPr lang="en-US" b="1" dirty="0" err="1"/>
              <a:t>U</a:t>
            </a:r>
            <a:r>
              <a:rPr lang="en-US" b="1" baseline="-25000" dirty="0" err="1"/>
              <a:t>f</a:t>
            </a:r>
            <a:r>
              <a:rPr lang="en-US" b="1" dirty="0"/>
              <a:t> = </a:t>
            </a:r>
            <a:r>
              <a:rPr lang="en-US" b="1" dirty="0" err="1"/>
              <a:t>K</a:t>
            </a:r>
            <a:r>
              <a:rPr lang="en-US" b="1" baseline="-25000" dirty="0" err="1"/>
              <a:t>i</a:t>
            </a:r>
            <a:r>
              <a:rPr lang="en-US" b="1" dirty="0"/>
              <a:t> + </a:t>
            </a:r>
            <a:r>
              <a:rPr lang="en-US" b="1" dirty="0" err="1"/>
              <a:t>U</a:t>
            </a:r>
            <a:r>
              <a:rPr lang="en-US" b="1" baseline="-25000" dirty="0" err="1"/>
              <a:t>i</a:t>
            </a:r>
            <a:endParaRPr lang="en-US" b="1" dirty="0"/>
          </a:p>
          <a:p>
            <a:pPr lvl="1" eaLnBrk="1" hangingPunct="1"/>
            <a:r>
              <a:rPr lang="en-US" b="1" dirty="0"/>
              <a:t>Remember, this applies only to a system in which conservative forces 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Power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4972050"/>
          </a:xfrm>
        </p:spPr>
        <p:txBody>
          <a:bodyPr/>
          <a:lstStyle/>
          <a:p>
            <a:pPr marL="0" indent="0" eaLnBrk="1" hangingPunct="1"/>
            <a:r>
              <a:rPr lang="en-US" b="1" dirty="0"/>
              <a:t>Power is the time rate of energy transfer.</a:t>
            </a:r>
          </a:p>
          <a:p>
            <a:pPr marL="0" indent="0" eaLnBrk="1" hangingPunct="1"/>
            <a:r>
              <a:rPr lang="en-US" b="1" dirty="0"/>
              <a:t>The </a:t>
            </a:r>
            <a:r>
              <a:rPr lang="en-US" b="1" i="1" dirty="0"/>
              <a:t>instantaneous power</a:t>
            </a:r>
            <a:r>
              <a:rPr lang="en-US" b="1" dirty="0"/>
              <a:t> is defined as </a:t>
            </a:r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r>
              <a:rPr lang="en-US" b="1" dirty="0"/>
              <a:t>Using work as the energy transfer method, this can also be written as</a:t>
            </a:r>
          </a:p>
          <a:p>
            <a:pPr marL="0" indent="0" eaLnBrk="1" hangingPunct="1"/>
            <a:endParaRPr lang="en-US" b="1" dirty="0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3733800" y="2438400"/>
          <a:ext cx="1524000" cy="1124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Equation" r:id="rId3" imgW="533160" imgH="393480" progId="Equation.DSMT4">
                  <p:embed/>
                </p:oleObj>
              </mc:Choice>
              <mc:Fallback>
                <p:oleObj name="Equation" r:id="rId3" imgW="533160" imgH="3934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438400"/>
                        <a:ext cx="1524000" cy="11248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3733800" y="4800600"/>
          <a:ext cx="1295400" cy="793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Equation" r:id="rId5" imgW="787320" imgH="482400" progId="Equation.DSMT4">
                  <p:embed/>
                </p:oleObj>
              </mc:Choice>
              <mc:Fallback>
                <p:oleObj name="Equation" r:id="rId5" imgW="787320" imgH="4824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800600"/>
                        <a:ext cx="1295400" cy="7939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Units of Power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The SI unit of power is called the watt.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1 watt = 1 joule / second = 1 kg </a:t>
            </a:r>
            <a:r>
              <a:rPr lang="en-US" b="1" baseline="30000" dirty="0"/>
              <a:t>.</a:t>
            </a:r>
            <a:r>
              <a:rPr lang="en-US" b="1" dirty="0"/>
              <a:t> m</a:t>
            </a:r>
            <a:r>
              <a:rPr lang="en-US" b="1" baseline="30000" dirty="0"/>
              <a:t>2</a:t>
            </a:r>
            <a:r>
              <a:rPr lang="en-US" b="1" dirty="0"/>
              <a:t> / s</a:t>
            </a:r>
            <a:r>
              <a:rPr lang="en-US" b="1" baseline="30000" dirty="0"/>
              <a:t>3</a:t>
            </a:r>
            <a:endParaRPr lang="en-US" b="1" dirty="0"/>
          </a:p>
          <a:p>
            <a:pPr marL="0" indent="0" eaLnBrk="1" hangingPunct="1">
              <a:lnSpc>
                <a:spcPct val="90000"/>
              </a:lnSpc>
            </a:pPr>
            <a:endParaRPr lang="en-US" b="1" dirty="0"/>
          </a:p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A unit of power in the US Customary system is horsepower.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1 hp = 746 W</a:t>
            </a:r>
          </a:p>
          <a:p>
            <a:pPr marL="0" indent="0" eaLnBrk="1" hangingPunct="1">
              <a:lnSpc>
                <a:spcPct val="90000"/>
              </a:lnSpc>
            </a:pPr>
            <a:endParaRPr lang="en-US" b="1" dirty="0"/>
          </a:p>
          <a:p>
            <a:pPr marL="0" indent="0" eaLnBrk="1" hangingPunct="1">
              <a:lnSpc>
                <a:spcPct val="90000"/>
              </a:lnSpc>
            </a:pPr>
            <a:r>
              <a:rPr lang="en-US" b="1" u="sng" dirty="0"/>
              <a:t>Units of power can also be used to express units of work or energy.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1 kWh = (1000 W)(3600 s) = 3.6 x10</a:t>
            </a:r>
            <a:r>
              <a:rPr lang="en-US" b="1" baseline="30000" dirty="0"/>
              <a:t>6</a:t>
            </a:r>
            <a:r>
              <a:rPr lang="en-US" b="1" dirty="0"/>
              <a:t> 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</TotalTime>
  <Words>405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Symbol</vt:lpstr>
      <vt:lpstr>Office Theme</vt:lpstr>
      <vt:lpstr>Equation</vt:lpstr>
      <vt:lpstr>Conservation of Energy</vt:lpstr>
      <vt:lpstr>Energy Review</vt:lpstr>
      <vt:lpstr>Types of Systems</vt:lpstr>
      <vt:lpstr>Ways to Transfer Energy Into or Out of A System</vt:lpstr>
      <vt:lpstr>Examples of Ways to Transfer Energy</vt:lpstr>
      <vt:lpstr>Conservation of Energy</vt:lpstr>
      <vt:lpstr>Isolated System</vt:lpstr>
      <vt:lpstr>Isolated System, cont.</vt:lpstr>
      <vt:lpstr>Power</vt:lpstr>
      <vt:lpstr>Units of Power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 Conservation of Energy</dc:title>
  <dc:creator>Raymond Edziah</dc:creator>
  <cp:lastModifiedBy>Bright Abbiw</cp:lastModifiedBy>
  <cp:revision>9</cp:revision>
  <dcterms:created xsi:type="dcterms:W3CDTF">2012-03-15T23:49:24Z</dcterms:created>
  <dcterms:modified xsi:type="dcterms:W3CDTF">2019-10-09T14:12:24Z</dcterms:modified>
</cp:coreProperties>
</file>
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62" r:id="rId5"/>
    <p:sldId id="263" r:id="rId6"/>
    <p:sldId id="265" r:id="rId7"/>
    <p:sldId id="259" r:id="rId8"/>
    <p:sldId id="266" r:id="rId9"/>
    <p:sldId id="260" r:id="rId10"/>
    <p:sldId id="264" r:id="rId11"/>
    <p:sldId id="261" r:id="rId12"/>
    <p:sldId id="267" r:id="rId13"/>
    <p:sldId id="268" r:id="rId14"/>
    <p:sldId id="269" r:id="rId15"/>
    <p:sldId id="274" r:id="rId16"/>
    <p:sldId id="271" r:id="rId17"/>
    <p:sldId id="272" r:id="rId18"/>
    <p:sldId id="273" r:id="rId19"/>
    <p:sldId id="270" r:id="rId20"/>
    <p:sldId id="275" r:id="rId21"/>
    <p:sldId id="276" r:id="rId22"/>
    <p:sldId id="279" r:id="rId23"/>
    <p:sldId id="277" r:id="rId24"/>
    <p:sldId id="281" r:id="rId25"/>
    <p:sldId id="282" r:id="rId26"/>
    <p:sldId id="283" r:id="rId27"/>
    <p:sldId id="284" r:id="rId28"/>
    <p:sldId id="286" r:id="rId29"/>
    <p:sldId id="287" r:id="rId30"/>
    <p:sldId id="288" r:id="rId31"/>
    <p:sldId id="289" r:id="rId32"/>
    <p:sldId id="291" r:id="rId33"/>
    <p:sldId id="330" r:id="rId34"/>
    <p:sldId id="292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3" r:id="rId44"/>
    <p:sldId id="304" r:id="rId45"/>
    <p:sldId id="290" r:id="rId46"/>
    <p:sldId id="305" r:id="rId47"/>
    <p:sldId id="306" r:id="rId48"/>
    <p:sldId id="307" r:id="rId49"/>
    <p:sldId id="308" r:id="rId50"/>
    <p:sldId id="309" r:id="rId51"/>
    <p:sldId id="310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5" r:id="rId64"/>
    <p:sldId id="326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ymond Edziah" initials="RE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3" autoAdjust="0"/>
    <p:restoredTop sz="96206" autoAdjust="0"/>
  </p:normalViewPr>
  <p:slideViewPr>
    <p:cSldViewPr>
      <p:cViewPr varScale="1">
        <p:scale>
          <a:sx n="70" d="100"/>
          <a:sy n="70" d="100"/>
        </p:scale>
        <p:origin x="146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5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2-02-01T09:47:59.537" idx="1">
    <p:pos x="10" y="10"/>
    <p:text>Add 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2-02-01T09:49:50.153" idx="2">
    <p:pos x="10" y="10"/>
    <p:text>Review slide based on stds experience</p:tex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7129F-B70A-4DE4-8F16-AC0615DEB5A8}" type="datetimeFigureOut">
              <a:rPr lang="en-US" smtClean="0"/>
              <a:pPr/>
              <a:t>10/10/2019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3292C-6B13-4BC4-ACB0-A271AFD5E3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28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73292C-6B13-4BC4-ACB0-A271AFD5E3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73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73292C-6B13-4BC4-ACB0-A271AFD5E305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47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855B2-3C73-44C3-B883-6BD1E1C0854D}" type="datetimeFigureOut">
              <a:rPr lang="en-US" smtClean="0"/>
              <a:pPr/>
              <a:t>10/10/2019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B5A-9C1D-4583-8119-407EC68167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855B2-3C73-44C3-B883-6BD1E1C0854D}" type="datetimeFigureOut">
              <a:rPr lang="en-US" smtClean="0"/>
              <a:pPr/>
              <a:t>10/10/2019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B5A-9C1D-4583-8119-407EC68167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855B2-3C73-44C3-B883-6BD1E1C0854D}" type="datetimeFigureOut">
              <a:rPr lang="en-US" smtClean="0"/>
              <a:pPr/>
              <a:t>10/10/2019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B5A-9C1D-4583-8119-407EC68167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855B2-3C73-44C3-B883-6BD1E1C0854D}" type="datetimeFigureOut">
              <a:rPr lang="en-US" smtClean="0"/>
              <a:pPr/>
              <a:t>10/10/2019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B5A-9C1D-4583-8119-407EC68167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855B2-3C73-44C3-B883-6BD1E1C0854D}" type="datetimeFigureOut">
              <a:rPr lang="en-US" smtClean="0"/>
              <a:pPr/>
              <a:t>10/10/2019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B5A-9C1D-4583-8119-407EC68167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855B2-3C73-44C3-B883-6BD1E1C0854D}" type="datetimeFigureOut">
              <a:rPr lang="en-US" smtClean="0"/>
              <a:pPr/>
              <a:t>10/10/2019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B5A-9C1D-4583-8119-407EC68167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855B2-3C73-44C3-B883-6BD1E1C0854D}" type="datetimeFigureOut">
              <a:rPr lang="en-US" smtClean="0"/>
              <a:pPr/>
              <a:t>10/10/2019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B5A-9C1D-4583-8119-407EC68167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855B2-3C73-44C3-B883-6BD1E1C0854D}" type="datetimeFigureOut">
              <a:rPr lang="en-US" smtClean="0"/>
              <a:pPr/>
              <a:t>10/10/2019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B5A-9C1D-4583-8119-407EC68167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855B2-3C73-44C3-B883-6BD1E1C0854D}" type="datetimeFigureOut">
              <a:rPr lang="en-US" smtClean="0"/>
              <a:pPr/>
              <a:t>10/10/2019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B5A-9C1D-4583-8119-407EC68167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855B2-3C73-44C3-B883-6BD1E1C0854D}" type="datetimeFigureOut">
              <a:rPr lang="en-US" smtClean="0"/>
              <a:pPr/>
              <a:t>10/10/2019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B5A-9C1D-4583-8119-407EC68167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855B2-3C73-44C3-B883-6BD1E1C0854D}" type="datetimeFigureOut">
              <a:rPr lang="en-US" smtClean="0"/>
              <a:pPr/>
              <a:t>10/10/2019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B5A-9C1D-4583-8119-407EC68167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55B2-3C73-44C3-B883-6BD1E1C0854D}" type="datetimeFigureOut">
              <a:rPr lang="en-US" smtClean="0"/>
              <a:pPr/>
              <a:t>10/10/2019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15B5A-9C1D-4583-8119-407EC68167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PowerPoint_Presentation.ppt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5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7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8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9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0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1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7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8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598080"/>
              </p:ext>
            </p:extLst>
          </p:nvPr>
        </p:nvGraphicFramePr>
        <p:xfrm>
          <a:off x="1143000" y="1828800"/>
          <a:ext cx="73152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5" name="Presentation" r:id="rId3" imgW="4570378" imgH="3427437" progId="PowerPoint.Show.12">
                  <p:embed/>
                </p:oleObj>
              </mc:Choice>
              <mc:Fallback>
                <p:oleObj name="Presentation" r:id="rId3" imgW="4570378" imgH="3427437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0" y="1828800"/>
                        <a:ext cx="7315200" cy="502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685801"/>
            <a:ext cx="8686800" cy="2895600"/>
          </a:xfrm>
        </p:spPr>
        <p:txBody>
          <a:bodyPr/>
          <a:lstStyle/>
          <a:p>
            <a:r>
              <a:rPr lang="en-US" b="1" dirty="0"/>
              <a:t>Motion in One Dimension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</a:pPr>
            <a:r>
              <a:rPr lang="en-US" sz="3600" b="1" u="sng" dirty="0"/>
              <a:t>Describes motion while ignoring the external agents that might have caused or modified the motion</a:t>
            </a:r>
          </a:p>
          <a:p>
            <a:pPr marL="0" indent="0">
              <a:lnSpc>
                <a:spcPct val="90000"/>
              </a:lnSpc>
            </a:pPr>
            <a:r>
              <a:rPr lang="en-US" sz="3600" b="1" dirty="0"/>
              <a:t>For now, will consider motion in one dimension</a:t>
            </a:r>
          </a:p>
          <a:p>
            <a:pPr lvl="1">
              <a:lnSpc>
                <a:spcPct val="90000"/>
              </a:lnSpc>
            </a:pPr>
            <a:r>
              <a:rPr lang="en-US" sz="3600" b="1" dirty="0"/>
              <a:t>Along a straight line</a:t>
            </a:r>
          </a:p>
          <a:p>
            <a:pPr lvl="1">
              <a:lnSpc>
                <a:spcPct val="90000"/>
              </a:lnSpc>
            </a:pPr>
            <a:r>
              <a:rPr lang="en-US" sz="3600" b="1" dirty="0"/>
              <a:t>i.e. Rectilinear Motion</a:t>
            </a:r>
          </a:p>
          <a:p>
            <a:pPr marL="0" indent="0">
              <a:lnSpc>
                <a:spcPct val="90000"/>
              </a:lnSpc>
            </a:pPr>
            <a:r>
              <a:rPr lang="en-US" sz="3600" b="1" dirty="0"/>
              <a:t>Motion represents a continual change in an object’s position.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419600"/>
          </a:xfrm>
        </p:spPr>
        <p:txBody>
          <a:bodyPr/>
          <a:lstStyle/>
          <a:p>
            <a:pPr marL="0" indent="0"/>
            <a:r>
              <a:rPr lang="en-US" b="1" dirty="0"/>
              <a:t>Translational/Rectilinear </a:t>
            </a:r>
          </a:p>
          <a:p>
            <a:pPr lvl="1"/>
            <a:r>
              <a:rPr lang="en-US" sz="3200" b="1" dirty="0"/>
              <a:t>An example is a car traveling on a highway.</a:t>
            </a:r>
          </a:p>
          <a:p>
            <a:pPr marL="0" indent="0"/>
            <a:r>
              <a:rPr lang="en-US" b="1" dirty="0"/>
              <a:t>Rotational</a:t>
            </a:r>
          </a:p>
          <a:p>
            <a:pPr lvl="1"/>
            <a:r>
              <a:rPr lang="en-US" sz="3200" b="1" dirty="0"/>
              <a:t>An example is the Earth’s spin on its axis.</a:t>
            </a:r>
          </a:p>
          <a:p>
            <a:pPr marL="0" indent="0"/>
            <a:r>
              <a:rPr lang="en-US" b="1" dirty="0"/>
              <a:t>Vibrational</a:t>
            </a:r>
          </a:p>
          <a:p>
            <a:pPr lvl="1"/>
            <a:r>
              <a:rPr lang="en-US" sz="3200" b="1" dirty="0"/>
              <a:t>An example is the back-and-forth movement of a pendulum.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36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/>
              <a:t>What do we mean by motion in one dimension?</a:t>
            </a:r>
          </a:p>
          <a:p>
            <a:r>
              <a:rPr lang="en-US" sz="2800" b="1" dirty="0"/>
              <a:t>An object A is in “motion” means that its position </a:t>
            </a:r>
            <a:r>
              <a:rPr lang="en-US" sz="2800" b="1" u="sng" dirty="0"/>
              <a:t>with respect to </a:t>
            </a:r>
            <a:r>
              <a:rPr lang="en-US" sz="2800" b="1" dirty="0"/>
              <a:t>another object B changes with time.</a:t>
            </a:r>
          </a:p>
          <a:p>
            <a:pPr marL="0" indent="0">
              <a:buNone/>
            </a:pPr>
            <a:r>
              <a:rPr lang="en-US" sz="2800" b="1" dirty="0"/>
              <a:t>    E.g. Houses and trees are in motion </a:t>
            </a:r>
            <a:r>
              <a:rPr lang="en-US" sz="2800" b="1" u="sng" dirty="0"/>
              <a:t>with respect to    </a:t>
            </a:r>
          </a:p>
          <a:p>
            <a:pPr marL="0" indent="0">
              <a:buNone/>
            </a:pPr>
            <a:r>
              <a:rPr lang="en-US" sz="2800" b="1" dirty="0"/>
              <a:t>    </a:t>
            </a:r>
            <a:r>
              <a:rPr lang="en-US" sz="2800" b="1" u="sng" dirty="0"/>
              <a:t>the Sun</a:t>
            </a:r>
            <a:r>
              <a:rPr lang="en-US" sz="2800" b="1" dirty="0"/>
              <a:t> but </a:t>
            </a:r>
            <a:r>
              <a:rPr lang="en-US" sz="2800" b="1" u="sng" dirty="0"/>
              <a:t>are not </a:t>
            </a:r>
            <a:r>
              <a:rPr lang="en-US" sz="2800" b="1" dirty="0"/>
              <a:t>in motion with respect to each     </a:t>
            </a:r>
          </a:p>
          <a:p>
            <a:pPr marL="0" indent="0">
              <a:buNone/>
            </a:pPr>
            <a:r>
              <a:rPr lang="en-US" sz="2800" b="1" dirty="0"/>
              <a:t>   other</a:t>
            </a:r>
          </a:p>
          <a:p>
            <a:r>
              <a:rPr lang="en-US" sz="2800" b="1" dirty="0"/>
              <a:t>Motion in one dimension means that we restrict the object to travel along </a:t>
            </a:r>
            <a:r>
              <a:rPr lang="en-US" sz="2800" b="1" u="sng" dirty="0"/>
              <a:t>one axis </a:t>
            </a:r>
            <a:r>
              <a:rPr lang="en-US" sz="2800" b="1" dirty="0"/>
              <a:t>only</a:t>
            </a:r>
          </a:p>
          <a:p>
            <a:pPr marL="0" indent="0">
              <a:buNone/>
            </a:pPr>
            <a:r>
              <a:rPr lang="en-US" sz="2800" b="1" dirty="0"/>
              <a:t>    Examples: </a:t>
            </a:r>
          </a:p>
          <a:p>
            <a:pPr marL="0" indent="0">
              <a:buNone/>
            </a:pPr>
            <a:r>
              <a:rPr lang="en-US" sz="2800" b="1" dirty="0"/>
              <a:t>(i) A car moving along a flat, straight, narrow road</a:t>
            </a:r>
          </a:p>
          <a:p>
            <a:pPr marL="0" indent="0">
              <a:buNone/>
            </a:pPr>
            <a:r>
              <a:rPr lang="en-US" sz="2800" b="1" dirty="0"/>
              <a:t>(ii) A leaf falling straight down from a tree</a:t>
            </a:r>
          </a:p>
          <a:p>
            <a:pPr marL="0" indent="0">
              <a:buNone/>
            </a:pPr>
            <a:r>
              <a:rPr lang="en-US" sz="2800" b="1" dirty="0"/>
              <a:t>Here motion is confined to a straight line</a:t>
            </a:r>
          </a:p>
          <a:p>
            <a:pPr marL="0" indent="0"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745510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Introduction,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For such restricted motion, there are only two possible directions (positive &amp; negative), up/ down, left/ right</a:t>
            </a:r>
          </a:p>
        </p:txBody>
      </p:sp>
    </p:spTree>
    <p:extLst>
      <p:ext uri="{BB962C8B-B14F-4D97-AF65-F5344CB8AC3E}">
        <p14:creationId xmlns:p14="http://schemas.microsoft.com/office/powerpoint/2010/main" val="3867886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 of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Learn about the relationship between distance/ displacement, velocity and acceleration</a:t>
            </a:r>
          </a:p>
        </p:txBody>
      </p:sp>
    </p:spTree>
    <p:extLst>
      <p:ext uri="{BB962C8B-B14F-4D97-AF65-F5344CB8AC3E}">
        <p14:creationId xmlns:p14="http://schemas.microsoft.com/office/powerpoint/2010/main" val="1407265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Particle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</a:pPr>
            <a:r>
              <a:rPr lang="en-US" b="1" dirty="0"/>
              <a:t>To describe motion of an object in one dimension, treat the object as a </a:t>
            </a:r>
            <a:r>
              <a:rPr lang="en-US" b="1" u="sng" dirty="0"/>
              <a:t>particle</a:t>
            </a:r>
            <a:r>
              <a:rPr lang="en-US" b="1" dirty="0"/>
              <a:t>.</a:t>
            </a:r>
          </a:p>
          <a:p>
            <a:pPr marL="0" lvl="1" indent="0">
              <a:lnSpc>
                <a:spcPct val="90000"/>
              </a:lnSpc>
              <a:buNone/>
            </a:pPr>
            <a:endParaRPr lang="en-US" b="1" dirty="0"/>
          </a:p>
          <a:p>
            <a:pPr marL="0" lvl="1" indent="0">
              <a:lnSpc>
                <a:spcPct val="90000"/>
              </a:lnSpc>
              <a:buFont typeface="Arial" pitchFamily="34" charset="0"/>
              <a:buChar char="•"/>
            </a:pPr>
            <a:r>
              <a:rPr lang="en-US" sz="3500" b="1" dirty="0"/>
              <a:t>A particle is a </a:t>
            </a:r>
            <a:r>
              <a:rPr lang="en-US" sz="3500" b="1" u="sng" dirty="0"/>
              <a:t>point-like object</a:t>
            </a:r>
            <a:r>
              <a:rPr lang="en-US" sz="3500" b="1" dirty="0"/>
              <a:t>; </a:t>
            </a:r>
            <a:r>
              <a:rPr lang="en-US" sz="3500" b="1" u="sng" dirty="0"/>
              <a:t>has mass </a:t>
            </a:r>
            <a:r>
              <a:rPr lang="en-US" sz="3500" b="1" dirty="0"/>
              <a:t>but </a:t>
            </a:r>
            <a:r>
              <a:rPr lang="en-US" sz="3500" b="1" u="sng" dirty="0"/>
              <a:t>infinitesimal size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b="1" dirty="0">
                <a:solidFill>
                  <a:srgbClr val="002060"/>
                </a:solidFill>
              </a:rPr>
              <a:t>- This course will adopt the particle model</a:t>
            </a:r>
          </a:p>
          <a:p>
            <a:pPr marL="0" indent="0">
              <a:lnSpc>
                <a:spcPct val="90000"/>
              </a:lnSpc>
            </a:pPr>
            <a:endParaRPr lang="en-US" b="1" dirty="0"/>
          </a:p>
          <a:p>
            <a:pPr marL="0" indent="0">
              <a:lnSpc>
                <a:spcPct val="90000"/>
              </a:lnSpc>
            </a:pPr>
            <a:r>
              <a:rPr lang="en-US" b="1" dirty="0"/>
              <a:t>This means that the </a:t>
            </a:r>
            <a:r>
              <a:rPr lang="en-US" b="1" u="sng" dirty="0"/>
              <a:t>variations in its rotational motion or its internal structure do not occur or are not of concern</a:t>
            </a:r>
          </a:p>
          <a:p>
            <a:pPr marL="0" indent="0">
              <a:lnSpc>
                <a:spcPct val="90000"/>
              </a:lnSpc>
            </a:pPr>
            <a:endParaRPr lang="en-US" b="1" dirty="0"/>
          </a:p>
          <a:p>
            <a:pPr marL="0" indent="0">
              <a:lnSpc>
                <a:spcPct val="90000"/>
              </a:lnSpc>
              <a:buNone/>
            </a:pP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To define our quantities, we first set up a coordinate, which in this case (is one dimensional) is a straight line with a reference point O on it.</a:t>
            </a:r>
          </a:p>
          <a:p>
            <a:endParaRPr lang="en-US" b="1" dirty="0"/>
          </a:p>
          <a:p>
            <a:r>
              <a:rPr lang="en-US" b="1" dirty="0"/>
              <a:t>To every point on the line assign a number x (in cm, n, miles…) that measures the distance Ox</a:t>
            </a:r>
          </a:p>
          <a:p>
            <a:endParaRPr lang="en-US" b="1" dirty="0"/>
          </a:p>
          <a:p>
            <a:r>
              <a:rPr lang="en-US" b="1" dirty="0"/>
              <a:t>The sign of x depends on its position relative to O</a:t>
            </a:r>
          </a:p>
          <a:p>
            <a:pPr lvl="1"/>
            <a:r>
              <a:rPr lang="en-US" b="1" dirty="0"/>
              <a:t>Usually, points to the right of O are positive</a:t>
            </a:r>
          </a:p>
          <a:p>
            <a:pPr lvl="1"/>
            <a:r>
              <a:rPr lang="en-US" b="1" dirty="0"/>
              <a:t>Points to the left of O are negative</a:t>
            </a:r>
          </a:p>
          <a:p>
            <a:pPr lvl="1"/>
            <a:endParaRPr lang="en-US" b="1" dirty="0"/>
          </a:p>
          <a:p>
            <a:pPr marL="0" lvl="1" indent="0">
              <a:buNone/>
            </a:pPr>
            <a:r>
              <a:rPr lang="en-US" sz="3100" b="1" dirty="0"/>
              <a:t>Suppose at time t</a:t>
            </a:r>
            <a:r>
              <a:rPr lang="en-US" sz="3100" b="1" baseline="-25000" dirty="0"/>
              <a:t>1</a:t>
            </a:r>
            <a:r>
              <a:rPr lang="en-US" sz="3100" b="1" dirty="0"/>
              <a:t>, a particle is at x</a:t>
            </a:r>
            <a:r>
              <a:rPr lang="en-US" sz="3100" b="1" baseline="-25000" dirty="0"/>
              <a:t>1 </a:t>
            </a:r>
            <a:r>
              <a:rPr lang="en-US" sz="3100" b="1" dirty="0"/>
              <a:t> (i.e. position x</a:t>
            </a:r>
            <a:r>
              <a:rPr lang="en-US" sz="3100" b="1" baseline="-25000" dirty="0"/>
              <a:t>1</a:t>
            </a:r>
            <a:r>
              <a:rPr lang="en-US" sz="3100" b="1" dirty="0"/>
              <a:t> )</a:t>
            </a:r>
            <a:endParaRPr lang="en-US" sz="3100" b="1" baseline="-25000" dirty="0"/>
          </a:p>
          <a:p>
            <a:pPr marL="0" lvl="1" indent="0">
              <a:buNone/>
            </a:pPr>
            <a:r>
              <a:rPr lang="en-US" sz="3100" b="1" dirty="0"/>
              <a:t>         and at time t</a:t>
            </a:r>
            <a:r>
              <a:rPr lang="en-US" sz="3100" b="1" baseline="-25000" dirty="0"/>
              <a:t>2</a:t>
            </a:r>
            <a:r>
              <a:rPr lang="en-US" sz="3100" b="1" dirty="0"/>
              <a:t>, the particle is at position x</a:t>
            </a:r>
            <a:r>
              <a:rPr lang="en-US" sz="3100" b="1" baseline="-25000" dirty="0"/>
              <a:t>2 </a:t>
            </a:r>
            <a:r>
              <a:rPr lang="en-US" sz="3100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023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b="1" dirty="0"/>
              <a:t>Position: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4572000" cy="5135563"/>
          </a:xfrm>
        </p:spPr>
        <p:txBody>
          <a:bodyPr/>
          <a:lstStyle/>
          <a:p>
            <a:pPr marL="0" indent="0">
              <a:lnSpc>
                <a:spcPct val="90000"/>
              </a:lnSpc>
            </a:pPr>
            <a:r>
              <a:rPr lang="en-US" b="1" dirty="0"/>
              <a:t>The object’s position is its location with respect to a chosen reference point (0).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Consider the point (0)to be the origin of a coordinate system.</a:t>
            </a:r>
          </a:p>
          <a:p>
            <a:pPr marL="0" indent="0">
              <a:lnSpc>
                <a:spcPct val="90000"/>
              </a:lnSpc>
            </a:pPr>
            <a:r>
              <a:rPr lang="en-US" b="1" dirty="0"/>
              <a:t>We are only interested in the car’s translational motion, so model it as a particle</a:t>
            </a:r>
          </a:p>
          <a:p>
            <a:endParaRPr lang="en-US" dirty="0"/>
          </a:p>
        </p:txBody>
      </p:sp>
      <p:pic>
        <p:nvPicPr>
          <p:cNvPr id="4" name="Picture 6" descr="0201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65700" y="1295400"/>
            <a:ext cx="4025900" cy="4572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Tabular Representation: Data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1617"/>
            <a:ext cx="3657600" cy="4297363"/>
          </a:xfrm>
        </p:spPr>
        <p:txBody>
          <a:bodyPr/>
          <a:lstStyle/>
          <a:p>
            <a:pPr marL="0" indent="0"/>
            <a:r>
              <a:rPr lang="en-US" b="1" dirty="0"/>
              <a:t>The table gives the actual data collected during the motion of the object (car).</a:t>
            </a:r>
          </a:p>
          <a:p>
            <a:pPr marL="0" indent="0"/>
            <a:r>
              <a:rPr lang="en-US" b="1" dirty="0"/>
              <a:t>Positive is defined as being to the right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708" y="1295400"/>
            <a:ext cx="4176713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93067" y="5648980"/>
            <a:ext cx="85223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/>
              <a:t>This is another representations of the motion of the car</a:t>
            </a:r>
          </a:p>
        </p:txBody>
      </p:sp>
    </p:spTree>
    <p:extLst>
      <p:ext uri="{BB962C8B-B14F-4D97-AF65-F5344CB8AC3E}">
        <p14:creationId xmlns:p14="http://schemas.microsoft.com/office/powerpoint/2010/main" val="1806462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62000"/>
          </a:xfrm>
        </p:spPr>
        <p:txBody>
          <a:bodyPr>
            <a:normAutofit/>
          </a:bodyPr>
          <a:lstStyle/>
          <a:p>
            <a:r>
              <a:rPr lang="en-US" sz="3200" b="1" dirty="0"/>
              <a:t>Graphical Representation: Position-Time Graph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762000"/>
            <a:ext cx="7086600" cy="2209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2800" b="1" dirty="0"/>
              <a:t>The position-time graph shows the motion of the particle (car).</a:t>
            </a:r>
          </a:p>
          <a:p>
            <a:pPr marL="0" indent="0"/>
            <a:r>
              <a:rPr lang="en-US" sz="2800" b="1" dirty="0"/>
              <a:t>The smooth curve is a guess as to what happened between the data points.</a:t>
            </a:r>
          </a:p>
        </p:txBody>
      </p:sp>
      <p:pic>
        <p:nvPicPr>
          <p:cNvPr id="5" name="Picture 6" descr="0201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667000"/>
            <a:ext cx="4241800" cy="347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2819400"/>
            <a:ext cx="3314700" cy="2939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57200" y="624840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/>
              <a:t>This is one representation of the motion of the car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944562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Displacement and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8077200" cy="5486400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b="1" u="sng" dirty="0"/>
              <a:t>Displacement</a:t>
            </a:r>
            <a:r>
              <a:rPr lang="en-US" b="1" dirty="0"/>
              <a:t> is defined as the </a:t>
            </a:r>
            <a:r>
              <a:rPr lang="en-US" b="1" u="sng" dirty="0"/>
              <a:t>change in position during some time interval</a:t>
            </a:r>
            <a:r>
              <a:rPr lang="en-US" b="1" dirty="0"/>
              <a:t>.</a:t>
            </a:r>
          </a:p>
          <a:p>
            <a:pPr lvl="1"/>
            <a:r>
              <a:rPr lang="en-US" b="1" dirty="0"/>
              <a:t>Represented as </a:t>
            </a:r>
            <a:r>
              <a:rPr lang="en-US" b="1" dirty="0">
                <a:sym typeface="Symbol" pitchFamily="80" charset="2"/>
              </a:rPr>
              <a:t></a:t>
            </a:r>
            <a:r>
              <a:rPr lang="en-US" b="1" i="1" dirty="0">
                <a:sym typeface="Symbol" pitchFamily="80" charset="2"/>
              </a:rPr>
              <a:t>x (pronounced as delta x)</a:t>
            </a:r>
          </a:p>
          <a:p>
            <a:pPr lvl="1">
              <a:buNone/>
            </a:pPr>
            <a:r>
              <a:rPr lang="en-US" b="1" dirty="0">
                <a:sym typeface="Symbol" pitchFamily="80" charset="2"/>
              </a:rPr>
              <a:t>	</a:t>
            </a:r>
            <a:r>
              <a:rPr lang="en-US" b="1" i="1" dirty="0">
                <a:sym typeface="Symbol" pitchFamily="80" charset="2"/>
              </a:rPr>
              <a:t>x </a:t>
            </a:r>
            <a:r>
              <a:rPr lang="en-US" b="1" dirty="0">
                <a:ea typeface="ヒラギノ角ゴ Pro W3" pitchFamily="80" charset="-128"/>
                <a:sym typeface="Symbol" pitchFamily="80" charset="2"/>
              </a:rPr>
              <a:t>≡</a:t>
            </a:r>
            <a:r>
              <a:rPr lang="en-US" b="1" dirty="0">
                <a:sym typeface="Symbol" pitchFamily="80" charset="2"/>
              </a:rPr>
              <a:t> </a:t>
            </a:r>
            <a:r>
              <a:rPr lang="en-US" b="1" i="1" dirty="0" err="1">
                <a:sym typeface="Symbol" pitchFamily="80" charset="2"/>
              </a:rPr>
              <a:t>x</a:t>
            </a:r>
            <a:r>
              <a:rPr lang="en-US" b="1" i="1" baseline="-25000" dirty="0" err="1">
                <a:sym typeface="Symbol" pitchFamily="80" charset="2"/>
              </a:rPr>
              <a:t>final</a:t>
            </a:r>
            <a:r>
              <a:rPr lang="en-US" b="1" i="1" dirty="0">
                <a:sym typeface="Symbol" pitchFamily="80" charset="2"/>
              </a:rPr>
              <a:t> </a:t>
            </a:r>
            <a:r>
              <a:rPr lang="en-US" b="1" dirty="0">
                <a:sym typeface="Symbol" pitchFamily="80" charset="2"/>
              </a:rPr>
              <a:t>–</a:t>
            </a:r>
            <a:r>
              <a:rPr lang="en-US" b="1" i="1" dirty="0">
                <a:sym typeface="Symbol" pitchFamily="80" charset="2"/>
              </a:rPr>
              <a:t> </a:t>
            </a:r>
            <a:r>
              <a:rPr lang="en-US" b="1" i="1" dirty="0" err="1">
                <a:sym typeface="Symbol" pitchFamily="80" charset="2"/>
              </a:rPr>
              <a:t>x</a:t>
            </a:r>
            <a:r>
              <a:rPr lang="en-US" b="1" i="1" baseline="-25000" dirty="0" err="1">
                <a:sym typeface="Symbol" pitchFamily="80" charset="2"/>
              </a:rPr>
              <a:t>initial</a:t>
            </a:r>
            <a:r>
              <a:rPr lang="en-US" b="1" i="1" baseline="-25000" dirty="0">
                <a:sym typeface="Symbol" pitchFamily="80" charset="2"/>
              </a:rPr>
              <a:t> </a:t>
            </a:r>
            <a:r>
              <a:rPr lang="en-US" b="1" i="1" dirty="0">
                <a:sym typeface="Symbol" pitchFamily="80" charset="2"/>
              </a:rPr>
              <a:t>= </a:t>
            </a:r>
            <a:r>
              <a:rPr lang="en-US" b="1" i="1" dirty="0" err="1">
                <a:sym typeface="Symbol" pitchFamily="80" charset="2"/>
              </a:rPr>
              <a:t>x</a:t>
            </a:r>
            <a:r>
              <a:rPr lang="en-US" b="1" i="1" baseline="-25000" dirty="0" err="1">
                <a:sym typeface="Symbol" pitchFamily="80" charset="2"/>
              </a:rPr>
              <a:t>f</a:t>
            </a:r>
            <a:r>
              <a:rPr lang="en-US" b="1" i="1" dirty="0">
                <a:sym typeface="Symbol" pitchFamily="80" charset="2"/>
              </a:rPr>
              <a:t> </a:t>
            </a:r>
            <a:r>
              <a:rPr lang="en-US" b="1" dirty="0">
                <a:sym typeface="Symbol" pitchFamily="80" charset="2"/>
              </a:rPr>
              <a:t>-</a:t>
            </a:r>
            <a:r>
              <a:rPr lang="en-US" b="1" i="1" dirty="0">
                <a:sym typeface="Symbol" pitchFamily="80" charset="2"/>
              </a:rPr>
              <a:t> x</a:t>
            </a:r>
            <a:r>
              <a:rPr lang="en-US" b="1" i="1" baseline="-25000" dirty="0">
                <a:sym typeface="Symbol" pitchFamily="80" charset="2"/>
              </a:rPr>
              <a:t>i</a:t>
            </a:r>
          </a:p>
          <a:p>
            <a:pPr lvl="1"/>
            <a:r>
              <a:rPr lang="en-US" b="1" dirty="0">
                <a:sym typeface="Symbol" pitchFamily="80" charset="2"/>
              </a:rPr>
              <a:t>SI units are meters (m) </a:t>
            </a:r>
          </a:p>
          <a:p>
            <a:pPr lvl="1"/>
            <a:r>
              <a:rPr lang="en-US" b="1" dirty="0">
                <a:sym typeface="Symbol" pitchFamily="80" charset="2"/>
              </a:rPr>
              <a:t></a:t>
            </a:r>
            <a:r>
              <a:rPr lang="en-US" b="1" i="1" dirty="0">
                <a:sym typeface="Symbol" pitchFamily="80" charset="2"/>
              </a:rPr>
              <a:t>x</a:t>
            </a:r>
            <a:r>
              <a:rPr lang="en-US" b="1" dirty="0">
                <a:sym typeface="Symbol" pitchFamily="80" charset="2"/>
              </a:rPr>
              <a:t> can be positive or negative</a:t>
            </a:r>
          </a:p>
          <a:p>
            <a:pPr marL="0" indent="0"/>
            <a:r>
              <a:rPr lang="en-US" b="1" dirty="0">
                <a:sym typeface="Symbol" pitchFamily="80" charset="2"/>
              </a:rPr>
              <a:t>Different from distance </a:t>
            </a:r>
          </a:p>
          <a:p>
            <a:pPr lvl="1"/>
            <a:r>
              <a:rPr lang="en-US" b="1" u="sng" dirty="0">
                <a:sym typeface="Symbol" pitchFamily="80" charset="2"/>
              </a:rPr>
              <a:t>Distance</a:t>
            </a:r>
            <a:r>
              <a:rPr lang="en-US" b="1" dirty="0">
                <a:sym typeface="Symbol" pitchFamily="80" charset="2"/>
              </a:rPr>
              <a:t> is the </a:t>
            </a:r>
            <a:r>
              <a:rPr lang="en-US" b="1" u="sng" dirty="0">
                <a:sym typeface="Symbol" pitchFamily="80" charset="2"/>
              </a:rPr>
              <a:t>length of a path </a:t>
            </a:r>
            <a:r>
              <a:rPr lang="en-US" b="1" dirty="0">
                <a:sym typeface="Symbol" pitchFamily="80" charset="2"/>
              </a:rPr>
              <a:t>followed by a particle.</a:t>
            </a:r>
          </a:p>
          <a:p>
            <a:pPr marL="457200" lvl="1" indent="0">
              <a:buNone/>
            </a:pPr>
            <a:r>
              <a:rPr lang="en-US" b="1" dirty="0">
                <a:sym typeface="Symbol" pitchFamily="80" charset="2"/>
              </a:rPr>
              <a:t>Note: Displacement can also be defined as distance moved in a given direction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118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b="1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A car is at a position A=20 km from its starting point. One hour later, it is at B = 60 km away. What is the displacement of the car?</a:t>
            </a:r>
          </a:p>
          <a:p>
            <a:pPr marL="0" indent="0">
              <a:buNone/>
            </a:pPr>
            <a:r>
              <a:rPr lang="en-US" b="1" dirty="0"/>
              <a:t>Solution: </a:t>
            </a:r>
          </a:p>
          <a:p>
            <a:pPr marL="0" indent="0">
              <a:buNone/>
            </a:pPr>
            <a:r>
              <a:rPr lang="en-US" b="1" dirty="0" err="1"/>
              <a:t>Δx</a:t>
            </a:r>
            <a:r>
              <a:rPr lang="en-US" b="1" dirty="0"/>
              <a:t>=</a:t>
            </a:r>
            <a:r>
              <a:rPr lang="en-US" b="1" i="1" dirty="0">
                <a:sym typeface="Symbol" pitchFamily="80" charset="2"/>
              </a:rPr>
              <a:t> </a:t>
            </a:r>
            <a:r>
              <a:rPr lang="en-US" b="1" i="1" dirty="0" err="1">
                <a:sym typeface="Symbol" pitchFamily="80" charset="2"/>
              </a:rPr>
              <a:t>x</a:t>
            </a:r>
            <a:r>
              <a:rPr lang="en-US" b="1" i="1" baseline="-25000" dirty="0" err="1">
                <a:sym typeface="Symbol" pitchFamily="80" charset="2"/>
              </a:rPr>
              <a:t>B</a:t>
            </a:r>
            <a:r>
              <a:rPr lang="en-US" b="1" i="1" dirty="0">
                <a:sym typeface="Symbol" pitchFamily="80" charset="2"/>
              </a:rPr>
              <a:t> </a:t>
            </a:r>
            <a:r>
              <a:rPr lang="en-US" b="1" dirty="0">
                <a:sym typeface="Symbol" pitchFamily="80" charset="2"/>
              </a:rPr>
              <a:t>–</a:t>
            </a:r>
            <a:r>
              <a:rPr lang="en-US" b="1" i="1" dirty="0">
                <a:sym typeface="Symbol" pitchFamily="80" charset="2"/>
              </a:rPr>
              <a:t> </a:t>
            </a:r>
            <a:r>
              <a:rPr lang="en-US" b="1" i="1" dirty="0" err="1">
                <a:sym typeface="Symbol" pitchFamily="80" charset="2"/>
              </a:rPr>
              <a:t>x</a:t>
            </a:r>
            <a:r>
              <a:rPr lang="en-US" b="1" i="1" baseline="-25000" dirty="0" err="1">
                <a:sym typeface="Symbol" pitchFamily="80" charset="2"/>
              </a:rPr>
              <a:t>A</a:t>
            </a:r>
            <a:r>
              <a:rPr lang="en-US" b="1" dirty="0">
                <a:sym typeface="Symbol" pitchFamily="80" charset="2"/>
              </a:rPr>
              <a:t> = </a:t>
            </a:r>
            <a:r>
              <a:rPr lang="en-US" b="1" dirty="0"/>
              <a:t>(60-20) km = 40 km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9108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6868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Differences Between Distance and  Displacement – An Example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304800" y="1371600"/>
            <a:ext cx="4267200" cy="5181600"/>
          </a:xfrm>
        </p:spPr>
        <p:txBody>
          <a:bodyPr>
            <a:noAutofit/>
          </a:bodyPr>
          <a:lstStyle/>
          <a:p>
            <a:pPr marL="0" indent="0" eaLnBrk="1" hangingPunct="1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Assume a player moves from one end of the court to the other and back. </a:t>
            </a:r>
          </a:p>
          <a:p>
            <a:pPr marL="0" indent="0" eaLnBrk="1" hangingPunct="1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Distance is twice the length of the court</a:t>
            </a:r>
          </a:p>
          <a:p>
            <a:pPr lvl="1" eaLnBrk="1" hangingPunct="1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Distance is always positive</a:t>
            </a:r>
            <a:endParaRPr lang="el-GR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Here, displacement is zero</a:t>
            </a:r>
          </a:p>
          <a:p>
            <a:pPr lvl="1" eaLnBrk="1" hangingPunct="1"/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Δ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x =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baseline="-25000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– x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= 0 </a:t>
            </a:r>
          </a:p>
          <a:p>
            <a:pPr marL="457200" lvl="1" indent="0" eaLnBrk="1" hangingPunct="1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since 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baseline="-25000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= x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  <p:pic>
        <p:nvPicPr>
          <p:cNvPr id="5" name="Picture 6" descr="020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362200"/>
            <a:ext cx="4102100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744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 and Scalars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438650"/>
          </a:xfrm>
        </p:spPr>
        <p:txBody>
          <a:bodyPr/>
          <a:lstStyle/>
          <a:p>
            <a:pPr marL="0" indent="0" eaLnBrk="1" hangingPunct="1"/>
            <a:r>
              <a:rPr lang="en-US" b="1" dirty="0"/>
              <a:t>Vector quantities need both magnitude (size or numerical value) and direction to completely describe them.</a:t>
            </a:r>
          </a:p>
          <a:p>
            <a:pPr lvl="1" eaLnBrk="1" hangingPunct="1"/>
            <a:r>
              <a:rPr lang="en-US" b="1" dirty="0"/>
              <a:t>Will use + and – signs to indicate vector directions </a:t>
            </a:r>
          </a:p>
          <a:p>
            <a:pPr marL="457200" lvl="1" indent="0" eaLnBrk="1" hangingPunct="1">
              <a:buNone/>
            </a:pPr>
            <a:endParaRPr lang="en-US" b="1" dirty="0"/>
          </a:p>
          <a:p>
            <a:pPr marL="0" indent="0" eaLnBrk="1" hangingPunct="1"/>
            <a:r>
              <a:rPr lang="en-US" b="1" dirty="0"/>
              <a:t>Scalar quantities are completely described by magnitude only.</a:t>
            </a:r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056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Speed and Velocity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686800" cy="5486400"/>
          </a:xfrm>
        </p:spPr>
        <p:txBody>
          <a:bodyPr>
            <a:normAutofit/>
          </a:bodyPr>
          <a:lstStyle/>
          <a:p>
            <a:r>
              <a:rPr lang="en-US" b="1" dirty="0"/>
              <a:t>The </a:t>
            </a:r>
            <a:r>
              <a:rPr lang="en-US" b="1" u="sng" dirty="0"/>
              <a:t>average speed </a:t>
            </a:r>
            <a:r>
              <a:rPr lang="en-US" b="1" dirty="0"/>
              <a:t>of a particle is the </a:t>
            </a:r>
            <a:r>
              <a:rPr lang="en-US" b="1" u="sng" dirty="0"/>
              <a:t>ratio of the total distance travelled to the total time </a:t>
            </a:r>
            <a:r>
              <a:rPr lang="en-US" b="1" dirty="0"/>
              <a:t>taken, </a:t>
            </a:r>
            <a:r>
              <a:rPr lang="en-US" b="1" u="sng" dirty="0"/>
              <a:t>regardless of direction</a:t>
            </a:r>
          </a:p>
          <a:p>
            <a:endParaRPr lang="en-US" b="1" u="sng" dirty="0"/>
          </a:p>
          <a:p>
            <a:r>
              <a:rPr lang="en-US" b="1" dirty="0"/>
              <a:t>Average speed = total distance (d) /total time (t)</a:t>
            </a:r>
          </a:p>
          <a:p>
            <a:pPr>
              <a:buNone/>
            </a:pPr>
            <a:r>
              <a:rPr lang="en-US" b="1" dirty="0"/>
              <a:t>	Unit: </a:t>
            </a:r>
            <a:r>
              <a:rPr lang="en-US" b="1" dirty="0">
                <a:solidFill>
                  <a:srgbClr val="FF0000"/>
                </a:solidFill>
              </a:rPr>
              <a:t>m/s (SI) </a:t>
            </a:r>
            <a:r>
              <a:rPr lang="en-US" b="1" dirty="0"/>
              <a:t>; km/h, miles/h</a:t>
            </a:r>
          </a:p>
          <a:p>
            <a:pPr>
              <a:buNone/>
            </a:pPr>
            <a:endParaRPr lang="en-US" b="1" dirty="0"/>
          </a:p>
          <a:p>
            <a:r>
              <a:rPr lang="en-US" b="1" dirty="0"/>
              <a:t>The average speed tells you nothing about the details of the motion of the particle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b="1" dirty="0"/>
              <a:t>Velocity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b="1" dirty="0"/>
              <a:t>The concept of </a:t>
            </a:r>
            <a:r>
              <a:rPr lang="en-US" b="1" u="sng" dirty="0"/>
              <a:t>velocity</a:t>
            </a:r>
            <a:r>
              <a:rPr lang="en-US" b="1" dirty="0"/>
              <a:t> is similar to that of speed but differs because it specifies the </a:t>
            </a:r>
            <a:r>
              <a:rPr lang="en-US" b="1" u="sng" dirty="0"/>
              <a:t>direction</a:t>
            </a:r>
            <a:r>
              <a:rPr lang="en-US" b="1" dirty="0"/>
              <a:t> of the motion</a:t>
            </a:r>
          </a:p>
          <a:p>
            <a:r>
              <a:rPr lang="en-US" b="1" u="sng" dirty="0"/>
              <a:t>Definition of Velocity</a:t>
            </a:r>
            <a:r>
              <a:rPr lang="en-US" b="1" dirty="0"/>
              <a:t>: The </a:t>
            </a:r>
            <a:r>
              <a:rPr lang="en-US" b="1" u="sng" dirty="0"/>
              <a:t>Average Velocity</a:t>
            </a:r>
            <a:r>
              <a:rPr lang="en-US" b="1" dirty="0"/>
              <a:t>,  </a:t>
            </a:r>
            <a:r>
              <a:rPr lang="en-US" b="1" i="1" dirty="0" err="1"/>
              <a:t>v</a:t>
            </a:r>
            <a:r>
              <a:rPr lang="en-US" b="1" baseline="-25000" dirty="0" err="1"/>
              <a:t>av</a:t>
            </a:r>
            <a:r>
              <a:rPr lang="en-US" b="1" dirty="0"/>
              <a:t>, of a particle is its </a:t>
            </a:r>
            <a:r>
              <a:rPr lang="en-US" b="1" u="sng" dirty="0"/>
              <a:t>displacement</a:t>
            </a:r>
            <a:r>
              <a:rPr lang="en-US" b="1" dirty="0"/>
              <a:t>, </a:t>
            </a:r>
            <a:r>
              <a:rPr lang="el-GR" b="1" dirty="0"/>
              <a:t>Δ</a:t>
            </a:r>
            <a:r>
              <a:rPr lang="en-US" b="1" dirty="0"/>
              <a:t>x, </a:t>
            </a:r>
            <a:r>
              <a:rPr lang="en-US" b="1" u="sng" dirty="0"/>
              <a:t>divided by the time interval</a:t>
            </a:r>
            <a:r>
              <a:rPr lang="en-US" b="1" dirty="0"/>
              <a:t>, </a:t>
            </a:r>
            <a:r>
              <a:rPr lang="el-GR" b="1" dirty="0"/>
              <a:t>Δ</a:t>
            </a:r>
            <a:r>
              <a:rPr lang="en-US" b="1" dirty="0"/>
              <a:t>t, in which the displacement occurs:</a:t>
            </a:r>
          </a:p>
          <a:p>
            <a:endParaRPr lang="en-US" b="1" dirty="0"/>
          </a:p>
          <a:p>
            <a:endParaRPr lang="en-US" b="1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514850" y="3359150"/>
          <a:ext cx="1143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" name="Equation" r:id="rId3" imgW="114201" imgH="139579" progId="Equation.3">
                  <p:embed/>
                </p:oleObj>
              </mc:Choice>
              <mc:Fallback>
                <p:oleObj name="Equation" r:id="rId3" imgW="114201" imgH="139579" progId="Equation.3">
                  <p:embed/>
                  <p:pic>
                    <p:nvPicPr>
                      <p:cNvPr id="0" name="Picture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59150"/>
                        <a:ext cx="114300" cy="139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5433868"/>
              </p:ext>
            </p:extLst>
          </p:nvPr>
        </p:nvGraphicFramePr>
        <p:xfrm>
          <a:off x="2438400" y="4800600"/>
          <a:ext cx="3960159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" name="Equation" r:id="rId5" imgW="1180588" imgH="431613" progId="Equation.DSMT4">
                  <p:embed/>
                </p:oleObj>
              </mc:Choice>
              <mc:Fallback>
                <p:oleObj name="Equation" r:id="rId5" imgW="1180588" imgH="431613" progId="Equation.DSMT4">
                  <p:embed/>
                  <p:pic>
                    <p:nvPicPr>
                      <p:cNvPr id="0" name="Picture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800600"/>
                        <a:ext cx="3960159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Velocity,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sz="4000" b="1" dirty="0"/>
              <a:t>Average velocity </a:t>
            </a:r>
            <a:r>
              <a:rPr lang="en-US" sz="4000" b="1" u="sng" dirty="0"/>
              <a:t>has a direction </a:t>
            </a:r>
            <a:r>
              <a:rPr lang="en-US" sz="4000" b="1" dirty="0"/>
              <a:t>in space.</a:t>
            </a:r>
          </a:p>
          <a:p>
            <a:r>
              <a:rPr lang="en-US" sz="4000" b="1" dirty="0"/>
              <a:t>In one-dimensional problems, </a:t>
            </a:r>
            <a:r>
              <a:rPr lang="en-US" sz="4000" b="1" i="1" dirty="0" err="1"/>
              <a:t>v</a:t>
            </a:r>
            <a:r>
              <a:rPr lang="en-US" sz="4000" b="1" baseline="-25000" dirty="0" err="1"/>
              <a:t>av</a:t>
            </a:r>
            <a:r>
              <a:rPr lang="en-US" sz="4000" b="1" baseline="-25000" dirty="0"/>
              <a:t> </a:t>
            </a:r>
            <a:r>
              <a:rPr lang="en-US" sz="4000" b="1" dirty="0"/>
              <a:t> has a + sign  or - sign.</a:t>
            </a:r>
          </a:p>
          <a:p>
            <a:pPr>
              <a:buNone/>
            </a:pPr>
            <a:r>
              <a:rPr lang="en-US" sz="4000" b="1" i="1" dirty="0"/>
              <a:t>  </a:t>
            </a:r>
            <a:r>
              <a:rPr lang="en-US" sz="4000" b="1" dirty="0"/>
              <a:t>(i) If </a:t>
            </a:r>
            <a:r>
              <a:rPr lang="en-US" sz="4000" b="1" i="1" dirty="0" err="1"/>
              <a:t>v</a:t>
            </a:r>
            <a:r>
              <a:rPr lang="en-US" sz="4000" b="1" baseline="-25000" dirty="0" err="1"/>
              <a:t>av</a:t>
            </a:r>
            <a:r>
              <a:rPr lang="en-US" sz="4000" b="1" baseline="-25000" dirty="0"/>
              <a:t> </a:t>
            </a:r>
            <a:r>
              <a:rPr lang="en-US" sz="4000" b="1" dirty="0"/>
              <a:t> is +, it means the particle moves in the positive x direction</a:t>
            </a:r>
          </a:p>
          <a:p>
            <a:pPr>
              <a:buNone/>
            </a:pPr>
            <a:r>
              <a:rPr lang="en-US" sz="4000" b="1" dirty="0"/>
              <a:t> (ii) If </a:t>
            </a:r>
            <a:r>
              <a:rPr lang="en-US" sz="4000" b="1" i="1" dirty="0" err="1"/>
              <a:t>v</a:t>
            </a:r>
            <a:r>
              <a:rPr lang="en-US" sz="4000" b="1" baseline="-25000" dirty="0" err="1"/>
              <a:t>av</a:t>
            </a:r>
            <a:r>
              <a:rPr lang="en-US" sz="4000" b="1" baseline="-25000" dirty="0"/>
              <a:t> </a:t>
            </a:r>
            <a:r>
              <a:rPr lang="en-US" sz="4000" b="1" dirty="0"/>
              <a:t> is -, it means the particle moves in the negative x direction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Average Speed and Average Velocity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b="1" dirty="0"/>
              <a:t>Speed is a scalar quantity.</a:t>
            </a:r>
          </a:p>
          <a:p>
            <a:pPr lvl="1"/>
            <a:r>
              <a:rPr lang="en-US" b="1" dirty="0"/>
              <a:t>Has the same units as velocity</a:t>
            </a:r>
          </a:p>
          <a:p>
            <a:pPr lvl="1"/>
            <a:r>
              <a:rPr lang="en-US" b="1" dirty="0"/>
              <a:t>Defined as total distance / total time</a:t>
            </a:r>
          </a:p>
          <a:p>
            <a:pPr marL="0" indent="0"/>
            <a:endParaRPr lang="en-US" b="1" dirty="0"/>
          </a:p>
          <a:p>
            <a:pPr marL="0" indent="0"/>
            <a:r>
              <a:rPr lang="en-US" b="1" dirty="0"/>
              <a:t>The speed has no direction and is always expressed as a positive number.</a:t>
            </a:r>
          </a:p>
          <a:p>
            <a:pPr marL="0" indent="0"/>
            <a:endParaRPr lang="en-US" b="1" dirty="0"/>
          </a:p>
          <a:p>
            <a:pPr marL="0" indent="0"/>
            <a:r>
              <a:rPr lang="en-US" b="1" dirty="0"/>
              <a:t>Neither average velocity nor average speed gives details about the trip described.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275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Average Speed and Average Velocity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67250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n-US" sz="3600" b="1" dirty="0"/>
              <a:t>The </a:t>
            </a:r>
            <a:r>
              <a:rPr lang="en-US" sz="3600" b="1" u="sng" dirty="0"/>
              <a:t>average speed is not the magnitude of the average velocity.</a:t>
            </a:r>
          </a:p>
          <a:p>
            <a:pPr lvl="1" eaLnBrk="1" hangingPunct="1"/>
            <a:r>
              <a:rPr lang="en-US" sz="3600" b="1" dirty="0"/>
              <a:t>For example, if a runner ends at her starting point.</a:t>
            </a:r>
          </a:p>
          <a:p>
            <a:pPr lvl="1" eaLnBrk="1" hangingPunct="1"/>
            <a:r>
              <a:rPr lang="en-US" sz="3600" b="1" dirty="0"/>
              <a:t>Her displacement is zero.</a:t>
            </a:r>
          </a:p>
          <a:p>
            <a:pPr lvl="1" eaLnBrk="1" hangingPunct="1"/>
            <a:r>
              <a:rPr lang="en-US" sz="3600" b="1" dirty="0"/>
              <a:t>Therefore, her velocity is zero.</a:t>
            </a:r>
          </a:p>
          <a:p>
            <a:pPr lvl="1" eaLnBrk="1" hangingPunct="1"/>
            <a:r>
              <a:rPr lang="en-US" sz="3600" b="1" dirty="0"/>
              <a:t>However, the distance traveled is not zero, </a:t>
            </a:r>
            <a:r>
              <a:rPr lang="en-US" sz="3600" b="1" u="sng" dirty="0"/>
              <a:t>so the speed is not zero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994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Instantaneous Velocity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686800" cy="5486400"/>
          </a:xfrm>
        </p:spPr>
        <p:txBody>
          <a:bodyPr>
            <a:normAutofit lnSpcReduction="10000"/>
          </a:bodyPr>
          <a:lstStyle/>
          <a:p>
            <a:pPr marL="0" indent="0"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Suppose a particle moves with constant velocity, then at all times its velocity, v =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b="1" baseline="-25000" dirty="0" err="1">
                <a:latin typeface="Times New Roman" pitchFamily="18" charset="0"/>
                <a:cs typeface="Times New Roman" pitchFamily="18" charset="0"/>
              </a:rPr>
              <a:t>av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, average velocity </a:t>
            </a:r>
            <a:endParaRPr lang="en-US" b="1" baseline="-25000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endParaRPr lang="en-US" b="1" baseline="-25000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 What happens if the particle moves with a velocity that varies with time?</a:t>
            </a:r>
          </a:p>
          <a:p>
            <a:pPr marL="0" indent="0" eaLnBrk="1" hangingPunct="1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—Need to define the velocity of the particle at a single instant</a:t>
            </a:r>
          </a:p>
          <a:p>
            <a:pPr marL="0" indent="0" eaLnBrk="1" hangingPunct="1"/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instantaneous velocity indicates what is happening at every point of time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804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b="1" dirty="0"/>
              <a:t>Instantaneous Velocity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76800"/>
          </a:xfrm>
        </p:spPr>
        <p:txBody>
          <a:bodyPr>
            <a:noAutofit/>
          </a:bodyPr>
          <a:lstStyle/>
          <a:p>
            <a:pPr marL="0" indent="0"/>
            <a:r>
              <a:rPr lang="en-US" sz="3600" b="1" u="sng" dirty="0"/>
              <a:t>Instantaneous Velocity </a:t>
            </a:r>
            <a:r>
              <a:rPr lang="en-US" sz="3600" b="1" dirty="0"/>
              <a:t>is defined as the </a:t>
            </a:r>
            <a:r>
              <a:rPr lang="en-US" sz="3600" b="1" u="sng" dirty="0"/>
              <a:t>limit of the average velocity </a:t>
            </a:r>
            <a:r>
              <a:rPr lang="en-US" sz="3600" b="1" dirty="0"/>
              <a:t>as the </a:t>
            </a:r>
            <a:r>
              <a:rPr lang="en-US" sz="3600" b="1" u="sng" dirty="0"/>
              <a:t>time interval becomes infinitesimally short</a:t>
            </a:r>
            <a:r>
              <a:rPr lang="en-US" sz="3600" b="1" dirty="0"/>
              <a:t>, or as the time interval approaches zero.</a:t>
            </a:r>
          </a:p>
          <a:p>
            <a:pPr marL="0" indent="0"/>
            <a:endParaRPr lang="en-US" sz="3600" b="1" dirty="0"/>
          </a:p>
          <a:p>
            <a:pPr marL="0" indent="0"/>
            <a:endParaRPr lang="en-US" sz="3600" b="1" dirty="0"/>
          </a:p>
          <a:p>
            <a:pPr marL="0" indent="0"/>
            <a:endParaRPr lang="en-US" sz="3600" b="1" dirty="0"/>
          </a:p>
          <a:p>
            <a:pPr marL="0" indent="0"/>
            <a:r>
              <a:rPr lang="en-US" sz="3600" b="1" dirty="0"/>
              <a:t>That is, make </a:t>
            </a:r>
            <a:r>
              <a:rPr lang="el-GR" sz="3600" b="1" dirty="0"/>
              <a:t>Δ</a:t>
            </a:r>
            <a:r>
              <a:rPr lang="en-US" sz="3600" b="1" dirty="0"/>
              <a:t>t smaller and smaller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378756"/>
              </p:ext>
            </p:extLst>
          </p:nvPr>
        </p:nvGraphicFramePr>
        <p:xfrm>
          <a:off x="2908300" y="3962400"/>
          <a:ext cx="237847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Equation" r:id="rId3" imgW="1193800" imgH="419100" progId="Equation.DSMT4">
                  <p:embed/>
                </p:oleObj>
              </mc:Choice>
              <mc:Fallback>
                <p:oleObj name="Equation" r:id="rId3" imgW="1193800" imgH="419100" progId="Equation.DSMT4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3962400"/>
                        <a:ext cx="2378477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2680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Graphical Representation of Instantaneous Velocity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14350" y="1600201"/>
            <a:ext cx="4114800" cy="4191000"/>
          </a:xfrm>
        </p:spPr>
        <p:txBody>
          <a:bodyPr>
            <a:noAutofit/>
          </a:bodyPr>
          <a:lstStyle/>
          <a:p>
            <a:pPr marL="0" indent="0" eaLnBrk="1" hangingPunct="1"/>
            <a:r>
              <a:rPr lang="en-US" sz="2800" b="1" dirty="0"/>
              <a:t>The instantaneous velocity is the slope of the line tangent to the </a:t>
            </a:r>
            <a:r>
              <a:rPr lang="en-US" sz="2800" b="1" i="1" dirty="0"/>
              <a:t>x</a:t>
            </a:r>
            <a:r>
              <a:rPr lang="en-US" sz="2800" b="1" dirty="0"/>
              <a:t> vs. </a:t>
            </a:r>
            <a:r>
              <a:rPr lang="en-US" sz="2800" b="1" i="1" dirty="0"/>
              <a:t>t</a:t>
            </a:r>
            <a:r>
              <a:rPr lang="en-US" sz="2800" b="1" dirty="0"/>
              <a:t> curve.</a:t>
            </a:r>
          </a:p>
          <a:p>
            <a:pPr lvl="1" eaLnBrk="1" hangingPunct="1"/>
            <a:r>
              <a:rPr lang="en-US" b="1" dirty="0"/>
              <a:t>This would be the green line.</a:t>
            </a:r>
          </a:p>
          <a:p>
            <a:pPr marL="0" indent="0" eaLnBrk="1" hangingPunct="1"/>
            <a:r>
              <a:rPr lang="en-US" sz="2800" b="1" dirty="0"/>
              <a:t>The blue lines show that as </a:t>
            </a:r>
            <a:r>
              <a:rPr lang="en-US" sz="2800" b="1" dirty="0">
                <a:sym typeface="Symbol" pitchFamily="80" charset="2"/>
              </a:rPr>
              <a:t></a:t>
            </a:r>
            <a:r>
              <a:rPr lang="en-US" sz="2800" b="1" i="1" dirty="0">
                <a:sym typeface="Symbol" pitchFamily="80" charset="2"/>
              </a:rPr>
              <a:t>t</a:t>
            </a:r>
            <a:r>
              <a:rPr lang="en-US" sz="2800" b="1" dirty="0">
                <a:sym typeface="Symbol" pitchFamily="80" charset="2"/>
              </a:rPr>
              <a:t> gets smaller, they approach the green line.</a:t>
            </a:r>
          </a:p>
          <a:p>
            <a:pPr marL="0" indent="0" eaLnBrk="1" hangingPunct="1"/>
            <a:endParaRPr lang="en-US" sz="2800" b="1" dirty="0">
              <a:sym typeface="Symbol" pitchFamily="80" charset="2"/>
            </a:endParaRPr>
          </a:p>
        </p:txBody>
      </p:sp>
      <p:pic>
        <p:nvPicPr>
          <p:cNvPr id="6" name="Picture 6" descr="0203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831975"/>
            <a:ext cx="4114800" cy="319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52400" y="5791201"/>
            <a:ext cx="899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  <a:sym typeface="Symbol" pitchFamily="80" charset="2"/>
              </a:rPr>
              <a:t>In other words, a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l-GR" sz="2800" b="1" dirty="0">
                <a:latin typeface="Times New Roman" pitchFamily="18" charset="0"/>
                <a:cs typeface="Times New Roman" pitchFamily="18" charset="0"/>
              </a:rPr>
              <a:t>Δ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 gets smaller and smaller, we get a “truer” value of the velocity at a particular point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397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Instantaneous Velocity,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r>
              <a:rPr lang="en-US" b="1" dirty="0"/>
              <a:t>The instantaneous velocity can be </a:t>
            </a:r>
            <a:r>
              <a:rPr lang="en-US" b="1" u="sng" dirty="0"/>
              <a:t>positive</a:t>
            </a:r>
            <a:r>
              <a:rPr lang="en-US" b="1" dirty="0"/>
              <a:t>, </a:t>
            </a:r>
            <a:r>
              <a:rPr lang="en-US" b="1" u="sng" dirty="0"/>
              <a:t>negative</a:t>
            </a:r>
            <a:r>
              <a:rPr lang="en-US" b="1" dirty="0"/>
              <a:t>, or </a:t>
            </a:r>
            <a:r>
              <a:rPr lang="en-US" b="1" u="sng" dirty="0"/>
              <a:t>zero</a:t>
            </a:r>
          </a:p>
          <a:p>
            <a:endParaRPr lang="en-US" b="1" u="sng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981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Vocabulary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“Velocity” and “speed” will indicate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instantaneous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values.</a:t>
            </a:r>
          </a:p>
          <a:p>
            <a:pPr marL="0" indent="0"/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Average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will be used when the average velocity or average speed is indicated.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41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 Particle Under Constant Velocity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81000" y="1219200"/>
            <a:ext cx="8001000" cy="533399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100" b="1" u="sng" dirty="0">
                <a:latin typeface="Times New Roman" pitchFamily="18" charset="0"/>
                <a:cs typeface="Times New Roman" pitchFamily="18" charset="0"/>
              </a:rPr>
              <a:t>Constant velocity </a:t>
            </a:r>
            <a:r>
              <a:rPr lang="en-US" sz="5100" b="1" dirty="0">
                <a:latin typeface="Times New Roman" pitchFamily="18" charset="0"/>
                <a:cs typeface="Times New Roman" pitchFamily="18" charset="0"/>
              </a:rPr>
              <a:t>indicates the </a:t>
            </a:r>
            <a:r>
              <a:rPr lang="en-US" sz="5100" b="1" u="sng" dirty="0">
                <a:latin typeface="Times New Roman" pitchFamily="18" charset="0"/>
                <a:cs typeface="Times New Roman" pitchFamily="18" charset="0"/>
              </a:rPr>
              <a:t>instantaneous velocity at any instant </a:t>
            </a:r>
            <a:r>
              <a:rPr lang="en-US" sz="5100" b="1" dirty="0">
                <a:latin typeface="Times New Roman" pitchFamily="18" charset="0"/>
                <a:cs typeface="Times New Roman" pitchFamily="18" charset="0"/>
              </a:rPr>
              <a:t>during a time interval and is the same as the average velocity during that time interval.</a:t>
            </a:r>
          </a:p>
          <a:p>
            <a:pPr lvl="1"/>
            <a:r>
              <a:rPr lang="en-US" sz="5100" b="1" i="1" dirty="0">
                <a:latin typeface="Times New Roman" pitchFamily="18" charset="0"/>
                <a:cs typeface="Times New Roman" pitchFamily="18" charset="0"/>
              </a:rPr>
              <a:t>v = </a:t>
            </a:r>
            <a:r>
              <a:rPr lang="en-US" sz="5100" b="1" i="1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5100" b="1" i="1" baseline="-25000" dirty="0" err="1">
                <a:latin typeface="Times New Roman" pitchFamily="18" charset="0"/>
                <a:cs typeface="Times New Roman" pitchFamily="18" charset="0"/>
              </a:rPr>
              <a:t>avg</a:t>
            </a:r>
            <a:endParaRPr lang="en-US" sz="5100" b="1" i="1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The mathematical representation of this situation is the equation.</a:t>
            </a:r>
          </a:p>
          <a:p>
            <a:pPr lvl="1"/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5100" b="1" dirty="0">
                <a:latin typeface="Times New Roman" pitchFamily="18" charset="0"/>
                <a:cs typeface="Times New Roman" pitchFamily="18" charset="0"/>
              </a:rPr>
              <a:t>Common practice is to let </a:t>
            </a:r>
            <a:r>
              <a:rPr lang="en-US" sz="5100" b="1" i="1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5100" b="1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5100" b="1" dirty="0">
                <a:latin typeface="Times New Roman" pitchFamily="18" charset="0"/>
                <a:cs typeface="Times New Roman" pitchFamily="18" charset="0"/>
              </a:rPr>
              <a:t> = 0 and the equation becomes:</a:t>
            </a:r>
          </a:p>
          <a:p>
            <a:pPr marL="457200" lvl="1" indent="0" algn="ctr">
              <a:buNone/>
            </a:pPr>
            <a:r>
              <a:rPr lang="en-US" sz="5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5200" b="1" i="1" baseline="-25000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5200" b="1" i="1" dirty="0">
                <a:latin typeface="Times New Roman" pitchFamily="18" charset="0"/>
                <a:cs typeface="Times New Roman" pitchFamily="18" charset="0"/>
              </a:rPr>
              <a:t> = x</a:t>
            </a:r>
            <a:r>
              <a:rPr lang="en-US" sz="5200" b="1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5200" b="1" i="1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5200" b="1" i="1" dirty="0" err="1">
                <a:latin typeface="Times New Roman" pitchFamily="18" charset="0"/>
                <a:cs typeface="Times New Roman" pitchFamily="18" charset="0"/>
              </a:rPr>
              <a:t>vt</a:t>
            </a:r>
            <a:r>
              <a:rPr lang="en-US" sz="5200" b="1" i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(for constant </a:t>
            </a:r>
            <a:r>
              <a:rPr lang="en-US" sz="4400" b="1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	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933000"/>
              </p:ext>
            </p:extLst>
          </p:nvPr>
        </p:nvGraphicFramePr>
        <p:xfrm>
          <a:off x="1765179" y="3810000"/>
          <a:ext cx="5854821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9" name="Equation" r:id="rId3" imgW="2373870" imgH="406224" progId="Equation.DSMT4">
                  <p:embed/>
                </p:oleObj>
              </mc:Choice>
              <mc:Fallback>
                <p:oleObj name="Equation" r:id="rId3" imgW="2373870" imgH="406224" progId="Equation.DSMT4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179" y="3810000"/>
                        <a:ext cx="5854821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2803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686800" cy="944562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Graph of Particle Under Constant Velocity 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sz="half" idx="1"/>
          </p:nvPr>
        </p:nvSpPr>
        <p:spPr>
          <a:xfrm>
            <a:off x="393819" y="1295400"/>
            <a:ext cx="4038600" cy="4438650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/>
            <a:r>
              <a:rPr lang="en-US" b="1" dirty="0"/>
              <a:t>The graph represents the motion of a particle under constant velocity.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The slope of the graph is the value of the constant velocity.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The y-intercept is x</a:t>
            </a:r>
            <a:r>
              <a:rPr lang="en-US" b="1" baseline="-25000" dirty="0"/>
              <a:t>i.</a:t>
            </a:r>
            <a:endParaRPr lang="en-US" b="1" dirty="0"/>
          </a:p>
        </p:txBody>
      </p:sp>
      <p:pic>
        <p:nvPicPr>
          <p:cNvPr id="5" name="Picture 6" descr="020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1676400"/>
            <a:ext cx="4483100" cy="28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6411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 Particle Under Constant Speed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05800" cy="5257800"/>
          </a:xfrm>
        </p:spPr>
        <p:txBody>
          <a:bodyPr>
            <a:normAutofit/>
          </a:bodyPr>
          <a:lstStyle/>
          <a:p>
            <a:pPr marL="0" indent="0" eaLnBrk="1" hangingPunct="1"/>
            <a:r>
              <a:rPr lang="en-US" sz="2800" b="1" dirty="0"/>
              <a:t>A particle under constant velocity moves with a constant speed along a straight line.</a:t>
            </a:r>
          </a:p>
          <a:p>
            <a:pPr marL="0" indent="0" eaLnBrk="1" hangingPunct="1"/>
            <a:r>
              <a:rPr lang="en-US" sz="2800" b="1" dirty="0"/>
              <a:t>A particle can also move with a constant speed along a curved path.</a:t>
            </a:r>
          </a:p>
          <a:p>
            <a:pPr marL="0" indent="0" eaLnBrk="1" hangingPunct="1"/>
            <a:r>
              <a:rPr lang="en-US" sz="2800" b="1" dirty="0"/>
              <a:t>This can be represented with a model of a </a:t>
            </a:r>
            <a:r>
              <a:rPr lang="en-US" sz="2800" b="1" u="sng" dirty="0"/>
              <a:t>particle under constant speed.</a:t>
            </a:r>
          </a:p>
          <a:p>
            <a:pPr marL="0" indent="0" eaLnBrk="1" hangingPunct="1"/>
            <a:r>
              <a:rPr lang="en-US" sz="2800" b="1" dirty="0"/>
              <a:t>The primary equation is the same as for average speed, with the average speed replaced by the constant speed</a:t>
            </a:r>
            <a:r>
              <a:rPr lang="en-US" sz="2800" dirty="0"/>
              <a:t>.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859417"/>
              </p:ext>
            </p:extLst>
          </p:nvPr>
        </p:nvGraphicFramePr>
        <p:xfrm>
          <a:off x="3352800" y="5419987"/>
          <a:ext cx="1066800" cy="105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1" name="Equation" r:id="rId3" imgW="469696" imgH="393529" progId="Equation.DSMT4">
                  <p:embed/>
                </p:oleObj>
              </mc:Choice>
              <mc:Fallback>
                <p:oleObj name="Equation" r:id="rId3" imgW="469696" imgH="393529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419987"/>
                        <a:ext cx="1066800" cy="1057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01849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Average Acceleration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marL="0" indent="0"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Acceleration is the rate of change of the velocity.</a:t>
            </a:r>
          </a:p>
          <a:p>
            <a:pPr marL="0" indent="0" eaLnBrk="1" hangingPunct="1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0" indent="0" eaLnBrk="1" hangingPunct="1"/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Dimensions are L/T</a:t>
            </a:r>
            <a:r>
              <a:rPr lang="en-US" b="1" baseline="30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SI units are m/s²</a:t>
            </a:r>
          </a:p>
          <a:p>
            <a:pPr marL="0" indent="0"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In one dimension, positive and negative can be used to indicate direction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980731"/>
              </p:ext>
            </p:extLst>
          </p:nvPr>
        </p:nvGraphicFramePr>
        <p:xfrm>
          <a:off x="2619375" y="2286000"/>
          <a:ext cx="2714625" cy="112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4" name="Equation" r:id="rId3" imgW="1091726" imgH="444307" progId="Equation.DSMT4">
                  <p:embed/>
                </p:oleObj>
              </mc:Choice>
              <mc:Fallback>
                <p:oleObj name="Equation" r:id="rId3" imgW="1091726" imgH="444307" progId="Equation.DSMT4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375" y="2286000"/>
                        <a:ext cx="2714625" cy="1126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7492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Instantaneous Acceleration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>
            <a:pPr marL="0" indent="0"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instantaneous acceleration is the limit of the average acceleration as </a:t>
            </a:r>
            <a:r>
              <a:rPr lang="en-US" b="1" dirty="0">
                <a:latin typeface="Times New Roman" pitchFamily="18" charset="0"/>
                <a:cs typeface="Times New Roman" pitchFamily="18" charset="0"/>
                <a:sym typeface="Symbol" pitchFamily="80" charset="2"/>
              </a:rPr>
              <a:t></a:t>
            </a:r>
            <a:r>
              <a:rPr lang="en-US" b="1" i="1" dirty="0">
                <a:latin typeface="Times New Roman" pitchFamily="18" charset="0"/>
                <a:cs typeface="Times New Roman" pitchFamily="18" charset="0"/>
                <a:sym typeface="Symbol" pitchFamily="80" charset="2"/>
              </a:rPr>
              <a:t>t</a:t>
            </a:r>
            <a:r>
              <a:rPr lang="en-US" b="1" dirty="0">
                <a:latin typeface="Times New Roman" pitchFamily="18" charset="0"/>
                <a:cs typeface="Times New Roman" pitchFamily="18" charset="0"/>
                <a:sym typeface="Symbol" pitchFamily="80" charset="2"/>
              </a:rPr>
              <a:t> approaches 0.</a:t>
            </a:r>
          </a:p>
          <a:p>
            <a:pPr marL="0" indent="0" eaLnBrk="1" hangingPunct="1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  <a:sym typeface="Symbol" pitchFamily="80" charset="2"/>
              </a:rPr>
              <a:t>	</a:t>
            </a:r>
          </a:p>
          <a:p>
            <a:pPr marL="0" indent="0" eaLnBrk="1" hangingPunct="1"/>
            <a:endParaRPr lang="en-US" b="1" dirty="0">
              <a:latin typeface="Times New Roman" pitchFamily="18" charset="0"/>
              <a:cs typeface="Times New Roman" pitchFamily="18" charset="0"/>
              <a:sym typeface="Symbol" pitchFamily="80" charset="2"/>
            </a:endParaRPr>
          </a:p>
          <a:p>
            <a:pPr marL="0" indent="0" eaLnBrk="1" hangingPunct="1"/>
            <a:r>
              <a:rPr lang="en-US" b="1" dirty="0">
                <a:latin typeface="Times New Roman" pitchFamily="18" charset="0"/>
                <a:cs typeface="Times New Roman" pitchFamily="18" charset="0"/>
                <a:sym typeface="Symbol" pitchFamily="80" charset="2"/>
              </a:rPr>
              <a:t>The term acceleration will mean instantaneous acceleration.</a:t>
            </a:r>
          </a:p>
          <a:p>
            <a:pPr lvl="1" eaLnBrk="1" hangingPunct="1"/>
            <a:r>
              <a:rPr lang="en-US" b="1" dirty="0">
                <a:latin typeface="Times New Roman" pitchFamily="18" charset="0"/>
                <a:cs typeface="Times New Roman" pitchFamily="18" charset="0"/>
                <a:sym typeface="Symbol" pitchFamily="80" charset="2"/>
              </a:rPr>
              <a:t>If average acceleration is wanted, the word average will be included.</a:t>
            </a:r>
          </a:p>
          <a:p>
            <a:pPr marL="0" indent="0" eaLnBrk="1" hangingPunct="1"/>
            <a:endParaRPr lang="en-US" dirty="0">
              <a:sym typeface="Symbol" pitchFamily="80" charset="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362710"/>
              </p:ext>
            </p:extLst>
          </p:nvPr>
        </p:nvGraphicFramePr>
        <p:xfrm>
          <a:off x="1385888" y="2514600"/>
          <a:ext cx="39465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" name="Equation" r:id="rId3" imgW="1549400" imgH="419100" progId="Equation.DSMT4">
                  <p:embed/>
                </p:oleObj>
              </mc:Choice>
              <mc:Fallback>
                <p:oleObj name="Equation" r:id="rId3" imgW="1549400" imgH="419100" progId="Equation.DSMT4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888" y="2514600"/>
                        <a:ext cx="3946525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47462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latin typeface="Times New Roman" pitchFamily="18" charset="0"/>
                <a:cs typeface="Times New Roman" pitchFamily="18" charset="0"/>
              </a:rPr>
              <a:t>Graph of Instantaneous Acceleration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295400"/>
            <a:ext cx="4038600" cy="481965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slope of the velocity-time graph is the acceleration.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green line represents the instantaneous acceleration.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blue line is the average acceleration</a:t>
            </a:r>
            <a:r>
              <a:rPr lang="en-US" dirty="0"/>
              <a:t>.</a:t>
            </a:r>
          </a:p>
        </p:txBody>
      </p:sp>
      <p:pic>
        <p:nvPicPr>
          <p:cNvPr id="5" name="Picture 6" descr="0206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209800"/>
            <a:ext cx="4406900" cy="321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0783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Acceleration and Velocity, Directions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81150"/>
            <a:ext cx="8229600" cy="4743450"/>
          </a:xfrm>
        </p:spPr>
        <p:txBody>
          <a:bodyPr/>
          <a:lstStyle/>
          <a:p>
            <a:pPr marL="0" indent="0"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When an object’s velocity and acceleration are in the same direction, the object is speeding up.</a:t>
            </a:r>
          </a:p>
          <a:p>
            <a:pPr marL="0" indent="0" eaLnBrk="1" hangingPunct="1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When an object’s velocity and acceleration are in the opposite direction, the object is slowing down.</a:t>
            </a:r>
          </a:p>
          <a:p>
            <a:pPr marL="0" indent="0" eaLnBrk="1" hangingPunct="1"/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867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Quiz 1</a:t>
            </a:r>
          </a:p>
          <a:p>
            <a:pPr marL="0" indent="0">
              <a:buNone/>
            </a:pPr>
            <a:r>
              <a:rPr lang="en-US" dirty="0"/>
              <a:t>    	Thursday, October ?? @ CELT 11 or 8</a:t>
            </a:r>
          </a:p>
          <a:p>
            <a:pPr marL="0" indent="0">
              <a:buNone/>
            </a:pPr>
            <a:r>
              <a:rPr lang="en-US" dirty="0"/>
              <a:t>	TIME: 6:30 AM or 4:00 PM PROMPT</a:t>
            </a:r>
          </a:p>
          <a:p>
            <a:pPr marL="0" indent="0">
              <a:buNone/>
            </a:pPr>
            <a:r>
              <a:rPr lang="en-US" b="1" dirty="0"/>
              <a:t>2. Additional Lecture Hour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b="1" dirty="0"/>
              <a:t>3. Tutorials</a:t>
            </a:r>
            <a:r>
              <a:rPr lang="en-US" dirty="0"/>
              <a:t>: Saturdays @ 2:30 PM </a:t>
            </a:r>
          </a:p>
        </p:txBody>
      </p:sp>
    </p:spTree>
    <p:extLst>
      <p:ext uri="{BB962C8B-B14F-4D97-AF65-F5344CB8AC3E}">
        <p14:creationId xmlns:p14="http://schemas.microsoft.com/office/powerpoint/2010/main" val="4108692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Acceleration and Force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acceleration of an object is related to the total force exerted on the object.</a:t>
            </a:r>
          </a:p>
          <a:p>
            <a:pPr lvl="1"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force is proportional to the acceleration, </a:t>
            </a:r>
          </a:p>
          <a:p>
            <a:pPr lvl="1" eaLnBrk="1" hangingPunct="1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="1" baseline="-25000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  <a:sym typeface="Symbol" pitchFamily="80" charset="2"/>
              </a:rPr>
              <a:t> a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  <a:sym typeface="Symbol" pitchFamily="80" charset="2"/>
              </a:rPr>
              <a:t> .</a:t>
            </a:r>
            <a:r>
              <a:rPr lang="en-US" b="1" dirty="0">
                <a:latin typeface="Times New Roman" pitchFamily="18" charset="0"/>
                <a:cs typeface="Times New Roman" pitchFamily="18" charset="0"/>
                <a:sym typeface="Symbol" pitchFamily="80" charset="2"/>
              </a:rPr>
              <a:t> </a:t>
            </a:r>
          </a:p>
          <a:p>
            <a:pPr lvl="1" eaLnBrk="1" hangingPunct="1"/>
            <a:r>
              <a:rPr lang="en-US" b="1" dirty="0">
                <a:latin typeface="Times New Roman" pitchFamily="18" charset="0"/>
                <a:cs typeface="Times New Roman" pitchFamily="18" charset="0"/>
                <a:sym typeface="Symbol" pitchFamily="80" charset="2"/>
              </a:rPr>
              <a:t>Assume the velocity and acceleration are in the same direction.</a:t>
            </a:r>
          </a:p>
          <a:p>
            <a:pPr lvl="2" eaLnBrk="1" hangingPunct="1"/>
            <a:r>
              <a:rPr lang="en-US" sz="1800" b="1" dirty="0">
                <a:latin typeface="Times New Roman" pitchFamily="18" charset="0"/>
                <a:cs typeface="Times New Roman" pitchFamily="18" charset="0"/>
                <a:sym typeface="Symbol" pitchFamily="80" charset="2"/>
              </a:rPr>
              <a:t>The force is in the same direction as the velocity and the object speeds up.</a:t>
            </a:r>
          </a:p>
          <a:p>
            <a:pPr lvl="1" eaLnBrk="1" hangingPunct="1"/>
            <a:r>
              <a:rPr lang="en-US" b="1" dirty="0">
                <a:latin typeface="Times New Roman" pitchFamily="18" charset="0"/>
                <a:cs typeface="Times New Roman" pitchFamily="18" charset="0"/>
                <a:sym typeface="Symbol" pitchFamily="80" charset="2"/>
              </a:rPr>
              <a:t>Assume the velocity and acceleration are in opposite directions.</a:t>
            </a:r>
          </a:p>
          <a:p>
            <a:pPr lvl="2" eaLnBrk="1" hangingPunct="1"/>
            <a:r>
              <a:rPr lang="en-US" sz="1800" b="1" dirty="0">
                <a:latin typeface="Times New Roman" pitchFamily="18" charset="0"/>
                <a:cs typeface="Times New Roman" pitchFamily="18" charset="0"/>
                <a:sym typeface="Symbol" pitchFamily="80" charset="2"/>
              </a:rPr>
              <a:t>The force is in the opposite direction as the velocity and the object slows down.</a:t>
            </a:r>
          </a:p>
        </p:txBody>
      </p:sp>
    </p:spTree>
    <p:extLst>
      <p:ext uri="{BB962C8B-B14F-4D97-AF65-F5344CB8AC3E}">
        <p14:creationId xmlns:p14="http://schemas.microsoft.com/office/powerpoint/2010/main" val="3738524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229600" cy="4906963"/>
          </a:xfrm>
        </p:spPr>
        <p:txBody>
          <a:bodyPr/>
          <a:lstStyle/>
          <a:p>
            <a:pPr marL="0" indent="0">
              <a:lnSpc>
                <a:spcPct val="90000"/>
              </a:lnSpc>
            </a:pPr>
            <a:r>
              <a:rPr lang="en-US" b="1" dirty="0"/>
              <a:t>The kinematic equations can be used with any particle under uniform acceleration.</a:t>
            </a:r>
          </a:p>
          <a:p>
            <a:pPr marL="0" indent="0">
              <a:lnSpc>
                <a:spcPct val="90000"/>
              </a:lnSpc>
            </a:pPr>
            <a:r>
              <a:rPr lang="en-US" b="1" dirty="0"/>
              <a:t>The kinematic equations may be used to solve any problem involving one-dimensional motion with a constant acceleration.</a:t>
            </a:r>
          </a:p>
          <a:p>
            <a:pPr marL="0" indent="0">
              <a:lnSpc>
                <a:spcPct val="90000"/>
              </a:lnSpc>
            </a:pPr>
            <a:r>
              <a:rPr lang="en-US" b="1" dirty="0"/>
              <a:t>You may need to use two of the equations to solve one problem.</a:t>
            </a:r>
          </a:p>
          <a:p>
            <a:pPr marL="0" indent="0">
              <a:lnSpc>
                <a:spcPct val="90000"/>
              </a:lnSpc>
            </a:pPr>
            <a:r>
              <a:rPr lang="en-US" b="1" dirty="0"/>
              <a:t>Many times there is more than one way to solve a problem</a:t>
            </a:r>
          </a:p>
        </p:txBody>
      </p:sp>
    </p:spTree>
    <p:extLst>
      <p:ext uri="{BB962C8B-B14F-4D97-AF65-F5344CB8AC3E}">
        <p14:creationId xmlns:p14="http://schemas.microsoft.com/office/powerpoint/2010/main" val="9054834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Equations,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/>
            <a:r>
              <a:rPr lang="en-US" b="1" dirty="0"/>
              <a:t>For constant </a:t>
            </a:r>
            <a:r>
              <a:rPr lang="en-US" b="1" i="1" dirty="0"/>
              <a:t>a</a:t>
            </a:r>
            <a:r>
              <a:rPr lang="en-US" b="1" dirty="0"/>
              <a:t>,</a:t>
            </a:r>
          </a:p>
          <a:p>
            <a:pPr marL="0" indent="0"/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/>
            <a:r>
              <a:rPr lang="en-US" b="1" dirty="0"/>
              <a:t>Can determine an object’s velocity at any time </a:t>
            </a:r>
            <a:r>
              <a:rPr lang="en-US" b="1" i="1" dirty="0"/>
              <a:t>t</a:t>
            </a:r>
            <a:r>
              <a:rPr lang="en-US" b="1" dirty="0"/>
              <a:t> when we know its initial velocity and its acceleration</a:t>
            </a:r>
          </a:p>
          <a:p>
            <a:pPr lvl="1"/>
            <a:r>
              <a:rPr lang="en-US" b="1" dirty="0"/>
              <a:t>Assumes </a:t>
            </a:r>
            <a:r>
              <a:rPr lang="en-US" b="1" dirty="0" err="1"/>
              <a:t>t</a:t>
            </a:r>
            <a:r>
              <a:rPr lang="en-US" b="1" baseline="-25000" dirty="0" err="1"/>
              <a:t>i</a:t>
            </a:r>
            <a:r>
              <a:rPr lang="en-US" b="1" dirty="0"/>
              <a:t> = 0 and </a:t>
            </a:r>
            <a:r>
              <a:rPr lang="en-US" b="1" dirty="0" err="1"/>
              <a:t>t</a:t>
            </a:r>
            <a:r>
              <a:rPr lang="en-US" b="1" baseline="-25000" dirty="0" err="1"/>
              <a:t>f</a:t>
            </a:r>
            <a:r>
              <a:rPr lang="en-US" b="1" dirty="0"/>
              <a:t> = t</a:t>
            </a:r>
          </a:p>
          <a:p>
            <a:pPr marL="0" indent="0"/>
            <a:r>
              <a:rPr lang="en-US" b="1" dirty="0"/>
              <a:t>Does not give any information about displacement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961105"/>
              </p:ext>
            </p:extLst>
          </p:nvPr>
        </p:nvGraphicFramePr>
        <p:xfrm>
          <a:off x="1612900" y="2236964"/>
          <a:ext cx="2654300" cy="811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4" name="Equation" r:id="rId3" imgW="749300" imgH="228600" progId="Equation.DSMT4">
                  <p:embed/>
                </p:oleObj>
              </mc:Choice>
              <mc:Fallback>
                <p:oleObj name="Equation" r:id="rId3" imgW="749300" imgH="22860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2236964"/>
                        <a:ext cx="2654300" cy="8110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18735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Equations, 2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438650"/>
          </a:xfrm>
        </p:spPr>
        <p:txBody>
          <a:bodyPr/>
          <a:lstStyle/>
          <a:p>
            <a:pPr marL="0" indent="0" eaLnBrk="1" hangingPunct="1"/>
            <a:r>
              <a:rPr lang="en-US" b="1" dirty="0"/>
              <a:t>For a body moving at a </a:t>
            </a:r>
            <a:r>
              <a:rPr lang="en-US" b="1" u="sng" dirty="0"/>
              <a:t>constant acceleration</a:t>
            </a:r>
            <a:r>
              <a:rPr lang="en-US" b="1" dirty="0"/>
              <a:t>,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The </a:t>
            </a:r>
            <a:r>
              <a:rPr lang="en-US" b="1" u="sng" dirty="0"/>
              <a:t>average velocity </a:t>
            </a:r>
            <a:r>
              <a:rPr lang="en-US" b="1" dirty="0"/>
              <a:t>can be expressed as the </a:t>
            </a:r>
            <a:r>
              <a:rPr lang="en-US" b="1" u="sng" dirty="0"/>
              <a:t>arithmetic mean </a:t>
            </a:r>
            <a:r>
              <a:rPr lang="en-US" b="1" dirty="0"/>
              <a:t>of the </a:t>
            </a:r>
            <a:r>
              <a:rPr lang="en-US" b="1" u="sng" dirty="0"/>
              <a:t>initial</a:t>
            </a:r>
            <a:r>
              <a:rPr lang="en-US" b="1" dirty="0"/>
              <a:t> and </a:t>
            </a:r>
            <a:r>
              <a:rPr lang="en-US" b="1" u="sng" dirty="0"/>
              <a:t>final velocities.</a:t>
            </a:r>
          </a:p>
          <a:p>
            <a:pPr lvl="1" eaLnBrk="1" hangingPunct="1"/>
            <a:r>
              <a:rPr lang="en-US" b="1" dirty="0"/>
              <a:t>This applies only in situations where the acceleration is constant.</a:t>
            </a:r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2133600" y="2209800"/>
          <a:ext cx="2362200" cy="1145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2" name="Equation" r:id="rId3" imgW="837836" imgH="406224" progId="Equation.DSMT4">
                  <p:embed/>
                </p:oleObj>
              </mc:Choice>
              <mc:Fallback>
                <p:oleObj name="Equation" r:id="rId3" imgW="837836" imgH="406224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209800"/>
                        <a:ext cx="2362200" cy="1145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Equations, 3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719263"/>
            <a:ext cx="7543800" cy="44116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constant acceleration,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This gives you the </a:t>
            </a: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position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 the particle </a:t>
            </a: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terms of time and velocities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Doesn’t give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the </a:t>
            </a: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acceleration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32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40037"/>
              </p:ext>
            </p:extLst>
          </p:nvPr>
        </p:nvGraphicFramePr>
        <p:xfrm>
          <a:off x="1037303" y="2438400"/>
          <a:ext cx="5144729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94" name="Equation" r:id="rId3" imgW="2044700" imgH="393700" progId="Equation.DSMT4">
                  <p:embed/>
                </p:oleObj>
              </mc:Choice>
              <mc:Fallback>
                <p:oleObj name="Equation" r:id="rId3" imgW="2044700" imgH="39370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7303" y="2438400"/>
                        <a:ext cx="5144729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Equations, 4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438650"/>
          </a:xfrm>
        </p:spPr>
        <p:txBody>
          <a:bodyPr>
            <a:normAutofit lnSpcReduction="10000"/>
          </a:bodyPr>
          <a:lstStyle/>
          <a:p>
            <a:pPr marL="0" indent="0" eaLnBrk="1" hangingPunct="1"/>
            <a:r>
              <a:rPr lang="en-US" b="1" dirty="0"/>
              <a:t>For constant acceleration,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Gives final position in terms of velocity and acceleration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Doesn’t tell you about final velocity</a:t>
            </a:r>
          </a:p>
          <a:p>
            <a:pPr marL="0" indent="0" eaLnBrk="1" hangingPunct="1"/>
            <a:endParaRPr lang="en-US" dirty="0"/>
          </a:p>
        </p:txBody>
      </p:sp>
      <p:graphicFrame>
        <p:nvGraphicFramePr>
          <p:cNvPr id="54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453576"/>
              </p:ext>
            </p:extLst>
          </p:nvPr>
        </p:nvGraphicFramePr>
        <p:xfrm>
          <a:off x="1751013" y="2438400"/>
          <a:ext cx="340836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8" name="Equation" r:id="rId3" imgW="1256755" imgH="393529" progId="Equation.DSMT4">
                  <p:embed/>
                </p:oleObj>
              </mc:Choice>
              <mc:Fallback>
                <p:oleObj name="Equation" r:id="rId3" imgW="1256755" imgH="393529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013" y="2438400"/>
                        <a:ext cx="3408362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Equations, 5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719263"/>
            <a:ext cx="7848600" cy="44116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constant 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Gives final velocity in terms of acceleration and displacement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Does not give any information about the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52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486949"/>
              </p:ext>
            </p:extLst>
          </p:nvPr>
        </p:nvGraphicFramePr>
        <p:xfrm>
          <a:off x="990600" y="2514600"/>
          <a:ext cx="5486399" cy="1015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4" name="Equation" r:id="rId3" imgW="1371600" imgH="254000" progId="Equation.DSMT4">
                  <p:embed/>
                </p:oleObj>
              </mc:Choice>
              <mc:Fallback>
                <p:oleObj name="Equation" r:id="rId3" imgW="1371600" imgH="25400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14600"/>
                        <a:ext cx="5486399" cy="10158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Special Case: When a = 0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438650"/>
          </a:xfrm>
        </p:spPr>
        <p:txBody>
          <a:bodyPr/>
          <a:lstStyle/>
          <a:p>
            <a:pPr marL="0" indent="0" eaLnBrk="1" hangingPunct="1"/>
            <a:r>
              <a:rPr lang="en-US" b="1" dirty="0"/>
              <a:t>When the acceleration is zero,</a:t>
            </a:r>
          </a:p>
          <a:p>
            <a:pPr marL="457200" lvl="1" indent="0" eaLnBrk="1" hangingPunct="1">
              <a:buNone/>
            </a:pPr>
            <a:r>
              <a:rPr lang="en-US" b="1" i="1" dirty="0"/>
              <a:t>   </a:t>
            </a:r>
            <a:r>
              <a:rPr lang="en-US" b="1" i="1" dirty="0" err="1"/>
              <a:t>v</a:t>
            </a:r>
            <a:r>
              <a:rPr lang="en-US" b="1" i="1" baseline="-25000" dirty="0" err="1"/>
              <a:t>f</a:t>
            </a:r>
            <a:r>
              <a:rPr lang="en-US" b="1" i="1" dirty="0"/>
              <a:t> = v</a:t>
            </a:r>
            <a:r>
              <a:rPr lang="en-US" b="1" i="1" baseline="-25000" dirty="0"/>
              <a:t>i</a:t>
            </a:r>
            <a:r>
              <a:rPr lang="en-US" b="1" i="1" dirty="0"/>
              <a:t> = v</a:t>
            </a:r>
            <a:endParaRPr lang="en-US" b="1" i="1" baseline="-25000" dirty="0"/>
          </a:p>
          <a:p>
            <a:pPr marL="457200" lvl="1" indent="0" eaLnBrk="1" hangingPunct="1">
              <a:buNone/>
            </a:pPr>
            <a:r>
              <a:rPr lang="en-US" b="1" i="1" dirty="0"/>
              <a:t>   </a:t>
            </a:r>
            <a:r>
              <a:rPr lang="en-US" b="1" i="1" dirty="0" err="1"/>
              <a:t>x</a:t>
            </a:r>
            <a:r>
              <a:rPr lang="en-US" b="1" i="1" baseline="-25000" dirty="0" err="1"/>
              <a:t>f</a:t>
            </a:r>
            <a:r>
              <a:rPr lang="en-US" b="1" i="1" dirty="0"/>
              <a:t> = x</a:t>
            </a:r>
            <a:r>
              <a:rPr lang="en-US" b="1" i="1" baseline="-25000" dirty="0"/>
              <a:t>i</a:t>
            </a:r>
            <a:r>
              <a:rPr lang="en-US" b="1" i="1" dirty="0"/>
              <a:t> + </a:t>
            </a:r>
            <a:r>
              <a:rPr lang="en-US" b="1" i="1" dirty="0" err="1"/>
              <a:t>vt</a:t>
            </a:r>
            <a:endParaRPr lang="en-US" b="1" i="1" dirty="0"/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The constant acceleration model reduces to the constant velocity model.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Equations – summary </a:t>
            </a:r>
          </a:p>
        </p:txBody>
      </p:sp>
      <p:pic>
        <p:nvPicPr>
          <p:cNvPr id="4" name="Picture 5" descr="02T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900" y="1912938"/>
            <a:ext cx="8966200" cy="30305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Graphical Look at Motion: Velocity – Time curve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76400"/>
            <a:ext cx="4038600" cy="4438650"/>
          </a:xfrm>
        </p:spPr>
        <p:txBody>
          <a:bodyPr/>
          <a:lstStyle/>
          <a:p>
            <a:pPr marL="0" indent="0" eaLnBrk="1" hangingPunct="1"/>
            <a:r>
              <a:rPr lang="en-US" sz="2800" b="1" dirty="0"/>
              <a:t>The slope gives </a:t>
            </a:r>
          </a:p>
          <a:p>
            <a:pPr marL="0" indent="0" eaLnBrk="1" hangingPunct="1">
              <a:buNone/>
            </a:pPr>
            <a:r>
              <a:rPr lang="en-US" sz="2800" b="1" dirty="0"/>
              <a:t>   the acceleration.</a:t>
            </a:r>
          </a:p>
          <a:p>
            <a:pPr marL="0" indent="0" eaLnBrk="1" hangingPunct="1"/>
            <a:endParaRPr lang="en-US" sz="2800" b="1" dirty="0"/>
          </a:p>
          <a:p>
            <a:pPr marL="0" indent="0" eaLnBrk="1" hangingPunct="1"/>
            <a:r>
              <a:rPr lang="en-US" sz="2800" b="1" dirty="0"/>
              <a:t>The straight line   </a:t>
            </a:r>
          </a:p>
          <a:p>
            <a:pPr marL="0" indent="0" eaLnBrk="1" hangingPunct="1">
              <a:buNone/>
            </a:pPr>
            <a:r>
              <a:rPr lang="en-US" sz="2800" b="1" dirty="0"/>
              <a:t>   indicates a  constant      </a:t>
            </a:r>
          </a:p>
          <a:p>
            <a:pPr marL="0" indent="0" eaLnBrk="1" hangingPunct="1">
              <a:buNone/>
            </a:pPr>
            <a:r>
              <a:rPr lang="en-US" sz="2800" b="1" dirty="0"/>
              <a:t>   acceleration</a:t>
            </a:r>
            <a:r>
              <a:rPr lang="en-US" sz="1800" dirty="0"/>
              <a:t>.</a:t>
            </a:r>
          </a:p>
        </p:txBody>
      </p:sp>
      <p:pic>
        <p:nvPicPr>
          <p:cNvPr id="5" name="Picture 6" descr="0211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524000"/>
            <a:ext cx="4254500" cy="3511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Graphical Look at Motion: Acceleration – Time curve</a:t>
            </a:r>
          </a:p>
        </p:txBody>
      </p:sp>
      <p:pic>
        <p:nvPicPr>
          <p:cNvPr id="4" name="Picture 6" descr="0211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752600"/>
            <a:ext cx="4343400" cy="3700463"/>
          </a:xfrm>
          <a:prstGeom prst="rect">
            <a:avLst/>
          </a:prstGeom>
          <a:noFill/>
        </p:spPr>
      </p:pic>
      <p:sp>
        <p:nvSpPr>
          <p:cNvPr id="5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457200" y="1676400"/>
            <a:ext cx="4038600" cy="4438650"/>
          </a:xfrm>
        </p:spPr>
        <p:txBody>
          <a:bodyPr/>
          <a:lstStyle/>
          <a:p>
            <a:pPr marL="0" indent="0" eaLnBrk="1" hangingPunct="1"/>
            <a:r>
              <a:rPr lang="en-US" sz="2800" b="1" dirty="0"/>
              <a:t>The zero slope indicates a constant acceleration</a:t>
            </a:r>
            <a:r>
              <a:rPr lang="en-US" sz="1800" dirty="0"/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Graphical Comparison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457200" y="1295400"/>
            <a:ext cx="4419600" cy="5334000"/>
          </a:xfrm>
        </p:spPr>
        <p:txBody>
          <a:bodyPr>
            <a:noAutofit/>
          </a:bodyPr>
          <a:lstStyle/>
          <a:p>
            <a:pPr marL="0" indent="0" eaLnBrk="1" hangingPunct="1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Given the displacement-time graph (a)</a:t>
            </a:r>
          </a:p>
          <a:p>
            <a:pPr marL="0" indent="0" eaLnBrk="1" hangingPunct="1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The velocity-time graph is found by measuring the slope of the position-time graph at every instant.</a:t>
            </a:r>
          </a:p>
          <a:p>
            <a:pPr marL="0" indent="0" eaLnBrk="1" hangingPunct="1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The acceleration-time graph is found by measuring the slope of the velocity-time graph at every instant.</a:t>
            </a:r>
          </a:p>
        </p:txBody>
      </p:sp>
      <p:pic>
        <p:nvPicPr>
          <p:cNvPr id="5" name="Picture 6" descr="020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676400"/>
            <a:ext cx="4178300" cy="413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62986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Galileo </a:t>
            </a:r>
            <a:r>
              <a:rPr lang="en-US" dirty="0" err="1"/>
              <a:t>Galilei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457200" y="1676400"/>
            <a:ext cx="4038600" cy="4438650"/>
          </a:xfrm>
        </p:spPr>
        <p:txBody>
          <a:bodyPr>
            <a:normAutofit/>
          </a:bodyPr>
          <a:lstStyle/>
          <a:p>
            <a:pPr marL="0" indent="0" eaLnBrk="1" hangingPunct="1"/>
            <a:r>
              <a:rPr lang="en-US" sz="2400" b="1" dirty="0"/>
              <a:t>1564 – 1642</a:t>
            </a:r>
          </a:p>
          <a:p>
            <a:pPr marL="0" indent="0" eaLnBrk="1" hangingPunct="1"/>
            <a:r>
              <a:rPr lang="en-US" sz="2400" b="1" dirty="0"/>
              <a:t>Italian physicist and astronomer</a:t>
            </a:r>
          </a:p>
          <a:p>
            <a:pPr marL="0" indent="0" eaLnBrk="1" hangingPunct="1"/>
            <a:r>
              <a:rPr lang="en-US" sz="2400" b="1" dirty="0"/>
              <a:t>Formulated laws of motion for objects in </a:t>
            </a:r>
            <a:r>
              <a:rPr lang="en-US" sz="2400" b="1" u="sng" dirty="0"/>
              <a:t>free fall</a:t>
            </a:r>
          </a:p>
        </p:txBody>
      </p:sp>
      <p:pic>
        <p:nvPicPr>
          <p:cNvPr id="5" name="Picture 6" descr="02p3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1295400"/>
            <a:ext cx="3722688" cy="459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Freely Falling Objects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1965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A </a:t>
            </a:r>
            <a:r>
              <a:rPr lang="en-US" b="1" i="1" u="sng" dirty="0"/>
              <a:t>freely falling object</a:t>
            </a:r>
            <a:r>
              <a:rPr lang="en-US" b="1" u="sng" dirty="0"/>
              <a:t> </a:t>
            </a:r>
            <a:r>
              <a:rPr lang="en-US" b="1" dirty="0"/>
              <a:t>is any object moving freely under the influence of gravity alone.</a:t>
            </a:r>
          </a:p>
          <a:p>
            <a:pPr marL="0" indent="0" eaLnBrk="1" hangingPunct="1">
              <a:lnSpc>
                <a:spcPct val="90000"/>
              </a:lnSpc>
            </a:pPr>
            <a:endParaRPr lang="en-US" b="1" dirty="0"/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It does not depend upon the initial motion of the object.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Dropped – released from rest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Thrown downward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Thrown upward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Acceleration of Freely Falling Object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438650"/>
          </a:xfrm>
        </p:spPr>
        <p:txBody>
          <a:bodyPr>
            <a:normAutofit lnSpcReduction="10000"/>
          </a:bodyPr>
          <a:lstStyle/>
          <a:p>
            <a:pPr marL="0" indent="0" eaLnBrk="1" hangingPunct="1"/>
            <a:r>
              <a:rPr lang="en-US" b="1" dirty="0"/>
              <a:t>The acceleration of an object in free fall is directed downward, regardless of the initial motion.</a:t>
            </a:r>
          </a:p>
          <a:p>
            <a:pPr marL="0" indent="0" eaLnBrk="1" hangingPunct="1"/>
            <a:r>
              <a:rPr lang="en-US" b="1" dirty="0"/>
              <a:t>The magnitude of free fall acceleration is </a:t>
            </a:r>
            <a:r>
              <a:rPr lang="en-US" b="1" i="1" dirty="0"/>
              <a:t>g</a:t>
            </a:r>
            <a:r>
              <a:rPr lang="en-US" b="1" dirty="0"/>
              <a:t> = 9.80 m/s</a:t>
            </a:r>
            <a:r>
              <a:rPr lang="en-US" b="1" baseline="30000" dirty="0"/>
              <a:t>2</a:t>
            </a:r>
            <a:r>
              <a:rPr lang="en-US" b="1" dirty="0"/>
              <a:t>.</a:t>
            </a:r>
            <a:endParaRPr lang="en-US" b="1" baseline="30000" dirty="0"/>
          </a:p>
          <a:p>
            <a:pPr lvl="1" eaLnBrk="1" hangingPunct="1"/>
            <a:r>
              <a:rPr lang="en-US" b="1" i="1" dirty="0"/>
              <a:t>g</a:t>
            </a:r>
            <a:r>
              <a:rPr lang="en-US" b="1" dirty="0"/>
              <a:t> decreases with increasing altitude</a:t>
            </a:r>
          </a:p>
          <a:p>
            <a:pPr lvl="1" eaLnBrk="1" hangingPunct="1"/>
            <a:r>
              <a:rPr lang="en-US" b="1" i="1" dirty="0"/>
              <a:t>g</a:t>
            </a:r>
            <a:r>
              <a:rPr lang="en-US" b="1" dirty="0"/>
              <a:t> varies with latitude</a:t>
            </a:r>
          </a:p>
          <a:p>
            <a:pPr lvl="1" eaLnBrk="1" hangingPunct="1"/>
            <a:r>
              <a:rPr lang="en-US" b="1" dirty="0"/>
              <a:t>9.80 m/s</a:t>
            </a:r>
            <a:r>
              <a:rPr lang="en-US" b="1" baseline="30000" dirty="0"/>
              <a:t>2</a:t>
            </a:r>
            <a:r>
              <a:rPr lang="en-US" b="1" dirty="0"/>
              <a:t> is the average at the Earth’s surface</a:t>
            </a:r>
          </a:p>
          <a:p>
            <a:pPr lvl="1" eaLnBrk="1" hangingPunct="1"/>
            <a:r>
              <a:rPr lang="en-US" b="1" u="sng" dirty="0"/>
              <a:t>Don’t confuse </a:t>
            </a:r>
            <a:r>
              <a:rPr lang="en-US" b="1" i="1" u="sng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b="1" u="sng" dirty="0"/>
              <a:t> with g for grams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Acceleration of Free Fall, cont.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438650"/>
          </a:xfrm>
        </p:spPr>
        <p:txBody>
          <a:bodyPr>
            <a:normAutofit/>
          </a:bodyPr>
          <a:lstStyle/>
          <a:p>
            <a:pPr marL="0" indent="0" eaLnBrk="1" hangingPunct="1"/>
            <a:r>
              <a:rPr lang="en-US" b="1" u="sng" dirty="0"/>
              <a:t>We will neglect air resistance.</a:t>
            </a:r>
          </a:p>
          <a:p>
            <a:pPr marL="0" indent="0" eaLnBrk="1" hangingPunct="1"/>
            <a:r>
              <a:rPr lang="en-US" b="1" dirty="0"/>
              <a:t>Free fall motion is constantly accelerated motion in one dimension.</a:t>
            </a:r>
          </a:p>
          <a:p>
            <a:pPr marL="0" indent="0" eaLnBrk="1" hangingPunct="1"/>
            <a:r>
              <a:rPr lang="en-US" b="1" dirty="0"/>
              <a:t>If you choose upward to be positive</a:t>
            </a:r>
          </a:p>
          <a:p>
            <a:pPr marL="0" indent="0" eaLnBrk="1" hangingPunct="1"/>
            <a:r>
              <a:rPr lang="en-US" b="1" dirty="0"/>
              <a:t>Use the kinematic equations </a:t>
            </a:r>
          </a:p>
          <a:p>
            <a:pPr lvl="1" eaLnBrk="1" hangingPunct="1"/>
            <a:r>
              <a:rPr lang="en-US" b="1" dirty="0"/>
              <a:t>With </a:t>
            </a:r>
            <a:r>
              <a:rPr lang="en-US" b="1" i="1" dirty="0"/>
              <a:t>a</a:t>
            </a:r>
            <a:r>
              <a:rPr lang="en-US" b="1" dirty="0"/>
              <a:t> = -</a:t>
            </a:r>
            <a:r>
              <a:rPr lang="en-US" b="1" i="1" dirty="0"/>
              <a:t>g</a:t>
            </a:r>
            <a:r>
              <a:rPr lang="en-US" b="1" dirty="0"/>
              <a:t> = -9.80 m/s</a:t>
            </a:r>
            <a:r>
              <a:rPr lang="en-US" b="1" baseline="30000" dirty="0"/>
              <a:t>2 </a:t>
            </a:r>
            <a:r>
              <a:rPr lang="en-US" b="1" dirty="0"/>
              <a:t> </a:t>
            </a:r>
          </a:p>
          <a:p>
            <a:pPr lvl="1" eaLnBrk="1" hangingPunct="1"/>
            <a:r>
              <a:rPr lang="en-US" b="1" dirty="0"/>
              <a:t>Note displacement is in the vertical direction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Free Fall – An Object Dropped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295400"/>
            <a:ext cx="4419600" cy="4835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Initial velocity is zero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Let up be positive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the kinematic equations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Generally use y instead of x since motion is vertical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Acceleration is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sz="2800" b="1" i="1" dirty="0"/>
              <a:t>a=a</a:t>
            </a:r>
            <a:r>
              <a:rPr kumimoji="0" lang="en-US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-g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-9.80 m/s</a:t>
            </a:r>
            <a:r>
              <a:rPr kumimoji="0" lang="en-US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791200" y="2074862"/>
            <a:ext cx="2286000" cy="3276600"/>
            <a:chOff x="6019800" y="2362200"/>
            <a:chExt cx="2286000" cy="3276600"/>
          </a:xfrm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6019800" y="2362200"/>
              <a:ext cx="914400" cy="914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6477000" y="3276600"/>
              <a:ext cx="0" cy="2362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7086600" y="3200400"/>
              <a:ext cx="1219200" cy="779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dirty="0" err="1">
                  <a:latin typeface="Times New Roman" pitchFamily="18" charset="0"/>
                </a:rPr>
                <a:t>v</a:t>
              </a:r>
              <a:r>
                <a:rPr lang="en-US" baseline="-25000" dirty="0" err="1">
                  <a:latin typeface="Times New Roman" pitchFamily="18" charset="0"/>
                </a:rPr>
                <a:t>o</a:t>
              </a:r>
              <a:r>
                <a:rPr lang="en-US" dirty="0">
                  <a:latin typeface="Times New Roman" pitchFamily="18" charset="0"/>
                </a:rPr>
                <a:t>= v</a:t>
              </a:r>
              <a:r>
                <a:rPr lang="en-US" baseline="-25000" dirty="0">
                  <a:latin typeface="Times New Roman" pitchFamily="18" charset="0"/>
                </a:rPr>
                <a:t>i </a:t>
              </a:r>
              <a:r>
                <a:rPr lang="en-US" dirty="0">
                  <a:latin typeface="Times New Roman" pitchFamily="18" charset="0"/>
                </a:rPr>
                <a:t>= 0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dirty="0">
                  <a:latin typeface="Times New Roman" pitchFamily="18" charset="0"/>
                </a:rPr>
                <a:t>a = -</a:t>
              </a:r>
              <a:r>
                <a:rPr lang="en-US" i="1" dirty="0">
                  <a:latin typeface="Times New Roman" pitchFamily="18" charset="0"/>
                </a:rPr>
                <a:t>g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Free Fall – An Object Thrown Downward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719263"/>
            <a:ext cx="4033838" cy="44116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="1" dirty="0"/>
              <a:t>a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a</a:t>
            </a:r>
            <a:r>
              <a:rPr kumimoji="0" lang="en-US" sz="32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9.80 m/s</a:t>
            </a:r>
            <a:r>
              <a:rPr kumimoji="0" lang="en-US" sz="32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Initial velocity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80" charset="2"/>
              </a:rPr>
              <a:t> 0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With upward being positive, initial velocity will be negative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943600" y="1981200"/>
            <a:ext cx="2362200" cy="3429000"/>
            <a:chOff x="5943600" y="2514600"/>
            <a:chExt cx="2362200" cy="3429000"/>
          </a:xfrm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5943600" y="2514600"/>
              <a:ext cx="914400" cy="914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6400800" y="3429000"/>
              <a:ext cx="0" cy="2514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7086600" y="3200400"/>
              <a:ext cx="1219200" cy="779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dirty="0">
                  <a:latin typeface="Times New Roman" pitchFamily="18" charset="0"/>
                </a:rPr>
                <a:t>V</a:t>
              </a:r>
              <a:r>
                <a:rPr lang="en-US" baseline="-25000" dirty="0">
                  <a:latin typeface="Times New Roman" pitchFamily="18" charset="0"/>
                </a:rPr>
                <a:t>o </a:t>
              </a:r>
              <a:r>
                <a:rPr lang="en-US" dirty="0">
                  <a:latin typeface="Times New Roman" pitchFamily="18" charset="0"/>
                </a:rPr>
                <a:t>≠ 0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dirty="0">
                  <a:latin typeface="Times New Roman" pitchFamily="18" charset="0"/>
                </a:rPr>
                <a:t>a = </a:t>
              </a:r>
              <a:r>
                <a:rPr lang="en-US" i="1" dirty="0">
                  <a:latin typeface="Times New Roman" pitchFamily="18" charset="0"/>
                </a:rPr>
                <a:t>g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Kinematic Equations – General Calculus Form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55709"/>
              </p:ext>
            </p:extLst>
          </p:nvPr>
        </p:nvGraphicFramePr>
        <p:xfrm>
          <a:off x="2143125" y="1663700"/>
          <a:ext cx="3181350" cy="468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7" name="Equation" r:id="rId3" imgW="1016000" imgH="1498600" progId="Equation.DSMT4">
                  <p:embed/>
                </p:oleObj>
              </mc:Choice>
              <mc:Fallback>
                <p:oleObj name="Equation" r:id="rId3" imgW="1016000" imgH="1498600" progId="Equation.DSMT4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1663700"/>
                        <a:ext cx="3181350" cy="468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07534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8392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Kinematic Equations – From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7800" y="1676400"/>
            <a:ext cx="6781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 integration form of </a:t>
            </a:r>
            <a:r>
              <a:rPr lang="en-US" sz="3200" i="1" dirty="0" err="1"/>
              <a:t>v</a:t>
            </a:r>
            <a:r>
              <a:rPr lang="en-US" sz="3200" i="1" baseline="-25000" dirty="0" err="1"/>
              <a:t>f</a:t>
            </a:r>
            <a:r>
              <a:rPr lang="en-US" sz="3200" dirty="0"/>
              <a:t> – </a:t>
            </a:r>
            <a:r>
              <a:rPr lang="en-US" sz="3200" i="1" dirty="0"/>
              <a:t>v</a:t>
            </a:r>
            <a:r>
              <a:rPr lang="en-US" sz="3200" i="1" baseline="-25000" dirty="0"/>
              <a:t>i</a:t>
            </a:r>
            <a:r>
              <a:rPr lang="en-US" sz="3200" dirty="0"/>
              <a:t> gives 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70032"/>
              </p:ext>
            </p:extLst>
          </p:nvPr>
        </p:nvGraphicFramePr>
        <p:xfrm>
          <a:off x="2832100" y="2438400"/>
          <a:ext cx="2489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2" name="Equation" r:id="rId3" imgW="749300" imgH="228600" progId="Equation.DSMT4">
                  <p:embed/>
                </p:oleObj>
              </mc:Choice>
              <mc:Fallback>
                <p:oleObj name="Equation" r:id="rId3" imgW="749300" imgH="228600" progId="Equation.DSMT4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2438400"/>
                        <a:ext cx="24892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1447800" y="3439180"/>
            <a:ext cx="64007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integration form of </a:t>
            </a:r>
            <a:r>
              <a:rPr lang="en-US" sz="2800" i="1" dirty="0" err="1"/>
              <a:t>x</a:t>
            </a:r>
            <a:r>
              <a:rPr lang="en-US" sz="2800" i="1" baseline="-25000" dirty="0" err="1"/>
              <a:t>f</a:t>
            </a:r>
            <a:r>
              <a:rPr lang="en-US" sz="2800" dirty="0"/>
              <a:t> – </a:t>
            </a:r>
            <a:r>
              <a:rPr lang="en-US" sz="2800" i="1" dirty="0"/>
              <a:t>x</a:t>
            </a:r>
            <a:r>
              <a:rPr lang="en-US" sz="2800" i="1" baseline="-25000" dirty="0"/>
              <a:t>i</a:t>
            </a:r>
            <a:r>
              <a:rPr lang="en-US" sz="2800" dirty="0"/>
              <a:t> gives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96845"/>
              </p:ext>
            </p:extLst>
          </p:nvPr>
        </p:nvGraphicFramePr>
        <p:xfrm>
          <a:off x="2932113" y="4038600"/>
          <a:ext cx="337978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3" name="Equation" r:id="rId5" imgW="1244600" imgH="393700" progId="Equation.DSMT4">
                  <p:embed/>
                </p:oleObj>
              </mc:Choice>
              <mc:Fallback>
                <p:oleObj name="Equation" r:id="rId5" imgW="1244600" imgH="393700" progId="Equation.DSMT4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13" y="4038600"/>
                        <a:ext cx="3379787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3516820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General Problem Solving Strategy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438650"/>
          </a:xfrm>
        </p:spPr>
        <p:txBody>
          <a:bodyPr/>
          <a:lstStyle/>
          <a:p>
            <a:pPr marL="0" indent="0" eaLnBrk="1" hangingPunct="1"/>
            <a:r>
              <a:rPr lang="en-US" b="1" dirty="0"/>
              <a:t>In addition to basic physics concepts, a valuable skill is the ability to solve complicated problems.</a:t>
            </a:r>
          </a:p>
          <a:p>
            <a:pPr marL="0" indent="0" eaLnBrk="1" hangingPunct="1"/>
            <a:r>
              <a:rPr lang="en-US" b="1" dirty="0"/>
              <a:t>Steps in a general problem solving approach:</a:t>
            </a:r>
          </a:p>
          <a:p>
            <a:pPr lvl="1" eaLnBrk="1" hangingPunct="1"/>
            <a:r>
              <a:rPr lang="en-US" b="1" dirty="0"/>
              <a:t>Conceptualize</a:t>
            </a:r>
          </a:p>
          <a:p>
            <a:pPr lvl="1" eaLnBrk="1" hangingPunct="1"/>
            <a:r>
              <a:rPr lang="en-US" b="1" dirty="0"/>
              <a:t>Categorize</a:t>
            </a:r>
          </a:p>
          <a:p>
            <a:pPr lvl="1" eaLnBrk="1" hangingPunct="1"/>
            <a:r>
              <a:rPr lang="en-US" b="1" dirty="0"/>
              <a:t>Analyze</a:t>
            </a:r>
          </a:p>
          <a:p>
            <a:pPr lvl="1" eaLnBrk="1" hangingPunct="1"/>
            <a:r>
              <a:rPr lang="en-US" b="1" dirty="0"/>
              <a:t>Finalize</a:t>
            </a:r>
          </a:p>
        </p:txBody>
      </p:sp>
    </p:spTree>
    <p:extLst>
      <p:ext uri="{BB962C8B-B14F-4D97-AF65-F5344CB8AC3E}">
        <p14:creationId xmlns:p14="http://schemas.microsoft.com/office/powerpoint/2010/main" val="36377237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Solving – Conceptualize 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667250"/>
          </a:xfrm>
        </p:spPr>
        <p:txBody>
          <a:bodyPr/>
          <a:lstStyle/>
          <a:p>
            <a:pPr marL="0" indent="0" eaLnBrk="1" hangingPunct="1"/>
            <a:r>
              <a:rPr lang="en-US" b="1" dirty="0"/>
              <a:t>Think about and understand the situation.</a:t>
            </a:r>
          </a:p>
          <a:p>
            <a:pPr marL="0" indent="0" eaLnBrk="1" hangingPunct="1"/>
            <a:r>
              <a:rPr lang="en-US" b="1" dirty="0"/>
              <a:t>Make a quick drawing of the situation.</a:t>
            </a:r>
          </a:p>
          <a:p>
            <a:pPr marL="0" indent="0" eaLnBrk="1" hangingPunct="1"/>
            <a:r>
              <a:rPr lang="en-US" b="1" dirty="0"/>
              <a:t>Gather the numerical information.</a:t>
            </a:r>
          </a:p>
          <a:p>
            <a:pPr lvl="1" eaLnBrk="1" hangingPunct="1"/>
            <a:r>
              <a:rPr lang="en-US" b="1" dirty="0"/>
              <a:t>Include algebraic meanings of phrases.</a:t>
            </a:r>
          </a:p>
          <a:p>
            <a:pPr marL="0" indent="0" eaLnBrk="1" hangingPunct="1"/>
            <a:r>
              <a:rPr lang="en-US" b="1" dirty="0"/>
              <a:t>Focus on the expected result.</a:t>
            </a:r>
          </a:p>
          <a:p>
            <a:pPr lvl="1" eaLnBrk="1" hangingPunct="1"/>
            <a:r>
              <a:rPr lang="en-US" b="1" dirty="0"/>
              <a:t>Think about units.</a:t>
            </a:r>
          </a:p>
          <a:p>
            <a:pPr marL="0" indent="0" eaLnBrk="1" hangingPunct="1"/>
            <a:r>
              <a:rPr lang="en-US" b="1" dirty="0"/>
              <a:t>Think about what a reasonable answer should be.</a:t>
            </a:r>
          </a:p>
        </p:txBody>
      </p:sp>
    </p:spTree>
    <p:extLst>
      <p:ext uri="{BB962C8B-B14F-4D97-AF65-F5344CB8AC3E}">
        <p14:creationId xmlns:p14="http://schemas.microsoft.com/office/powerpoint/2010/main" val="22833589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Solving – Categorize 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43865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Simplify the problem.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Can you ignore air resistance? 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Model objects as particles 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Classify the type of problem.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Substitution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Analysis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Try to identify similar problems you have already solved.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What analysis model would be useful?</a:t>
            </a:r>
          </a:p>
        </p:txBody>
      </p:sp>
    </p:spTree>
    <p:extLst>
      <p:ext uri="{BB962C8B-B14F-4D97-AF65-F5344CB8AC3E}">
        <p14:creationId xmlns:p14="http://schemas.microsoft.com/office/powerpoint/2010/main" val="21045625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Solving – Analyze 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438650"/>
          </a:xfrm>
        </p:spPr>
        <p:txBody>
          <a:bodyPr/>
          <a:lstStyle/>
          <a:p>
            <a:pPr marL="0" indent="0" eaLnBrk="1" hangingPunct="1"/>
            <a:r>
              <a:rPr lang="en-US" b="1" dirty="0"/>
              <a:t>Select the relevant equation(s) to apply.</a:t>
            </a:r>
          </a:p>
          <a:p>
            <a:pPr marL="0" indent="0" eaLnBrk="1" hangingPunct="1"/>
            <a:r>
              <a:rPr lang="en-US" b="1" dirty="0"/>
              <a:t>Solve for the unknown variable.</a:t>
            </a:r>
          </a:p>
          <a:p>
            <a:pPr marL="0" indent="0" eaLnBrk="1" hangingPunct="1"/>
            <a:r>
              <a:rPr lang="en-US" b="1" dirty="0"/>
              <a:t>Substitute appropriate numbers.</a:t>
            </a:r>
          </a:p>
          <a:p>
            <a:pPr marL="0" indent="0" eaLnBrk="1" hangingPunct="1"/>
            <a:r>
              <a:rPr lang="en-US" b="1" dirty="0"/>
              <a:t>Calculate the results.</a:t>
            </a:r>
          </a:p>
          <a:p>
            <a:pPr lvl="1" eaLnBrk="1" hangingPunct="1"/>
            <a:r>
              <a:rPr lang="en-US" b="1" dirty="0"/>
              <a:t>Include units</a:t>
            </a:r>
          </a:p>
          <a:p>
            <a:pPr marL="0" indent="0" eaLnBrk="1" hangingPunct="1"/>
            <a:r>
              <a:rPr lang="en-US" b="1" dirty="0"/>
              <a:t>Round the result to the appropriate number of significant figures.</a:t>
            </a:r>
          </a:p>
          <a:p>
            <a:pPr marL="0" indent="0"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2452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Solving – Finalize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43865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Check your result.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Does it have the correct units?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Does it agree with your conceptualized ideas?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Look at limiting situations to be sure the results are reasonable.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Compare the result with those of similar problems.</a:t>
            </a:r>
          </a:p>
        </p:txBody>
      </p:sp>
    </p:spTree>
    <p:extLst>
      <p:ext uri="{BB962C8B-B14F-4D97-AF65-F5344CB8AC3E}">
        <p14:creationId xmlns:p14="http://schemas.microsoft.com/office/powerpoint/2010/main" val="2969374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Problem Solving – Some Final Ideas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43450"/>
          </a:xfrm>
        </p:spPr>
        <p:txBody>
          <a:bodyPr/>
          <a:lstStyle/>
          <a:p>
            <a:pPr marL="0" indent="0" eaLnBrk="1" hangingPunct="1"/>
            <a:r>
              <a:rPr lang="en-US" b="1" dirty="0"/>
              <a:t>When solving complex problems, you may need to identify sub-problems and apply the problem-solving strategy to each sub-part.</a:t>
            </a:r>
          </a:p>
          <a:p>
            <a:pPr marL="0" indent="0" eaLnBrk="1" hangingPunct="1"/>
            <a:r>
              <a:rPr lang="en-US" b="1" dirty="0"/>
              <a:t>These steps can be a guide for solving problems in this course.</a:t>
            </a:r>
          </a:p>
        </p:txBody>
      </p:sp>
    </p:spTree>
    <p:extLst>
      <p:ext uri="{BB962C8B-B14F-4D97-AF65-F5344CB8AC3E}">
        <p14:creationId xmlns:p14="http://schemas.microsoft.com/office/powerpoint/2010/main" val="21445495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pPr indent="0">
              <a:buNone/>
            </a:pPr>
            <a:r>
              <a:rPr lang="en-US" dirty="0"/>
              <a:t>The position of a particle moving along the </a:t>
            </a:r>
            <a:r>
              <a:rPr lang="en-US" i="1" dirty="0"/>
              <a:t>x</a:t>
            </a:r>
            <a:r>
              <a:rPr lang="en-US" dirty="0"/>
              <a:t> axis is given by </a:t>
            </a:r>
            <a:r>
              <a:rPr lang="en-US" i="1" dirty="0"/>
              <a:t>x</a:t>
            </a:r>
            <a:r>
              <a:rPr lang="en-US" dirty="0"/>
              <a:t> = (21 + 22</a:t>
            </a:r>
            <a:r>
              <a:rPr lang="en-US" i="1" dirty="0"/>
              <a:t>t</a:t>
            </a:r>
            <a:r>
              <a:rPr lang="en-US" dirty="0"/>
              <a:t> - 6.0</a:t>
            </a:r>
            <a:r>
              <a:rPr lang="en-US" i="1" dirty="0"/>
              <a:t>t</a:t>
            </a:r>
            <a:r>
              <a:rPr lang="en-US" baseline="30000" dirty="0"/>
              <a:t>2</a:t>
            </a:r>
            <a:r>
              <a:rPr lang="en-US" dirty="0"/>
              <a:t>)m, where </a:t>
            </a:r>
            <a:r>
              <a:rPr lang="en-US" i="1" dirty="0"/>
              <a:t>t</a:t>
            </a:r>
            <a:r>
              <a:rPr lang="en-US" dirty="0"/>
              <a:t> is in s. What is the average velocity during the time interval </a:t>
            </a:r>
            <a:r>
              <a:rPr lang="en-US" i="1" dirty="0"/>
              <a:t>t</a:t>
            </a:r>
            <a:r>
              <a:rPr lang="en-US" dirty="0"/>
              <a:t> = 1.0 s to </a:t>
            </a:r>
            <a:r>
              <a:rPr lang="en-US" i="1" dirty="0"/>
              <a:t>t</a:t>
            </a:r>
            <a:r>
              <a:rPr lang="en-US" dirty="0"/>
              <a:t> = 3.0 s?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 err="1"/>
              <a:t>Ans</a:t>
            </a:r>
            <a:r>
              <a:rPr lang="en-US" dirty="0"/>
              <a:t>: -2m/s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A bullet is fired through a board, 14.0 cm thick, with its line of motion perpendicular to the face of the board. If it enters with a speed of 450 m/s and emerges with a speed of 220 m/s, what is the bullet's acceleration as it passes through the board?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Ans</a:t>
            </a:r>
            <a:r>
              <a:rPr lang="en-US" dirty="0"/>
              <a:t>: -5.50 x 10</a:t>
            </a:r>
            <a:r>
              <a:rPr lang="en-US" baseline="30000" dirty="0"/>
              <a:t>5</a:t>
            </a:r>
            <a:r>
              <a:rPr lang="en-US" dirty="0"/>
              <a:t>m/s</a:t>
            </a:r>
            <a:r>
              <a:rPr lang="en-US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	A particle moving along the </a:t>
            </a:r>
            <a:r>
              <a:rPr lang="en-US" i="1" dirty="0"/>
              <a:t>x </a:t>
            </a:r>
            <a:r>
              <a:rPr lang="en-US" dirty="0"/>
              <a:t>axis has a position given by </a:t>
            </a:r>
            <a:r>
              <a:rPr lang="en-US" i="1" dirty="0"/>
              <a:t>x</a:t>
            </a:r>
            <a:r>
              <a:rPr lang="en-US" dirty="0"/>
              <a:t> = (24</a:t>
            </a:r>
            <a:r>
              <a:rPr lang="en-US" i="1" dirty="0"/>
              <a:t>t</a:t>
            </a:r>
            <a:r>
              <a:rPr lang="en-US" dirty="0"/>
              <a:t> – 2.0</a:t>
            </a:r>
            <a:r>
              <a:rPr lang="en-US" i="1" dirty="0"/>
              <a:t>t</a:t>
            </a:r>
            <a:r>
              <a:rPr lang="en-US" baseline="30000" dirty="0"/>
              <a:t>3</a:t>
            </a:r>
            <a:r>
              <a:rPr lang="en-US" dirty="0"/>
              <a:t>) m, where </a:t>
            </a:r>
            <a:r>
              <a:rPr lang="en-US" i="1" dirty="0"/>
              <a:t>t</a:t>
            </a:r>
            <a:r>
              <a:rPr lang="en-US" dirty="0"/>
              <a:t> is measured in s. What is the magnitude of the acceleration of the particle at the instant when its velocity is zero?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err="1"/>
              <a:t>Ans</a:t>
            </a:r>
            <a:r>
              <a:rPr lang="en-US" dirty="0"/>
              <a:t>: 24 m/s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67000"/>
          </a:xfrm>
        </p:spPr>
        <p:txBody>
          <a:bodyPr/>
          <a:lstStyle/>
          <a:p>
            <a:pPr>
              <a:buNone/>
            </a:pPr>
            <a:r>
              <a:rPr lang="en-US" dirty="0"/>
              <a:t> 	An automobile moving along a straight track changes its velocity from 40 m/s to 80 m/s in a distance of 200 m. What is the (constant) acceleration of the vehicle during this time?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  An automobile moving along a straight track changes its velocity from 40 m/s to 80 m/s in a distance of 200 m. What is the (constant) acceleration of the vehicle during this time?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Ans</a:t>
            </a:r>
            <a:r>
              <a:rPr lang="en-US" dirty="0"/>
              <a:t>: 12 m/s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6823</TotalTime>
  <Words>2563</Words>
  <Application>Microsoft Office PowerPoint</Application>
  <PresentationFormat>On-screen Show (4:3)</PresentationFormat>
  <Paragraphs>368</Paragraphs>
  <Slides>64</Slides>
  <Notes>2</Notes>
  <HiddenSlides>11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Arial</vt:lpstr>
      <vt:lpstr>Calibri</vt:lpstr>
      <vt:lpstr>Times New Roman</vt:lpstr>
      <vt:lpstr>Office Theme</vt:lpstr>
      <vt:lpstr>Presentation</vt:lpstr>
      <vt:lpstr>Equation</vt:lpstr>
      <vt:lpstr>Motion in One Dimension</vt:lpstr>
      <vt:lpstr>Kinematics</vt:lpstr>
      <vt:lpstr>Types of Motion</vt:lpstr>
      <vt:lpstr>Introduction</vt:lpstr>
      <vt:lpstr>Introduction, cont.</vt:lpstr>
      <vt:lpstr>Objective of Lecture</vt:lpstr>
      <vt:lpstr>Particle Model</vt:lpstr>
      <vt:lpstr>Definitions</vt:lpstr>
      <vt:lpstr>Position: Example</vt:lpstr>
      <vt:lpstr>Tabular Representation: Data Table</vt:lpstr>
      <vt:lpstr>Graphical Representation: Position-Time Graph</vt:lpstr>
      <vt:lpstr>Displacement and Distance</vt:lpstr>
      <vt:lpstr>Problem</vt:lpstr>
      <vt:lpstr>Differences Between Distance and  Displacement – An Example</vt:lpstr>
      <vt:lpstr>Vectors and Scalars</vt:lpstr>
      <vt:lpstr>Speed and Velocity</vt:lpstr>
      <vt:lpstr>Velocity</vt:lpstr>
      <vt:lpstr>Velocity, cont.</vt:lpstr>
      <vt:lpstr>Average Speed and Average Velocity</vt:lpstr>
      <vt:lpstr>Average Speed and Average Velocity</vt:lpstr>
      <vt:lpstr>Instantaneous Velocity</vt:lpstr>
      <vt:lpstr>Instantaneous Velocity</vt:lpstr>
      <vt:lpstr>Graphical Representation of Instantaneous Velocity</vt:lpstr>
      <vt:lpstr>Instantaneous Velocity, cont.</vt:lpstr>
      <vt:lpstr>Vocabulary Note</vt:lpstr>
      <vt:lpstr>A Particle Under Constant Velocity</vt:lpstr>
      <vt:lpstr>Graph of Particle Under Constant Velocity </vt:lpstr>
      <vt:lpstr>A Particle Under Constant Speed</vt:lpstr>
      <vt:lpstr>Average Acceleration</vt:lpstr>
      <vt:lpstr>Instantaneous Acceleration</vt:lpstr>
      <vt:lpstr>Graph of Instantaneous Acceleration</vt:lpstr>
      <vt:lpstr>Acceleration and Velocity, Directions</vt:lpstr>
      <vt:lpstr>Announcements</vt:lpstr>
      <vt:lpstr>Acceleration and Force</vt:lpstr>
      <vt:lpstr>Kinematic Equations</vt:lpstr>
      <vt:lpstr>Kinematic Equations, 1</vt:lpstr>
      <vt:lpstr>Kinematic Equations, 2</vt:lpstr>
      <vt:lpstr>Kinematic Equations, 3</vt:lpstr>
      <vt:lpstr>Kinematic Equations, 4</vt:lpstr>
      <vt:lpstr>Kinematic Equations, 5</vt:lpstr>
      <vt:lpstr>Special Case: When a = 0</vt:lpstr>
      <vt:lpstr>Kinematic Equations – summary </vt:lpstr>
      <vt:lpstr>Graphical Look at Motion: Velocity – Time curve</vt:lpstr>
      <vt:lpstr>Graphical Look at Motion: Acceleration – Time curve</vt:lpstr>
      <vt:lpstr>Graphical Comparison</vt:lpstr>
      <vt:lpstr>Galileo Galilei</vt:lpstr>
      <vt:lpstr>Freely Falling Objects</vt:lpstr>
      <vt:lpstr>Acceleration of Freely Falling Object</vt:lpstr>
      <vt:lpstr>Acceleration of Free Fall, cont.</vt:lpstr>
      <vt:lpstr>Free Fall – An Object Dropped</vt:lpstr>
      <vt:lpstr>Free Fall – An Object Thrown Downward</vt:lpstr>
      <vt:lpstr>Kinematic Equations – General Calculus Form</vt:lpstr>
      <vt:lpstr>Kinematic Equations – From Integration</vt:lpstr>
      <vt:lpstr>General Problem Solving Strategy</vt:lpstr>
      <vt:lpstr>Problem Solving – Conceptualize </vt:lpstr>
      <vt:lpstr>Problem Solving – Categorize </vt:lpstr>
      <vt:lpstr>Problem Solving – Analyze </vt:lpstr>
      <vt:lpstr>Problem Solving – Finalize</vt:lpstr>
      <vt:lpstr>Problem Solving – Some Final Ideas</vt:lpstr>
      <vt:lpstr>Problem 1</vt:lpstr>
      <vt:lpstr>Problem 2</vt:lpstr>
      <vt:lpstr>Problem 3</vt:lpstr>
      <vt:lpstr>Problem 4</vt:lpstr>
      <vt:lpstr>Problem 5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Motion in One Dimension</dc:title>
  <dc:creator>Raymond Edziah</dc:creator>
  <cp:lastModifiedBy>Bright Abbiw</cp:lastModifiedBy>
  <cp:revision>98</cp:revision>
  <dcterms:created xsi:type="dcterms:W3CDTF">2012-01-18T04:39:21Z</dcterms:created>
  <dcterms:modified xsi:type="dcterms:W3CDTF">2019-10-10T05:37:03Z</dcterms:modified>
</cp:coreProperties>
</file>